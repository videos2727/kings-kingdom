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5"/>
  </p:notesMasterIdLst>
  <p:sldIdLst>
    <p:sldId id="293" r:id="rId2"/>
    <p:sldId id="307" r:id="rId3"/>
    <p:sldId id="309" r:id="rId4"/>
    <p:sldId id="313" r:id="rId5"/>
    <p:sldId id="314" r:id="rId6"/>
    <p:sldId id="310" r:id="rId7"/>
    <p:sldId id="311" r:id="rId8"/>
    <p:sldId id="312" r:id="rId9"/>
    <p:sldId id="299" r:id="rId10"/>
    <p:sldId id="305" r:id="rId11"/>
    <p:sldId id="306" r:id="rId12"/>
    <p:sldId id="308" r:id="rId13"/>
    <p:sldId id="315" r:id="rId14"/>
  </p:sldIdLst>
  <p:sldSz cx="12192000" cy="6858000"/>
  <p:notesSz cx="6797675" cy="992663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EF2E2"/>
    <a:srgbClr val="ECF1D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81" d="100"/>
          <a:sy n="81" d="100"/>
        </p:scale>
        <p:origin x="706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46189" cy="49823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49899" y="0"/>
            <a:ext cx="2946189" cy="49823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36F99B-1B3D-43A6-9821-04F3D79B9194}" type="datetimeFigureOut">
              <a:rPr lang="en-AU" smtClean="0"/>
              <a:t>16/03/2022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20688" y="1241425"/>
            <a:ext cx="5956300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77671"/>
            <a:ext cx="5438140" cy="39081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28403"/>
            <a:ext cx="2946189" cy="49823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49899" y="9428403"/>
            <a:ext cx="2946189" cy="49823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4677B09-D6A7-4EAC-A5D0-717D82F0B45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461063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 notes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677B09-D6A7-4EAC-A5D0-717D82F0B45E}" type="slidenum">
              <a:rPr lang="en-AU" smtClean="0"/>
              <a:t>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833399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 notes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677B09-D6A7-4EAC-A5D0-717D82F0B45E}" type="slidenum">
              <a:rPr lang="en-AU" smtClean="0"/>
              <a:t>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137282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Student worksheet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677B09-D6A7-4EAC-A5D0-717D82F0B45E}" type="slidenum">
              <a:rPr lang="en-AU" smtClean="0"/>
              <a:t>9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952439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16/03/2022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081738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16/03/2022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604874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16/03/2022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091608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16/03/2022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17285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16/03/2022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814429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16/03/2022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039758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16/03/2022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862374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16/03/2022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026304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16/03/2022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063687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16/03/2022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560461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16/03/2022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3168799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16/03/2022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5812914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16/03/2022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31842709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16/03/2022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9079512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16/03/2022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6614960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16/03/2022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641379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DB0986-CC5D-441D-9150-EFAE06F4444F}" type="datetimeFigureOut">
              <a:rPr lang="en-AU" smtClean="0"/>
              <a:t>16/03/2022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917386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0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866347" y="200610"/>
            <a:ext cx="2210324" cy="369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1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17/03/2022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33805" y="2179203"/>
            <a:ext cx="820493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Aim: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Be able</a:t>
            </a:r>
            <a:r>
              <a:rPr kumimoji="0" lang="en-AU" sz="2400" b="1" i="0" u="none" strike="noStrike" kern="1200" cap="none" spc="0" normalizeH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 to u</a:t>
            </a:r>
            <a:r>
              <a:rPr lang="en-AU" sz="2400" b="1" dirty="0">
                <a:solidFill>
                  <a:srgbClr val="00B0F0"/>
                </a:solidFill>
                <a:latin typeface="Century Gothic" panose="020B0502020202020204"/>
              </a:rPr>
              <a:t>se the DPM/A to expand bracketed terms.</a:t>
            </a:r>
          </a:p>
          <a:p>
            <a:pPr marR="0" lvl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Tx/>
              <a:tabLst/>
              <a:defRPr/>
            </a:pPr>
            <a:endParaRPr kumimoji="0" lang="en-AU" sz="2400" b="1" i="0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  <a:p>
            <a:pPr marL="342909" marR="0" lvl="0" indent="-342909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A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233805" y="3627865"/>
            <a:ext cx="854865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Plan:</a:t>
            </a:r>
          </a:p>
          <a:p>
            <a:pPr marL="342909" marR="0" lvl="0" indent="-342909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Daily review: </a:t>
            </a:r>
          </a:p>
          <a:p>
            <a:pPr marL="898525" marR="0" lvl="0" indent="-5461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AU" sz="2400" b="1" dirty="0">
                <a:solidFill>
                  <a:srgbClr val="00B0F0"/>
                </a:solidFill>
                <a:latin typeface="Century Gothic" panose="020B0502020202020204"/>
              </a:rPr>
              <a:t>DPM/A</a:t>
            </a:r>
            <a:endParaRPr kumimoji="0" lang="en-AU" sz="2400" b="1" i="0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  <a:p>
            <a:pPr marL="901700" marR="0" lvl="0" indent="-542925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AU" sz="2400" b="1" dirty="0">
                <a:solidFill>
                  <a:srgbClr val="00B0F0"/>
                </a:solidFill>
                <a:latin typeface="Century Gothic" panose="020B0502020202020204"/>
              </a:rPr>
              <a:t>Directed number.</a:t>
            </a:r>
            <a:endParaRPr kumimoji="0" lang="en-AU" sz="2400" b="1" i="0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  <a:p>
            <a:pPr marL="895350" marR="0" lvl="0" indent="-538163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Multiply rules. </a:t>
            </a:r>
          </a:p>
          <a:p>
            <a:pPr marL="352425" marR="0" lvl="0" indent="-352425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AU" sz="2400" b="1" dirty="0">
                <a:solidFill>
                  <a:srgbClr val="00B0F0"/>
                </a:solidFill>
                <a:latin typeface="Century Gothic" panose="020B0502020202020204"/>
              </a:rPr>
              <a:t>Simplify DPM/A expressions with multiple brackets.</a:t>
            </a:r>
            <a:endParaRPr kumimoji="0" lang="en-AU" sz="2400" b="1" i="0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81C768B-537B-4ABE-8DA7-024787A8AFC3}"/>
              </a:ext>
            </a:extLst>
          </p:cNvPr>
          <p:cNvSpPr txBox="1"/>
          <p:nvPr/>
        </p:nvSpPr>
        <p:spPr>
          <a:xfrm>
            <a:off x="2303826" y="921811"/>
            <a:ext cx="820493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Title: </a:t>
            </a: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Expanding brackets</a:t>
            </a:r>
          </a:p>
          <a:p>
            <a:pPr marL="342909" marR="0" lvl="0" indent="-342909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A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399914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/>
              <p:cNvSpPr/>
              <p:nvPr/>
            </p:nvSpPr>
            <p:spPr>
              <a:xfrm>
                <a:off x="951471" y="357128"/>
                <a:ext cx="12649200" cy="153375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 defTabSz="457200">
                  <a:spcAft>
                    <a:spcPts val="800"/>
                  </a:spcAft>
                  <a:defRPr/>
                </a:pPr>
                <a:r>
                  <a:rPr lang="en-AU" sz="2400" dirty="0">
                    <a:solidFill>
                      <a:prstClr val="black"/>
                    </a:solidFill>
                  </a:rPr>
                  <a:t>		The Distributive Property of Multiplication over Addition.</a:t>
                </a:r>
              </a:p>
              <a:p>
                <a:pPr lvl="0" defTabSz="457200">
                  <a:spcAft>
                    <a:spcPts val="1800"/>
                  </a:spcAft>
                  <a:defRPr/>
                </a:pPr>
                <a:r>
                  <a:rPr lang="en-AU" sz="2400" dirty="0">
                    <a:solidFill>
                      <a:prstClr val="black"/>
                    </a:solidFill>
                  </a:rPr>
                  <a:t>						a(b + c) = a</a:t>
                </a:r>
                <a14:m>
                  <m:oMath xmlns:m="http://schemas.openxmlformats.org/officeDocument/2006/math">
                    <m:r>
                      <a:rPr lang="en-AU" sz="240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AU" sz="2400" dirty="0">
                    <a:solidFill>
                      <a:prstClr val="black"/>
                    </a:solidFill>
                  </a:rPr>
                  <a:t>b + a</a:t>
                </a:r>
                <a14:m>
                  <m:oMath xmlns:m="http://schemas.openxmlformats.org/officeDocument/2006/math">
                    <m:r>
                      <a:rPr lang="en-AU" sz="240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AU" sz="2400" dirty="0">
                    <a:solidFill>
                      <a:prstClr val="black"/>
                    </a:solidFill>
                  </a:rPr>
                  <a:t>c</a:t>
                </a:r>
              </a:p>
              <a:p>
                <a:pPr lvl="0" defTabSz="457200">
                  <a:spcAft>
                    <a:spcPts val="800"/>
                  </a:spcAft>
                  <a:defRPr/>
                </a:pPr>
                <a:r>
                  <a:rPr lang="en-AU" sz="2400" b="1" dirty="0">
                    <a:solidFill>
                      <a:srgbClr val="FF0000"/>
                    </a:solidFill>
                  </a:rPr>
                  <a:t>The term outside the brackets multiplies to EVERY term inside the brackets.</a:t>
                </a:r>
              </a:p>
            </p:txBody>
          </p:sp>
        </mc:Choice>
        <mc:Fallback xmlns="">
          <p:sp>
            <p:nvSpPr>
              <p:cNvPr id="2" name="Rectangle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1471" y="357128"/>
                <a:ext cx="12649200" cy="1533753"/>
              </a:xfrm>
              <a:prstGeom prst="rect">
                <a:avLst/>
              </a:prstGeom>
              <a:blipFill>
                <a:blip r:embed="rId3"/>
                <a:stretch>
                  <a:fillRect l="-723" t="-3187" b="-836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ounded Rectangle 2"/>
          <p:cNvSpPr/>
          <p:nvPr/>
        </p:nvSpPr>
        <p:spPr>
          <a:xfrm>
            <a:off x="2384470" y="1496487"/>
            <a:ext cx="1112492" cy="30003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5434636" y="1499585"/>
            <a:ext cx="1460434" cy="391296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276070" y="1522401"/>
            <a:ext cx="978243" cy="345663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8989287" y="1496487"/>
            <a:ext cx="957901" cy="345663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225738" y="2443433"/>
            <a:ext cx="6190735" cy="1877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AU" sz="2400" dirty="0"/>
              <a:t>	Simplifying double signs</a:t>
            </a:r>
          </a:p>
          <a:p>
            <a:pPr>
              <a:spcAft>
                <a:spcPts val="1200"/>
              </a:spcAft>
            </a:pPr>
            <a:r>
              <a:rPr lang="en-AU" sz="2400" b="1" dirty="0">
                <a:solidFill>
                  <a:srgbClr val="FF0000"/>
                </a:solidFill>
              </a:rPr>
              <a:t>Same signs add, different signs subtract.</a:t>
            </a:r>
          </a:p>
          <a:p>
            <a:r>
              <a:rPr lang="en-AU" sz="2400" b="1" dirty="0">
                <a:solidFill>
                  <a:srgbClr val="FF0000"/>
                </a:solidFill>
              </a:rPr>
              <a:t>  </a:t>
            </a:r>
            <a:r>
              <a:rPr lang="en-AU" sz="2400" dirty="0"/>
              <a:t>a – (-b) 		  a + (-b)</a:t>
            </a:r>
          </a:p>
          <a:p>
            <a:r>
              <a:rPr lang="en-AU" sz="2400" dirty="0"/>
              <a:t>= a + b		= a – b 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992757" y="3033338"/>
            <a:ext cx="678994" cy="39498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5723780" y="3033338"/>
            <a:ext cx="1368997" cy="345663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7891341" y="3057996"/>
            <a:ext cx="1326800" cy="345663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3593503" y="3931553"/>
            <a:ext cx="957901" cy="345663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6318169" y="3931553"/>
            <a:ext cx="957901" cy="345663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3352534" y="4473146"/>
                <a:ext cx="5624638" cy="15081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1200"/>
                  </a:spcAft>
                </a:pPr>
                <a:r>
                  <a:rPr lang="en-AU" sz="2400" dirty="0"/>
                  <a:t>	Multiplication rules.</a:t>
                </a:r>
              </a:p>
              <a:p>
                <a:pPr>
                  <a:spcAft>
                    <a:spcPts val="1200"/>
                  </a:spcAft>
                </a:pPr>
                <a:r>
                  <a:rPr lang="en-AU" sz="2400" b="1" dirty="0">
                    <a:solidFill>
                      <a:srgbClr val="FF0000"/>
                    </a:solidFill>
                  </a:rPr>
                  <a:t>negative </a:t>
                </a:r>
                <a14:m>
                  <m:oMath xmlns:m="http://schemas.openxmlformats.org/officeDocument/2006/math">
                    <m:r>
                      <a:rPr lang="en-AU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AU" sz="2400" b="1" dirty="0">
                    <a:solidFill>
                      <a:srgbClr val="FF0000"/>
                    </a:solidFill>
                  </a:rPr>
                  <a:t> positive = negative</a:t>
                </a:r>
              </a:p>
              <a:p>
                <a:pPr>
                  <a:spcAft>
                    <a:spcPts val="1200"/>
                  </a:spcAft>
                </a:pPr>
                <a:r>
                  <a:rPr lang="en-AU" sz="2400" b="1" dirty="0">
                    <a:solidFill>
                      <a:srgbClr val="FF0000"/>
                    </a:solidFill>
                  </a:rPr>
                  <a:t>negative </a:t>
                </a:r>
                <a14:m>
                  <m:oMath xmlns:m="http://schemas.openxmlformats.org/officeDocument/2006/math">
                    <m:r>
                      <a:rPr lang="en-AU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AU" sz="2400" b="1" dirty="0">
                    <a:solidFill>
                      <a:srgbClr val="FF0000"/>
                    </a:solidFill>
                  </a:rPr>
                  <a:t> negative = positive</a:t>
                </a:r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52534" y="4473146"/>
                <a:ext cx="5624638" cy="1508105"/>
              </a:xfrm>
              <a:prstGeom prst="rect">
                <a:avLst/>
              </a:prstGeom>
              <a:blipFill>
                <a:blip r:embed="rId4"/>
                <a:stretch>
                  <a:fillRect l="-1733" t="-3239" b="-850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Rounded Rectangle 14"/>
          <p:cNvSpPr/>
          <p:nvPr/>
        </p:nvSpPr>
        <p:spPr>
          <a:xfrm>
            <a:off x="6613826" y="5054366"/>
            <a:ext cx="1405709" cy="345663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5150851" y="5572861"/>
            <a:ext cx="1336446" cy="345663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894520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5" grpId="0" animBg="1"/>
      <p:bldP spid="16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/>
              <p:cNvSpPr/>
              <p:nvPr/>
            </p:nvSpPr>
            <p:spPr>
              <a:xfrm>
                <a:off x="951471" y="357128"/>
                <a:ext cx="12649200" cy="153375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 defTabSz="457200">
                  <a:spcAft>
                    <a:spcPts val="800"/>
                  </a:spcAft>
                  <a:defRPr/>
                </a:pPr>
                <a:r>
                  <a:rPr lang="en-AU" sz="2400" dirty="0">
                    <a:solidFill>
                      <a:prstClr val="black"/>
                    </a:solidFill>
                  </a:rPr>
                  <a:t>		The Distributive Property of Multiplication over Addition.</a:t>
                </a:r>
              </a:p>
              <a:p>
                <a:pPr lvl="0" defTabSz="457200">
                  <a:spcAft>
                    <a:spcPts val="1800"/>
                  </a:spcAft>
                  <a:defRPr/>
                </a:pPr>
                <a:r>
                  <a:rPr lang="en-AU" sz="2400" dirty="0">
                    <a:solidFill>
                      <a:prstClr val="black"/>
                    </a:solidFill>
                  </a:rPr>
                  <a:t>						a(b + c) = a</a:t>
                </a:r>
                <a14:m>
                  <m:oMath xmlns:m="http://schemas.openxmlformats.org/officeDocument/2006/math">
                    <m:r>
                      <a:rPr lang="en-AU" sz="240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AU" sz="2400" dirty="0">
                    <a:solidFill>
                      <a:prstClr val="black"/>
                    </a:solidFill>
                  </a:rPr>
                  <a:t>b + a</a:t>
                </a:r>
                <a14:m>
                  <m:oMath xmlns:m="http://schemas.openxmlformats.org/officeDocument/2006/math">
                    <m:r>
                      <a:rPr lang="en-AU" sz="240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AU" sz="2400" dirty="0">
                    <a:solidFill>
                      <a:prstClr val="black"/>
                    </a:solidFill>
                  </a:rPr>
                  <a:t>c</a:t>
                </a:r>
              </a:p>
              <a:p>
                <a:pPr lvl="0" defTabSz="457200">
                  <a:spcAft>
                    <a:spcPts val="800"/>
                  </a:spcAft>
                  <a:defRPr/>
                </a:pPr>
                <a:r>
                  <a:rPr lang="en-AU" sz="2400" b="1" dirty="0">
                    <a:solidFill>
                      <a:srgbClr val="FF0000"/>
                    </a:solidFill>
                  </a:rPr>
                  <a:t>The term outside the brackets multiplies to EVERY term inside the brackets.</a:t>
                </a:r>
              </a:p>
            </p:txBody>
          </p:sp>
        </mc:Choice>
        <mc:Fallback xmlns="">
          <p:sp>
            <p:nvSpPr>
              <p:cNvPr id="2" name="Rectangle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1471" y="357128"/>
                <a:ext cx="12649200" cy="1533753"/>
              </a:xfrm>
              <a:prstGeom prst="rect">
                <a:avLst/>
              </a:prstGeom>
              <a:blipFill>
                <a:blip r:embed="rId2"/>
                <a:stretch>
                  <a:fillRect l="-723" t="-3187" b="-836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ounded Rectangle 2"/>
          <p:cNvSpPr/>
          <p:nvPr/>
        </p:nvSpPr>
        <p:spPr>
          <a:xfrm>
            <a:off x="2365617" y="1496487"/>
            <a:ext cx="1112492" cy="30003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5434636" y="1450854"/>
            <a:ext cx="1460434" cy="391296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254447" y="1448525"/>
            <a:ext cx="978243" cy="345663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8989287" y="1496487"/>
            <a:ext cx="957901" cy="345663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225738" y="2443433"/>
            <a:ext cx="6190735" cy="1877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AU" sz="2400" dirty="0"/>
              <a:t>	Simplifying double signs</a:t>
            </a:r>
          </a:p>
          <a:p>
            <a:pPr>
              <a:spcAft>
                <a:spcPts val="1200"/>
              </a:spcAft>
            </a:pPr>
            <a:r>
              <a:rPr lang="en-AU" sz="2400" b="1" dirty="0">
                <a:solidFill>
                  <a:srgbClr val="FF0000"/>
                </a:solidFill>
              </a:rPr>
              <a:t>Same signs add, different signs subtract.</a:t>
            </a:r>
          </a:p>
          <a:p>
            <a:r>
              <a:rPr lang="en-AU" sz="2400" b="1" dirty="0">
                <a:solidFill>
                  <a:srgbClr val="FF0000"/>
                </a:solidFill>
              </a:rPr>
              <a:t>  </a:t>
            </a:r>
            <a:r>
              <a:rPr lang="en-AU" sz="2400" dirty="0"/>
              <a:t>a – (-b) 		  a + (-b)</a:t>
            </a:r>
          </a:p>
          <a:p>
            <a:r>
              <a:rPr lang="en-AU" sz="2400" dirty="0"/>
              <a:t>= a + b		= a – b 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992757" y="3033338"/>
            <a:ext cx="678994" cy="39498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5723780" y="3033338"/>
            <a:ext cx="1368997" cy="345663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7891341" y="3057996"/>
            <a:ext cx="1326800" cy="345663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3593503" y="3931553"/>
            <a:ext cx="957901" cy="345663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6318169" y="3931553"/>
            <a:ext cx="957901" cy="345663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3352534" y="4473146"/>
                <a:ext cx="5624638" cy="15081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1200"/>
                  </a:spcAft>
                </a:pPr>
                <a:r>
                  <a:rPr lang="en-AU" sz="2400" dirty="0"/>
                  <a:t>	Multiplication rules.</a:t>
                </a:r>
              </a:p>
              <a:p>
                <a:pPr>
                  <a:spcAft>
                    <a:spcPts val="1200"/>
                  </a:spcAft>
                </a:pPr>
                <a:r>
                  <a:rPr lang="en-AU" sz="2400" b="1" dirty="0">
                    <a:solidFill>
                      <a:srgbClr val="FF0000"/>
                    </a:solidFill>
                  </a:rPr>
                  <a:t>negative </a:t>
                </a:r>
                <a14:m>
                  <m:oMath xmlns:m="http://schemas.openxmlformats.org/officeDocument/2006/math">
                    <m:r>
                      <a:rPr lang="en-AU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AU" sz="2400" b="1" dirty="0">
                    <a:solidFill>
                      <a:srgbClr val="FF0000"/>
                    </a:solidFill>
                  </a:rPr>
                  <a:t> positive = negative</a:t>
                </a:r>
              </a:p>
              <a:p>
                <a:pPr>
                  <a:spcAft>
                    <a:spcPts val="1200"/>
                  </a:spcAft>
                </a:pPr>
                <a:r>
                  <a:rPr lang="en-AU" sz="2400" b="1" dirty="0">
                    <a:solidFill>
                      <a:srgbClr val="FF0000"/>
                    </a:solidFill>
                  </a:rPr>
                  <a:t>negative </a:t>
                </a:r>
                <a14:m>
                  <m:oMath xmlns:m="http://schemas.openxmlformats.org/officeDocument/2006/math">
                    <m:r>
                      <a:rPr lang="en-AU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AU" sz="2400" b="1" dirty="0">
                    <a:solidFill>
                      <a:srgbClr val="FF0000"/>
                    </a:solidFill>
                  </a:rPr>
                  <a:t> negative = positive</a:t>
                </a:r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52534" y="4473146"/>
                <a:ext cx="5624638" cy="1508105"/>
              </a:xfrm>
              <a:prstGeom prst="rect">
                <a:avLst/>
              </a:prstGeom>
              <a:blipFill>
                <a:blip r:embed="rId3"/>
                <a:stretch>
                  <a:fillRect l="-1733" t="-3239" b="-850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Rounded Rectangle 14"/>
          <p:cNvSpPr/>
          <p:nvPr/>
        </p:nvSpPr>
        <p:spPr>
          <a:xfrm>
            <a:off x="6613826" y="5054366"/>
            <a:ext cx="1405709" cy="345663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5150851" y="5572861"/>
            <a:ext cx="1336446" cy="345663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461549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5" grpId="0" animBg="1"/>
      <p:bldP spid="1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D2695EB-C14C-44C0-A57B-EB82FB4E8A2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638300" y="2736914"/>
                <a:ext cx="8915400" cy="3522484"/>
              </a:xfrm>
            </p:spPr>
            <p:txBody>
              <a:bodyPr>
                <a:normAutofit/>
              </a:bodyPr>
              <a:lstStyle/>
              <a:p>
                <a:pPr marL="0" indent="0" algn="ctr">
                  <a:buNone/>
                </a:pPr>
                <a:r>
                  <a:rPr lang="en-US" sz="6000" dirty="0"/>
                  <a:t>4(3x + 8)</a:t>
                </a:r>
              </a:p>
              <a:p>
                <a:pPr marL="0" indent="0" algn="ctr">
                  <a:buNone/>
                </a:pPr>
                <a:r>
                  <a:rPr lang="en-US" sz="6000" dirty="0"/>
                  <a:t>= </a:t>
                </a:r>
                <a14:m>
                  <m:oMath xmlns:m="http://schemas.openxmlformats.org/officeDocument/2006/math">
                    <m:r>
                      <a:rPr lang="en-US" sz="6000" b="0" i="1" smtClean="0">
                        <a:latin typeface="Cambria Math" panose="02040503050406030204" pitchFamily="18" charset="0"/>
                      </a:rPr>
                      <m:t>4 </m:t>
                    </m:r>
                    <m:r>
                      <a:rPr lang="en-US" sz="6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×3</m:t>
                    </m:r>
                    <m:r>
                      <a:rPr lang="en-US" sz="6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6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+4 ×8</m:t>
                    </m:r>
                  </m:oMath>
                </a14:m>
                <a:endParaRPr lang="en-US" sz="6000" b="0" dirty="0">
                  <a:ea typeface="Cambria Math" panose="02040503050406030204" pitchFamily="18" charset="0"/>
                </a:endParaRPr>
              </a:p>
              <a:p>
                <a:pPr marL="0" indent="0" algn="ctr">
                  <a:buNone/>
                </a:pPr>
                <a:r>
                  <a:rPr lang="en-US" sz="6000" dirty="0"/>
                  <a:t>= </a:t>
                </a:r>
                <a14:m>
                  <m:oMath xmlns:m="http://schemas.openxmlformats.org/officeDocument/2006/math">
                    <m:r>
                      <a:rPr lang="en-US" sz="6000" b="0" i="1" smtClean="0">
                        <a:latin typeface="Cambria Math" panose="02040503050406030204" pitchFamily="18" charset="0"/>
                      </a:rPr>
                      <m:t>12</m:t>
                    </m:r>
                    <m:r>
                      <a:rPr lang="en-US" sz="60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6000" b="0" i="1" smtClean="0">
                        <a:latin typeface="Cambria Math" panose="02040503050406030204" pitchFamily="18" charset="0"/>
                      </a:rPr>
                      <m:t>+32</m:t>
                    </m:r>
                  </m:oMath>
                </a14:m>
                <a:r>
                  <a:rPr lang="en-US" sz="6000" dirty="0"/>
                  <a:t> </a:t>
                </a:r>
                <a:endParaRPr lang="en-AU" sz="6000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D2695EB-C14C-44C0-A57B-EB82FB4E8A2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638300" y="2736914"/>
                <a:ext cx="8915400" cy="3522484"/>
              </a:xfrm>
              <a:blipFill>
                <a:blip r:embed="rId3"/>
                <a:stretch>
                  <a:fillRect t="-536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E769F9C0-9C09-4A5A-9DF9-DDD8FC6A2F12}"/>
              </a:ext>
            </a:extLst>
          </p:cNvPr>
          <p:cNvSpPr txBox="1"/>
          <p:nvPr/>
        </p:nvSpPr>
        <p:spPr>
          <a:xfrm>
            <a:off x="2149311" y="1234911"/>
            <a:ext cx="24981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Outside term</a:t>
            </a:r>
            <a:endParaRPr lang="en-AU" sz="2400" b="1" dirty="0">
              <a:solidFill>
                <a:srgbClr val="FF0000"/>
              </a:solidFill>
            </a:endParaRP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2FF2B52F-3FA3-4C11-B880-46E16A06185B}"/>
              </a:ext>
            </a:extLst>
          </p:cNvPr>
          <p:cNvCxnSpPr>
            <a:stCxn id="4" idx="2"/>
          </p:cNvCxnSpPr>
          <p:nvPr/>
        </p:nvCxnSpPr>
        <p:spPr>
          <a:xfrm>
            <a:off x="3398363" y="1696576"/>
            <a:ext cx="1267905" cy="13765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FDC0DED6-B3F6-4774-BA59-0384165A2C92}"/>
              </a:ext>
            </a:extLst>
          </p:cNvPr>
          <p:cNvSpPr txBox="1"/>
          <p:nvPr/>
        </p:nvSpPr>
        <p:spPr>
          <a:xfrm>
            <a:off x="5535106" y="1150070"/>
            <a:ext cx="249810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Terms inside the brackets</a:t>
            </a:r>
            <a:endParaRPr lang="en-AU" sz="2400" b="1" dirty="0">
              <a:solidFill>
                <a:srgbClr val="FF0000"/>
              </a:solidFill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BD93BBBF-ABE5-4EB5-AC52-56F79E300752}"/>
              </a:ext>
            </a:extLst>
          </p:cNvPr>
          <p:cNvCxnSpPr/>
          <p:nvPr/>
        </p:nvCxnSpPr>
        <p:spPr>
          <a:xfrm flipH="1">
            <a:off x="5731497" y="1913641"/>
            <a:ext cx="183823" cy="10086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EC8DC57B-D221-4676-8D69-F70022571084}"/>
              </a:ext>
            </a:extLst>
          </p:cNvPr>
          <p:cNvCxnSpPr>
            <a:stCxn id="7" idx="2"/>
          </p:cNvCxnSpPr>
          <p:nvPr/>
        </p:nvCxnSpPr>
        <p:spPr>
          <a:xfrm>
            <a:off x="6784158" y="1981067"/>
            <a:ext cx="285945" cy="9129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2">
            <a:extLst>
              <a:ext uri="{FF2B5EF4-FFF2-40B4-BE49-F238E27FC236}">
                <a16:creationId xmlns:a16="http://schemas.microsoft.com/office/drawing/2014/main" id="{063C0F29-F157-48A5-A67B-D7740B602D39}"/>
              </a:ext>
            </a:extLst>
          </p:cNvPr>
          <p:cNvSpPr/>
          <p:nvPr/>
        </p:nvSpPr>
        <p:spPr>
          <a:xfrm>
            <a:off x="2149311" y="1293570"/>
            <a:ext cx="2007910" cy="403006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13" name="Rounded Rectangle 2">
            <a:extLst>
              <a:ext uri="{FF2B5EF4-FFF2-40B4-BE49-F238E27FC236}">
                <a16:creationId xmlns:a16="http://schemas.microsoft.com/office/drawing/2014/main" id="{FB2D67F8-FB2D-4CE9-B1C3-E58C661E549B}"/>
              </a:ext>
            </a:extLst>
          </p:cNvPr>
          <p:cNvSpPr/>
          <p:nvPr/>
        </p:nvSpPr>
        <p:spPr>
          <a:xfrm>
            <a:off x="5516252" y="1185825"/>
            <a:ext cx="2007910" cy="727815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14" name="Rounded Rectangle 2">
            <a:extLst>
              <a:ext uri="{FF2B5EF4-FFF2-40B4-BE49-F238E27FC236}">
                <a16:creationId xmlns:a16="http://schemas.microsoft.com/office/drawing/2014/main" id="{BF3E9F2B-DC90-4C3A-ACD1-FA44750144E2}"/>
              </a:ext>
            </a:extLst>
          </p:cNvPr>
          <p:cNvSpPr/>
          <p:nvPr/>
        </p:nvSpPr>
        <p:spPr>
          <a:xfrm>
            <a:off x="4919219" y="4980115"/>
            <a:ext cx="3113989" cy="727815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792555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D2695EB-C14C-44C0-A57B-EB82FB4E8A2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638300" y="2736914"/>
                <a:ext cx="8915400" cy="3522484"/>
              </a:xfrm>
            </p:spPr>
            <p:txBody>
              <a:bodyPr>
                <a:normAutofit/>
              </a:bodyPr>
              <a:lstStyle/>
              <a:p>
                <a:pPr marL="0" indent="0" algn="ctr">
                  <a:buNone/>
                </a:pPr>
                <a:r>
                  <a:rPr lang="en-US" sz="6000" dirty="0"/>
                  <a:t>4(3x + 8)</a:t>
                </a:r>
              </a:p>
              <a:p>
                <a:pPr marL="0" indent="0" algn="ctr">
                  <a:buNone/>
                </a:pPr>
                <a:r>
                  <a:rPr lang="en-US" sz="6000" dirty="0"/>
                  <a:t>= </a:t>
                </a:r>
                <a14:m>
                  <m:oMath xmlns:m="http://schemas.openxmlformats.org/officeDocument/2006/math">
                    <m:r>
                      <a:rPr lang="en-US" sz="6000" b="0" i="1" smtClean="0">
                        <a:latin typeface="Cambria Math" panose="02040503050406030204" pitchFamily="18" charset="0"/>
                      </a:rPr>
                      <m:t>4 </m:t>
                    </m:r>
                    <m:r>
                      <a:rPr lang="en-US" sz="6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×3</m:t>
                    </m:r>
                    <m:r>
                      <a:rPr lang="en-US" sz="6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6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+4 ×8</m:t>
                    </m:r>
                  </m:oMath>
                </a14:m>
                <a:endParaRPr lang="en-US" sz="6000" b="0" dirty="0">
                  <a:ea typeface="Cambria Math" panose="02040503050406030204" pitchFamily="18" charset="0"/>
                </a:endParaRPr>
              </a:p>
              <a:p>
                <a:pPr marL="0" indent="0" algn="ctr">
                  <a:buNone/>
                </a:pPr>
                <a:r>
                  <a:rPr lang="en-US" sz="6000" dirty="0"/>
                  <a:t>= </a:t>
                </a:r>
                <a14:m>
                  <m:oMath xmlns:m="http://schemas.openxmlformats.org/officeDocument/2006/math">
                    <m:r>
                      <a:rPr lang="en-US" sz="6000" b="0" i="1" smtClean="0">
                        <a:latin typeface="Cambria Math" panose="02040503050406030204" pitchFamily="18" charset="0"/>
                      </a:rPr>
                      <m:t>12</m:t>
                    </m:r>
                    <m:r>
                      <a:rPr lang="en-US" sz="60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6000" b="0" i="1" smtClean="0">
                        <a:latin typeface="Cambria Math" panose="02040503050406030204" pitchFamily="18" charset="0"/>
                      </a:rPr>
                      <m:t>+32</m:t>
                    </m:r>
                  </m:oMath>
                </a14:m>
                <a:r>
                  <a:rPr lang="en-US" sz="6000" dirty="0"/>
                  <a:t> </a:t>
                </a:r>
                <a:endParaRPr lang="en-AU" sz="6000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D2695EB-C14C-44C0-A57B-EB82FB4E8A2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638300" y="2736914"/>
                <a:ext cx="8915400" cy="3522484"/>
              </a:xfrm>
              <a:blipFill>
                <a:blip r:embed="rId2"/>
                <a:stretch>
                  <a:fillRect t="-536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E769F9C0-9C09-4A5A-9DF9-DDD8FC6A2F12}"/>
              </a:ext>
            </a:extLst>
          </p:cNvPr>
          <p:cNvSpPr txBox="1"/>
          <p:nvPr/>
        </p:nvSpPr>
        <p:spPr>
          <a:xfrm>
            <a:off x="2149311" y="1234911"/>
            <a:ext cx="24981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Outside term</a:t>
            </a:r>
            <a:endParaRPr lang="en-AU" sz="2400" b="1" dirty="0">
              <a:solidFill>
                <a:srgbClr val="FF0000"/>
              </a:solidFill>
            </a:endParaRP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2FF2B52F-3FA3-4C11-B880-46E16A06185B}"/>
              </a:ext>
            </a:extLst>
          </p:cNvPr>
          <p:cNvCxnSpPr>
            <a:stCxn id="4" idx="2"/>
          </p:cNvCxnSpPr>
          <p:nvPr/>
        </p:nvCxnSpPr>
        <p:spPr>
          <a:xfrm>
            <a:off x="3398363" y="1696576"/>
            <a:ext cx="1267905" cy="13765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FDC0DED6-B3F6-4774-BA59-0384165A2C92}"/>
              </a:ext>
            </a:extLst>
          </p:cNvPr>
          <p:cNvSpPr txBox="1"/>
          <p:nvPr/>
        </p:nvSpPr>
        <p:spPr>
          <a:xfrm>
            <a:off x="5535106" y="1150070"/>
            <a:ext cx="249810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Terms inside the brackets</a:t>
            </a:r>
            <a:endParaRPr lang="en-AU" sz="2400" b="1" dirty="0">
              <a:solidFill>
                <a:srgbClr val="FF0000"/>
              </a:solidFill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BD93BBBF-ABE5-4EB5-AC52-56F79E300752}"/>
              </a:ext>
            </a:extLst>
          </p:cNvPr>
          <p:cNvCxnSpPr/>
          <p:nvPr/>
        </p:nvCxnSpPr>
        <p:spPr>
          <a:xfrm flipH="1">
            <a:off x="5731497" y="1913641"/>
            <a:ext cx="183823" cy="10086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EC8DC57B-D221-4676-8D69-F70022571084}"/>
              </a:ext>
            </a:extLst>
          </p:cNvPr>
          <p:cNvCxnSpPr>
            <a:stCxn id="7" idx="2"/>
          </p:cNvCxnSpPr>
          <p:nvPr/>
        </p:nvCxnSpPr>
        <p:spPr>
          <a:xfrm>
            <a:off x="6784158" y="1981067"/>
            <a:ext cx="285945" cy="9129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2">
            <a:extLst>
              <a:ext uri="{FF2B5EF4-FFF2-40B4-BE49-F238E27FC236}">
                <a16:creationId xmlns:a16="http://schemas.microsoft.com/office/drawing/2014/main" id="{063C0F29-F157-48A5-A67B-D7740B602D39}"/>
              </a:ext>
            </a:extLst>
          </p:cNvPr>
          <p:cNvSpPr/>
          <p:nvPr/>
        </p:nvSpPr>
        <p:spPr>
          <a:xfrm>
            <a:off x="2149311" y="1293570"/>
            <a:ext cx="2007910" cy="403006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13" name="Rounded Rectangle 2">
            <a:extLst>
              <a:ext uri="{FF2B5EF4-FFF2-40B4-BE49-F238E27FC236}">
                <a16:creationId xmlns:a16="http://schemas.microsoft.com/office/drawing/2014/main" id="{FB2D67F8-FB2D-4CE9-B1C3-E58C661E549B}"/>
              </a:ext>
            </a:extLst>
          </p:cNvPr>
          <p:cNvSpPr/>
          <p:nvPr/>
        </p:nvSpPr>
        <p:spPr>
          <a:xfrm>
            <a:off x="5516252" y="1185825"/>
            <a:ext cx="2007910" cy="727815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14" name="Rounded Rectangle 2">
            <a:extLst>
              <a:ext uri="{FF2B5EF4-FFF2-40B4-BE49-F238E27FC236}">
                <a16:creationId xmlns:a16="http://schemas.microsoft.com/office/drawing/2014/main" id="{BF3E9F2B-DC90-4C3A-ACD1-FA44750144E2}"/>
              </a:ext>
            </a:extLst>
          </p:cNvPr>
          <p:cNvSpPr/>
          <p:nvPr/>
        </p:nvSpPr>
        <p:spPr>
          <a:xfrm>
            <a:off x="4919219" y="4980115"/>
            <a:ext cx="3113989" cy="727815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963726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113005" y="815546"/>
            <a:ext cx="8810368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4000" dirty="0"/>
              <a:t>I do </a:t>
            </a:r>
          </a:p>
          <a:p>
            <a:endParaRPr lang="en-AU" sz="4000" dirty="0"/>
          </a:p>
          <a:p>
            <a:pPr marL="342900" indent="-342900">
              <a:buAutoNum type="alphaLcParenR"/>
            </a:pPr>
            <a:r>
              <a:rPr lang="en-AU" sz="4000" dirty="0"/>
              <a:t>  3(2x + 4)</a:t>
            </a:r>
          </a:p>
          <a:p>
            <a:pPr marL="342900" indent="-342900">
              <a:buAutoNum type="alphaLcParenR"/>
            </a:pPr>
            <a:endParaRPr lang="en-AU" sz="4000" dirty="0"/>
          </a:p>
          <a:p>
            <a:pPr marL="342900" indent="-342900">
              <a:buAutoNum type="alphaLcParenR"/>
            </a:pPr>
            <a:endParaRPr lang="en-AU" sz="4000" dirty="0"/>
          </a:p>
          <a:p>
            <a:pPr marL="342900" indent="-342900">
              <a:buAutoNum type="alphaLcParenR"/>
            </a:pPr>
            <a:r>
              <a:rPr lang="en-AU" sz="4000" dirty="0"/>
              <a:t>  5(4f – 5)</a:t>
            </a:r>
          </a:p>
          <a:p>
            <a:pPr marL="342900" indent="-342900">
              <a:buAutoNum type="alphaLcParenR"/>
            </a:pPr>
            <a:endParaRPr lang="en-AU" sz="4000" dirty="0"/>
          </a:p>
          <a:p>
            <a:pPr marL="342900" indent="-342900">
              <a:buAutoNum type="alphaLcParenR"/>
            </a:pPr>
            <a:endParaRPr lang="en-AU" sz="4000" dirty="0"/>
          </a:p>
          <a:p>
            <a:pPr marL="342900" indent="-342900">
              <a:buAutoNum type="alphaLcParenR"/>
            </a:pPr>
            <a:r>
              <a:rPr lang="en-AU" sz="4000" dirty="0"/>
              <a:t>4(d + 6) + 2(2d + 3)  </a:t>
            </a:r>
          </a:p>
          <a:p>
            <a:pPr marL="342900" indent="-342900">
              <a:buAutoNum type="alphaLcParenR"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9830923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113005" y="815546"/>
            <a:ext cx="8810368" cy="56630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4000" dirty="0"/>
              <a:t>Whiteboards </a:t>
            </a:r>
          </a:p>
          <a:p>
            <a:endParaRPr lang="en-AU" sz="4000" dirty="0"/>
          </a:p>
          <a:p>
            <a:pPr marL="342900" indent="-342900">
              <a:buAutoNum type="alphaLcParenR"/>
            </a:pPr>
            <a:r>
              <a:rPr lang="en-AU" sz="6600" dirty="0"/>
              <a:t>  4(3x + 1) </a:t>
            </a:r>
          </a:p>
          <a:p>
            <a:pPr marL="342900" indent="-342900">
              <a:buAutoNum type="alphaLcParenR"/>
            </a:pPr>
            <a:r>
              <a:rPr lang="en-AU" sz="6600" dirty="0"/>
              <a:t>  2(5f – 7)</a:t>
            </a:r>
          </a:p>
          <a:p>
            <a:pPr marL="342900" indent="-342900">
              <a:buAutoNum type="alphaLcParenR"/>
            </a:pPr>
            <a:r>
              <a:rPr lang="en-AU" sz="6600" dirty="0"/>
              <a:t>  3(6 – 4e) </a:t>
            </a:r>
          </a:p>
          <a:p>
            <a:pPr marL="342900" indent="-342900">
              <a:buAutoNum type="alphaLcParenR"/>
            </a:pPr>
            <a:r>
              <a:rPr lang="en-AU" sz="6600" dirty="0"/>
              <a:t>3(3d – 5) </a:t>
            </a:r>
          </a:p>
          <a:p>
            <a:pPr marL="342900" indent="-342900">
              <a:buAutoNum type="alphaLcParenR"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4378497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2D3CE7-2DA6-4BC3-BEC1-230FA65945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81037"/>
            <a:ext cx="8911687" cy="1280890"/>
          </a:xfrm>
        </p:spPr>
        <p:txBody>
          <a:bodyPr>
            <a:normAutofit/>
          </a:bodyPr>
          <a:lstStyle/>
          <a:p>
            <a:pPr algn="ctr"/>
            <a:r>
              <a:rPr lang="en-US" sz="4400" dirty="0"/>
              <a:t>Terminology</a:t>
            </a:r>
            <a:endParaRPr lang="en-AU" sz="4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12AB3C7-E55F-4777-BD95-A0793FD7F5D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7249357" cy="435133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400" b="1" u="sng" dirty="0"/>
                  <a:t>Like terms</a:t>
                </a:r>
              </a:p>
              <a:p>
                <a:pPr>
                  <a:buFontTx/>
                  <a:buChar char="-"/>
                </a:pPr>
                <a:r>
                  <a:rPr lang="en-US" sz="2400" b="1" dirty="0">
                    <a:solidFill>
                      <a:srgbClr val="FF0000"/>
                    </a:solidFill>
                  </a:rPr>
                  <a:t>Same pronumeral AND same power (can be collected) </a:t>
                </a:r>
                <a:endParaRPr lang="en-US" sz="2400" b="1" dirty="0"/>
              </a:p>
              <a:p>
                <a:pPr marL="0" indent="0">
                  <a:buNone/>
                </a:pPr>
                <a:endParaRPr lang="en-AU" sz="2400" b="1" dirty="0">
                  <a:solidFill>
                    <a:srgbClr val="FF0000"/>
                  </a:solidFill>
                </a:endParaRP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𝒉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𝒉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𝟔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𝒉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AU" sz="2400" b="1" dirty="0">
                  <a:solidFill>
                    <a:srgbClr val="FF0000"/>
                  </a:solidFill>
                </a:endParaRPr>
              </a:p>
              <a:p>
                <a:pPr marL="0" indent="0">
                  <a:buNone/>
                </a:pPr>
                <a:endParaRPr lang="en-AU" sz="2400" b="1" dirty="0">
                  <a:solidFill>
                    <a:srgbClr val="FF0000"/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𝒈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𝒈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𝒈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𝒓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𝒓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𝒓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𝟔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𝒈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𝒓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AU" sz="2400" b="1" dirty="0">
                  <a:solidFill>
                    <a:srgbClr val="FF0000"/>
                  </a:solidFill>
                </a:endParaRPr>
              </a:p>
              <a:p>
                <a:pPr marL="0" indent="0">
                  <a:buNone/>
                </a:pPr>
                <a:endParaRPr lang="en-AU" sz="2400" b="1" dirty="0">
                  <a:solidFill>
                    <a:srgbClr val="FF0000"/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𝟏𝟎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𝒇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𝒇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−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𝟓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𝒇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𝒈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𝟖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𝒇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𝒈</m:t>
                      </m:r>
                    </m:oMath>
                  </m:oMathPara>
                </a14:m>
                <a:endParaRPr lang="en-AU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12AB3C7-E55F-4777-BD95-A0793FD7F5D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7249357" cy="4351338"/>
              </a:xfrm>
              <a:blipFill>
                <a:blip r:embed="rId2"/>
                <a:stretch>
                  <a:fillRect l="-1346" t="-1120" r="-33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ounded Rectangle 2">
            <a:extLst>
              <a:ext uri="{FF2B5EF4-FFF2-40B4-BE49-F238E27FC236}">
                <a16:creationId xmlns:a16="http://schemas.microsoft.com/office/drawing/2014/main" id="{30916537-ABA3-4BBF-913C-A3B8D6C6FF88}"/>
              </a:ext>
            </a:extLst>
          </p:cNvPr>
          <p:cNvSpPr/>
          <p:nvPr/>
        </p:nvSpPr>
        <p:spPr>
          <a:xfrm>
            <a:off x="4983508" y="3619399"/>
            <a:ext cx="502892" cy="377565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11" name="Rounded Rectangle 2">
            <a:extLst>
              <a:ext uri="{FF2B5EF4-FFF2-40B4-BE49-F238E27FC236}">
                <a16:creationId xmlns:a16="http://schemas.microsoft.com/office/drawing/2014/main" id="{AFBAC8A5-7186-4810-8641-60F4A524015B}"/>
              </a:ext>
            </a:extLst>
          </p:cNvPr>
          <p:cNvSpPr/>
          <p:nvPr/>
        </p:nvSpPr>
        <p:spPr>
          <a:xfrm>
            <a:off x="5778120" y="4515439"/>
            <a:ext cx="1235422" cy="380635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12" name="Rounded Rectangle 2">
            <a:extLst>
              <a:ext uri="{FF2B5EF4-FFF2-40B4-BE49-F238E27FC236}">
                <a16:creationId xmlns:a16="http://schemas.microsoft.com/office/drawing/2014/main" id="{9D33243D-71D0-4282-B6D4-AB12FA840CC6}"/>
              </a:ext>
            </a:extLst>
          </p:cNvPr>
          <p:cNvSpPr/>
          <p:nvPr/>
        </p:nvSpPr>
        <p:spPr>
          <a:xfrm>
            <a:off x="5486400" y="5346201"/>
            <a:ext cx="1235422" cy="380635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976079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63856" y="511741"/>
            <a:ext cx="92271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defTabSz="457200">
              <a:spcAft>
                <a:spcPts val="600"/>
              </a:spcAft>
              <a:defRPr/>
            </a:pPr>
            <a:r>
              <a:rPr lang="en-AU" sz="2400" dirty="0">
                <a:solidFill>
                  <a:prstClr val="black"/>
                </a:solidFill>
              </a:rPr>
              <a:t>Simplify each of the following 										</a:t>
            </a:r>
            <a:endParaRPr lang="en-AU" sz="2400" dirty="0"/>
          </a:p>
        </p:txBody>
      </p:sp>
      <p:sp>
        <p:nvSpPr>
          <p:cNvPr id="4" name="TextBox 3"/>
          <p:cNvSpPr txBox="1"/>
          <p:nvPr/>
        </p:nvSpPr>
        <p:spPr>
          <a:xfrm>
            <a:off x="7325219" y="654908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Rectangle 4"/>
              <p:cNvSpPr/>
              <p:nvPr/>
            </p:nvSpPr>
            <p:spPr>
              <a:xfrm>
                <a:off x="2708591" y="1475619"/>
                <a:ext cx="6096000" cy="2323713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 lvl="0" defTabSz="457200">
                  <a:spcAft>
                    <a:spcPts val="600"/>
                  </a:spcAft>
                  <a:defRPr/>
                </a:pPr>
                <a:r>
                  <a:rPr lang="en-AU" sz="2400" dirty="0">
                    <a:solidFill>
                      <a:srgbClr val="FF0000"/>
                    </a:solidFill>
                  </a:rPr>
                  <a:t>1.</a:t>
                </a:r>
                <a:r>
                  <a:rPr lang="en-AU" sz="2400" dirty="0">
                    <a:solidFill>
                      <a:prstClr val="black"/>
                    </a:solidFill>
                  </a:rPr>
                  <a:t>	</a:t>
                </a:r>
                <a14:m>
                  <m:oMath xmlns:m="http://schemas.openxmlformats.org/officeDocument/2006/math">
                    <m:r>
                      <a:rPr lang="en-AU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3</m:t>
                    </m:r>
                    <m:d>
                      <m:dPr>
                        <m:ctrlPr>
                          <a:rPr lang="en-AU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2−</m:t>
                        </m:r>
                        <m:r>
                          <a:rPr lang="en-AU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r>
                  <a:rPr lang="en-AU" sz="2400" i="1" dirty="0">
                    <a:solidFill>
                      <a:prstClr val="black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			</a:t>
                </a:r>
                <a:r>
                  <a:rPr lang="en-AU" sz="2400" dirty="0">
                    <a:solidFill>
                      <a:prstClr val="black"/>
                    </a:solidFill>
                    <a:ea typeface="Cambria Math" panose="02040503050406030204" pitchFamily="18" charset="0"/>
                  </a:rPr>
                  <a:t>= 6 </a:t>
                </a:r>
                <a14:m>
                  <m:oMath xmlns:m="http://schemas.openxmlformats.org/officeDocument/2006/math">
                    <m:r>
                      <a:rPr lang="en-AU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AU" sz="2400" dirty="0">
                    <a:solidFill>
                      <a:prstClr val="black"/>
                    </a:solidFill>
                    <a:ea typeface="Cambria Math" panose="02040503050406030204" pitchFamily="18" charset="0"/>
                  </a:rPr>
                  <a:t> 3</a:t>
                </a:r>
                <a14:m>
                  <m:oMath xmlns:m="http://schemas.openxmlformats.org/officeDocument/2006/math">
                    <m:r>
                      <a:rPr lang="en-AU" sz="2400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</m:oMath>
                </a14:m>
                <a:endParaRPr lang="en-AU" sz="2400" dirty="0">
                  <a:solidFill>
                    <a:prstClr val="black"/>
                  </a:solidFill>
                </a:endParaRPr>
              </a:p>
              <a:p>
                <a:pPr lvl="0" defTabSz="457200">
                  <a:spcAft>
                    <a:spcPts val="800"/>
                  </a:spcAft>
                  <a:defRPr/>
                </a:pPr>
                <a:r>
                  <a:rPr lang="en-AU" sz="2400" dirty="0">
                    <a:solidFill>
                      <a:srgbClr val="FF0000"/>
                    </a:solidFill>
                  </a:rPr>
                  <a:t>2.</a:t>
                </a:r>
                <a:r>
                  <a:rPr lang="en-AU" sz="2400" dirty="0">
                    <a:solidFill>
                      <a:prstClr val="black"/>
                    </a:solidFill>
                  </a:rPr>
                  <a:t>	</a:t>
                </a:r>
                <a14:m>
                  <m:oMath xmlns:m="http://schemas.openxmlformats.org/officeDocument/2006/math">
                    <m:r>
                      <a:rPr lang="en-AU" sz="2400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5</m:t>
                    </m:r>
                    <m:d>
                      <m:dPr>
                        <m:ctrlPr>
                          <a:rPr lang="en-AU" sz="24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sz="24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AU" sz="24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AU" sz="24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</m:oMath>
                </a14:m>
                <a:r>
                  <a:rPr lang="en-AU" sz="2400" dirty="0">
                    <a:solidFill>
                      <a:prstClr val="black"/>
                    </a:solidFill>
                    <a:ea typeface="Cambria Math" panose="02040503050406030204" pitchFamily="18" charset="0"/>
                  </a:rPr>
                  <a:t>			= 1</a:t>
                </a:r>
                <a14:m>
                  <m:oMath xmlns:m="http://schemas.openxmlformats.org/officeDocument/2006/math">
                    <m:r>
                      <a:rPr lang="en-AU" sz="2400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  <m:r>
                      <a:rPr lang="en-AU" sz="2400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AU" sz="2400" dirty="0">
                    <a:solidFill>
                      <a:prstClr val="black"/>
                    </a:solidFill>
                    <a:ea typeface="Cambria Math" panose="02040503050406030204" pitchFamily="18" charset="0"/>
                  </a:rPr>
                  <a:t> + 5	</a:t>
                </a:r>
              </a:p>
              <a:p>
                <a:pPr marL="457200" lvl="0" indent="-457200" defTabSz="457200">
                  <a:spcAft>
                    <a:spcPts val="800"/>
                  </a:spcAft>
                  <a:buClr>
                    <a:srgbClr val="FF0000"/>
                  </a:buClr>
                  <a:buFontTx/>
                  <a:buAutoNum type="arabicPeriod" startAt="3"/>
                  <a:defRPr/>
                </a:pPr>
                <a:r>
                  <a:rPr lang="en-AU" sz="2400" dirty="0">
                    <a:solidFill>
                      <a:prstClr val="black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AU" sz="2400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4</m:t>
                    </m:r>
                    <m:d>
                      <m:dPr>
                        <m:ctrlPr>
                          <a:rPr lang="en-AU" sz="24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sz="24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AU" sz="24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AU" sz="24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+2</m:t>
                        </m:r>
                      </m:e>
                    </m:d>
                  </m:oMath>
                </a14:m>
                <a:r>
                  <a:rPr lang="en-AU" sz="2400" dirty="0">
                    <a:solidFill>
                      <a:prstClr val="black"/>
                    </a:solidFill>
                    <a:ea typeface="Cambria Math" panose="02040503050406030204" pitchFamily="18" charset="0"/>
                  </a:rPr>
                  <a:t>	  	= 12</a:t>
                </a:r>
                <a14:m>
                  <m:oMath xmlns:m="http://schemas.openxmlformats.org/officeDocument/2006/math">
                    <m:r>
                      <a:rPr lang="en-AU" sz="2400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AU" sz="2400" dirty="0">
                    <a:solidFill>
                      <a:prstClr val="black"/>
                    </a:solidFill>
                    <a:ea typeface="Cambria Math" panose="02040503050406030204" pitchFamily="18" charset="0"/>
                  </a:rPr>
                  <a:t> + 8</a:t>
                </a:r>
              </a:p>
              <a:p>
                <a:pPr marL="457200" lvl="0" indent="-457200" defTabSz="457200">
                  <a:spcAft>
                    <a:spcPts val="800"/>
                  </a:spcAft>
                  <a:buClr>
                    <a:srgbClr val="FF0000"/>
                  </a:buClr>
                  <a:buFontTx/>
                  <a:buAutoNum type="arabicPeriod" startAt="3"/>
                  <a:defRPr/>
                </a:pPr>
                <a:r>
                  <a:rPr lang="en-AU" sz="2400" dirty="0">
                    <a:solidFill>
                      <a:prstClr val="black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AU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3(2−4</m:t>
                    </m:r>
                    <m:r>
                      <a:rPr lang="en-AU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AU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)	</m:t>
                    </m:r>
                  </m:oMath>
                </a14:m>
                <a:r>
                  <a:rPr lang="en-AU" sz="2400" dirty="0">
                    <a:solidFill>
                      <a:prstClr val="black"/>
                    </a:solidFill>
                  </a:rPr>
                  <a:t>		= 6 – 1</a:t>
                </a:r>
                <a14:m>
                  <m:oMath xmlns:m="http://schemas.openxmlformats.org/officeDocument/2006/math">
                    <m:r>
                      <a:rPr lang="en-AU" sz="2400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AU" sz="2400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endParaRPr lang="en-AU" sz="2400" dirty="0">
                  <a:solidFill>
                    <a:prstClr val="black"/>
                  </a:solidFill>
                </a:endParaRPr>
              </a:p>
              <a:p>
                <a:pPr lvl="0" defTabSz="457200">
                  <a:spcAft>
                    <a:spcPts val="800"/>
                  </a:spcAft>
                  <a:defRPr/>
                </a:pPr>
                <a:r>
                  <a:rPr lang="en-AU" sz="2400" dirty="0">
                    <a:solidFill>
                      <a:srgbClr val="FF0000"/>
                    </a:solidFill>
                  </a:rPr>
                  <a:t>5.</a:t>
                </a:r>
                <a:r>
                  <a:rPr lang="en-AU" sz="2400" dirty="0">
                    <a:solidFill>
                      <a:prstClr val="black"/>
                    </a:solidFill>
                  </a:rPr>
                  <a:t>	2(</a:t>
                </a:r>
                <a14:m>
                  <m:oMath xmlns:m="http://schemas.openxmlformats.org/officeDocument/2006/math">
                    <m:r>
                      <a:rPr lang="en-AU" sz="2400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AU" sz="2400" dirty="0">
                    <a:solidFill>
                      <a:prstClr val="black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AU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AU" sz="2400" dirty="0">
                    <a:solidFill>
                      <a:prstClr val="black"/>
                    </a:solidFill>
                  </a:rPr>
                  <a:t> 5</a:t>
                </a:r>
                <a14:m>
                  <m:oMath xmlns:m="http://schemas.openxmlformats.org/officeDocument/2006/math">
                    <m:r>
                      <a:rPr lang="en-AU" sz="2400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AU" sz="2400" dirty="0">
                    <a:solidFill>
                      <a:prstClr val="black"/>
                    </a:solidFill>
                  </a:rPr>
                  <a:t> + 7)	  	= 2</a:t>
                </a:r>
                <a14:m>
                  <m:oMath xmlns:m="http://schemas.openxmlformats.org/officeDocument/2006/math">
                    <m:r>
                      <a:rPr lang="en-AU" sz="2400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AU" sz="2400" dirty="0">
                    <a:solidFill>
                      <a:prstClr val="black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AU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AU" sz="2400" dirty="0">
                    <a:solidFill>
                      <a:prstClr val="black"/>
                    </a:solidFill>
                  </a:rPr>
                  <a:t> 1</a:t>
                </a:r>
                <a14:m>
                  <m:oMath xmlns:m="http://schemas.openxmlformats.org/officeDocument/2006/math">
                    <m:r>
                      <a:rPr lang="en-AU" sz="2400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en-AU" sz="2400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AU" sz="2400" dirty="0">
                    <a:solidFill>
                      <a:prstClr val="black"/>
                    </a:solidFill>
                  </a:rPr>
                  <a:t> +14</a:t>
                </a:r>
              </a:p>
            </p:txBody>
          </p:sp>
        </mc:Choice>
        <mc:Fallback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08591" y="1475619"/>
                <a:ext cx="6096000" cy="2323713"/>
              </a:xfrm>
              <a:prstGeom prst="rect">
                <a:avLst/>
              </a:prstGeom>
              <a:blipFill>
                <a:blip r:embed="rId3"/>
                <a:stretch>
                  <a:fillRect l="-1500" t="-2100" b="-498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ounded Rectangle 9"/>
          <p:cNvSpPr/>
          <p:nvPr/>
        </p:nvSpPr>
        <p:spPr>
          <a:xfrm>
            <a:off x="5806017" y="3350051"/>
            <a:ext cx="1876927" cy="391297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5806017" y="2940697"/>
            <a:ext cx="1598121" cy="350722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5767375" y="2481798"/>
            <a:ext cx="1598121" cy="33739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5806017" y="1987855"/>
            <a:ext cx="1930651" cy="33739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5767375" y="1555567"/>
            <a:ext cx="1876927" cy="357819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 18"/>
              <p:cNvSpPr/>
              <p:nvPr/>
            </p:nvSpPr>
            <p:spPr>
              <a:xfrm>
                <a:off x="2758017" y="3955885"/>
                <a:ext cx="6096000" cy="2323713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 lvl="0" defTabSz="457200">
                  <a:spcAft>
                    <a:spcPts val="600"/>
                  </a:spcAft>
                  <a:defRPr/>
                </a:pPr>
                <a:r>
                  <a:rPr lang="en-AU" sz="2400" dirty="0">
                    <a:solidFill>
                      <a:srgbClr val="FF0000"/>
                    </a:solidFill>
                  </a:rPr>
                  <a:t>6.</a:t>
                </a:r>
                <a:r>
                  <a:rPr lang="en-AU" sz="2400" dirty="0">
                    <a:solidFill>
                      <a:prstClr val="black"/>
                    </a:solidFill>
                  </a:rPr>
                  <a:t>	</a:t>
                </a:r>
                <a14:m>
                  <m:oMath xmlns:m="http://schemas.openxmlformats.org/officeDocument/2006/math">
                    <m:r>
                      <a:rPr lang="en-AU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AU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AU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en-AU" sz="2400" i="1" dirty="0">
                    <a:solidFill>
                      <a:prstClr val="black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AU" sz="2400" dirty="0">
                    <a:solidFill>
                      <a:prstClr val="black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8y </a:t>
                </a:r>
                <a:r>
                  <a:rPr lang="en-AU" sz="2400" i="1" dirty="0">
                    <a:solidFill>
                      <a:prstClr val="black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AU" sz="2400" dirty="0">
                    <a:solidFill>
                      <a:prstClr val="black"/>
                    </a:solidFill>
                    <a:ea typeface="Cambria Math" panose="02040503050406030204" pitchFamily="18" charset="0"/>
                  </a:rPr>
                  <a:t>= 11</a:t>
                </a:r>
                <a14:m>
                  <m:oMath xmlns:m="http://schemas.openxmlformats.org/officeDocument/2006/math">
                    <m:r>
                      <a:rPr lang="en-AU" sz="2400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</m:oMath>
                </a14:m>
                <a:endParaRPr lang="en-AU" sz="2400" dirty="0">
                  <a:solidFill>
                    <a:prstClr val="black"/>
                  </a:solidFill>
                </a:endParaRPr>
              </a:p>
              <a:p>
                <a:pPr lvl="0" defTabSz="457200">
                  <a:spcAft>
                    <a:spcPts val="800"/>
                  </a:spcAft>
                  <a:defRPr/>
                </a:pPr>
                <a:r>
                  <a:rPr lang="en-AU" sz="2400" dirty="0">
                    <a:solidFill>
                      <a:srgbClr val="FF0000"/>
                    </a:solidFill>
                  </a:rPr>
                  <a:t>7.</a:t>
                </a:r>
                <a:r>
                  <a:rPr lang="en-AU" sz="2400" dirty="0">
                    <a:solidFill>
                      <a:prstClr val="black"/>
                    </a:solidFill>
                  </a:rPr>
                  <a:t>	5y + 5y</a:t>
                </a:r>
                <a:r>
                  <a:rPr lang="en-AU" sz="2400" dirty="0">
                    <a:solidFill>
                      <a:prstClr val="black"/>
                    </a:solidFill>
                    <a:ea typeface="Cambria Math" panose="02040503050406030204" pitchFamily="18" charset="0"/>
                  </a:rPr>
                  <a:t>			= 1</a:t>
                </a:r>
                <a14:m>
                  <m:oMath xmlns:m="http://schemas.openxmlformats.org/officeDocument/2006/math">
                    <m:r>
                      <a:rPr lang="en-AU" sz="2400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  <m:r>
                      <a:rPr lang="en-AU" sz="2400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</m:oMath>
                </a14:m>
                <a:endParaRPr lang="en-AU" sz="2400" dirty="0">
                  <a:solidFill>
                    <a:prstClr val="black"/>
                  </a:solidFill>
                  <a:ea typeface="Cambria Math" panose="02040503050406030204" pitchFamily="18" charset="0"/>
                </a:endParaRPr>
              </a:p>
              <a:p>
                <a:pPr lvl="0" defTabSz="457200">
                  <a:spcAft>
                    <a:spcPts val="800"/>
                  </a:spcAft>
                  <a:buClr>
                    <a:srgbClr val="FF0000"/>
                  </a:buClr>
                  <a:defRPr/>
                </a:pPr>
                <a:r>
                  <a:rPr lang="en-AU" sz="2400" dirty="0">
                    <a:solidFill>
                      <a:srgbClr val="FF0000"/>
                    </a:solidFill>
                  </a:rPr>
                  <a:t>8.</a:t>
                </a:r>
                <a:r>
                  <a:rPr lang="en-AU" sz="2400" dirty="0">
                    <a:solidFill>
                      <a:prstClr val="black"/>
                    </a:solidFill>
                  </a:rPr>
                  <a:t>	6t + 4t </a:t>
                </a:r>
                <a:r>
                  <a:rPr lang="en-AU" sz="2400" dirty="0">
                    <a:solidFill>
                      <a:prstClr val="black"/>
                    </a:solidFill>
                    <a:ea typeface="Cambria Math" panose="02040503050406030204" pitchFamily="18" charset="0"/>
                  </a:rPr>
                  <a:t>	  	  	= 10t</a:t>
                </a:r>
              </a:p>
              <a:p>
                <a:pPr lvl="0" defTabSz="457200">
                  <a:spcAft>
                    <a:spcPts val="800"/>
                  </a:spcAft>
                  <a:buClr>
                    <a:srgbClr val="FF0000"/>
                  </a:buClr>
                  <a:defRPr/>
                </a:pPr>
                <a:r>
                  <a:rPr lang="en-AU" sz="2400" dirty="0">
                    <a:solidFill>
                      <a:srgbClr val="FF0000"/>
                    </a:solidFill>
                  </a:rPr>
                  <a:t>9.</a:t>
                </a:r>
                <a:r>
                  <a:rPr lang="en-AU" sz="2400" dirty="0">
                    <a:solidFill>
                      <a:prstClr val="black"/>
                    </a:solidFill>
                  </a:rPr>
                  <a:t>	</a:t>
                </a:r>
                <a14:m>
                  <m:oMath xmlns:m="http://schemas.openxmlformats.org/officeDocument/2006/math">
                    <m:r>
                      <a:rPr lang="en-AU" sz="2400" b="0" i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AU" sz="2400" b="0" i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y</m:t>
                    </m:r>
                    <m:r>
                      <a:rPr lang="en-AU" sz="2400" b="0" i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+6</m:t>
                    </m:r>
                    <m:r>
                      <m:rPr>
                        <m:sty m:val="p"/>
                      </m:rPr>
                      <a:rPr lang="en-AU" sz="2400" b="0" i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t</m:t>
                    </m:r>
                    <m:r>
                      <a:rPr lang="en-AU" sz="2400" i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	</m:t>
                    </m:r>
                  </m:oMath>
                </a14:m>
                <a:r>
                  <a:rPr lang="en-AU" sz="2400" dirty="0">
                    <a:solidFill>
                      <a:prstClr val="black"/>
                    </a:solidFill>
                  </a:rPr>
                  <a:t>			= 5y + 6t</a:t>
                </a:r>
              </a:p>
              <a:p>
                <a:pPr lvl="0" defTabSz="457200">
                  <a:spcAft>
                    <a:spcPts val="800"/>
                  </a:spcAft>
                  <a:defRPr/>
                </a:pPr>
                <a:r>
                  <a:rPr lang="en-AU" sz="2400" dirty="0">
                    <a:solidFill>
                      <a:srgbClr val="FF0000"/>
                    </a:solidFill>
                  </a:rPr>
                  <a:t>10.</a:t>
                </a:r>
                <a:r>
                  <a:rPr lang="en-AU" sz="2400" dirty="0">
                    <a:solidFill>
                      <a:prstClr val="black"/>
                    </a:solidFill>
                  </a:rPr>
                  <a:t>	3a + 5 + 7a	  	= 10a + 5</a:t>
                </a:r>
              </a:p>
            </p:txBody>
          </p:sp>
        </mc:Choice>
        <mc:Fallback xmlns="">
          <p:sp>
            <p:nvSpPr>
              <p:cNvPr id="19" name="Rectangle 1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58017" y="3955885"/>
                <a:ext cx="6096000" cy="2323713"/>
              </a:xfrm>
              <a:prstGeom prst="rect">
                <a:avLst/>
              </a:prstGeom>
              <a:blipFill>
                <a:blip r:embed="rId4"/>
                <a:stretch>
                  <a:fillRect l="-1500" t="-2100" b="-498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Rounded Rectangle 19"/>
          <p:cNvSpPr/>
          <p:nvPr/>
        </p:nvSpPr>
        <p:spPr>
          <a:xfrm>
            <a:off x="5859741" y="5844347"/>
            <a:ext cx="1876927" cy="391297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5859741" y="5434993"/>
            <a:ext cx="1598121" cy="350722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5821099" y="4976094"/>
            <a:ext cx="1598121" cy="33739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5859741" y="4482151"/>
            <a:ext cx="1930651" cy="33739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5821099" y="4049863"/>
            <a:ext cx="1876927" cy="357819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57386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3" grpId="0" animBg="1"/>
      <p:bldP spid="14" grpId="0" animBg="1"/>
      <p:bldP spid="12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761475" y="941449"/>
            <a:ext cx="7034463" cy="5170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spcAft>
                <a:spcPts val="1200"/>
              </a:spcAft>
              <a:buClr>
                <a:srgbClr val="FF0000"/>
              </a:buClr>
              <a:buAutoNum type="arabicPeriod"/>
            </a:pPr>
            <a:r>
              <a:rPr lang="en-AU" sz="2400" dirty="0"/>
              <a:t>2(3 + 2y) + 2(4 + y)</a:t>
            </a:r>
          </a:p>
          <a:p>
            <a:pPr marL="457200" indent="-457200">
              <a:spcAft>
                <a:spcPts val="1200"/>
              </a:spcAft>
              <a:buClr>
                <a:srgbClr val="FF0000"/>
              </a:buClr>
              <a:buAutoNum type="arabicPeriod"/>
            </a:pPr>
            <a:endParaRPr lang="en-AU" sz="2400" dirty="0"/>
          </a:p>
          <a:p>
            <a:pPr marL="457200" indent="-457200">
              <a:spcAft>
                <a:spcPts val="1200"/>
              </a:spcAft>
              <a:buClr>
                <a:srgbClr val="FF0000"/>
              </a:buClr>
              <a:buAutoNum type="arabicPeriod"/>
            </a:pPr>
            <a:endParaRPr lang="en-AU" sz="2400" dirty="0"/>
          </a:p>
          <a:p>
            <a:pPr marL="457200" indent="-457200">
              <a:spcAft>
                <a:spcPts val="1200"/>
              </a:spcAft>
              <a:buClr>
                <a:srgbClr val="FF0000"/>
              </a:buClr>
              <a:buAutoNum type="arabicPeriod" startAt="2"/>
            </a:pPr>
            <a:r>
              <a:rPr lang="en-AU" sz="2400" dirty="0"/>
              <a:t>4(m + 4p) + 3(2m + p)</a:t>
            </a:r>
          </a:p>
          <a:p>
            <a:pPr marL="457200" indent="-457200">
              <a:spcAft>
                <a:spcPts val="1200"/>
              </a:spcAft>
              <a:buClr>
                <a:srgbClr val="FF0000"/>
              </a:buClr>
              <a:buAutoNum type="arabicPeriod" startAt="2"/>
            </a:pPr>
            <a:endParaRPr lang="en-AU" sz="2400" dirty="0"/>
          </a:p>
          <a:p>
            <a:pPr marL="457200" indent="-457200">
              <a:spcAft>
                <a:spcPts val="1200"/>
              </a:spcAft>
              <a:buClr>
                <a:srgbClr val="FF0000"/>
              </a:buClr>
              <a:buAutoNum type="arabicPeriod" startAt="2"/>
            </a:pPr>
            <a:endParaRPr lang="en-AU" sz="2400" dirty="0"/>
          </a:p>
          <a:p>
            <a:pPr marL="457200" indent="-457200">
              <a:spcAft>
                <a:spcPts val="1200"/>
              </a:spcAft>
              <a:buClr>
                <a:srgbClr val="FF0000"/>
              </a:buClr>
              <a:buAutoNum type="arabicPeriod" startAt="2"/>
            </a:pPr>
            <a:r>
              <a:rPr lang="en-AU" sz="2400" dirty="0"/>
              <a:t>3(a + 2b) + 5(4a + 3b)</a:t>
            </a:r>
          </a:p>
          <a:p>
            <a:pPr marL="457200" indent="-457200">
              <a:spcAft>
                <a:spcPts val="1200"/>
              </a:spcAft>
              <a:buClr>
                <a:srgbClr val="FF0000"/>
              </a:buClr>
              <a:buAutoNum type="arabicPeriod" startAt="2"/>
            </a:pPr>
            <a:endParaRPr lang="en-AU" sz="2400" dirty="0"/>
          </a:p>
          <a:p>
            <a:pPr marL="457200" indent="-457200">
              <a:spcAft>
                <a:spcPts val="1200"/>
              </a:spcAft>
              <a:buClr>
                <a:srgbClr val="FF0000"/>
              </a:buClr>
              <a:buAutoNum type="arabicPeriod" startAt="2"/>
            </a:pPr>
            <a:endParaRPr lang="en-AU" sz="2400" dirty="0"/>
          </a:p>
          <a:p>
            <a:pPr marL="457200" indent="-457200">
              <a:spcAft>
                <a:spcPts val="1200"/>
              </a:spcAft>
              <a:buClr>
                <a:srgbClr val="FF0000"/>
              </a:buClr>
              <a:buAutoNum type="arabicPeriod" startAt="2"/>
            </a:pPr>
            <a:r>
              <a:rPr lang="en-AU" sz="2400" dirty="0"/>
              <a:t>2(p + 3q) + 3(2p + q) + 2(2p + 3q)	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785937" y="276272"/>
            <a:ext cx="6096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DPM/A with multiple brackets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1894" y="186874"/>
            <a:ext cx="32725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FF0000"/>
                </a:solidFill>
              </a:rPr>
              <a:t>Exercise books</a:t>
            </a:r>
          </a:p>
        </p:txBody>
      </p:sp>
    </p:spTree>
    <p:extLst>
      <p:ext uri="{BB962C8B-B14F-4D97-AF65-F5344CB8AC3E}">
        <p14:creationId xmlns:p14="http://schemas.microsoft.com/office/powerpoint/2010/main" val="39356953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090087" y="864974"/>
            <a:ext cx="3484606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6000" dirty="0"/>
              <a:t>Practise</a:t>
            </a:r>
          </a:p>
          <a:p>
            <a:endParaRPr lang="en-AU" sz="6000" dirty="0"/>
          </a:p>
          <a:p>
            <a:r>
              <a:rPr lang="en-AU" sz="6000" dirty="0"/>
              <a:t>Practise</a:t>
            </a:r>
          </a:p>
          <a:p>
            <a:endParaRPr lang="en-AU" sz="6000" dirty="0"/>
          </a:p>
          <a:p>
            <a:r>
              <a:rPr lang="en-AU" sz="6000" dirty="0"/>
              <a:t>Practise</a:t>
            </a:r>
          </a:p>
        </p:txBody>
      </p:sp>
    </p:spTree>
    <p:extLst>
      <p:ext uri="{BB962C8B-B14F-4D97-AF65-F5344CB8AC3E}">
        <p14:creationId xmlns:p14="http://schemas.microsoft.com/office/powerpoint/2010/main" val="17854298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47537" y="192505"/>
            <a:ext cx="82777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>
                <a:solidFill>
                  <a:srgbClr val="FF0000"/>
                </a:solidFill>
              </a:rPr>
              <a:t>Challenge Questions: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2310063" y="1026695"/>
                <a:ext cx="776437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i="1" dirty="0" smtClean="0">
                          <a:latin typeface="Cambria Math" panose="02040503050406030204" pitchFamily="18" charset="0"/>
                        </a:rPr>
                        <m:t>2(3 + 2</m:t>
                      </m:r>
                      <m:r>
                        <a:rPr lang="en-AU" sz="240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400" i="1" dirty="0" smtClean="0">
                          <a:latin typeface="Cambria Math" panose="02040503050406030204" pitchFamily="18" charset="0"/>
                        </a:rPr>
                        <m:t>) – 3(3</m:t>
                      </m:r>
                      <m:r>
                        <a:rPr lang="en-AU" sz="240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400" i="1" dirty="0" smtClean="0">
                          <a:latin typeface="Cambria Math" panose="02040503050406030204" pitchFamily="18" charset="0"/>
                        </a:rPr>
                        <m:t> + 2) + 4(2 – 5</m:t>
                      </m:r>
                      <m:r>
                        <a:rPr lang="en-AU" sz="240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400" i="1" dirty="0" smtClean="0">
                          <a:latin typeface="Cambria Math" panose="02040503050406030204" pitchFamily="18" charset="0"/>
                        </a:rPr>
                        <m:t>) – 2</m:t>
                      </m:r>
                      <m:r>
                        <a:rPr lang="en-AU" sz="2400" i="1" dirty="0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AU" sz="2400" dirty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10063" y="1026695"/>
                <a:ext cx="7764379" cy="461665"/>
              </a:xfrm>
              <a:prstGeom prst="rect">
                <a:avLst/>
              </a:prstGeom>
              <a:blipFill>
                <a:blip r:embed="rId2"/>
                <a:stretch>
                  <a:fillRect b="-1973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2430379" y="2302042"/>
                <a:ext cx="776437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dirty="0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AU" sz="2400" i="1" dirty="0" smtClean="0">
                          <a:latin typeface="Cambria Math" panose="02040503050406030204" pitchFamily="18" charset="0"/>
                        </a:rPr>
                        <m:t>2</m:t>
                      </m:r>
                      <m:d>
                        <m:dPr>
                          <m:ctrlPr>
                            <a:rPr lang="en-AU" sz="24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2400" i="1" dirty="0" smtClean="0">
                              <a:latin typeface="Cambria Math" panose="02040503050406030204" pitchFamily="18" charset="0"/>
                            </a:rPr>
                            <m:t>3 +</m:t>
                          </m:r>
                          <m:r>
                            <a:rPr lang="en-AU" sz="24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AU" sz="240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AU" sz="2400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sz="2400" i="1" dirty="0">
                          <a:latin typeface="Cambria Math" panose="02040503050406030204" pitchFamily="18" charset="0"/>
                        </a:rPr>
                        <m:t>–</m:t>
                      </m:r>
                      <m:r>
                        <a:rPr lang="en-AU" sz="2400" i="1" dirty="0" smtClean="0">
                          <a:latin typeface="Cambria Math" panose="02040503050406030204" pitchFamily="18" charset="0"/>
                        </a:rPr>
                        <m:t> 3</m:t>
                      </m:r>
                      <m:d>
                        <m:dPr>
                          <m:ctrlPr>
                            <a:rPr lang="en-AU" sz="24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2400" b="0" i="1" dirty="0" smtClean="0">
                              <a:latin typeface="Cambria Math" panose="02040503050406030204" pitchFamily="18" charset="0"/>
                            </a:rPr>
                            <m:t>2 − </m:t>
                          </m:r>
                          <m:r>
                            <a:rPr lang="en-AU" sz="240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AU" sz="240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AU" sz="2400" i="1" dirty="0" smtClean="0">
                          <a:latin typeface="Cambria Math" panose="02040503050406030204" pitchFamily="18" charset="0"/>
                        </a:rPr>
                        <m:t>+ 4</m:t>
                      </m:r>
                      <m:d>
                        <m:dPr>
                          <m:ctrlPr>
                            <a:rPr lang="en-AU" sz="24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2400" i="1" dirty="0" smtClean="0">
                              <a:latin typeface="Cambria Math" panose="02040503050406030204" pitchFamily="18" charset="0"/>
                            </a:rPr>
                            <m:t>2 – 5</m:t>
                          </m:r>
                          <m:r>
                            <a:rPr lang="en-AU" sz="240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AU" sz="2400" b="0" i="1" dirty="0" smtClean="0">
                          <a:latin typeface="Cambria Math" panose="02040503050406030204" pitchFamily="18" charset="0"/>
                        </a:rPr>
                        <m:t>+(</m:t>
                      </m:r>
                      <m:r>
                        <a:rPr lang="en-AU" sz="2400" i="1" dirty="0">
                          <a:latin typeface="Cambria Math" panose="02040503050406030204" pitchFamily="18" charset="0"/>
                        </a:rPr>
                        <m:t>–</m:t>
                      </m:r>
                      <m:r>
                        <a:rPr lang="en-AU" sz="2400" i="1" dirty="0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AU" sz="240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400" b="0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AU" sz="2400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30379" y="2302042"/>
                <a:ext cx="7764379" cy="461665"/>
              </a:xfrm>
              <a:prstGeom prst="rect">
                <a:avLst/>
              </a:prstGeom>
              <a:blipFill>
                <a:blip r:embed="rId3"/>
                <a:stretch>
                  <a:fillRect b="-2133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26277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300E28-E96E-4956-8053-4F13026BF2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Reflection – fist to 5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D4FBD4-7178-42AB-93A3-A6D1F4EFA8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Aim: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en-AU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Be able</a:t>
            </a:r>
            <a:r>
              <a:rPr kumimoji="0" lang="en-AU" sz="3200" b="1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 to u</a:t>
            </a:r>
            <a:r>
              <a:rPr lang="en-AU" sz="3200" b="1" dirty="0">
                <a:solidFill>
                  <a:schemeClr val="tx1"/>
                </a:solidFill>
                <a:latin typeface="Century Gothic" panose="020B0502020202020204"/>
              </a:rPr>
              <a:t>se the DPM/A to expand bracketed terms.</a:t>
            </a:r>
          </a:p>
          <a:p>
            <a:pPr marL="0" indent="0">
              <a:buNone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604734522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1789</TotalTime>
  <Words>645</Words>
  <Application>Microsoft Office PowerPoint</Application>
  <PresentationFormat>Widescreen</PresentationFormat>
  <Paragraphs>104</Paragraphs>
  <Slides>13</Slides>
  <Notes>3</Notes>
  <HiddenSlides>2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Arial</vt:lpstr>
      <vt:lpstr>Calibri</vt:lpstr>
      <vt:lpstr>Cambria Math</vt:lpstr>
      <vt:lpstr>Century Gothic</vt:lpstr>
      <vt:lpstr>Wingdings</vt:lpstr>
      <vt:lpstr>Wingdings 3</vt:lpstr>
      <vt:lpstr>Wisp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Terminology</vt:lpstr>
      <vt:lpstr>PowerPoint Presentation</vt:lpstr>
      <vt:lpstr>PowerPoint Presentation</vt:lpstr>
      <vt:lpstr>PowerPoint Presentation</vt:lpstr>
      <vt:lpstr>PowerPoint Presentation</vt:lpstr>
      <vt:lpstr>Reflection – fist to 5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Kevin Wall</dc:creator>
  <cp:lastModifiedBy>DAVIES Rhys [Busselton Senior High School]</cp:lastModifiedBy>
  <cp:revision>61</cp:revision>
  <cp:lastPrinted>2022-03-17T00:08:19Z</cp:lastPrinted>
  <dcterms:created xsi:type="dcterms:W3CDTF">2022-02-28T13:51:39Z</dcterms:created>
  <dcterms:modified xsi:type="dcterms:W3CDTF">2022-03-17T05:53:50Z</dcterms:modified>
</cp:coreProperties>
</file>
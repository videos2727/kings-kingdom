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4" r:id="rId2"/>
  </p:sldMasterIdLst>
  <p:sldIdLst>
    <p:sldId id="293" r:id="rId3"/>
    <p:sldId id="270" r:id="rId4"/>
    <p:sldId id="274" r:id="rId5"/>
    <p:sldId id="271" r:id="rId6"/>
    <p:sldId id="272" r:id="rId7"/>
    <p:sldId id="273" r:id="rId8"/>
    <p:sldId id="317" r:id="rId9"/>
    <p:sldId id="310" r:id="rId10"/>
    <p:sldId id="31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418EF-326B-4F14-8648-E90653F5DC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Daily Review Instructional Sequence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5E1C93-5CFF-4364-8FFF-F38E0EA91F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30783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(Lis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F10B6-5EB8-4594-B011-3C2F53241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603" y="321993"/>
            <a:ext cx="11031747" cy="51476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3E589-DAEB-4941-BC27-7CE5EAC50B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604" y="945730"/>
            <a:ext cx="11601090" cy="5653477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000"/>
            </a:lvl1pPr>
            <a:lvl2pPr>
              <a:lnSpc>
                <a:spcPct val="100000"/>
              </a:lnSpc>
              <a:defRPr sz="18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4708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(Re)Tea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7EA4C0-DFEB-416B-9F49-DC26B90F42A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4907" y="766354"/>
            <a:ext cx="11845504" cy="5904410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marL="0" indent="0">
              <a:buNone/>
            </a:pPr>
            <a:r>
              <a:rPr lang="en-AU" sz="2000" dirty="0">
                <a:latin typeface="Verdana" panose="020B0604030504040204" pitchFamily="34" charset="0"/>
                <a:ea typeface="Verdana" panose="020B0604030504040204" pitchFamily="34" charset="0"/>
              </a:rPr>
              <a:t>Click to add text</a:t>
            </a:r>
            <a:endParaRPr lang="en-AU" dirty="0">
              <a:latin typeface="Arial Rounded MT Bold" panose="020F07040305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3709EF-28B9-4448-A51E-A59C1741C364}"/>
              </a:ext>
            </a:extLst>
          </p:cNvPr>
          <p:cNvSpPr txBox="1"/>
          <p:nvPr userDrawn="1"/>
        </p:nvSpPr>
        <p:spPr>
          <a:xfrm>
            <a:off x="154908" y="141439"/>
            <a:ext cx="1693990" cy="511704"/>
          </a:xfrm>
          <a:prstGeom prst="round2DiagRect">
            <a:avLst/>
          </a:prstGeom>
          <a:solidFill>
            <a:srgbClr val="154983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algn="ctr">
              <a:defRPr sz="1400" b="0" i="0">
                <a:solidFill>
                  <a:schemeClr val="bg1"/>
                </a:solidFill>
                <a:latin typeface="Arial Rounded MT Bold" panose="020F0704030504030204" pitchFamily="34" charset="0"/>
                <a:cs typeface="Futura Medium" panose="020B0602020204020303" pitchFamily="34" charset="-79"/>
              </a:defRPr>
            </a:lvl1pPr>
          </a:lstStyle>
          <a:p>
            <a:pPr lvl="0"/>
            <a:r>
              <a:rPr lang="en-US" sz="2000" dirty="0"/>
              <a:t>(Re)Teach</a:t>
            </a:r>
          </a:p>
        </p:txBody>
      </p:sp>
    </p:spTree>
    <p:extLst>
      <p:ext uri="{BB962C8B-B14F-4D97-AF65-F5344CB8AC3E}">
        <p14:creationId xmlns:p14="http://schemas.microsoft.com/office/powerpoint/2010/main" val="1552853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trie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7EA4C0-DFEB-416B-9F49-DC26B90F42A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4907" y="766354"/>
            <a:ext cx="11845504" cy="5904410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marL="0" indent="0">
              <a:buNone/>
            </a:pPr>
            <a:r>
              <a:rPr lang="en-AU" sz="2000" dirty="0">
                <a:latin typeface="Verdana" panose="020B0604030504040204" pitchFamily="34" charset="0"/>
                <a:ea typeface="Verdana" panose="020B0604030504040204" pitchFamily="34" charset="0"/>
              </a:rPr>
              <a:t>Click to add text</a:t>
            </a:r>
            <a:endParaRPr lang="en-AU" dirty="0">
              <a:latin typeface="Arial Rounded MT Bold" panose="020F07040305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3709EF-28B9-4448-A51E-A59C1741C364}"/>
              </a:ext>
            </a:extLst>
          </p:cNvPr>
          <p:cNvSpPr txBox="1"/>
          <p:nvPr userDrawn="1"/>
        </p:nvSpPr>
        <p:spPr>
          <a:xfrm>
            <a:off x="154908" y="141439"/>
            <a:ext cx="1482973" cy="511704"/>
          </a:xfrm>
          <a:prstGeom prst="round2DiagRect">
            <a:avLst/>
          </a:prstGeom>
          <a:solidFill>
            <a:srgbClr val="154983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algn="ctr">
              <a:defRPr sz="1400" b="0" i="0">
                <a:solidFill>
                  <a:schemeClr val="bg1"/>
                </a:solidFill>
                <a:latin typeface="Arial Rounded MT Bold" panose="020F0704030504030204" pitchFamily="34" charset="0"/>
                <a:cs typeface="Futura Medium" panose="020B0602020204020303" pitchFamily="34" charset="-79"/>
              </a:defRPr>
            </a:lvl1pPr>
          </a:lstStyle>
          <a:p>
            <a:pPr lvl="0"/>
            <a:r>
              <a:rPr lang="en-US" sz="2000" dirty="0"/>
              <a:t>Retrieve</a:t>
            </a:r>
          </a:p>
        </p:txBody>
      </p:sp>
    </p:spTree>
    <p:extLst>
      <p:ext uri="{BB962C8B-B14F-4D97-AF65-F5344CB8AC3E}">
        <p14:creationId xmlns:p14="http://schemas.microsoft.com/office/powerpoint/2010/main" val="2267788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ly (I D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7EA4C0-DFEB-416B-9F49-DC26B90F42A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4907" y="766354"/>
            <a:ext cx="11845504" cy="5904410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marL="0" indent="0">
              <a:buNone/>
            </a:pPr>
            <a:r>
              <a:rPr lang="en-AU" sz="2000" dirty="0">
                <a:latin typeface="Verdana" panose="020B0604030504040204" pitchFamily="34" charset="0"/>
                <a:ea typeface="Verdana" panose="020B0604030504040204" pitchFamily="34" charset="0"/>
              </a:rPr>
              <a:t>Click to add text</a:t>
            </a:r>
            <a:endParaRPr lang="en-AU" dirty="0">
              <a:latin typeface="Arial Rounded MT Bold" panose="020F07040305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3709EF-28B9-4448-A51E-A59C1741C364}"/>
              </a:ext>
            </a:extLst>
          </p:cNvPr>
          <p:cNvSpPr txBox="1"/>
          <p:nvPr userDrawn="1"/>
        </p:nvSpPr>
        <p:spPr>
          <a:xfrm>
            <a:off x="154908" y="141439"/>
            <a:ext cx="1764328" cy="511704"/>
          </a:xfrm>
          <a:prstGeom prst="round2DiagRect">
            <a:avLst/>
          </a:prstGeom>
          <a:solidFill>
            <a:srgbClr val="154983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algn="ctr">
              <a:defRPr sz="1400" b="0" i="0">
                <a:solidFill>
                  <a:schemeClr val="bg1"/>
                </a:solidFill>
                <a:latin typeface="Arial Rounded MT Bold" panose="020F0704030504030204" pitchFamily="34" charset="0"/>
                <a:cs typeface="Futura Medium" panose="020B0602020204020303" pitchFamily="34" charset="-79"/>
              </a:defRPr>
            </a:lvl1pPr>
          </a:lstStyle>
          <a:p>
            <a:pPr lvl="0"/>
            <a:r>
              <a:rPr lang="en-US" sz="2000" dirty="0"/>
              <a:t>Apply (I Do)</a:t>
            </a:r>
          </a:p>
        </p:txBody>
      </p:sp>
    </p:spTree>
    <p:extLst>
      <p:ext uri="{BB962C8B-B14F-4D97-AF65-F5344CB8AC3E}">
        <p14:creationId xmlns:p14="http://schemas.microsoft.com/office/powerpoint/2010/main" val="3691686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ly (We D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7EA4C0-DFEB-416B-9F49-DC26B90F42A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4907" y="766354"/>
            <a:ext cx="11845504" cy="5904410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marL="0" indent="0">
              <a:buNone/>
            </a:pPr>
            <a:r>
              <a:rPr lang="en-AU" sz="2000" dirty="0">
                <a:latin typeface="Verdana" panose="020B0604030504040204" pitchFamily="34" charset="0"/>
                <a:ea typeface="Verdana" panose="020B0604030504040204" pitchFamily="34" charset="0"/>
              </a:rPr>
              <a:t>Click to add text</a:t>
            </a:r>
            <a:endParaRPr lang="en-AU" dirty="0">
              <a:latin typeface="Arial Rounded MT Bold" panose="020F07040305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3709EF-28B9-4448-A51E-A59C1741C364}"/>
              </a:ext>
            </a:extLst>
          </p:cNvPr>
          <p:cNvSpPr txBox="1"/>
          <p:nvPr userDrawn="1"/>
        </p:nvSpPr>
        <p:spPr>
          <a:xfrm>
            <a:off x="154907" y="141439"/>
            <a:ext cx="2136117" cy="511704"/>
          </a:xfrm>
          <a:prstGeom prst="round2DiagRect">
            <a:avLst/>
          </a:prstGeom>
          <a:solidFill>
            <a:srgbClr val="154983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algn="ctr">
              <a:defRPr sz="1400" b="0" i="0">
                <a:solidFill>
                  <a:schemeClr val="bg1"/>
                </a:solidFill>
                <a:latin typeface="Arial Rounded MT Bold" panose="020F0704030504030204" pitchFamily="34" charset="0"/>
                <a:cs typeface="Futura Medium" panose="020B0602020204020303" pitchFamily="34" charset="-79"/>
              </a:defRPr>
            </a:lvl1pPr>
          </a:lstStyle>
          <a:p>
            <a:pPr lvl="0"/>
            <a:r>
              <a:rPr lang="en-US" sz="2000" dirty="0"/>
              <a:t>Apply (We Do)</a:t>
            </a:r>
          </a:p>
        </p:txBody>
      </p:sp>
    </p:spTree>
    <p:extLst>
      <p:ext uri="{BB962C8B-B14F-4D97-AF65-F5344CB8AC3E}">
        <p14:creationId xmlns:p14="http://schemas.microsoft.com/office/powerpoint/2010/main" val="4178494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ly (You D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7EA4C0-DFEB-416B-9F49-DC26B90F42A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4907" y="766354"/>
            <a:ext cx="11845504" cy="5904410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marL="0" indent="0">
              <a:buNone/>
            </a:pPr>
            <a:r>
              <a:rPr lang="en-AU" sz="2000" dirty="0">
                <a:latin typeface="Verdana" panose="020B0604030504040204" pitchFamily="34" charset="0"/>
                <a:ea typeface="Verdana" panose="020B0604030504040204" pitchFamily="34" charset="0"/>
              </a:rPr>
              <a:t>Click to add text</a:t>
            </a:r>
            <a:endParaRPr lang="en-AU" dirty="0">
              <a:latin typeface="Arial Rounded MT Bold" panose="020F07040305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3709EF-28B9-4448-A51E-A59C1741C364}"/>
              </a:ext>
            </a:extLst>
          </p:cNvPr>
          <p:cNvSpPr txBox="1"/>
          <p:nvPr userDrawn="1"/>
        </p:nvSpPr>
        <p:spPr>
          <a:xfrm>
            <a:off x="154907" y="141439"/>
            <a:ext cx="2136117" cy="511704"/>
          </a:xfrm>
          <a:prstGeom prst="round2DiagRect">
            <a:avLst/>
          </a:prstGeom>
          <a:solidFill>
            <a:srgbClr val="154983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algn="ctr">
              <a:defRPr sz="1400" b="0" i="0">
                <a:solidFill>
                  <a:schemeClr val="bg1"/>
                </a:solidFill>
                <a:latin typeface="Arial Rounded MT Bold" panose="020F0704030504030204" pitchFamily="34" charset="0"/>
                <a:cs typeface="Futura Medium" panose="020B0602020204020303" pitchFamily="34" charset="-79"/>
              </a:defRPr>
            </a:lvl1pPr>
          </a:lstStyle>
          <a:p>
            <a:pPr lvl="0"/>
            <a:r>
              <a:rPr lang="en-US" sz="2000" dirty="0"/>
              <a:t>Apply (You Do)</a:t>
            </a:r>
          </a:p>
        </p:txBody>
      </p:sp>
    </p:spTree>
    <p:extLst>
      <p:ext uri="{BB962C8B-B14F-4D97-AF65-F5344CB8AC3E}">
        <p14:creationId xmlns:p14="http://schemas.microsoft.com/office/powerpoint/2010/main" val="1949782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0007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23/03/2022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94487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23/03/2022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03112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23/03/2022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677500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23/03/2022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91025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23/03/2022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326630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23/03/2022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045792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23/03/2022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144797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23/03/2022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977083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23/03/2022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592083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23/03/2022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815195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23/03/2022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214089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23/03/2022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4871561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23/03/2022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906556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23/03/2022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1260107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23/03/2022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574033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23/03/2022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25917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0.xml"/><Relationship Id="rId16" Type="http://schemas.openxmlformats.org/officeDocument/2006/relationships/slideLayout" Target="../slideLayouts/slideLayout24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sign&#10;&#10;Description generated with high confidence">
            <a:extLst>
              <a:ext uri="{FF2B5EF4-FFF2-40B4-BE49-F238E27FC236}">
                <a16:creationId xmlns:a16="http://schemas.microsoft.com/office/drawing/2014/main" id="{761DAA86-BB2C-4542-B7E0-B9CF9771E992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5166" y="68536"/>
            <a:ext cx="461264" cy="595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896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9" r:id="rId3"/>
    <p:sldLayoutId id="2147483663" r:id="rId4"/>
    <p:sldLayoutId id="2147483660" r:id="rId5"/>
    <p:sldLayoutId id="2147483661" r:id="rId6"/>
    <p:sldLayoutId id="2147483662" r:id="rId7"/>
    <p:sldLayoutId id="2147483655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 Rounded MT Bold" panose="020F070403050403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Calibri" panose="020F0502020204030204" pitchFamily="34" charset="0"/>
        <a:buChar char="»"/>
        <a:defRPr sz="28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alibri" panose="020F0502020204030204" pitchFamily="34" charset="0"/>
        <a:buChar char="»"/>
        <a:defRPr sz="24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Calibri" panose="020F0502020204030204" pitchFamily="34" charset="0"/>
        <a:buChar char="»"/>
        <a:defRPr sz="20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Calibri" panose="020F0502020204030204" pitchFamily="34" charset="0"/>
        <a:buChar char="»"/>
        <a:defRPr sz="18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Calibri" panose="020F0502020204030204" pitchFamily="34" charset="0"/>
        <a:buChar char="»"/>
        <a:defRPr sz="18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DB0986-CC5D-441D-9150-EFAE06F4444F}" type="datetimeFigureOut">
              <a:rPr lang="en-AU" smtClean="0"/>
              <a:t>23/03/2022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9655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  <p:sldLayoutId id="2147483679" r:id="rId15"/>
    <p:sldLayoutId id="214748368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74588" y="182137"/>
            <a:ext cx="1661338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1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24/03/2022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09671" y="2228671"/>
            <a:ext cx="974599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Aim:</a:t>
            </a:r>
          </a:p>
          <a:p>
            <a:pPr marL="342900" indent="-342900" defTabSz="457200">
              <a:buClr>
                <a:srgbClr val="FF0000"/>
              </a:buClr>
              <a:buFont typeface="Wingdings" panose="05000000000000000000" pitchFamily="2" charset="2"/>
              <a:buChar char="q"/>
              <a:defRPr/>
            </a:pPr>
            <a:r>
              <a:rPr lang="en-AU" sz="2400" b="1" dirty="0">
                <a:solidFill>
                  <a:srgbClr val="00B0F0"/>
                </a:solidFill>
              </a:rPr>
              <a:t>Be able to add and subtract like terms using double sign operations. 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Expand and simplify brackets using DPM/A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14421" y="4147482"/>
            <a:ext cx="939489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Plan:</a:t>
            </a:r>
          </a:p>
          <a:p>
            <a:pPr marL="342909" marR="0" lvl="0" indent="-342909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Daily review:</a:t>
            </a:r>
          </a:p>
          <a:p>
            <a:pPr marL="800109" lvl="1" indent="-342909" defTabSz="457200"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en-AU" sz="2400" b="1" dirty="0">
                <a:solidFill>
                  <a:srgbClr val="00B0F0"/>
                </a:solidFill>
                <a:latin typeface="Century Gothic" panose="020B0502020202020204"/>
              </a:rPr>
              <a:t>Expanding brackets 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352425" marR="0" lvl="0" indent="-352425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Simplifying expressions with multiple terms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F076A7-CB9E-4985-B096-4A10DC554547}"/>
              </a:ext>
            </a:extLst>
          </p:cNvPr>
          <p:cNvSpPr txBox="1"/>
          <p:nvPr/>
        </p:nvSpPr>
        <p:spPr>
          <a:xfrm>
            <a:off x="1909671" y="898566"/>
            <a:ext cx="9745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Title: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Brackets and expressions</a:t>
            </a:r>
          </a:p>
        </p:txBody>
      </p:sp>
    </p:spTree>
    <p:extLst>
      <p:ext uri="{BB962C8B-B14F-4D97-AF65-F5344CB8AC3E}">
        <p14:creationId xmlns:p14="http://schemas.microsoft.com/office/powerpoint/2010/main" val="3839991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5ECB126-5402-49D0-A7AC-AE7D948BABE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2276" y="739721"/>
                <a:ext cx="11845504" cy="5904410"/>
              </a:xfrm>
            </p:spPr>
            <p:txBody>
              <a:bodyPr/>
              <a:lstStyle/>
              <a:p>
                <a:pPr lvl="0" defTabSz="457200">
                  <a:spcAft>
                    <a:spcPts val="800"/>
                  </a:spcAft>
                  <a:defRPr/>
                </a:pPr>
                <a:r>
                  <a:rPr lang="en-AU" sz="2000" dirty="0">
                    <a:solidFill>
                      <a:prstClr val="black"/>
                    </a:solidFill>
                  </a:rPr>
                  <a:t>The Distributive Property of Multiplication over Addition.</a:t>
                </a:r>
              </a:p>
              <a:p>
                <a:pPr lvl="0" defTabSz="457200">
                  <a:spcAft>
                    <a:spcPts val="1800"/>
                  </a:spcAft>
                  <a:defRPr/>
                </a:pPr>
                <a:r>
                  <a:rPr lang="en-AU" sz="2000" dirty="0">
                    <a:solidFill>
                      <a:prstClr val="black"/>
                    </a:solidFill>
                  </a:rPr>
                  <a:t>						a(b + c) = a</a:t>
                </a:r>
                <a14:m>
                  <m:oMath xmlns:m="http://schemas.openxmlformats.org/officeDocument/2006/math">
                    <m:r>
                      <a:rPr lang="en-AU" sz="20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AU" sz="2000" dirty="0">
                    <a:solidFill>
                      <a:prstClr val="black"/>
                    </a:solidFill>
                  </a:rPr>
                  <a:t>b + a</a:t>
                </a:r>
                <a14:m>
                  <m:oMath xmlns:m="http://schemas.openxmlformats.org/officeDocument/2006/math">
                    <m:r>
                      <a:rPr lang="en-AU" sz="20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AU" sz="2000" dirty="0">
                    <a:solidFill>
                      <a:prstClr val="black"/>
                    </a:solidFill>
                  </a:rPr>
                  <a:t>c</a:t>
                </a:r>
              </a:p>
              <a:p>
                <a:pPr lvl="0" defTabSz="457200">
                  <a:spcAft>
                    <a:spcPts val="800"/>
                  </a:spcAft>
                  <a:defRPr/>
                </a:pPr>
                <a:r>
                  <a:rPr lang="en-AU" sz="2000" b="1" dirty="0">
                    <a:solidFill>
                      <a:srgbClr val="FF0000"/>
                    </a:solidFill>
                  </a:rPr>
                  <a:t>The term outside the brackets multiplies to EVERY term inside the brackets.</a:t>
                </a:r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5ECB126-5402-49D0-A7AC-AE7D948BAB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2276" y="739721"/>
                <a:ext cx="11845504" cy="5904410"/>
              </a:xfrm>
              <a:blipFill>
                <a:blip r:embed="rId2"/>
                <a:stretch>
                  <a:fillRect l="-566" t="-103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E9DBF301-7115-4652-83F7-42E8AF56B75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95418" y="2866509"/>
                <a:ext cx="8915400" cy="3777622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Calibri" panose="020F050202020403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Calibri" panose="020F0502020204030204" pitchFamily="34" charset="0"/>
                  <a:buChar char="»"/>
                  <a:defRPr sz="2400" kern="120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Calibri" panose="020F050202020403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Calibri" panose="020F0502020204030204" pitchFamily="34" charset="0"/>
                  <a:buChar char="»"/>
                  <a:defRPr sz="1800" kern="120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Calibri" panose="020F0502020204030204" pitchFamily="34" charset="0"/>
                  <a:buChar char="»"/>
                  <a:defRPr sz="1800" kern="120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Font typeface="Calibri" panose="020F0502020204030204" pitchFamily="34" charset="0"/>
                  <a:buNone/>
                </a:pPr>
                <a:endParaRPr lang="en-AU" sz="1800" b="1" dirty="0">
                  <a:solidFill>
                    <a:srgbClr val="FF0000"/>
                  </a:solidFill>
                </a:endParaRPr>
              </a:p>
              <a:p>
                <a:pPr marL="0" indent="0" algn="ctr">
                  <a:buFont typeface="Calibri" panose="020F0502020204030204" pitchFamily="34" charset="0"/>
                  <a:buNone/>
                </a:pPr>
                <a:endParaRPr lang="en-AU" b="1" dirty="0">
                  <a:solidFill>
                    <a:srgbClr val="FF0000"/>
                  </a:solidFill>
                </a:endParaRPr>
              </a:p>
              <a:p>
                <a:pPr marL="0" indent="0" algn="ctr">
                  <a:buFont typeface="Calibri" panose="020F050202020403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d>
                        <m:dPr>
                          <m:ctrlPr>
                            <a:rPr lang="en-AU" sz="3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AU" sz="3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AU" sz="3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AU" sz="3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d>
                    </m:oMath>
                  </m:oMathPara>
                </a14:m>
                <a:endParaRPr lang="en-AU" sz="3200" b="1" dirty="0">
                  <a:solidFill>
                    <a:srgbClr val="FF0000"/>
                  </a:solidFill>
                </a:endParaRPr>
              </a:p>
              <a:p>
                <a:pPr marL="0" indent="0" algn="ctr">
                  <a:buFont typeface="Calibri" panose="020F050202020403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AU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×</m:t>
                      </m:r>
                      <m:r>
                        <a:rPr lang="en-AU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>
                        <a:rPr lang="en-AU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3200" b="1" i="1" dirty="0">
                  <a:solidFill>
                    <a:srgbClr val="FF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algn="ctr">
                  <a:buFont typeface="Calibri" panose="020F050202020403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AU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𝟏𝟐</m:t>
                      </m:r>
                      <m:r>
                        <a:rPr lang="en-AU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3200" b="1" dirty="0">
                  <a:solidFill>
                    <a:srgbClr val="FF0000"/>
                  </a:solidFill>
                </a:endParaRPr>
              </a:p>
              <a:p>
                <a:pPr marL="0" indent="0">
                  <a:buFont typeface="Calibri" panose="020F0502020204030204" pitchFamily="34" charset="0"/>
                  <a:buNone/>
                </a:pPr>
                <a:endParaRPr lang="en-AU" dirty="0"/>
              </a:p>
            </p:txBody>
          </p:sp>
        </mc:Choice>
        <mc:Fallback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E9DBF301-7115-4652-83F7-42E8AF56B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5418" y="2866509"/>
                <a:ext cx="8915400" cy="377762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Arc 5">
            <a:extLst>
              <a:ext uri="{FF2B5EF4-FFF2-40B4-BE49-F238E27FC236}">
                <a16:creationId xmlns:a16="http://schemas.microsoft.com/office/drawing/2014/main" id="{D189293A-5BC0-4952-938F-B8B84AEF075F}"/>
              </a:ext>
            </a:extLst>
          </p:cNvPr>
          <p:cNvSpPr/>
          <p:nvPr/>
        </p:nvSpPr>
        <p:spPr>
          <a:xfrm>
            <a:off x="4877697" y="3509869"/>
            <a:ext cx="424873" cy="230909"/>
          </a:xfrm>
          <a:prstGeom prst="arc">
            <a:avLst>
              <a:gd name="adj1" fmla="val 10493863"/>
              <a:gd name="adj2" fmla="val 0"/>
            </a:avLst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7" name="Arc 6">
            <a:extLst>
              <a:ext uri="{FF2B5EF4-FFF2-40B4-BE49-F238E27FC236}">
                <a16:creationId xmlns:a16="http://schemas.microsoft.com/office/drawing/2014/main" id="{0CF13553-A2D7-418E-A972-A33206A62164}"/>
              </a:ext>
            </a:extLst>
          </p:cNvPr>
          <p:cNvSpPr/>
          <p:nvPr/>
        </p:nvSpPr>
        <p:spPr>
          <a:xfrm>
            <a:off x="4877696" y="3316782"/>
            <a:ext cx="1385455" cy="422562"/>
          </a:xfrm>
          <a:prstGeom prst="arc">
            <a:avLst>
              <a:gd name="adj1" fmla="val 10493863"/>
              <a:gd name="adj2" fmla="val 0"/>
            </a:avLst>
          </a:prstGeom>
          <a:ln w="381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D1B3AF1-87F2-4F18-A06A-0385356240DE}"/>
              </a:ext>
            </a:extLst>
          </p:cNvPr>
          <p:cNvCxnSpPr/>
          <p:nvPr/>
        </p:nvCxnSpPr>
        <p:spPr>
          <a:xfrm>
            <a:off x="5190144" y="4412927"/>
            <a:ext cx="1200727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8290B02-92D4-453F-860E-C164A5A2DC2F}"/>
              </a:ext>
            </a:extLst>
          </p:cNvPr>
          <p:cNvCxnSpPr/>
          <p:nvPr/>
        </p:nvCxnSpPr>
        <p:spPr>
          <a:xfrm>
            <a:off x="6693988" y="4412927"/>
            <a:ext cx="1200727" cy="0"/>
          </a:xfrm>
          <a:prstGeom prst="line">
            <a:avLst/>
          </a:prstGeom>
          <a:ln w="381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2DB2F64-8068-48F3-AA37-6B45BF041A75}"/>
                  </a:ext>
                </a:extLst>
              </p:cNvPr>
              <p:cNvSpPr txBox="1"/>
              <p:nvPr/>
            </p:nvSpPr>
            <p:spPr>
              <a:xfrm>
                <a:off x="6310679" y="3914491"/>
                <a:ext cx="1967346" cy="861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AU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𝟒</m:t>
                      </m:r>
                      <m:r>
                        <a:rPr lang="en-AU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×</m:t>
                      </m:r>
                      <m:r>
                        <a:rPr lang="en-AU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</m:t>
                      </m:r>
                      <m:r>
                        <a:rPr lang="en-AU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3200" b="1" dirty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endParaRPr lang="en-AU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2DB2F64-8068-48F3-AA37-6B45BF041A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0679" y="3914491"/>
                <a:ext cx="1967346" cy="86177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88BE9A9-F52F-46BC-9FBE-EF5E42E30BB6}"/>
              </a:ext>
            </a:extLst>
          </p:cNvPr>
          <p:cNvCxnSpPr>
            <a:cxnSpLocks/>
          </p:cNvCxnSpPr>
          <p:nvPr/>
        </p:nvCxnSpPr>
        <p:spPr>
          <a:xfrm>
            <a:off x="5128245" y="4866156"/>
            <a:ext cx="424874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C8A9DE4-F7B1-4A50-BFD3-D3EA1115FB87}"/>
              </a:ext>
            </a:extLst>
          </p:cNvPr>
          <p:cNvCxnSpPr>
            <a:cxnSpLocks/>
          </p:cNvCxnSpPr>
          <p:nvPr/>
        </p:nvCxnSpPr>
        <p:spPr>
          <a:xfrm>
            <a:off x="5799923" y="4866156"/>
            <a:ext cx="711200" cy="0"/>
          </a:xfrm>
          <a:prstGeom prst="line">
            <a:avLst/>
          </a:prstGeom>
          <a:ln w="381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Arc 12">
            <a:extLst>
              <a:ext uri="{FF2B5EF4-FFF2-40B4-BE49-F238E27FC236}">
                <a16:creationId xmlns:a16="http://schemas.microsoft.com/office/drawing/2014/main" id="{70BD78E3-B0A4-40C9-B5A3-A9FE5F25D906}"/>
              </a:ext>
            </a:extLst>
          </p:cNvPr>
          <p:cNvSpPr/>
          <p:nvPr/>
        </p:nvSpPr>
        <p:spPr>
          <a:xfrm>
            <a:off x="2872823" y="1141012"/>
            <a:ext cx="424873" cy="230909"/>
          </a:xfrm>
          <a:prstGeom prst="arc">
            <a:avLst>
              <a:gd name="adj1" fmla="val 10493863"/>
              <a:gd name="adj2" fmla="val 0"/>
            </a:avLst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C68C434F-75C4-48E7-9DB8-ABB93CA58CB8}"/>
              </a:ext>
            </a:extLst>
          </p:cNvPr>
          <p:cNvSpPr/>
          <p:nvPr/>
        </p:nvSpPr>
        <p:spPr>
          <a:xfrm rot="10800000">
            <a:off x="2977829" y="1457604"/>
            <a:ext cx="866201" cy="315608"/>
          </a:xfrm>
          <a:prstGeom prst="arc">
            <a:avLst>
              <a:gd name="adj1" fmla="val 10493863"/>
              <a:gd name="adj2" fmla="val 0"/>
            </a:avLst>
          </a:prstGeom>
          <a:ln w="381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5F5046F-18F9-4B02-833A-6AEEF1BB149B}"/>
              </a:ext>
            </a:extLst>
          </p:cNvPr>
          <p:cNvCxnSpPr>
            <a:cxnSpLocks/>
          </p:cNvCxnSpPr>
          <p:nvPr/>
        </p:nvCxnSpPr>
        <p:spPr>
          <a:xfrm>
            <a:off x="4374878" y="1615408"/>
            <a:ext cx="502818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EC7A000-4B12-48A3-A206-7B3A661B8A05}"/>
              </a:ext>
            </a:extLst>
          </p:cNvPr>
          <p:cNvCxnSpPr>
            <a:cxnSpLocks/>
          </p:cNvCxnSpPr>
          <p:nvPr/>
        </p:nvCxnSpPr>
        <p:spPr>
          <a:xfrm>
            <a:off x="5190144" y="1582570"/>
            <a:ext cx="711200" cy="0"/>
          </a:xfrm>
          <a:prstGeom prst="line">
            <a:avLst/>
          </a:prstGeom>
          <a:ln w="381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396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0" grpId="0"/>
      <p:bldP spid="13" grpId="0" animBg="1"/>
      <p:bldP spid="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7E032B-ABC7-4ED6-97AF-38B99FD0D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sz="2800" b="1" dirty="0">
                <a:solidFill>
                  <a:srgbClr val="FF0000"/>
                </a:solidFill>
              </a:rPr>
              <a:t>The term outside the brackets multiplies to EVERY term inside the brackets.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 algn="ctr">
              <a:buNone/>
            </a:pPr>
            <a:r>
              <a:rPr lang="en-AU" sz="3600" dirty="0"/>
              <a:t>Identify inside and </a:t>
            </a:r>
            <a:r>
              <a:rPr lang="en-AU" sz="3600" u="sng" dirty="0"/>
              <a:t>outside</a:t>
            </a:r>
            <a:r>
              <a:rPr lang="en-AU" sz="3600" dirty="0"/>
              <a:t> terms </a:t>
            </a:r>
          </a:p>
          <a:p>
            <a:pPr marL="0" indent="0" algn="ctr">
              <a:buNone/>
            </a:pPr>
            <a:endParaRPr lang="en-AU" sz="3600" dirty="0"/>
          </a:p>
          <a:p>
            <a:pPr marL="0" indent="0">
              <a:buNone/>
            </a:pPr>
            <a:endParaRPr lang="en-AU" sz="3600" dirty="0"/>
          </a:p>
          <a:p>
            <a:pPr marL="0" indent="0">
              <a:buNone/>
            </a:pPr>
            <a:endParaRPr lang="en-AU" sz="36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78871C7-DD31-4FFC-8752-25D96F63FE1F}"/>
              </a:ext>
            </a:extLst>
          </p:cNvPr>
          <p:cNvSpPr/>
          <p:nvPr/>
        </p:nvSpPr>
        <p:spPr>
          <a:xfrm>
            <a:off x="2166152" y="766354"/>
            <a:ext cx="1518081" cy="3699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D69091-4CFF-4A41-AAE6-99E72F31CA2B}"/>
              </a:ext>
            </a:extLst>
          </p:cNvPr>
          <p:cNvSpPr/>
          <p:nvPr/>
        </p:nvSpPr>
        <p:spPr>
          <a:xfrm>
            <a:off x="9037469" y="766354"/>
            <a:ext cx="1287262" cy="3699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9F5E3A-56BA-41C7-BC6E-4CD3ADD882E5}"/>
              </a:ext>
            </a:extLst>
          </p:cNvPr>
          <p:cNvSpPr txBox="1"/>
          <p:nvPr/>
        </p:nvSpPr>
        <p:spPr>
          <a:xfrm>
            <a:off x="1180730" y="4101483"/>
            <a:ext cx="24413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3(3x – 9 ) </a:t>
            </a:r>
            <a:endParaRPr lang="en-AU"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E7F8B4-92F0-439F-8D82-E5BB836F3960}"/>
              </a:ext>
            </a:extLst>
          </p:cNvPr>
          <p:cNvSpPr txBox="1"/>
          <p:nvPr/>
        </p:nvSpPr>
        <p:spPr>
          <a:xfrm>
            <a:off x="4952712" y="4101482"/>
            <a:ext cx="24413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3(3x – 9 ) </a:t>
            </a:r>
            <a:endParaRPr lang="en-AU" sz="320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A9DC82F-EDF0-429D-A508-0A24D2830FF1}"/>
              </a:ext>
            </a:extLst>
          </p:cNvPr>
          <p:cNvSpPr/>
          <p:nvPr/>
        </p:nvSpPr>
        <p:spPr>
          <a:xfrm>
            <a:off x="4074850" y="2370338"/>
            <a:ext cx="1589103" cy="76348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CE7C43-1A4F-4791-88B5-A2555F8917DC}"/>
              </a:ext>
            </a:extLst>
          </p:cNvPr>
          <p:cNvSpPr txBox="1"/>
          <p:nvPr/>
        </p:nvSpPr>
        <p:spPr>
          <a:xfrm>
            <a:off x="8807101" y="4101482"/>
            <a:ext cx="24413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7s(7 – 8s)  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37792011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26A89BE-D4F9-465D-A76F-B2D11B263302}"/>
              </a:ext>
            </a:extLst>
          </p:cNvPr>
          <p:cNvSpPr txBox="1"/>
          <p:nvPr/>
        </p:nvSpPr>
        <p:spPr>
          <a:xfrm>
            <a:off x="1296140" y="1864310"/>
            <a:ext cx="24413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3(3x – 9 ) </a:t>
            </a:r>
            <a:endParaRPr lang="en-AU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B5C3D7-2CE6-40D7-A752-5E3CB97CB712}"/>
              </a:ext>
            </a:extLst>
          </p:cNvPr>
          <p:cNvSpPr txBox="1"/>
          <p:nvPr/>
        </p:nvSpPr>
        <p:spPr>
          <a:xfrm>
            <a:off x="5068122" y="1864309"/>
            <a:ext cx="24413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3(3x – 9 ) </a:t>
            </a:r>
            <a:endParaRPr lang="en-AU"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FD43DC-7EEA-4723-AC6A-821A6E22B41C}"/>
              </a:ext>
            </a:extLst>
          </p:cNvPr>
          <p:cNvSpPr txBox="1"/>
          <p:nvPr/>
        </p:nvSpPr>
        <p:spPr>
          <a:xfrm>
            <a:off x="8922511" y="1864309"/>
            <a:ext cx="24413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- (2x + 8)   </a:t>
            </a:r>
            <a:endParaRPr lang="en-AU" sz="3200" dirty="0"/>
          </a:p>
        </p:txBody>
      </p:sp>
      <p:graphicFrame>
        <p:nvGraphicFramePr>
          <p:cNvPr id="7" name="Table 11">
            <a:extLst>
              <a:ext uri="{FF2B5EF4-FFF2-40B4-BE49-F238E27FC236}">
                <a16:creationId xmlns:a16="http://schemas.microsoft.com/office/drawing/2014/main" id="{D8F98166-D703-481B-AEB7-1D605B3444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341404"/>
              </p:ext>
            </p:extLst>
          </p:nvPr>
        </p:nvGraphicFramePr>
        <p:xfrm>
          <a:off x="1069975" y="3183784"/>
          <a:ext cx="2063750" cy="7186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1875">
                  <a:extLst>
                    <a:ext uri="{9D8B030D-6E8A-4147-A177-3AD203B41FA5}">
                      <a16:colId xmlns:a16="http://schemas.microsoft.com/office/drawing/2014/main" val="303582160"/>
                    </a:ext>
                  </a:extLst>
                </a:gridCol>
                <a:gridCol w="1031875">
                  <a:extLst>
                    <a:ext uri="{9D8B030D-6E8A-4147-A177-3AD203B41FA5}">
                      <a16:colId xmlns:a16="http://schemas.microsoft.com/office/drawing/2014/main" val="3311648279"/>
                    </a:ext>
                  </a:extLst>
                </a:gridCol>
              </a:tblGrid>
              <a:tr h="718609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2567512"/>
                  </a:ext>
                </a:extLst>
              </a:tr>
            </a:tbl>
          </a:graphicData>
        </a:graphic>
      </p:graphicFrame>
      <p:graphicFrame>
        <p:nvGraphicFramePr>
          <p:cNvPr id="8" name="Table 11">
            <a:extLst>
              <a:ext uri="{FF2B5EF4-FFF2-40B4-BE49-F238E27FC236}">
                <a16:creationId xmlns:a16="http://schemas.microsoft.com/office/drawing/2014/main" id="{F7DDB51A-3201-4C1D-8460-CA00B85A15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3534104"/>
              </p:ext>
            </p:extLst>
          </p:nvPr>
        </p:nvGraphicFramePr>
        <p:xfrm>
          <a:off x="4899025" y="3183784"/>
          <a:ext cx="2063750" cy="7186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1875">
                  <a:extLst>
                    <a:ext uri="{9D8B030D-6E8A-4147-A177-3AD203B41FA5}">
                      <a16:colId xmlns:a16="http://schemas.microsoft.com/office/drawing/2014/main" val="303582160"/>
                    </a:ext>
                  </a:extLst>
                </a:gridCol>
                <a:gridCol w="1031875">
                  <a:extLst>
                    <a:ext uri="{9D8B030D-6E8A-4147-A177-3AD203B41FA5}">
                      <a16:colId xmlns:a16="http://schemas.microsoft.com/office/drawing/2014/main" val="3311648279"/>
                    </a:ext>
                  </a:extLst>
                </a:gridCol>
              </a:tblGrid>
              <a:tr h="718609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25675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60929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6EF6661-1DE9-4555-9106-D2FDE12F0F49}"/>
              </a:ext>
            </a:extLst>
          </p:cNvPr>
          <p:cNvSpPr txBox="1"/>
          <p:nvPr/>
        </p:nvSpPr>
        <p:spPr>
          <a:xfrm>
            <a:off x="2885243" y="1882067"/>
            <a:ext cx="24413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2(x – 9 ) </a:t>
            </a:r>
            <a:endParaRPr lang="en-AU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8C8F72-A987-499A-BF28-005A335ADD35}"/>
              </a:ext>
            </a:extLst>
          </p:cNvPr>
          <p:cNvSpPr txBox="1"/>
          <p:nvPr/>
        </p:nvSpPr>
        <p:spPr>
          <a:xfrm>
            <a:off x="2885243" y="4219286"/>
            <a:ext cx="24413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5(3x – 3 ) </a:t>
            </a:r>
            <a:endParaRPr lang="en-AU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0DBE42-6A77-494F-9A0F-B6DC5702B78C}"/>
              </a:ext>
            </a:extLst>
          </p:cNvPr>
          <p:cNvSpPr txBox="1"/>
          <p:nvPr/>
        </p:nvSpPr>
        <p:spPr>
          <a:xfrm>
            <a:off x="7191365" y="1882066"/>
            <a:ext cx="24413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7(3 – 2x)   </a:t>
            </a:r>
            <a:endParaRPr lang="en-AU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F906E0-83A2-4C4F-9956-CA2830ECEE52}"/>
              </a:ext>
            </a:extLst>
          </p:cNvPr>
          <p:cNvSpPr txBox="1"/>
          <p:nvPr/>
        </p:nvSpPr>
        <p:spPr>
          <a:xfrm>
            <a:off x="7068557" y="4219286"/>
            <a:ext cx="24413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7s(7 – 8s)  </a:t>
            </a:r>
            <a:endParaRPr lang="en-AU" sz="3200" dirty="0"/>
          </a:p>
        </p:txBody>
      </p:sp>
      <p:graphicFrame>
        <p:nvGraphicFramePr>
          <p:cNvPr id="11" name="Table 11">
            <a:extLst>
              <a:ext uri="{FF2B5EF4-FFF2-40B4-BE49-F238E27FC236}">
                <a16:creationId xmlns:a16="http://schemas.microsoft.com/office/drawing/2014/main" id="{6B01E80B-561B-459F-8CE9-2A6FA50BF9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5108943"/>
              </p:ext>
            </p:extLst>
          </p:nvPr>
        </p:nvGraphicFramePr>
        <p:xfrm>
          <a:off x="2717800" y="2983759"/>
          <a:ext cx="2063750" cy="7186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1875">
                  <a:extLst>
                    <a:ext uri="{9D8B030D-6E8A-4147-A177-3AD203B41FA5}">
                      <a16:colId xmlns:a16="http://schemas.microsoft.com/office/drawing/2014/main" val="303582160"/>
                    </a:ext>
                  </a:extLst>
                </a:gridCol>
                <a:gridCol w="1031875">
                  <a:extLst>
                    <a:ext uri="{9D8B030D-6E8A-4147-A177-3AD203B41FA5}">
                      <a16:colId xmlns:a16="http://schemas.microsoft.com/office/drawing/2014/main" val="3311648279"/>
                    </a:ext>
                  </a:extLst>
                </a:gridCol>
              </a:tblGrid>
              <a:tr h="718609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2567512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6EDC1B58-D1E9-4BF3-86E8-CB9F262E3B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6354472"/>
              </p:ext>
            </p:extLst>
          </p:nvPr>
        </p:nvGraphicFramePr>
        <p:xfrm>
          <a:off x="7068557" y="2983758"/>
          <a:ext cx="2063750" cy="7186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1875">
                  <a:extLst>
                    <a:ext uri="{9D8B030D-6E8A-4147-A177-3AD203B41FA5}">
                      <a16:colId xmlns:a16="http://schemas.microsoft.com/office/drawing/2014/main" val="303582160"/>
                    </a:ext>
                  </a:extLst>
                </a:gridCol>
                <a:gridCol w="1031875">
                  <a:extLst>
                    <a:ext uri="{9D8B030D-6E8A-4147-A177-3AD203B41FA5}">
                      <a16:colId xmlns:a16="http://schemas.microsoft.com/office/drawing/2014/main" val="3311648279"/>
                    </a:ext>
                  </a:extLst>
                </a:gridCol>
              </a:tblGrid>
              <a:tr h="718609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25675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63936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64D52DB-069F-4224-A82B-49140C94E7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AU" sz="3600" dirty="0"/>
              <a:t>Exercise book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DAAEAA9-2BDC-4E33-8CA9-3479493AED43}"/>
              </a:ext>
            </a:extLst>
          </p:cNvPr>
          <p:cNvSpPr/>
          <p:nvPr/>
        </p:nvSpPr>
        <p:spPr>
          <a:xfrm>
            <a:off x="683581" y="1464011"/>
            <a:ext cx="3080551" cy="5206753"/>
          </a:xfrm>
          <a:prstGeom prst="roundRect">
            <a:avLst/>
          </a:prstGeom>
          <a:noFill/>
          <a:ln w="762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E7698F3-BFD7-40E4-8CC1-12F8D3F1289B}"/>
              </a:ext>
            </a:extLst>
          </p:cNvPr>
          <p:cNvSpPr/>
          <p:nvPr/>
        </p:nvSpPr>
        <p:spPr>
          <a:xfrm>
            <a:off x="4136995" y="1464011"/>
            <a:ext cx="3844030" cy="5206753"/>
          </a:xfrm>
          <a:prstGeom prst="roundRect">
            <a:avLst/>
          </a:prstGeom>
          <a:noFill/>
          <a:ln w="762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8127383-8E1F-4DED-849C-32CB0A2A0F5A}"/>
              </a:ext>
            </a:extLst>
          </p:cNvPr>
          <p:cNvSpPr/>
          <p:nvPr/>
        </p:nvSpPr>
        <p:spPr>
          <a:xfrm>
            <a:off x="8136836" y="1438792"/>
            <a:ext cx="3900257" cy="5206753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052860-5F53-4F15-A27F-DC8FDBC1A95E}"/>
              </a:ext>
            </a:extLst>
          </p:cNvPr>
          <p:cNvSpPr txBox="1"/>
          <p:nvPr/>
        </p:nvSpPr>
        <p:spPr>
          <a:xfrm>
            <a:off x="843379" y="1784412"/>
            <a:ext cx="277871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800" b="1" dirty="0"/>
              <a:t>3(x + 2) </a:t>
            </a:r>
          </a:p>
          <a:p>
            <a:pPr marL="342900" indent="-342900">
              <a:buAutoNum type="arabicPeriod"/>
            </a:pPr>
            <a:endParaRPr lang="en-US" sz="2800" b="1" dirty="0"/>
          </a:p>
          <a:p>
            <a:pPr marL="342900" indent="-342900">
              <a:buAutoNum type="arabicPeriod"/>
            </a:pPr>
            <a:r>
              <a:rPr lang="en-US" sz="2800" b="1" dirty="0"/>
              <a:t>4(3x + 5) </a:t>
            </a:r>
          </a:p>
          <a:p>
            <a:pPr marL="342900" indent="-342900">
              <a:buAutoNum type="arabicPeriod"/>
            </a:pPr>
            <a:endParaRPr lang="en-US" sz="2800" b="1" dirty="0"/>
          </a:p>
          <a:p>
            <a:pPr marL="342900" indent="-342900">
              <a:buAutoNum type="arabicPeriod"/>
            </a:pPr>
            <a:r>
              <a:rPr lang="en-US" sz="2800" b="1" dirty="0"/>
              <a:t>5(2 – 3x) </a:t>
            </a:r>
          </a:p>
          <a:p>
            <a:pPr marL="342900" indent="-342900">
              <a:buAutoNum type="arabicPeriod"/>
            </a:pPr>
            <a:endParaRPr lang="en-US" sz="2800" b="1" dirty="0"/>
          </a:p>
          <a:p>
            <a:pPr marL="342900" indent="-342900">
              <a:buAutoNum type="arabicPeriod"/>
            </a:pPr>
            <a:r>
              <a:rPr lang="en-US" sz="2800" b="1" dirty="0"/>
              <a:t>6(4x – 5) </a:t>
            </a:r>
          </a:p>
          <a:p>
            <a:pPr marL="342900" indent="-342900">
              <a:buAutoNum type="arabicPeriod"/>
            </a:pPr>
            <a:endParaRPr lang="en-US" sz="2800" b="1" dirty="0"/>
          </a:p>
          <a:p>
            <a:pPr marL="342900" indent="-342900">
              <a:buAutoNum type="arabicPeriod"/>
            </a:pPr>
            <a:r>
              <a:rPr lang="en-US" sz="2800" b="1" dirty="0"/>
              <a:t>2(-x – 4) </a:t>
            </a:r>
          </a:p>
          <a:p>
            <a:pPr marL="342900" indent="-342900">
              <a:buAutoNum type="arabicPeriod"/>
            </a:pPr>
            <a:endParaRPr lang="en-US" sz="2800" b="1" dirty="0"/>
          </a:p>
          <a:p>
            <a:pPr marL="342900" indent="-342900">
              <a:buAutoNum type="arabicPeriod"/>
            </a:pPr>
            <a:r>
              <a:rPr lang="en-US" sz="2800" b="1" dirty="0"/>
              <a:t>9(2d – 4)</a:t>
            </a:r>
            <a:r>
              <a:rPr lang="en-US" dirty="0"/>
              <a:t> </a:t>
            </a:r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8CFE82-6AFC-45C6-ACBF-3F238AA9F16F}"/>
              </a:ext>
            </a:extLst>
          </p:cNvPr>
          <p:cNvSpPr txBox="1"/>
          <p:nvPr/>
        </p:nvSpPr>
        <p:spPr>
          <a:xfrm>
            <a:off x="4292806" y="1677974"/>
            <a:ext cx="3528421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800" b="1" dirty="0"/>
              <a:t>2(2x +3) + 4x </a:t>
            </a:r>
          </a:p>
          <a:p>
            <a:pPr marL="342900" indent="-342900">
              <a:buAutoNum type="arabicPeriod"/>
            </a:pPr>
            <a:endParaRPr lang="en-US" sz="2800" b="1" dirty="0"/>
          </a:p>
          <a:p>
            <a:pPr marL="342900" indent="-342900">
              <a:buAutoNum type="arabicPeriod"/>
            </a:pPr>
            <a:r>
              <a:rPr lang="en-US" sz="2800" b="1" dirty="0"/>
              <a:t>4(2x – 4) – 3x </a:t>
            </a:r>
          </a:p>
          <a:p>
            <a:pPr marL="342900" indent="-342900">
              <a:buAutoNum type="arabicPeriod"/>
            </a:pPr>
            <a:endParaRPr lang="en-US" sz="2800" b="1" dirty="0"/>
          </a:p>
          <a:p>
            <a:pPr marL="342900" indent="-342900">
              <a:buAutoNum type="arabicPeriod"/>
            </a:pPr>
            <a:r>
              <a:rPr lang="en-US" sz="2800" b="1" dirty="0"/>
              <a:t>2c(3c + 5) </a:t>
            </a:r>
          </a:p>
          <a:p>
            <a:pPr marL="342900" indent="-342900">
              <a:buAutoNum type="arabicPeriod"/>
            </a:pPr>
            <a:endParaRPr lang="en-US" sz="2800" b="1" dirty="0"/>
          </a:p>
          <a:p>
            <a:pPr marL="342900" indent="-342900">
              <a:buAutoNum type="arabicPeriod"/>
            </a:pPr>
            <a:r>
              <a:rPr lang="en-US" sz="2800" b="1" dirty="0"/>
              <a:t>5(y – 4) + 3(y + 3) </a:t>
            </a:r>
          </a:p>
          <a:p>
            <a:pPr marL="342900" indent="-342900">
              <a:buAutoNum type="arabicPeriod"/>
            </a:pPr>
            <a:endParaRPr lang="en-US" sz="2800" b="1" dirty="0"/>
          </a:p>
          <a:p>
            <a:pPr marL="342900" indent="-342900">
              <a:buAutoNum type="arabicPeriod"/>
            </a:pPr>
            <a:r>
              <a:rPr lang="en-US" sz="2800" b="1" dirty="0"/>
              <a:t>2(4x – f) + 5f </a:t>
            </a:r>
          </a:p>
          <a:p>
            <a:pPr marL="342900" indent="-342900">
              <a:buAutoNum type="arabicPeriod"/>
            </a:pPr>
            <a:endParaRPr lang="en-US" sz="2800" b="1" dirty="0"/>
          </a:p>
          <a:p>
            <a:pPr marL="342900" indent="-342900">
              <a:buAutoNum type="arabicPeriod"/>
            </a:pPr>
            <a:r>
              <a:rPr lang="en-US" sz="2800" b="1" dirty="0"/>
              <a:t>4(2 – 3d) – 3(2 – 5d)   </a:t>
            </a:r>
            <a:endParaRPr lang="en-AU" sz="28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EE3F3D-B3AA-4240-9703-B9679E7306BA}"/>
              </a:ext>
            </a:extLst>
          </p:cNvPr>
          <p:cNvSpPr txBox="1"/>
          <p:nvPr/>
        </p:nvSpPr>
        <p:spPr>
          <a:xfrm>
            <a:off x="8202967" y="1626122"/>
            <a:ext cx="383412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800" b="1" dirty="0"/>
              <a:t>2(4x + 3e) + 7f </a:t>
            </a:r>
          </a:p>
          <a:p>
            <a:pPr marL="342900" indent="-342900">
              <a:buAutoNum type="arabicPeriod"/>
            </a:pPr>
            <a:endParaRPr lang="en-US" sz="2800" b="1" dirty="0"/>
          </a:p>
          <a:p>
            <a:pPr marL="342900" indent="-342900">
              <a:buAutoNum type="arabicPeriod"/>
            </a:pPr>
            <a:r>
              <a:rPr lang="en-US" sz="2800" b="1" dirty="0"/>
              <a:t>7x(3x + 4) – 2x </a:t>
            </a:r>
          </a:p>
          <a:p>
            <a:pPr marL="342900" indent="-342900">
              <a:buAutoNum type="arabicPeriod"/>
            </a:pPr>
            <a:endParaRPr lang="en-US" sz="2800" b="1" dirty="0"/>
          </a:p>
          <a:p>
            <a:pPr marL="342900" indent="-342900">
              <a:buAutoNum type="arabicPeriod"/>
            </a:pPr>
            <a:r>
              <a:rPr lang="en-US" sz="2800" b="1" dirty="0"/>
              <a:t>- (3e – 4d) + (-5d) </a:t>
            </a:r>
          </a:p>
          <a:p>
            <a:pPr marL="342900" indent="-342900">
              <a:buAutoNum type="arabicPeriod"/>
            </a:pPr>
            <a:endParaRPr lang="en-US" sz="2800" b="1" dirty="0"/>
          </a:p>
          <a:p>
            <a:pPr marL="342900" indent="-342900">
              <a:buAutoNum type="arabicPeriod"/>
            </a:pPr>
            <a:r>
              <a:rPr lang="en-US" sz="2800" b="1" dirty="0"/>
              <a:t>2(x +4) – (-4x) + 2(x -1)</a:t>
            </a:r>
          </a:p>
          <a:p>
            <a:pPr marL="342900" indent="-342900">
              <a:buAutoNum type="arabicPeriod"/>
            </a:pPr>
            <a:endParaRPr lang="en-US" sz="2800" b="1" dirty="0"/>
          </a:p>
          <a:p>
            <a:pPr marL="342900" indent="-342900">
              <a:buAutoNum type="arabicPeriod"/>
            </a:pPr>
            <a:r>
              <a:rPr lang="en-US" sz="2800" b="1" dirty="0"/>
              <a:t>4x(2x – 4) – 2x(4x – 8) </a:t>
            </a:r>
            <a:endParaRPr lang="en-AU" sz="2800" b="1" dirty="0"/>
          </a:p>
        </p:txBody>
      </p:sp>
    </p:spTree>
    <p:extLst>
      <p:ext uri="{BB962C8B-B14F-4D97-AF65-F5344CB8AC3E}">
        <p14:creationId xmlns:p14="http://schemas.microsoft.com/office/powerpoint/2010/main" val="2660199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E1071-ABE2-447F-8A9B-DC0BD0FCF2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Oxygen break </a:t>
            </a:r>
            <a:endParaRPr lang="en-AU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94F7D1A4-529A-4968-829B-263BFF8779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u="sng" dirty="0"/>
              <a:t>LISTEN TO INSTRUCTIONS</a:t>
            </a:r>
            <a:endParaRPr lang="en-AU" sz="3600" b="1" u="sng" dirty="0"/>
          </a:p>
        </p:txBody>
      </p:sp>
    </p:spTree>
    <p:extLst>
      <p:ext uri="{BB962C8B-B14F-4D97-AF65-F5344CB8AC3E}">
        <p14:creationId xmlns:p14="http://schemas.microsoft.com/office/powerpoint/2010/main" val="2054023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04085" y="3770448"/>
            <a:ext cx="987304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The rest can be completed on the work sheet if you have the fluency to be 100% successful.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7525" y="1655991"/>
            <a:ext cx="99966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4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Copy the first 7 into your exercise book and show full working.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EFC30C-19F5-40A6-B284-E02DBF6AEF50}"/>
              </a:ext>
            </a:extLst>
          </p:cNvPr>
          <p:cNvSpPr txBox="1"/>
          <p:nvPr/>
        </p:nvSpPr>
        <p:spPr>
          <a:xfrm>
            <a:off x="2429164" y="323273"/>
            <a:ext cx="8248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Why is belly dancing illegal in </a:t>
            </a:r>
            <a:r>
              <a:rPr kumimoji="0" lang="en-AU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Schlumpville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3114788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BAD25-E38E-4BD3-A50D-C35FEE9AE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Reflection – fist to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E6D2F9-B530-4888-94C3-B458F05F2A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Aim:</a:t>
            </a:r>
          </a:p>
          <a:p>
            <a:pPr marL="342900" indent="-342900" defTabSz="457200">
              <a:buClr>
                <a:srgbClr val="FF0000"/>
              </a:buClr>
              <a:buFont typeface="Wingdings" panose="05000000000000000000" pitchFamily="2" charset="2"/>
              <a:buChar char="q"/>
              <a:defRPr/>
            </a:pPr>
            <a:r>
              <a:rPr lang="en-AU" sz="3200" b="1" dirty="0">
                <a:solidFill>
                  <a:schemeClr val="tx1"/>
                </a:solidFill>
              </a:rPr>
              <a:t>Be able to add and subtract like terms using double sign operations. 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AU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Expand and simplify brackets using DPM/A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426586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each Well">
      <a:dk1>
        <a:srgbClr val="0C0C0C"/>
      </a:dk1>
      <a:lt1>
        <a:sysClr val="window" lastClr="FFFFFF"/>
      </a:lt1>
      <a:dk2>
        <a:srgbClr val="262626"/>
      </a:dk2>
      <a:lt2>
        <a:srgbClr val="E7E6E6"/>
      </a:lt2>
      <a:accent1>
        <a:srgbClr val="034785"/>
      </a:accent1>
      <a:accent2>
        <a:srgbClr val="0088A5"/>
      </a:accent2>
      <a:accent3>
        <a:srgbClr val="FFD530"/>
      </a:accent3>
      <a:accent4>
        <a:srgbClr val="F36424"/>
      </a:accent4>
      <a:accent5>
        <a:srgbClr val="852F9B"/>
      </a:accent5>
      <a:accent6>
        <a:srgbClr val="E1208C"/>
      </a:accent6>
      <a:hlink>
        <a:srgbClr val="0088A5"/>
      </a:hlink>
      <a:folHlink>
        <a:srgbClr val="0088A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Teach Well</Template>
  <TotalTime>161</TotalTime>
  <Words>366</Words>
  <Application>Microsoft Office PowerPoint</Application>
  <PresentationFormat>Widescreen</PresentationFormat>
  <Paragraphs>74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9" baseType="lpstr">
      <vt:lpstr>Arial</vt:lpstr>
      <vt:lpstr>Arial Rounded MT Bold</vt:lpstr>
      <vt:lpstr>Calibri</vt:lpstr>
      <vt:lpstr>Cambria Math</vt:lpstr>
      <vt:lpstr>Century Gothic</vt:lpstr>
      <vt:lpstr>Verdana</vt:lpstr>
      <vt:lpstr>Wingdings</vt:lpstr>
      <vt:lpstr>Wingdings 3</vt:lpstr>
      <vt:lpstr>Office Theme</vt:lpstr>
      <vt:lpstr>Wisp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Oxygen break </vt:lpstr>
      <vt:lpstr>PowerPoint Presentation</vt:lpstr>
      <vt:lpstr>Reflection – fist to 5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Jordan O'Sullivan</dc:creator>
  <cp:lastModifiedBy>DAVIES Rhys [Busselton Senior High School]</cp:lastModifiedBy>
  <cp:revision>30</cp:revision>
  <dcterms:created xsi:type="dcterms:W3CDTF">2020-10-07T06:32:09Z</dcterms:created>
  <dcterms:modified xsi:type="dcterms:W3CDTF">2022-03-23T04:41:01Z</dcterms:modified>
</cp:coreProperties>
</file>
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78" r:id="rId2"/>
    <p:sldId id="279" r:id="rId3"/>
    <p:sldId id="294" r:id="rId4"/>
    <p:sldId id="296" r:id="rId5"/>
    <p:sldId id="293" r:id="rId6"/>
    <p:sldId id="280" r:id="rId7"/>
    <p:sldId id="282" r:id="rId8"/>
    <p:sldId id="281" r:id="rId9"/>
    <p:sldId id="283" r:id="rId10"/>
    <p:sldId id="276" r:id="rId11"/>
    <p:sldId id="286" r:id="rId12"/>
    <p:sldId id="285" r:id="rId13"/>
    <p:sldId id="289" r:id="rId14"/>
    <p:sldId id="288" r:id="rId15"/>
    <p:sldId id="290" r:id="rId16"/>
    <p:sldId id="287" r:id="rId17"/>
    <p:sldId id="291" r:id="rId18"/>
    <p:sldId id="292" r:id="rId19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102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C4F6E3-97C5-46D9-A532-02FE330609F2}" type="datetimeFigureOut">
              <a:rPr lang="en-AU" smtClean="0"/>
              <a:t>8/02/2022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4C0753-0B2E-422D-ADAB-A491182127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5827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Worksheet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C0753-0B2E-422D-ADAB-A49118212793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8122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Worksheet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C0753-0B2E-422D-ADAB-A49118212793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7819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Worksheet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C0753-0B2E-422D-ADAB-A49118212793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76065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Printable worksheet </a:t>
            </a:r>
            <a:r>
              <a:rPr lang="en-AU"/>
              <a:t>with lesson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C0753-0B2E-422D-ADAB-A49118212793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333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8/02/2022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9458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8/02/2022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2653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8/02/2022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7230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8/02/2022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4256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8/02/2022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0342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8/02/2022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8269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8/02/2022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7332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8/02/2022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7738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8/02/2022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113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8/02/2022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7080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8/02/2022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77464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8/02/2022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69125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8/02/2022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084719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8/02/2022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23435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8/02/2022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55285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8/02/2022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0470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8/02/2022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849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7.e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3184" y="264416"/>
            <a:ext cx="3022601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1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08/02/2022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52207" y="2752096"/>
            <a:ext cx="94768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Aim:</a:t>
            </a:r>
          </a:p>
          <a:p>
            <a:pPr marL="342909" lvl="0" indent="-342909" defTabSz="457200">
              <a:buClr>
                <a:srgbClr val="FF0000"/>
              </a:buClr>
              <a:buFont typeface="Wingdings" panose="05000000000000000000" pitchFamily="2" charset="2"/>
              <a:buChar char="q"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Be able to apply </a:t>
            </a:r>
            <a:r>
              <a:rPr lang="en-AU" sz="2400" dirty="0">
                <a:solidFill>
                  <a:srgbClr val="00B0F0"/>
                </a:solidFill>
              </a:rPr>
              <a:t>BIMDAS with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4 operations. </a:t>
            </a:r>
          </a:p>
          <a:p>
            <a:pPr marL="342909" lvl="0" indent="-342909" defTabSz="457200">
              <a:buClr>
                <a:srgbClr val="FF0000"/>
              </a:buClr>
              <a:buFont typeface="Wingdings" panose="05000000000000000000" pitchFamily="2" charset="2"/>
              <a:buChar char="q"/>
              <a:defRPr/>
            </a:pPr>
            <a:r>
              <a:rPr lang="en-AU" sz="2400" dirty="0">
                <a:solidFill>
                  <a:srgbClr val="00B0F0"/>
                </a:solidFill>
                <a:latin typeface="Century Gothic" panose="020B0502020202020204"/>
              </a:rPr>
              <a:t>Be able to multiply rational numbers using a written strategy.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18195" y="4243464"/>
            <a:ext cx="75041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Plan: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Daily review:	</a:t>
            </a:r>
          </a:p>
          <a:p>
            <a:pPr marL="984250" marR="0" lvl="3" indent="-44767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BIMDAS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Multiplication strategies.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19AC68-23A7-4566-905F-8FCB7FE16A96}"/>
              </a:ext>
            </a:extLst>
          </p:cNvPr>
          <p:cNvSpPr txBox="1"/>
          <p:nvPr/>
        </p:nvSpPr>
        <p:spPr>
          <a:xfrm>
            <a:off x="2518195" y="1214562"/>
            <a:ext cx="9476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buClr>
                <a:srgbClr val="FF0000"/>
              </a:buClr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Title: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Multiplication strategies 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4558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E0CF51-6FDC-45E0-B19F-6C5DAA199E49}"/>
              </a:ext>
            </a:extLst>
          </p:cNvPr>
          <p:cNvSpPr txBox="1"/>
          <p:nvPr/>
        </p:nvSpPr>
        <p:spPr>
          <a:xfrm>
            <a:off x="5283199" y="378692"/>
            <a:ext cx="264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BIMDAS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AE3DF2-508D-4309-9668-41D86CEF4E0F}"/>
              </a:ext>
            </a:extLst>
          </p:cNvPr>
          <p:cNvSpPr txBox="1"/>
          <p:nvPr/>
        </p:nvSpPr>
        <p:spPr>
          <a:xfrm>
            <a:off x="2419928" y="1160444"/>
            <a:ext cx="3288145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tabLst>
                <a:tab pos="534988" algn="l"/>
              </a:tabLst>
            </a:pPr>
            <a:r>
              <a:rPr lang="en-AU" sz="2400" dirty="0"/>
              <a:t>B:	______________</a:t>
            </a:r>
          </a:p>
          <a:p>
            <a:pPr>
              <a:spcAft>
                <a:spcPts val="1200"/>
              </a:spcAft>
              <a:tabLst>
                <a:tab pos="534988" algn="l"/>
              </a:tabLst>
            </a:pPr>
            <a:r>
              <a:rPr lang="en-AU" sz="2400" dirty="0"/>
              <a:t>I:	______________</a:t>
            </a:r>
          </a:p>
          <a:p>
            <a:pPr>
              <a:spcAft>
                <a:spcPts val="1200"/>
              </a:spcAft>
              <a:tabLst>
                <a:tab pos="534988" algn="l"/>
              </a:tabLst>
            </a:pPr>
            <a:r>
              <a:rPr lang="en-AU" sz="2400" dirty="0"/>
              <a:t>M:	______________</a:t>
            </a:r>
          </a:p>
          <a:p>
            <a:pPr>
              <a:spcAft>
                <a:spcPts val="1200"/>
              </a:spcAft>
              <a:tabLst>
                <a:tab pos="534988" algn="l"/>
              </a:tabLst>
            </a:pPr>
            <a:r>
              <a:rPr lang="en-AU" sz="2400" dirty="0"/>
              <a:t>D:	______________</a:t>
            </a:r>
          </a:p>
          <a:p>
            <a:pPr>
              <a:spcAft>
                <a:spcPts val="1200"/>
              </a:spcAft>
              <a:tabLst>
                <a:tab pos="534988" algn="l"/>
              </a:tabLst>
            </a:pPr>
            <a:r>
              <a:rPr lang="en-AU" sz="2400" dirty="0"/>
              <a:t>A:	______________</a:t>
            </a:r>
          </a:p>
          <a:p>
            <a:pPr>
              <a:spcAft>
                <a:spcPts val="1200"/>
              </a:spcAft>
              <a:tabLst>
                <a:tab pos="534988" algn="l"/>
              </a:tabLst>
            </a:pPr>
            <a:r>
              <a:rPr lang="en-AU" sz="2400" dirty="0"/>
              <a:t>S:	______________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BD319D-C2AC-4353-85BB-F96832E5A616}"/>
              </a:ext>
            </a:extLst>
          </p:cNvPr>
          <p:cNvSpPr txBox="1"/>
          <p:nvPr/>
        </p:nvSpPr>
        <p:spPr>
          <a:xfrm>
            <a:off x="5708073" y="1625600"/>
            <a:ext cx="620683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AU" dirty="0"/>
              <a:t>When only m__________________ and  d_____________ </a:t>
            </a:r>
          </a:p>
          <a:p>
            <a:pPr>
              <a:spcAft>
                <a:spcPts val="1200"/>
              </a:spcAft>
            </a:pPr>
            <a:r>
              <a:rPr lang="en-AU" dirty="0"/>
              <a:t>work _________ to __________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6E27B0-9D6A-4269-A4D0-1D195E96B8F9}"/>
              </a:ext>
            </a:extLst>
          </p:cNvPr>
          <p:cNvSpPr txBox="1"/>
          <p:nvPr/>
        </p:nvSpPr>
        <p:spPr>
          <a:xfrm>
            <a:off x="5708073" y="3028890"/>
            <a:ext cx="620683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AU" dirty="0"/>
              <a:t>When only a__________________ and  s_____________ </a:t>
            </a:r>
          </a:p>
          <a:p>
            <a:pPr>
              <a:spcAft>
                <a:spcPts val="1200"/>
              </a:spcAft>
            </a:pPr>
            <a:r>
              <a:rPr lang="en-AU" dirty="0"/>
              <a:t>work _________ to __________</a:t>
            </a:r>
          </a:p>
        </p:txBody>
      </p:sp>
    </p:spTree>
    <p:extLst>
      <p:ext uri="{BB962C8B-B14F-4D97-AF65-F5344CB8AC3E}">
        <p14:creationId xmlns:p14="http://schemas.microsoft.com/office/powerpoint/2010/main" val="1564054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65C0ED-AE82-4B6B-8B18-7930FB2FF220}"/>
              </a:ext>
            </a:extLst>
          </p:cNvPr>
          <p:cNvSpPr txBox="1"/>
          <p:nvPr/>
        </p:nvSpPr>
        <p:spPr>
          <a:xfrm>
            <a:off x="2757317" y="587822"/>
            <a:ext cx="8695944" cy="1302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Double signs: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Adding a negative number is the same 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Subtracting a negative number is the same 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6FF50D-9D05-4583-B594-04207A459D02}"/>
              </a:ext>
            </a:extLst>
          </p:cNvPr>
          <p:cNvSpPr txBox="1"/>
          <p:nvPr/>
        </p:nvSpPr>
        <p:spPr>
          <a:xfrm>
            <a:off x="3483864" y="1957878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5 + (-6) can be written as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B43348-2777-443C-A006-FE79B3A4A07A}"/>
              </a:ext>
            </a:extLst>
          </p:cNvPr>
          <p:cNvSpPr txBox="1"/>
          <p:nvPr/>
        </p:nvSpPr>
        <p:spPr>
          <a:xfrm>
            <a:off x="3685093" y="2486678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-7– (-3) can be written as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6685" y="3067092"/>
            <a:ext cx="738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Multiplication and division: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9128" y="3709193"/>
            <a:ext cx="9364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Multiplying a positive number by a negative number will always give a  ____________ result.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EE91C3-D140-4761-B2B2-A2D4F1C4AC85}"/>
              </a:ext>
            </a:extLst>
          </p:cNvPr>
          <p:cNvSpPr txBox="1"/>
          <p:nvPr/>
        </p:nvSpPr>
        <p:spPr>
          <a:xfrm>
            <a:off x="2089127" y="4540190"/>
            <a:ext cx="9364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Multiplying a negative number by a positive number will always give a ______________ result.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9127" y="5371187"/>
            <a:ext cx="9364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Multiplying a negative number by a negative number will always give a ___________  result.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079831" y="1044000"/>
            <a:ext cx="2983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subtracting.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6064" y="1404000"/>
            <a:ext cx="1652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adding.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46527" y="1927035"/>
            <a:ext cx="12124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– 6 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04000" y="2481642"/>
            <a:ext cx="9710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+ 3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D0C66E-2F46-42BD-AF31-A5B2A4406908}"/>
              </a:ext>
            </a:extLst>
          </p:cNvPr>
          <p:cNvSpPr txBox="1"/>
          <p:nvPr/>
        </p:nvSpPr>
        <p:spPr>
          <a:xfrm>
            <a:off x="4477923" y="4007160"/>
            <a:ext cx="1729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negative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D0C66E-2F46-42BD-AF31-A5B2A4406908}"/>
              </a:ext>
            </a:extLst>
          </p:cNvPr>
          <p:cNvSpPr txBox="1"/>
          <p:nvPr/>
        </p:nvSpPr>
        <p:spPr>
          <a:xfrm>
            <a:off x="4477922" y="4857073"/>
            <a:ext cx="1729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negative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D0C66E-2F46-42BD-AF31-A5B2A4406908}"/>
              </a:ext>
            </a:extLst>
          </p:cNvPr>
          <p:cNvSpPr txBox="1"/>
          <p:nvPr/>
        </p:nvSpPr>
        <p:spPr>
          <a:xfrm>
            <a:off x="4477922" y="5689356"/>
            <a:ext cx="1729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positive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5194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9" grpId="0"/>
      <p:bldP spid="13" grpId="0"/>
      <p:bldP spid="14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982708" y="1013702"/>
            <a:ext cx="738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Multiplication and division: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5151" y="1655803"/>
            <a:ext cx="9364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Dividing a positive number by a negative number will always give a  ____________ result.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EE91C3-D140-4761-B2B2-A2D4F1C4AC85}"/>
              </a:ext>
            </a:extLst>
          </p:cNvPr>
          <p:cNvSpPr txBox="1"/>
          <p:nvPr/>
        </p:nvSpPr>
        <p:spPr>
          <a:xfrm>
            <a:off x="2555150" y="2486800"/>
            <a:ext cx="9364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Multiplying a negative number by a positive number will always give a ______________ result.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5150" y="3317797"/>
            <a:ext cx="9364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Multiplying a negative number by a negative number will always give a ___________  result.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D0C66E-2F46-42BD-AF31-A5B2A4406908}"/>
              </a:ext>
            </a:extLst>
          </p:cNvPr>
          <p:cNvSpPr txBox="1"/>
          <p:nvPr/>
        </p:nvSpPr>
        <p:spPr>
          <a:xfrm>
            <a:off x="3965377" y="1972686"/>
            <a:ext cx="1729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negative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D0C66E-2F46-42BD-AF31-A5B2A4406908}"/>
              </a:ext>
            </a:extLst>
          </p:cNvPr>
          <p:cNvSpPr txBox="1"/>
          <p:nvPr/>
        </p:nvSpPr>
        <p:spPr>
          <a:xfrm>
            <a:off x="4943945" y="2803683"/>
            <a:ext cx="1729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negative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D0C66E-2F46-42BD-AF31-A5B2A4406908}"/>
              </a:ext>
            </a:extLst>
          </p:cNvPr>
          <p:cNvSpPr txBox="1"/>
          <p:nvPr/>
        </p:nvSpPr>
        <p:spPr>
          <a:xfrm>
            <a:off x="4943945" y="3635966"/>
            <a:ext cx="1729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positive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9670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E0CF51-6FDC-45E0-B19F-6C5DAA199E49}"/>
              </a:ext>
            </a:extLst>
          </p:cNvPr>
          <p:cNvSpPr txBox="1"/>
          <p:nvPr/>
        </p:nvSpPr>
        <p:spPr>
          <a:xfrm>
            <a:off x="5283199" y="378692"/>
            <a:ext cx="264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BIMDAS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AE3DF2-508D-4309-9668-41D86CEF4E0F}"/>
              </a:ext>
            </a:extLst>
          </p:cNvPr>
          <p:cNvSpPr txBox="1"/>
          <p:nvPr/>
        </p:nvSpPr>
        <p:spPr>
          <a:xfrm>
            <a:off x="2419928" y="1160444"/>
            <a:ext cx="3288145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tabLst>
                <a:tab pos="534988" algn="l"/>
              </a:tabLst>
            </a:pPr>
            <a:r>
              <a:rPr lang="en-AU" sz="2400" dirty="0"/>
              <a:t>B:	______________</a:t>
            </a:r>
          </a:p>
          <a:p>
            <a:pPr>
              <a:spcAft>
                <a:spcPts val="1200"/>
              </a:spcAft>
              <a:tabLst>
                <a:tab pos="534988" algn="l"/>
              </a:tabLst>
            </a:pPr>
            <a:r>
              <a:rPr lang="en-AU" sz="2400" dirty="0"/>
              <a:t>I:	______________</a:t>
            </a:r>
          </a:p>
          <a:p>
            <a:pPr>
              <a:spcAft>
                <a:spcPts val="1200"/>
              </a:spcAft>
              <a:tabLst>
                <a:tab pos="534988" algn="l"/>
              </a:tabLst>
            </a:pPr>
            <a:r>
              <a:rPr lang="en-AU" sz="2400" dirty="0"/>
              <a:t>M:	______________</a:t>
            </a:r>
          </a:p>
          <a:p>
            <a:pPr>
              <a:spcAft>
                <a:spcPts val="1200"/>
              </a:spcAft>
              <a:tabLst>
                <a:tab pos="534988" algn="l"/>
              </a:tabLst>
            </a:pPr>
            <a:r>
              <a:rPr lang="en-AU" sz="2400" dirty="0"/>
              <a:t>D:	______________</a:t>
            </a:r>
          </a:p>
          <a:p>
            <a:pPr>
              <a:spcAft>
                <a:spcPts val="1200"/>
              </a:spcAft>
              <a:tabLst>
                <a:tab pos="534988" algn="l"/>
              </a:tabLst>
            </a:pPr>
            <a:r>
              <a:rPr lang="en-AU" sz="2400" dirty="0"/>
              <a:t>A:	______________</a:t>
            </a:r>
          </a:p>
          <a:p>
            <a:pPr>
              <a:spcAft>
                <a:spcPts val="1200"/>
              </a:spcAft>
              <a:tabLst>
                <a:tab pos="534988" algn="l"/>
              </a:tabLst>
            </a:pPr>
            <a:r>
              <a:rPr lang="en-AU" sz="2400" dirty="0"/>
              <a:t>S:	______________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BD319D-C2AC-4353-85BB-F96832E5A616}"/>
              </a:ext>
            </a:extLst>
          </p:cNvPr>
          <p:cNvSpPr txBox="1"/>
          <p:nvPr/>
        </p:nvSpPr>
        <p:spPr>
          <a:xfrm>
            <a:off x="5708073" y="1625600"/>
            <a:ext cx="620683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AU" dirty="0"/>
              <a:t>When only m__________________ and  d_____________ </a:t>
            </a:r>
          </a:p>
          <a:p>
            <a:pPr>
              <a:spcAft>
                <a:spcPts val="1200"/>
              </a:spcAft>
            </a:pPr>
            <a:r>
              <a:rPr lang="en-AU" dirty="0"/>
              <a:t>work _________ to __________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6E27B0-9D6A-4269-A4D0-1D195E96B8F9}"/>
              </a:ext>
            </a:extLst>
          </p:cNvPr>
          <p:cNvSpPr txBox="1"/>
          <p:nvPr/>
        </p:nvSpPr>
        <p:spPr>
          <a:xfrm>
            <a:off x="5708073" y="3028890"/>
            <a:ext cx="620683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AU" dirty="0"/>
              <a:t>When only a__________________ and  s_____________ </a:t>
            </a:r>
          </a:p>
          <a:p>
            <a:pPr>
              <a:spcAft>
                <a:spcPts val="1200"/>
              </a:spcAft>
            </a:pPr>
            <a:r>
              <a:rPr lang="en-AU" dirty="0"/>
              <a:t>work _________ to __________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C2896E-F388-41B8-8FCB-A09D86A9D89E}"/>
              </a:ext>
            </a:extLst>
          </p:cNvPr>
          <p:cNvSpPr txBox="1"/>
          <p:nvPr/>
        </p:nvSpPr>
        <p:spPr>
          <a:xfrm>
            <a:off x="3366654" y="1080655"/>
            <a:ext cx="16567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(Brackets)</a:t>
            </a:r>
            <a:endParaRPr lang="en-AU" sz="2000" b="1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C241FEC-19F2-42C0-A33E-7BD651641275}"/>
                  </a:ext>
                </a:extLst>
              </p:cNvPr>
              <p:cNvSpPr txBox="1"/>
              <p:nvPr/>
            </p:nvSpPr>
            <p:spPr>
              <a:xfrm>
                <a:off x="3235615" y="1625600"/>
                <a:ext cx="1656772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0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𝑰𝒏𝒅𝒊𝒄𝒊𝒆𝒔</m:t>
                          </m:r>
                        </m:e>
                        <m:sup>
                          <m:r>
                            <a:rPr lang="en-US" sz="20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0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C241FEC-19F2-42C0-A33E-7BD651641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615" y="1625600"/>
                <a:ext cx="1656772" cy="4070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BF9FCEE-40FE-4517-8F71-D63512CD7387}"/>
              </a:ext>
            </a:extLst>
          </p:cNvPr>
          <p:cNvSpPr txBox="1"/>
          <p:nvPr/>
        </p:nvSpPr>
        <p:spPr>
          <a:xfrm>
            <a:off x="3235615" y="2142835"/>
            <a:ext cx="1978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Multiplication</a:t>
            </a:r>
            <a:r>
              <a:rPr lang="en-US" sz="2000" dirty="0">
                <a:solidFill>
                  <a:srgbClr val="00B0F0"/>
                </a:solidFill>
              </a:rPr>
              <a:t> </a:t>
            </a:r>
            <a:endParaRPr lang="en-AU" sz="2000" dirty="0">
              <a:solidFill>
                <a:srgbClr val="00B0F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97706D-8E97-4D11-8FF5-8883C550F554}"/>
              </a:ext>
            </a:extLst>
          </p:cNvPr>
          <p:cNvSpPr txBox="1"/>
          <p:nvPr/>
        </p:nvSpPr>
        <p:spPr>
          <a:xfrm>
            <a:off x="3548495" y="2673287"/>
            <a:ext cx="1978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Division</a:t>
            </a:r>
            <a:r>
              <a:rPr lang="en-US" sz="2000" dirty="0">
                <a:solidFill>
                  <a:srgbClr val="00B0F0"/>
                </a:solidFill>
              </a:rPr>
              <a:t>  </a:t>
            </a:r>
            <a:endParaRPr lang="en-AU" sz="2000" dirty="0">
              <a:solidFill>
                <a:srgbClr val="00B0F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66AA5A-B1F7-4A99-8F29-CFEB35644976}"/>
              </a:ext>
            </a:extLst>
          </p:cNvPr>
          <p:cNvSpPr txBox="1"/>
          <p:nvPr/>
        </p:nvSpPr>
        <p:spPr>
          <a:xfrm>
            <a:off x="3205595" y="3177822"/>
            <a:ext cx="1978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F0"/>
                </a:solidFill>
              </a:rPr>
              <a:t>Addition</a:t>
            </a:r>
            <a:r>
              <a:rPr lang="en-US" sz="2000" dirty="0">
                <a:solidFill>
                  <a:srgbClr val="00B0F0"/>
                </a:solidFill>
              </a:rPr>
              <a:t> </a:t>
            </a:r>
            <a:endParaRPr lang="en-AU" sz="2000" dirty="0">
              <a:solidFill>
                <a:srgbClr val="00B0F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17B774-91A4-4E78-88F7-C00FB5EC99AC}"/>
              </a:ext>
            </a:extLst>
          </p:cNvPr>
          <p:cNvSpPr txBox="1"/>
          <p:nvPr/>
        </p:nvSpPr>
        <p:spPr>
          <a:xfrm>
            <a:off x="3304309" y="3690258"/>
            <a:ext cx="1978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F0"/>
                </a:solidFill>
              </a:rPr>
              <a:t>Subtraction</a:t>
            </a:r>
            <a:r>
              <a:rPr lang="en-US" sz="2000" dirty="0">
                <a:solidFill>
                  <a:srgbClr val="00B0F0"/>
                </a:solidFill>
              </a:rPr>
              <a:t>  </a:t>
            </a:r>
            <a:endParaRPr lang="en-AU" sz="2000" dirty="0">
              <a:solidFill>
                <a:srgbClr val="00B0F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7EE2B8-79ED-4571-8047-7D53F5B2BE0C}"/>
              </a:ext>
            </a:extLst>
          </p:cNvPr>
          <p:cNvSpPr txBox="1"/>
          <p:nvPr/>
        </p:nvSpPr>
        <p:spPr>
          <a:xfrm>
            <a:off x="7191087" y="1597055"/>
            <a:ext cx="1978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ultiplication</a:t>
            </a:r>
            <a:r>
              <a:rPr lang="en-US" sz="2000" dirty="0">
                <a:solidFill>
                  <a:srgbClr val="00B0F0"/>
                </a:solidFill>
              </a:rPr>
              <a:t> </a:t>
            </a:r>
            <a:endParaRPr lang="en-AU" sz="2000" dirty="0">
              <a:solidFill>
                <a:srgbClr val="00B0F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1A506D-1FA0-403C-8704-FC87646991BD}"/>
              </a:ext>
            </a:extLst>
          </p:cNvPr>
          <p:cNvSpPr txBox="1"/>
          <p:nvPr/>
        </p:nvSpPr>
        <p:spPr>
          <a:xfrm>
            <a:off x="10034732" y="1588972"/>
            <a:ext cx="1978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ivision</a:t>
            </a:r>
            <a:r>
              <a:rPr lang="en-US" sz="2000" dirty="0">
                <a:solidFill>
                  <a:srgbClr val="00B0F0"/>
                </a:solidFill>
              </a:rPr>
              <a:t> </a:t>
            </a:r>
            <a:endParaRPr lang="en-AU" sz="2000" dirty="0">
              <a:solidFill>
                <a:srgbClr val="00B0F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0DE18B-7487-48B9-B28D-D771354BF08E}"/>
              </a:ext>
            </a:extLst>
          </p:cNvPr>
          <p:cNvSpPr txBox="1"/>
          <p:nvPr/>
        </p:nvSpPr>
        <p:spPr>
          <a:xfrm>
            <a:off x="6560127" y="1989082"/>
            <a:ext cx="1978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left</a:t>
            </a:r>
            <a:r>
              <a:rPr lang="en-US" sz="2000" dirty="0">
                <a:solidFill>
                  <a:srgbClr val="00B0F0"/>
                </a:solidFill>
              </a:rPr>
              <a:t> </a:t>
            </a:r>
            <a:endParaRPr lang="en-AU" sz="2000" dirty="0">
              <a:solidFill>
                <a:srgbClr val="00B0F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F70D8F-71B0-4877-B71F-544D6120EE25}"/>
              </a:ext>
            </a:extLst>
          </p:cNvPr>
          <p:cNvSpPr txBox="1"/>
          <p:nvPr/>
        </p:nvSpPr>
        <p:spPr>
          <a:xfrm>
            <a:off x="7896225" y="1979940"/>
            <a:ext cx="1978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right</a:t>
            </a:r>
            <a:r>
              <a:rPr lang="en-US" sz="2000" dirty="0">
                <a:solidFill>
                  <a:srgbClr val="00B0F0"/>
                </a:solidFill>
              </a:rPr>
              <a:t> </a:t>
            </a:r>
            <a:endParaRPr lang="en-AU" sz="2000" dirty="0">
              <a:solidFill>
                <a:srgbClr val="00B0F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9D574D-0558-4B40-B8A4-8255ED34B5AB}"/>
              </a:ext>
            </a:extLst>
          </p:cNvPr>
          <p:cNvSpPr txBox="1"/>
          <p:nvPr/>
        </p:nvSpPr>
        <p:spPr>
          <a:xfrm>
            <a:off x="7106516" y="2992263"/>
            <a:ext cx="1978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ddition</a:t>
            </a:r>
            <a:r>
              <a:rPr lang="en-US" sz="2000" dirty="0">
                <a:solidFill>
                  <a:srgbClr val="00B0F0"/>
                </a:solidFill>
              </a:rPr>
              <a:t> </a:t>
            </a:r>
            <a:endParaRPr lang="en-AU" sz="2000" dirty="0">
              <a:solidFill>
                <a:srgbClr val="00B0F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E75E96-DD9E-4157-B9D2-73AB5C60675B}"/>
              </a:ext>
            </a:extLst>
          </p:cNvPr>
          <p:cNvSpPr txBox="1"/>
          <p:nvPr/>
        </p:nvSpPr>
        <p:spPr>
          <a:xfrm>
            <a:off x="9936020" y="2977767"/>
            <a:ext cx="1978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B0F0"/>
                </a:solidFill>
              </a:rPr>
              <a:t>ubtraction</a:t>
            </a:r>
            <a:r>
              <a:rPr lang="en-US" sz="2000" dirty="0">
                <a:solidFill>
                  <a:srgbClr val="00B0F0"/>
                </a:solidFill>
              </a:rPr>
              <a:t> </a:t>
            </a:r>
            <a:endParaRPr lang="en-AU" sz="2000" dirty="0">
              <a:solidFill>
                <a:srgbClr val="00B0F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A2F751-9F53-4349-B248-47E24FD27A5E}"/>
              </a:ext>
            </a:extLst>
          </p:cNvPr>
          <p:cNvSpPr txBox="1"/>
          <p:nvPr/>
        </p:nvSpPr>
        <p:spPr>
          <a:xfrm>
            <a:off x="6603999" y="3385440"/>
            <a:ext cx="1978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left</a:t>
            </a:r>
            <a:r>
              <a:rPr lang="en-US" sz="2000" dirty="0">
                <a:solidFill>
                  <a:srgbClr val="00B0F0"/>
                </a:solidFill>
              </a:rPr>
              <a:t> </a:t>
            </a:r>
            <a:endParaRPr lang="en-AU" sz="2000" dirty="0">
              <a:solidFill>
                <a:srgbClr val="00B0F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264250-4DC8-40F4-AB0C-6C0015FB4BBE}"/>
              </a:ext>
            </a:extLst>
          </p:cNvPr>
          <p:cNvSpPr txBox="1"/>
          <p:nvPr/>
        </p:nvSpPr>
        <p:spPr>
          <a:xfrm>
            <a:off x="8006773" y="3388907"/>
            <a:ext cx="1978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right</a:t>
            </a:r>
            <a:r>
              <a:rPr lang="en-US" sz="2000" dirty="0">
                <a:solidFill>
                  <a:srgbClr val="00B0F0"/>
                </a:solidFill>
              </a:rPr>
              <a:t> </a:t>
            </a:r>
            <a:endParaRPr lang="en-AU" sz="20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997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761612-B30C-4BD1-B57A-D1A22540263D}"/>
              </a:ext>
            </a:extLst>
          </p:cNvPr>
          <p:cNvSpPr txBox="1"/>
          <p:nvPr/>
        </p:nvSpPr>
        <p:spPr>
          <a:xfrm>
            <a:off x="775855" y="166254"/>
            <a:ext cx="2716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I do: exercise books.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BD52F9-680A-4D20-A6A7-D58FE9789FD6}"/>
                  </a:ext>
                </a:extLst>
              </p:cNvPr>
              <p:cNvSpPr txBox="1"/>
              <p:nvPr/>
            </p:nvSpPr>
            <p:spPr>
              <a:xfrm>
                <a:off x="2992583" y="849745"/>
                <a:ext cx="2912918" cy="2092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534988">
                  <a:spcAft>
                    <a:spcPts val="1200"/>
                  </a:spcAft>
                </a:pPr>
                <a:r>
                  <a:rPr lang="en-AU" b="1" dirty="0">
                    <a:solidFill>
                      <a:srgbClr val="FF0000"/>
                    </a:solidFill>
                  </a:rPr>
                  <a:t>1.</a:t>
                </a:r>
                <a:r>
                  <a:rPr lang="en-AU" dirty="0"/>
                  <a:t>	2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dirty="0"/>
                  <a:t> (-3) – 3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dirty="0"/>
                  <a:t> (-2)</a:t>
                </a:r>
              </a:p>
              <a:p>
                <a:pPr defTabSz="534988">
                  <a:spcAft>
                    <a:spcPts val="1200"/>
                  </a:spcAft>
                </a:pPr>
                <a:r>
                  <a:rPr lang="en-AU" dirty="0"/>
                  <a:t>	= -6 – (-6)</a:t>
                </a:r>
              </a:p>
              <a:p>
                <a:pPr defTabSz="534988">
                  <a:spcAft>
                    <a:spcPts val="1200"/>
                  </a:spcAft>
                </a:pPr>
                <a:r>
                  <a:rPr lang="en-AU" dirty="0"/>
                  <a:t>	= -6 + 6</a:t>
                </a:r>
              </a:p>
              <a:p>
                <a:pPr defTabSz="534988">
                  <a:spcAft>
                    <a:spcPts val="1200"/>
                  </a:spcAft>
                </a:pPr>
                <a:r>
                  <a:rPr lang="en-AU" dirty="0"/>
                  <a:t>	= 0</a:t>
                </a:r>
              </a:p>
              <a:p>
                <a:pPr defTabSz="534988">
                  <a:spcAft>
                    <a:spcPts val="1200"/>
                  </a:spcAft>
                </a:pPr>
                <a:r>
                  <a:rPr lang="en-AU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BD52F9-680A-4D20-A6A7-D58FE9789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2583" y="849745"/>
                <a:ext cx="2912918" cy="2092881"/>
              </a:xfrm>
              <a:prstGeom prst="rect">
                <a:avLst/>
              </a:prstGeom>
              <a:blipFill>
                <a:blip r:embed="rId2"/>
                <a:stretch>
                  <a:fillRect l="-1883" t="-145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0E813C-C262-4594-9E8C-813E516D19D9}"/>
              </a:ext>
            </a:extLst>
          </p:cNvPr>
          <p:cNvSpPr/>
          <p:nvPr/>
        </p:nvSpPr>
        <p:spPr>
          <a:xfrm>
            <a:off x="4608000" y="849745"/>
            <a:ext cx="932873" cy="332509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B214153-8393-4AFA-BF73-EB3A3B9118D9}"/>
              </a:ext>
            </a:extLst>
          </p:cNvPr>
          <p:cNvSpPr/>
          <p:nvPr/>
        </p:nvSpPr>
        <p:spPr>
          <a:xfrm>
            <a:off x="3492000" y="3291920"/>
            <a:ext cx="1032528" cy="332509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66788CE-84BC-42D0-9BAE-0BC0DA69B583}"/>
              </a:ext>
            </a:extLst>
          </p:cNvPr>
          <p:cNvSpPr/>
          <p:nvPr/>
        </p:nvSpPr>
        <p:spPr>
          <a:xfrm>
            <a:off x="3492000" y="849745"/>
            <a:ext cx="932873" cy="332509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48AA98-0931-4263-A589-971FD939B8DA}"/>
              </a:ext>
            </a:extLst>
          </p:cNvPr>
          <p:cNvSpPr txBox="1"/>
          <p:nvPr/>
        </p:nvSpPr>
        <p:spPr>
          <a:xfrm>
            <a:off x="7767129" y="1015999"/>
            <a:ext cx="36861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Brackets and indices.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Identify the multiplication and division.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Do the multiplication and division.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Deal with double signs.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Complete the addition / subtraction (left to right).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4C5F51-8E7A-455B-A1DF-868CD2E8FB88}"/>
                  </a:ext>
                </a:extLst>
              </p:cNvPr>
              <p:cNvSpPr txBox="1"/>
              <p:nvPr/>
            </p:nvSpPr>
            <p:spPr>
              <a:xfrm>
                <a:off x="2868758" y="3291920"/>
                <a:ext cx="2912918" cy="2092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534988">
                  <a:spcAft>
                    <a:spcPts val="1200"/>
                  </a:spcAft>
                </a:pPr>
                <a:r>
                  <a:rPr lang="en-AU" b="1" dirty="0">
                    <a:solidFill>
                      <a:srgbClr val="FF0000"/>
                    </a:solidFill>
                  </a:rPr>
                  <a:t>2.</a:t>
                </a:r>
                <a:r>
                  <a:rPr lang="en-AU" dirty="0"/>
                  <a:t>	-12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/>
                  <a:t> (-3) – 5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AU" dirty="0"/>
                  <a:t> (-2)</a:t>
                </a:r>
              </a:p>
              <a:p>
                <a:pPr defTabSz="534988">
                  <a:spcAft>
                    <a:spcPts val="1200"/>
                  </a:spcAft>
                </a:pPr>
                <a:r>
                  <a:rPr lang="en-AU" dirty="0"/>
                  <a:t>	= 4 – 5 + (-2)</a:t>
                </a:r>
              </a:p>
              <a:p>
                <a:pPr defTabSz="534988">
                  <a:spcAft>
                    <a:spcPts val="1200"/>
                  </a:spcAft>
                </a:pPr>
                <a:r>
                  <a:rPr lang="en-AU" dirty="0"/>
                  <a:t>	= 4 – 5 – 2</a:t>
                </a:r>
              </a:p>
              <a:p>
                <a:pPr defTabSz="534988">
                  <a:spcAft>
                    <a:spcPts val="1200"/>
                  </a:spcAft>
                </a:pPr>
                <a:r>
                  <a:rPr lang="en-AU" dirty="0"/>
                  <a:t>	= -3</a:t>
                </a:r>
              </a:p>
              <a:p>
                <a:pPr defTabSz="534988">
                  <a:spcAft>
                    <a:spcPts val="1200"/>
                  </a:spcAft>
                </a:pPr>
                <a:r>
                  <a:rPr lang="en-AU" dirty="0"/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4C5F51-8E7A-455B-A1DF-868CD2E8F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8758" y="3291920"/>
                <a:ext cx="2912918" cy="2092881"/>
              </a:xfrm>
              <a:prstGeom prst="rect">
                <a:avLst/>
              </a:prstGeom>
              <a:blipFill>
                <a:blip r:embed="rId3"/>
                <a:stretch>
                  <a:fillRect l="-1887" t="-14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E27B33C-79E6-47B2-9D88-4B0A895DFF63}"/>
              </a:ext>
            </a:extLst>
          </p:cNvPr>
          <p:cNvSpPr txBox="1"/>
          <p:nvPr/>
        </p:nvSpPr>
        <p:spPr>
          <a:xfrm>
            <a:off x="7767128" y="3618080"/>
            <a:ext cx="36861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Brackets and indices.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Identify the multiplication and division.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Do the multiplication and division.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Deal with double signs.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Complete the addition / subtraction (left to right).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E39D106-44DE-410F-8628-FBA01123FBB9}"/>
              </a:ext>
            </a:extLst>
          </p:cNvPr>
          <p:cNvSpPr/>
          <p:nvPr/>
        </p:nvSpPr>
        <p:spPr>
          <a:xfrm>
            <a:off x="4008264" y="1343842"/>
            <a:ext cx="416609" cy="258714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15FA4AD-DF70-47D7-BF32-F70870D0217A}"/>
              </a:ext>
            </a:extLst>
          </p:cNvPr>
          <p:cNvSpPr/>
          <p:nvPr/>
        </p:nvSpPr>
        <p:spPr>
          <a:xfrm>
            <a:off x="4172460" y="3780000"/>
            <a:ext cx="504825" cy="258714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3605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761612-B30C-4BD1-B57A-D1A22540263D}"/>
              </a:ext>
            </a:extLst>
          </p:cNvPr>
          <p:cNvSpPr txBox="1"/>
          <p:nvPr/>
        </p:nvSpPr>
        <p:spPr>
          <a:xfrm>
            <a:off x="775855" y="166254"/>
            <a:ext cx="2716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I do: exercise books.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BD52F9-680A-4D20-A6A7-D58FE9789FD6}"/>
                  </a:ext>
                </a:extLst>
              </p:cNvPr>
              <p:cNvSpPr txBox="1"/>
              <p:nvPr/>
            </p:nvSpPr>
            <p:spPr>
              <a:xfrm>
                <a:off x="3024442" y="865986"/>
                <a:ext cx="2912918" cy="1661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534988">
                  <a:spcAft>
                    <a:spcPts val="1200"/>
                  </a:spcAft>
                </a:pPr>
                <a:r>
                  <a:rPr lang="en-AU" b="1" dirty="0">
                    <a:solidFill>
                      <a:srgbClr val="FF0000"/>
                    </a:solidFill>
                  </a:rPr>
                  <a:t>3.</a:t>
                </a:r>
                <a:r>
                  <a:rPr lang="en-AU" dirty="0"/>
                  <a:t>	2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A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AU" dirty="0"/>
                          <m:t>−</m:t>
                        </m:r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3)</m:t>
                        </m:r>
                      </m:e>
                      <m:sup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– (3 – (-2))</a:t>
                </a:r>
              </a:p>
              <a:p>
                <a:pPr defTabSz="534988">
                  <a:spcAft>
                    <a:spcPts val="1200"/>
                  </a:spcAft>
                </a:pPr>
                <a:r>
                  <a:rPr lang="en-AU" dirty="0"/>
                  <a:t>	= 2 + 9 – 5 </a:t>
                </a:r>
              </a:p>
              <a:p>
                <a:pPr defTabSz="534988">
                  <a:spcAft>
                    <a:spcPts val="1200"/>
                  </a:spcAft>
                </a:pPr>
                <a:r>
                  <a:rPr lang="en-AU" dirty="0"/>
                  <a:t>	= 6</a:t>
                </a:r>
              </a:p>
              <a:p>
                <a:pPr defTabSz="534988">
                  <a:spcAft>
                    <a:spcPts val="1200"/>
                  </a:spcAft>
                </a:pPr>
                <a:r>
                  <a:rPr lang="en-AU" dirty="0"/>
                  <a:t>	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BD52F9-680A-4D20-A6A7-D58FE9789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4442" y="865986"/>
                <a:ext cx="2912918" cy="1661993"/>
              </a:xfrm>
              <a:prstGeom prst="rect">
                <a:avLst/>
              </a:prstGeom>
              <a:blipFill>
                <a:blip r:embed="rId2"/>
                <a:stretch>
                  <a:fillRect l="-1674" t="-18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E48AA98-0931-4263-A589-971FD939B8DA}"/>
              </a:ext>
            </a:extLst>
          </p:cNvPr>
          <p:cNvSpPr txBox="1"/>
          <p:nvPr/>
        </p:nvSpPr>
        <p:spPr>
          <a:xfrm>
            <a:off x="7767129" y="1015999"/>
            <a:ext cx="36861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Brackets and indices.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Identify the multiplication and division.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Do the multiplication and division.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Deal with double signs.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Complete the addition / subtraction (left to right).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4C5F51-8E7A-455B-A1DF-868CD2E8FB88}"/>
                  </a:ext>
                </a:extLst>
              </p:cNvPr>
              <p:cNvSpPr txBox="1"/>
              <p:nvPr/>
            </p:nvSpPr>
            <p:spPr>
              <a:xfrm>
                <a:off x="3043644" y="2571639"/>
                <a:ext cx="3686175" cy="2092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534988">
                  <a:spcAft>
                    <a:spcPts val="1200"/>
                  </a:spcAft>
                </a:pPr>
                <a:r>
                  <a:rPr lang="en-AU" b="1" dirty="0">
                    <a:solidFill>
                      <a:srgbClr val="FF0000"/>
                    </a:solidFill>
                  </a:rPr>
                  <a:t>4.</a:t>
                </a:r>
                <a:r>
                  <a:rPr lang="en-AU" dirty="0"/>
                  <a:t>	-14 </a:t>
                </a:r>
                <a14:m>
                  <m:oMath xmlns:m="http://schemas.openxmlformats.org/officeDocument/2006/math">
                    <m:r>
                      <a:rPr lang="en-AU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/>
                  <a:t> (-2 – 5)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(5+(</m:t>
                        </m:r>
                        <m:r>
                          <m:rPr>
                            <m:nor/>
                          </m:rPr>
                          <a:rPr lang="en-AU" dirty="0"/>
                          <m:t>−</m:t>
                        </m:r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3))</m:t>
                        </m:r>
                      </m:e>
                      <m:sup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  <a:p>
                <a:pPr defTabSz="534988">
                  <a:spcAft>
                    <a:spcPts val="1200"/>
                  </a:spcAft>
                </a:pPr>
                <a:r>
                  <a:rPr lang="en-AU" dirty="0"/>
                  <a:t>	= -14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/>
                  <a:t> (-7)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  <a:p>
                <a:pPr defTabSz="534988">
                  <a:spcAft>
                    <a:spcPts val="1200"/>
                  </a:spcAft>
                </a:pPr>
                <a:r>
                  <a:rPr lang="en-AU" dirty="0"/>
                  <a:t>	= -14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/>
                  <a:t> (-7)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dirty="0"/>
                  <a:t> 4</a:t>
                </a:r>
              </a:p>
              <a:p>
                <a:pPr defTabSz="534988">
                  <a:spcAft>
                    <a:spcPts val="1200"/>
                  </a:spcAft>
                </a:pPr>
                <a:r>
                  <a:rPr lang="en-AU" dirty="0"/>
                  <a:t>	= 8</a:t>
                </a:r>
              </a:p>
              <a:p>
                <a:pPr defTabSz="534988">
                  <a:spcAft>
                    <a:spcPts val="1200"/>
                  </a:spcAft>
                </a:pPr>
                <a:r>
                  <a:rPr lang="en-AU" dirty="0"/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4C5F51-8E7A-455B-A1DF-868CD2E8F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3644" y="2571639"/>
                <a:ext cx="3686175" cy="2092881"/>
              </a:xfrm>
              <a:prstGeom prst="rect">
                <a:avLst/>
              </a:prstGeom>
              <a:blipFill>
                <a:blip r:embed="rId3"/>
                <a:stretch>
                  <a:fillRect l="-1322" t="-174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E27B33C-79E6-47B2-9D88-4B0A895DFF63}"/>
              </a:ext>
            </a:extLst>
          </p:cNvPr>
          <p:cNvSpPr txBox="1"/>
          <p:nvPr/>
        </p:nvSpPr>
        <p:spPr>
          <a:xfrm>
            <a:off x="7767128" y="3618080"/>
            <a:ext cx="36861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Brackets and indices.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Identify the multiplication and division.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Do the multiplication and division.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Deal with double signs.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Complete the addition / subtraction (left to right).</a:t>
            </a:r>
          </a:p>
        </p:txBody>
      </p:sp>
    </p:spTree>
    <p:extLst>
      <p:ext uri="{BB962C8B-B14F-4D97-AF65-F5344CB8AC3E}">
        <p14:creationId xmlns:p14="http://schemas.microsoft.com/office/powerpoint/2010/main" val="4212185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761612-B30C-4BD1-B57A-D1A22540263D}"/>
              </a:ext>
            </a:extLst>
          </p:cNvPr>
          <p:cNvSpPr txBox="1"/>
          <p:nvPr/>
        </p:nvSpPr>
        <p:spPr>
          <a:xfrm>
            <a:off x="775855" y="166254"/>
            <a:ext cx="4072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we do, you do: exercise books.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BD52F9-680A-4D20-A6A7-D58FE9789FD6}"/>
                  </a:ext>
                </a:extLst>
              </p:cNvPr>
              <p:cNvSpPr txBox="1"/>
              <p:nvPr/>
            </p:nvSpPr>
            <p:spPr>
              <a:xfrm>
                <a:off x="2982191" y="1519357"/>
                <a:ext cx="3542434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542925">
                  <a:spcAft>
                    <a:spcPts val="1200"/>
                  </a:spcAft>
                </a:pPr>
                <a:r>
                  <a:rPr lang="en-AU" sz="2400" dirty="0">
                    <a:solidFill>
                      <a:srgbClr val="FF0000"/>
                    </a:solidFill>
                  </a:rPr>
                  <a:t>1.</a:t>
                </a:r>
                <a:r>
                  <a:rPr lang="en-AU" sz="2400" dirty="0"/>
                  <a:t>	2 –</a:t>
                </a:r>
                <a14:m>
                  <m:oMath xmlns:m="http://schemas.openxmlformats.org/officeDocument/2006/math">
                    <m:r>
                      <a:rPr lang="en-AU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AU" sz="2400" dirty="0"/>
                          <m:t>−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3)</m:t>
                        </m:r>
                      </m:e>
                      <m:sup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400" dirty="0"/>
                  <a:t>+ (3 – 2)</a:t>
                </a:r>
              </a:p>
              <a:p>
                <a:pPr marL="542925" indent="-542925" defTabSz="534988">
                  <a:spcAft>
                    <a:spcPts val="1200"/>
                  </a:spcAft>
                  <a:buClr>
                    <a:srgbClr val="FF0000"/>
                  </a:buClr>
                  <a:buAutoNum type="arabicPeriod" startAt="2"/>
                </a:pPr>
                <a:r>
                  <a:rPr lang="en-AU" sz="2400" dirty="0"/>
                  <a:t>2 –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(-3)</a:t>
                </a:r>
              </a:p>
              <a:p>
                <a:pPr marL="542925" indent="-542925" defTabSz="534988">
                  <a:spcAft>
                    <a:spcPts val="1200"/>
                  </a:spcAft>
                  <a:buClr>
                    <a:srgbClr val="FF0000"/>
                  </a:buClr>
                  <a:buAutoNum type="arabicPeriod" startAt="2"/>
                </a:pPr>
                <a:r>
                  <a:rPr lang="en-AU" sz="2400" dirty="0"/>
                  <a:t>-2 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(−2)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 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(−2)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sz="2400" dirty="0"/>
              </a:p>
              <a:p>
                <a:pPr marL="542925" indent="-542925" defTabSz="534988">
                  <a:spcAft>
                    <a:spcPts val="1200"/>
                  </a:spcAft>
                  <a:buClr>
                    <a:srgbClr val="FF0000"/>
                  </a:buClr>
                  <a:buAutoNum type="arabicPeriod" startAt="2"/>
                </a:pPr>
                <a:r>
                  <a:rPr lang="en-AU" sz="2400" dirty="0"/>
                  <a:t>3</a:t>
                </a:r>
                <a:r>
                  <a:rPr lang="en-AU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(4 – 5 + (-2))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BD52F9-680A-4D20-A6A7-D58FE9789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191" y="1519357"/>
                <a:ext cx="3542434" cy="2031325"/>
              </a:xfrm>
              <a:prstGeom prst="rect">
                <a:avLst/>
              </a:prstGeom>
              <a:blipFill>
                <a:blip r:embed="rId2"/>
                <a:stretch>
                  <a:fillRect l="-2582" t="-2402" b="-600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E48AA98-0931-4263-A589-971FD939B8DA}"/>
              </a:ext>
            </a:extLst>
          </p:cNvPr>
          <p:cNvSpPr txBox="1"/>
          <p:nvPr/>
        </p:nvSpPr>
        <p:spPr>
          <a:xfrm>
            <a:off x="7767129" y="2187574"/>
            <a:ext cx="36861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Brackets and indices.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Identify the multiplication and division.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Do the multiplication and division.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Deal with double signs.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Complete the addition / subtraction (left to right).</a:t>
            </a:r>
          </a:p>
        </p:txBody>
      </p:sp>
    </p:spTree>
    <p:extLst>
      <p:ext uri="{BB962C8B-B14F-4D97-AF65-F5344CB8AC3E}">
        <p14:creationId xmlns:p14="http://schemas.microsoft.com/office/powerpoint/2010/main" val="3637422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86CD2F-569C-4272-B0D9-A6F1965E5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094" y="0"/>
            <a:ext cx="5607748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53849E-CE61-463A-8E4D-1BAF5E9C511F}"/>
              </a:ext>
            </a:extLst>
          </p:cNvPr>
          <p:cNvSpPr txBox="1"/>
          <p:nvPr/>
        </p:nvSpPr>
        <p:spPr>
          <a:xfrm>
            <a:off x="1771047" y="604535"/>
            <a:ext cx="39915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Independent practice: exercise books.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61B622-C30B-4E7F-8B05-D1D40005AD69}"/>
              </a:ext>
            </a:extLst>
          </p:cNvPr>
          <p:cNvSpPr txBox="1"/>
          <p:nvPr/>
        </p:nvSpPr>
        <p:spPr>
          <a:xfrm>
            <a:off x="10048875" y="4838700"/>
            <a:ext cx="8667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T/F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E9625A-6F56-45CE-ABF7-14B92DEAF1C4}"/>
              </a:ext>
            </a:extLst>
          </p:cNvPr>
          <p:cNvSpPr txBox="1"/>
          <p:nvPr/>
        </p:nvSpPr>
        <p:spPr>
          <a:xfrm>
            <a:off x="10482262" y="5509796"/>
            <a:ext cx="8667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T/F</a:t>
            </a:r>
          </a:p>
        </p:txBody>
      </p:sp>
    </p:spTree>
    <p:extLst>
      <p:ext uri="{BB962C8B-B14F-4D97-AF65-F5344CB8AC3E}">
        <p14:creationId xmlns:p14="http://schemas.microsoft.com/office/powerpoint/2010/main" val="2583826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2429" y="213878"/>
            <a:ext cx="6671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Multiplication strategies - rational numbers.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64773" y="804125"/>
            <a:ext cx="85386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There are a number of written strategies for multiplying rational numbers.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19607" y="1839464"/>
            <a:ext cx="6259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The standard algorithm: </a:t>
            </a:r>
          </a:p>
          <a:p>
            <a:r>
              <a:rPr lang="en-AU" sz="2400" dirty="0">
                <a:solidFill>
                  <a:srgbClr val="002060"/>
                </a:solidFill>
              </a:rPr>
              <a:t>		 36 x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83260" y="2716628"/>
            <a:ext cx="2459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      36</a:t>
            </a:r>
          </a:p>
          <a:p>
            <a:r>
              <a:rPr lang="en-AU" u="sng" dirty="0"/>
              <a:t>X</a:t>
            </a:r>
            <a:r>
              <a:rPr lang="en-AU" sz="2400" u="sng" dirty="0"/>
              <a:t>    24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6849174" y="3338867"/>
            <a:ext cx="1493951" cy="340749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479306" y="3547625"/>
            <a:ext cx="340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Use the ones digit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4773" y="4366879"/>
            <a:ext cx="340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Use the tens digit second.</a:t>
            </a:r>
          </a:p>
          <a:p>
            <a:r>
              <a:rPr lang="en-AU" b="1" dirty="0">
                <a:solidFill>
                  <a:srgbClr val="FF0000"/>
                </a:solidFill>
              </a:rPr>
              <a:t>Don’t forget to put a zero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4398373" y="3359124"/>
            <a:ext cx="1967844" cy="1007755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87314" y="3407208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1358" y="3728181"/>
            <a:ext cx="1103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6567" y="3704074"/>
            <a:ext cx="620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2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6023973" y="4218850"/>
            <a:ext cx="94826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216857" y="4265705"/>
            <a:ext cx="2369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864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2907" y="4727370"/>
            <a:ext cx="2404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Add them up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 flipH="1" flipV="1">
            <a:off x="6972240" y="3860499"/>
            <a:ext cx="2126685" cy="107072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7424D0A-5429-4CB7-A2C0-B70C81B0308B}"/>
              </a:ext>
            </a:extLst>
          </p:cNvPr>
          <p:cNvSpPr txBox="1"/>
          <p:nvPr/>
        </p:nvSpPr>
        <p:spPr>
          <a:xfrm>
            <a:off x="6446074" y="2571945"/>
            <a:ext cx="483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C2B9FB-36FB-486E-B201-CB814B1DE9B7}"/>
              </a:ext>
            </a:extLst>
          </p:cNvPr>
          <p:cNvSpPr txBox="1"/>
          <p:nvPr/>
        </p:nvSpPr>
        <p:spPr>
          <a:xfrm>
            <a:off x="6135231" y="3418719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14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23E402-9BA6-4839-A81B-0EFCC03A248B}"/>
              </a:ext>
            </a:extLst>
          </p:cNvPr>
          <p:cNvSpPr txBox="1"/>
          <p:nvPr/>
        </p:nvSpPr>
        <p:spPr>
          <a:xfrm>
            <a:off x="6292259" y="2907751"/>
            <a:ext cx="483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006AB7-A260-480E-9852-F007983CBFDD}"/>
              </a:ext>
            </a:extLst>
          </p:cNvPr>
          <p:cNvSpPr txBox="1"/>
          <p:nvPr/>
        </p:nvSpPr>
        <p:spPr>
          <a:xfrm>
            <a:off x="6135610" y="3721998"/>
            <a:ext cx="620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653691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0" grpId="0"/>
      <p:bldP spid="11" grpId="0"/>
      <p:bldP spid="16" grpId="0"/>
      <p:bldP spid="17" grpId="0"/>
      <p:bldP spid="18" grpId="0"/>
      <p:bldP spid="21" grpId="0"/>
      <p:bldP spid="22" grpId="0"/>
      <p:bldP spid="3" grpId="0"/>
      <p:bldP spid="19" grpId="0"/>
      <p:bldP spid="23" grpId="0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9DCE5C-77E9-44E2-B8AE-4F0C63AD1A28}"/>
              </a:ext>
            </a:extLst>
          </p:cNvPr>
          <p:cNvSpPr txBox="1"/>
          <p:nvPr/>
        </p:nvSpPr>
        <p:spPr>
          <a:xfrm>
            <a:off x="3086100" y="815459"/>
            <a:ext cx="6600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Standard algorithm: 48 x 63</a:t>
            </a:r>
          </a:p>
        </p:txBody>
      </p:sp>
    </p:spTree>
    <p:extLst>
      <p:ext uri="{BB962C8B-B14F-4D97-AF65-F5344CB8AC3E}">
        <p14:creationId xmlns:p14="http://schemas.microsoft.com/office/powerpoint/2010/main" val="3150929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51FC70-D67D-489D-B3C6-C95F13A49BF8}"/>
              </a:ext>
            </a:extLst>
          </p:cNvPr>
          <p:cNvSpPr txBox="1"/>
          <p:nvPr/>
        </p:nvSpPr>
        <p:spPr>
          <a:xfrm>
            <a:off x="4890115" y="580623"/>
            <a:ext cx="32248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The grid method: </a:t>
            </a:r>
          </a:p>
          <a:p>
            <a:r>
              <a:rPr lang="en-AU" sz="2400" dirty="0">
                <a:solidFill>
                  <a:srgbClr val="002060"/>
                </a:solidFill>
              </a:rPr>
              <a:t>	36 x 24</a:t>
            </a:r>
          </a:p>
        </p:txBody>
      </p:sp>
      <p:graphicFrame>
        <p:nvGraphicFramePr>
          <p:cNvPr id="15" name="Table 15">
            <a:extLst>
              <a:ext uri="{FF2B5EF4-FFF2-40B4-BE49-F238E27FC236}">
                <a16:creationId xmlns:a16="http://schemas.microsoft.com/office/drawing/2014/main" id="{E46A6E10-6B33-446C-9C22-C5EBB12530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667234"/>
              </p:ext>
            </p:extLst>
          </p:nvPr>
        </p:nvGraphicFramePr>
        <p:xfrm>
          <a:off x="5010519" y="1940842"/>
          <a:ext cx="2170962" cy="96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5481">
                  <a:extLst>
                    <a:ext uri="{9D8B030D-6E8A-4147-A177-3AD203B41FA5}">
                      <a16:colId xmlns:a16="http://schemas.microsoft.com/office/drawing/2014/main" val="391749892"/>
                    </a:ext>
                  </a:extLst>
                </a:gridCol>
                <a:gridCol w="1085481">
                  <a:extLst>
                    <a:ext uri="{9D8B030D-6E8A-4147-A177-3AD203B41FA5}">
                      <a16:colId xmlns:a16="http://schemas.microsoft.com/office/drawing/2014/main" val="945223962"/>
                    </a:ext>
                  </a:extLst>
                </a:gridCol>
              </a:tblGrid>
              <a:tr h="482174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234074"/>
                  </a:ext>
                </a:extLst>
              </a:tr>
              <a:tr h="482174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75097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ADB2476-24D1-4DA1-A67D-B59D8D759852}"/>
              </a:ext>
            </a:extLst>
          </p:cNvPr>
          <p:cNvSpPr txBox="1"/>
          <p:nvPr/>
        </p:nvSpPr>
        <p:spPr>
          <a:xfrm>
            <a:off x="5371732" y="1555595"/>
            <a:ext cx="523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FC4D90-06D8-4BB4-A430-84B39A9910B2}"/>
              </a:ext>
            </a:extLst>
          </p:cNvPr>
          <p:cNvSpPr txBox="1"/>
          <p:nvPr/>
        </p:nvSpPr>
        <p:spPr>
          <a:xfrm>
            <a:off x="7180140" y="1943704"/>
            <a:ext cx="534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20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77E854-64D7-4C39-AC78-92A2B756A197}"/>
              </a:ext>
            </a:extLst>
          </p:cNvPr>
          <p:cNvSpPr txBox="1"/>
          <p:nvPr/>
        </p:nvSpPr>
        <p:spPr>
          <a:xfrm>
            <a:off x="7233499" y="2402507"/>
            <a:ext cx="304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C6DA3E-8A55-4131-AEB4-0ED81B3D688D}"/>
              </a:ext>
            </a:extLst>
          </p:cNvPr>
          <p:cNvSpPr txBox="1"/>
          <p:nvPr/>
        </p:nvSpPr>
        <p:spPr>
          <a:xfrm>
            <a:off x="6419482" y="1555595"/>
            <a:ext cx="304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4D1CE4-6BB7-4B14-A79A-6E90AA98D44B}"/>
              </a:ext>
            </a:extLst>
          </p:cNvPr>
          <p:cNvSpPr txBox="1"/>
          <p:nvPr/>
        </p:nvSpPr>
        <p:spPr>
          <a:xfrm>
            <a:off x="6304812" y="2443525"/>
            <a:ext cx="981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296D81-6D50-40B4-92E4-FBBDEC059FED}"/>
              </a:ext>
            </a:extLst>
          </p:cNvPr>
          <p:cNvSpPr txBox="1"/>
          <p:nvPr/>
        </p:nvSpPr>
        <p:spPr>
          <a:xfrm>
            <a:off x="5114925" y="2418759"/>
            <a:ext cx="981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120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EA635D-2B28-435D-9CD2-300D4C5A7D68}"/>
              </a:ext>
            </a:extLst>
          </p:cNvPr>
          <p:cNvSpPr txBox="1"/>
          <p:nvPr/>
        </p:nvSpPr>
        <p:spPr>
          <a:xfrm>
            <a:off x="5143131" y="1940842"/>
            <a:ext cx="981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600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B0619C-1653-46C9-9560-9318496C5A1B}"/>
              </a:ext>
            </a:extLst>
          </p:cNvPr>
          <p:cNvSpPr txBox="1"/>
          <p:nvPr/>
        </p:nvSpPr>
        <p:spPr>
          <a:xfrm>
            <a:off x="6250412" y="1957094"/>
            <a:ext cx="981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120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7AD04B6-3469-438D-B605-7195D9C54674}"/>
                  </a:ext>
                </a:extLst>
              </p:cNvPr>
              <p:cNvSpPr txBox="1"/>
              <p:nvPr/>
            </p:nvSpPr>
            <p:spPr>
              <a:xfrm>
                <a:off x="5114925" y="3193139"/>
                <a:ext cx="6096000" cy="18004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36 x 24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400" dirty="0">
                    <a:solidFill>
                      <a:srgbClr val="002060"/>
                    </a:solidFill>
                    <a:latin typeface="Century Gothic" panose="020B0502020202020204"/>
                  </a:rPr>
                  <a:t>= 600 + 120 </a:t>
                </a:r>
                <a14:m>
                  <m:oMath xmlns:m="http://schemas.openxmlformats.org/officeDocument/2006/math">
                    <m:r>
                      <a:rPr lang="en-AU" sz="24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>
                    <a:solidFill>
                      <a:srgbClr val="002060"/>
                    </a:solidFill>
                  </a:rPr>
                  <a:t> 2 + 24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400" dirty="0">
                    <a:solidFill>
                      <a:srgbClr val="002060"/>
                    </a:solidFill>
                  </a:rPr>
                  <a:t>= 600 + 240 +24</a:t>
                </a:r>
              </a:p>
              <a:p>
                <a:r>
                  <a:rPr lang="en-AU" sz="2400" dirty="0">
                    <a:solidFill>
                      <a:srgbClr val="002060"/>
                    </a:solidFill>
                  </a:rPr>
                  <a:t>= 864 </a:t>
                </a:r>
                <a:endParaRPr lang="en-AU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7AD04B6-3469-438D-B605-7195D9C54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4925" y="3193139"/>
                <a:ext cx="6096000" cy="1800493"/>
              </a:xfrm>
              <a:prstGeom prst="rect">
                <a:avLst/>
              </a:prstGeom>
              <a:blipFill>
                <a:blip r:embed="rId2"/>
                <a:stretch>
                  <a:fillRect l="-1500" t="-2712" b="-678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8453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1" grpId="0"/>
      <p:bldP spid="22" grpId="0"/>
      <p:bldP spid="23" grpId="0"/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9DCE5C-77E9-44E2-B8AE-4F0C63AD1A28}"/>
              </a:ext>
            </a:extLst>
          </p:cNvPr>
          <p:cNvSpPr txBox="1"/>
          <p:nvPr/>
        </p:nvSpPr>
        <p:spPr>
          <a:xfrm>
            <a:off x="3086100" y="815459"/>
            <a:ext cx="6600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Grid method: 48 x 63</a:t>
            </a:r>
          </a:p>
        </p:txBody>
      </p:sp>
    </p:spTree>
    <p:extLst>
      <p:ext uri="{BB962C8B-B14F-4D97-AF65-F5344CB8AC3E}">
        <p14:creationId xmlns:p14="http://schemas.microsoft.com/office/powerpoint/2010/main" val="303261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51FC70-D67D-489D-B3C6-C95F13A49BF8}"/>
              </a:ext>
            </a:extLst>
          </p:cNvPr>
          <p:cNvSpPr txBox="1"/>
          <p:nvPr/>
        </p:nvSpPr>
        <p:spPr>
          <a:xfrm>
            <a:off x="3992501" y="455388"/>
            <a:ext cx="51587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The lattice (Chinese) method: </a:t>
            </a:r>
          </a:p>
          <a:p>
            <a:r>
              <a:rPr lang="en-AU" sz="2400" dirty="0">
                <a:solidFill>
                  <a:srgbClr val="002060"/>
                </a:solidFill>
              </a:rPr>
              <a:t>		36 x 24</a:t>
            </a:r>
          </a:p>
        </p:txBody>
      </p:sp>
      <p:graphicFrame>
        <p:nvGraphicFramePr>
          <p:cNvPr id="15" name="Table 15">
            <a:extLst>
              <a:ext uri="{FF2B5EF4-FFF2-40B4-BE49-F238E27FC236}">
                <a16:creationId xmlns:a16="http://schemas.microsoft.com/office/drawing/2014/main" id="{E46A6E10-6B33-446C-9C22-C5EBB125300A}"/>
              </a:ext>
            </a:extLst>
          </p:cNvPr>
          <p:cNvGraphicFramePr>
            <a:graphicFrameLocks noGrp="1"/>
          </p:cNvGraphicFramePr>
          <p:nvPr/>
        </p:nvGraphicFramePr>
        <p:xfrm>
          <a:off x="5010519" y="1940842"/>
          <a:ext cx="2170962" cy="96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5481">
                  <a:extLst>
                    <a:ext uri="{9D8B030D-6E8A-4147-A177-3AD203B41FA5}">
                      <a16:colId xmlns:a16="http://schemas.microsoft.com/office/drawing/2014/main" val="391749892"/>
                    </a:ext>
                  </a:extLst>
                </a:gridCol>
                <a:gridCol w="1085481">
                  <a:extLst>
                    <a:ext uri="{9D8B030D-6E8A-4147-A177-3AD203B41FA5}">
                      <a16:colId xmlns:a16="http://schemas.microsoft.com/office/drawing/2014/main" val="945223962"/>
                    </a:ext>
                  </a:extLst>
                </a:gridCol>
              </a:tblGrid>
              <a:tr h="482174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234074"/>
                  </a:ext>
                </a:extLst>
              </a:tr>
              <a:tr h="482174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75097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ADB2476-24D1-4DA1-A67D-B59D8D759852}"/>
              </a:ext>
            </a:extLst>
          </p:cNvPr>
          <p:cNvSpPr txBox="1"/>
          <p:nvPr/>
        </p:nvSpPr>
        <p:spPr>
          <a:xfrm>
            <a:off x="5471930" y="1555595"/>
            <a:ext cx="523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FC4D90-06D8-4BB4-A430-84B39A9910B2}"/>
              </a:ext>
            </a:extLst>
          </p:cNvPr>
          <p:cNvSpPr txBox="1"/>
          <p:nvPr/>
        </p:nvSpPr>
        <p:spPr>
          <a:xfrm>
            <a:off x="7190454" y="1934179"/>
            <a:ext cx="534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77E854-64D7-4C39-AC78-92A2B756A197}"/>
              </a:ext>
            </a:extLst>
          </p:cNvPr>
          <p:cNvSpPr txBox="1"/>
          <p:nvPr/>
        </p:nvSpPr>
        <p:spPr>
          <a:xfrm>
            <a:off x="7166640" y="2413825"/>
            <a:ext cx="304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C6DA3E-8A55-4131-AEB4-0ED81B3D688D}"/>
              </a:ext>
            </a:extLst>
          </p:cNvPr>
          <p:cNvSpPr txBox="1"/>
          <p:nvPr/>
        </p:nvSpPr>
        <p:spPr>
          <a:xfrm>
            <a:off x="6457215" y="1566035"/>
            <a:ext cx="304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AD04B6-3469-438D-B605-7195D9C54674}"/>
              </a:ext>
            </a:extLst>
          </p:cNvPr>
          <p:cNvSpPr txBox="1"/>
          <p:nvPr/>
        </p:nvSpPr>
        <p:spPr>
          <a:xfrm>
            <a:off x="4832806" y="3573436"/>
            <a:ext cx="1624409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36 x 24</a:t>
            </a:r>
          </a:p>
          <a:p>
            <a:pPr>
              <a:spcAft>
                <a:spcPts val="600"/>
              </a:spcAft>
            </a:pPr>
            <a:r>
              <a:rPr lang="en-AU" sz="2400" dirty="0">
                <a:solidFill>
                  <a:srgbClr val="002060"/>
                </a:solidFill>
                <a:latin typeface="Century Gothic" panose="020B0502020202020204"/>
              </a:rPr>
              <a:t>= </a:t>
            </a:r>
            <a:r>
              <a:rPr lang="en-AU" sz="2400" dirty="0">
                <a:solidFill>
                  <a:srgbClr val="002060"/>
                </a:solidFill>
              </a:rPr>
              <a:t>864 </a:t>
            </a:r>
            <a:endParaRPr lang="en-AU" sz="24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201A256-4C37-4C06-9C47-38F9F636FF14}"/>
              </a:ext>
            </a:extLst>
          </p:cNvPr>
          <p:cNvCxnSpPr/>
          <p:nvPr/>
        </p:nvCxnSpPr>
        <p:spPr>
          <a:xfrm flipV="1">
            <a:off x="5010519" y="1940842"/>
            <a:ext cx="2156121" cy="93464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C1C79BD-7555-4970-831E-9EB56EF3AC32}"/>
              </a:ext>
            </a:extLst>
          </p:cNvPr>
          <p:cNvCxnSpPr>
            <a:endCxn id="15" idx="0"/>
          </p:cNvCxnSpPr>
          <p:nvPr/>
        </p:nvCxnSpPr>
        <p:spPr>
          <a:xfrm flipV="1">
            <a:off x="5010519" y="1940842"/>
            <a:ext cx="1085481" cy="48217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6DA8F5-6702-4771-A87A-FB778B35C332}"/>
              </a:ext>
            </a:extLst>
          </p:cNvPr>
          <p:cNvCxnSpPr/>
          <p:nvPr/>
        </p:nvCxnSpPr>
        <p:spPr>
          <a:xfrm flipV="1">
            <a:off x="6096000" y="2423016"/>
            <a:ext cx="1079613" cy="48217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157EF0D-49E1-4EBE-A60B-30A9367B850D}"/>
              </a:ext>
            </a:extLst>
          </p:cNvPr>
          <p:cNvSpPr txBox="1"/>
          <p:nvPr/>
        </p:nvSpPr>
        <p:spPr>
          <a:xfrm>
            <a:off x="8560710" y="1796867"/>
            <a:ext cx="34026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42925" indent="-542925">
              <a:buClr>
                <a:srgbClr val="FF0000"/>
              </a:buClr>
              <a:buAutoNum type="arabicPeriod"/>
            </a:pPr>
            <a:r>
              <a:rPr lang="en-AU" sz="2400" dirty="0"/>
              <a:t>6 x 2 =12</a:t>
            </a:r>
          </a:p>
          <a:p>
            <a:pPr marL="542925" indent="-542925">
              <a:buClr>
                <a:srgbClr val="FF0000"/>
              </a:buClr>
              <a:buAutoNum type="arabicPeriod"/>
            </a:pPr>
            <a:r>
              <a:rPr lang="en-AU" sz="2400" dirty="0"/>
              <a:t>2 x 3 = 06</a:t>
            </a:r>
          </a:p>
          <a:p>
            <a:pPr marL="542925" indent="-542925">
              <a:buClr>
                <a:srgbClr val="FF0000"/>
              </a:buClr>
              <a:buAutoNum type="arabicPeriod"/>
            </a:pPr>
            <a:r>
              <a:rPr lang="en-AU" sz="2400" dirty="0"/>
              <a:t>6 x 4 = 24</a:t>
            </a:r>
          </a:p>
          <a:p>
            <a:pPr marL="542925" indent="-542925">
              <a:buClr>
                <a:srgbClr val="FF0000"/>
              </a:buClr>
              <a:buAutoNum type="arabicPeriod"/>
            </a:pPr>
            <a:r>
              <a:rPr lang="en-AU" sz="2400" dirty="0"/>
              <a:t>3 x 4 = 12</a:t>
            </a:r>
          </a:p>
          <a:p>
            <a:pPr>
              <a:buClr>
                <a:srgbClr val="FF0000"/>
              </a:buClr>
            </a:pPr>
            <a:r>
              <a:rPr lang="en-AU" sz="2400" dirty="0"/>
              <a:t>Add the diagonals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13BB8B-2A36-4EB4-8F3F-03D496FBBFBB}"/>
              </a:ext>
            </a:extLst>
          </p:cNvPr>
          <p:cNvSpPr txBox="1"/>
          <p:nvPr/>
        </p:nvSpPr>
        <p:spPr>
          <a:xfrm>
            <a:off x="6076767" y="1883684"/>
            <a:ext cx="371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7CDEFF-A3C3-4037-80F0-AA127A3434E2}"/>
              </a:ext>
            </a:extLst>
          </p:cNvPr>
          <p:cNvSpPr txBox="1"/>
          <p:nvPr/>
        </p:nvSpPr>
        <p:spPr>
          <a:xfrm>
            <a:off x="6714206" y="2017272"/>
            <a:ext cx="371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D009A8-5CA4-49DD-9648-4D2BDA92DB44}"/>
              </a:ext>
            </a:extLst>
          </p:cNvPr>
          <p:cNvSpPr txBox="1"/>
          <p:nvPr/>
        </p:nvSpPr>
        <p:spPr>
          <a:xfrm>
            <a:off x="5036342" y="1904672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0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18C29B-8871-4F4F-8AE8-3E9822555DCC}"/>
              </a:ext>
            </a:extLst>
          </p:cNvPr>
          <p:cNvSpPr txBox="1"/>
          <p:nvPr/>
        </p:nvSpPr>
        <p:spPr>
          <a:xfrm>
            <a:off x="5694661" y="1976201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6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6E1E58-5884-46DB-919F-48EA4EBFCF0F}"/>
              </a:ext>
            </a:extLst>
          </p:cNvPr>
          <p:cNvSpPr txBox="1"/>
          <p:nvPr/>
        </p:nvSpPr>
        <p:spPr>
          <a:xfrm>
            <a:off x="6129153" y="2376375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2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786C5A-342D-4307-9AE6-672DD8CEB871}"/>
              </a:ext>
            </a:extLst>
          </p:cNvPr>
          <p:cNvSpPr txBox="1"/>
          <p:nvPr/>
        </p:nvSpPr>
        <p:spPr>
          <a:xfrm>
            <a:off x="6776975" y="2457323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4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5DEB7A-2B9F-4E3A-A1BA-C10D51BFA2CA}"/>
              </a:ext>
            </a:extLst>
          </p:cNvPr>
          <p:cNvSpPr txBox="1"/>
          <p:nvPr/>
        </p:nvSpPr>
        <p:spPr>
          <a:xfrm>
            <a:off x="5694661" y="2440893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2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5A7847-C335-4BB6-B8C8-CCD049247EC0}"/>
              </a:ext>
            </a:extLst>
          </p:cNvPr>
          <p:cNvSpPr txBox="1"/>
          <p:nvPr/>
        </p:nvSpPr>
        <p:spPr>
          <a:xfrm>
            <a:off x="5005941" y="2353999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1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7034EB-551C-46E8-A396-600FDA185093}"/>
              </a:ext>
            </a:extLst>
          </p:cNvPr>
          <p:cNvSpPr txBox="1"/>
          <p:nvPr/>
        </p:nvSpPr>
        <p:spPr>
          <a:xfrm>
            <a:off x="6389734" y="2880514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4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92332F-1204-4D27-B787-3871E847406D}"/>
              </a:ext>
            </a:extLst>
          </p:cNvPr>
          <p:cNvSpPr txBox="1"/>
          <p:nvPr/>
        </p:nvSpPr>
        <p:spPr>
          <a:xfrm>
            <a:off x="5361774" y="2850404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6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9AC0C2-7199-45A9-AA22-0A1AE253BE1A}"/>
              </a:ext>
            </a:extLst>
          </p:cNvPr>
          <p:cNvSpPr txBox="1"/>
          <p:nvPr/>
        </p:nvSpPr>
        <p:spPr>
          <a:xfrm>
            <a:off x="4662209" y="2413824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8 </a:t>
            </a:r>
          </a:p>
        </p:txBody>
      </p:sp>
    </p:spTree>
    <p:extLst>
      <p:ext uri="{BB962C8B-B14F-4D97-AF65-F5344CB8AC3E}">
        <p14:creationId xmlns:p14="http://schemas.microsoft.com/office/powerpoint/2010/main" val="333595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6" grpId="0"/>
      <p:bldP spid="12" grpId="0"/>
      <p:bldP spid="25" grpId="0"/>
      <p:bldP spid="13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9DCE5C-77E9-44E2-B8AE-4F0C63AD1A28}"/>
              </a:ext>
            </a:extLst>
          </p:cNvPr>
          <p:cNvSpPr txBox="1"/>
          <p:nvPr/>
        </p:nvSpPr>
        <p:spPr>
          <a:xfrm>
            <a:off x="3533775" y="786884"/>
            <a:ext cx="6600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Lattice method: 48 x 63</a:t>
            </a:r>
          </a:p>
        </p:txBody>
      </p:sp>
    </p:spTree>
    <p:extLst>
      <p:ext uri="{BB962C8B-B14F-4D97-AF65-F5344CB8AC3E}">
        <p14:creationId xmlns:p14="http://schemas.microsoft.com/office/powerpoint/2010/main" val="1845731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51FC70-D67D-489D-B3C6-C95F13A49BF8}"/>
              </a:ext>
            </a:extLst>
          </p:cNvPr>
          <p:cNvSpPr txBox="1"/>
          <p:nvPr/>
        </p:nvSpPr>
        <p:spPr>
          <a:xfrm>
            <a:off x="3661758" y="340368"/>
            <a:ext cx="6259133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2400" dirty="0">
                <a:solidFill>
                  <a:srgbClr val="002060"/>
                </a:solidFill>
              </a:rPr>
              <a:t>The doubling (Egyptian) method: </a:t>
            </a:r>
          </a:p>
          <a:p>
            <a:r>
              <a:rPr lang="en-AU" sz="2400" dirty="0">
                <a:solidFill>
                  <a:srgbClr val="002060"/>
                </a:solidFill>
              </a:rPr>
              <a:t>		</a:t>
            </a:r>
            <a:r>
              <a:rPr lang="en-AU" sz="2400" dirty="0"/>
              <a:t>36 x 24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AD04B6-3469-438D-B605-7195D9C54674}"/>
              </a:ext>
            </a:extLst>
          </p:cNvPr>
          <p:cNvSpPr txBox="1"/>
          <p:nvPr/>
        </p:nvSpPr>
        <p:spPr>
          <a:xfrm>
            <a:off x="3914774" y="1519103"/>
            <a:ext cx="146685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Left (36)</a:t>
            </a:r>
          </a:p>
          <a:p>
            <a:pPr algn="ctr">
              <a:spcAft>
                <a:spcPts val="600"/>
              </a:spcAft>
            </a:pPr>
            <a:r>
              <a:rPr lang="en-AU" sz="2400" dirty="0">
                <a:solidFill>
                  <a:srgbClr val="FF0000"/>
                </a:solidFill>
                <a:latin typeface="Century Gothic" panose="020B0502020202020204"/>
              </a:rPr>
              <a:t>1</a:t>
            </a:r>
          </a:p>
          <a:p>
            <a:pPr algn="ctr">
              <a:spcAft>
                <a:spcPts val="600"/>
              </a:spcAft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</a:t>
            </a:r>
          </a:p>
          <a:p>
            <a:pPr algn="ctr">
              <a:spcAft>
                <a:spcPts val="600"/>
              </a:spcAft>
            </a:pPr>
            <a:r>
              <a:rPr lang="en-AU" sz="2400" dirty="0">
                <a:solidFill>
                  <a:srgbClr val="FF0000"/>
                </a:solidFill>
                <a:latin typeface="Century Gothic" panose="020B0502020202020204"/>
              </a:rPr>
              <a:t>4</a:t>
            </a:r>
          </a:p>
          <a:p>
            <a:pPr algn="ctr">
              <a:spcAft>
                <a:spcPts val="600"/>
              </a:spcAft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8</a:t>
            </a:r>
          </a:p>
          <a:p>
            <a:pPr algn="ctr">
              <a:spcAft>
                <a:spcPts val="600"/>
              </a:spcAft>
            </a:pPr>
            <a:r>
              <a:rPr lang="en-AU" sz="2400" dirty="0">
                <a:solidFill>
                  <a:srgbClr val="FF0000"/>
                </a:solidFill>
                <a:latin typeface="Century Gothic" panose="020B0502020202020204"/>
              </a:rPr>
              <a:t>16</a:t>
            </a:r>
          </a:p>
          <a:p>
            <a:pPr algn="ctr">
              <a:spcAft>
                <a:spcPts val="600"/>
              </a:spcAft>
            </a:pPr>
            <a:r>
              <a:rPr lang="en-AU" sz="2400" dirty="0">
                <a:solidFill>
                  <a:srgbClr val="FF0000"/>
                </a:solidFill>
                <a:latin typeface="Century Gothic" panose="020B0502020202020204"/>
              </a:rPr>
              <a:t>32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385692-385F-435B-BEB7-C80DCBC5C713}"/>
              </a:ext>
            </a:extLst>
          </p:cNvPr>
          <p:cNvSpPr txBox="1"/>
          <p:nvPr/>
        </p:nvSpPr>
        <p:spPr>
          <a:xfrm>
            <a:off x="5576887" y="1519103"/>
            <a:ext cx="108585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Right</a:t>
            </a:r>
          </a:p>
          <a:p>
            <a:pPr algn="ctr">
              <a:spcAft>
                <a:spcPts val="600"/>
              </a:spcAft>
            </a:pPr>
            <a:r>
              <a:rPr lang="en-AU" sz="2400" dirty="0">
                <a:solidFill>
                  <a:srgbClr val="002060"/>
                </a:solidFill>
                <a:latin typeface="Century Gothic" panose="020B0502020202020204"/>
              </a:rPr>
              <a:t>24</a:t>
            </a:r>
          </a:p>
          <a:p>
            <a:pPr algn="ctr">
              <a:spcAft>
                <a:spcPts val="600"/>
              </a:spcAft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48</a:t>
            </a:r>
          </a:p>
          <a:p>
            <a:pPr algn="ctr">
              <a:spcAft>
                <a:spcPts val="600"/>
              </a:spcAft>
            </a:pPr>
            <a:r>
              <a:rPr lang="en-AU" sz="2400" dirty="0">
                <a:solidFill>
                  <a:srgbClr val="002060"/>
                </a:solidFill>
                <a:latin typeface="Century Gothic" panose="020B0502020202020204"/>
              </a:rPr>
              <a:t>96</a:t>
            </a:r>
          </a:p>
          <a:p>
            <a:pPr algn="ctr">
              <a:spcAft>
                <a:spcPts val="600"/>
              </a:spcAft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192</a:t>
            </a:r>
          </a:p>
          <a:p>
            <a:pPr algn="ctr">
              <a:spcAft>
                <a:spcPts val="600"/>
              </a:spcAft>
            </a:pPr>
            <a:r>
              <a:rPr lang="en-AU" sz="2400" dirty="0">
                <a:solidFill>
                  <a:srgbClr val="002060"/>
                </a:solidFill>
                <a:latin typeface="Century Gothic" panose="020B0502020202020204"/>
              </a:rPr>
              <a:t>384</a:t>
            </a:r>
          </a:p>
          <a:p>
            <a:pPr algn="ctr">
              <a:spcAft>
                <a:spcPts val="600"/>
              </a:spcAft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768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E6DB24-B2B6-4102-9D83-2C0A94052D94}"/>
              </a:ext>
            </a:extLst>
          </p:cNvPr>
          <p:cNvSpPr txBox="1"/>
          <p:nvPr/>
        </p:nvSpPr>
        <p:spPr>
          <a:xfrm>
            <a:off x="3409950" y="4877232"/>
            <a:ext cx="197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36 = </a:t>
            </a:r>
            <a:r>
              <a:rPr lang="en-AU" sz="2400" dirty="0">
                <a:solidFill>
                  <a:srgbClr val="FF0000"/>
                </a:solidFill>
              </a:rPr>
              <a:t>32 + 4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EBA54B-92EF-488A-9CAD-8714C43C2EF0}"/>
              </a:ext>
            </a:extLst>
          </p:cNvPr>
          <p:cNvSpPr txBox="1"/>
          <p:nvPr/>
        </p:nvSpPr>
        <p:spPr>
          <a:xfrm>
            <a:off x="6096000" y="4877231"/>
            <a:ext cx="3661758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36 x 24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= 96 + 768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AU" sz="2400" dirty="0">
                <a:solidFill>
                  <a:srgbClr val="002060"/>
                </a:solidFill>
                <a:latin typeface="Century Gothic" panose="020B0502020202020204"/>
              </a:rPr>
              <a:t> = 864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5060CE7-6D2C-4A79-8024-686ECD5AA38F}"/>
              </a:ext>
            </a:extLst>
          </p:cNvPr>
          <p:cNvSpPr/>
          <p:nvPr/>
        </p:nvSpPr>
        <p:spPr>
          <a:xfrm>
            <a:off x="5681662" y="4210615"/>
            <a:ext cx="866775" cy="371475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08C218F-211C-4F30-A453-A27054113AB8}"/>
              </a:ext>
            </a:extLst>
          </p:cNvPr>
          <p:cNvSpPr/>
          <p:nvPr/>
        </p:nvSpPr>
        <p:spPr>
          <a:xfrm>
            <a:off x="5681662" y="2903025"/>
            <a:ext cx="866775" cy="371475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9756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uild="p"/>
      <p:bldP spid="13" grpId="0" build="p"/>
      <p:bldP spid="3" grpId="0"/>
      <p:bldP spid="25" grpId="0"/>
      <p:bldP spid="6" grpId="0" animBg="1"/>
      <p:bldP spid="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9DCE5C-77E9-44E2-B8AE-4F0C63AD1A28}"/>
              </a:ext>
            </a:extLst>
          </p:cNvPr>
          <p:cNvSpPr txBox="1"/>
          <p:nvPr/>
        </p:nvSpPr>
        <p:spPr>
          <a:xfrm>
            <a:off x="3533775" y="786884"/>
            <a:ext cx="6600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Doubling method: 48 x 63</a:t>
            </a:r>
          </a:p>
        </p:txBody>
      </p:sp>
    </p:spTree>
    <p:extLst>
      <p:ext uri="{BB962C8B-B14F-4D97-AF65-F5344CB8AC3E}">
        <p14:creationId xmlns:p14="http://schemas.microsoft.com/office/powerpoint/2010/main" val="5650821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F3CAE56B-033D-4117-8350-F3901271BB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4643101"/>
              </p:ext>
            </p:extLst>
          </p:nvPr>
        </p:nvGraphicFramePr>
        <p:xfrm>
          <a:off x="530225" y="1196181"/>
          <a:ext cx="3833813" cy="541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Acrobat Document" r:id="rId4" imgW="5667120" imgH="8010192" progId="AcroExch.Document.DC">
                  <p:embed/>
                </p:oleObj>
              </mc:Choice>
              <mc:Fallback>
                <p:oleObj name="Acrobat Document" r:id="rId4" imgW="5667120" imgH="8010192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30225" y="1196181"/>
                        <a:ext cx="3833813" cy="5418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C24A0DF-B0D9-49DA-86CC-D3366F87A2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9009465"/>
              </p:ext>
            </p:extLst>
          </p:nvPr>
        </p:nvGraphicFramePr>
        <p:xfrm>
          <a:off x="4511675" y="1196181"/>
          <a:ext cx="3800475" cy="541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name="Acrobat Document" r:id="rId6" imgW="5505120" imgH="7848334" progId="AcroExch.Document.DC">
                  <p:embed/>
                </p:oleObj>
              </mc:Choice>
              <mc:Fallback>
                <p:oleObj name="Acrobat Document" r:id="rId6" imgW="5505120" imgH="7848334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511675" y="1196181"/>
                        <a:ext cx="3800475" cy="5418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CA7D480-4DC6-438C-8722-4EB708E586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7550309"/>
              </p:ext>
            </p:extLst>
          </p:nvPr>
        </p:nvGraphicFramePr>
        <p:xfrm>
          <a:off x="8226425" y="1243806"/>
          <a:ext cx="3800475" cy="541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Acrobat Document" r:id="rId8" imgW="5505120" imgH="7848334" progId="AcroExch.Document.DC">
                  <p:embed/>
                </p:oleObj>
              </mc:Choice>
              <mc:Fallback>
                <p:oleObj name="Acrobat Document" r:id="rId8" imgW="5505120" imgH="7848334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226425" y="1243806"/>
                        <a:ext cx="3800475" cy="5418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F2099AB-CD51-4F14-9FAB-B4283A35D368}"/>
              </a:ext>
            </a:extLst>
          </p:cNvPr>
          <p:cNvSpPr txBox="1"/>
          <p:nvPr/>
        </p:nvSpPr>
        <p:spPr>
          <a:xfrm>
            <a:off x="3705225" y="436165"/>
            <a:ext cx="7277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Independent practice worksheets.</a:t>
            </a:r>
          </a:p>
        </p:txBody>
      </p:sp>
    </p:spTree>
    <p:extLst>
      <p:ext uri="{BB962C8B-B14F-4D97-AF65-F5344CB8AC3E}">
        <p14:creationId xmlns:p14="http://schemas.microsoft.com/office/powerpoint/2010/main" val="139025983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902</TotalTime>
  <Words>889</Words>
  <Application>Microsoft Office PowerPoint</Application>
  <PresentationFormat>Widescreen</PresentationFormat>
  <Paragraphs>211</Paragraphs>
  <Slides>18</Slides>
  <Notes>4</Notes>
  <HiddenSlides>1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Cambria Math</vt:lpstr>
      <vt:lpstr>Century Gothic</vt:lpstr>
      <vt:lpstr>Wingdings</vt:lpstr>
      <vt:lpstr>Wingdings 3</vt:lpstr>
      <vt:lpstr>Wisp</vt:lpstr>
      <vt:lpstr>Acrobat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Wall</dc:creator>
  <cp:lastModifiedBy>DAVIES Rhys [Busselton Senior High School]</cp:lastModifiedBy>
  <cp:revision>32</cp:revision>
  <cp:lastPrinted>2022-02-08T00:12:28Z</cp:lastPrinted>
  <dcterms:created xsi:type="dcterms:W3CDTF">2022-02-01T14:04:58Z</dcterms:created>
  <dcterms:modified xsi:type="dcterms:W3CDTF">2022-02-08T00:21:05Z</dcterms:modified>
</cp:coreProperties>
</file>
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8" r:id="rId2"/>
    <p:sldId id="259" r:id="rId3"/>
    <p:sldId id="273" r:id="rId4"/>
    <p:sldId id="276" r:id="rId5"/>
    <p:sldId id="277" r:id="rId6"/>
    <p:sldId id="260" r:id="rId7"/>
    <p:sldId id="261" r:id="rId8"/>
    <p:sldId id="274" r:id="rId9"/>
    <p:sldId id="275" r:id="rId10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6" autoAdjust="0"/>
    <p:restoredTop sz="95025" autoAdjust="0"/>
  </p:normalViewPr>
  <p:slideViewPr>
    <p:cSldViewPr snapToGrid="0">
      <p:cViewPr varScale="1">
        <p:scale>
          <a:sx n="81" d="100"/>
          <a:sy n="81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189" cy="49823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899" y="0"/>
            <a:ext cx="2946189" cy="49823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5BC259-60D2-4733-A23A-0DAE2D1D1938}" type="datetimeFigureOut">
              <a:rPr lang="en-AU" smtClean="0"/>
              <a:t>28/02/2022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671"/>
            <a:ext cx="5438140" cy="39081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403"/>
            <a:ext cx="2946189" cy="4982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899" y="9428403"/>
            <a:ext cx="2946189" cy="4982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8AB65-6270-4CF6-8170-70BAAF2482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5606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worksheet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C8AB65-6270-4CF6-8170-70BAAF2482F3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047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worksheet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C8AB65-6270-4CF6-8170-70BAAF2482F3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9520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sheet 2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C8AB65-6270-4CF6-8170-70BAAF2482F3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5812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Could use Choral reading and reversal on integer 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C8AB65-6270-4CF6-8170-70BAAF2482F3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5253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4965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725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7778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6684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28/02/2022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948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28/02/2022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4228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28/02/2022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554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7744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476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9481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5870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5741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3244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7239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39798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9132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28/02/2022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9248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45024" y="148333"/>
            <a:ext cx="1716347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1" b="1" dirty="0">
                <a:solidFill>
                  <a:srgbClr val="FF0000"/>
                </a:solidFill>
              </a:rPr>
              <a:t>28/02/2022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50769" y="1861767"/>
            <a:ext cx="820493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00B0F0"/>
                </a:solidFill>
              </a:rPr>
              <a:t>Aims: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AU" sz="2800" b="1" dirty="0">
                <a:solidFill>
                  <a:srgbClr val="00B0F0"/>
                </a:solidFill>
              </a:rPr>
              <a:t>Expand and simplify using indices.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AU" sz="2800" b="1" dirty="0">
                <a:solidFill>
                  <a:srgbClr val="00B0F0"/>
                </a:solidFill>
              </a:rPr>
              <a:t>Convert a number to a product of prime factors.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82887" y="4029536"/>
            <a:ext cx="814069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00B0F0"/>
                </a:solidFill>
              </a:rPr>
              <a:t>Plan:</a:t>
            </a:r>
          </a:p>
          <a:p>
            <a:pPr marL="342909" indent="-342909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rgbClr val="00B0F0"/>
                </a:solidFill>
              </a:rPr>
              <a:t>Daily review: Indices and products of prime factors. </a:t>
            </a:r>
          </a:p>
          <a:p>
            <a:pPr marL="342909" indent="-342909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rgbClr val="00B0F0"/>
                </a:solidFill>
              </a:rPr>
              <a:t>Factorizing to prime numbers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F19BA4-AA13-4729-8A83-2D509C390AD0}"/>
              </a:ext>
            </a:extLst>
          </p:cNvPr>
          <p:cNvSpPr txBox="1"/>
          <p:nvPr/>
        </p:nvSpPr>
        <p:spPr>
          <a:xfrm>
            <a:off x="2415006" y="789935"/>
            <a:ext cx="81406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Title: </a:t>
            </a:r>
            <a:r>
              <a:rPr lang="en-AU" sz="3200" b="1" dirty="0">
                <a:solidFill>
                  <a:srgbClr val="00B0F0"/>
                </a:solidFill>
              </a:rPr>
              <a:t>Prime Powers </a:t>
            </a:r>
            <a:endParaRPr lang="en-AU" sz="24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130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7175" y="712360"/>
            <a:ext cx="9355847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Indices</a:t>
            </a:r>
          </a:p>
          <a:p>
            <a:pPr>
              <a:spcBef>
                <a:spcPts val="600"/>
              </a:spcBef>
            </a:pPr>
            <a:r>
              <a:rPr lang="en-AU" sz="2400" dirty="0"/>
              <a:t>Index number</a:t>
            </a:r>
          </a:p>
          <a:p>
            <a:r>
              <a:rPr lang="en-AU" sz="2400" dirty="0"/>
              <a:t>Power</a:t>
            </a:r>
          </a:p>
          <a:p>
            <a:r>
              <a:rPr lang="en-AU" sz="2400" dirty="0"/>
              <a:t>Exponent</a:t>
            </a:r>
          </a:p>
          <a:p>
            <a:endParaRPr lang="en-AU" sz="2400" dirty="0"/>
          </a:p>
          <a:p>
            <a:r>
              <a:rPr lang="en-AU" sz="2400" dirty="0"/>
              <a:t>Index numbers are represented using superscript notation. </a:t>
            </a:r>
          </a:p>
          <a:p>
            <a:r>
              <a:rPr lang="en-AU" sz="2400" dirty="0"/>
              <a:t>An index number cannot exist without a base number. </a:t>
            </a:r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r>
              <a:rPr lang="en-AU" sz="2400" dirty="0"/>
              <a:t>Powers indicate repeated multiplication of the same base number.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723901" y="342900"/>
            <a:ext cx="3022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1" b="1" dirty="0">
                <a:solidFill>
                  <a:srgbClr val="FF0000"/>
                </a:solidFill>
              </a:rPr>
              <a:t>Daily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25772" y="1070198"/>
            <a:ext cx="3232597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AU" sz="2400" dirty="0">
              <a:solidFill>
                <a:srgbClr val="FF0000"/>
              </a:solidFill>
            </a:endParaRPr>
          </a:p>
          <a:p>
            <a:endParaRPr lang="en-AU" sz="2400" dirty="0">
              <a:solidFill>
                <a:srgbClr val="FF0000"/>
              </a:solidFill>
            </a:endParaRPr>
          </a:p>
          <a:p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623733" y="3886948"/>
                <a:ext cx="666434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 reads 2 to the power 3 or 2 cubed.</a:t>
                </a:r>
              </a:p>
              <a:p>
                <a:r>
                  <a:rPr lang="en-AU" sz="2400" dirty="0">
                    <a:solidFill>
                      <a:srgbClr val="FF0000"/>
                    </a:solidFill>
                  </a:rPr>
                  <a:t>2 is the base number and 3 is the power, exponent, index number or </a:t>
                </a:r>
                <a:r>
                  <a:rPr lang="en-AU" sz="2400" dirty="0" err="1">
                    <a:solidFill>
                      <a:srgbClr val="FF0000"/>
                    </a:solidFill>
                  </a:rPr>
                  <a:t>indice</a:t>
                </a:r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733" y="3886948"/>
                <a:ext cx="6664341" cy="1200329"/>
              </a:xfrm>
              <a:prstGeom prst="rect">
                <a:avLst/>
              </a:prstGeom>
              <a:blipFill>
                <a:blip r:embed="rId3"/>
                <a:stretch>
                  <a:fillRect l="-1371" t="-4061" b="-10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8558369" y="4384666"/>
            <a:ext cx="1144576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ounded Rectangle 7"/>
          <p:cNvSpPr/>
          <p:nvPr/>
        </p:nvSpPr>
        <p:spPr>
          <a:xfrm>
            <a:off x="8432800" y="3035128"/>
            <a:ext cx="812800" cy="34319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ounded Rectangle 8"/>
          <p:cNvSpPr/>
          <p:nvPr/>
        </p:nvSpPr>
        <p:spPr>
          <a:xfrm>
            <a:off x="8300241" y="2748377"/>
            <a:ext cx="1402559" cy="26048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ounded Rectangle 9"/>
          <p:cNvSpPr/>
          <p:nvPr/>
        </p:nvSpPr>
        <p:spPr>
          <a:xfrm>
            <a:off x="2877473" y="1990529"/>
            <a:ext cx="1998133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ounded Rectangle 10"/>
          <p:cNvSpPr/>
          <p:nvPr/>
        </p:nvSpPr>
        <p:spPr>
          <a:xfrm>
            <a:off x="2747435" y="1617833"/>
            <a:ext cx="1998133" cy="34643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ounded Rectangle 11"/>
          <p:cNvSpPr/>
          <p:nvPr/>
        </p:nvSpPr>
        <p:spPr>
          <a:xfrm>
            <a:off x="2606540" y="1197735"/>
            <a:ext cx="1998133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ounded Rectangle 12"/>
          <p:cNvSpPr/>
          <p:nvPr/>
        </p:nvSpPr>
        <p:spPr>
          <a:xfrm>
            <a:off x="4745569" y="4369444"/>
            <a:ext cx="842432" cy="31029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ounded Rectangle 13"/>
          <p:cNvSpPr/>
          <p:nvPr/>
        </p:nvSpPr>
        <p:spPr>
          <a:xfrm>
            <a:off x="8128000" y="3955741"/>
            <a:ext cx="1998133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ounded Rectangle 14"/>
          <p:cNvSpPr/>
          <p:nvPr/>
        </p:nvSpPr>
        <p:spPr>
          <a:xfrm>
            <a:off x="6146800" y="3955741"/>
            <a:ext cx="1100667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ounded Rectangle 15"/>
          <p:cNvSpPr/>
          <p:nvPr/>
        </p:nvSpPr>
        <p:spPr>
          <a:xfrm>
            <a:off x="3327640" y="4732455"/>
            <a:ext cx="1820094" cy="35482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ounded Rectangle 16"/>
          <p:cNvSpPr/>
          <p:nvPr/>
        </p:nvSpPr>
        <p:spPr>
          <a:xfrm>
            <a:off x="6434667" y="5292913"/>
            <a:ext cx="1998133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ounded Rectangle 19"/>
          <p:cNvSpPr/>
          <p:nvPr/>
        </p:nvSpPr>
        <p:spPr>
          <a:xfrm>
            <a:off x="10288075" y="5235767"/>
            <a:ext cx="887926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9851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375" y="735337"/>
            <a:ext cx="9355847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Indices</a:t>
            </a:r>
          </a:p>
          <a:p>
            <a:pPr>
              <a:spcBef>
                <a:spcPts val="600"/>
              </a:spcBef>
            </a:pPr>
            <a:r>
              <a:rPr lang="en-AU" sz="2400" dirty="0"/>
              <a:t>Index number</a:t>
            </a:r>
          </a:p>
          <a:p>
            <a:r>
              <a:rPr lang="en-AU" sz="2400" dirty="0"/>
              <a:t>Power</a:t>
            </a:r>
          </a:p>
          <a:p>
            <a:r>
              <a:rPr lang="en-AU" sz="2400" dirty="0"/>
              <a:t>Exponent</a:t>
            </a:r>
          </a:p>
          <a:p>
            <a:endParaRPr lang="en-AU" sz="2400" dirty="0"/>
          </a:p>
          <a:p>
            <a:r>
              <a:rPr lang="en-AU" sz="2400" dirty="0"/>
              <a:t>Index numbers are represented using superscript notation. </a:t>
            </a:r>
          </a:p>
          <a:p>
            <a:r>
              <a:rPr lang="en-AU" sz="2400" dirty="0"/>
              <a:t>An index number cannot exist without a base number. </a:t>
            </a:r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r>
              <a:rPr lang="en-AU" sz="2400" dirty="0"/>
              <a:t>Powers indicate repeated multiplication of the same base number.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723901" y="342900"/>
            <a:ext cx="3022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1" b="1" dirty="0">
                <a:solidFill>
                  <a:srgbClr val="FF0000"/>
                </a:solidFill>
              </a:rPr>
              <a:t>Daily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98801" y="1197735"/>
            <a:ext cx="3232597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4 different expressions with the same meaning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623733" y="3886948"/>
                <a:ext cx="666434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 reads 2 to the power 3 or 2 cubed.</a:t>
                </a:r>
              </a:p>
              <a:p>
                <a:r>
                  <a:rPr lang="en-AU" sz="2400" dirty="0">
                    <a:solidFill>
                      <a:srgbClr val="FF0000"/>
                    </a:solidFill>
                  </a:rPr>
                  <a:t>2 is the base number and 3 is the power, exponent, index number or </a:t>
                </a:r>
                <a:r>
                  <a:rPr lang="en-AU" sz="2400" dirty="0" err="1">
                    <a:solidFill>
                      <a:srgbClr val="FF0000"/>
                    </a:solidFill>
                  </a:rPr>
                  <a:t>indice</a:t>
                </a:r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733" y="3886948"/>
                <a:ext cx="6664341" cy="1200329"/>
              </a:xfrm>
              <a:prstGeom prst="rect">
                <a:avLst/>
              </a:prstGeom>
              <a:blipFill>
                <a:blip r:embed="rId3"/>
                <a:stretch>
                  <a:fillRect l="-1371" t="-4061" b="-10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3623732" y="4750121"/>
            <a:ext cx="1540934" cy="36013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ounded Rectangle 7"/>
          <p:cNvSpPr/>
          <p:nvPr/>
        </p:nvSpPr>
        <p:spPr>
          <a:xfrm>
            <a:off x="8412171" y="3082054"/>
            <a:ext cx="846667" cy="30505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ounded Rectangle 8"/>
          <p:cNvSpPr/>
          <p:nvPr/>
        </p:nvSpPr>
        <p:spPr>
          <a:xfrm>
            <a:off x="8040710" y="2685852"/>
            <a:ext cx="1649926" cy="34922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ounded Rectangle 9"/>
          <p:cNvSpPr/>
          <p:nvPr/>
        </p:nvSpPr>
        <p:spPr>
          <a:xfrm>
            <a:off x="2624666" y="1982917"/>
            <a:ext cx="1998133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ounded Rectangle 10"/>
          <p:cNvSpPr/>
          <p:nvPr/>
        </p:nvSpPr>
        <p:spPr>
          <a:xfrm>
            <a:off x="2798229" y="1600981"/>
            <a:ext cx="1998133" cy="34643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ounded Rectangle 11"/>
          <p:cNvSpPr/>
          <p:nvPr/>
        </p:nvSpPr>
        <p:spPr>
          <a:xfrm>
            <a:off x="2790659" y="1197735"/>
            <a:ext cx="1998133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ounded Rectangle 13"/>
          <p:cNvSpPr/>
          <p:nvPr/>
        </p:nvSpPr>
        <p:spPr>
          <a:xfrm>
            <a:off x="8069808" y="3984525"/>
            <a:ext cx="1345125" cy="27188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ounded Rectangle 14"/>
          <p:cNvSpPr/>
          <p:nvPr/>
        </p:nvSpPr>
        <p:spPr>
          <a:xfrm>
            <a:off x="6165882" y="3989214"/>
            <a:ext cx="1064652" cy="29491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ounded Rectangle 15"/>
          <p:cNvSpPr/>
          <p:nvPr/>
        </p:nvSpPr>
        <p:spPr>
          <a:xfrm>
            <a:off x="4796362" y="4367013"/>
            <a:ext cx="702439" cy="30664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ounded Rectangle 16"/>
          <p:cNvSpPr/>
          <p:nvPr/>
        </p:nvSpPr>
        <p:spPr>
          <a:xfrm>
            <a:off x="8577808" y="4313523"/>
            <a:ext cx="1362060" cy="41362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ounded Rectangle 17"/>
          <p:cNvSpPr/>
          <p:nvPr/>
        </p:nvSpPr>
        <p:spPr>
          <a:xfrm>
            <a:off x="6231467" y="5308783"/>
            <a:ext cx="2210873" cy="39775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ounded Rectangle 19"/>
          <p:cNvSpPr/>
          <p:nvPr/>
        </p:nvSpPr>
        <p:spPr>
          <a:xfrm>
            <a:off x="10288074" y="5208794"/>
            <a:ext cx="870993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753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171961-8109-4AE8-AFA3-887C4C4FCAE2}"/>
              </a:ext>
            </a:extLst>
          </p:cNvPr>
          <p:cNvSpPr txBox="1"/>
          <p:nvPr/>
        </p:nvSpPr>
        <p:spPr>
          <a:xfrm>
            <a:off x="1193967" y="1386585"/>
            <a:ext cx="799011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multiplying terms with the same base, you ____ the indices. </a:t>
            </a: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0331102D-C006-49F5-8387-3AA57E744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9876" y="1862138"/>
            <a:ext cx="150393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x 2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endParaRPr kumimoji="0" lang="en-US" sz="4000" b="0" i="0" u="none" strike="noStrike" kern="1200" cap="none" spc="0" normalizeH="0" baseline="30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BBD7050C-D9C7-4780-919F-4CF16DCEE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45202" y="1897063"/>
            <a:ext cx="43954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</a:t>
            </a:r>
            <a:endParaRPr kumimoji="0" lang="en-US" sz="40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4253E2-D03E-471E-864E-3EDB47EED3CD}"/>
              </a:ext>
            </a:extLst>
          </p:cNvPr>
          <p:cNvSpPr txBox="1"/>
          <p:nvPr/>
        </p:nvSpPr>
        <p:spPr>
          <a:xfrm>
            <a:off x="1149926" y="3194103"/>
            <a:ext cx="855617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dividing terms with the same base, you ________ the indices. 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53BC34DE-9E0C-4783-8C12-596DB992B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9876" y="3434799"/>
            <a:ext cx="153599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÷</a:t>
            </a: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2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US" sz="4000" b="0" i="0" u="none" strike="noStrike" kern="1200" cap="none" spc="0" normalizeH="0" baseline="30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A5EE5278-306B-49E1-9D4F-221DEA5CD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45202" y="3469724"/>
            <a:ext cx="43954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</a:t>
            </a:r>
            <a:endParaRPr kumimoji="0" lang="en-US" sz="40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94ACD8-0D06-4E88-95A0-F553BC48AAB6}"/>
              </a:ext>
            </a:extLst>
          </p:cNvPr>
          <p:cNvSpPr txBox="1"/>
          <p:nvPr/>
        </p:nvSpPr>
        <p:spPr>
          <a:xfrm>
            <a:off x="1088572" y="4895399"/>
            <a:ext cx="82009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raising a power to another power, you multiply the powers.</a:t>
            </a: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0D329303-EFF1-430F-90F7-E6BC7EED3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9577" y="5795190"/>
            <a:ext cx="110158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(3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endParaRPr kumimoji="0" lang="en-US" sz="4000" b="0" i="0" u="none" strike="noStrike" kern="1200" cap="none" spc="0" normalizeH="0" baseline="30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37FAAFAD-0EF3-4B31-80BF-BA0FE4D65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1514" y="5830115"/>
            <a:ext cx="43954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</a:t>
            </a:r>
            <a:endParaRPr kumimoji="0" lang="en-US" sz="40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203DF326-467B-4C47-AAF1-3AAAD4F17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2078" y="5830115"/>
            <a:ext cx="43954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</a:t>
            </a:r>
            <a:endParaRPr kumimoji="0" lang="en-US" sz="40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2791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171961-8109-4AE8-AFA3-887C4C4FCAE2}"/>
              </a:ext>
            </a:extLst>
          </p:cNvPr>
          <p:cNvSpPr txBox="1"/>
          <p:nvPr/>
        </p:nvSpPr>
        <p:spPr>
          <a:xfrm>
            <a:off x="1714520" y="1358454"/>
            <a:ext cx="799011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multiplying terms with the same base, you add the indices. </a:t>
            </a: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0331102D-C006-49F5-8387-3AA57E744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9876" y="1862138"/>
            <a:ext cx="150393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x 2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endParaRPr kumimoji="0" lang="en-US" sz="4000" b="0" i="0" u="none" strike="noStrike" kern="1200" cap="none" spc="0" normalizeH="0" baseline="30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BBD7050C-D9C7-4780-919F-4CF16DCEE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45202" y="1897063"/>
            <a:ext cx="116089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2</a:t>
            </a:r>
            <a:r>
              <a:rPr kumimoji="0" lang="en-GB" sz="4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</a:t>
            </a:r>
            <a:endParaRPr kumimoji="0" lang="en-US" sz="40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4253E2-D03E-471E-864E-3EDB47EED3CD}"/>
              </a:ext>
            </a:extLst>
          </p:cNvPr>
          <p:cNvSpPr txBox="1"/>
          <p:nvPr/>
        </p:nvSpPr>
        <p:spPr>
          <a:xfrm>
            <a:off x="1407563" y="3016401"/>
            <a:ext cx="855617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dividing terms with the same base, you subtract the indices. 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53BC34DE-9E0C-4783-8C12-596DB992B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9876" y="3434799"/>
            <a:ext cx="153599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÷</a:t>
            </a: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2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US" sz="4000" b="0" i="0" u="none" strike="noStrike" kern="1200" cap="none" spc="0" normalizeH="0" baseline="30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A5EE5278-306B-49E1-9D4F-221DEA5CD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45202" y="3469724"/>
            <a:ext cx="98777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2</a:t>
            </a:r>
            <a:r>
              <a:rPr kumimoji="0" lang="en-GB" sz="4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endParaRPr kumimoji="0" lang="en-US" sz="40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94ACD8-0D06-4E88-95A0-F553BC48AAB6}"/>
              </a:ext>
            </a:extLst>
          </p:cNvPr>
          <p:cNvSpPr txBox="1"/>
          <p:nvPr/>
        </p:nvSpPr>
        <p:spPr>
          <a:xfrm>
            <a:off x="1407563" y="4960937"/>
            <a:ext cx="82009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raising a power to another power, you multiply the powers.</a:t>
            </a: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0D329303-EFF1-430F-90F7-E6BC7EED3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9577" y="5795190"/>
            <a:ext cx="110158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(3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endParaRPr kumimoji="0" lang="en-US" sz="4000" b="0" i="0" u="none" strike="noStrike" kern="1200" cap="none" spc="0" normalizeH="0" baseline="30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37FAAFAD-0EF3-4B31-80BF-BA0FE4D65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1514" y="5830115"/>
            <a:ext cx="272222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3</a:t>
            </a:r>
            <a:r>
              <a:rPr kumimoji="0" lang="en-GB" sz="4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x 3</a:t>
            </a:r>
            <a:r>
              <a:rPr kumimoji="0" lang="en-GB" sz="4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 </a:t>
            </a: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 3</a:t>
            </a:r>
            <a:r>
              <a:rPr kumimoji="0" lang="en-GB" sz="4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  <a:endParaRPr kumimoji="0" lang="en-US" sz="40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203DF326-467B-4C47-AAF1-3AAAD4F17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2078" y="5830115"/>
            <a:ext cx="116089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3</a:t>
            </a:r>
            <a:r>
              <a:rPr kumimoji="0" lang="en-GB" sz="4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</a:t>
            </a:r>
            <a:endParaRPr kumimoji="0" lang="en-US" sz="40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4D35A3-4361-4DAE-9738-09C9653D7634}"/>
              </a:ext>
            </a:extLst>
          </p:cNvPr>
          <p:cNvSpPr/>
          <p:nvPr/>
        </p:nvSpPr>
        <p:spPr>
          <a:xfrm>
            <a:off x="2487366" y="1914448"/>
            <a:ext cx="680377" cy="44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4496DA-34E3-4E20-BA02-461E9A046482}"/>
              </a:ext>
            </a:extLst>
          </p:cNvPr>
          <p:cNvSpPr/>
          <p:nvPr/>
        </p:nvSpPr>
        <p:spPr>
          <a:xfrm>
            <a:off x="1407563" y="3600478"/>
            <a:ext cx="1444494" cy="44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704CA8-0F7D-4ED9-B83C-BDC2BF7AE866}"/>
              </a:ext>
            </a:extLst>
          </p:cNvPr>
          <p:cNvSpPr/>
          <p:nvPr/>
        </p:nvSpPr>
        <p:spPr>
          <a:xfrm>
            <a:off x="1374331" y="5554493"/>
            <a:ext cx="1537940" cy="44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8446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3" grpId="0"/>
      <p:bldP spid="14" grpId="0"/>
      <p:bldP spid="2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20003" y="263154"/>
            <a:ext cx="10071997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Factors: are numbers that divide evenly into another number.</a:t>
            </a:r>
          </a:p>
          <a:p>
            <a:endParaRPr lang="en-AU" sz="2400" dirty="0"/>
          </a:p>
          <a:p>
            <a:pPr defTabSz="1009650">
              <a:spcAft>
                <a:spcPts val="600"/>
              </a:spcAft>
            </a:pPr>
            <a:r>
              <a:rPr lang="en-AU" sz="2400" dirty="0"/>
              <a:t>3 is a factor of 12: 			</a:t>
            </a:r>
          </a:p>
          <a:p>
            <a:pPr defTabSz="1009650">
              <a:spcAft>
                <a:spcPts val="600"/>
              </a:spcAft>
            </a:pPr>
            <a:r>
              <a:rPr lang="en-AU" sz="2400" dirty="0"/>
              <a:t>5 is a factor of 35:</a:t>
            </a:r>
          </a:p>
          <a:p>
            <a:pPr defTabSz="1009650">
              <a:spcAft>
                <a:spcPts val="600"/>
              </a:spcAft>
            </a:pPr>
            <a:r>
              <a:rPr lang="en-AU" sz="2400" dirty="0"/>
              <a:t>			</a:t>
            </a:r>
          </a:p>
          <a:p>
            <a:pPr defTabSz="1009650">
              <a:spcAft>
                <a:spcPts val="600"/>
              </a:spcAft>
            </a:pPr>
            <a:r>
              <a:rPr lang="en-AU" sz="2400" dirty="0"/>
              <a:t>List all the factors of 20</a:t>
            </a:r>
          </a:p>
          <a:p>
            <a:pPr defTabSz="1009650">
              <a:spcAft>
                <a:spcPts val="600"/>
              </a:spcAft>
            </a:pPr>
            <a:endParaRPr lang="en-AU" sz="2400" dirty="0"/>
          </a:p>
          <a:p>
            <a:pPr defTabSz="1009650">
              <a:spcAft>
                <a:spcPts val="600"/>
              </a:spcAft>
            </a:pPr>
            <a:r>
              <a:rPr lang="en-AU" sz="2400" dirty="0"/>
              <a:t>Prime numbers are numbers that have only 2 factors, 1 and itself.</a:t>
            </a:r>
          </a:p>
          <a:p>
            <a:pPr defTabSz="1009650">
              <a:spcAft>
                <a:spcPts val="600"/>
              </a:spcAft>
            </a:pPr>
            <a:endParaRPr lang="en-AU" sz="2400" dirty="0"/>
          </a:p>
          <a:p>
            <a:pPr defTabSz="1009650">
              <a:spcAft>
                <a:spcPts val="600"/>
              </a:spcAft>
            </a:pPr>
            <a:r>
              <a:rPr lang="en-AU" sz="2400" dirty="0"/>
              <a:t>Write 20 as a product of its factors</a:t>
            </a:r>
          </a:p>
          <a:p>
            <a:pPr defTabSz="1009650">
              <a:spcAft>
                <a:spcPts val="600"/>
              </a:spcAft>
            </a:pPr>
            <a:r>
              <a:rPr lang="en-AU" sz="2400" dirty="0"/>
              <a:t>	</a:t>
            </a:r>
          </a:p>
          <a:p>
            <a:pPr defTabSz="1009650">
              <a:spcAft>
                <a:spcPts val="600"/>
              </a:spcAft>
            </a:pPr>
            <a:r>
              <a:rPr lang="en-AU" sz="2400" dirty="0"/>
              <a:t>Write 20 as a product of its prime factors.</a:t>
            </a:r>
          </a:p>
          <a:p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112934" y="965200"/>
                <a:ext cx="2895600" cy="907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09650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12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÷3=4</m:t>
                    </m:r>
                  </m:oMath>
                </a14:m>
                <a:r>
                  <a:rPr lang="en-AU" sz="2400" dirty="0"/>
                  <a:t> </a:t>
                </a:r>
              </a:p>
              <a:p>
                <a:pPr defTabSz="1009650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35 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÷5=7</m:t>
                    </m:r>
                  </m:oMath>
                </a14:m>
                <a:r>
                  <a:rPr lang="en-AU" sz="2400" dirty="0"/>
                  <a:t>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2934" y="965200"/>
                <a:ext cx="2895600" cy="907941"/>
              </a:xfrm>
              <a:prstGeom prst="rect">
                <a:avLst/>
              </a:prstGeom>
              <a:blipFill>
                <a:blip r:embed="rId3"/>
                <a:stretch>
                  <a:fillRect l="-8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055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69701" y="270456"/>
            <a:ext cx="1880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Whiteboards: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53217" y="914400"/>
            <a:ext cx="67394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Write each of the following numbers as a product of prime factors.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753217" y="2343955"/>
                <a:ext cx="2621327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24</a:t>
                </a:r>
              </a:p>
              <a:p>
                <a:r>
                  <a:rPr lang="en-AU" sz="2400" dirty="0"/>
                  <a:t>= 6 </a:t>
                </a:r>
                <a:r>
                  <a:rPr lang="en-AU" sz="2400" dirty="0">
                    <a:solidFill>
                      <a:srgbClr val="FF0000"/>
                    </a:solidFill>
                  </a:rPr>
                  <a:t>x</a:t>
                </a:r>
                <a:r>
                  <a:rPr lang="en-AU" sz="2400" dirty="0"/>
                  <a:t> 4</a:t>
                </a:r>
              </a:p>
              <a:p>
                <a:r>
                  <a:rPr lang="en-AU" sz="2400" dirty="0"/>
                  <a:t>= 3 x 2 </a:t>
                </a:r>
                <a:r>
                  <a:rPr lang="en-AU" sz="2400" dirty="0">
                    <a:solidFill>
                      <a:srgbClr val="FF0000"/>
                    </a:solidFill>
                  </a:rPr>
                  <a:t>x</a:t>
                </a:r>
                <a:r>
                  <a:rPr lang="en-AU" sz="2400" dirty="0"/>
                  <a:t> 2 x 2</a:t>
                </a:r>
              </a:p>
              <a:p>
                <a:r>
                  <a:rPr lang="en-AU" sz="2400" dirty="0"/>
                  <a:t>= 3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sz="2400" dirty="0"/>
              </a:p>
              <a:p>
                <a:endParaRPr lang="en-AU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217" y="2343955"/>
                <a:ext cx="2621327" cy="1938992"/>
              </a:xfrm>
              <a:prstGeom prst="rect">
                <a:avLst/>
              </a:prstGeom>
              <a:blipFill>
                <a:blip r:embed="rId2"/>
                <a:stretch>
                  <a:fillRect l="-3721" t="-25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259132" y="2343955"/>
                <a:ext cx="2717443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36</a:t>
                </a:r>
              </a:p>
              <a:p>
                <a:r>
                  <a:rPr lang="en-AU" sz="2400" dirty="0"/>
                  <a:t>= 6 </a:t>
                </a:r>
                <a:r>
                  <a:rPr lang="en-AU" sz="2400" dirty="0">
                    <a:solidFill>
                      <a:srgbClr val="FF0000"/>
                    </a:solidFill>
                  </a:rPr>
                  <a:t>x</a:t>
                </a:r>
                <a:r>
                  <a:rPr lang="en-AU" sz="2400" dirty="0"/>
                  <a:t> 6</a:t>
                </a:r>
              </a:p>
              <a:p>
                <a:r>
                  <a:rPr lang="en-AU" sz="2400" dirty="0"/>
                  <a:t>= 3 x 2 </a:t>
                </a:r>
                <a:r>
                  <a:rPr lang="en-AU" sz="2400" dirty="0">
                    <a:solidFill>
                      <a:srgbClr val="FF0000"/>
                    </a:solidFill>
                  </a:rPr>
                  <a:t>x</a:t>
                </a:r>
                <a:r>
                  <a:rPr lang="en-AU" sz="2400" dirty="0"/>
                  <a:t> 3 x 2</a:t>
                </a:r>
              </a:p>
              <a:p>
                <a:r>
                  <a:rPr lang="en-AU" sz="2400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400" dirty="0"/>
                  <a:t> 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9132" y="2343955"/>
                <a:ext cx="2717443" cy="1569660"/>
              </a:xfrm>
              <a:prstGeom prst="rect">
                <a:avLst/>
              </a:prstGeom>
              <a:blipFill>
                <a:blip r:embed="rId3"/>
                <a:stretch>
                  <a:fillRect l="-3587" t="-3113" b="-81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6948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69701" y="270456"/>
            <a:ext cx="1880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Whiteboards: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53217" y="914400"/>
            <a:ext cx="67394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Write each of the following numbers as a product of prime factors.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53217" y="2343955"/>
            <a:ext cx="26213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42</a:t>
            </a:r>
          </a:p>
          <a:p>
            <a:r>
              <a:rPr lang="en-AU" sz="2400" dirty="0"/>
              <a:t>= 2 </a:t>
            </a:r>
            <a:r>
              <a:rPr lang="en-AU" sz="2400" dirty="0">
                <a:solidFill>
                  <a:srgbClr val="FF0000"/>
                </a:solidFill>
              </a:rPr>
              <a:t>x</a:t>
            </a:r>
            <a:r>
              <a:rPr lang="en-AU" sz="2400" dirty="0"/>
              <a:t> 21</a:t>
            </a:r>
          </a:p>
          <a:p>
            <a:r>
              <a:rPr lang="en-AU" sz="2400" dirty="0"/>
              <a:t>= 2 </a:t>
            </a:r>
            <a:r>
              <a:rPr lang="en-AU" sz="2400" dirty="0">
                <a:solidFill>
                  <a:srgbClr val="FF0000"/>
                </a:solidFill>
              </a:rPr>
              <a:t>x</a:t>
            </a:r>
            <a:r>
              <a:rPr lang="en-AU" sz="2400" dirty="0"/>
              <a:t> 7 x 3</a:t>
            </a:r>
          </a:p>
          <a:p>
            <a:endParaRPr lang="en-AU" sz="2400" dirty="0"/>
          </a:p>
          <a:p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259132" y="2343955"/>
                <a:ext cx="2717443" cy="2316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32</a:t>
                </a:r>
              </a:p>
              <a:p>
                <a:r>
                  <a:rPr lang="en-AU" sz="2400" dirty="0"/>
                  <a:t>= 2 </a:t>
                </a:r>
                <a:r>
                  <a:rPr lang="en-AU" sz="2400" dirty="0">
                    <a:solidFill>
                      <a:srgbClr val="FF0000"/>
                    </a:solidFill>
                  </a:rPr>
                  <a:t>x</a:t>
                </a:r>
                <a:r>
                  <a:rPr lang="en-AU" sz="2400" dirty="0"/>
                  <a:t> 16</a:t>
                </a:r>
              </a:p>
              <a:p>
                <a:r>
                  <a:rPr lang="en-AU" sz="2400" dirty="0"/>
                  <a:t>= 2 </a:t>
                </a:r>
                <a:r>
                  <a:rPr lang="en-AU" sz="2400" dirty="0">
                    <a:solidFill>
                      <a:srgbClr val="FF0000"/>
                    </a:solidFill>
                  </a:rPr>
                  <a:t>x</a:t>
                </a:r>
                <a:r>
                  <a:rPr lang="en-AU" sz="2400" dirty="0"/>
                  <a:t> 8 x 2</a:t>
                </a:r>
              </a:p>
              <a:p>
                <a:r>
                  <a:rPr lang="en-AU" sz="2400" dirty="0"/>
                  <a:t>= 2 </a:t>
                </a:r>
                <a:r>
                  <a:rPr lang="en-AU" sz="2400" dirty="0">
                    <a:solidFill>
                      <a:srgbClr val="FF0000"/>
                    </a:solidFill>
                  </a:rPr>
                  <a:t>x</a:t>
                </a:r>
                <a:r>
                  <a:rPr lang="en-AU" sz="2400" dirty="0"/>
                  <a:t> 4 x 2 x 2</a:t>
                </a:r>
              </a:p>
              <a:p>
                <a:r>
                  <a:rPr lang="en-AU" sz="2400" dirty="0"/>
                  <a:t>= 2 </a:t>
                </a:r>
                <a:r>
                  <a:rPr lang="en-AU" sz="2400" dirty="0">
                    <a:solidFill>
                      <a:srgbClr val="FF0000"/>
                    </a:solidFill>
                  </a:rPr>
                  <a:t>x</a:t>
                </a:r>
                <a:r>
                  <a:rPr lang="en-AU" sz="2400" dirty="0"/>
                  <a:t> 2 x 2 x 2 x 2</a:t>
                </a:r>
              </a:p>
              <a:p>
                <a:r>
                  <a:rPr lang="en-AU" sz="2400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9132" y="2343955"/>
                <a:ext cx="2717443" cy="2316660"/>
              </a:xfrm>
              <a:prstGeom prst="rect">
                <a:avLst/>
              </a:prstGeom>
              <a:blipFill>
                <a:blip r:embed="rId2"/>
                <a:stretch>
                  <a:fillRect l="-3587" t="-2105" b="-52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401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7290" y="757589"/>
            <a:ext cx="6954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Simplifying expressions using indices.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794716" y="1557246"/>
                <a:ext cx="5215944" cy="912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400" dirty="0">
                    <a:ea typeface="Cambria Math" panose="02040503050406030204" pitchFamily="18" charset="0"/>
                  </a:rPr>
                  <a:t> </a:t>
                </a:r>
              </a:p>
              <a:p>
                <a:r>
                  <a:rPr lang="en-AU" sz="2400" dirty="0"/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2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716" y="1557246"/>
                <a:ext cx="5215944" cy="912109"/>
              </a:xfrm>
              <a:prstGeom prst="rect">
                <a:avLst/>
              </a:prstGeom>
              <a:blipFill>
                <a:blip r:embed="rId2"/>
                <a:stretch>
                  <a:fillRect l="-1752" b="-14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570631" y="1334107"/>
                <a:ext cx="5215944" cy="1358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400" dirty="0">
                    <a:ea typeface="Cambria Math" panose="02040503050406030204" pitchFamily="18" charset="0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>
                    <a:ea typeface="Cambria Math" panose="02040503050406030204" pitchFamily="18" charset="0"/>
                  </a:rPr>
                  <a:t>= 2 x 2 x 2 </a:t>
                </a:r>
                <a:r>
                  <a:rPr lang="en-AU" sz="2400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x</a:t>
                </a:r>
                <a:r>
                  <a:rPr lang="en-AU" sz="2400" dirty="0">
                    <a:ea typeface="Cambria Math" panose="02040503050406030204" pitchFamily="18" charset="0"/>
                  </a:rPr>
                  <a:t> 2 x 2  </a:t>
                </a:r>
              </a:p>
              <a:p>
                <a:r>
                  <a:rPr lang="en-AU" sz="2400" dirty="0"/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2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631" y="1334107"/>
                <a:ext cx="5215944" cy="1358385"/>
              </a:xfrm>
              <a:prstGeom prst="rect">
                <a:avLst/>
              </a:prstGeom>
              <a:blipFill>
                <a:blip r:embed="rId3"/>
                <a:stretch>
                  <a:fillRect l="-1869" b="-94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089044" y="2236438"/>
                <a:ext cx="5615188" cy="4046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sz="2400" dirty="0"/>
                  <a:t>Simplify</a:t>
                </a:r>
              </a:p>
              <a:p>
                <a:pPr marL="457200" indent="-457200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en-AU" sz="2400" b="0" dirty="0">
                  <a:ea typeface="Cambria Math" panose="02040503050406030204" pitchFamily="18" charset="0"/>
                </a:endParaRPr>
              </a:p>
              <a:p>
                <a:pPr marL="457200" indent="-457200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AU" sz="2400" dirty="0"/>
              </a:p>
              <a:p>
                <a:pPr marL="457200" indent="-457200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sz="2400" dirty="0"/>
              </a:p>
              <a:p>
                <a:pPr marL="457200" indent="-457200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lang="en-AU" sz="2800" dirty="0"/>
              </a:p>
              <a:p>
                <a:pPr marL="457200" indent="-457200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den>
                    </m:f>
                  </m:oMath>
                </a14:m>
                <a:endParaRPr lang="en-AU" sz="2800" dirty="0"/>
              </a:p>
              <a:p>
                <a:pPr marL="457200" indent="-457200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9044" y="2236438"/>
                <a:ext cx="5615188" cy="4046557"/>
              </a:xfrm>
              <a:prstGeom prst="rect">
                <a:avLst/>
              </a:prstGeom>
              <a:blipFill>
                <a:blip r:embed="rId4"/>
                <a:stretch>
                  <a:fillRect l="-2172" t="-12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4511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5" grpId="0" build="p"/>
    </p:bld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805</TotalTime>
  <Words>534</Words>
  <Application>Microsoft Office PowerPoint</Application>
  <PresentationFormat>Widescreen</PresentationFormat>
  <Paragraphs>118</Paragraphs>
  <Slides>9</Slides>
  <Notes>4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Cambria Math</vt:lpstr>
      <vt:lpstr>Century Gothic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WALL Kevin [Busselton Senior High School]</dc:creator>
  <cp:lastModifiedBy>DAVIES Rhys [Busselton Senior High School]</cp:lastModifiedBy>
  <cp:revision>30</cp:revision>
  <cp:lastPrinted>2022-02-28T02:20:04Z</cp:lastPrinted>
  <dcterms:created xsi:type="dcterms:W3CDTF">2022-01-30T08:07:54Z</dcterms:created>
  <dcterms:modified xsi:type="dcterms:W3CDTF">2022-02-28T07:36:11Z</dcterms:modified>
</cp:coreProperties>
</file>
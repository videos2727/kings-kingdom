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78" r:id="rId2"/>
    <p:sldId id="279" r:id="rId3"/>
    <p:sldId id="280" r:id="rId4"/>
    <p:sldId id="277" r:id="rId5"/>
    <p:sldId id="281" r:id="rId6"/>
    <p:sldId id="282" r:id="rId7"/>
    <p:sldId id="283" r:id="rId8"/>
    <p:sldId id="285" r:id="rId9"/>
    <p:sldId id="286" r:id="rId10"/>
    <p:sldId id="287" r:id="rId11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4F6E3-97C5-46D9-A532-02FE330609F2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C0753-0B2E-422D-ADAB-A491182127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82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656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9312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64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45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65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723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25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342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26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33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73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113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08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7746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912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8471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343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528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7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84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8195" y="348891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07/02/2022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8202" y="2598003"/>
            <a:ext cx="83636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 to apply the 4 operations to integers.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8202" y="3882334"/>
            <a:ext cx="75041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	</a:t>
            </a:r>
          </a:p>
          <a:p>
            <a:pPr marL="984250" marR="0" lvl="3" indent="-4476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operations - integers.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Independent practice – mixed operations.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0C19A-A693-44A6-90D1-AAFCB18F82D7}"/>
              </a:ext>
            </a:extLst>
          </p:cNvPr>
          <p:cNvSpPr txBox="1"/>
          <p:nvPr/>
        </p:nvSpPr>
        <p:spPr>
          <a:xfrm>
            <a:off x="2888202" y="1469345"/>
            <a:ext cx="8363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Multiplication and division  </a:t>
            </a:r>
          </a:p>
        </p:txBody>
      </p:sp>
    </p:spTree>
    <p:extLst>
      <p:ext uri="{BB962C8B-B14F-4D97-AF65-F5344CB8AC3E}">
        <p14:creationId xmlns:p14="http://schemas.microsoft.com/office/powerpoint/2010/main" val="297455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4096" y="420130"/>
            <a:ext cx="4151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 operations with integers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2941" y="881795"/>
            <a:ext cx="417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Addition and subtraction: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5235" y="1343460"/>
            <a:ext cx="56223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Using the number line:</a:t>
            </a:r>
          </a:p>
          <a:p>
            <a:r>
              <a:rPr lang="en-AU" sz="2400" dirty="0"/>
              <a:t>Need a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	S_ _ _ _ _ _ _   _ _ _ _ t</a:t>
            </a:r>
          </a:p>
          <a:p>
            <a:pPr marL="901700" indent="-901700">
              <a:buFont typeface="Arial" panose="020B0604020202020204" pitchFamily="34" charset="0"/>
              <a:buChar char="•"/>
            </a:pPr>
            <a:r>
              <a:rPr lang="en-AU" sz="2400" dirty="0"/>
              <a:t>D _ _ _ _ _ _ _ _  and</a:t>
            </a:r>
          </a:p>
          <a:p>
            <a:pPr marL="901700" indent="-901700">
              <a:buFont typeface="Arial" panose="020B0604020202020204" pitchFamily="34" charset="0"/>
              <a:buChar char="•"/>
            </a:pPr>
            <a:r>
              <a:rPr lang="en-AU" sz="2400" dirty="0"/>
              <a:t>N _ _ _ _ _   _ _  p _ _ _ _ _</a:t>
            </a:r>
          </a:p>
          <a:p>
            <a:r>
              <a:rPr lang="en-AU" sz="2400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6632" y="3372597"/>
            <a:ext cx="2834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Consider   -4 – 6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914990" y="4359139"/>
            <a:ext cx="958341" cy="6684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5505211" y="4387254"/>
            <a:ext cx="802377" cy="12467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6257512" y="4260999"/>
            <a:ext cx="1460990" cy="4323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030489" y="4521064"/>
            <a:ext cx="3606102" cy="585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1579483" y="5305072"/>
            <a:ext cx="2814677" cy="657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5344056" y="5710587"/>
            <a:ext cx="3555764" cy="657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/>
          <p:cNvSpPr txBox="1"/>
          <p:nvPr/>
        </p:nvSpPr>
        <p:spPr>
          <a:xfrm>
            <a:off x="4584688" y="3954688"/>
            <a:ext cx="34458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dirty="0"/>
              <a:t>  </a:t>
            </a:r>
            <a:r>
              <a:rPr lang="en-AU" sz="2400" dirty="0">
                <a:solidFill>
                  <a:prstClr val="black"/>
                </a:solidFill>
              </a:rPr>
              <a:t>-4    –     6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111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4096" y="420130"/>
            <a:ext cx="4151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 operations with integers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2941" y="881795"/>
            <a:ext cx="417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Addition and subtraction: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5235" y="1343460"/>
            <a:ext cx="562232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Using the number line:</a:t>
            </a:r>
          </a:p>
          <a:p>
            <a:r>
              <a:rPr lang="en-AU" sz="2400" dirty="0"/>
              <a:t>Need a  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sz="2400" dirty="0"/>
              <a:t>	S_ _ _ _ _ _ _   _ _ _ _ t</a:t>
            </a:r>
          </a:p>
          <a:p>
            <a:pPr marL="901700" indent="-9017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sz="2400" dirty="0"/>
              <a:t>D _ _ _ _ _ _ _ _  and</a:t>
            </a:r>
          </a:p>
          <a:p>
            <a:pPr marL="901700" indent="-9017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sz="2400" dirty="0"/>
              <a:t>N _ _ _ _ _   _ _  p _ _ _ _ _</a:t>
            </a:r>
          </a:p>
          <a:p>
            <a:r>
              <a:rPr lang="en-AU" sz="2400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2739" y="3697685"/>
            <a:ext cx="2834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Consider   -4 – 6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002908" y="4521196"/>
            <a:ext cx="958341" cy="6684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5644048" y="4483124"/>
            <a:ext cx="435477" cy="8219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6422097" y="4405228"/>
            <a:ext cx="1460990" cy="4323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169325" y="4648558"/>
            <a:ext cx="3606102" cy="585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1579483" y="5305072"/>
            <a:ext cx="2814677" cy="657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5275204" y="5585076"/>
            <a:ext cx="3555764" cy="657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/>
          <p:cNvSpPr txBox="1"/>
          <p:nvPr/>
        </p:nvSpPr>
        <p:spPr>
          <a:xfrm>
            <a:off x="4723524" y="4116745"/>
            <a:ext cx="1885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dirty="0"/>
              <a:t>  </a:t>
            </a:r>
            <a:r>
              <a:rPr lang="en-AU" sz="2400" dirty="0">
                <a:solidFill>
                  <a:prstClr val="black"/>
                </a:solidFill>
              </a:rPr>
              <a:t>-4    –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4749" y="2056576"/>
            <a:ext cx="336091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9366" y="2568160"/>
            <a:ext cx="417913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Direction 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9366" y="3078836"/>
            <a:ext cx="379187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Number of places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8194" y="5403158"/>
            <a:ext cx="234471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Starting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8934" y="5692150"/>
            <a:ext cx="266862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7279" y="4710439"/>
            <a:ext cx="295019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Number of places</a:t>
            </a:r>
          </a:p>
        </p:txBody>
      </p:sp>
    </p:spTree>
    <p:extLst>
      <p:ext uri="{BB962C8B-B14F-4D97-AF65-F5344CB8AC3E}">
        <p14:creationId xmlns:p14="http://schemas.microsoft.com/office/powerpoint/2010/main" val="286383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7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65C0ED-AE82-4B6B-8B18-7930FB2FF220}"/>
              </a:ext>
            </a:extLst>
          </p:cNvPr>
          <p:cNvSpPr txBox="1"/>
          <p:nvPr/>
        </p:nvSpPr>
        <p:spPr>
          <a:xfrm>
            <a:off x="2757317" y="587822"/>
            <a:ext cx="8695944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AU" sz="2400" u="sng" dirty="0"/>
              <a:t>Double signs:</a:t>
            </a:r>
          </a:p>
          <a:p>
            <a:pPr>
              <a:spcAft>
                <a:spcPts val="800"/>
              </a:spcAft>
            </a:pPr>
            <a:r>
              <a:rPr lang="en-AU" sz="2400" dirty="0"/>
              <a:t>Adding a negative number is the same as _____________ .</a:t>
            </a:r>
          </a:p>
          <a:p>
            <a:r>
              <a:rPr lang="en-AU" sz="2400" dirty="0"/>
              <a:t>Subtracting a negative number is the same as __________.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FF50D-9D05-4583-B594-04207A459D02}"/>
              </a:ext>
            </a:extLst>
          </p:cNvPr>
          <p:cNvSpPr txBox="1"/>
          <p:nvPr/>
        </p:nvSpPr>
        <p:spPr>
          <a:xfrm>
            <a:off x="3483864" y="1957878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5 + (-6) can be written as   5 ______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43348-2777-443C-A006-FE79B3A4A07A}"/>
              </a:ext>
            </a:extLst>
          </p:cNvPr>
          <p:cNvSpPr txBox="1"/>
          <p:nvPr/>
        </p:nvSpPr>
        <p:spPr>
          <a:xfrm>
            <a:off x="3483864" y="2486678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-7– (-3) can be written as   -7 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6685" y="3067092"/>
            <a:ext cx="738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Multiplication and division: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9128" y="3709193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positive number by a negative number will always give a  ____________ result.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E91C3-D140-4761-B2B2-A2D4F1C4AC85}"/>
              </a:ext>
            </a:extLst>
          </p:cNvPr>
          <p:cNvSpPr txBox="1"/>
          <p:nvPr/>
        </p:nvSpPr>
        <p:spPr>
          <a:xfrm>
            <a:off x="2089127" y="4540190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positive number will always give a                 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9127" y="5371187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negative number will always give a ___________  result.</a:t>
            </a:r>
          </a:p>
        </p:txBody>
      </p:sp>
    </p:spTree>
    <p:extLst>
      <p:ext uri="{BB962C8B-B14F-4D97-AF65-F5344CB8AC3E}">
        <p14:creationId xmlns:p14="http://schemas.microsoft.com/office/powerpoint/2010/main" val="96125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65C0ED-AE82-4B6B-8B18-7930FB2FF220}"/>
              </a:ext>
            </a:extLst>
          </p:cNvPr>
          <p:cNvSpPr txBox="1"/>
          <p:nvPr/>
        </p:nvSpPr>
        <p:spPr>
          <a:xfrm>
            <a:off x="2757317" y="587822"/>
            <a:ext cx="8695944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AU" sz="2400" u="sng" dirty="0"/>
              <a:t>Double signs:</a:t>
            </a:r>
          </a:p>
          <a:p>
            <a:r>
              <a:rPr lang="en-AU" sz="2400" dirty="0"/>
              <a:t>Adding a negative number is the same as</a:t>
            </a:r>
          </a:p>
          <a:p>
            <a:r>
              <a:rPr lang="en-AU" sz="2400" dirty="0"/>
              <a:t>Subtracting a negative number is the same 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FF50D-9D05-4583-B594-04207A459D02}"/>
              </a:ext>
            </a:extLst>
          </p:cNvPr>
          <p:cNvSpPr txBox="1"/>
          <p:nvPr/>
        </p:nvSpPr>
        <p:spPr>
          <a:xfrm>
            <a:off x="3483864" y="1957878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5 + (-6) can be written as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43348-2777-443C-A006-FE79B3A4A07A}"/>
              </a:ext>
            </a:extLst>
          </p:cNvPr>
          <p:cNvSpPr txBox="1"/>
          <p:nvPr/>
        </p:nvSpPr>
        <p:spPr>
          <a:xfrm>
            <a:off x="3685093" y="2486678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-7– (-3) can be written as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6685" y="3067092"/>
            <a:ext cx="738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Multiplication and division: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9128" y="3709193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positive number by a negative number will always give a  ____________ result.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E91C3-D140-4761-B2B2-A2D4F1C4AC85}"/>
              </a:ext>
            </a:extLst>
          </p:cNvPr>
          <p:cNvSpPr txBox="1"/>
          <p:nvPr/>
        </p:nvSpPr>
        <p:spPr>
          <a:xfrm>
            <a:off x="2089127" y="4540190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positive number will always give a ______________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9127" y="5371187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negative number will always give a ___________  result.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79831" y="1044000"/>
            <a:ext cx="2983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subtracting.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6064" y="1404000"/>
            <a:ext cx="1652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adding.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46527" y="1927035"/>
            <a:ext cx="1212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2400">
                <a:solidFill>
                  <a:srgbClr val="FF0000"/>
                </a:solidFill>
              </a:rPr>
              <a:t>– 6 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04000" y="2481642"/>
            <a:ext cx="971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2400" dirty="0">
                <a:solidFill>
                  <a:srgbClr val="FF0000"/>
                </a:solidFill>
              </a:rPr>
              <a:t>+ 3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477923" y="4007160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negative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477922" y="4857073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negative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477922" y="5689356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positive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19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82708" y="1013702"/>
            <a:ext cx="738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Multiplication and division: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5151" y="1655803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Dividing a positive number by a negative number will always give a  ____________ result.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E91C3-D140-4761-B2B2-A2D4F1C4AC85}"/>
              </a:ext>
            </a:extLst>
          </p:cNvPr>
          <p:cNvSpPr txBox="1"/>
          <p:nvPr/>
        </p:nvSpPr>
        <p:spPr>
          <a:xfrm>
            <a:off x="2555148" y="2807642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Dividing a negative number by a positive number will always give a ______________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5149" y="3959481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Dividing a negative number by a negative number will always give a ___________  result.</a:t>
            </a:r>
          </a:p>
        </p:txBody>
      </p:sp>
    </p:spTree>
    <p:extLst>
      <p:ext uri="{BB962C8B-B14F-4D97-AF65-F5344CB8AC3E}">
        <p14:creationId xmlns:p14="http://schemas.microsoft.com/office/powerpoint/2010/main" val="269769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82708" y="1013702"/>
            <a:ext cx="738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Multiplication and division: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5151" y="1655803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Dividing a positive number by a negative number will always give a  ____________ result.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E91C3-D140-4761-B2B2-A2D4F1C4AC85}"/>
              </a:ext>
            </a:extLst>
          </p:cNvPr>
          <p:cNvSpPr txBox="1"/>
          <p:nvPr/>
        </p:nvSpPr>
        <p:spPr>
          <a:xfrm>
            <a:off x="2555150" y="2486800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positive number will always give a ______________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5150" y="3317797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negative number will always give a ___________  result.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3965377" y="1972686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negative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943945" y="2803683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negative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943945" y="3635966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positive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67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06F833-3005-4662-8EC5-03CBCEFA0191}"/>
                  </a:ext>
                </a:extLst>
              </p:cNvPr>
              <p:cNvSpPr txBox="1"/>
              <p:nvPr/>
            </p:nvSpPr>
            <p:spPr>
              <a:xfrm>
                <a:off x="2857762" y="903843"/>
                <a:ext cx="3707295" cy="5652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AU" sz="2400" dirty="0"/>
                  <a:t>Independent practice:</a:t>
                </a:r>
                <a:endParaRPr lang="en-AU" dirty="0"/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1.   </a:t>
                </a:r>
                <a:r>
                  <a:rPr lang="en-AU" sz="2400" dirty="0"/>
                  <a:t>-2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(- 3)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2.   </a:t>
                </a:r>
                <a:r>
                  <a:rPr lang="en-AU" sz="2400" dirty="0"/>
                  <a:t>-3 – (- 8)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3.  </a:t>
                </a:r>
                <a:r>
                  <a:rPr lang="en-AU" sz="2400" dirty="0"/>
                  <a:t>-3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(- 8)</a:t>
                </a:r>
              </a:p>
              <a:p>
                <a:pPr marL="457200" indent="-457200">
                  <a:spcAft>
                    <a:spcPts val="800"/>
                  </a:spcAft>
                  <a:buClr>
                    <a:srgbClr val="FF0000"/>
                  </a:buClr>
                  <a:buAutoNum type="arabicPeriod" startAt="4"/>
                </a:pPr>
                <a:r>
                  <a:rPr lang="en-AU" sz="2400" dirty="0"/>
                  <a:t>8 + (-5)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5.  </a:t>
                </a:r>
                <a:r>
                  <a:rPr lang="en-AU" sz="2400" dirty="0"/>
                  <a:t>-12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 3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6.  </a:t>
                </a:r>
                <a:r>
                  <a:rPr lang="en-AU" sz="2400" dirty="0"/>
                  <a:t>-13 – (- 8)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7.  </a:t>
                </a:r>
                <a:r>
                  <a:rPr lang="en-AU" sz="2400" dirty="0"/>
                  <a:t>-35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(- 7)</a:t>
                </a:r>
              </a:p>
              <a:p>
                <a:pPr marL="457200" indent="-457200">
                  <a:spcAft>
                    <a:spcPts val="800"/>
                  </a:spcAft>
                  <a:buClr>
                    <a:srgbClr val="FF0000"/>
                  </a:buClr>
                  <a:buAutoNum type="arabicPeriod" startAt="8"/>
                </a:pPr>
                <a:r>
                  <a:rPr lang="en-AU" sz="2400" dirty="0"/>
                  <a:t>8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(-5)</a:t>
                </a:r>
              </a:p>
              <a:p>
                <a:pPr marL="457200" indent="-457200">
                  <a:spcAft>
                    <a:spcPts val="800"/>
                  </a:spcAft>
                  <a:buClr>
                    <a:srgbClr val="FF0000"/>
                  </a:buClr>
                  <a:buAutoNum type="arabicPeriod" startAt="9"/>
                </a:pPr>
                <a:r>
                  <a:rPr lang="en-AU" sz="2400" dirty="0"/>
                  <a:t>15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(-3)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10. </a:t>
                </a:r>
                <a:r>
                  <a:rPr lang="en-AU" sz="2400" dirty="0"/>
                  <a:t>-2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(-2)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(-2)</a:t>
                </a:r>
              </a:p>
              <a:p>
                <a:pPr>
                  <a:spcAft>
                    <a:spcPts val="600"/>
                  </a:spcAft>
                  <a:buClr>
                    <a:srgbClr val="FF0000"/>
                  </a:buClr>
                </a:pPr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06F833-3005-4662-8EC5-03CBCEFA0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62" y="903843"/>
                <a:ext cx="3707295" cy="5652830"/>
              </a:xfrm>
              <a:prstGeom prst="rect">
                <a:avLst/>
              </a:prstGeom>
              <a:blipFill>
                <a:blip r:embed="rId2"/>
                <a:stretch>
                  <a:fillRect l="-2632" t="-8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06F833-3005-4662-8EC5-03CBCEFA0191}"/>
                  </a:ext>
                </a:extLst>
              </p:cNvPr>
              <p:cNvSpPr txBox="1"/>
              <p:nvPr/>
            </p:nvSpPr>
            <p:spPr>
              <a:xfrm>
                <a:off x="7165068" y="1375768"/>
                <a:ext cx="4433374" cy="5180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11.    </a:t>
                </a:r>
                <a:r>
                  <a:rPr lang="en-AU" sz="2400" dirty="0"/>
                  <a:t>-12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(-30)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12.    </a:t>
                </a:r>
                <a:r>
                  <a:rPr lang="en-AU" sz="2400" dirty="0"/>
                  <a:t>-3 – (- 8)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2 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13.   </a:t>
                </a:r>
                <a:r>
                  <a:rPr lang="en-AU" sz="2400" dirty="0"/>
                  <a:t>-3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(- 8) + 6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14.    </a:t>
                </a:r>
                <a:r>
                  <a:rPr lang="en-AU" sz="2400" dirty="0"/>
                  <a:t>8 + (-5)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5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15.   </a:t>
                </a:r>
                <a:r>
                  <a:rPr lang="en-AU" sz="2400" dirty="0"/>
                  <a:t>-12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 3 – (-3)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16.   </a:t>
                </a:r>
                <a:r>
                  <a:rPr lang="en-AU" sz="2400" dirty="0"/>
                  <a:t>13 + (- 8)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2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17.   </a:t>
                </a:r>
                <a:r>
                  <a:rPr lang="en-AU" sz="2400" dirty="0"/>
                  <a:t>-35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(- 21)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18.    </a:t>
                </a:r>
                <a:r>
                  <a:rPr lang="en-AU" sz="2400" dirty="0"/>
                  <a:t>8.1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(-5.6)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19.   </a:t>
                </a:r>
                <a:r>
                  <a:rPr lang="en-AU" sz="2400" dirty="0"/>
                  <a:t>-1551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(-3)</a:t>
                </a:r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</a:pPr>
                <a:r>
                  <a:rPr lang="en-AU" sz="2400" dirty="0">
                    <a:solidFill>
                      <a:srgbClr val="FF0000"/>
                    </a:solidFill>
                  </a:rPr>
                  <a:t>20.   </a:t>
                </a:r>
                <a:r>
                  <a:rPr lang="en-AU" sz="2400" dirty="0"/>
                  <a:t>-2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(-2) + (-2)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(-2)</a:t>
                </a:r>
              </a:p>
              <a:p>
                <a:pPr>
                  <a:spcAft>
                    <a:spcPts val="600"/>
                  </a:spcAft>
                  <a:buClr>
                    <a:srgbClr val="FF0000"/>
                  </a:buClr>
                </a:pPr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06F833-3005-4662-8EC5-03CBCEFA0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068" y="1375768"/>
                <a:ext cx="4433374" cy="5180905"/>
              </a:xfrm>
              <a:prstGeom prst="rect">
                <a:avLst/>
              </a:prstGeom>
              <a:blipFill>
                <a:blip r:embed="rId3"/>
                <a:stretch>
                  <a:fillRect l="-2060" t="-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042737" y="240632"/>
            <a:ext cx="646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Exercise books: Correct setting out.</a:t>
            </a:r>
          </a:p>
        </p:txBody>
      </p:sp>
    </p:spTree>
    <p:extLst>
      <p:ext uri="{BB962C8B-B14F-4D97-AF65-F5344CB8AC3E}">
        <p14:creationId xmlns:p14="http://schemas.microsoft.com/office/powerpoint/2010/main" val="302702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A4336-74BC-4430-AFCB-03A54169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3D82E-4D38-4F58-8678-7E380ACDA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Complete the activity sheet from Thursday.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2093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107B8-2BB7-4C98-B25C-2E2643EC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8380F7-CC34-45F1-88B1-7EF53E1A5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Aim:</a:t>
                </a:r>
              </a:p>
              <a:p>
                <a:pPr marL="342909" marR="0" lvl="0" indent="-342909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Be able to apply the 4 operations to integers.</a:t>
                </a:r>
              </a:p>
              <a:p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Write 1 tip for each operation ( +, - , x and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>
                    <a:ea typeface="Cambria Math" panose="02040503050406030204" pitchFamily="18" charset="0"/>
                  </a:rPr>
                  <a:t>) </a:t>
                </a:r>
                <a:endParaRPr lang="en-US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8380F7-CC34-45F1-88B1-7EF53E1A5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8" t="-2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55241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</TotalTime>
  <Words>694</Words>
  <Application>Microsoft Office PowerPoint</Application>
  <PresentationFormat>Widescreen</PresentationFormat>
  <Paragraphs>108</Paragraphs>
  <Slides>10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 practice 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18</cp:revision>
  <cp:lastPrinted>2022-02-07T00:30:46Z</cp:lastPrinted>
  <dcterms:created xsi:type="dcterms:W3CDTF">2022-02-01T14:04:58Z</dcterms:created>
  <dcterms:modified xsi:type="dcterms:W3CDTF">2022-02-07T05:52:27Z</dcterms:modified>
</cp:coreProperties>
</file>
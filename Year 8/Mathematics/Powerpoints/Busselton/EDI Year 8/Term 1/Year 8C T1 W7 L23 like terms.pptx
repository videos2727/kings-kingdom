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93" r:id="rId2"/>
    <p:sldId id="303" r:id="rId3"/>
    <p:sldId id="304" r:id="rId4"/>
    <p:sldId id="299" r:id="rId5"/>
    <p:sldId id="305" r:id="rId6"/>
    <p:sldId id="308" r:id="rId7"/>
    <p:sldId id="309" r:id="rId8"/>
    <p:sldId id="306" r:id="rId9"/>
    <p:sldId id="310" r:id="rId10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2E2"/>
    <a:srgbClr val="ECF1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36F99B-1B3D-43A6-9821-04F3D79B9194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10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677B09-D6A7-4EAC-A5D0-717D82F0B4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6106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 worksheet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677B09-D6A7-4EAC-A5D0-717D82F0B45E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5243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8173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0487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9160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728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1442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3975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6237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2630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6368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6046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68799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8129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84270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07951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61496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4137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1738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428043" y="367745"/>
            <a:ext cx="3022601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1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16/03/2022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78830" y="1941826"/>
            <a:ext cx="82049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Aims: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Be able</a:t>
            </a:r>
            <a:r>
              <a:rPr kumimoji="0" lang="en-AU" sz="2400" b="1" i="0" u="none" strike="noStrike" kern="12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to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AU" sz="2400" b="1" i="0" u="none" strike="noStrike" kern="12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add and subtract ‘like’ terms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.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AU" sz="2400" b="1" dirty="0">
                <a:solidFill>
                  <a:srgbClr val="00B0F0"/>
                </a:solidFill>
                <a:latin typeface="Century Gothic" panose="020B0502020202020204"/>
              </a:rPr>
              <a:t>Use the DPM/A to expand bracketed terms</a:t>
            </a:r>
            <a:r>
              <a:rPr lang="en-AU" sz="2400" dirty="0">
                <a:solidFill>
                  <a:prstClr val="black"/>
                </a:solidFill>
                <a:latin typeface="Century Gothic" panose="020B0502020202020204"/>
              </a:rPr>
              <a:t>.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88922" y="3946678"/>
            <a:ext cx="85486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Plan: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Daily review: </a:t>
            </a:r>
          </a:p>
          <a:p>
            <a:pPr marL="901700" marR="0" lvl="0" indent="-5429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2400" b="1" dirty="0">
                <a:solidFill>
                  <a:srgbClr val="00B0F0"/>
                </a:solidFill>
                <a:latin typeface="Century Gothic" panose="020B0502020202020204"/>
              </a:rPr>
              <a:t>Directed number.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895350" marR="0" lvl="0" indent="-5381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Number rules revisited.</a:t>
            </a:r>
          </a:p>
          <a:p>
            <a:pPr marL="357188" marR="0" lvl="0" indent="-35718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2400" b="1" dirty="0">
                <a:solidFill>
                  <a:srgbClr val="00B0F0"/>
                </a:solidFill>
                <a:latin typeface="Century Gothic" panose="020B0502020202020204"/>
              </a:rPr>
              <a:t>Simplify expressions.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C6D567-E8C1-4EB9-B9A9-61D14CD8CE31}"/>
              </a:ext>
            </a:extLst>
          </p:cNvPr>
          <p:cNvSpPr txBox="1"/>
          <p:nvPr/>
        </p:nvSpPr>
        <p:spPr>
          <a:xfrm>
            <a:off x="4245709" y="1110829"/>
            <a:ext cx="82049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Title: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Intro to Algebra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0D99E2-D9BE-44EE-ABC0-45DDCB2BC35C}"/>
              </a:ext>
            </a:extLst>
          </p:cNvPr>
          <p:cNvSpPr txBox="1"/>
          <p:nvPr/>
        </p:nvSpPr>
        <p:spPr>
          <a:xfrm>
            <a:off x="8606672" y="4920792"/>
            <a:ext cx="25546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whiteboards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39991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8411" y="185351"/>
            <a:ext cx="4250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Daily review – Directed number.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118555" y="712249"/>
                <a:ext cx="10073445" cy="4770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Rewrite the following expressions, only simplifying the double signs.</a:t>
                </a:r>
              </a:p>
              <a:p>
                <a:endParaRPr lang="en-AU" sz="2400" dirty="0"/>
              </a:p>
              <a:p>
                <a:pPr marL="630238" indent="-630238" defTabSz="693738">
                  <a:spcAft>
                    <a:spcPts val="600"/>
                  </a:spcAft>
                  <a:buClr>
                    <a:srgbClr val="FF0000"/>
                  </a:buClr>
                  <a:buAutoNum type="arabicPeriod"/>
                </a:pPr>
                <a:r>
                  <a:rPr lang="en-AU" sz="2400" dirty="0"/>
                  <a:t>3 – (-2)	= 3 + 2</a:t>
                </a:r>
              </a:p>
              <a:p>
                <a:pPr marL="630238" indent="-630238" defTabSz="693738">
                  <a:spcAft>
                    <a:spcPts val="600"/>
                  </a:spcAft>
                  <a:buClr>
                    <a:srgbClr val="FF0000"/>
                  </a:buClr>
                  <a:buAutoNum type="arabicPeriod"/>
                </a:pPr>
                <a:r>
                  <a:rPr lang="en-AU" sz="2400" dirty="0"/>
                  <a:t>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/>
                  <a:t> – (-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sz="2400" dirty="0"/>
                  <a:t>) 	=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/>
                  <a:t> +</a:t>
                </a:r>
                <a14:m>
                  <m:oMath xmlns:m="http://schemas.openxmlformats.org/officeDocument/2006/math">
                    <m:r>
                      <a:rPr lang="en-AU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AU" sz="2400" dirty="0"/>
              </a:p>
              <a:p>
                <a:pPr marL="630238" indent="-630238" defTabSz="693738">
                  <a:spcAft>
                    <a:spcPts val="600"/>
                  </a:spcAft>
                  <a:buClr>
                    <a:srgbClr val="FF0000"/>
                  </a:buClr>
                  <a:buAutoNum type="arabicPeriod"/>
                </a:pPr>
                <a:r>
                  <a:rPr lang="en-AU" sz="2400" dirty="0"/>
                  <a:t>5 + (-4)	= 5 – 4 </a:t>
                </a:r>
              </a:p>
              <a:p>
                <a:pPr marL="630238" indent="-630238" defTabSz="693738">
                  <a:spcAft>
                    <a:spcPts val="600"/>
                  </a:spcAft>
                  <a:buClr>
                    <a:srgbClr val="FF0000"/>
                  </a:buClr>
                  <a:buFontTx/>
                  <a:buAutoNum type="arabicPeriod"/>
                </a:pPr>
                <a:r>
                  <a:rPr lang="en-AU" sz="2400" dirty="0"/>
                  <a:t>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/>
                  <a:t> + (-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sz="2400" dirty="0"/>
                  <a:t>) 	=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/>
                  <a:t> –</a:t>
                </a:r>
                <a14:m>
                  <m:oMath xmlns:m="http://schemas.openxmlformats.org/officeDocument/2006/math">
                    <m:r>
                      <a:rPr lang="en-AU" sz="24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AU" sz="2400" dirty="0"/>
              </a:p>
              <a:p>
                <a:pPr marL="630238" indent="-630238" defTabSz="693738">
                  <a:spcAft>
                    <a:spcPts val="600"/>
                  </a:spcAft>
                  <a:buClr>
                    <a:srgbClr val="FF0000"/>
                  </a:buClr>
                  <a:buAutoNum type="arabicPeriod"/>
                </a:pPr>
                <a:r>
                  <a:rPr lang="en-AU" sz="2400" dirty="0"/>
                  <a:t>-4 – (-5) 	= -4 + 5</a:t>
                </a:r>
              </a:p>
              <a:p>
                <a:pPr marL="630238" indent="-630238" defTabSz="693738">
                  <a:spcAft>
                    <a:spcPts val="600"/>
                  </a:spcAft>
                  <a:buClr>
                    <a:srgbClr val="FF0000"/>
                  </a:buClr>
                  <a:buFontTx/>
                  <a:buAutoNum type="arabicPeriod"/>
                </a:pPr>
                <a:r>
                  <a:rPr lang="en-AU" sz="2400" dirty="0"/>
                  <a:t> </a:t>
                </a:r>
                <a14:m>
                  <m:oMath xmlns:m="http://schemas.openxmlformats.org/officeDocument/2006/math">
                    <m:r>
                      <a:rPr lang="en-AU" sz="2400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/>
                  <a:t> – (-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sz="2400" dirty="0"/>
                  <a:t>) 	= -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/>
                  <a:t> +</a:t>
                </a:r>
                <a14:m>
                  <m:oMath xmlns:m="http://schemas.openxmlformats.org/officeDocument/2006/math">
                    <m:r>
                      <a:rPr lang="en-AU" sz="24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AU" sz="2400" dirty="0"/>
              </a:p>
              <a:p>
                <a:pPr marL="630238" indent="-630238" defTabSz="693738">
                  <a:spcAft>
                    <a:spcPts val="600"/>
                  </a:spcAft>
                  <a:buClr>
                    <a:srgbClr val="FF0000"/>
                  </a:buClr>
                  <a:buFontTx/>
                  <a:buAutoNum type="arabicPeriod"/>
                </a:pPr>
                <a:r>
                  <a:rPr lang="en-AU" sz="2400" dirty="0"/>
                  <a:t>-6 + (-2)	= -6 – 2 </a:t>
                </a:r>
              </a:p>
              <a:p>
                <a:pPr marL="630238" indent="-630238" defTabSz="693738">
                  <a:spcAft>
                    <a:spcPts val="600"/>
                  </a:spcAft>
                  <a:buClr>
                    <a:srgbClr val="FF0000"/>
                  </a:buClr>
                  <a:buFontTx/>
                  <a:buAutoNum type="arabicPeriod"/>
                </a:pPr>
                <a:r>
                  <a:rPr lang="en-AU" sz="2400" dirty="0"/>
                  <a:t>-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/>
                  <a:t> + (-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sz="2400" dirty="0"/>
                  <a:t>) 	= -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/>
                  <a:t> –</a:t>
                </a:r>
                <a14:m>
                  <m:oMath xmlns:m="http://schemas.openxmlformats.org/officeDocument/2006/math">
                    <m:r>
                      <a:rPr lang="en-AU" sz="24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AU" sz="2400" dirty="0"/>
              </a:p>
              <a:p>
                <a:pPr defTabSz="896938"/>
                <a:r>
                  <a:rPr lang="en-AU" sz="2400" dirty="0"/>
                  <a:t>	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8555" y="712249"/>
                <a:ext cx="10073445" cy="4770537"/>
              </a:xfrm>
              <a:prstGeom prst="rect">
                <a:avLst/>
              </a:prstGeom>
              <a:blipFill>
                <a:blip r:embed="rId2"/>
                <a:stretch>
                  <a:fillRect l="-969" t="-102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/>
          <p:cNvSpPr/>
          <p:nvPr/>
        </p:nvSpPr>
        <p:spPr>
          <a:xfrm>
            <a:off x="4519981" y="1504249"/>
            <a:ext cx="1339320" cy="323166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486687" y="2017164"/>
            <a:ext cx="1339320" cy="33739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19981" y="2426676"/>
            <a:ext cx="1023793" cy="300522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3A94A9AE-5623-4A03-BA67-0567765D2934}"/>
              </a:ext>
            </a:extLst>
          </p:cNvPr>
          <p:cNvSpPr/>
          <p:nvPr/>
        </p:nvSpPr>
        <p:spPr>
          <a:xfrm>
            <a:off x="4529762" y="3797297"/>
            <a:ext cx="2261405" cy="32595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9000F62F-0494-4F7D-AD00-C9D83D2A951F}"/>
              </a:ext>
            </a:extLst>
          </p:cNvPr>
          <p:cNvSpPr/>
          <p:nvPr/>
        </p:nvSpPr>
        <p:spPr>
          <a:xfrm>
            <a:off x="4529762" y="4209658"/>
            <a:ext cx="2261405" cy="32595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543E2F1-2DD6-4B6F-8A2B-CF19869708F4}"/>
              </a:ext>
            </a:extLst>
          </p:cNvPr>
          <p:cNvSpPr/>
          <p:nvPr/>
        </p:nvSpPr>
        <p:spPr>
          <a:xfrm>
            <a:off x="4529762" y="3297298"/>
            <a:ext cx="2261405" cy="359314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29763" y="2873749"/>
            <a:ext cx="2414705" cy="353448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9C1E84C6-4688-4D22-92C8-FB8C92C88312}"/>
              </a:ext>
            </a:extLst>
          </p:cNvPr>
          <p:cNvSpPr/>
          <p:nvPr/>
        </p:nvSpPr>
        <p:spPr>
          <a:xfrm>
            <a:off x="4519981" y="4658722"/>
            <a:ext cx="2355615" cy="32595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19135" y="248828"/>
            <a:ext cx="6570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Same signs add – different signs subtract</a:t>
            </a:r>
          </a:p>
        </p:txBody>
      </p:sp>
    </p:spTree>
    <p:extLst>
      <p:ext uri="{BB962C8B-B14F-4D97-AF65-F5344CB8AC3E}">
        <p14:creationId xmlns:p14="http://schemas.microsoft.com/office/powerpoint/2010/main" val="3137528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6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8411" y="185351"/>
            <a:ext cx="4250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Daily review – Number rules.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287793" y="691979"/>
                <a:ext cx="8305259" cy="5663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Simplify (do not evaluate) the following expressions.</a:t>
                </a:r>
              </a:p>
              <a:p>
                <a:endParaRPr lang="en-AU" sz="2400" dirty="0"/>
              </a:p>
              <a:p>
                <a:pPr marL="630238" indent="-630238" defTabSz="693738">
                  <a:spcAft>
                    <a:spcPts val="600"/>
                  </a:spcAft>
                  <a:buClr>
                    <a:srgbClr val="FF0000"/>
                  </a:buClr>
                  <a:buAutoNum type="arabicPeriod"/>
                </a:pPr>
                <a:r>
                  <a:rPr lang="en-AU" sz="2400" dirty="0"/>
                  <a:t>3 + 3 + 3 + 3 + 3 	= 5 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dirty="0"/>
                  <a:t>3</a:t>
                </a:r>
              </a:p>
              <a:p>
                <a:pPr marL="630238" indent="-630238" defTabSz="693738">
                  <a:spcAft>
                    <a:spcPts val="600"/>
                  </a:spcAft>
                  <a:buClr>
                    <a:srgbClr val="FF0000"/>
                  </a:buClr>
                  <a:buAutoNum type="arabicPeriod"/>
                </a:pPr>
                <a:r>
                  <a:rPr lang="en-AU" sz="2400" dirty="0"/>
                  <a:t>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/>
                  <a:t> +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/>
                  <a:t> +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/>
                  <a:t> +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/>
                  <a:t> +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/>
                  <a:t> 	= 5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/>
                  <a:t> = 5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400" dirty="0"/>
              </a:p>
              <a:p>
                <a:pPr marL="630238" indent="-630238" defTabSz="693738">
                  <a:spcAft>
                    <a:spcPts val="600"/>
                  </a:spcAft>
                  <a:buClr>
                    <a:srgbClr val="FF0000"/>
                  </a:buClr>
                  <a:buFontTx/>
                  <a:buAutoNum type="arabicPeriod"/>
                </a:pPr>
                <a:r>
                  <a:rPr lang="en-AU" sz="2400" dirty="0"/>
                  <a:t>5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AU" sz="2400" dirty="0"/>
                  <a:t>3 + 4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AU" sz="2400" dirty="0"/>
                  <a:t>3		= 9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AU" sz="2400" dirty="0"/>
                  <a:t>3</a:t>
                </a:r>
              </a:p>
              <a:p>
                <a:pPr marL="630238" indent="-630238" defTabSz="693738">
                  <a:spcAft>
                    <a:spcPts val="600"/>
                  </a:spcAft>
                  <a:buClr>
                    <a:srgbClr val="FF0000"/>
                  </a:buClr>
                  <a:buFontTx/>
                  <a:buAutoNum type="arabicPeriod"/>
                </a:pPr>
                <a:r>
                  <a:rPr lang="en-AU" sz="2400" dirty="0"/>
                  <a:t>	5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/>
                  <a:t> + 4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/>
                  <a:t>			= 9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400" dirty="0"/>
              </a:p>
              <a:p>
                <a:pPr marL="630238" indent="-630238" defTabSz="693738">
                  <a:spcAft>
                    <a:spcPts val="600"/>
                  </a:spcAft>
                  <a:buClr>
                    <a:srgbClr val="FF0000"/>
                  </a:buClr>
                  <a:buFontTx/>
                  <a:buAutoNum type="arabicPeriod"/>
                </a:pPr>
                <a:r>
                  <a:rPr lang="en-AU" sz="2400" dirty="0"/>
                  <a:t>3p + 5p + 3g + 4g	= 8p + 7g</a:t>
                </a:r>
              </a:p>
              <a:p>
                <a:pPr marL="630238" indent="-630238" defTabSz="693738">
                  <a:spcAft>
                    <a:spcPts val="600"/>
                  </a:spcAft>
                  <a:buClr>
                    <a:srgbClr val="FF0000"/>
                  </a:buClr>
                  <a:buFontTx/>
                  <a:buAutoNum type="arabicPeriod"/>
                </a:pPr>
                <a:r>
                  <a:rPr lang="en-AU" sz="2400" dirty="0"/>
                  <a:t>5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sz="2400" dirty="0"/>
                  <a:t> + 2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/>
                  <a:t> – 6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sz="2400" dirty="0"/>
                  <a:t> + 4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/>
                  <a:t>	= 6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/>
                  <a:t> –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sz="2400" dirty="0"/>
                  <a:t> </a:t>
                </a:r>
              </a:p>
              <a:p>
                <a:pPr marL="630238" indent="-630238" defTabSz="693738">
                  <a:spcAft>
                    <a:spcPts val="600"/>
                  </a:spcAft>
                  <a:buClr>
                    <a:srgbClr val="FF0000"/>
                  </a:buClr>
                  <a:buFontTx/>
                  <a:buAutoNum type="arabicPeriod"/>
                </a:pPr>
                <a:r>
                  <a:rPr lang="en-AU" sz="2400" dirty="0"/>
                  <a:t>3ab + 5ab		= 8ab</a:t>
                </a:r>
              </a:p>
              <a:p>
                <a:pPr marL="630238" indent="-630238" defTabSz="693738">
                  <a:spcAft>
                    <a:spcPts val="600"/>
                  </a:spcAft>
                  <a:buClr>
                    <a:srgbClr val="FF0000"/>
                  </a:buClr>
                  <a:buFontTx/>
                  <a:buAutoNum type="arabicPeriod"/>
                </a:pPr>
                <a:r>
                  <a:rPr lang="en-AU" sz="2400" dirty="0"/>
                  <a:t>2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r>
                  <a:rPr lang="en-AU" sz="2400" dirty="0"/>
                  <a:t> + 3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/>
                  <a:t> + 4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r>
                  <a:rPr lang="en-AU" sz="2400" dirty="0"/>
                  <a:t> + 2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/>
                  <a:t>	= 6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r>
                  <a:rPr lang="en-AU" sz="2400" dirty="0"/>
                  <a:t> + 5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400" dirty="0"/>
              </a:p>
              <a:p>
                <a:pPr marL="630238" indent="-630238" defTabSz="693738">
                  <a:spcAft>
                    <a:spcPts val="600"/>
                  </a:spcAft>
                  <a:buClr>
                    <a:srgbClr val="FF0000"/>
                  </a:buClr>
                  <a:buFontTx/>
                  <a:buAutoNum type="arabicPeriod"/>
                </a:pPr>
                <a:r>
                  <a:rPr lang="en-AU" sz="2400" dirty="0"/>
                  <a:t>2f – (-4f) + 5f + (-3f)	= 8f</a:t>
                </a:r>
              </a:p>
              <a:p>
                <a:pPr marL="630238" indent="-630238" defTabSz="693738">
                  <a:spcAft>
                    <a:spcPts val="600"/>
                  </a:spcAft>
                  <a:buClr>
                    <a:srgbClr val="FF0000"/>
                  </a:buClr>
                  <a:buFontTx/>
                  <a:buAutoNum type="arabicPeriod"/>
                </a:pPr>
                <a:r>
                  <a:rPr lang="en-AU" sz="2400" dirty="0"/>
                  <a:t>3x – 2y + 5y – 6x 	=  -3x + 3y</a:t>
                </a:r>
              </a:p>
              <a:p>
                <a:pPr defTabSz="693738">
                  <a:spcAft>
                    <a:spcPts val="600"/>
                  </a:spcAft>
                  <a:buClr>
                    <a:srgbClr val="FF0000"/>
                  </a:buClr>
                </a:pPr>
                <a:endParaRPr lang="en-AU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7793" y="691979"/>
                <a:ext cx="8305259" cy="5663089"/>
              </a:xfrm>
              <a:prstGeom prst="rect">
                <a:avLst/>
              </a:prstGeom>
              <a:blipFill>
                <a:blip r:embed="rId2"/>
                <a:stretch>
                  <a:fillRect l="-1101" t="-86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/>
          <p:cNvSpPr/>
          <p:nvPr/>
        </p:nvSpPr>
        <p:spPr>
          <a:xfrm>
            <a:off x="8066633" y="1515732"/>
            <a:ext cx="1098304" cy="323166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111995" y="1944406"/>
            <a:ext cx="1637485" cy="33739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101163" y="2423491"/>
            <a:ext cx="1167929" cy="300522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3A94A9AE-5623-4A03-BA67-0567765D2934}"/>
              </a:ext>
            </a:extLst>
          </p:cNvPr>
          <p:cNvSpPr/>
          <p:nvPr/>
        </p:nvSpPr>
        <p:spPr>
          <a:xfrm>
            <a:off x="8101163" y="3741587"/>
            <a:ext cx="1854456" cy="32595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9000F62F-0494-4F7D-AD00-C9D83D2A951F}"/>
              </a:ext>
            </a:extLst>
          </p:cNvPr>
          <p:cNvSpPr/>
          <p:nvPr/>
        </p:nvSpPr>
        <p:spPr>
          <a:xfrm>
            <a:off x="8092650" y="4164811"/>
            <a:ext cx="1854456" cy="32595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543E2F1-2DD6-4B6F-8A2B-CF19869708F4}"/>
              </a:ext>
            </a:extLst>
          </p:cNvPr>
          <p:cNvSpPr/>
          <p:nvPr/>
        </p:nvSpPr>
        <p:spPr>
          <a:xfrm>
            <a:off x="8101163" y="3298689"/>
            <a:ext cx="1854456" cy="32595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111995" y="2821287"/>
            <a:ext cx="1980169" cy="353448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9C1E84C6-4688-4D22-92C8-FB8C92C88312}"/>
              </a:ext>
            </a:extLst>
          </p:cNvPr>
          <p:cNvSpPr/>
          <p:nvPr/>
        </p:nvSpPr>
        <p:spPr>
          <a:xfrm>
            <a:off x="8089832" y="4634389"/>
            <a:ext cx="1931713" cy="32595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111995" y="5049822"/>
            <a:ext cx="1854456" cy="34109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67089" y="5510974"/>
            <a:ext cx="1854456" cy="34109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9304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0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559267" y="606009"/>
                <a:ext cx="9227127" cy="50310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457200">
                  <a:spcAft>
                    <a:spcPts val="800"/>
                  </a:spcAft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The Distributive Property of Multiplication over Addition.</a:t>
                </a:r>
              </a:p>
              <a:p>
                <a:pPr lvl="0" defTabSz="457200">
                  <a:spcAft>
                    <a:spcPts val="800"/>
                  </a:spcAft>
                  <a:defRPr/>
                </a:pPr>
                <a:r>
                  <a:rPr lang="en-AU" b="1" dirty="0">
                    <a:solidFill>
                      <a:srgbClr val="FF0000"/>
                    </a:solidFill>
                  </a:rPr>
                  <a:t>The term outside the brackets multiplies to EVERY term inside the brackets.</a:t>
                </a:r>
              </a:p>
              <a:p>
                <a:pPr lvl="0" defTabSz="457200">
                  <a:spcAft>
                    <a:spcPts val="800"/>
                  </a:spcAft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Expand the following 													    1.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ctrlP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AU" sz="2400" b="0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			</a:t>
                </a:r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= 12 + 3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400" b="0" dirty="0">
                  <a:solidFill>
                    <a:prstClr val="black"/>
                  </a:solidFill>
                  <a:ea typeface="Cambria Math" panose="02040503050406030204" pitchFamily="18" charset="0"/>
                </a:endParaRPr>
              </a:p>
              <a:p>
                <a:pPr marL="457200" lvl="0" indent="-457200" defTabSz="457200">
                  <a:spcAft>
                    <a:spcPts val="800"/>
                  </a:spcAft>
                  <a:buAutoNum type="arabicPeriod" startAt="2"/>
                  <a:defRPr/>
                </a:pPr>
                <a:r>
                  <a:rPr lang="en-AU" sz="2400" dirty="0"/>
                  <a:t>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ctrlPr>
                          <a:rPr lang="en-AU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</m:oMath>
                </a14:m>
                <a:r>
                  <a:rPr lang="en-AU" sz="2400" b="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			= 4</a:t>
                </a:r>
                <a14:m>
                  <m:oMath xmlns:m="http://schemas.openxmlformats.org/officeDocument/2006/math"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sz="2400" b="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+ 8	</a:t>
                </a:r>
              </a:p>
              <a:p>
                <a:pPr marL="457200" lvl="0" indent="-457200" defTabSz="457200">
                  <a:spcAft>
                    <a:spcPts val="800"/>
                  </a:spcAft>
                  <a:buAutoNum type="arabicPeriod" startAt="2"/>
                  <a:defRPr/>
                </a:pPr>
                <a:r>
                  <a:rPr lang="en-AU" sz="2400" dirty="0"/>
                  <a:t>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AU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+10</m:t>
                        </m:r>
                      </m:e>
                    </m:d>
                  </m:oMath>
                </a14:m>
                <a:r>
                  <a:rPr lang="en-AU" sz="2400" b="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		= 2</a:t>
                </a:r>
                <a14:m>
                  <m:oMath xmlns:m="http://schemas.openxmlformats.org/officeDocument/2006/math"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sz="2400" b="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+ 20</a:t>
                </a:r>
              </a:p>
              <a:p>
                <a:pPr marL="457200" indent="-457200" defTabSz="457200">
                  <a:spcAft>
                    <a:spcPts val="800"/>
                  </a:spcAft>
                  <a:buFontTx/>
                  <a:buAutoNum type="arabicPeriod" startAt="2"/>
                  <a:defRPr/>
                </a:pPr>
                <a:r>
                  <a:rPr lang="en-AU" sz="2400" dirty="0"/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3(6−2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)	</m:t>
                    </m:r>
                  </m:oMath>
                </a14:m>
                <a:r>
                  <a:rPr lang="en-AU" sz="2400" dirty="0"/>
                  <a:t>		= 18 – 6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AU" sz="2400" dirty="0"/>
              </a:p>
              <a:p>
                <a:pPr marL="457200" indent="-457200" defTabSz="457200">
                  <a:spcAft>
                    <a:spcPts val="800"/>
                  </a:spcAft>
                  <a:buFontTx/>
                  <a:buAutoNum type="arabicPeriod" startAt="2"/>
                  <a:defRPr/>
                </a:pPr>
                <a:r>
                  <a:rPr lang="en-AU" sz="2400" dirty="0"/>
                  <a:t>2(2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/>
                  <a:t> + 4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sz="2400" dirty="0"/>
                  <a:t> + 5)	= 4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/>
                  <a:t> + 8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sz="2400" dirty="0"/>
                  <a:t> +10</a:t>
                </a:r>
              </a:p>
              <a:p>
                <a:pPr marL="457200" indent="-457200" defTabSz="457200">
                  <a:spcAft>
                    <a:spcPts val="800"/>
                  </a:spcAft>
                  <a:buFontTx/>
                  <a:buAutoNum type="arabicPeriod" startAt="2"/>
                  <a:defRPr/>
                </a:pPr>
                <a:r>
                  <a:rPr lang="en-AU" sz="2400" dirty="0"/>
                  <a:t>(3 – 4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AU" sz="2400" dirty="0"/>
                  <a:t> + 5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AU" sz="2400" dirty="0"/>
                  <a:t>)2	= 6 – 8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AU" sz="2400" dirty="0"/>
                  <a:t> + 10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	</m:t>
                    </m:r>
                  </m:oMath>
                </a14:m>
                <a:endParaRPr lang="en-AU" sz="2400" dirty="0"/>
              </a:p>
              <a:p>
                <a:pPr marL="457200" indent="-457200" defTabSz="457200">
                  <a:spcAft>
                    <a:spcPts val="800"/>
                  </a:spcAft>
                  <a:buFontTx/>
                  <a:buAutoNum type="arabicPeriod" startAt="2"/>
                  <a:defRPr/>
                </a:pPr>
                <a:r>
                  <a:rPr lang="en-AU" sz="2400" dirty="0"/>
                  <a:t>-3(2 – 5h + 3p)	= -6 + 15h – 9p</a:t>
                </a:r>
              </a:p>
              <a:p>
                <a:pPr lvl="0" defTabSz="457200">
                  <a:spcAft>
                    <a:spcPts val="800"/>
                  </a:spcAft>
                  <a:defRPr/>
                </a:pPr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en-AU" sz="2400" dirty="0">
                    <a:solidFill>
                      <a:prstClr val="black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267" y="606009"/>
                <a:ext cx="9227127" cy="5031057"/>
              </a:xfrm>
              <a:prstGeom prst="rect">
                <a:avLst/>
              </a:prstGeom>
              <a:blipFill>
                <a:blip r:embed="rId3"/>
                <a:stretch>
                  <a:fillRect l="-1058" t="-9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5633023" y="3746124"/>
            <a:ext cx="1876927" cy="39129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33023" y="3290117"/>
            <a:ext cx="1598121" cy="3507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633023" y="2821104"/>
            <a:ext cx="1598121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633023" y="2365097"/>
            <a:ext cx="1930651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5871" y="4272867"/>
            <a:ext cx="1659348" cy="39129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633022" y="1921016"/>
            <a:ext cx="1876927" cy="35781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25219" y="65490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</p:txBody>
      </p:sp>
      <p:sp>
        <p:nvSpPr>
          <p:cNvPr id="15" name="Rounded Rectangle 14"/>
          <p:cNvSpPr/>
          <p:nvPr/>
        </p:nvSpPr>
        <p:spPr>
          <a:xfrm>
            <a:off x="5665870" y="4725051"/>
            <a:ext cx="1897803" cy="39129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583076" y="1108640"/>
            <a:ext cx="877713" cy="30003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325220" y="1063007"/>
            <a:ext cx="719030" cy="39129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54141" y="1144278"/>
            <a:ext cx="699924" cy="26439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38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 animBg="1"/>
      <p:bldP spid="9" grpId="0" animBg="1"/>
      <p:bldP spid="12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13005" y="815546"/>
            <a:ext cx="8810368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Whiteboards </a:t>
            </a:r>
          </a:p>
          <a:p>
            <a:endParaRPr lang="en-AU" sz="4000" dirty="0"/>
          </a:p>
          <a:p>
            <a:pPr marL="342900" indent="-342900">
              <a:buAutoNum type="alphaLcParenR"/>
            </a:pPr>
            <a:r>
              <a:rPr lang="en-AU" sz="4000" dirty="0"/>
              <a:t>  4(2x + 4) </a:t>
            </a:r>
          </a:p>
          <a:p>
            <a:pPr marL="342900" indent="-342900">
              <a:buAutoNum type="alphaLcParenR"/>
            </a:pPr>
            <a:r>
              <a:rPr lang="en-AU" sz="4000" dirty="0"/>
              <a:t>  2(4f – 2)</a:t>
            </a:r>
          </a:p>
          <a:p>
            <a:pPr marL="342900" indent="-342900">
              <a:buAutoNum type="alphaLcParenR"/>
            </a:pPr>
            <a:r>
              <a:rPr lang="en-AU" sz="4000" dirty="0"/>
              <a:t>  3(2 – 3e) </a:t>
            </a:r>
          </a:p>
          <a:p>
            <a:pPr marL="342900" indent="-342900">
              <a:buAutoNum type="alphaLcParenR"/>
            </a:pPr>
            <a:r>
              <a:rPr lang="en-AU" sz="4000" dirty="0"/>
              <a:t>  10(2s +3) </a:t>
            </a:r>
          </a:p>
          <a:p>
            <a:pPr marL="342900" indent="-342900">
              <a:buAutoNum type="alphaLcParenR"/>
            </a:pPr>
            <a:r>
              <a:rPr lang="en-AU" sz="4000" dirty="0"/>
              <a:t>   x(x + 3) </a:t>
            </a:r>
          </a:p>
          <a:p>
            <a:pPr marL="342900" indent="-342900">
              <a:buAutoNum type="alphaLcParenR"/>
            </a:pPr>
            <a:r>
              <a:rPr lang="en-AU" sz="4000" dirty="0"/>
              <a:t>  4(2d + 4r – 3) </a:t>
            </a:r>
          </a:p>
          <a:p>
            <a:pPr marL="342900" indent="-342900">
              <a:buAutoNum type="alphaLcParenR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35695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0EF38-65FD-41B2-A2D7-BF6C8801C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The word 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93924-65FD-44BC-846A-E08730715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2800" b="1" dirty="0">
                <a:solidFill>
                  <a:srgbClr val="FF0000"/>
                </a:solidFill>
              </a:rPr>
              <a:t>Pronumeral </a:t>
            </a:r>
          </a:p>
          <a:p>
            <a:pPr marL="0" indent="0">
              <a:buNone/>
            </a:pPr>
            <a:endParaRPr lang="en-AU" sz="2800" dirty="0"/>
          </a:p>
          <a:p>
            <a:pPr>
              <a:buFontTx/>
              <a:buChar char="-"/>
            </a:pPr>
            <a:r>
              <a:rPr lang="en-AU" sz="2800" b="1" dirty="0"/>
              <a:t>A letter or symbol used in place of a number</a:t>
            </a:r>
          </a:p>
          <a:p>
            <a:pPr>
              <a:buFontTx/>
              <a:buChar char="-"/>
            </a:pPr>
            <a:endParaRPr lang="en-AU" sz="2800" b="1" dirty="0"/>
          </a:p>
          <a:p>
            <a:pPr marL="0" indent="0">
              <a:buNone/>
            </a:pPr>
            <a:r>
              <a:rPr lang="en-AU" sz="2800" b="1" dirty="0"/>
              <a:t>Pronumerals represent </a:t>
            </a:r>
            <a:r>
              <a:rPr lang="en-AU" sz="2800" b="1" i="1" dirty="0"/>
              <a:t>numbers, so they MUST follow the same rules as numbers. </a:t>
            </a:r>
            <a:endParaRPr lang="en-AU" sz="2400" b="1" dirty="0"/>
          </a:p>
        </p:txBody>
      </p:sp>
      <p:sp>
        <p:nvSpPr>
          <p:cNvPr id="4" name="Rounded Rectangle 8">
            <a:extLst>
              <a:ext uri="{FF2B5EF4-FFF2-40B4-BE49-F238E27FC236}">
                <a16:creationId xmlns:a16="http://schemas.microsoft.com/office/drawing/2014/main" id="{06A88535-329F-47B3-9831-FBD68AE6474A}"/>
              </a:ext>
            </a:extLst>
          </p:cNvPr>
          <p:cNvSpPr/>
          <p:nvPr/>
        </p:nvSpPr>
        <p:spPr>
          <a:xfrm>
            <a:off x="3000103" y="3355647"/>
            <a:ext cx="7774734" cy="34109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E88478CB-AD41-40EB-AF3F-F79B03B93EAF}"/>
              </a:ext>
            </a:extLst>
          </p:cNvPr>
          <p:cNvSpPr/>
          <p:nvPr/>
        </p:nvSpPr>
        <p:spPr>
          <a:xfrm>
            <a:off x="5882325" y="2215565"/>
            <a:ext cx="2224727" cy="34109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5755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D3CE7-2DA6-4BC3-BEC1-230FA6594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81037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Terminology</a:t>
            </a:r>
            <a:endParaRPr lang="en-AU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2AB3C7-E55F-4777-BD95-A0793FD7F5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249357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u="sng" dirty="0"/>
                  <a:t>Like terms</a:t>
                </a:r>
              </a:p>
              <a:p>
                <a:pPr>
                  <a:buFontTx/>
                  <a:buChar char="-"/>
                </a:pPr>
                <a:r>
                  <a:rPr lang="en-US" sz="2400" b="1" dirty="0">
                    <a:solidFill>
                      <a:srgbClr val="FF0000"/>
                    </a:solidFill>
                  </a:rPr>
                  <a:t>Same pronumeral AND same power (can be collected) </a:t>
                </a:r>
                <a:endParaRPr lang="en-US" sz="2400" b="1" dirty="0"/>
              </a:p>
              <a:p>
                <a:pPr marL="0" indent="0">
                  <a:buNone/>
                </a:pPr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2AB3C7-E55F-4777-BD95-A0793FD7F5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249357" cy="4351338"/>
              </a:xfrm>
              <a:blipFill>
                <a:blip r:embed="rId2"/>
                <a:stretch>
                  <a:fillRect l="-1346" t="-1961" r="-19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C0C697-8E5F-4135-B5C1-803A5A0A795E}"/>
                  </a:ext>
                </a:extLst>
              </p:cNvPr>
              <p:cNvSpPr txBox="1"/>
              <p:nvPr/>
            </p:nvSpPr>
            <p:spPr>
              <a:xfrm>
                <a:off x="8522563" y="2929631"/>
                <a:ext cx="3329126" cy="310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NON-examples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3g + 3h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5 + h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AU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</m:t>
                          </m:r>
                        </m:e>
                        <m:sup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𝑑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</m:oMath>
                  </m:oMathPara>
                </a14:m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C0C697-8E5F-4135-B5C1-803A5A0A7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2563" y="2929631"/>
                <a:ext cx="3329126" cy="3108543"/>
              </a:xfrm>
              <a:prstGeom prst="rect">
                <a:avLst/>
              </a:prstGeom>
              <a:blipFill>
                <a:blip r:embed="rId3"/>
                <a:stretch>
                  <a:fillRect l="-3663" t="-19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EEE52823-E617-4037-B1DD-B8211D0CEB9F}"/>
              </a:ext>
            </a:extLst>
          </p:cNvPr>
          <p:cNvSpPr/>
          <p:nvPr/>
        </p:nvSpPr>
        <p:spPr>
          <a:xfrm>
            <a:off x="3999345" y="2384686"/>
            <a:ext cx="683491" cy="34109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7B8D0513-569B-42F1-80CA-205DBB9E10E7}"/>
              </a:ext>
            </a:extLst>
          </p:cNvPr>
          <p:cNvSpPr/>
          <p:nvPr/>
        </p:nvSpPr>
        <p:spPr>
          <a:xfrm>
            <a:off x="5029199" y="3660204"/>
            <a:ext cx="683491" cy="34109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A2686CD2-3A45-471A-88EB-EEC7FEE2681D}"/>
              </a:ext>
            </a:extLst>
          </p:cNvPr>
          <p:cNvSpPr/>
          <p:nvPr/>
        </p:nvSpPr>
        <p:spPr>
          <a:xfrm>
            <a:off x="6082594" y="4483902"/>
            <a:ext cx="1167951" cy="34109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E2FA0BD9-B859-4086-B858-B5C855D55D22}"/>
              </a:ext>
            </a:extLst>
          </p:cNvPr>
          <p:cNvSpPr/>
          <p:nvPr/>
        </p:nvSpPr>
        <p:spPr>
          <a:xfrm>
            <a:off x="5029199" y="5338618"/>
            <a:ext cx="683491" cy="381983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32AD53C-721F-4ED6-B031-86534E09193C}"/>
              </a:ext>
            </a:extLst>
          </p:cNvPr>
          <p:cNvSpPr/>
          <p:nvPr/>
        </p:nvSpPr>
        <p:spPr>
          <a:xfrm>
            <a:off x="1267142" y="2386116"/>
            <a:ext cx="872743" cy="34109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7607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90087" y="864974"/>
            <a:ext cx="348460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6000" dirty="0"/>
              <a:t>Practise</a:t>
            </a:r>
          </a:p>
          <a:p>
            <a:endParaRPr lang="en-AU" sz="6000" dirty="0"/>
          </a:p>
          <a:p>
            <a:r>
              <a:rPr lang="en-AU" sz="6000" dirty="0"/>
              <a:t>Practise</a:t>
            </a:r>
          </a:p>
          <a:p>
            <a:endParaRPr lang="en-AU" sz="6000" dirty="0"/>
          </a:p>
          <a:p>
            <a:r>
              <a:rPr lang="en-AU" sz="6000" dirty="0"/>
              <a:t>Practise</a:t>
            </a:r>
          </a:p>
        </p:txBody>
      </p:sp>
    </p:spTree>
    <p:extLst>
      <p:ext uri="{BB962C8B-B14F-4D97-AF65-F5344CB8AC3E}">
        <p14:creationId xmlns:p14="http://schemas.microsoft.com/office/powerpoint/2010/main" val="1785429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D862A-66F1-4EFC-9B37-E737B0C38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– Fist to 5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78DB5-2A31-4D11-8D06-4E3227319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Aims: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tabLst/>
              <a:defRPr/>
            </a:pPr>
            <a:r>
              <a:rPr kumimoji="0" lang="en-AU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Be able</a:t>
            </a:r>
            <a:r>
              <a:rPr kumimoji="0" lang="en-AU" sz="40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to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AU" sz="40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add and subtract ‘like’ terms</a:t>
            </a:r>
            <a:r>
              <a:rPr kumimoji="0" lang="en-AU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.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AU" sz="4000" b="1" dirty="0">
                <a:solidFill>
                  <a:schemeClr val="tx1"/>
                </a:solidFill>
                <a:latin typeface="Century Gothic" panose="020B0502020202020204"/>
              </a:rPr>
              <a:t>Use the DPM/A to expand bracketed terms</a:t>
            </a:r>
            <a:r>
              <a:rPr lang="en-AU" sz="4000" dirty="0">
                <a:solidFill>
                  <a:schemeClr val="tx1"/>
                </a:solidFill>
                <a:latin typeface="Century Gothic" panose="020B0502020202020204"/>
              </a:rPr>
              <a:t>.</a:t>
            </a:r>
            <a:endParaRPr kumimoji="0" lang="en-AU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3361747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</TotalTime>
  <Words>605</Words>
  <Application>Microsoft Office PowerPoint</Application>
  <PresentationFormat>Widescreen</PresentationFormat>
  <Paragraphs>90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Cambria Math</vt:lpstr>
      <vt:lpstr>Century Gothic</vt:lpstr>
      <vt:lpstr>Wingdings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word is </vt:lpstr>
      <vt:lpstr>Terminology</vt:lpstr>
      <vt:lpstr>PowerPoint Presentation</vt:lpstr>
      <vt:lpstr>Reflection – Fist to 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Wall</dc:creator>
  <cp:lastModifiedBy>DAVIES Rhys [Busselton Senior High School]</cp:lastModifiedBy>
  <cp:revision>44</cp:revision>
  <cp:lastPrinted>2022-03-10T02:41:41Z</cp:lastPrinted>
  <dcterms:created xsi:type="dcterms:W3CDTF">2022-02-28T13:51:39Z</dcterms:created>
  <dcterms:modified xsi:type="dcterms:W3CDTF">2022-03-16T03:39:14Z</dcterms:modified>
</cp:coreProperties>
</file>
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81" r:id="rId4"/>
    <p:sldId id="283" r:id="rId5"/>
    <p:sldId id="276" r:id="rId6"/>
    <p:sldId id="286" r:id="rId7"/>
    <p:sldId id="285" r:id="rId8"/>
    <p:sldId id="289" r:id="rId9"/>
    <p:sldId id="288" r:id="rId10"/>
    <p:sldId id="290" r:id="rId11"/>
    <p:sldId id="287" r:id="rId12"/>
    <p:sldId id="291" r:id="rId13"/>
    <p:sldId id="29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6F882-0A17-4790-8C9E-4A64F0DB321D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1C3C4-F60F-4766-95D8-489087874D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5701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4C0753-0B2E-422D-ADAB-A49118212793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7606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7828E-7236-46C7-BC3C-6D50346D7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985AC-A38F-4805-A572-37CCAC7DD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1E413-FB39-4BF6-AF72-EE2ACBE7A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57B1-59FE-4574-A356-6F37C833B164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28A11-2712-446A-827D-7DD5F1788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D1E25-34FF-4718-B016-6CE0756DF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F1E5-06A5-4F89-9112-673AB1F2E5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91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F482-1CCC-40A3-A048-6D534BA93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0B229-44FF-45B4-A805-09ED6EB4A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E2EA2-C661-47D6-9169-0581F726E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57B1-59FE-4574-A356-6F37C833B164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2CB52-E416-414A-B3E5-7CB027A34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C7995-99C5-4B76-91BE-EEEFFEE5E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F1E5-06A5-4F89-9112-673AB1F2E5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16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DF38-859A-4863-AB17-A7C61D4F1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1F381-6327-4384-85C0-B7D3F60FA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A84DA-2AAC-421C-B2F9-2CFF628D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57B1-59FE-4574-A356-6F37C833B164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A5B37-D324-4D6C-BAB1-470707D90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01B1A-887A-41C0-9642-E3A25A5DC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F1E5-06A5-4F89-9112-673AB1F2E5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2044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F57A3-017F-4C0C-94F4-8E38C88B8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47B93-2E59-4587-95AC-C504DE771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44D02-801C-494F-850D-8AEC23B35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B8F59-4B17-4ED6-86D0-9F5A1A9B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57B1-59FE-4574-A356-6F37C833B164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9D236-0CCA-45AE-AB19-548518BDA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F7CEF-30CC-44E3-81FE-0D2627B53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F1E5-06A5-4F89-9112-673AB1F2E5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152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04F8F-A631-487C-89CF-D2574FDE6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3730C-648F-4354-9C07-508E0B1C4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AB57A1-E854-4974-872B-60DD261A7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FD146D-D94C-4063-8858-389C8BE593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E729BE-FE10-46CD-BFA1-457B71449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DB718B-9E9B-43B7-852B-4C02C6F96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57B1-59FE-4574-A356-6F37C833B164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E10A7-EC40-49F2-B8D4-0FD9B7D08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A52AD5-F770-43AC-8BD7-03157271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F1E5-06A5-4F89-9112-673AB1F2E5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351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ECCB1-63AC-4D02-9A5F-7695E17E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377E05-45FE-4C41-9700-27E802509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57B1-59FE-4574-A356-6F37C833B164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618C9F-CE3B-4A75-9C11-1082F3CB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4FA07-2D84-4C56-BC82-95977AEC5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F1E5-06A5-4F89-9112-673AB1F2E5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6012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CE561A-A1FD-48D2-BADA-4D728C61C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57B1-59FE-4574-A356-6F37C833B164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C8CF61-00B4-4D13-A56D-4363127E8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12451-3297-40CE-8E17-23524E64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F1E5-06A5-4F89-9112-673AB1F2E5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7938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A79C8-4842-41F5-9A83-A59124E9B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44CC6-64C0-4576-99DA-859198B08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9707B-A9A9-4324-960C-5C37B1F28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D1121-329A-43F2-BE4B-C86D8ECC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57B1-59FE-4574-A356-6F37C833B164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A38FE-2262-4CDF-8E22-DA64D1DF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961DB-1DE1-4144-94C5-DCE7B714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F1E5-06A5-4F89-9112-673AB1F2E5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9677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87D39-B42F-44E1-9A93-7098758BA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2173C9-E0B9-447D-8BBF-67A2F486BE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B97401-C816-4873-93E2-DC61DFBF6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B720A-089D-4311-B064-BAC4775C8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57B1-59FE-4574-A356-6F37C833B164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20133-7BA1-455B-A220-AA783978C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499060-9300-4D99-A668-B49638483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F1E5-06A5-4F89-9112-673AB1F2E5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4111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B38D9-80D7-422A-AF52-C60F8375F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F2B1B-64F1-4D19-84BF-BB1BB92D7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E0CCE-F791-4BD9-A31C-48765027E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57B1-59FE-4574-A356-6F37C833B164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E255-56DB-409F-AA3C-4D254387B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52811-7D45-472F-B0AD-11EA10A1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F1E5-06A5-4F89-9112-673AB1F2E5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899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709988-215D-49BA-9A06-F8E98A601A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77368-C8B8-425F-BEAD-5DEA396E0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ED4D6-9C7A-44B0-9713-89B26D0C0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57B1-59FE-4574-A356-6F37C833B164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D6228-244D-4BA7-94DA-F758AFD73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8371C-CE83-4000-8A45-D04350555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3F1E5-06A5-4F89-9112-673AB1F2E5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1253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84407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8038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742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2210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69768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778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8789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043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60361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83856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43752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18150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39031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69420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51526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693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35C15D-81BC-4A0A-8307-ADB12D41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E9D76-4B4B-484C-8CA7-0147E669E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24003-2DBB-42D6-BB81-A17EBEEC0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0057B1-59FE-4574-A356-6F37C833B164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C575D-AE96-46B2-91D1-014233A2C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7BDC9-A09A-446E-A478-B7420CD8E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3F1E5-06A5-4F89-9112-673AB1F2E5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87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4190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829777-5254-4444-BD01-D58FFA2B3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1DBDEE-0F63-46E0-B6B6-85AB42A32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BIMDAS practice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Be able to complete mathematic operations in the correct order.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Use multiplication strategies for large numbers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Daily review: BIMDAS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Skills practice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Multiplication strategies</a:t>
            </a: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748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761612-B30C-4BD1-B57A-D1A22540263D}"/>
              </a:ext>
            </a:extLst>
          </p:cNvPr>
          <p:cNvSpPr txBox="1"/>
          <p:nvPr/>
        </p:nvSpPr>
        <p:spPr>
          <a:xfrm>
            <a:off x="2116384" y="805446"/>
            <a:ext cx="83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entury Gothic" panose="020B0502020202020204"/>
                <a:ea typeface="+mn-ea"/>
                <a:cs typeface="+mn-cs"/>
              </a:rPr>
              <a:t>we do, you do: copy into your exercise books as an example.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BD52F9-680A-4D20-A6A7-D58FE9789FD6}"/>
                  </a:ext>
                </a:extLst>
              </p:cNvPr>
              <p:cNvSpPr txBox="1"/>
              <p:nvPr/>
            </p:nvSpPr>
            <p:spPr>
              <a:xfrm>
                <a:off x="2982191" y="1519357"/>
                <a:ext cx="407237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54292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1.</a:t>
                </a: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4+5</m:t>
                        </m:r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2 −9=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542925" marR="0" lvl="0" indent="-542925" algn="l" defTabSz="5349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FF0000"/>
                  </a:buClr>
                  <a:buSzTx/>
                  <a:buFontTx/>
                  <a:buAutoNum type="arabicPeriod" startAt="2"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e>
                      <m:sup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2 −7</m:t>
                        </m:r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−2</m:t>
                        </m:r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542925" marR="0" lvl="0" indent="-542925" algn="l" defTabSz="5349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FF0000"/>
                  </a:buClr>
                  <a:buSzTx/>
                  <a:buFontTx/>
                  <a:buAutoNum type="arabicPeriod" startAt="2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−2+8 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3 −</m:t>
                    </m:r>
                    <m:sSup>
                      <m:sSup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2 −4</m:t>
                            </m:r>
                          </m:e>
                        </m:d>
                      </m:e>
                      <m:sup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542925" marR="0" lvl="0" indent="-542925" algn="l" defTabSz="53498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rgbClr val="FF0000"/>
                  </a:buClr>
                  <a:buSzTx/>
                  <a:buFontTx/>
                  <a:buAutoNum type="arabicPeriod" startAt="2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3</a:t>
                </a: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Cambria Math" panose="02040503050406030204" pitchFamily="18" charset="0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(4 – 5 + (-2))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BD52F9-680A-4D20-A6A7-D58FE9789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191" y="1519357"/>
                <a:ext cx="4072370" cy="2031325"/>
              </a:xfrm>
              <a:prstGeom prst="rect">
                <a:avLst/>
              </a:prstGeom>
              <a:blipFill>
                <a:blip r:embed="rId2"/>
                <a:stretch>
                  <a:fillRect l="-2246" t="-2402" b="-60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E48AA98-0931-4263-A589-971FD939B8DA}"/>
              </a:ext>
            </a:extLst>
          </p:cNvPr>
          <p:cNvSpPr txBox="1"/>
          <p:nvPr/>
        </p:nvSpPr>
        <p:spPr>
          <a:xfrm>
            <a:off x="7767129" y="2187574"/>
            <a:ext cx="3686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Brackets and indices.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Identify the multiplication and division.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Do the multiplication and division.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Deal with double signs.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Complete the addition / subtraction (left to right).</a:t>
            </a:r>
          </a:p>
        </p:txBody>
      </p:sp>
    </p:spTree>
    <p:extLst>
      <p:ext uri="{BB962C8B-B14F-4D97-AF65-F5344CB8AC3E}">
        <p14:creationId xmlns:p14="http://schemas.microsoft.com/office/powerpoint/2010/main" val="363742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86CD2F-569C-4272-B0D9-A6F1965E5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094" y="0"/>
            <a:ext cx="560774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53849E-CE61-463A-8E4D-1BAF5E9C511F}"/>
              </a:ext>
            </a:extLst>
          </p:cNvPr>
          <p:cNvSpPr txBox="1"/>
          <p:nvPr/>
        </p:nvSpPr>
        <p:spPr>
          <a:xfrm>
            <a:off x="1771047" y="604535"/>
            <a:ext cx="39915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Independent practice: exercise books.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61B622-C30B-4E7F-8B05-D1D40005AD69}"/>
              </a:ext>
            </a:extLst>
          </p:cNvPr>
          <p:cNvSpPr txBox="1"/>
          <p:nvPr/>
        </p:nvSpPr>
        <p:spPr>
          <a:xfrm>
            <a:off x="10048875" y="4838700"/>
            <a:ext cx="8667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T/F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E9625A-6F56-45CE-ABF7-14B92DEAF1C4}"/>
              </a:ext>
            </a:extLst>
          </p:cNvPr>
          <p:cNvSpPr txBox="1"/>
          <p:nvPr/>
        </p:nvSpPr>
        <p:spPr>
          <a:xfrm>
            <a:off x="10482262" y="5509796"/>
            <a:ext cx="8667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T/F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3B5D09-A7A6-4D6A-9C14-50C2821BADDE}"/>
              </a:ext>
            </a:extLst>
          </p:cNvPr>
          <p:cNvSpPr txBox="1"/>
          <p:nvPr/>
        </p:nvSpPr>
        <p:spPr>
          <a:xfrm>
            <a:off x="958788" y="1953087"/>
            <a:ext cx="42612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1. Write the question out.</a:t>
            </a:r>
          </a:p>
          <a:p>
            <a:r>
              <a:rPr lang="en-US" sz="2000" b="1" dirty="0"/>
              <a:t>2. Underline first section and complete.</a:t>
            </a:r>
          </a:p>
          <a:p>
            <a:r>
              <a:rPr lang="en-US" sz="2000" b="1" dirty="0"/>
              <a:t>3. Re-write the question </a:t>
            </a:r>
          </a:p>
          <a:p>
            <a:r>
              <a:rPr lang="en-US" sz="2000" b="1" dirty="0"/>
              <a:t>4. Underline the next part and repeat.  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2583826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2429" y="213878"/>
            <a:ext cx="6671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Multiplication strategies - rational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64773" y="804125"/>
            <a:ext cx="85386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There are a number of written strategies for multiplying rational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19607" y="1839464"/>
            <a:ext cx="6259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standard algorithm: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		 36 x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83260" y="2716628"/>
            <a:ext cx="2459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36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X</a:t>
            </a:r>
            <a:r>
              <a:rPr kumimoji="0" lang="en-AU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24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6849174" y="3338867"/>
            <a:ext cx="1493951" cy="34074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79306" y="3547625"/>
            <a:ext cx="340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Use the ones digit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4773" y="4366879"/>
            <a:ext cx="340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Use the tens digit second.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Don’t forget to put a zero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398373" y="3359124"/>
            <a:ext cx="1967844" cy="100775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87314" y="3407208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1358" y="3728181"/>
            <a:ext cx="1103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6567" y="3704074"/>
            <a:ext cx="620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6023973" y="4218850"/>
            <a:ext cx="94826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16857" y="4265705"/>
            <a:ext cx="2369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864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2907" y="4727370"/>
            <a:ext cx="2404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Add them up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H="1" flipV="1">
            <a:off x="6972240" y="3860499"/>
            <a:ext cx="2126685" cy="107072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7424D0A-5429-4CB7-A2C0-B70C81B0308B}"/>
              </a:ext>
            </a:extLst>
          </p:cNvPr>
          <p:cNvSpPr txBox="1"/>
          <p:nvPr/>
        </p:nvSpPr>
        <p:spPr>
          <a:xfrm>
            <a:off x="6446074" y="2571945"/>
            <a:ext cx="483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C2B9FB-36FB-486E-B201-CB814B1DE9B7}"/>
              </a:ext>
            </a:extLst>
          </p:cNvPr>
          <p:cNvSpPr txBox="1"/>
          <p:nvPr/>
        </p:nvSpPr>
        <p:spPr>
          <a:xfrm>
            <a:off x="6135231" y="3418719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23E402-9BA6-4839-A81B-0EFCC03A248B}"/>
              </a:ext>
            </a:extLst>
          </p:cNvPr>
          <p:cNvSpPr txBox="1"/>
          <p:nvPr/>
        </p:nvSpPr>
        <p:spPr>
          <a:xfrm>
            <a:off x="6292259" y="2907751"/>
            <a:ext cx="483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006AB7-A260-480E-9852-F007983CBFDD}"/>
              </a:ext>
            </a:extLst>
          </p:cNvPr>
          <p:cNvSpPr txBox="1"/>
          <p:nvPr/>
        </p:nvSpPr>
        <p:spPr>
          <a:xfrm>
            <a:off x="6135610" y="3721998"/>
            <a:ext cx="620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5369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1" grpId="0"/>
      <p:bldP spid="16" grpId="0"/>
      <p:bldP spid="17" grpId="0"/>
      <p:bldP spid="18" grpId="0"/>
      <p:bldP spid="21" grpId="0"/>
      <p:bldP spid="22" grpId="0"/>
      <p:bldP spid="3" grpId="0"/>
      <p:bldP spid="19" grpId="0"/>
      <p:bldP spid="23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DCE5C-77E9-44E2-B8AE-4F0C63AD1A28}"/>
              </a:ext>
            </a:extLst>
          </p:cNvPr>
          <p:cNvSpPr txBox="1"/>
          <p:nvPr/>
        </p:nvSpPr>
        <p:spPr>
          <a:xfrm>
            <a:off x="3086100" y="815459"/>
            <a:ext cx="660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Standard algorithm: 48 x 63</a:t>
            </a:r>
          </a:p>
        </p:txBody>
      </p:sp>
    </p:spTree>
    <p:extLst>
      <p:ext uri="{BB962C8B-B14F-4D97-AF65-F5344CB8AC3E}">
        <p14:creationId xmlns:p14="http://schemas.microsoft.com/office/powerpoint/2010/main" val="315092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1FC70-D67D-489D-B3C6-C95F13A49BF8}"/>
              </a:ext>
            </a:extLst>
          </p:cNvPr>
          <p:cNvSpPr txBox="1"/>
          <p:nvPr/>
        </p:nvSpPr>
        <p:spPr>
          <a:xfrm>
            <a:off x="4890115" y="580623"/>
            <a:ext cx="3224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grid method: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	36 x 24</a:t>
            </a: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E46A6E10-6B33-446C-9C22-C5EBB125300A}"/>
              </a:ext>
            </a:extLst>
          </p:cNvPr>
          <p:cNvGraphicFramePr>
            <a:graphicFrameLocks noGrp="1"/>
          </p:cNvGraphicFramePr>
          <p:nvPr/>
        </p:nvGraphicFramePr>
        <p:xfrm>
          <a:off x="5010519" y="1940842"/>
          <a:ext cx="2170962" cy="9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481">
                  <a:extLst>
                    <a:ext uri="{9D8B030D-6E8A-4147-A177-3AD203B41FA5}">
                      <a16:colId xmlns:a16="http://schemas.microsoft.com/office/drawing/2014/main" val="391749892"/>
                    </a:ext>
                  </a:extLst>
                </a:gridCol>
                <a:gridCol w="1085481">
                  <a:extLst>
                    <a:ext uri="{9D8B030D-6E8A-4147-A177-3AD203B41FA5}">
                      <a16:colId xmlns:a16="http://schemas.microsoft.com/office/drawing/2014/main" val="945223962"/>
                    </a:ext>
                  </a:extLst>
                </a:gridCol>
              </a:tblGrid>
              <a:tr h="48217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34074"/>
                  </a:ext>
                </a:extLst>
              </a:tr>
              <a:tr h="48217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75097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ADB2476-24D1-4DA1-A67D-B59D8D759852}"/>
              </a:ext>
            </a:extLst>
          </p:cNvPr>
          <p:cNvSpPr txBox="1"/>
          <p:nvPr/>
        </p:nvSpPr>
        <p:spPr>
          <a:xfrm>
            <a:off x="5371732" y="1555595"/>
            <a:ext cx="523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FC4D90-06D8-4BB4-A430-84B39A9910B2}"/>
              </a:ext>
            </a:extLst>
          </p:cNvPr>
          <p:cNvSpPr txBox="1"/>
          <p:nvPr/>
        </p:nvSpPr>
        <p:spPr>
          <a:xfrm>
            <a:off x="7180140" y="1943704"/>
            <a:ext cx="534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77E854-64D7-4C39-AC78-92A2B756A197}"/>
              </a:ext>
            </a:extLst>
          </p:cNvPr>
          <p:cNvSpPr txBox="1"/>
          <p:nvPr/>
        </p:nvSpPr>
        <p:spPr>
          <a:xfrm>
            <a:off x="7233499" y="2402507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C6DA3E-8A55-4131-AEB4-0ED81B3D688D}"/>
              </a:ext>
            </a:extLst>
          </p:cNvPr>
          <p:cNvSpPr txBox="1"/>
          <p:nvPr/>
        </p:nvSpPr>
        <p:spPr>
          <a:xfrm>
            <a:off x="6419482" y="1555595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4D1CE4-6BB7-4B14-A79A-6E90AA98D44B}"/>
              </a:ext>
            </a:extLst>
          </p:cNvPr>
          <p:cNvSpPr txBox="1"/>
          <p:nvPr/>
        </p:nvSpPr>
        <p:spPr>
          <a:xfrm>
            <a:off x="6304812" y="2443525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296D81-6D50-40B4-92E4-FBBDEC059FED}"/>
              </a:ext>
            </a:extLst>
          </p:cNvPr>
          <p:cNvSpPr txBox="1"/>
          <p:nvPr/>
        </p:nvSpPr>
        <p:spPr>
          <a:xfrm>
            <a:off x="5114925" y="2418759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120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EA635D-2B28-435D-9CD2-300D4C5A7D68}"/>
              </a:ext>
            </a:extLst>
          </p:cNvPr>
          <p:cNvSpPr txBox="1"/>
          <p:nvPr/>
        </p:nvSpPr>
        <p:spPr>
          <a:xfrm>
            <a:off x="5143131" y="1940842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B0619C-1653-46C9-9560-9318496C5A1B}"/>
              </a:ext>
            </a:extLst>
          </p:cNvPr>
          <p:cNvSpPr txBox="1"/>
          <p:nvPr/>
        </p:nvSpPr>
        <p:spPr>
          <a:xfrm>
            <a:off x="6250412" y="1957094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7AD04B6-3469-438D-B605-7195D9C54674}"/>
                  </a:ext>
                </a:extLst>
              </p:cNvPr>
              <p:cNvSpPr txBox="1"/>
              <p:nvPr/>
            </p:nvSpPr>
            <p:spPr>
              <a:xfrm>
                <a:off x="5114925" y="3193139"/>
                <a:ext cx="6096000" cy="18004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36 x 24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600 + 120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2 + 24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600 + 240 +24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= 864 </a:t>
                </a:r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7AD04B6-3469-438D-B605-7195D9C54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925" y="3193139"/>
                <a:ext cx="6096000" cy="1800493"/>
              </a:xfrm>
              <a:prstGeom prst="rect">
                <a:avLst/>
              </a:prstGeom>
              <a:blipFill>
                <a:blip r:embed="rId2"/>
                <a:stretch>
                  <a:fillRect l="-1500" t="-2712" b="-67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845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DCE5C-77E9-44E2-B8AE-4F0C63AD1A28}"/>
              </a:ext>
            </a:extLst>
          </p:cNvPr>
          <p:cNvSpPr txBox="1"/>
          <p:nvPr/>
        </p:nvSpPr>
        <p:spPr>
          <a:xfrm>
            <a:off x="3086101" y="1738736"/>
            <a:ext cx="30099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Grid method: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48 x 63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lang="en-AU" sz="2400" dirty="0">
              <a:solidFill>
                <a:prstClr val="black"/>
              </a:solidFill>
              <a:latin typeface="Century Gothic" panose="020B05020202020202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23 x 42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lang="en-AU" sz="2400" dirty="0">
              <a:solidFill>
                <a:prstClr val="black"/>
              </a:solidFill>
              <a:latin typeface="Century Gothic" panose="020B05020202020202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35 x 45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7119A-C072-4258-AA07-C71AAB195CFE}"/>
              </a:ext>
            </a:extLst>
          </p:cNvPr>
          <p:cNvSpPr txBox="1"/>
          <p:nvPr/>
        </p:nvSpPr>
        <p:spPr>
          <a:xfrm>
            <a:off x="3195961" y="488272"/>
            <a:ext cx="6933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Whiteboards</a:t>
            </a:r>
            <a:r>
              <a:rPr lang="en-US" sz="3200" dirty="0"/>
              <a:t> 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0326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1FC70-D67D-489D-B3C6-C95F13A49BF8}"/>
              </a:ext>
            </a:extLst>
          </p:cNvPr>
          <p:cNvSpPr txBox="1"/>
          <p:nvPr/>
        </p:nvSpPr>
        <p:spPr>
          <a:xfrm>
            <a:off x="3992501" y="455388"/>
            <a:ext cx="5158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lattice (Chinese) method: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		36 x 24</a:t>
            </a: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E46A6E10-6B33-446C-9C22-C5EBB125300A}"/>
              </a:ext>
            </a:extLst>
          </p:cNvPr>
          <p:cNvGraphicFramePr>
            <a:graphicFrameLocks noGrp="1"/>
          </p:cNvGraphicFramePr>
          <p:nvPr/>
        </p:nvGraphicFramePr>
        <p:xfrm>
          <a:off x="5010519" y="1940842"/>
          <a:ext cx="2170962" cy="9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481">
                  <a:extLst>
                    <a:ext uri="{9D8B030D-6E8A-4147-A177-3AD203B41FA5}">
                      <a16:colId xmlns:a16="http://schemas.microsoft.com/office/drawing/2014/main" val="391749892"/>
                    </a:ext>
                  </a:extLst>
                </a:gridCol>
                <a:gridCol w="1085481">
                  <a:extLst>
                    <a:ext uri="{9D8B030D-6E8A-4147-A177-3AD203B41FA5}">
                      <a16:colId xmlns:a16="http://schemas.microsoft.com/office/drawing/2014/main" val="945223962"/>
                    </a:ext>
                  </a:extLst>
                </a:gridCol>
              </a:tblGrid>
              <a:tr h="48217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34074"/>
                  </a:ext>
                </a:extLst>
              </a:tr>
              <a:tr h="482174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75097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ADB2476-24D1-4DA1-A67D-B59D8D759852}"/>
              </a:ext>
            </a:extLst>
          </p:cNvPr>
          <p:cNvSpPr txBox="1"/>
          <p:nvPr/>
        </p:nvSpPr>
        <p:spPr>
          <a:xfrm>
            <a:off x="5471930" y="1555595"/>
            <a:ext cx="523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FC4D90-06D8-4BB4-A430-84B39A9910B2}"/>
              </a:ext>
            </a:extLst>
          </p:cNvPr>
          <p:cNvSpPr txBox="1"/>
          <p:nvPr/>
        </p:nvSpPr>
        <p:spPr>
          <a:xfrm>
            <a:off x="7190454" y="1934179"/>
            <a:ext cx="534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77E854-64D7-4C39-AC78-92A2B756A197}"/>
              </a:ext>
            </a:extLst>
          </p:cNvPr>
          <p:cNvSpPr txBox="1"/>
          <p:nvPr/>
        </p:nvSpPr>
        <p:spPr>
          <a:xfrm>
            <a:off x="7166640" y="2413825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C6DA3E-8A55-4131-AEB4-0ED81B3D688D}"/>
              </a:ext>
            </a:extLst>
          </p:cNvPr>
          <p:cNvSpPr txBox="1"/>
          <p:nvPr/>
        </p:nvSpPr>
        <p:spPr>
          <a:xfrm>
            <a:off x="6457215" y="1566035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AD04B6-3469-438D-B605-7195D9C54674}"/>
              </a:ext>
            </a:extLst>
          </p:cNvPr>
          <p:cNvSpPr txBox="1"/>
          <p:nvPr/>
        </p:nvSpPr>
        <p:spPr>
          <a:xfrm>
            <a:off x="4832806" y="3573436"/>
            <a:ext cx="1624409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36 x 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= 864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01A256-4C37-4C06-9C47-38F9F636FF14}"/>
              </a:ext>
            </a:extLst>
          </p:cNvPr>
          <p:cNvCxnSpPr/>
          <p:nvPr/>
        </p:nvCxnSpPr>
        <p:spPr>
          <a:xfrm flipV="1">
            <a:off x="5010519" y="1940842"/>
            <a:ext cx="2156121" cy="93464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1C79BD-7555-4970-831E-9EB56EF3AC32}"/>
              </a:ext>
            </a:extLst>
          </p:cNvPr>
          <p:cNvCxnSpPr>
            <a:endCxn id="15" idx="0"/>
          </p:cNvCxnSpPr>
          <p:nvPr/>
        </p:nvCxnSpPr>
        <p:spPr>
          <a:xfrm flipV="1">
            <a:off x="5010519" y="1940842"/>
            <a:ext cx="1085481" cy="48217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6DA8F5-6702-4771-A87A-FB778B35C332}"/>
              </a:ext>
            </a:extLst>
          </p:cNvPr>
          <p:cNvCxnSpPr/>
          <p:nvPr/>
        </p:nvCxnSpPr>
        <p:spPr>
          <a:xfrm flipV="1">
            <a:off x="6096000" y="2423016"/>
            <a:ext cx="1079613" cy="48217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157EF0D-49E1-4EBE-A60B-30A9367B850D}"/>
              </a:ext>
            </a:extLst>
          </p:cNvPr>
          <p:cNvSpPr txBox="1"/>
          <p:nvPr/>
        </p:nvSpPr>
        <p:spPr>
          <a:xfrm>
            <a:off x="8560710" y="1796867"/>
            <a:ext cx="34026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2925" marR="0" lvl="0" indent="-542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x 2 =12</a:t>
            </a:r>
          </a:p>
          <a:p>
            <a:pPr marL="542925" marR="0" lvl="0" indent="-542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 x 3 = 06</a:t>
            </a:r>
          </a:p>
          <a:p>
            <a:pPr marL="542925" marR="0" lvl="0" indent="-542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x 4 = 24</a:t>
            </a:r>
          </a:p>
          <a:p>
            <a:pPr marL="542925" marR="0" lvl="0" indent="-542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 x 4 = 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Add the diagonals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13BB8B-2A36-4EB4-8F3F-03D496FBBFBB}"/>
              </a:ext>
            </a:extLst>
          </p:cNvPr>
          <p:cNvSpPr txBox="1"/>
          <p:nvPr/>
        </p:nvSpPr>
        <p:spPr>
          <a:xfrm>
            <a:off x="6076767" y="1883684"/>
            <a:ext cx="371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CDEFF-A3C3-4037-80F0-AA127A3434E2}"/>
              </a:ext>
            </a:extLst>
          </p:cNvPr>
          <p:cNvSpPr txBox="1"/>
          <p:nvPr/>
        </p:nvSpPr>
        <p:spPr>
          <a:xfrm>
            <a:off x="6714206" y="2017272"/>
            <a:ext cx="371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D009A8-5CA4-49DD-9648-4D2BDA92DB44}"/>
              </a:ext>
            </a:extLst>
          </p:cNvPr>
          <p:cNvSpPr txBox="1"/>
          <p:nvPr/>
        </p:nvSpPr>
        <p:spPr>
          <a:xfrm>
            <a:off x="5036342" y="1904672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0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18C29B-8871-4F4F-8AE8-3E9822555DCC}"/>
              </a:ext>
            </a:extLst>
          </p:cNvPr>
          <p:cNvSpPr txBox="1"/>
          <p:nvPr/>
        </p:nvSpPr>
        <p:spPr>
          <a:xfrm>
            <a:off x="5694661" y="1976201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6E1E58-5884-46DB-919F-48EA4EBFCF0F}"/>
              </a:ext>
            </a:extLst>
          </p:cNvPr>
          <p:cNvSpPr txBox="1"/>
          <p:nvPr/>
        </p:nvSpPr>
        <p:spPr>
          <a:xfrm>
            <a:off x="6129153" y="2376375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786C5A-342D-4307-9AE6-672DD8CEB871}"/>
              </a:ext>
            </a:extLst>
          </p:cNvPr>
          <p:cNvSpPr txBox="1"/>
          <p:nvPr/>
        </p:nvSpPr>
        <p:spPr>
          <a:xfrm>
            <a:off x="6776975" y="2457323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5DEB7A-2B9F-4E3A-A1BA-C10D51BFA2CA}"/>
              </a:ext>
            </a:extLst>
          </p:cNvPr>
          <p:cNvSpPr txBox="1"/>
          <p:nvPr/>
        </p:nvSpPr>
        <p:spPr>
          <a:xfrm>
            <a:off x="5694661" y="2440893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5A7847-C335-4BB6-B8C8-CCD049247EC0}"/>
              </a:ext>
            </a:extLst>
          </p:cNvPr>
          <p:cNvSpPr txBox="1"/>
          <p:nvPr/>
        </p:nvSpPr>
        <p:spPr>
          <a:xfrm>
            <a:off x="5005941" y="2353999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7034EB-551C-46E8-A396-600FDA185093}"/>
              </a:ext>
            </a:extLst>
          </p:cNvPr>
          <p:cNvSpPr txBox="1"/>
          <p:nvPr/>
        </p:nvSpPr>
        <p:spPr>
          <a:xfrm>
            <a:off x="6389734" y="2880514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92332F-1204-4D27-B787-3871E847406D}"/>
              </a:ext>
            </a:extLst>
          </p:cNvPr>
          <p:cNvSpPr txBox="1"/>
          <p:nvPr/>
        </p:nvSpPr>
        <p:spPr>
          <a:xfrm>
            <a:off x="5361774" y="2850404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9AC0C2-7199-45A9-AA22-0A1AE253BE1A}"/>
              </a:ext>
            </a:extLst>
          </p:cNvPr>
          <p:cNvSpPr txBox="1"/>
          <p:nvPr/>
        </p:nvSpPr>
        <p:spPr>
          <a:xfrm>
            <a:off x="4662209" y="2413824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8 </a:t>
            </a:r>
          </a:p>
        </p:txBody>
      </p:sp>
    </p:spTree>
    <p:extLst>
      <p:ext uri="{BB962C8B-B14F-4D97-AF65-F5344CB8AC3E}">
        <p14:creationId xmlns:p14="http://schemas.microsoft.com/office/powerpoint/2010/main" val="33359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6" grpId="0"/>
      <p:bldP spid="12" grpId="0"/>
      <p:bldP spid="25" grpId="0"/>
      <p:bldP spid="13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DCE5C-77E9-44E2-B8AE-4F0C63AD1A28}"/>
              </a:ext>
            </a:extLst>
          </p:cNvPr>
          <p:cNvSpPr txBox="1"/>
          <p:nvPr/>
        </p:nvSpPr>
        <p:spPr>
          <a:xfrm>
            <a:off x="3587041" y="2020880"/>
            <a:ext cx="66008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Lattice method: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sz="2400" dirty="0">
              <a:solidFill>
                <a:prstClr val="black"/>
              </a:solidFill>
              <a:latin typeface="Century Gothic" panose="020B05020202020202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48 x 63 =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lang="en-AU" sz="2400" dirty="0">
              <a:solidFill>
                <a:prstClr val="black"/>
              </a:solidFill>
              <a:latin typeface="Century Gothic" panose="020B05020202020202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12 x 23 =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lang="en-AU" sz="2400" dirty="0">
              <a:solidFill>
                <a:prstClr val="black"/>
              </a:solidFill>
              <a:latin typeface="Century Gothic" panose="020B05020202020202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41 x </a:t>
            </a: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22 =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43D0E1-3C8B-4211-A40E-3A4677469DBF}"/>
              </a:ext>
            </a:extLst>
          </p:cNvPr>
          <p:cNvSpPr txBox="1"/>
          <p:nvPr/>
        </p:nvSpPr>
        <p:spPr>
          <a:xfrm>
            <a:off x="3195961" y="488272"/>
            <a:ext cx="6933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Whiteboards</a:t>
            </a:r>
            <a:r>
              <a:rPr lang="en-US" sz="3200" dirty="0"/>
              <a:t> 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845731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1FC70-D67D-489D-B3C6-C95F13A49BF8}"/>
              </a:ext>
            </a:extLst>
          </p:cNvPr>
          <p:cNvSpPr txBox="1"/>
          <p:nvPr/>
        </p:nvSpPr>
        <p:spPr>
          <a:xfrm>
            <a:off x="3661758" y="340368"/>
            <a:ext cx="625913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doubling (Egyptian) method: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		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36 x 24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AD04B6-3469-438D-B605-7195D9C54674}"/>
              </a:ext>
            </a:extLst>
          </p:cNvPr>
          <p:cNvSpPr txBox="1"/>
          <p:nvPr/>
        </p:nvSpPr>
        <p:spPr>
          <a:xfrm>
            <a:off x="3914774" y="1519103"/>
            <a:ext cx="146685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Left (36)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385692-385F-435B-BEB7-C80DCBC5C713}"/>
              </a:ext>
            </a:extLst>
          </p:cNvPr>
          <p:cNvSpPr txBox="1"/>
          <p:nvPr/>
        </p:nvSpPr>
        <p:spPr>
          <a:xfrm>
            <a:off x="5576887" y="1519103"/>
            <a:ext cx="10858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Right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96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192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384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768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6DB24-B2B6-4102-9D83-2C0A94052D94}"/>
              </a:ext>
            </a:extLst>
          </p:cNvPr>
          <p:cNvSpPr txBox="1"/>
          <p:nvPr/>
        </p:nvSpPr>
        <p:spPr>
          <a:xfrm>
            <a:off x="3409950" y="4877232"/>
            <a:ext cx="197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36 =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32 + 4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EBA54B-92EF-488A-9CAD-8714C43C2EF0}"/>
              </a:ext>
            </a:extLst>
          </p:cNvPr>
          <p:cNvSpPr txBox="1"/>
          <p:nvPr/>
        </p:nvSpPr>
        <p:spPr>
          <a:xfrm>
            <a:off x="6096000" y="4877231"/>
            <a:ext cx="366175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36 x 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= 96 + 768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= 864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060CE7-6D2C-4A79-8024-686ECD5AA38F}"/>
              </a:ext>
            </a:extLst>
          </p:cNvPr>
          <p:cNvSpPr/>
          <p:nvPr/>
        </p:nvSpPr>
        <p:spPr>
          <a:xfrm>
            <a:off x="5681662" y="4210615"/>
            <a:ext cx="866775" cy="37147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08C218F-211C-4F30-A453-A27054113AB8}"/>
              </a:ext>
            </a:extLst>
          </p:cNvPr>
          <p:cNvSpPr/>
          <p:nvPr/>
        </p:nvSpPr>
        <p:spPr>
          <a:xfrm>
            <a:off x="5681662" y="2903025"/>
            <a:ext cx="866775" cy="37147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975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/>
      <p:bldP spid="13" grpId="0" build="p"/>
      <p:bldP spid="3" grpId="0"/>
      <p:bldP spid="25" grpId="0"/>
      <p:bldP spid="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DCE5C-77E9-44E2-B8AE-4F0C63AD1A28}"/>
              </a:ext>
            </a:extLst>
          </p:cNvPr>
          <p:cNvSpPr txBox="1"/>
          <p:nvPr/>
        </p:nvSpPr>
        <p:spPr>
          <a:xfrm>
            <a:off x="3533775" y="786884"/>
            <a:ext cx="660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Doubling method: 48 x 63</a:t>
            </a:r>
          </a:p>
        </p:txBody>
      </p:sp>
    </p:spTree>
    <p:extLst>
      <p:ext uri="{BB962C8B-B14F-4D97-AF65-F5344CB8AC3E}">
        <p14:creationId xmlns:p14="http://schemas.microsoft.com/office/powerpoint/2010/main" val="565082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86EDC-CE23-43D3-BE09-40A3B6915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Independent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7BFE2-5263-4BCE-848D-C9AD0A7C8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the task sheet provided yesterday.</a:t>
            </a:r>
          </a:p>
          <a:p>
            <a:endParaRPr lang="en-US" dirty="0"/>
          </a:p>
          <a:p>
            <a:r>
              <a:rPr lang="en-US" dirty="0"/>
              <a:t>I have spares.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4652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409</Words>
  <Application>Microsoft Office PowerPoint</Application>
  <PresentationFormat>Widescreen</PresentationFormat>
  <Paragraphs>126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Century Gothic</vt:lpstr>
      <vt:lpstr>Wingdings</vt:lpstr>
      <vt:lpstr>Wingdings 3</vt:lpstr>
      <vt:lpstr>Office Theme</vt:lpstr>
      <vt:lpstr>Wisp</vt:lpstr>
      <vt:lpstr>Lesson objective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Independent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6</cp:revision>
  <dcterms:created xsi:type="dcterms:W3CDTF">2022-02-08T08:37:38Z</dcterms:created>
  <dcterms:modified xsi:type="dcterms:W3CDTF">2022-02-09T04:01:30Z</dcterms:modified>
</cp:coreProperties>
</file>
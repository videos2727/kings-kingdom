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6" r:id="rId3"/>
    <p:sldId id="277" r:id="rId4"/>
    <p:sldId id="280" r:id="rId5"/>
    <p:sldId id="281" r:id="rId6"/>
    <p:sldId id="278" r:id="rId7"/>
    <p:sldId id="279" r:id="rId8"/>
    <p:sldId id="259" r:id="rId9"/>
    <p:sldId id="260" r:id="rId10"/>
    <p:sldId id="258" r:id="rId11"/>
    <p:sldId id="261" r:id="rId12"/>
    <p:sldId id="283" r:id="rId13"/>
    <p:sldId id="284" r:id="rId14"/>
    <p:sldId id="28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D1C1-637D-45CB-B8EC-BA6037C3F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7AF3D-0358-4E65-8C78-91E0BCED5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F7FB-466F-4286-AAF2-693268B8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BE77B-A3FF-4935-8580-621189F9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D6EDF-29EE-4A09-943B-11159FFE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416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E316-D322-48BE-A9EF-398F1098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37BC-D099-4BEC-A5BE-1DBAEE90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9953E-9EF9-4CD6-B786-63F753104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F60D-C0CC-4C9F-9B48-FE4414B4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24CF4-0EB9-4C4A-8F2B-6FCCB2D1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80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0333-03A0-4D39-BD83-E0FB7B43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09A68-5C25-492D-97F3-0D4E949CB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BDAE2-0F3F-4849-B0C1-BFC06EE8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3EE34-26F6-47A7-AF61-5DD030E3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117A-14F2-4413-BC23-C75CDBC8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218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3244-8A32-4398-A0C6-5CA87F9A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622BB-B827-4AB9-B12B-F606F64C1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1CB5B-7925-45B1-8306-820D45EC0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10282-AECA-486F-ABCE-EE2A1A92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BA85E-B5D4-4CAF-8471-85DAAD05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81D6A-A4F9-4EB3-A7E8-D9A468D8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054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4804-7FBD-4C30-A46E-95A9C7F0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7ECCB-BE08-485E-8AC9-5219436B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920A9-F3B5-4C2D-91CD-2D398F79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D9CE9-EC8F-47F9-A552-C9E54900D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3C75D-0F16-41EF-8D31-C90352952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EBA4D-E8A6-4968-9A67-E5E8770C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045A3-F76C-4380-97D0-2DDD22A0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96D26C-42C6-4FEC-B85F-F7333633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31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5597-508C-4BA5-B23E-07CE5767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075D8-86DE-4F2F-A190-8D29D870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15D95-2546-4AE0-A76C-BCF03E87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FBD08-4AD4-4BCA-B077-A51A0996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62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379D2-D693-4705-AD76-7312BF4B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DDA5A-F287-4FF8-AFCC-E743ED96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4CD3-A0B9-4C1C-95C8-540A0767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611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C4D2-4195-488A-8D3C-F95EF4C3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35695-0B39-42E6-9988-B471C31A5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90E1C-7164-4BE4-A548-E71ABD4B9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C8E19-2D1D-4A91-8068-AD4D4059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40D2D-D832-4211-B3FF-52624C90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3506D-48F0-4FED-922F-AD42E24A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7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8003-FBAB-4D4E-A1C9-7CDAD144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B8971-6657-49E0-BB06-C13D525F9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9127B-7EF9-46FA-9B4A-566F4B390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EF5D9-8A9F-49F2-B6CA-13F06018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F844D-5AB0-4B1A-8319-063911F8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C1571-CAD2-4B4E-B50E-CE721C35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66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A168-DE7F-4B6D-9A9B-191F4824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06923-F031-4996-A30A-F317A5E9A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C0D97-1F96-48C3-BE11-8D30782B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9839A-D3FD-41C0-A415-7B2725C1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65D12-A526-446B-A4B1-B5B9E079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356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E00F2-00D6-4865-80AA-3C0B6A983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A0B97-01EF-4D1B-8B2A-96842D06F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ADD8-1755-486E-BBAB-445C8D57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CDDF-F694-4BF0-BD6C-8D720C5A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EB5C-F5B8-41B1-AFC7-2DE4B274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22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9C772-FA3A-4C9D-9607-8482085C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DEF18-7E6E-46F5-8A9F-73EAE03E3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B955B-7E5E-45DE-8BB8-675DC5D88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05A68-D07D-4EBC-88BD-0CDC8B388999}" type="datetimeFigureOut">
              <a:rPr lang="en-AU" smtClean="0"/>
              <a:t>1/02/2022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07C02-2620-4DAE-A5BB-732A4AC7F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4448-7EA1-4AF3-BFC0-38990533F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2C4C-507F-4E5C-B680-BD3AB784BC1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92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54A2-ABFB-4560-B456-5F104F73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DBABA-9162-4C9E-8EE4-F86D9355C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800" dirty="0"/>
              <a:t>TITLE: </a:t>
            </a:r>
            <a:r>
              <a:rPr lang="en-AU" sz="2800" dirty="0">
                <a:solidFill>
                  <a:schemeClr val="accent1"/>
                </a:solidFill>
              </a:rPr>
              <a:t>Whole number addition and subtraction </a:t>
            </a:r>
          </a:p>
          <a:p>
            <a:pPr marL="0" indent="0">
              <a:buNone/>
            </a:pPr>
            <a:r>
              <a:rPr lang="en-AU" sz="2800" dirty="0">
                <a:solidFill>
                  <a:schemeClr val="accent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chemeClr val="accent1"/>
                </a:solidFill>
              </a:rPr>
              <a:t> I can explain commutative law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chemeClr val="accent1"/>
                </a:solidFill>
              </a:rPr>
              <a:t> I am able to perform mental strategies and simple algorithms for addition and subtraction</a:t>
            </a:r>
          </a:p>
          <a:p>
            <a:pPr marL="0" indent="0">
              <a:buNone/>
            </a:pPr>
            <a:r>
              <a:rPr lang="en-AU" sz="2800" dirty="0">
                <a:solidFill>
                  <a:schemeClr val="accent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sz="2800" dirty="0">
                <a:solidFill>
                  <a:schemeClr val="accent1"/>
                </a:solidFill>
              </a:rPr>
              <a:t>Finish our notes page </a:t>
            </a:r>
          </a:p>
          <a:p>
            <a:pPr>
              <a:buFontTx/>
              <a:buChar char="-"/>
            </a:pPr>
            <a:r>
              <a:rPr lang="en-AU" sz="2800" dirty="0">
                <a:solidFill>
                  <a:schemeClr val="accent1"/>
                </a:solidFill>
              </a:rPr>
              <a:t>Practice using notes </a:t>
            </a:r>
          </a:p>
          <a:p>
            <a:pPr>
              <a:buFontTx/>
              <a:buChar char="-"/>
            </a:pPr>
            <a:r>
              <a:rPr lang="en-AU" sz="2800" dirty="0">
                <a:solidFill>
                  <a:schemeClr val="accent1"/>
                </a:solidFill>
              </a:rPr>
              <a:t>Discuss communitive law </a:t>
            </a:r>
          </a:p>
          <a:p>
            <a:pPr>
              <a:buFontTx/>
              <a:buChar char="-"/>
            </a:pPr>
            <a:r>
              <a:rPr lang="en-AU" sz="2800" dirty="0">
                <a:solidFill>
                  <a:schemeClr val="accent1"/>
                </a:solidFill>
              </a:rPr>
              <a:t>Large number algorithms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958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FD93-ED40-43A2-A374-08162FE7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Inside: the important stuff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EBB31-805E-42AD-96BF-162ED19889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07149"/>
          <a:ext cx="10700208" cy="51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052">
                  <a:extLst>
                    <a:ext uri="{9D8B030D-6E8A-4147-A177-3AD203B41FA5}">
                      <a16:colId xmlns:a16="http://schemas.microsoft.com/office/drawing/2014/main" val="3119906956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844502888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602226687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3182083009"/>
                    </a:ext>
                  </a:extLst>
                </a:gridCol>
              </a:tblGrid>
              <a:tr h="2820933">
                <a:tc>
                  <a:txBody>
                    <a:bodyPr/>
                    <a:lstStyle/>
                    <a:p>
                      <a:r>
                        <a:rPr lang="en-AU" u="sng" dirty="0"/>
                        <a:t>Same signs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Add the numbers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Answer is the same sign as the numbers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dirty="0"/>
                        <a:t>E.g.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Subtract the numbers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Answer is the same sign as the “bigger” number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dirty="0"/>
                        <a:t>E.g.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 u="sng" dirty="0"/>
                        <a:t>Keep, change, change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KEEP the first number the same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CHANGE subtraction to addition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CHANGE the sign of the other number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Then follow addition rules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AU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/>
                        <a:t>14 – (-3) </a:t>
                      </a:r>
                      <a:r>
                        <a:rPr lang="en-AU" u="none" dirty="0">
                          <a:sym typeface="Wingdings" panose="05000000000000000000" pitchFamily="2" charset="2"/>
                        </a:rPr>
                        <a:t> 14 + 3 = 17 	</a:t>
                      </a:r>
                      <a:r>
                        <a:rPr lang="en-AU" u="none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(demo number line)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AU" u="none" dirty="0">
                        <a:sym typeface="Wingdings" panose="05000000000000000000" pitchFamily="2" charset="2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>
                          <a:sym typeface="Wingdings" panose="05000000000000000000" pitchFamily="2" charset="2"/>
                        </a:rPr>
                        <a:t>(-8) – 2  (-8) + (-2) = -10 </a:t>
                      </a:r>
                      <a:endParaRPr lang="en-AU" u="non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387396"/>
                  </a:ext>
                </a:extLst>
              </a:tr>
              <a:tr h="2364792">
                <a:tc>
                  <a:txBody>
                    <a:bodyPr/>
                    <a:lstStyle/>
                    <a:p>
                      <a:r>
                        <a:rPr lang="en-AU" u="sng" dirty="0"/>
                        <a:t>Same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positive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negative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Same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positive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negative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416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9E2BBC-A6D7-4F98-8B2F-CFA7EE52AC2D}"/>
              </a:ext>
            </a:extLst>
          </p:cNvPr>
          <p:cNvSpPr txBox="1"/>
          <p:nvPr/>
        </p:nvSpPr>
        <p:spPr>
          <a:xfrm>
            <a:off x="653592" y="6488668"/>
            <a:ext cx="562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would happen if we multiplied 3 negative numbers?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7E013-FF36-4621-A78C-5CD2D405BBE9}"/>
              </a:ext>
            </a:extLst>
          </p:cNvPr>
          <p:cNvSpPr/>
          <p:nvPr/>
        </p:nvSpPr>
        <p:spPr>
          <a:xfrm>
            <a:off x="6283755" y="1427588"/>
            <a:ext cx="4927074" cy="26620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10CF-C013-4EAF-A528-40C16E513886}"/>
              </a:ext>
            </a:extLst>
          </p:cNvPr>
          <p:cNvSpPr/>
          <p:nvPr/>
        </p:nvSpPr>
        <p:spPr>
          <a:xfrm>
            <a:off x="904973" y="4174422"/>
            <a:ext cx="2243580" cy="13255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0CE938-2D79-48E0-99BD-1C2622031F85}"/>
              </a:ext>
            </a:extLst>
          </p:cNvPr>
          <p:cNvSpPr/>
          <p:nvPr/>
        </p:nvSpPr>
        <p:spPr>
          <a:xfrm>
            <a:off x="3520125" y="4225288"/>
            <a:ext cx="2243580" cy="13255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3E506D-6CA2-44AF-B2C2-1AD4165E98DF}"/>
              </a:ext>
            </a:extLst>
          </p:cNvPr>
          <p:cNvSpPr/>
          <p:nvPr/>
        </p:nvSpPr>
        <p:spPr>
          <a:xfrm>
            <a:off x="6277567" y="4174422"/>
            <a:ext cx="2243580" cy="13255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06AE18-54E3-4E74-893F-C48D5F680E95}"/>
              </a:ext>
            </a:extLst>
          </p:cNvPr>
          <p:cNvSpPr/>
          <p:nvPr/>
        </p:nvSpPr>
        <p:spPr>
          <a:xfrm>
            <a:off x="8907987" y="4225287"/>
            <a:ext cx="2243580" cy="13255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47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A1E8-A685-4E39-B9D4-142B982B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B072E-B504-40AF-9832-3D5D074AC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3A27CE-A006-403F-9240-9953ED5B87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11 + (-6)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 – (-5)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(-6) – 5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(-5) – 13 = </a:t>
            </a:r>
          </a:p>
          <a:p>
            <a:pPr marL="514350" indent="-514350">
              <a:buAutoNum type="alphaLcParenR"/>
            </a:pP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E50E5D-6CEB-4D7B-8E91-B33E3F6A6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0098BB-6F75-44F8-8740-18E6DD06BD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14 + (-11) =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11 – (-9) =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(-8) – 5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(-11) – 8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794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0B4B-A395-4B57-99A1-5775F89D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Division and multiplication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0409-6F4A-4C26-B43E-3180F9CFB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1CF7A-E1CB-4F3A-A83E-5A773490F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3 x 5 =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(-4) x (-8)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(-7) x 3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 x (- 3) =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04419-F635-4F0A-BBF8-E214DF66C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43C47-771C-4C83-BE50-6C17F1D944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AU" dirty="0"/>
              <a:t>4 x 7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(-3) x (-5)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(-6) x 6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9 x (-2) =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27B45B-F8C8-41CA-B7D2-1644FB99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 practice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BE905E-EA8E-4B82-964E-AEC0CABEA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4 + 9 = </a:t>
            </a:r>
          </a:p>
          <a:p>
            <a:pPr marL="514350" indent="-514350">
              <a:buAutoNum type="alphaLcParenR"/>
            </a:pPr>
            <a:r>
              <a:rPr lang="en-US" dirty="0"/>
              <a:t>7 + 11</a:t>
            </a:r>
          </a:p>
          <a:p>
            <a:pPr marL="514350" indent="-514350">
              <a:buAutoNum type="alphaLcParenR"/>
            </a:pPr>
            <a:r>
              <a:rPr lang="en-US" dirty="0"/>
              <a:t>(-5) + 7 = </a:t>
            </a:r>
          </a:p>
          <a:p>
            <a:pPr marL="514350" indent="-514350">
              <a:buAutoNum type="alphaLcParenR"/>
            </a:pPr>
            <a:r>
              <a:rPr lang="en-US" dirty="0"/>
              <a:t>20 + (-6) = </a:t>
            </a:r>
          </a:p>
          <a:p>
            <a:pPr marL="514350" indent="-514350">
              <a:buAutoNum type="alphaLcParenR"/>
            </a:pPr>
            <a:r>
              <a:rPr lang="en-US" dirty="0"/>
              <a:t>12 – (-5) =</a:t>
            </a:r>
          </a:p>
          <a:p>
            <a:pPr marL="514350" indent="-514350">
              <a:buAutoNum type="alphaLcParenR"/>
            </a:pPr>
            <a:r>
              <a:rPr lang="en-US" dirty="0"/>
              <a:t>6 – (-3) = </a:t>
            </a:r>
          </a:p>
          <a:p>
            <a:pPr marL="514350" indent="-514350">
              <a:buAutoNum type="alphaLcParenR"/>
            </a:pPr>
            <a:r>
              <a:rPr lang="en-US" dirty="0"/>
              <a:t>(-8) – 4 = </a:t>
            </a:r>
          </a:p>
          <a:p>
            <a:pPr marL="514350" indent="-514350">
              <a:buAutoNum type="alphaLcParenR"/>
            </a:pPr>
            <a:r>
              <a:rPr lang="en-US" dirty="0"/>
              <a:t>(-15) – 6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452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F1CB857-61C9-44D8-AF2D-5C16AD28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97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 practice: exercise book </a:t>
            </a:r>
            <a:endParaRPr lang="en-AU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6C2A38B-C89F-4183-9574-7B22B3FE2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246" y="1121619"/>
            <a:ext cx="11008653" cy="5102969"/>
          </a:xfrm>
        </p:spPr>
      </p:pic>
    </p:spTree>
    <p:extLst>
      <p:ext uri="{BB962C8B-B14F-4D97-AF65-F5344CB8AC3E}">
        <p14:creationId xmlns:p14="http://schemas.microsoft.com/office/powerpoint/2010/main" val="18429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A74C-709C-46EE-90E2-C64E153B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 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8816DF-74F8-41F3-83DE-5D44FE82A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601" y="1340387"/>
            <a:ext cx="11416797" cy="5293776"/>
          </a:xfrm>
        </p:spPr>
      </p:pic>
    </p:spTree>
    <p:extLst>
      <p:ext uri="{BB962C8B-B14F-4D97-AF65-F5344CB8AC3E}">
        <p14:creationId xmlns:p14="http://schemas.microsoft.com/office/powerpoint/2010/main" val="139716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336D-0DBD-4FCC-A7F5-DBF8F6CF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Commutative Law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2DC5F-D7C0-4D7C-ADDF-E149338C6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Any finite sum or product is unaltered by reordering its terms or factors</a:t>
            </a:r>
          </a:p>
          <a:p>
            <a:pPr marL="0" indent="0">
              <a:buNone/>
            </a:pPr>
            <a:r>
              <a:rPr lang="en-AU" u="sng" dirty="0"/>
              <a:t>Made simple: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Addition and multiplication are not affected if the order of the numbers are changed</a:t>
            </a:r>
          </a:p>
          <a:p>
            <a:pPr marL="0" indent="0">
              <a:buNone/>
            </a:pPr>
            <a:r>
              <a:rPr lang="en-AU" dirty="0"/>
              <a:t>Addition and multiplication are ___ affected if the order of the numbers are changed</a:t>
            </a:r>
          </a:p>
          <a:p>
            <a:pPr marL="0" indent="0">
              <a:buNone/>
            </a:pPr>
            <a:r>
              <a:rPr lang="en-AU" dirty="0"/>
              <a:t>Addition and multiplication are ___ affected if the order of the number are ______</a:t>
            </a:r>
          </a:p>
          <a:p>
            <a:pPr marL="0" indent="0">
              <a:buNone/>
            </a:pPr>
            <a:r>
              <a:rPr lang="en-AU" dirty="0"/>
              <a:t>What is not affected by changing the order of terms? </a:t>
            </a:r>
          </a:p>
        </p:txBody>
      </p:sp>
    </p:spTree>
    <p:extLst>
      <p:ext uri="{BB962C8B-B14F-4D97-AF65-F5344CB8AC3E}">
        <p14:creationId xmlns:p14="http://schemas.microsoft.com/office/powerpoint/2010/main" val="28075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82E39-60F8-43CD-8EB2-3A306715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Commutative law examples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A3760-F840-433C-99F8-2A5693165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Addition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E5CAEB-9B3E-4D1C-BCFF-60E0D83DFA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 + b = b + a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4 + 5 = 5 + 4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12 + 7 = 7 + 12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(a + b) + c = (c + b) + 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11D4F1-1406-416F-8BA6-0A7067DC3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Multiplication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275B7A-A6F1-464D-A582-68B477A5B5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 x b = b x a</a:t>
            </a:r>
          </a:p>
          <a:p>
            <a:pPr marL="0" indent="0" algn="ctr">
              <a:buNone/>
            </a:pPr>
            <a:r>
              <a:rPr lang="en-AU" dirty="0"/>
              <a:t>ab = </a:t>
            </a:r>
            <a:r>
              <a:rPr lang="en-AU" dirty="0" err="1"/>
              <a:t>ba</a:t>
            </a:r>
            <a:r>
              <a:rPr lang="en-AU" dirty="0"/>
              <a:t>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 x 6 = 6 x 3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100 x 8 = 8 x 100 </a:t>
            </a:r>
          </a:p>
        </p:txBody>
      </p:sp>
    </p:spTree>
    <p:extLst>
      <p:ext uri="{BB962C8B-B14F-4D97-AF65-F5344CB8AC3E}">
        <p14:creationId xmlns:p14="http://schemas.microsoft.com/office/powerpoint/2010/main" val="19607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a calculator keypad">
            <a:extLst>
              <a:ext uri="{FF2B5EF4-FFF2-40B4-BE49-F238E27FC236}">
                <a16:creationId xmlns:a16="http://schemas.microsoft.com/office/drawing/2014/main" id="{FCAB67D5-63E5-498A-A89E-256EC1CD0C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09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5B634-6089-487B-911A-C2614731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What is an Algorithm?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3E52-4656-43F5-91A3-A747A6165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>
                <a:solidFill>
                  <a:srgbClr val="FFFFFF"/>
                </a:solidFill>
              </a:rPr>
              <a:t>An algorithm is a process or a set of rules to be followed in calculations or other problem-solving operations.</a:t>
            </a:r>
          </a:p>
          <a:p>
            <a:pPr marL="0" indent="0">
              <a:buNone/>
            </a:pPr>
            <a:endParaRPr lang="en-AU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AU" sz="2000">
                <a:solidFill>
                  <a:srgbClr val="FFFFFF"/>
                </a:solidFill>
              </a:rPr>
              <a:t>We do it when we add, subtract, divide and multiply in mathematics and, computers do it when they perform functions. </a:t>
            </a:r>
          </a:p>
        </p:txBody>
      </p:sp>
    </p:spTree>
    <p:extLst>
      <p:ext uri="{BB962C8B-B14F-4D97-AF65-F5344CB8AC3E}">
        <p14:creationId xmlns:p14="http://schemas.microsoft.com/office/powerpoint/2010/main" val="2537736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22BD39-6B5B-493A-BE62-58ECD0F7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741521E-DC76-41B9-8A47-448CD4F9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72661" y="-3359290"/>
            <a:ext cx="5470372" cy="12188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F53C4-DEB1-4C18-9795-F2DD45FF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32" y="184336"/>
            <a:ext cx="9283781" cy="14059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/>
              <a:t>Large number algorithm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D85F6-ECDC-4124-9916-6444E142C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78" y="685797"/>
            <a:ext cx="118872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A86352B5-C602-46E9-A16D-081CEFE71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r="-1" b="2542"/>
          <a:stretch/>
        </p:blipFill>
        <p:spPr>
          <a:xfrm>
            <a:off x="-1078" y="3076855"/>
            <a:ext cx="12188952" cy="31182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B5D26B4-74AD-4118-8F13-7051DA3BF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F7CDF7-05CA-4FF5-8139-030836CFB5C1}"/>
              </a:ext>
            </a:extLst>
          </p:cNvPr>
          <p:cNvCxnSpPr/>
          <p:nvPr/>
        </p:nvCxnSpPr>
        <p:spPr>
          <a:xfrm>
            <a:off x="1633491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DEC4F-DE9B-469E-81DC-38E82B5EEA8E}"/>
              </a:ext>
            </a:extLst>
          </p:cNvPr>
          <p:cNvCxnSpPr/>
          <p:nvPr/>
        </p:nvCxnSpPr>
        <p:spPr>
          <a:xfrm>
            <a:off x="2087732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E7A0CE-9C7D-4F4D-9EF2-A4CA99B0DABB}"/>
              </a:ext>
            </a:extLst>
          </p:cNvPr>
          <p:cNvCxnSpPr/>
          <p:nvPr/>
        </p:nvCxnSpPr>
        <p:spPr>
          <a:xfrm>
            <a:off x="3889899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61B3B5-5727-42BE-9011-EB48C2ABD5F0}"/>
              </a:ext>
            </a:extLst>
          </p:cNvPr>
          <p:cNvCxnSpPr/>
          <p:nvPr/>
        </p:nvCxnSpPr>
        <p:spPr>
          <a:xfrm>
            <a:off x="4307149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1A7E38-D839-4120-B440-00DE78762054}"/>
              </a:ext>
            </a:extLst>
          </p:cNvPr>
          <p:cNvSpPr txBox="1"/>
          <p:nvPr/>
        </p:nvSpPr>
        <p:spPr>
          <a:xfrm>
            <a:off x="6045522" y="4374737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245</a:t>
            </a:r>
          </a:p>
          <a:p>
            <a:r>
              <a:rPr lang="en-US" sz="2400" b="1" u="sng" dirty="0"/>
              <a:t>+	156 </a:t>
            </a:r>
          </a:p>
          <a:p>
            <a:endParaRPr lang="en-US" sz="2000" dirty="0"/>
          </a:p>
          <a:p>
            <a:endParaRPr lang="en-A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550B4-9DF6-48B0-8925-9A1D87E531DA}"/>
              </a:ext>
            </a:extLst>
          </p:cNvPr>
          <p:cNvSpPr txBox="1"/>
          <p:nvPr/>
        </p:nvSpPr>
        <p:spPr>
          <a:xfrm>
            <a:off x="9306882" y="4350058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245</a:t>
            </a:r>
          </a:p>
          <a:p>
            <a:r>
              <a:rPr lang="en-US" sz="2400" b="1" u="sng" dirty="0"/>
              <a:t>-	136 </a:t>
            </a:r>
          </a:p>
          <a:p>
            <a:endParaRPr lang="en-US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626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2060-9BED-43C3-959F-0FA6D1A8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5C1A-7D55-40F1-840E-EE3FC5ABB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A35460-CA2C-42D5-905B-8C540CED1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9A315-16B0-451D-89C7-2193BAB4E69E}"/>
              </a:ext>
            </a:extLst>
          </p:cNvPr>
          <p:cNvSpPr txBox="1"/>
          <p:nvPr/>
        </p:nvSpPr>
        <p:spPr>
          <a:xfrm>
            <a:off x="337181" y="3429000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467</a:t>
            </a:r>
          </a:p>
          <a:p>
            <a:r>
              <a:rPr lang="en-US" sz="2400" b="1" u="sng" dirty="0"/>
              <a:t>+	215 </a:t>
            </a:r>
          </a:p>
          <a:p>
            <a:endParaRPr lang="en-US" sz="2000" dirty="0"/>
          </a:p>
          <a:p>
            <a:endParaRPr lang="en-A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B5DD0-605D-4CF2-9245-1C9867000DC9}"/>
              </a:ext>
            </a:extLst>
          </p:cNvPr>
          <p:cNvSpPr txBox="1"/>
          <p:nvPr/>
        </p:nvSpPr>
        <p:spPr>
          <a:xfrm>
            <a:off x="3254690" y="3429000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548</a:t>
            </a:r>
          </a:p>
          <a:p>
            <a:r>
              <a:rPr lang="en-US" sz="2400" b="1" u="sng" dirty="0"/>
              <a:t>- 	326 </a:t>
            </a:r>
          </a:p>
          <a:p>
            <a:endParaRPr lang="en-US" sz="2000" dirty="0"/>
          </a:p>
          <a:p>
            <a:endParaRPr lang="en-A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20AD8-726B-4B49-B409-1C4A13580B5C}"/>
              </a:ext>
            </a:extLst>
          </p:cNvPr>
          <p:cNvSpPr txBox="1"/>
          <p:nvPr/>
        </p:nvSpPr>
        <p:spPr>
          <a:xfrm>
            <a:off x="6542671" y="3431868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555</a:t>
            </a:r>
          </a:p>
          <a:p>
            <a:r>
              <a:rPr lang="en-US" sz="2400" b="1" u="sng" dirty="0"/>
              <a:t>+	234 </a:t>
            </a:r>
          </a:p>
          <a:p>
            <a:endParaRPr lang="en-US" sz="2000" dirty="0"/>
          </a:p>
          <a:p>
            <a:endParaRPr lang="en-A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B5B2A-9391-45B9-A209-E495E9ED6B75}"/>
              </a:ext>
            </a:extLst>
          </p:cNvPr>
          <p:cNvSpPr txBox="1"/>
          <p:nvPr/>
        </p:nvSpPr>
        <p:spPr>
          <a:xfrm>
            <a:off x="9460180" y="3429000"/>
            <a:ext cx="2133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784</a:t>
            </a:r>
          </a:p>
          <a:p>
            <a:r>
              <a:rPr lang="en-US" sz="2400" b="1" u="sng" dirty="0"/>
              <a:t>-	563 </a:t>
            </a:r>
          </a:p>
          <a:p>
            <a:endParaRPr lang="en-US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22879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40B12ED-6C58-467F-81BE-4F59D0D4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– exercise books </a:t>
            </a:r>
            <a:endParaRPr lang="en-AU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AAC353C-DCFC-413B-9BF1-28DF1A581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566" y="1360959"/>
            <a:ext cx="9281384" cy="5497041"/>
          </a:xfrm>
        </p:spPr>
      </p:pic>
    </p:spTree>
    <p:extLst>
      <p:ext uri="{BB962C8B-B14F-4D97-AF65-F5344CB8AC3E}">
        <p14:creationId xmlns:p14="http://schemas.microsoft.com/office/powerpoint/2010/main" val="315271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A03E-1B18-48F4-8B8D-00CA42AD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Mixed large numbers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D128-B61F-460B-B203-E710EFC44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2450 – (-145) =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560 + (-215) =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(-345) + 259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5480 + (-1438) = </a:t>
            </a:r>
          </a:p>
        </p:txBody>
      </p:sp>
    </p:spTree>
    <p:extLst>
      <p:ext uri="{BB962C8B-B14F-4D97-AF65-F5344CB8AC3E}">
        <p14:creationId xmlns:p14="http://schemas.microsoft.com/office/powerpoint/2010/main" val="2183938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BFDDA-D0DA-486F-BB85-ACD456C4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How did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54CC-2F56-466B-8E33-7809EECEB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400" dirty="0"/>
              <a:t>Success criteria: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dirty="0"/>
              <a:t> I can explain commutative law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dirty="0"/>
              <a:t> I am able to perform mental strategies and simple algorithms for addition and subtraction</a:t>
            </a:r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4440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642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Lesson objective </vt:lpstr>
      <vt:lpstr>Inside: the important stuff </vt:lpstr>
      <vt:lpstr>Notes practice </vt:lpstr>
      <vt:lpstr>Division and multiplication</vt:lpstr>
      <vt:lpstr>Whiteboard practice </vt:lpstr>
      <vt:lpstr>Individual practice: exercise book </vt:lpstr>
      <vt:lpstr>Answers </vt:lpstr>
      <vt:lpstr>Commutative Law </vt:lpstr>
      <vt:lpstr>Commutative law examples </vt:lpstr>
      <vt:lpstr>What is an Algorithm?</vt:lpstr>
      <vt:lpstr>Large number algorithm </vt:lpstr>
      <vt:lpstr>Practice </vt:lpstr>
      <vt:lpstr>You do – exercise books </vt:lpstr>
      <vt:lpstr>Mixed large numbers </vt:lpstr>
      <vt:lpstr>How did we do?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8 Lesson 2</dc:title>
  <dc:creator>Rhys DAVIES</dc:creator>
  <cp:lastModifiedBy>DAVIES Rhys [Busselton Senior High School]</cp:lastModifiedBy>
  <cp:revision>20</cp:revision>
  <dcterms:created xsi:type="dcterms:W3CDTF">2021-02-05T10:01:41Z</dcterms:created>
  <dcterms:modified xsi:type="dcterms:W3CDTF">2022-02-01T00:01:21Z</dcterms:modified>
</cp:coreProperties>
</file>
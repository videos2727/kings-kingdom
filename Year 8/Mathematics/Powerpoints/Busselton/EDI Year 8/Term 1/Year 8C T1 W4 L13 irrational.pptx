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81" r:id="rId3"/>
    <p:sldId id="28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86" d="100"/>
          <a:sy n="86" d="100"/>
        </p:scale>
        <p:origin x="33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21/02/2022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151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21/02/2022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760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21/02/2022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7358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21/02/2022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0115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21/02/2022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2534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21/02/2022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5994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21/02/2022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772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21/02/2022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084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21/02/2022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5245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21/02/2022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904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21/02/2022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6854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21/02/2022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9522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21/02/2022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4834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21/02/2022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8106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21/02/2022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1063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21/02/2022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0271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21/02/2022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9937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61448" y="79814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1" b="1" dirty="0">
                <a:solidFill>
                  <a:srgbClr val="FF0000"/>
                </a:solidFill>
                <a:latin typeface="Century Gothic" panose="020B0502020202020204"/>
              </a:rPr>
              <a:t>21</a:t>
            </a: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/02/2022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85750" y="2151247"/>
            <a:ext cx="94768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 to apply the 4 operations to rational numbers, both positive and negative.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Know what is meant by an irrational number.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56772" y="4017107"/>
            <a:ext cx="750414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review:	</a:t>
            </a:r>
          </a:p>
          <a:p>
            <a:pPr marL="984250" marR="0" lvl="0" indent="-4413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Decimal addition / subtraction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 operations independent practice.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Irrational numbers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30430-5045-4AF5-8615-283B432BCE57}"/>
              </a:ext>
            </a:extLst>
          </p:cNvPr>
          <p:cNvSpPr txBox="1"/>
          <p:nvPr/>
        </p:nvSpPr>
        <p:spPr>
          <a:xfrm>
            <a:off x="2456772" y="581587"/>
            <a:ext cx="9476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Title: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Operations with integers</a:t>
            </a:r>
          </a:p>
        </p:txBody>
      </p:sp>
    </p:spTree>
    <p:extLst>
      <p:ext uri="{BB962C8B-B14F-4D97-AF65-F5344CB8AC3E}">
        <p14:creationId xmlns:p14="http://schemas.microsoft.com/office/powerpoint/2010/main" val="3143057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65C0ED-AE82-4B6B-8B18-7930FB2FF220}"/>
              </a:ext>
            </a:extLst>
          </p:cNvPr>
          <p:cNvSpPr txBox="1"/>
          <p:nvPr/>
        </p:nvSpPr>
        <p:spPr>
          <a:xfrm>
            <a:off x="2757317" y="587822"/>
            <a:ext cx="8695944" cy="1302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AU" sz="2400" u="sng" dirty="0"/>
              <a:t>Double signs:</a:t>
            </a:r>
          </a:p>
          <a:p>
            <a:r>
              <a:rPr lang="en-AU" sz="2400" dirty="0"/>
              <a:t>Adding a negative number is the same as</a:t>
            </a:r>
          </a:p>
          <a:p>
            <a:r>
              <a:rPr lang="en-AU" sz="2400" dirty="0"/>
              <a:t>Subtracting a negative number is the same 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FF50D-9D05-4583-B594-04207A459D02}"/>
              </a:ext>
            </a:extLst>
          </p:cNvPr>
          <p:cNvSpPr txBox="1"/>
          <p:nvPr/>
        </p:nvSpPr>
        <p:spPr>
          <a:xfrm>
            <a:off x="3483864" y="1957878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5 + (-6) can be written as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43348-2777-443C-A006-FE79B3A4A07A}"/>
              </a:ext>
            </a:extLst>
          </p:cNvPr>
          <p:cNvSpPr txBox="1"/>
          <p:nvPr/>
        </p:nvSpPr>
        <p:spPr>
          <a:xfrm>
            <a:off x="3685093" y="2486678"/>
            <a:ext cx="617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-7– (-3) can be written as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6685" y="3067092"/>
            <a:ext cx="738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/>
              <a:t>Multiplication and division: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9128" y="3709193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positive number by a negative number will always give a  ____________ result.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E91C3-D140-4761-B2B2-A2D4F1C4AC85}"/>
              </a:ext>
            </a:extLst>
          </p:cNvPr>
          <p:cNvSpPr txBox="1"/>
          <p:nvPr/>
        </p:nvSpPr>
        <p:spPr>
          <a:xfrm>
            <a:off x="2089127" y="4540190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negative number by a positive number will always give a ______________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9127" y="5371187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negative number by a negative number will always give a ___________  result.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079831" y="1044000"/>
            <a:ext cx="2983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subtracting.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6064" y="1404000"/>
            <a:ext cx="1652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adding.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46527" y="1927035"/>
            <a:ext cx="1212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AU" sz="2400">
                <a:solidFill>
                  <a:srgbClr val="FF0000"/>
                </a:solidFill>
              </a:rPr>
              <a:t>– 6 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04000" y="2481642"/>
            <a:ext cx="971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AU" sz="2400" dirty="0">
                <a:solidFill>
                  <a:srgbClr val="FF0000"/>
                </a:solidFill>
              </a:rPr>
              <a:t>+ 3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4477923" y="4007160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</a:rPr>
              <a:t>negative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4477922" y="4857073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</a:rPr>
              <a:t>negative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4477922" y="5689356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</a:rPr>
              <a:t>positive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19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9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82708" y="1013702"/>
            <a:ext cx="738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/>
              <a:t>Multiplication and division: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5151" y="1655803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Dividing a positive number by a negative number will always give a  ____________ result.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E91C3-D140-4761-B2B2-A2D4F1C4AC85}"/>
              </a:ext>
            </a:extLst>
          </p:cNvPr>
          <p:cNvSpPr txBox="1"/>
          <p:nvPr/>
        </p:nvSpPr>
        <p:spPr>
          <a:xfrm>
            <a:off x="2555150" y="2486800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negative number by a positive number will always give a ______________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5150" y="3317797"/>
            <a:ext cx="93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Multiplying a negative number by a negative number will always give a ___________  result.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3965377" y="1972686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</a:rPr>
              <a:t>negative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4943945" y="2803683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</a:rPr>
              <a:t>negative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D0C66E-2F46-42BD-AF31-A5B2A4406908}"/>
              </a:ext>
            </a:extLst>
          </p:cNvPr>
          <p:cNvSpPr txBox="1"/>
          <p:nvPr/>
        </p:nvSpPr>
        <p:spPr>
          <a:xfrm>
            <a:off x="4943945" y="3635966"/>
            <a:ext cx="1729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</a:rPr>
              <a:t>positive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67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30411" y="15257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review:	</a:t>
            </a:r>
          </a:p>
          <a:p>
            <a:pPr marL="984250" marR="0" lvl="0" indent="-4413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Decimal addition /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03839" y="1198604"/>
            <a:ext cx="773533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Addition and subtraction of rational numbers.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Line up decimal points.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Start working from right hand 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19634" y="2952524"/>
            <a:ext cx="2642177" cy="2041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234.75 + 23.1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234.75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+ 23.1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2681416" y="4460789"/>
            <a:ext cx="1050325" cy="247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86369" y="3128211"/>
            <a:ext cx="3352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231.54 – 42.8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231.54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  42.8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7426411" y="4677358"/>
            <a:ext cx="1050325" cy="247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24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70484" y="962525"/>
            <a:ext cx="2791327" cy="1672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-32.76 + (-56.89)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= -32.76 – 56.89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= - (32.76 + 56.89)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=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96589" y="1404000"/>
            <a:ext cx="2759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Double 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7326" y="1800000"/>
            <a:ext cx="2149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Number line</a:t>
            </a:r>
          </a:p>
        </p:txBody>
      </p:sp>
    </p:spTree>
    <p:extLst>
      <p:ext uri="{BB962C8B-B14F-4D97-AF65-F5344CB8AC3E}">
        <p14:creationId xmlns:p14="http://schemas.microsoft.com/office/powerpoint/2010/main" val="2597256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88106" y="1090591"/>
            <a:ext cx="3336757" cy="1405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45.56 – 67.345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= -(67.345 – 45.56)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=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8106" y="3224463"/>
            <a:ext cx="4090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-32.64 + 65.8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= 65.8 – 32.64</a:t>
            </a:r>
          </a:p>
        </p:txBody>
      </p:sp>
    </p:spTree>
    <p:extLst>
      <p:ext uri="{BB962C8B-B14F-4D97-AF65-F5344CB8AC3E}">
        <p14:creationId xmlns:p14="http://schemas.microsoft.com/office/powerpoint/2010/main" val="2882961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66674" y="1796443"/>
            <a:ext cx="3336757" cy="2821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2313" marR="0" lvl="0" indent="-7223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128.2 – (-41.76)</a:t>
            </a:r>
          </a:p>
          <a:p>
            <a:pPr marL="722313" marR="0" lvl="0" indent="-7223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-35.6 – (-45.1)</a:t>
            </a:r>
          </a:p>
          <a:p>
            <a:pPr marL="722313" marR="0" lvl="0" indent="-7223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56.267 – 65.98</a:t>
            </a:r>
          </a:p>
          <a:p>
            <a:pPr marL="722313" marR="0" lvl="0" indent="-7223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112 – 34.654</a:t>
            </a:r>
          </a:p>
          <a:p>
            <a:pPr marL="722313" marR="0" lvl="0" indent="-7223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-203.98 + 47.93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3559" y="160421"/>
            <a:ext cx="4636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Independent practice</a:t>
            </a:r>
          </a:p>
        </p:txBody>
      </p:sp>
    </p:spTree>
    <p:extLst>
      <p:ext uri="{BB962C8B-B14F-4D97-AF65-F5344CB8AC3E}">
        <p14:creationId xmlns:p14="http://schemas.microsoft.com/office/powerpoint/2010/main" val="2118079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4884" y="882316"/>
            <a:ext cx="633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 Operations rational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384884" y="2069431"/>
                <a:ext cx="5117431" cy="2693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34.25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(-2.6)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-23.864 + (-34.5)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-78.34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÷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(-0.5)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65.94 – 18.345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56.93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÷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(-4)</a:t>
                </a:r>
              </a:p>
              <a:p>
                <a:pPr marL="457200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FF0000"/>
                  </a:buClr>
                  <a:buSzTx/>
                  <a:buFontTx/>
                  <a:buAutoNum type="arabicPeriod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-2.45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(-3.26)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884" y="2069431"/>
                <a:ext cx="5117431" cy="2693045"/>
              </a:xfrm>
              <a:prstGeom prst="rect">
                <a:avLst/>
              </a:prstGeom>
              <a:blipFill>
                <a:blip r:embed="rId2"/>
                <a:stretch>
                  <a:fillRect l="-1786" t="-1810" b="-40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8343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86618" y="3745239"/>
            <a:ext cx="860702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 number is considered a rational number if it can be written as one integer divided by another integer. ... 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Rational numbers can be positive, negative or zero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20212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 When we write a negative rational number, we put the negative sign either out in front of the fraction or with the numerator.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22450" y="641685"/>
            <a:ext cx="873536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Irrational numbers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To understand the concept of an irrational number, we must first understand what is meant by a rational number.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1747" y="2248484"/>
            <a:ext cx="3433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Rational – ratio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nal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09346" y="2294651"/>
            <a:ext cx="375385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Ratio is a noun.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Rational is an adjective.</a:t>
            </a:r>
          </a:p>
        </p:txBody>
      </p:sp>
    </p:spTree>
    <p:extLst>
      <p:ext uri="{BB962C8B-B14F-4D97-AF65-F5344CB8AC3E}">
        <p14:creationId xmlns:p14="http://schemas.microsoft.com/office/powerpoint/2010/main" val="426070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82776" y="594396"/>
            <a:ext cx="975360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All terminating decimals are rational.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All non terminating decimals that recur are rational.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All non terminating decimals that do not recur are irrational.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911642" y="2310875"/>
                <a:ext cx="73472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𝜋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is the most well known irrational number.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642" y="2310875"/>
                <a:ext cx="7347285" cy="461665"/>
              </a:xfrm>
              <a:prstGeom prst="rect">
                <a:avLst/>
              </a:prstGeom>
              <a:blipFill>
                <a:blip r:embed="rId2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51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3064041" y="673770"/>
                <a:ext cx="9448800" cy="3334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Numbers that use the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/>
                    </m:rad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symbol are also irrational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(unless they work out to be exact values).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e>
                    </m:rad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= 2		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e>
                    </m:rad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is rational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</m:t>
                        </m:r>
                      </m:e>
                    </m:rad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is irrational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ad>
                      <m:rad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g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</m:t>
                        </m:r>
                      </m:e>
                    </m:rad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is rational 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g>
                      <m:e>
                        <m:r>
                          <a:rPr kumimoji="0" lang="en-AU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</m:t>
                        </m:r>
                      </m:e>
                    </m:rad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= 2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ad>
                      <m:rad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g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9</m:t>
                        </m:r>
                      </m:e>
                    </m:rad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 is irrational </a:t>
                </a: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041" y="673770"/>
                <a:ext cx="9448800" cy="3334759"/>
              </a:xfrm>
              <a:prstGeom prst="rect">
                <a:avLst/>
              </a:prstGeom>
              <a:blipFill>
                <a:blip r:embed="rId2"/>
                <a:stretch>
                  <a:fillRect l="-1032" b="-32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284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23411" y="3013501"/>
            <a:ext cx="39142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Write answers on the sheet.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B3BBA8-2978-4788-8A5F-4AFB4A892A59}"/>
              </a:ext>
            </a:extLst>
          </p:cNvPr>
          <p:cNvSpPr txBox="1"/>
          <p:nvPr/>
        </p:nvSpPr>
        <p:spPr>
          <a:xfrm>
            <a:off x="6533965" y="852256"/>
            <a:ext cx="4225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Rational numbers 4 operations practice sheet.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590314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522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</vt:lpstr>
      <vt:lpstr>Cambria Math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WALL Kevin [Busselton Senior High School]</dc:creator>
  <cp:lastModifiedBy>DAVIES Rhys [Busselton Senior High School]</cp:lastModifiedBy>
  <cp:revision>9</cp:revision>
  <dcterms:created xsi:type="dcterms:W3CDTF">2022-02-14T04:55:53Z</dcterms:created>
  <dcterms:modified xsi:type="dcterms:W3CDTF">2022-02-21T08:30:49Z</dcterms:modified>
</cp:coreProperties>
</file>
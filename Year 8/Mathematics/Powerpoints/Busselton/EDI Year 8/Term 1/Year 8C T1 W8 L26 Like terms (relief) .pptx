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93" r:id="rId2"/>
    <p:sldId id="309" r:id="rId3"/>
    <p:sldId id="313" r:id="rId4"/>
    <p:sldId id="314" r:id="rId5"/>
    <p:sldId id="315" r:id="rId6"/>
    <p:sldId id="299" r:id="rId7"/>
    <p:sldId id="312" r:id="rId8"/>
    <p:sldId id="316" r:id="rId9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2E2"/>
    <a:srgbClr val="ECF1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36F99B-1B3D-43A6-9821-04F3D79B9194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963"/>
            <a:ext cx="5435600" cy="39100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677B09-D6A7-4EAC-A5D0-717D82F0B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6106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20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Students complete as guided notes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073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677B09-D6A7-4EAC-A5D0-717D82F0B45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243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817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048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16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2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442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397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6237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630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36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604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87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8129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84270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0795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6149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4137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738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11957" y="154428"/>
            <a:ext cx="163362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1" b="1" dirty="0">
                <a:solidFill>
                  <a:srgbClr val="FF0000"/>
                </a:solidFill>
                <a:latin typeface="Century Gothic" panose="020B0502020202020204"/>
              </a:rPr>
              <a:t>22</a:t>
            </a: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/03/2022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09671" y="1977999"/>
            <a:ext cx="97459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</a:t>
            </a:r>
            <a:r>
              <a:rPr kumimoji="0" lang="en-AU" sz="2400" b="1" i="0" u="none" strike="noStrike" kern="1200" cap="none" spc="0" normalizeH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 add and subtract like terms using double sign operations.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3307" y="3515742"/>
            <a:ext cx="85486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</a:t>
            </a:r>
          </a:p>
          <a:p>
            <a:pPr marL="901700" marR="0" lvl="0" indent="-5429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Properties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895350" marR="0" lvl="0" indent="-5381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‘Double sign’ rules</a:t>
            </a:r>
          </a:p>
          <a:p>
            <a:pPr marL="352425" marR="0" lvl="0" indent="-3524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Simplify addition / subtraction expressions.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351474-C4F2-4919-8DC6-9217F8FBEA94}"/>
              </a:ext>
            </a:extLst>
          </p:cNvPr>
          <p:cNvSpPr txBox="1"/>
          <p:nvPr/>
        </p:nvSpPr>
        <p:spPr>
          <a:xfrm>
            <a:off x="1909671" y="650779"/>
            <a:ext cx="9745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Like Terms</a:t>
            </a:r>
          </a:p>
        </p:txBody>
      </p:sp>
    </p:spTree>
    <p:extLst>
      <p:ext uri="{BB962C8B-B14F-4D97-AF65-F5344CB8AC3E}">
        <p14:creationId xmlns:p14="http://schemas.microsoft.com/office/powerpoint/2010/main" val="3839991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2076" y="559536"/>
            <a:ext cx="9279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Same signs add, different signs subtract.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12076" y="2843394"/>
            <a:ext cx="147045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  2 – (-4)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2 + 4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6226" y="2843394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  5 + (-4)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5 – 4 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46789" y="2843394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  -5 – (-4)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-5 + 4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25698" y="2843394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  -5 + (-4)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-5 – 4 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-9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5807" y="4633087"/>
            <a:ext cx="329925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  2 – (-4) + (-2) – (-1)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2 + 4 – 2 + 1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305594" y="4633086"/>
                <a:ext cx="4955060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/>
                  <a:t>   -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+ (</m:t>
                    </m:r>
                    <m:r>
                      <m:rPr>
                        <m:nor/>
                      </m:rPr>
                      <a:rPr lang="en-AU" sz="2400" dirty="0"/>
                      <m:t>−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 –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AU" sz="2400" dirty="0"/>
                      <m:t>−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) + (</m:t>
                    </m:r>
                    <m:r>
                      <m:rPr>
                        <m:nor/>
                      </m:rPr>
                      <a:rPr lang="en-AU" sz="2400" dirty="0"/>
                      <m:t>−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= -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–4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594" y="4633086"/>
                <a:ext cx="4955060" cy="1354217"/>
              </a:xfrm>
              <a:prstGeom prst="rect">
                <a:avLst/>
              </a:prstGeom>
              <a:blipFill>
                <a:blip r:embed="rId3"/>
                <a:stretch>
                  <a:fillRect l="-1845" t="-3604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043883" y="1225632"/>
            <a:ext cx="8180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Step 1:	Simplify double signs</a:t>
            </a:r>
          </a:p>
          <a:p>
            <a:r>
              <a:rPr lang="en-AU" b="1" dirty="0">
                <a:solidFill>
                  <a:srgbClr val="FF0000"/>
                </a:solidFill>
              </a:rPr>
              <a:t>Step 2:	Look for ‘like’ terms</a:t>
            </a:r>
          </a:p>
          <a:p>
            <a:r>
              <a:rPr lang="en-AU" b="1" dirty="0">
                <a:solidFill>
                  <a:srgbClr val="FF0000"/>
                </a:solidFill>
              </a:rPr>
              <a:t>Step 3: 	Add and subtract ‘like’ terms – consider number-line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486" y="160638"/>
            <a:ext cx="3459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Daily review – double signs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15032" y="1817782"/>
            <a:ext cx="669326" cy="33117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26225" y="1540272"/>
            <a:ext cx="621959" cy="2770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926226" y="1303786"/>
            <a:ext cx="844379" cy="2531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55358" y="663382"/>
            <a:ext cx="1291432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70854" y="663382"/>
            <a:ext cx="654908" cy="3578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30290" y="3799568"/>
            <a:ext cx="957144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272210" y="3358739"/>
            <a:ext cx="957144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1942" y="1817350"/>
            <a:ext cx="2560285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44646" y="1855773"/>
            <a:ext cx="960738" cy="30890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048771" y="3344512"/>
            <a:ext cx="863667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313408" y="3787833"/>
            <a:ext cx="782590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293934" y="3371465"/>
            <a:ext cx="765000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263512" y="3358739"/>
            <a:ext cx="957144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089939" y="3821726"/>
            <a:ext cx="785435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997545" y="5608709"/>
            <a:ext cx="478572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06341" y="5175288"/>
            <a:ext cx="1742525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241691" y="3820177"/>
            <a:ext cx="765000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666795" y="5577157"/>
            <a:ext cx="711926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666795" y="5114106"/>
            <a:ext cx="2417158" cy="38491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19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12076" y="559536"/>
            <a:ext cx="92799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Same signs add, different signs subtract.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12076" y="2843394"/>
            <a:ext cx="147045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  2 – (-4)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2 + 4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26226" y="2843394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  5 + (-4)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5 – 4 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46789" y="2843394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  -5 – (-4)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-5 + 4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25698" y="2843394"/>
            <a:ext cx="229835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  -5 + (-4)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-5 – 4 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-9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5807" y="4633087"/>
            <a:ext cx="329925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  2 – (-4) + (-2) – (-1)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2 + 4 – 2 + 1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305594" y="4633086"/>
                <a:ext cx="4955060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/>
                  <a:t>   -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+ (</m:t>
                    </m:r>
                    <m:r>
                      <m:rPr>
                        <m:nor/>
                      </m:rPr>
                      <a:rPr lang="en-AU" sz="2400" dirty="0"/>
                      <m:t>−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 – 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AU" sz="2400" dirty="0"/>
                      <m:t>−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) + (</m:t>
                    </m:r>
                    <m:r>
                      <m:rPr>
                        <m:nor/>
                      </m:rPr>
                      <a:rPr lang="en-AU" sz="2400" dirty="0"/>
                      <m:t>−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= -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–4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2400" dirty="0"/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=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AU" sz="2400" b="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594" y="4633086"/>
                <a:ext cx="4955060" cy="1354217"/>
              </a:xfrm>
              <a:prstGeom prst="rect">
                <a:avLst/>
              </a:prstGeom>
              <a:blipFill>
                <a:blip r:embed="rId2"/>
                <a:stretch>
                  <a:fillRect l="-1845" t="-3604" b="-94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3043883" y="1225632"/>
            <a:ext cx="8180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Step 1:	Simplify double signs</a:t>
            </a:r>
          </a:p>
          <a:p>
            <a:r>
              <a:rPr lang="en-AU" b="1" dirty="0">
                <a:solidFill>
                  <a:srgbClr val="FF0000"/>
                </a:solidFill>
              </a:rPr>
              <a:t>Step 2:	Look for ‘like’ terms</a:t>
            </a:r>
          </a:p>
          <a:p>
            <a:r>
              <a:rPr lang="en-AU" b="1" dirty="0">
                <a:solidFill>
                  <a:srgbClr val="FF0000"/>
                </a:solidFill>
              </a:rPr>
              <a:t>Step 3: 	Add and subtract ‘like’ terms – consider number-line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486" y="160638"/>
            <a:ext cx="3459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Daily review – double signs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15032" y="1817782"/>
            <a:ext cx="669326" cy="33117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926225" y="1540272"/>
            <a:ext cx="621959" cy="27707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926225" y="1296107"/>
            <a:ext cx="844379" cy="25316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55358" y="663382"/>
            <a:ext cx="1291432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670854" y="663382"/>
            <a:ext cx="654908" cy="35781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230290" y="3799568"/>
            <a:ext cx="957144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272210" y="3358739"/>
            <a:ext cx="957144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461942" y="1817350"/>
            <a:ext cx="2560285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44646" y="1855773"/>
            <a:ext cx="960738" cy="30890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048771" y="3344512"/>
            <a:ext cx="863667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313408" y="3787833"/>
            <a:ext cx="782590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293934" y="3371465"/>
            <a:ext cx="765000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263512" y="3358739"/>
            <a:ext cx="957144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089939" y="3821726"/>
            <a:ext cx="785435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997545" y="5608709"/>
            <a:ext cx="478572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006341" y="5175288"/>
            <a:ext cx="1742525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241691" y="3820177"/>
            <a:ext cx="765000" cy="3373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666795" y="5577157"/>
            <a:ext cx="711926" cy="39129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666795" y="5114106"/>
            <a:ext cx="2417158" cy="38491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836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905E-03EE-44E4-9C6F-B25C7577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Practice 1 – simplify in exercise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1D866-D306-44C6-938D-08CB5C2BB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566" y="2133600"/>
            <a:ext cx="4509172" cy="3777622"/>
          </a:xfrm>
        </p:spPr>
        <p:txBody>
          <a:bodyPr>
            <a:normAutofit lnSpcReduction="10000"/>
          </a:bodyPr>
          <a:lstStyle/>
          <a:p>
            <a:pPr>
              <a:buAutoNum type="arabicPeriod"/>
            </a:pPr>
            <a:r>
              <a:rPr lang="en-AU" sz="2400" b="1" dirty="0"/>
              <a:t>10e + 3e </a:t>
            </a:r>
          </a:p>
          <a:p>
            <a:pPr>
              <a:buAutoNum type="arabicPeriod"/>
            </a:pPr>
            <a:r>
              <a:rPr lang="en-AU" sz="2400" b="1" dirty="0"/>
              <a:t>3d + 5d </a:t>
            </a:r>
          </a:p>
          <a:p>
            <a:pPr>
              <a:buAutoNum type="arabicPeriod"/>
            </a:pPr>
            <a:r>
              <a:rPr lang="en-AU" sz="2400" b="1" dirty="0"/>
              <a:t>19x – 5x </a:t>
            </a:r>
          </a:p>
          <a:p>
            <a:pPr>
              <a:buAutoNum type="arabicPeriod"/>
            </a:pPr>
            <a:r>
              <a:rPr lang="en-AU" sz="2400" b="1" dirty="0"/>
              <a:t>10w + 3e + 2w + 5e </a:t>
            </a:r>
          </a:p>
          <a:p>
            <a:pPr>
              <a:buAutoNum type="arabicPeriod"/>
            </a:pPr>
            <a:r>
              <a:rPr lang="en-AU" sz="2400" b="1" dirty="0"/>
              <a:t>2d + 3d – 7d </a:t>
            </a:r>
          </a:p>
          <a:p>
            <a:pPr>
              <a:buAutoNum type="arabicPeriod"/>
            </a:pPr>
            <a:r>
              <a:rPr lang="en-AU" sz="2400" b="1" dirty="0"/>
              <a:t>2z + 3x + 6y + 4z – 2x + 4y</a:t>
            </a:r>
          </a:p>
          <a:p>
            <a:pPr>
              <a:buAutoNum type="arabicPeriod"/>
            </a:pPr>
            <a:r>
              <a:rPr lang="en-AU" sz="2400" b="1" dirty="0"/>
              <a:t>3x – (-2x) + 5y </a:t>
            </a:r>
          </a:p>
          <a:p>
            <a:pPr>
              <a:buAutoNum type="arabicPeriod"/>
            </a:pPr>
            <a:r>
              <a:rPr lang="en-AU" sz="2400" b="1" dirty="0"/>
              <a:t>-4f + (-2f) + 8f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1425BA-B362-43E6-B43A-977F332E8903}"/>
              </a:ext>
            </a:extLst>
          </p:cNvPr>
          <p:cNvSpPr txBox="1"/>
          <p:nvPr/>
        </p:nvSpPr>
        <p:spPr>
          <a:xfrm>
            <a:off x="8198860" y="1998346"/>
            <a:ext cx="280785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Answers 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13e 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8d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14x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12w + 8e 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-2d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6z + x + 10y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5x + 5y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2f </a:t>
            </a:r>
          </a:p>
        </p:txBody>
      </p:sp>
    </p:spTree>
    <p:extLst>
      <p:ext uri="{BB962C8B-B14F-4D97-AF65-F5344CB8AC3E}">
        <p14:creationId xmlns:p14="http://schemas.microsoft.com/office/powerpoint/2010/main" val="171763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90B56-FBA8-4EF0-BF90-70F7129D2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DPM/A Review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D1EDDE-C274-44DC-B1F4-15E7145348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AU" sz="1800" b="1" dirty="0">
                    <a:solidFill>
                      <a:srgbClr val="FF0000"/>
                    </a:solidFill>
                  </a:rPr>
                  <a:t>The term outside the brackets multiplies to EVERY term inside the brackets.</a:t>
                </a:r>
              </a:p>
              <a:p>
                <a:pPr marL="0" indent="0" algn="ctr">
                  <a:buNone/>
                </a:pPr>
                <a:endParaRPr lang="en-AU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D1EDDE-C274-44DC-B1F4-15E7145348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c 4">
            <a:extLst>
              <a:ext uri="{FF2B5EF4-FFF2-40B4-BE49-F238E27FC236}">
                <a16:creationId xmlns:a16="http://schemas.microsoft.com/office/drawing/2014/main" id="{D527AFEB-BFB1-4B85-80C2-4C77DBA90993}"/>
              </a:ext>
            </a:extLst>
          </p:cNvPr>
          <p:cNvSpPr/>
          <p:nvPr/>
        </p:nvSpPr>
        <p:spPr>
          <a:xfrm>
            <a:off x="6271491" y="2812472"/>
            <a:ext cx="424873" cy="230909"/>
          </a:xfrm>
          <a:prstGeom prst="arc">
            <a:avLst>
              <a:gd name="adj1" fmla="val 10493863"/>
              <a:gd name="adj2" fmla="val 0"/>
            </a:avLst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58713449-F7D5-4C66-A97C-38A74E41DD2D}"/>
              </a:ext>
            </a:extLst>
          </p:cNvPr>
          <p:cNvSpPr/>
          <p:nvPr/>
        </p:nvSpPr>
        <p:spPr>
          <a:xfrm>
            <a:off x="6271490" y="2583873"/>
            <a:ext cx="1385455" cy="422562"/>
          </a:xfrm>
          <a:prstGeom prst="arc">
            <a:avLst>
              <a:gd name="adj1" fmla="val 10493863"/>
              <a:gd name="adj2" fmla="val 0"/>
            </a:avLst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7EB17B-1D62-4CAA-8381-276F5DE720D4}"/>
              </a:ext>
            </a:extLst>
          </p:cNvPr>
          <p:cNvCxnSpPr/>
          <p:nvPr/>
        </p:nvCxnSpPr>
        <p:spPr>
          <a:xfrm>
            <a:off x="6696364" y="3777673"/>
            <a:ext cx="1200727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132F69-8575-4D09-93DA-9984FE701409}"/>
              </a:ext>
            </a:extLst>
          </p:cNvPr>
          <p:cNvCxnSpPr/>
          <p:nvPr/>
        </p:nvCxnSpPr>
        <p:spPr>
          <a:xfrm>
            <a:off x="8261927" y="3777673"/>
            <a:ext cx="1200727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0FE599-F4CE-4039-A967-F0B431094534}"/>
                  </a:ext>
                </a:extLst>
              </p:cNvPr>
              <p:cNvSpPr txBox="1"/>
              <p:nvPr/>
            </p:nvSpPr>
            <p:spPr>
              <a:xfrm>
                <a:off x="7784665" y="3271473"/>
                <a:ext cx="1967346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×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AU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  <a:ea typeface="Cambria Math" panose="02040503050406030204" pitchFamily="18" charset="0"/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0FE599-F4CE-4039-A967-F0B431094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665" y="3271473"/>
                <a:ext cx="1967346" cy="8617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763469-5485-4F8A-B8BD-1F7DE414FA9A}"/>
              </a:ext>
            </a:extLst>
          </p:cNvPr>
          <p:cNvCxnSpPr>
            <a:cxnSpLocks/>
          </p:cNvCxnSpPr>
          <p:nvPr/>
        </p:nvCxnSpPr>
        <p:spPr>
          <a:xfrm>
            <a:off x="6483927" y="4327237"/>
            <a:ext cx="424874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B19B15-467F-4EEB-857E-20A41C6AA9E4}"/>
              </a:ext>
            </a:extLst>
          </p:cNvPr>
          <p:cNvCxnSpPr>
            <a:cxnSpLocks/>
          </p:cNvCxnSpPr>
          <p:nvPr/>
        </p:nvCxnSpPr>
        <p:spPr>
          <a:xfrm>
            <a:off x="7185891" y="4327237"/>
            <a:ext cx="711200" cy="0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F8A0436-3B4E-4C77-9374-C98EDFA55BE1}"/>
              </a:ext>
            </a:extLst>
          </p:cNvPr>
          <p:cNvSpPr txBox="1"/>
          <p:nvPr/>
        </p:nvSpPr>
        <p:spPr>
          <a:xfrm>
            <a:off x="1745673" y="4682836"/>
            <a:ext cx="34451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HINT: it may be easier to simplify in side the brackets first (IF POSSIBLE)</a:t>
            </a:r>
          </a:p>
        </p:txBody>
      </p:sp>
    </p:spTree>
    <p:extLst>
      <p:ext uri="{BB962C8B-B14F-4D97-AF65-F5344CB8AC3E}">
        <p14:creationId xmlns:p14="http://schemas.microsoft.com/office/powerpoint/2010/main" val="423302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08591" y="572854"/>
            <a:ext cx="9227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spcAft>
                <a:spcPts val="600"/>
              </a:spcAft>
              <a:defRPr/>
            </a:pPr>
            <a:r>
              <a:rPr lang="en-AU" sz="2400" dirty="0">
                <a:solidFill>
                  <a:prstClr val="black"/>
                </a:solidFill>
              </a:rPr>
              <a:t>Simplify each of the following 										</a:t>
            </a:r>
            <a:endParaRPr lang="en-AU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325219" y="65490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523863" y="1697291"/>
                <a:ext cx="6096000" cy="291361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457200" lvl="0" indent="-457200" defTabSz="457200">
                  <a:spcAft>
                    <a:spcPts val="600"/>
                  </a:spcAft>
                  <a:buClr>
                    <a:srgbClr val="FF0000"/>
                  </a:buClr>
                  <a:buAutoNum type="arabicPeriod"/>
                  <a:defRPr/>
                </a:pPr>
                <a:r>
                  <a:rPr lang="en-AU" sz="3200" b="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sz="320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AU" sz="32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2y </a:t>
                </a:r>
                <a:r>
                  <a:rPr lang="en-AU" sz="3200" i="1" dirty="0">
                    <a:solidFill>
                      <a:prstClr val="black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</a:p>
              <a:p>
                <a:pPr marL="457200" lvl="0" indent="-457200" defTabSz="457200">
                  <a:spcAft>
                    <a:spcPts val="600"/>
                  </a:spcAft>
                  <a:buAutoNum type="arabicPeriod"/>
                  <a:defRPr/>
                </a:pPr>
                <a:r>
                  <a:rPr lang="en-AU" sz="3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32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AU" sz="3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AU" sz="3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AU" sz="32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sz="3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AU" sz="32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AU" sz="32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				  	</a:t>
                </a:r>
              </a:p>
              <a:p>
                <a:pPr marL="457200" lvl="0" indent="-457200" defTabSz="457200">
                  <a:spcAft>
                    <a:spcPts val="800"/>
                  </a:spcAft>
                  <a:buClr>
                    <a:srgbClr val="FF0000"/>
                  </a:buClr>
                  <a:buFontTx/>
                  <a:buAutoNum type="arabicPeriod" startAt="3"/>
                  <a:defRPr/>
                </a:pPr>
                <a:r>
                  <a:rPr lang="en-AU" sz="3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AU" sz="3200" b="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3+2</m:t>
                        </m:r>
                        <m:r>
                          <a:rPr lang="en-AU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AU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lang="en-AU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4+</m:t>
                        </m:r>
                        <m:r>
                          <a:rPr lang="en-AU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AU" sz="3200" dirty="0">
                  <a:solidFill>
                    <a:prstClr val="black"/>
                  </a:solidFill>
                </a:endParaRPr>
              </a:p>
              <a:p>
                <a:pPr marL="457200" lvl="0" indent="-457200" defTabSz="457200">
                  <a:spcAft>
                    <a:spcPts val="800"/>
                  </a:spcAft>
                  <a:buClr>
                    <a:srgbClr val="FF0000"/>
                  </a:buClr>
                  <a:buFontTx/>
                  <a:buAutoNum type="arabicPeriod" startAt="3"/>
                  <a:defRPr/>
                </a:pPr>
                <a:r>
                  <a:rPr lang="en-AU" sz="3200" dirty="0">
                    <a:solidFill>
                      <a:prstClr val="black"/>
                    </a:solidFill>
                  </a:rPr>
                  <a:t>2(</a:t>
                </a:r>
                <a14:m>
                  <m:oMath xmlns:m="http://schemas.openxmlformats.org/officeDocument/2006/math">
                    <m:r>
                      <a:rPr lang="en-AU" sz="32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3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3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+ 4</m:t>
                    </m:r>
                  </m:oMath>
                </a14:m>
                <a:r>
                  <a:rPr lang="en-AU" sz="3200" dirty="0">
                    <a:solidFill>
                      <a:prstClr val="black"/>
                    </a:solidFill>
                  </a:rPr>
                  <a:t>) +4(3</a:t>
                </a:r>
                <a14:m>
                  <m:oMath xmlns:m="http://schemas.openxmlformats.org/officeDocument/2006/math">
                    <m:r>
                      <a:rPr lang="en-AU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3200" dirty="0">
                    <a:solidFill>
                      <a:prstClr val="black"/>
                    </a:solidFill>
                  </a:rPr>
                  <a:t> – 2)	  	</a:t>
                </a:r>
              </a:p>
              <a:p>
                <a:pPr marL="457200" lvl="0" indent="-457200" defTabSz="457200">
                  <a:spcAft>
                    <a:spcPts val="800"/>
                  </a:spcAft>
                  <a:buClr>
                    <a:srgbClr val="FF0000"/>
                  </a:buClr>
                  <a:buAutoNum type="arabicPeriod" startAt="5"/>
                  <a:defRPr/>
                </a:pPr>
                <a:r>
                  <a:rPr lang="en-AU" sz="3200" dirty="0">
                    <a:solidFill>
                      <a:prstClr val="black"/>
                    </a:solidFill>
                  </a:rPr>
                  <a:t>2(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32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sz="32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sz="32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3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+ 4</m:t>
                    </m:r>
                    <m:r>
                      <a:rPr lang="en-AU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+4+2</m:t>
                    </m:r>
                    <m:r>
                      <a:rPr lang="en-AU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sz="3200" dirty="0">
                    <a:solidFill>
                      <a:prstClr val="black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863" y="1697291"/>
                <a:ext cx="6096000" cy="2913618"/>
              </a:xfrm>
              <a:prstGeom prst="rect">
                <a:avLst/>
              </a:prstGeom>
              <a:blipFill>
                <a:blip r:embed="rId3"/>
                <a:stretch>
                  <a:fillRect l="-2500" t="-2720" b="-60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81913" y="203522"/>
            <a:ext cx="3225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Exercise books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65CA3B-0C4B-4511-8E43-2CB415F3DFCB}"/>
              </a:ext>
            </a:extLst>
          </p:cNvPr>
          <p:cNvSpPr txBox="1"/>
          <p:nvPr/>
        </p:nvSpPr>
        <p:spPr>
          <a:xfrm>
            <a:off x="8458173" y="1237673"/>
            <a:ext cx="271549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rgbClr val="FF0000"/>
                </a:solidFill>
              </a:rPr>
              <a:t>Answers </a:t>
            </a:r>
          </a:p>
          <a:p>
            <a:pPr marL="457200" indent="-457200">
              <a:buAutoNum type="arabicPeriod"/>
            </a:pPr>
            <a:r>
              <a:rPr lang="en-AU" sz="3200" b="1" dirty="0">
                <a:solidFill>
                  <a:srgbClr val="FF0000"/>
                </a:solidFill>
              </a:rPr>
              <a:t>8y</a:t>
            </a:r>
          </a:p>
          <a:p>
            <a:pPr marL="457200" indent="-457200">
              <a:buAutoNum type="arabicPeriod"/>
            </a:pPr>
            <a:r>
              <a:rPr lang="en-AU" sz="3200" b="1" dirty="0">
                <a:solidFill>
                  <a:srgbClr val="FF0000"/>
                </a:solidFill>
              </a:rPr>
              <a:t>33m </a:t>
            </a:r>
          </a:p>
          <a:p>
            <a:pPr marL="457200" indent="-457200">
              <a:buAutoNum type="arabicPeriod"/>
            </a:pPr>
            <a:r>
              <a:rPr lang="en-AU" sz="3200" b="1" dirty="0">
                <a:solidFill>
                  <a:srgbClr val="FF0000"/>
                </a:solidFill>
              </a:rPr>
              <a:t>14 + 4x + 2y </a:t>
            </a:r>
          </a:p>
          <a:p>
            <a:pPr marL="457200" indent="-457200">
              <a:buAutoNum type="arabicPeriod"/>
            </a:pPr>
            <a:r>
              <a:rPr lang="en-AU" sz="3200" b="1" dirty="0">
                <a:solidFill>
                  <a:srgbClr val="FF0000"/>
                </a:solidFill>
              </a:rPr>
              <a:t>18x </a:t>
            </a:r>
          </a:p>
          <a:p>
            <a:pPr marL="457200" indent="-457200">
              <a:buAutoNum type="arabicPeriod"/>
            </a:pPr>
            <a:r>
              <a:rPr lang="en-AU" sz="3200" b="1" dirty="0">
                <a:solidFill>
                  <a:srgbClr val="FF0000"/>
                </a:solidFill>
              </a:rPr>
              <a:t>10x + 10y + 8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3005EB-A59C-4B8F-BB64-3685D7F66B51}"/>
              </a:ext>
            </a:extLst>
          </p:cNvPr>
          <p:cNvSpPr txBox="1"/>
          <p:nvPr/>
        </p:nvSpPr>
        <p:spPr>
          <a:xfrm>
            <a:off x="3278910" y="5357091"/>
            <a:ext cx="34451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HINT: it may be easier to simplify in side the brackets first (IF POSSIBLE)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79760076-B5C4-4B90-8594-4C2A9849112F}"/>
              </a:ext>
            </a:extLst>
          </p:cNvPr>
          <p:cNvSpPr/>
          <p:nvPr/>
        </p:nvSpPr>
        <p:spPr>
          <a:xfrm rot="14224550">
            <a:off x="2509951" y="4681102"/>
            <a:ext cx="711200" cy="9698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99198562-96CA-4097-B8BC-FDACD87E6D14}"/>
              </a:ext>
            </a:extLst>
          </p:cNvPr>
          <p:cNvSpPr/>
          <p:nvPr/>
        </p:nvSpPr>
        <p:spPr>
          <a:xfrm rot="7748171">
            <a:off x="6444251" y="4707878"/>
            <a:ext cx="711200" cy="9698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38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87146" y="259492"/>
            <a:ext cx="5906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Complete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865" y="942569"/>
            <a:ext cx="6677025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20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21E80-7241-4529-958D-D39FF62F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Reflection – fist to 5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E6406-C056-44B5-8E8B-24878C396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AU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</a:t>
            </a:r>
            <a:r>
              <a:rPr kumimoji="0" lang="en-AU" sz="28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 add and subtract like terms using double sign operations.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Rate yourself and record it in our </a:t>
            </a:r>
            <a:r>
              <a:rPr lang="en-AU"/>
              <a:t>lesson objective.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5814180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1292</TotalTime>
  <Words>618</Words>
  <Application>Microsoft Office PowerPoint</Application>
  <PresentationFormat>Widescreen</PresentationFormat>
  <Paragraphs>106</Paragraphs>
  <Slides>8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 Math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Practice 1 – simplify in exercise book</vt:lpstr>
      <vt:lpstr>DPM/A Review  </vt:lpstr>
      <vt:lpstr>PowerPoint Presentation</vt:lpstr>
      <vt:lpstr>PowerPoint Presentation</vt:lpstr>
      <vt:lpstr>Reflection – fist to 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Wall</dc:creator>
  <cp:lastModifiedBy>DAVIES Rhys [Busselton Senior High School]</cp:lastModifiedBy>
  <cp:revision>81</cp:revision>
  <cp:lastPrinted>2022-03-21T08:28:03Z</cp:lastPrinted>
  <dcterms:created xsi:type="dcterms:W3CDTF">2022-02-28T13:51:39Z</dcterms:created>
  <dcterms:modified xsi:type="dcterms:W3CDTF">2022-03-24T05:44:21Z</dcterms:modified>
</cp:coreProperties>
</file>
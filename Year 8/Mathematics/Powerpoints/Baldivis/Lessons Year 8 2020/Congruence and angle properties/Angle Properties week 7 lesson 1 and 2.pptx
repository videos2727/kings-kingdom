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notesMasterIdLst>
    <p:notesMasterId r:id="rId20"/>
  </p:notesMasterIdLst>
  <p:sldIdLst>
    <p:sldId id="332" r:id="rId2"/>
    <p:sldId id="333" r:id="rId3"/>
    <p:sldId id="334" r:id="rId4"/>
    <p:sldId id="346" r:id="rId5"/>
    <p:sldId id="338" r:id="rId6"/>
    <p:sldId id="349" r:id="rId7"/>
    <p:sldId id="350" r:id="rId8"/>
    <p:sldId id="344" r:id="rId9"/>
    <p:sldId id="347" r:id="rId10"/>
    <p:sldId id="339" r:id="rId11"/>
    <p:sldId id="351" r:id="rId12"/>
    <p:sldId id="340" r:id="rId13"/>
    <p:sldId id="343" r:id="rId14"/>
    <p:sldId id="342" r:id="rId15"/>
    <p:sldId id="352" r:id="rId16"/>
    <p:sldId id="341" r:id="rId17"/>
    <p:sldId id="348" r:id="rId18"/>
    <p:sldId id="353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E3DBD3"/>
    <a:srgbClr val="E6E3D0"/>
    <a:srgbClr val="E1DEC5"/>
    <a:srgbClr val="FF0000"/>
    <a:srgbClr val="339933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 autoAdjust="0"/>
    <p:restoredTop sz="94624" autoAdjust="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EAF413F-ED53-49F3-81C7-ABE475CDA29A}" type="datetimeFigureOut">
              <a:rPr lang="en-US"/>
              <a:pPr>
                <a:defRPr/>
              </a:pPr>
              <a:t>11/18/2018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CA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39FAEE7-0E52-4969-8C1F-F79229FD5224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48927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9FAEE7-0E52-4969-8C1F-F79229FD5224}" type="slidenum">
              <a:rPr lang="en-CA" smtClean="0"/>
              <a:pPr>
                <a:defRPr/>
              </a:pPr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1129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9FAEE7-0E52-4969-8C1F-F79229FD5224}" type="slidenum">
              <a:rPr lang="en-CA" smtClean="0"/>
              <a:pPr>
                <a:defRPr/>
              </a:pPr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8828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399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0667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4758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8CD227D-F45F-412A-8D7B-D03DAAC35A59}" type="datetimeFigureOut">
              <a:rPr lang="en-AU"/>
              <a:pPr>
                <a:defRPr/>
              </a:pPr>
              <a:t>18/11/2018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23E6989-D397-4A16-A0D4-09B26C61102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45969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F497677-DD77-4FB2-BCD4-2BD59DE13003}" type="datetimeFigureOut">
              <a:rPr lang="en-AU"/>
              <a:pPr>
                <a:defRPr/>
              </a:pPr>
              <a:t>18/11/2018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E903F39-6BF8-4E8B-9932-4085FE0B6CA0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568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83DF8F2-924F-4530-8EF2-8FEE184B2975}" type="datetimeFigureOut">
              <a:rPr lang="en-AU"/>
              <a:pPr>
                <a:defRPr/>
              </a:pPr>
              <a:t>18/11/2018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33281837-3A2D-4DBB-9C47-592013C2EE8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9209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BF115BC-170B-4801-83D0-16522993966D}" type="datetimeFigureOut">
              <a:rPr lang="en-AU"/>
              <a:pPr>
                <a:defRPr/>
              </a:pPr>
              <a:t>18/11/2018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DC59C29-6A7F-478F-8FA1-7D95C4A9E2FA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817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4C69E61-AAB9-431A-AD3B-115736A94EB6}" type="datetimeFigureOut">
              <a:rPr lang="en-AU"/>
              <a:pPr>
                <a:defRPr/>
              </a:pPr>
              <a:t>18/11/2018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18184FF-1D7B-46FD-9FFF-735C33E5E43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99331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E72EC0D2-789C-472C-A80A-AE53B35E1666}" type="datetimeFigureOut">
              <a:rPr lang="en-AU"/>
              <a:pPr>
                <a:defRPr/>
              </a:pPr>
              <a:t>18/11/2018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9B18B35A-AA10-4F38-ADE0-BCB46AB22A1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53601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43C5F3B1-6421-4503-86B1-B35E783CCF9B}" type="datetimeFigureOut">
              <a:rPr lang="en-AU"/>
              <a:pPr>
                <a:defRPr/>
              </a:pPr>
              <a:t>18/11/2018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CFFBDB7-D030-4B60-ABDF-77E21D5B3AB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71326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B81CE0C-208E-4178-8619-B82B3861AD52}" type="datetimeFigureOut">
              <a:rPr lang="en-AU"/>
              <a:pPr>
                <a:defRPr/>
              </a:pPr>
              <a:t>18/11/2018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52A4650-5CFF-4109-A108-7615637CD4D4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9824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28636D1-E59C-4AA0-8637-62A138E10DED}" type="datetimeFigureOut">
              <a:rPr lang="en-AU"/>
              <a:pPr>
                <a:defRPr/>
              </a:pPr>
              <a:t>18/11/2018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8587249-B79C-4BBE-8E24-27CC82DA587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71051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0D28ADB-E613-45FB-96CB-2300BF9D21EA}" type="datetimeFigureOut">
              <a:rPr lang="en-AU"/>
              <a:pPr>
                <a:defRPr/>
              </a:pPr>
              <a:t>18/11/2018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CA434F3-96B9-4123-B6AF-31009A222E53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1244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1E9586F-E2E4-4D48-AFF2-63CBEB0DCB1D}" type="datetimeFigureOut">
              <a:rPr lang="en-AU"/>
              <a:pPr>
                <a:defRPr/>
              </a:pPr>
              <a:t>18/11/2018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9C9181B-E1BB-4279-863D-3128480F895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44302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DC314EBB-1FAE-4AF9-8750-82836BE4C0A3}" type="datetimeFigureOut">
              <a:rPr lang="en-AU"/>
              <a:pPr>
                <a:defRPr/>
              </a:pPr>
              <a:t>18/11/2018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F30B5F73-3933-45EC-867D-19C2B719B4B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611188" y="333375"/>
            <a:ext cx="7772400" cy="1470025"/>
          </a:xfrm>
        </p:spPr>
        <p:txBody>
          <a:bodyPr/>
          <a:lstStyle/>
          <a:p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85000" lnSpcReduction="20000"/>
          </a:bodyPr>
          <a:lstStyle/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Name </a:t>
            </a:r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Class: </a:t>
            </a:r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Teacher:</a:t>
            </a:r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Term 2 Semester 1</a:t>
            </a:r>
          </a:p>
        </p:txBody>
      </p:sp>
      <p:sp>
        <p:nvSpPr>
          <p:cNvPr id="4" name="TextBox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4796" y="548680"/>
            <a:ext cx="1368152" cy="144655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6" name="TextBox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23728" y="1884135"/>
            <a:ext cx="1368152" cy="144655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7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07644" y="3572848"/>
            <a:ext cx="1368152" cy="144655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8" name="TextBox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660232" y="2708920"/>
            <a:ext cx="1368152" cy="144655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9" name="TextBox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07644" y="1902233"/>
            <a:ext cx="1368152" cy="1446550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0" name="TextBox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36296" y="437585"/>
            <a:ext cx="1368152" cy="1993816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1" name="TextBox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3068960"/>
            <a:ext cx="1368152" cy="1993816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2" name="TextBox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344308" y="3909817"/>
            <a:ext cx="1368152" cy="1107996"/>
          </a:xfrm>
          <a:prstGeom prst="rect">
            <a:avLst/>
          </a:prstGeom>
          <a:blipFill rotWithShape="1">
            <a:blip r:embed="rId9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4" name="TextBox 1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52120" y="4797152"/>
            <a:ext cx="1368152" cy="1227644"/>
          </a:xfrm>
          <a:prstGeom prst="rect">
            <a:avLst/>
          </a:prstGeom>
          <a:blipFill rotWithShape="1">
            <a:blip r:embed="rId10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5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2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4463" y="620713"/>
            <a:ext cx="464502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6013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38" name="TextBox 19"/>
          <p:cNvSpPr txBox="1">
            <a:spLocks noChangeArrowheads="1"/>
          </p:cNvSpPr>
          <p:nvPr/>
        </p:nvSpPr>
        <p:spPr bwMode="auto">
          <a:xfrm>
            <a:off x="577850" y="6350"/>
            <a:ext cx="9318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Contents</a:t>
            </a:r>
          </a:p>
        </p:txBody>
      </p:sp>
      <p:sp>
        <p:nvSpPr>
          <p:cNvPr id="18439" name="TextBox 22"/>
          <p:cNvSpPr txBox="1">
            <a:spLocks noChangeArrowheads="1"/>
          </p:cNvSpPr>
          <p:nvPr/>
        </p:nvSpPr>
        <p:spPr bwMode="auto">
          <a:xfrm>
            <a:off x="223838" y="374650"/>
            <a:ext cx="581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125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41" name="TextBox 16"/>
          <p:cNvSpPr txBox="1">
            <a:spLocks noChangeArrowheads="1"/>
          </p:cNvSpPr>
          <p:nvPr/>
        </p:nvSpPr>
        <p:spPr bwMode="auto">
          <a:xfrm>
            <a:off x="1403350" y="344488"/>
            <a:ext cx="5762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Date</a:t>
            </a:r>
          </a:p>
        </p:txBody>
      </p:sp>
      <p:sp>
        <p:nvSpPr>
          <p:cNvPr id="18442" name="TextBox 17"/>
          <p:cNvSpPr txBox="1">
            <a:spLocks noChangeArrowheads="1"/>
          </p:cNvSpPr>
          <p:nvPr/>
        </p:nvSpPr>
        <p:spPr bwMode="auto">
          <a:xfrm>
            <a:off x="2555875" y="344488"/>
            <a:ext cx="13985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18443" name="TextBox 20"/>
          <p:cNvSpPr txBox="1">
            <a:spLocks noChangeArrowheads="1"/>
          </p:cNvSpPr>
          <p:nvPr/>
        </p:nvSpPr>
        <p:spPr bwMode="auto">
          <a:xfrm>
            <a:off x="5795963" y="66675"/>
            <a:ext cx="25923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Glossary or Formula Page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59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563" y="620713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563" y="1196975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00" y="5373688"/>
            <a:ext cx="47259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7400" y="1196975"/>
            <a:ext cx="0" cy="41767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464" name="TextBox 18"/>
          <p:cNvSpPr txBox="1">
            <a:spLocks noChangeArrowheads="1"/>
          </p:cNvSpPr>
          <p:nvPr/>
        </p:nvSpPr>
        <p:spPr bwMode="auto">
          <a:xfrm>
            <a:off x="4533900" y="66675"/>
            <a:ext cx="431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24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7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30</a:t>
            </a:r>
          </a:p>
        </p:txBody>
      </p:sp>
      <p:sp>
        <p:nvSpPr>
          <p:cNvPr id="19465" name="TextBox 19"/>
          <p:cNvSpPr txBox="1">
            <a:spLocks noChangeArrowheads="1"/>
          </p:cNvSpPr>
          <p:nvPr/>
        </p:nvSpPr>
        <p:spPr bwMode="auto">
          <a:xfrm>
            <a:off x="4572000" y="601663"/>
            <a:ext cx="11430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Essential Question</a:t>
            </a:r>
          </a:p>
        </p:txBody>
      </p:sp>
      <p:sp>
        <p:nvSpPr>
          <p:cNvPr id="19466" name="TextBox 21"/>
          <p:cNvSpPr txBox="1">
            <a:spLocks noChangeArrowheads="1"/>
          </p:cNvSpPr>
          <p:nvPr/>
        </p:nvSpPr>
        <p:spPr bwMode="auto">
          <a:xfrm>
            <a:off x="5867400" y="1196975"/>
            <a:ext cx="4921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Notes</a:t>
            </a:r>
          </a:p>
        </p:txBody>
      </p:sp>
      <p:sp>
        <p:nvSpPr>
          <p:cNvPr id="19467" name="TextBox 22"/>
          <p:cNvSpPr txBox="1">
            <a:spLocks noChangeArrowheads="1"/>
          </p:cNvSpPr>
          <p:nvPr/>
        </p:nvSpPr>
        <p:spPr bwMode="auto">
          <a:xfrm>
            <a:off x="4521200" y="1196975"/>
            <a:ext cx="7096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Questions</a:t>
            </a:r>
          </a:p>
        </p:txBody>
      </p:sp>
      <p:sp>
        <p:nvSpPr>
          <p:cNvPr id="19468" name="TextBox 23"/>
          <p:cNvSpPr txBox="1">
            <a:spLocks noChangeArrowheads="1"/>
          </p:cNvSpPr>
          <p:nvPr/>
        </p:nvSpPr>
        <p:spPr bwMode="auto">
          <a:xfrm>
            <a:off x="4572000" y="5373688"/>
            <a:ext cx="6794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Summary</a:t>
            </a:r>
          </a:p>
        </p:txBody>
      </p:sp>
      <p:sp>
        <p:nvSpPr>
          <p:cNvPr id="19469" name="TextBox 24"/>
          <p:cNvSpPr txBox="1">
            <a:spLocks noChangeArrowheads="1"/>
          </p:cNvSpPr>
          <p:nvPr/>
        </p:nvSpPr>
        <p:spPr bwMode="auto">
          <a:xfrm>
            <a:off x="150813" y="142875"/>
            <a:ext cx="671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Game!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752600"/>
            <a:ext cx="8340625" cy="317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3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+mn-lt"/>
              </a:rPr>
              <a:t>24</a:t>
            </a:r>
          </a:p>
          <a:p>
            <a:r>
              <a:rPr lang="en-AU" sz="1600" dirty="0">
                <a:latin typeface="+mn-lt"/>
              </a:rPr>
              <a:t>7</a:t>
            </a:r>
          </a:p>
          <a:p>
            <a:r>
              <a:rPr lang="en-AU" sz="1600" dirty="0">
                <a:latin typeface="+mn-lt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05000" y="1686296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+mn-lt"/>
              </a:rPr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latin typeface="+mn-lt"/>
              </a:rPr>
              <a:t>EQ – What rules help us when working with angles?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15496" y="1686296"/>
            <a:ext cx="501870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Triangles have…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3 sides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3 vertices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3 interior angles</a:t>
            </a:r>
          </a:p>
          <a:p>
            <a:endParaRPr lang="en-US" sz="2000" dirty="0"/>
          </a:p>
          <a:p>
            <a:r>
              <a:rPr lang="en-US" sz="2000" dirty="0"/>
              <a:t>The sum of the interior angles is 180</a:t>
            </a:r>
            <a:r>
              <a:rPr lang="en-AU" sz="2000" dirty="0"/>
              <a:t>°</a:t>
            </a:r>
          </a:p>
          <a:p>
            <a:endParaRPr lang="en-US" sz="2000" dirty="0"/>
          </a:p>
          <a:p>
            <a:r>
              <a:rPr lang="en-US" sz="2000" b="1" dirty="0"/>
              <a:t>Equilateral triangle</a:t>
            </a:r>
            <a:r>
              <a:rPr lang="en-US" sz="2000" dirty="0"/>
              <a:t>: all angles must equal 60</a:t>
            </a:r>
            <a:r>
              <a:rPr lang="en-AU" sz="2000" dirty="0"/>
              <a:t>°</a:t>
            </a:r>
          </a:p>
          <a:p>
            <a:endParaRPr lang="en-AU" sz="2000" b="1" dirty="0"/>
          </a:p>
          <a:p>
            <a:r>
              <a:rPr lang="en-AU" sz="2000" b="1" dirty="0"/>
              <a:t>I</a:t>
            </a:r>
            <a:r>
              <a:rPr lang="en-US" sz="2000" b="1" dirty="0" err="1"/>
              <a:t>sosceles</a:t>
            </a:r>
            <a:r>
              <a:rPr lang="en-US" sz="2000" b="1" dirty="0"/>
              <a:t> triangle</a:t>
            </a:r>
            <a:r>
              <a:rPr lang="en-US" sz="2000" dirty="0"/>
              <a:t>: 2 of the angles are the same (not the angle formed by the equal sides)</a:t>
            </a:r>
          </a:p>
          <a:p>
            <a:endParaRPr lang="en-US" sz="2000" b="1" dirty="0"/>
          </a:p>
          <a:p>
            <a:r>
              <a:rPr lang="en-US" sz="2000" b="1" dirty="0"/>
              <a:t>Scalene triangle</a:t>
            </a:r>
            <a:r>
              <a:rPr lang="en-US" sz="2000" dirty="0"/>
              <a:t>: all angles are different</a:t>
            </a:r>
            <a:endParaRPr lang="en-AU" sz="2000" dirty="0"/>
          </a:p>
          <a:p>
            <a:endParaRPr lang="en-AU" sz="2000" dirty="0"/>
          </a:p>
          <a:p>
            <a:r>
              <a:rPr lang="en-US" sz="2000" dirty="0"/>
              <a:t>The exterior angle of a triangle is equal to the sum of the two opposite interior angles.</a:t>
            </a:r>
            <a:endParaRPr lang="en-AU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763006" y="285057"/>
            <a:ext cx="26068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Angle Properties</a:t>
            </a:r>
            <a:endParaRPr lang="en-AU" sz="2800" dirty="0">
              <a:latin typeface="+mn-lt"/>
            </a:endParaRPr>
          </a:p>
        </p:txBody>
      </p:sp>
      <p:pic>
        <p:nvPicPr>
          <p:cNvPr id="17" name="Content Placehold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48019"/>
            <a:ext cx="2419350" cy="12192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446" y="1856506"/>
            <a:ext cx="1353396" cy="12451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8643" y="3229940"/>
            <a:ext cx="1314158" cy="13788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116" y="4753703"/>
            <a:ext cx="2042901" cy="86733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4695" y="5718529"/>
            <a:ext cx="1806270" cy="108475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3090" y="1695512"/>
            <a:ext cx="16295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are the properties of a triangle?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04810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 tmFilter="0, 0; .2, .5; .8, .5; 1, 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250" autoRev="1" fill="hold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2000" fill="hold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0" fill="hold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do these together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1425016"/>
            <a:ext cx="2286000" cy="20682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816" y="1489902"/>
            <a:ext cx="2667000" cy="19385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524538"/>
            <a:ext cx="3157997" cy="15174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551" y="3886200"/>
            <a:ext cx="2516956" cy="1371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0501" y="3810000"/>
            <a:ext cx="2293500" cy="15396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3810000"/>
            <a:ext cx="2146439" cy="101441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0" y="4953000"/>
            <a:ext cx="3290455" cy="101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70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</a:t>
            </a:r>
            <a:r>
              <a:rPr lang="en-US"/>
              <a:t>understand? </a:t>
            </a:r>
            <a:r>
              <a:rPr lang="en-US" dirty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7108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Activity- Find the value of angle ‘a’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80" y="1717801"/>
            <a:ext cx="7903890" cy="15401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010" y="1524000"/>
            <a:ext cx="1752600" cy="185745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42" y="4038600"/>
            <a:ext cx="8143716" cy="220693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038601"/>
            <a:ext cx="2146051" cy="22069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4038599"/>
            <a:ext cx="2505595" cy="205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34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+mn-lt"/>
              </a:rPr>
              <a:t>24</a:t>
            </a:r>
          </a:p>
          <a:p>
            <a:r>
              <a:rPr lang="en-AU" sz="1600" dirty="0">
                <a:latin typeface="+mn-lt"/>
              </a:rPr>
              <a:t>7</a:t>
            </a:r>
          </a:p>
          <a:p>
            <a:r>
              <a:rPr lang="en-AU" sz="1600" dirty="0">
                <a:latin typeface="+mn-lt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59639" y="1686296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+mn-lt"/>
              </a:rPr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EQ – What rules help us when working with angles?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59639" y="1686296"/>
            <a:ext cx="4898362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u="sng" dirty="0"/>
              <a:t>Corresponding angles</a:t>
            </a:r>
            <a:r>
              <a:rPr lang="en-AU" sz="2000" b="1" dirty="0"/>
              <a:t> are equal in size.</a:t>
            </a:r>
          </a:p>
          <a:p>
            <a:r>
              <a:rPr lang="en-AU" sz="2000" dirty="0"/>
              <a:t>The position of corresponding angles is easy to remember it by the </a:t>
            </a:r>
            <a:r>
              <a:rPr lang="en-AU" sz="2000" b="1" u="sng" dirty="0"/>
              <a:t>‘F’ shape</a:t>
            </a:r>
            <a:r>
              <a:rPr lang="en-AU" sz="2000" dirty="0"/>
              <a:t>.</a:t>
            </a:r>
          </a:p>
          <a:p>
            <a:endParaRPr lang="en-AU" sz="2000" b="1" dirty="0"/>
          </a:p>
          <a:p>
            <a:endParaRPr lang="en-AU" sz="2000" b="1" dirty="0"/>
          </a:p>
          <a:p>
            <a:r>
              <a:rPr lang="en-AU" sz="2000" b="1" u="sng" dirty="0"/>
              <a:t>Alternate angles </a:t>
            </a:r>
            <a:r>
              <a:rPr lang="en-AU" sz="2000" b="1" dirty="0"/>
              <a:t>are equal in size</a:t>
            </a:r>
          </a:p>
          <a:p>
            <a:r>
              <a:rPr lang="en-AU" sz="2000" dirty="0"/>
              <a:t>The position of alternate angles is seen by the </a:t>
            </a:r>
            <a:r>
              <a:rPr lang="en-AU" sz="2000" b="1" u="sng" dirty="0"/>
              <a:t>‘Z’ shape</a:t>
            </a:r>
            <a:r>
              <a:rPr lang="en-AU" sz="2000" dirty="0"/>
              <a:t>.</a:t>
            </a:r>
          </a:p>
          <a:p>
            <a:endParaRPr lang="en-AU" sz="2000" b="1" dirty="0"/>
          </a:p>
          <a:p>
            <a:endParaRPr lang="en-AU" sz="2000" b="1" u="sng" dirty="0"/>
          </a:p>
          <a:p>
            <a:r>
              <a:rPr lang="en-AU" sz="2000" b="1" u="sng" dirty="0"/>
              <a:t>Co-interior angles </a:t>
            </a:r>
            <a:r>
              <a:rPr lang="en-AU" sz="2000" b="1" dirty="0"/>
              <a:t>add up to 180°.</a:t>
            </a:r>
          </a:p>
          <a:p>
            <a:r>
              <a:rPr lang="en-AU" sz="2000" dirty="0"/>
              <a:t>remember it by  the </a:t>
            </a:r>
            <a:r>
              <a:rPr lang="en-AU" sz="2000" b="1" u="sng" dirty="0"/>
              <a:t>‘C’ shape</a:t>
            </a:r>
            <a:r>
              <a:rPr lang="en-AU" sz="2000" dirty="0"/>
              <a:t>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AU" sz="2000" b="1" u="sng" dirty="0"/>
              <a:t>Vertically Opposite angles </a:t>
            </a:r>
            <a:r>
              <a:rPr lang="en-AU" sz="2000" b="1" dirty="0"/>
              <a:t>are equal in size.</a:t>
            </a:r>
          </a:p>
          <a:p>
            <a:r>
              <a:rPr lang="en-AU" sz="2000" dirty="0"/>
              <a:t>remember it by  the </a:t>
            </a:r>
            <a:r>
              <a:rPr lang="en-AU" sz="2000" b="1" u="sng" dirty="0"/>
              <a:t>‘X’ shape</a:t>
            </a:r>
            <a:r>
              <a:rPr lang="en-AU" sz="2000" dirty="0"/>
              <a:t>.</a:t>
            </a:r>
          </a:p>
          <a:p>
            <a:endParaRPr lang="en-AU" sz="20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95564"/>
            <a:ext cx="1654255" cy="172223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1" y="3200400"/>
            <a:ext cx="1752600" cy="127601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148" y="4476416"/>
            <a:ext cx="1837773" cy="13718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05" y="5651500"/>
            <a:ext cx="1809750" cy="1206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3006" y="285057"/>
            <a:ext cx="26068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Angle Properties</a:t>
            </a:r>
            <a:endParaRPr lang="en-AU" sz="2800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7176" y="1700152"/>
            <a:ext cx="18624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are the angle rules for parallel lines?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713891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Let’s do these together</a:t>
            </a:r>
            <a:endParaRPr lang="en-AU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171" y="2057400"/>
            <a:ext cx="7010400" cy="45583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1066800"/>
            <a:ext cx="731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State whether these angles are corresponding (C), alternate (A), co-interior (CI) or vertically opposite (V).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55003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</a:t>
            </a:r>
            <a:r>
              <a:rPr lang="en-US"/>
              <a:t>understand? </a:t>
            </a:r>
            <a:r>
              <a:rPr lang="en-US" dirty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433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522" y="-10886"/>
            <a:ext cx="8229600" cy="1143000"/>
          </a:xfrm>
        </p:spPr>
        <p:txBody>
          <a:bodyPr/>
          <a:lstStyle/>
          <a:p>
            <a:r>
              <a:rPr lang="en-US" dirty="0"/>
              <a:t>Now it’s your turn!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883722" y="912167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the value of the letter in each of these examples</a:t>
            </a:r>
            <a:endParaRPr lang="en-AU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3722" y="1352061"/>
            <a:ext cx="7162800" cy="54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64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+mn-lt"/>
              </a:rPr>
              <a:t>24</a:t>
            </a:r>
          </a:p>
          <a:p>
            <a:r>
              <a:rPr lang="en-AU" sz="1600" dirty="0">
                <a:latin typeface="+mn-lt"/>
              </a:rPr>
              <a:t>7</a:t>
            </a:r>
          </a:p>
          <a:p>
            <a:r>
              <a:rPr lang="en-AU" sz="1600" dirty="0">
                <a:latin typeface="+mn-lt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66408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+mn-lt"/>
              </a:rPr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latin typeface="+mn-lt"/>
              </a:rPr>
              <a:t>EQ – What rules help us when working with angles?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4438" y="1778079"/>
            <a:ext cx="489836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u="sng" dirty="0"/>
              <a:t>Complementary angles </a:t>
            </a:r>
            <a:r>
              <a:rPr lang="en-AU" sz="2000" dirty="0"/>
              <a:t>add to make 90</a:t>
            </a:r>
            <a:r>
              <a:rPr lang="en-AU" sz="2000" b="1" dirty="0"/>
              <a:t>°</a:t>
            </a:r>
            <a:endParaRPr lang="en-US" sz="2000" b="1" dirty="0"/>
          </a:p>
          <a:p>
            <a:endParaRPr lang="en-US" sz="1000" b="1" dirty="0"/>
          </a:p>
          <a:p>
            <a:r>
              <a:rPr lang="en-US" sz="2000" b="1" dirty="0" err="1"/>
              <a:t>Eg</a:t>
            </a:r>
            <a:r>
              <a:rPr lang="en-US" sz="2000" b="1" dirty="0"/>
              <a:t> </a:t>
            </a:r>
            <a:r>
              <a:rPr lang="en-US" sz="2000" dirty="0"/>
              <a:t>a</a:t>
            </a:r>
            <a:r>
              <a:rPr lang="en-AU" sz="2000" dirty="0"/>
              <a:t>° + 30° = 90°</a:t>
            </a:r>
          </a:p>
          <a:p>
            <a:r>
              <a:rPr lang="en-AU" sz="2000" dirty="0"/>
              <a:t>              </a:t>
            </a:r>
            <a:r>
              <a:rPr lang="en-US" sz="2000" dirty="0"/>
              <a:t>a</a:t>
            </a:r>
            <a:r>
              <a:rPr lang="en-AU" sz="2000" dirty="0"/>
              <a:t>°   = 90° - 30°</a:t>
            </a:r>
          </a:p>
          <a:p>
            <a:r>
              <a:rPr lang="en-US" sz="2000" dirty="0"/>
              <a:t>	a</a:t>
            </a:r>
            <a:r>
              <a:rPr lang="en-AU" sz="2000" dirty="0"/>
              <a:t>°   = 60°</a:t>
            </a:r>
            <a:endParaRPr lang="en-US" sz="2000" dirty="0"/>
          </a:p>
          <a:p>
            <a:endParaRPr lang="en-AU" sz="2000" b="1" dirty="0"/>
          </a:p>
          <a:p>
            <a:r>
              <a:rPr lang="en-US" sz="2000" b="1" u="sng" dirty="0"/>
              <a:t>Supplementary angles </a:t>
            </a:r>
            <a:r>
              <a:rPr lang="en-US" sz="2000" dirty="0"/>
              <a:t>add to make </a:t>
            </a:r>
            <a:r>
              <a:rPr lang="en-AU" sz="2000" dirty="0"/>
              <a:t>180</a:t>
            </a:r>
            <a:r>
              <a:rPr lang="en-AU" sz="2000" b="1" dirty="0"/>
              <a:t>°</a:t>
            </a:r>
          </a:p>
          <a:p>
            <a:endParaRPr lang="en-AU" sz="1000" b="1" u="sng" dirty="0"/>
          </a:p>
          <a:p>
            <a:r>
              <a:rPr lang="en-US" sz="2000" b="1" dirty="0" err="1"/>
              <a:t>Eg</a:t>
            </a:r>
            <a:r>
              <a:rPr lang="en-US" sz="2000" b="1" dirty="0"/>
              <a:t> </a:t>
            </a:r>
            <a:r>
              <a:rPr lang="en-US" sz="2000" dirty="0"/>
              <a:t>a</a:t>
            </a:r>
            <a:r>
              <a:rPr lang="en-AU" sz="2000" dirty="0"/>
              <a:t>° + 50° = 180°</a:t>
            </a:r>
          </a:p>
          <a:p>
            <a:r>
              <a:rPr lang="en-AU" sz="2000" dirty="0"/>
              <a:t>              </a:t>
            </a:r>
            <a:r>
              <a:rPr lang="en-US" sz="2000" dirty="0"/>
              <a:t>a</a:t>
            </a:r>
            <a:r>
              <a:rPr lang="en-AU" sz="2000" dirty="0"/>
              <a:t>°   = 180° - 50°</a:t>
            </a:r>
          </a:p>
          <a:p>
            <a:r>
              <a:rPr lang="en-US" sz="2000" dirty="0"/>
              <a:t>	a</a:t>
            </a:r>
            <a:r>
              <a:rPr lang="en-AU" sz="2000" dirty="0"/>
              <a:t>°   = 130°</a:t>
            </a:r>
            <a:endParaRPr lang="en-US" sz="2000" dirty="0"/>
          </a:p>
          <a:p>
            <a:endParaRPr lang="en-US" sz="2000" dirty="0"/>
          </a:p>
          <a:p>
            <a:r>
              <a:rPr lang="en-AU" sz="2000" b="1" u="sng" dirty="0"/>
              <a:t>Angles in a Revolution </a:t>
            </a:r>
            <a:r>
              <a:rPr lang="en-AU" sz="2000" dirty="0"/>
              <a:t>add to make 360</a:t>
            </a:r>
            <a:r>
              <a:rPr lang="en-AU" sz="2000" b="1" dirty="0"/>
              <a:t>°</a:t>
            </a:r>
          </a:p>
          <a:p>
            <a:endParaRPr lang="en-US" sz="1000" b="1" dirty="0"/>
          </a:p>
          <a:p>
            <a:r>
              <a:rPr lang="en-US" sz="2000" b="1" dirty="0" err="1"/>
              <a:t>Eg</a:t>
            </a:r>
            <a:r>
              <a:rPr lang="en-US" sz="2000" b="1" dirty="0"/>
              <a:t> </a:t>
            </a:r>
            <a:r>
              <a:rPr lang="en-US" sz="2000" dirty="0"/>
              <a:t>a</a:t>
            </a:r>
            <a:r>
              <a:rPr lang="en-AU" sz="2000" dirty="0"/>
              <a:t>° + 220° = 360°</a:t>
            </a:r>
          </a:p>
          <a:p>
            <a:r>
              <a:rPr lang="en-AU" sz="2000" dirty="0"/>
              <a:t>              </a:t>
            </a:r>
            <a:r>
              <a:rPr lang="en-US" sz="2000" dirty="0"/>
              <a:t>a</a:t>
            </a:r>
            <a:r>
              <a:rPr lang="en-AU" sz="2000" dirty="0"/>
              <a:t>°   = 360° - 220°</a:t>
            </a:r>
          </a:p>
          <a:p>
            <a:r>
              <a:rPr lang="en-US" sz="2000" dirty="0"/>
              <a:t>	a</a:t>
            </a:r>
            <a:r>
              <a:rPr lang="en-AU" sz="2000" dirty="0"/>
              <a:t>°   = 140°</a:t>
            </a:r>
            <a:endParaRPr lang="en-US" sz="2000" dirty="0"/>
          </a:p>
          <a:p>
            <a:endParaRPr lang="en-AU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763006" y="285057"/>
            <a:ext cx="26068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Angle Properties</a:t>
            </a:r>
            <a:endParaRPr lang="en-AU" sz="2800" dirty="0"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1969397"/>
            <a:ext cx="1219200" cy="12287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125" y="3549239"/>
            <a:ext cx="1352550" cy="11906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426" y="5090981"/>
            <a:ext cx="1285875" cy="1619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76" y="1700152"/>
            <a:ext cx="18741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are the angle rules at a point?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425281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2000" fill="hold"/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Let’s do these together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106680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the value of the pronumeral.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078" y="1531433"/>
            <a:ext cx="6903522" cy="526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255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</a:t>
            </a:r>
            <a:r>
              <a:rPr lang="en-US"/>
              <a:t>understand? </a:t>
            </a:r>
            <a:r>
              <a:rPr lang="en-US" dirty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2733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522" y="-10886"/>
            <a:ext cx="8229600" cy="1143000"/>
          </a:xfrm>
        </p:spPr>
        <p:txBody>
          <a:bodyPr/>
          <a:lstStyle/>
          <a:p>
            <a:r>
              <a:rPr lang="en-US" dirty="0"/>
              <a:t>Now it’s your turn!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883722" y="912167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the value of the letter in each of these examples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1524000"/>
            <a:ext cx="2209800" cy="52018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961" y="1398760"/>
            <a:ext cx="2142383" cy="53175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828" y="1463329"/>
            <a:ext cx="1987014" cy="24197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881" y="3883070"/>
            <a:ext cx="1884424" cy="2724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4727" y="1402465"/>
            <a:ext cx="1983984" cy="5336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4800" y="1463329"/>
            <a:ext cx="381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2.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3.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4.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5.</a:t>
            </a:r>
            <a:endParaRPr lang="en-AU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2503087" y="1524000"/>
            <a:ext cx="52265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6.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7.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8.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9.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10.</a:t>
            </a:r>
            <a:endParaRPr lang="en-AU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4671688" y="1592970"/>
            <a:ext cx="52265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11.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12.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13.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14.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15.</a:t>
            </a:r>
            <a:endParaRPr lang="en-AU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6828909" y="1592970"/>
            <a:ext cx="52265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16.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17.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18.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19.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20.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918915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Challenge!- Calculate ‘x’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2719" y="1600200"/>
            <a:ext cx="3738562" cy="315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973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6088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978</TotalTime>
  <Words>481</Words>
  <Application>Microsoft Office PowerPoint</Application>
  <PresentationFormat>On-screen Show (4:3)</PresentationFormat>
  <Paragraphs>185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My Measurement Interactive Notebook</vt:lpstr>
      <vt:lpstr>PowerPoint Presentation</vt:lpstr>
      <vt:lpstr>PowerPoint Presentation</vt:lpstr>
      <vt:lpstr>A Game!</vt:lpstr>
      <vt:lpstr>PowerPoint Presentation</vt:lpstr>
      <vt:lpstr>Let’s do these together</vt:lpstr>
      <vt:lpstr>Do you understand? Fists of Five</vt:lpstr>
      <vt:lpstr>Activity- Find the value of angle ‘a’</vt:lpstr>
      <vt:lpstr>PowerPoint Presentation</vt:lpstr>
      <vt:lpstr>Let’s do these together</vt:lpstr>
      <vt:lpstr>Do you understand? Fists of Five</vt:lpstr>
      <vt:lpstr>Now it’s your turn!</vt:lpstr>
      <vt:lpstr>PowerPoint Presentation</vt:lpstr>
      <vt:lpstr>Let’s do these together</vt:lpstr>
      <vt:lpstr>Do you understand? Fists of Five</vt:lpstr>
      <vt:lpstr>Now it’s your turn!</vt:lpstr>
      <vt:lpstr>Final Challenge!- Calculate ‘x’</vt:lpstr>
      <vt:lpstr>Notes Review</vt:lpstr>
    </vt:vector>
  </TitlesOfParts>
  <Company>The Visual Classroom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Parabolas</dc:title>
  <dc:creator>Peter Maher</dc:creator>
  <cp:lastModifiedBy>CRAIG Mason [Baldivis Secondary College]</cp:lastModifiedBy>
  <cp:revision>77</cp:revision>
  <cp:lastPrinted>1601-01-01T00:00:00Z</cp:lastPrinted>
  <dcterms:created xsi:type="dcterms:W3CDTF">2000-11-01T00:14:34Z</dcterms:created>
  <dcterms:modified xsi:type="dcterms:W3CDTF">2018-11-18T06:04:13Z</dcterms:modified>
</cp:coreProperties>
</file>
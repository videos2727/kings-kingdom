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67" r:id="rId4"/>
    <p:sldId id="272" r:id="rId5"/>
    <p:sldId id="279" r:id="rId6"/>
    <p:sldId id="271" r:id="rId7"/>
    <p:sldId id="273" r:id="rId8"/>
    <p:sldId id="265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Cambria Math" panose="02040503050406030204" pitchFamily="18" charset="0"/>
      <p:regular r:id="rId17"/>
    </p:embeddedFont>
    <p:embeddedFont>
      <p:font typeface="Luckiest Guy" panose="020B0604020202020204" charset="0"/>
      <p:regular r:id="rId18"/>
    </p:embeddedFont>
    <p:embeddedFont>
      <p:font typeface="Verdana" panose="020B060403050404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9E7"/>
    <a:srgbClr val="D3FDF4"/>
    <a:srgbClr val="BAFFC9"/>
    <a:srgbClr val="FFDFBA"/>
    <a:srgbClr val="BAE1FF"/>
    <a:srgbClr val="FFFFBA"/>
    <a:srgbClr val="FFB3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610" y="4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611606-EFA7-41DC-AB0A-6DA65BA77C5C}" type="datetimeFigureOut">
              <a:rPr lang="en-US" smtClean="0"/>
              <a:t>10/10/2021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764A6-6D6C-4356-AA38-56B831EC8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8E566-F249-42DF-8B95-9A116F24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88311-2966-484C-9013-E263432F7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1D8C6-8CCE-4DE5-B8C9-BC9C5B16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0F2D7-E3FF-4727-84C2-87C8B072F849}" type="datetime1">
              <a:rPr lang="en-US" smtClean="0"/>
              <a:t>10/10/2021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C6E7C-FBF1-4E69-8984-DE5BE6FF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1B88-0472-471D-82BA-306920D6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9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9A8E-C957-4899-AA5F-2C6A2ED4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5E816-FB0E-4FC9-956C-4FADDB328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AE124-FBF6-4560-B8AA-20B2FD17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DB273-464D-4D05-8DDD-8521E316EB9A}" type="datetime1">
              <a:rPr lang="en-US" smtClean="0"/>
              <a:t>10/10/2021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761A-F3F4-4A15-B6FA-4A42C154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75F7B-EB69-4578-A41F-8C636339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2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798D7-E42C-4D93-9FA1-E6DA79E8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12488-B257-41F3-AEBD-51C5FCB66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65B59-5901-420F-8942-9C0D98C6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533E6-20E2-418E-B571-48F7227880DC}" type="datetime1">
              <a:rPr lang="en-US" smtClean="0"/>
              <a:t>10/10/2021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EFBF5-73E3-4B3A-9985-2AA1E29F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DF86D-66F3-4BBA-A8BF-EBCB959F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3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B29F-96A1-4916-A5EF-FEF71194A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B9756-DDA5-4FB0-BB96-5763099C6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91503-2A43-40A8-9151-1E5CBBFFE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68AAE-2145-4273-A72D-86BBDFFA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BCC6-70D1-4913-A4FF-11EFA5AA92BB}" type="datetime1">
              <a:rPr lang="en-US" smtClean="0"/>
              <a:t>10/10/2021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860CA-D260-4054-B289-475063865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9DDD4-1B17-49E7-845F-35B68F65D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A3B16-2DB0-4A98-A12C-981C19BFE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450FB-B4A3-4E02-A50C-07E03E16D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88F19-7A0B-4F91-A1FC-7162D82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72B43-061A-4490-ABE4-2F21A5E5A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D6CB1-03CD-4A24-876A-CBDA6A5BD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7BD4E-BF9F-4D68-8E29-F68DD211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634E2-D21C-46F3-AA0D-490FEA5AE96D}" type="datetime1">
              <a:rPr lang="en-US" smtClean="0"/>
              <a:t>10/10/2021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7F79F8-C89C-433C-91C9-CBA113076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428B45-29D5-4F8B-AAA1-EC631F9A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5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179D-63BC-4C08-B1F5-04A31D21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CAA20-0D4D-41DA-A0AE-3C8E1D3C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DAE8-C118-4E9A-A9F3-58E5AC490EF4}" type="datetime1">
              <a:rPr lang="en-US" smtClean="0"/>
              <a:t>10/10/2021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506C2-A53C-4F40-8C0B-AE4D8FC4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CDF8C-07FD-402E-8574-69D643A5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3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BE403-C520-4819-9597-C75E6F6B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F6B05-425D-4906-88AD-9D7CF88E5705}" type="datetime1">
              <a:rPr lang="en-US" smtClean="0"/>
              <a:t>10/10/2021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EC1E3-DBF3-4F7E-91AE-DEAAF1B4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E92C7-0778-423B-BB96-3D298E7F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76EE6-5B4F-4DBC-A6F2-2BD438B9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0C20-BECB-4651-894D-C5285239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30DCE-FCFD-4E29-9DBA-FCC5C2F81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22055-EDD0-4FA7-8599-FA3B43ADC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332BB-B910-4B28-8F6A-E7189620FF3F}" type="datetime1">
              <a:rPr lang="en-US" smtClean="0"/>
              <a:t>10/10/2021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2B388-3BC8-4A9C-914E-C22CD8F3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C726A-7E11-4746-801B-727845E1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32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B662-D40F-406A-9729-70979F49D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AC5071-060D-4290-B693-8F15226D1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6EDF9-F34B-4653-83D0-9D1765576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AB685-850F-439C-8FEA-CE41CD3EB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9D64F-33CC-43D6-A523-2019F61B9FAB}" type="datetime1">
              <a:rPr lang="en-US" smtClean="0"/>
              <a:t>10/10/2021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32FB4-EE25-494A-B0B9-4DFDDEDC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33326-CECA-4B70-9D1E-E8734E55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0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B5A2-32FA-4BED-AEFB-7AD31145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E5158-27BD-452D-ABA5-D7787E89B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E409-356C-4337-B34E-F8E2A629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3C8A-782B-4DD8-A886-7A7C990133C0}" type="datetime1">
              <a:rPr lang="en-US" smtClean="0"/>
              <a:t>10/10/2021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4E1ED-553E-4BAC-AF44-88365406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957E9-B90E-4E84-B5A1-1E3D9B6A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2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DF10F-37C4-4561-87BD-94E6940CA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DA13B-F3AB-41AA-9884-F32C47DE4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8F8F-0CB9-432A-B019-4563F0EF2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601E2-7543-46DC-A3B9-883495FCF91B}" type="datetime1">
              <a:rPr lang="en-US" smtClean="0"/>
              <a:t>10/10/2021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04F25-81C3-45A1-82B1-82D1996C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31962-8730-4ECE-BB52-6E7F610A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8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73248-5609-4E88-B5AF-10833677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C0DBB-FBFF-46DF-B1E6-1B3832E56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D1F8F-48EF-475C-8925-AFE3D5250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1DBB7-4AD2-444F-AF3F-ECC4E6C52175}" type="datetime1">
              <a:rPr lang="en-US" smtClean="0"/>
              <a:t>10/10/2021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8971E-E11A-47CD-AC71-CAB195A33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L.Cielto, 2018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6375-9BE4-4574-89E8-5BA1692B2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76EA4-03D1-434B-BD23-9B5FF02BA9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427959"/>
            <a:ext cx="9922164" cy="14790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Topic: </a:t>
            </a:r>
            <a:r>
              <a:rPr lang="en-US" dirty="0"/>
              <a:t>Semi</a:t>
            </a:r>
            <a:r>
              <a:rPr lang="en-US" b="1" dirty="0"/>
              <a:t>-</a:t>
            </a:r>
            <a:r>
              <a:rPr lang="en-US" dirty="0"/>
              <a:t>Circles and Quadrants</a:t>
            </a:r>
            <a:br>
              <a:rPr lang="en-US" dirty="0"/>
            </a:br>
            <a:r>
              <a:rPr lang="en-US" b="1" dirty="0"/>
              <a:t>EQ: </a:t>
            </a:r>
            <a:r>
              <a:rPr lang="en-US" dirty="0"/>
              <a:t>How do I find the area of semi-circles and quadrants?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525F1-D52C-4130-B921-CACDA0006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076" y="0"/>
            <a:ext cx="3821229" cy="835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5A1DDD-BE93-40FB-A4C1-258B1FD99488}"/>
              </a:ext>
            </a:extLst>
          </p:cNvPr>
          <p:cNvSpPr txBox="1"/>
          <p:nvPr/>
        </p:nvSpPr>
        <p:spPr>
          <a:xfrm>
            <a:off x="4658862" y="699522"/>
            <a:ext cx="6451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i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r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c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l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e</a:t>
            </a:r>
            <a:r>
              <a:rPr lang="en-US" sz="6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s</a:t>
            </a:r>
            <a:endParaRPr lang="en-AU" sz="6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13165-2570-457A-B643-EF7646D19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289" y="0"/>
            <a:ext cx="3821229" cy="835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DAFBDD-AFCD-43F1-8666-6EB6A8698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654" y="0"/>
            <a:ext cx="3821229" cy="8355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6F31FC-A8A9-475C-9EA9-7070F9BE9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019" y="-1"/>
            <a:ext cx="3821229" cy="83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50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D69A3-10CF-4E59-96DB-67250E73A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29" y="10279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Have a go at these questions: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2229" y="2059709"/>
                <a:ext cx="11217262" cy="4554971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Cambria Math" panose="02040503050406030204" pitchFamily="18" charset="0"/>
                  </a:rPr>
                  <a:t>Complete your summary from yesterday and highlight the important information.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Simplify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lang="en-AU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Using BIMDAS find: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÷2+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×5)</m:t>
                    </m:r>
                  </m:oMath>
                </a14:m>
                <a:endParaRPr lang="en-AU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Find the volume of the rectangular prism below</a:t>
                </a:r>
              </a:p>
              <a:p>
                <a:pPr marL="514350" indent="-514350">
                  <a:buAutoNum type="arabicPeriod"/>
                </a:pPr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Find area of the circle below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086E2-2B5D-4C6D-9002-E16A43F81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229" y="2059709"/>
                <a:ext cx="11217262" cy="4554971"/>
              </a:xfrm>
              <a:blipFill>
                <a:blip r:embed="rId2"/>
                <a:stretch>
                  <a:fillRect l="-1141" t="-2410" r="-4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8719050-1446-495C-91D1-2826AFFB2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63770">
            <a:off x="-69815" y="159203"/>
            <a:ext cx="4761685" cy="92342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910BD-F6B3-4F37-B7E9-5D909A49152E}"/>
              </a:ext>
            </a:extLst>
          </p:cNvPr>
          <p:cNvSpPr txBox="1">
            <a:spLocks/>
          </p:cNvSpPr>
          <p:nvPr/>
        </p:nvSpPr>
        <p:spPr>
          <a:xfrm>
            <a:off x="4957617" y="173460"/>
            <a:ext cx="7095837" cy="894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Topic: </a:t>
            </a:r>
            <a:r>
              <a:rPr lang="en-US" sz="2400" dirty="0"/>
              <a:t>Semi</a:t>
            </a:r>
            <a:r>
              <a:rPr lang="en-US" sz="2400" b="1" dirty="0"/>
              <a:t>-</a:t>
            </a:r>
            <a:r>
              <a:rPr lang="en-US" sz="2400" dirty="0"/>
              <a:t>Circles and Quadrants</a:t>
            </a:r>
            <a:br>
              <a:rPr lang="en-US" sz="2400" dirty="0"/>
            </a:br>
            <a:r>
              <a:rPr lang="en-US" sz="2400" b="1" dirty="0"/>
              <a:t>EQ: </a:t>
            </a:r>
            <a:r>
              <a:rPr lang="en-US" sz="2400" dirty="0"/>
              <a:t>How do I find the area of semi-circles and quadrants?</a:t>
            </a:r>
            <a:endParaRPr lang="en-AU" sz="2400" dirty="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865D8E7C-0848-4D10-8B0D-0C967098BEF3}"/>
              </a:ext>
            </a:extLst>
          </p:cNvPr>
          <p:cNvSpPr/>
          <p:nvPr/>
        </p:nvSpPr>
        <p:spPr>
          <a:xfrm>
            <a:off x="8017162" y="4504532"/>
            <a:ext cx="2004291" cy="1006764"/>
          </a:xfrm>
          <a:prstGeom prst="cube">
            <a:avLst/>
          </a:prstGeom>
          <a:solidFill>
            <a:srgbClr val="D3FDF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7EBAC5-6BAF-4D3E-B625-515E2F6FA5F4}"/>
              </a:ext>
            </a:extLst>
          </p:cNvPr>
          <p:cNvSpPr/>
          <p:nvPr/>
        </p:nvSpPr>
        <p:spPr>
          <a:xfrm>
            <a:off x="5539660" y="5429395"/>
            <a:ext cx="1422400" cy="1306945"/>
          </a:xfrm>
          <a:prstGeom prst="ellipse">
            <a:avLst/>
          </a:prstGeom>
          <a:solidFill>
            <a:srgbClr val="D3FDF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9C321D-92C1-419F-A907-450C9EA80474}"/>
              </a:ext>
            </a:extLst>
          </p:cNvPr>
          <p:cNvCxnSpPr>
            <a:endCxn id="5" idx="6"/>
          </p:cNvCxnSpPr>
          <p:nvPr/>
        </p:nvCxnSpPr>
        <p:spPr>
          <a:xfrm>
            <a:off x="6250860" y="6077527"/>
            <a:ext cx="711200" cy="53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FE91DF-00E7-4DB1-9668-C735C6E6ADEC}"/>
              </a:ext>
            </a:extLst>
          </p:cNvPr>
          <p:cNvSpPr txBox="1"/>
          <p:nvPr/>
        </p:nvSpPr>
        <p:spPr>
          <a:xfrm>
            <a:off x="6250860" y="5742821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m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8D764-403F-4B7A-A4CC-51A49BF5B17E}"/>
              </a:ext>
            </a:extLst>
          </p:cNvPr>
          <p:cNvSpPr txBox="1"/>
          <p:nvPr/>
        </p:nvSpPr>
        <p:spPr>
          <a:xfrm>
            <a:off x="8594206" y="5558155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cm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AFB0A1-341E-42D5-928C-4C66B33E9F92}"/>
              </a:ext>
            </a:extLst>
          </p:cNvPr>
          <p:cNvSpPr txBox="1"/>
          <p:nvPr/>
        </p:nvSpPr>
        <p:spPr>
          <a:xfrm>
            <a:off x="9849982" y="5244729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cm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BFB301-A01A-4754-B202-C39620501D84}"/>
              </a:ext>
            </a:extLst>
          </p:cNvPr>
          <p:cNvSpPr txBox="1"/>
          <p:nvPr/>
        </p:nvSpPr>
        <p:spPr>
          <a:xfrm>
            <a:off x="9988681" y="4720321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 cm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958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53" y="362724"/>
            <a:ext cx="11307618" cy="428215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Topic: </a:t>
            </a:r>
            <a:r>
              <a:rPr lang="en-US" sz="3100" dirty="0"/>
              <a:t>Circles</a:t>
            </a:r>
            <a:br>
              <a:rPr lang="en-US" sz="2800" dirty="0"/>
            </a:br>
            <a:br>
              <a:rPr lang="en-US" sz="2400" dirty="0"/>
            </a:br>
            <a:endParaRPr lang="en-AU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87545D-2270-4C38-8388-B5F655310AAC}"/>
              </a:ext>
            </a:extLst>
          </p:cNvPr>
          <p:cNvCxnSpPr/>
          <p:nvPr/>
        </p:nvCxnSpPr>
        <p:spPr>
          <a:xfrm flipV="1">
            <a:off x="0" y="947443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E10904-C7C7-48E2-9493-731F05868AFF}"/>
              </a:ext>
            </a:extLst>
          </p:cNvPr>
          <p:cNvCxnSpPr>
            <a:cxnSpLocks/>
          </p:cNvCxnSpPr>
          <p:nvPr/>
        </p:nvCxnSpPr>
        <p:spPr>
          <a:xfrm>
            <a:off x="1690251" y="1047513"/>
            <a:ext cx="0" cy="60364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ACDB9-3533-4C8A-8B1A-7C3B8AAF6769}"/>
                  </a:ext>
                </a:extLst>
              </p:cNvPr>
              <p:cNvSpPr txBox="1"/>
              <p:nvPr/>
            </p:nvSpPr>
            <p:spPr>
              <a:xfrm>
                <a:off x="2027365" y="1310251"/>
                <a:ext cx="7355194" cy="1877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We divide by 2 because a semi circle is half of a whole circle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ACDB9-3533-4C8A-8B1A-7C3B8AAF6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365" y="1310251"/>
                <a:ext cx="7355194" cy="1877437"/>
              </a:xfrm>
              <a:prstGeom prst="rect">
                <a:avLst/>
              </a:prstGeom>
              <a:blipFill>
                <a:blip r:embed="rId2"/>
                <a:stretch>
                  <a:fillRect l="-9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9F2500-0FE5-4F76-90C1-94C2F791EDCD}"/>
              </a:ext>
            </a:extLst>
          </p:cNvPr>
          <p:cNvCxnSpPr/>
          <p:nvPr/>
        </p:nvCxnSpPr>
        <p:spPr>
          <a:xfrm flipV="1">
            <a:off x="0" y="399039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3209-5634-4AE5-B029-FF72368F7012}"/>
                  </a:ext>
                </a:extLst>
              </p:cNvPr>
              <p:cNvSpPr txBox="1"/>
              <p:nvPr/>
            </p:nvSpPr>
            <p:spPr>
              <a:xfrm>
                <a:off x="4328932" y="4062595"/>
                <a:ext cx="204069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=14.14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3209-5634-4AE5-B029-FF72368F7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932" y="4062595"/>
                <a:ext cx="2040691" cy="22467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8927D14-8AFF-46E7-8F5F-002C1B2E84BB}"/>
              </a:ext>
            </a:extLst>
          </p:cNvPr>
          <p:cNvSpPr txBox="1"/>
          <p:nvPr/>
        </p:nvSpPr>
        <p:spPr>
          <a:xfrm>
            <a:off x="51153" y="1224826"/>
            <a:ext cx="16902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find the area of semi-circles?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185F30-6928-4C5D-AE8C-CD60C726D9C6}"/>
              </a:ext>
            </a:extLst>
          </p:cNvPr>
          <p:cNvSpPr txBox="1"/>
          <p:nvPr/>
        </p:nvSpPr>
        <p:spPr>
          <a:xfrm>
            <a:off x="87753" y="3939484"/>
            <a:ext cx="1602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radius is 3 cm what is the area of this semi-circle?</a:t>
            </a:r>
            <a:endParaRPr lang="en-AU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0DF908-D19F-4733-8CBE-3769A6ADB379}"/>
              </a:ext>
            </a:extLst>
          </p:cNvPr>
          <p:cNvGrpSpPr/>
          <p:nvPr/>
        </p:nvGrpSpPr>
        <p:grpSpPr>
          <a:xfrm>
            <a:off x="8872979" y="1124904"/>
            <a:ext cx="2224080" cy="1551965"/>
            <a:chOff x="4544436" y="1125842"/>
            <a:chExt cx="2224080" cy="1551965"/>
          </a:xfrm>
        </p:grpSpPr>
        <p:pic>
          <p:nvPicPr>
            <p:cNvPr id="1026" name="Picture 2" descr="Semicircle - math word definition - Math Open Reference">
              <a:extLst>
                <a:ext uri="{FF2B5EF4-FFF2-40B4-BE49-F238E27FC236}">
                  <a16:creationId xmlns:a16="http://schemas.microsoft.com/office/drawing/2014/main" id="{867AF45D-2653-4492-9DF7-B11A3AB6DD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94" t="14798" r="16061" b="17754"/>
            <a:stretch/>
          </p:blipFill>
          <p:spPr bwMode="auto">
            <a:xfrm>
              <a:off x="4544436" y="1125842"/>
              <a:ext cx="2224080" cy="1179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FA76388-E947-433C-AE46-1B7AAE016FA7}"/>
                </a:ext>
              </a:extLst>
            </p:cNvPr>
            <p:cNvCxnSpPr>
              <a:stCxn id="1026" idx="2"/>
            </p:cNvCxnSpPr>
            <p:nvPr/>
          </p:nvCxnSpPr>
          <p:spPr>
            <a:xfrm>
              <a:off x="5656476" y="2305568"/>
              <a:ext cx="993706" cy="0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D3DC8C-19D6-48EA-A061-ACFB1E251E9B}"/>
                </a:ext>
              </a:extLst>
            </p:cNvPr>
            <p:cNvSpPr txBox="1"/>
            <p:nvPr/>
          </p:nvSpPr>
          <p:spPr>
            <a:xfrm>
              <a:off x="6022448" y="2216142"/>
              <a:ext cx="2920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r</a:t>
              </a:r>
              <a:endParaRPr lang="en-AU" sz="2400" b="1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E9B26F-702F-4079-82DF-FAA51BBDC2D2}"/>
              </a:ext>
            </a:extLst>
          </p:cNvPr>
          <p:cNvGrpSpPr/>
          <p:nvPr/>
        </p:nvGrpSpPr>
        <p:grpSpPr>
          <a:xfrm>
            <a:off x="2027365" y="3974079"/>
            <a:ext cx="1866131" cy="2224080"/>
            <a:chOff x="2027365" y="3974079"/>
            <a:chExt cx="1866131" cy="2224080"/>
          </a:xfrm>
        </p:grpSpPr>
        <p:pic>
          <p:nvPicPr>
            <p:cNvPr id="30" name="Picture 2" descr="Semicircle - math word definition - Math Open Reference">
              <a:extLst>
                <a:ext uri="{FF2B5EF4-FFF2-40B4-BE49-F238E27FC236}">
                  <a16:creationId xmlns:a16="http://schemas.microsoft.com/office/drawing/2014/main" id="{7A48B503-B744-4065-81E8-E860A3C64A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94" t="14798" r="16061" b="17754"/>
            <a:stretch/>
          </p:blipFill>
          <p:spPr bwMode="auto">
            <a:xfrm rot="16200000">
              <a:off x="1505188" y="4496256"/>
              <a:ext cx="2224080" cy="11797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77EBF7B-868D-4D92-A4B1-ED75FF0B64FB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H="1">
              <a:off x="3207091" y="4098543"/>
              <a:ext cx="2" cy="987576"/>
            </a:xfrm>
            <a:prstGeom prst="straightConnector1">
              <a:avLst/>
            </a:prstGeom>
            <a:ln w="1270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5FE1F9-968F-4660-A0B7-64F3F91EB6C9}"/>
                </a:ext>
              </a:extLst>
            </p:cNvPr>
            <p:cNvSpPr txBox="1"/>
            <p:nvPr/>
          </p:nvSpPr>
          <p:spPr>
            <a:xfrm>
              <a:off x="3207090" y="4308815"/>
              <a:ext cx="6864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3 cm</a:t>
              </a:r>
              <a:endParaRPr lang="en-AU" sz="2000" dirty="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F710DB70-1C88-4F8B-89EC-F34DBAE7C9D7}"/>
              </a:ext>
            </a:extLst>
          </p:cNvPr>
          <p:cNvSpPr txBox="1"/>
          <p:nvPr/>
        </p:nvSpPr>
        <p:spPr>
          <a:xfrm>
            <a:off x="87753" y="501367"/>
            <a:ext cx="8546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EQ: </a:t>
            </a:r>
            <a:r>
              <a:rPr lang="en-US" sz="2800" dirty="0"/>
              <a:t>How do I find the area of semi-circles and quadrants?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79951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53" y="362724"/>
            <a:ext cx="11307618" cy="428215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Topic: </a:t>
            </a:r>
            <a:r>
              <a:rPr lang="en-US" sz="3100" dirty="0"/>
              <a:t>Circles</a:t>
            </a:r>
            <a:br>
              <a:rPr lang="en-US" sz="2800" dirty="0"/>
            </a:br>
            <a:br>
              <a:rPr lang="en-US" sz="2400" dirty="0"/>
            </a:br>
            <a:endParaRPr lang="en-AU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87545D-2270-4C38-8388-B5F655310AAC}"/>
              </a:ext>
            </a:extLst>
          </p:cNvPr>
          <p:cNvCxnSpPr/>
          <p:nvPr/>
        </p:nvCxnSpPr>
        <p:spPr>
          <a:xfrm flipV="1">
            <a:off x="0" y="947443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E10904-C7C7-48E2-9493-731F05868AFF}"/>
              </a:ext>
            </a:extLst>
          </p:cNvPr>
          <p:cNvCxnSpPr>
            <a:cxnSpLocks/>
          </p:cNvCxnSpPr>
          <p:nvPr/>
        </p:nvCxnSpPr>
        <p:spPr>
          <a:xfrm>
            <a:off x="1690251" y="1047513"/>
            <a:ext cx="0" cy="60364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ACDB9-3533-4C8A-8B1A-7C3B8AAF6769}"/>
                  </a:ext>
                </a:extLst>
              </p:cNvPr>
              <p:cNvSpPr txBox="1"/>
              <p:nvPr/>
            </p:nvSpPr>
            <p:spPr>
              <a:xfrm>
                <a:off x="1913065" y="1213928"/>
                <a:ext cx="7937510" cy="2339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i="0" dirty="0">
                    <a:solidFill>
                      <a:srgbClr val="333333"/>
                    </a:solidFill>
                    <a:effectLst/>
                    <a:latin typeface="Verdana" panose="020B0604030504040204" pitchFamily="34" charset="0"/>
                  </a:rPr>
                  <a:t>A quarter of a circle.</a:t>
                </a: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lvl="7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We divide by 4 because a quadrant is one quarter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 )of a whole circle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ACDB9-3533-4C8A-8B1A-7C3B8AAF6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065" y="1213928"/>
                <a:ext cx="7937510" cy="2339936"/>
              </a:xfrm>
              <a:prstGeom prst="rect">
                <a:avLst/>
              </a:prstGeom>
              <a:blipFill>
                <a:blip r:embed="rId2"/>
                <a:stretch>
                  <a:fillRect l="-845" t="-1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9F2500-0FE5-4F76-90C1-94C2F791EDCD}"/>
              </a:ext>
            </a:extLst>
          </p:cNvPr>
          <p:cNvCxnSpPr/>
          <p:nvPr/>
        </p:nvCxnSpPr>
        <p:spPr>
          <a:xfrm flipV="1">
            <a:off x="0" y="399039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3209-5634-4AE5-B029-FF72368F7012}"/>
                  </a:ext>
                </a:extLst>
              </p:cNvPr>
              <p:cNvSpPr txBox="1"/>
              <p:nvPr/>
            </p:nvSpPr>
            <p:spPr>
              <a:xfrm>
                <a:off x="4116028" y="3687901"/>
                <a:ext cx="230047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201.06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=50.27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33209-5634-4AE5-B029-FF72368F7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028" y="3687901"/>
                <a:ext cx="2300470" cy="3170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8927D14-8AFF-46E7-8F5F-002C1B2E84BB}"/>
              </a:ext>
            </a:extLst>
          </p:cNvPr>
          <p:cNvSpPr txBox="1"/>
          <p:nvPr/>
        </p:nvSpPr>
        <p:spPr>
          <a:xfrm>
            <a:off x="51153" y="1224826"/>
            <a:ext cx="16902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find the area of a quadrant?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185F30-6928-4C5D-AE8C-CD60C726D9C6}"/>
              </a:ext>
            </a:extLst>
          </p:cNvPr>
          <p:cNvSpPr txBox="1"/>
          <p:nvPr/>
        </p:nvSpPr>
        <p:spPr>
          <a:xfrm>
            <a:off x="95028" y="3440593"/>
            <a:ext cx="16024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radius is 8 cm what is the area of this quadrant?</a:t>
            </a:r>
            <a:endParaRPr lang="en-A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10DB70-1C88-4F8B-89EC-F34DBAE7C9D7}"/>
              </a:ext>
            </a:extLst>
          </p:cNvPr>
          <p:cNvSpPr txBox="1"/>
          <p:nvPr/>
        </p:nvSpPr>
        <p:spPr>
          <a:xfrm>
            <a:off x="87753" y="501367"/>
            <a:ext cx="8546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EQ: </a:t>
            </a:r>
            <a:r>
              <a:rPr lang="en-US" sz="2800" dirty="0"/>
              <a:t>How do I find the area of semi-circles and quadrants?</a:t>
            </a:r>
            <a:endParaRPr lang="en-AU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373E6-7B78-4E03-AC7F-03F47F45D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065" y="1024587"/>
            <a:ext cx="2185175" cy="2224080"/>
          </a:xfrm>
          <a:prstGeom prst="rect">
            <a:avLst/>
          </a:prstGeom>
        </p:spPr>
      </p:pic>
      <p:pic>
        <p:nvPicPr>
          <p:cNvPr id="2052" name="Picture 4" descr="How to Find the Area of a Quadrant (a Quarter of a Circle) - Owlcation">
            <a:extLst>
              <a:ext uri="{FF2B5EF4-FFF2-40B4-BE49-F238E27FC236}">
                <a16:creationId xmlns:a16="http://schemas.microsoft.com/office/drawing/2014/main" id="{5F9B275F-F0E5-4DEE-B92F-D35FEEBA9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065" y="3573293"/>
            <a:ext cx="2095110" cy="193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63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C80C-3858-4D8B-8335-42E5C508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53" y="362724"/>
            <a:ext cx="11307618" cy="428215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Topic: </a:t>
            </a:r>
            <a:r>
              <a:rPr lang="en-US" sz="3100" dirty="0"/>
              <a:t>Circles</a:t>
            </a:r>
            <a:br>
              <a:rPr lang="en-US" sz="2800" dirty="0"/>
            </a:br>
            <a:br>
              <a:rPr lang="en-US" sz="2400" dirty="0"/>
            </a:br>
            <a:endParaRPr lang="en-AU"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87545D-2270-4C38-8388-B5F655310AAC}"/>
              </a:ext>
            </a:extLst>
          </p:cNvPr>
          <p:cNvCxnSpPr/>
          <p:nvPr/>
        </p:nvCxnSpPr>
        <p:spPr>
          <a:xfrm flipV="1">
            <a:off x="0" y="947443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E10904-C7C7-48E2-9493-731F05868AFF}"/>
              </a:ext>
            </a:extLst>
          </p:cNvPr>
          <p:cNvCxnSpPr>
            <a:cxnSpLocks/>
          </p:cNvCxnSpPr>
          <p:nvPr/>
        </p:nvCxnSpPr>
        <p:spPr>
          <a:xfrm>
            <a:off x="1690251" y="1047513"/>
            <a:ext cx="0" cy="603642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9F2500-0FE5-4F76-90C1-94C2F791EDCD}"/>
              </a:ext>
            </a:extLst>
          </p:cNvPr>
          <p:cNvCxnSpPr/>
          <p:nvPr/>
        </p:nvCxnSpPr>
        <p:spPr>
          <a:xfrm flipV="1">
            <a:off x="0" y="399039"/>
            <a:ext cx="12192000" cy="9294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927D14-8AFF-46E7-8F5F-002C1B2E84BB}"/>
              </a:ext>
            </a:extLst>
          </p:cNvPr>
          <p:cNvSpPr txBox="1"/>
          <p:nvPr/>
        </p:nvSpPr>
        <p:spPr>
          <a:xfrm>
            <a:off x="51153" y="1224826"/>
            <a:ext cx="16902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/>
              <a:t>How do I solve perimeter problems?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10DB70-1C88-4F8B-89EC-F34DBAE7C9D7}"/>
              </a:ext>
            </a:extLst>
          </p:cNvPr>
          <p:cNvSpPr txBox="1"/>
          <p:nvPr/>
        </p:nvSpPr>
        <p:spPr>
          <a:xfrm>
            <a:off x="87753" y="501367"/>
            <a:ext cx="85465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EQ: </a:t>
            </a:r>
            <a:r>
              <a:rPr lang="en-US" sz="2800" dirty="0"/>
              <a:t>How do I find the area of semi-circles and quadrants?</a:t>
            </a:r>
            <a:endParaRPr lang="en-AU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707A6-73E4-420C-B531-38A6C1813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84" y="1324119"/>
            <a:ext cx="5962650" cy="45053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9087ED-09A4-4F44-95CC-F3389B861A32}"/>
              </a:ext>
            </a:extLst>
          </p:cNvPr>
          <p:cNvSpPr txBox="1"/>
          <p:nvPr/>
        </p:nvSpPr>
        <p:spPr>
          <a:xfrm>
            <a:off x="1792065" y="6310610"/>
            <a:ext cx="870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b="1" dirty="0">
                <a:solidFill>
                  <a:srgbClr val="FF0000"/>
                </a:solidFill>
                <a:latin typeface="Calibri" panose="020F0502020204030204"/>
              </a:rPr>
              <a:t>* If you have a circle with a diameter you will need to half it in order to find the radius. </a:t>
            </a:r>
          </a:p>
        </p:txBody>
      </p:sp>
    </p:spTree>
    <p:extLst>
      <p:ext uri="{BB962C8B-B14F-4D97-AF65-F5344CB8AC3E}">
        <p14:creationId xmlns:p14="http://schemas.microsoft.com/office/powerpoint/2010/main" val="374894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69CB4A-829F-4DC7-BA19-B12D9BAD8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60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9DA5-9C61-42FE-B55C-EEA252F9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3248"/>
            <a:ext cx="10515600" cy="1325563"/>
          </a:xfrm>
        </p:spPr>
        <p:txBody>
          <a:bodyPr/>
          <a:lstStyle/>
          <a:p>
            <a:r>
              <a:rPr lang="en-US" dirty="0"/>
              <a:t>Find the area and perimeter of the following: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8A93C2-3111-4983-9F3C-400BDCE1D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37" y="1957218"/>
            <a:ext cx="7214755" cy="3369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EB6C13-64FE-4C0C-A1A6-99A8348BEF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56"/>
          <a:stretch/>
        </p:blipFill>
        <p:spPr>
          <a:xfrm>
            <a:off x="5605317" y="3756943"/>
            <a:ext cx="6442364" cy="167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57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E5941E-41D4-42CB-BD59-A652858BF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69748">
            <a:off x="13108" y="549642"/>
            <a:ext cx="4106224" cy="1118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29DFD5-B429-47BC-BABE-4D8BAADAC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3988">
            <a:off x="8072666" y="640573"/>
            <a:ext cx="4106224" cy="110827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31E223C-1AA4-46F5-9565-0A846B689FFE}"/>
              </a:ext>
            </a:extLst>
          </p:cNvPr>
          <p:cNvSpPr txBox="1">
            <a:spLocks/>
          </p:cNvSpPr>
          <p:nvPr/>
        </p:nvSpPr>
        <p:spPr>
          <a:xfrm>
            <a:off x="2219246" y="385043"/>
            <a:ext cx="7769087" cy="4276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W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h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a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t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Q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u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e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s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t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i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n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s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</a:p>
          <a:p>
            <a:pPr algn="ctr"/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d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y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o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u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 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h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E1FF"/>
                </a:solidFill>
                <a:latin typeface="Luckiest Guy" panose="02000506000000020004" pitchFamily="2" charset="0"/>
              </a:rPr>
              <a:t>a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B3BA"/>
                </a:solidFill>
                <a:latin typeface="Luckiest Guy" panose="02000506000000020004" pitchFamily="2" charset="0"/>
              </a:rPr>
              <a:t>v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DFBA"/>
                </a:solidFill>
                <a:latin typeface="Luckiest Guy" panose="02000506000000020004" pitchFamily="2" charset="0"/>
              </a:rPr>
              <a:t>e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FFFFBA"/>
                </a:solidFill>
                <a:latin typeface="Luckiest Guy" panose="02000506000000020004" pitchFamily="2" charset="0"/>
              </a:rPr>
              <a:t>?</a:t>
            </a:r>
            <a:r>
              <a:rPr lang="en-US" sz="8000" dirty="0">
                <a:ln>
                  <a:solidFill>
                    <a:schemeClr val="tx1"/>
                  </a:solidFill>
                </a:ln>
                <a:solidFill>
                  <a:srgbClr val="BAFFC9"/>
                </a:solidFill>
                <a:latin typeface="Luckiest Guy" panose="02000506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7422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10071</TotalTime>
  <Words>305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Cambria Math</vt:lpstr>
      <vt:lpstr>Arial</vt:lpstr>
      <vt:lpstr>Luckiest Guy</vt:lpstr>
      <vt:lpstr>Calibri Light</vt:lpstr>
      <vt:lpstr>Verdana</vt:lpstr>
      <vt:lpstr>Office Theme</vt:lpstr>
      <vt:lpstr>Topic: Semi-Circles and Quadrants EQ: How do I find the area of semi-circles and quadrants?</vt:lpstr>
      <vt:lpstr>Have a go at these questions:</vt:lpstr>
      <vt:lpstr>Topic: Circles  </vt:lpstr>
      <vt:lpstr>Topic: Circles  </vt:lpstr>
      <vt:lpstr>Topic: Circles  </vt:lpstr>
      <vt:lpstr>PowerPoint Presentation</vt:lpstr>
      <vt:lpstr>Find the area and perimeter of the following: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circles</dc:title>
  <dc:creator>GREGORY Jade [Baldivis Secondary College]</dc:creator>
  <cp:lastModifiedBy>Jade Gregory</cp:lastModifiedBy>
  <cp:revision>57</cp:revision>
  <dcterms:created xsi:type="dcterms:W3CDTF">2018-11-28T12:02:55Z</dcterms:created>
  <dcterms:modified xsi:type="dcterms:W3CDTF">2021-10-10T11:25:50Z</dcterms:modified>
</cp:coreProperties>
</file>
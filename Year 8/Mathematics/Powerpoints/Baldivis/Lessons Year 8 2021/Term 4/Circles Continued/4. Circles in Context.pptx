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66" r:id="rId2"/>
    <p:sldId id="268" r:id="rId3"/>
    <p:sldId id="267" r:id="rId4"/>
    <p:sldId id="271" r:id="rId5"/>
    <p:sldId id="286" r:id="rId6"/>
    <p:sldId id="284" r:id="rId7"/>
    <p:sldId id="285" r:id="rId8"/>
    <p:sldId id="265" r:id="rId9"/>
  </p:sldIdLst>
  <p:sldSz cx="12192000" cy="6858000"/>
  <p:notesSz cx="6858000" cy="9144000"/>
  <p:embeddedFontLst>
    <p:embeddedFont>
      <p:font typeface="Calibri" panose="020F0502020204030204" pitchFamily="34" charset="0"/>
      <p:regular r:id="rId11"/>
      <p:bold r:id="rId12"/>
      <p:italic r:id="rId13"/>
      <p:boldItalic r:id="rId14"/>
    </p:embeddedFont>
    <p:embeddedFont>
      <p:font typeface="Calibri Light" panose="020F0302020204030204" pitchFamily="34" charset="0"/>
      <p:regular r:id="rId15"/>
      <p:italic r:id="rId16"/>
    </p:embeddedFont>
    <p:embeddedFont>
      <p:font typeface="Cambria Math" panose="02040503050406030204" pitchFamily="18" charset="0"/>
      <p:regular r:id="rId17"/>
    </p:embeddedFont>
    <p:embeddedFont>
      <p:font typeface="Luckiest Guy" panose="02000506000000020004" pitchFamily="2"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9E7"/>
    <a:srgbClr val="D3FDF4"/>
    <a:srgbClr val="BAFFC9"/>
    <a:srgbClr val="FFDFBA"/>
    <a:srgbClr val="BAE1FF"/>
    <a:srgbClr val="FFFFBA"/>
    <a:srgbClr val="FFB3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3" autoAdjust="0"/>
    <p:restoredTop sz="94660"/>
  </p:normalViewPr>
  <p:slideViewPr>
    <p:cSldViewPr snapToGrid="0">
      <p:cViewPr varScale="1">
        <p:scale>
          <a:sx n="108" d="100"/>
          <a:sy n="108" d="100"/>
        </p:scale>
        <p:origin x="776" y="1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611606-EFA7-41DC-AB0A-6DA65BA77C5C}" type="datetimeFigureOut">
              <a:rPr lang="en-US" smtClean="0"/>
              <a:t>10/10/21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5764A6-6D6C-4356-AA38-56B831EC8AB8}" type="slidenum">
              <a:rPr lang="en-US" smtClean="0"/>
              <a:t>‹#›</a:t>
            </a:fld>
            <a:endParaRPr lang="en-US"/>
          </a:p>
        </p:txBody>
      </p:sp>
    </p:spTree>
    <p:extLst>
      <p:ext uri="{BB962C8B-B14F-4D97-AF65-F5344CB8AC3E}">
        <p14:creationId xmlns:p14="http://schemas.microsoft.com/office/powerpoint/2010/main" val="4082126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8E566-F249-42DF-8B95-9A116F2457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088311-2966-484C-9013-E263432F7B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F1D8C6-8CCE-4DE5-B8C9-BC9C5B16AFCE}"/>
              </a:ext>
            </a:extLst>
          </p:cNvPr>
          <p:cNvSpPr>
            <a:spLocks noGrp="1"/>
          </p:cNvSpPr>
          <p:nvPr>
            <p:ph type="dt" sz="half" idx="10"/>
          </p:nvPr>
        </p:nvSpPr>
        <p:spPr/>
        <p:txBody>
          <a:bodyPr/>
          <a:lstStyle/>
          <a:p>
            <a:fld id="{2000F2D7-E3FF-4727-84C2-87C8B072F849}" type="datetime1">
              <a:rPr lang="en-US" smtClean="0"/>
              <a:t>10/10/21</a:t>
            </a:fld>
            <a:endParaRPr lang="en-US"/>
          </a:p>
        </p:txBody>
      </p:sp>
      <p:sp>
        <p:nvSpPr>
          <p:cNvPr id="5" name="Footer Placeholder 4">
            <a:extLst>
              <a:ext uri="{FF2B5EF4-FFF2-40B4-BE49-F238E27FC236}">
                <a16:creationId xmlns:a16="http://schemas.microsoft.com/office/drawing/2014/main" id="{B17C6E7C-FBF1-4E69-8984-DE5BE6FFCAEE}"/>
              </a:ext>
            </a:extLst>
          </p:cNvPr>
          <p:cNvSpPr>
            <a:spLocks noGrp="1"/>
          </p:cNvSpPr>
          <p:nvPr>
            <p:ph type="ftr" sz="quarter" idx="11"/>
          </p:nvPr>
        </p:nvSpPr>
        <p:spPr/>
        <p:txBody>
          <a:bodyPr/>
          <a:lstStyle/>
          <a:p>
            <a:r>
              <a:rPr lang="en-US"/>
              <a:t>© L.Cielto, 2018</a:t>
            </a:r>
          </a:p>
        </p:txBody>
      </p:sp>
      <p:sp>
        <p:nvSpPr>
          <p:cNvPr id="6" name="Slide Number Placeholder 5">
            <a:extLst>
              <a:ext uri="{FF2B5EF4-FFF2-40B4-BE49-F238E27FC236}">
                <a16:creationId xmlns:a16="http://schemas.microsoft.com/office/drawing/2014/main" id="{18A51B88-0472-471D-82BA-306920D68A8B}"/>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3929898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19A8E-C957-4899-AA5F-2C6A2ED438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05E816-FB0E-4FC9-956C-4FADDB328EA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BAE124-FBF6-4560-B8AA-20B2FD1768B2}"/>
              </a:ext>
            </a:extLst>
          </p:cNvPr>
          <p:cNvSpPr>
            <a:spLocks noGrp="1"/>
          </p:cNvSpPr>
          <p:nvPr>
            <p:ph type="dt" sz="half" idx="10"/>
          </p:nvPr>
        </p:nvSpPr>
        <p:spPr/>
        <p:txBody>
          <a:bodyPr/>
          <a:lstStyle/>
          <a:p>
            <a:fld id="{177DB273-464D-4D05-8DDD-8521E316EB9A}" type="datetime1">
              <a:rPr lang="en-US" smtClean="0"/>
              <a:t>10/10/21</a:t>
            </a:fld>
            <a:endParaRPr lang="en-US"/>
          </a:p>
        </p:txBody>
      </p:sp>
      <p:sp>
        <p:nvSpPr>
          <p:cNvPr id="5" name="Footer Placeholder 4">
            <a:extLst>
              <a:ext uri="{FF2B5EF4-FFF2-40B4-BE49-F238E27FC236}">
                <a16:creationId xmlns:a16="http://schemas.microsoft.com/office/drawing/2014/main" id="{77E4761A-F3F4-4A15-B6FA-4A42C154F300}"/>
              </a:ext>
            </a:extLst>
          </p:cNvPr>
          <p:cNvSpPr>
            <a:spLocks noGrp="1"/>
          </p:cNvSpPr>
          <p:nvPr>
            <p:ph type="ftr" sz="quarter" idx="11"/>
          </p:nvPr>
        </p:nvSpPr>
        <p:spPr/>
        <p:txBody>
          <a:bodyPr/>
          <a:lstStyle/>
          <a:p>
            <a:r>
              <a:rPr lang="en-US"/>
              <a:t>© L.Cielto, 2018</a:t>
            </a:r>
          </a:p>
        </p:txBody>
      </p:sp>
      <p:sp>
        <p:nvSpPr>
          <p:cNvPr id="6" name="Slide Number Placeholder 5">
            <a:extLst>
              <a:ext uri="{FF2B5EF4-FFF2-40B4-BE49-F238E27FC236}">
                <a16:creationId xmlns:a16="http://schemas.microsoft.com/office/drawing/2014/main" id="{6D675F7B-EB69-4578-A41F-8C636339FE79}"/>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3258424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798D7-E42C-4D93-9FA1-E6DA79E80A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D12488-B257-41F3-AEBD-51C5FCB66AA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9665B59-5901-420F-8942-9C0D98C6AF44}"/>
              </a:ext>
            </a:extLst>
          </p:cNvPr>
          <p:cNvSpPr>
            <a:spLocks noGrp="1"/>
          </p:cNvSpPr>
          <p:nvPr>
            <p:ph type="dt" sz="half" idx="10"/>
          </p:nvPr>
        </p:nvSpPr>
        <p:spPr/>
        <p:txBody>
          <a:bodyPr/>
          <a:lstStyle/>
          <a:p>
            <a:fld id="{BA6533E6-20E2-418E-B571-48F7227880DC}" type="datetime1">
              <a:rPr lang="en-US" smtClean="0"/>
              <a:t>10/10/21</a:t>
            </a:fld>
            <a:endParaRPr lang="en-US"/>
          </a:p>
        </p:txBody>
      </p:sp>
      <p:sp>
        <p:nvSpPr>
          <p:cNvPr id="5" name="Footer Placeholder 4">
            <a:extLst>
              <a:ext uri="{FF2B5EF4-FFF2-40B4-BE49-F238E27FC236}">
                <a16:creationId xmlns:a16="http://schemas.microsoft.com/office/drawing/2014/main" id="{DADEFBF5-73E3-4B3A-9985-2AA1E29FD367}"/>
              </a:ext>
            </a:extLst>
          </p:cNvPr>
          <p:cNvSpPr>
            <a:spLocks noGrp="1"/>
          </p:cNvSpPr>
          <p:nvPr>
            <p:ph type="ftr" sz="quarter" idx="11"/>
          </p:nvPr>
        </p:nvSpPr>
        <p:spPr/>
        <p:txBody>
          <a:bodyPr/>
          <a:lstStyle/>
          <a:p>
            <a:r>
              <a:rPr lang="en-US"/>
              <a:t>© L.Cielto, 2018</a:t>
            </a:r>
          </a:p>
        </p:txBody>
      </p:sp>
      <p:sp>
        <p:nvSpPr>
          <p:cNvPr id="6" name="Slide Number Placeholder 5">
            <a:extLst>
              <a:ext uri="{FF2B5EF4-FFF2-40B4-BE49-F238E27FC236}">
                <a16:creationId xmlns:a16="http://schemas.microsoft.com/office/drawing/2014/main" id="{F55DF86D-66F3-4BBA-A8BF-EBCB959F0A7F}"/>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2060434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8B29F-96A1-4916-A5EF-FEF71194A6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1B9756-DDA5-4FB0-BB96-5763099C6A4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3391503-2A43-40A8-9151-1E5CBBFFE39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EE68AAE-2145-4273-A72D-86BBDFFA4C3E}"/>
              </a:ext>
            </a:extLst>
          </p:cNvPr>
          <p:cNvSpPr>
            <a:spLocks noGrp="1"/>
          </p:cNvSpPr>
          <p:nvPr>
            <p:ph type="dt" sz="half" idx="10"/>
          </p:nvPr>
        </p:nvSpPr>
        <p:spPr/>
        <p:txBody>
          <a:bodyPr/>
          <a:lstStyle/>
          <a:p>
            <a:fld id="{2BBABCC6-70D1-4913-A4FF-11EFA5AA92BB}" type="datetime1">
              <a:rPr lang="en-US" smtClean="0"/>
              <a:t>10/10/21</a:t>
            </a:fld>
            <a:endParaRPr lang="en-US"/>
          </a:p>
        </p:txBody>
      </p:sp>
      <p:sp>
        <p:nvSpPr>
          <p:cNvPr id="6" name="Footer Placeholder 5">
            <a:extLst>
              <a:ext uri="{FF2B5EF4-FFF2-40B4-BE49-F238E27FC236}">
                <a16:creationId xmlns:a16="http://schemas.microsoft.com/office/drawing/2014/main" id="{645860CA-D260-4054-B289-475063865AB0}"/>
              </a:ext>
            </a:extLst>
          </p:cNvPr>
          <p:cNvSpPr>
            <a:spLocks noGrp="1"/>
          </p:cNvSpPr>
          <p:nvPr>
            <p:ph type="ftr" sz="quarter" idx="11"/>
          </p:nvPr>
        </p:nvSpPr>
        <p:spPr/>
        <p:txBody>
          <a:bodyPr/>
          <a:lstStyle/>
          <a:p>
            <a:r>
              <a:rPr lang="en-US"/>
              <a:t>© L.Cielto, 2018</a:t>
            </a:r>
          </a:p>
        </p:txBody>
      </p:sp>
      <p:sp>
        <p:nvSpPr>
          <p:cNvPr id="7" name="Slide Number Placeholder 6">
            <a:extLst>
              <a:ext uri="{FF2B5EF4-FFF2-40B4-BE49-F238E27FC236}">
                <a16:creationId xmlns:a16="http://schemas.microsoft.com/office/drawing/2014/main" id="{0B49DDD4-1B17-49E7-845F-35B68F65D4F4}"/>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38192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A3B16-2DB0-4A98-A12C-981C19BFE6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A450FB-B4A3-4E02-A50C-07E03E16DD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8888F19-7A0B-4F91-A1FC-7162D82024C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1A72B43-061A-4490-ABE4-2F21A5E5AE1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4AD6CB1-03CD-4A24-876A-CBDA6A5BDAA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B7BD4E-BF9F-4D68-8E29-F68DD2117342}"/>
              </a:ext>
            </a:extLst>
          </p:cNvPr>
          <p:cNvSpPr>
            <a:spLocks noGrp="1"/>
          </p:cNvSpPr>
          <p:nvPr>
            <p:ph type="dt" sz="half" idx="10"/>
          </p:nvPr>
        </p:nvSpPr>
        <p:spPr/>
        <p:txBody>
          <a:bodyPr/>
          <a:lstStyle/>
          <a:p>
            <a:fld id="{97A634E2-D21C-46F3-AA0D-490FEA5AE96D}" type="datetime1">
              <a:rPr lang="en-US" smtClean="0"/>
              <a:t>10/10/21</a:t>
            </a:fld>
            <a:endParaRPr lang="en-US"/>
          </a:p>
        </p:txBody>
      </p:sp>
      <p:sp>
        <p:nvSpPr>
          <p:cNvPr id="8" name="Footer Placeholder 7">
            <a:extLst>
              <a:ext uri="{FF2B5EF4-FFF2-40B4-BE49-F238E27FC236}">
                <a16:creationId xmlns:a16="http://schemas.microsoft.com/office/drawing/2014/main" id="{0D7F79F8-C89C-433C-91C9-CBA113076C7A}"/>
              </a:ext>
            </a:extLst>
          </p:cNvPr>
          <p:cNvSpPr>
            <a:spLocks noGrp="1"/>
          </p:cNvSpPr>
          <p:nvPr>
            <p:ph type="ftr" sz="quarter" idx="11"/>
          </p:nvPr>
        </p:nvSpPr>
        <p:spPr/>
        <p:txBody>
          <a:bodyPr/>
          <a:lstStyle/>
          <a:p>
            <a:r>
              <a:rPr lang="en-US"/>
              <a:t>© L.Cielto, 2018</a:t>
            </a:r>
          </a:p>
        </p:txBody>
      </p:sp>
      <p:sp>
        <p:nvSpPr>
          <p:cNvPr id="9" name="Slide Number Placeholder 8">
            <a:extLst>
              <a:ext uri="{FF2B5EF4-FFF2-40B4-BE49-F238E27FC236}">
                <a16:creationId xmlns:a16="http://schemas.microsoft.com/office/drawing/2014/main" id="{24428B45-29D5-4F8B-AAA1-EC631F9A6C7C}"/>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2090957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9179D-63BC-4C08-B1F5-04A31D219A1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7CAA20-0D4D-41DA-A0AE-3C8E1D3CB7AF}"/>
              </a:ext>
            </a:extLst>
          </p:cNvPr>
          <p:cNvSpPr>
            <a:spLocks noGrp="1"/>
          </p:cNvSpPr>
          <p:nvPr>
            <p:ph type="dt" sz="half" idx="10"/>
          </p:nvPr>
        </p:nvSpPr>
        <p:spPr/>
        <p:txBody>
          <a:bodyPr/>
          <a:lstStyle/>
          <a:p>
            <a:fld id="{8EADDAE8-C118-4E9A-A9F3-58E5AC490EF4}" type="datetime1">
              <a:rPr lang="en-US" smtClean="0"/>
              <a:t>10/10/21</a:t>
            </a:fld>
            <a:endParaRPr lang="en-US"/>
          </a:p>
        </p:txBody>
      </p:sp>
      <p:sp>
        <p:nvSpPr>
          <p:cNvPr id="4" name="Footer Placeholder 3">
            <a:extLst>
              <a:ext uri="{FF2B5EF4-FFF2-40B4-BE49-F238E27FC236}">
                <a16:creationId xmlns:a16="http://schemas.microsoft.com/office/drawing/2014/main" id="{7C2506C2-A53C-4F40-8C0B-AE4D8FC4DA8D}"/>
              </a:ext>
            </a:extLst>
          </p:cNvPr>
          <p:cNvSpPr>
            <a:spLocks noGrp="1"/>
          </p:cNvSpPr>
          <p:nvPr>
            <p:ph type="ftr" sz="quarter" idx="11"/>
          </p:nvPr>
        </p:nvSpPr>
        <p:spPr/>
        <p:txBody>
          <a:bodyPr/>
          <a:lstStyle/>
          <a:p>
            <a:r>
              <a:rPr lang="en-US"/>
              <a:t>© L.Cielto, 2018</a:t>
            </a:r>
          </a:p>
        </p:txBody>
      </p:sp>
      <p:sp>
        <p:nvSpPr>
          <p:cNvPr id="5" name="Slide Number Placeholder 4">
            <a:extLst>
              <a:ext uri="{FF2B5EF4-FFF2-40B4-BE49-F238E27FC236}">
                <a16:creationId xmlns:a16="http://schemas.microsoft.com/office/drawing/2014/main" id="{0D2CDF8C-07FD-402E-8574-69D643A57896}"/>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3407532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9BE403-C520-4819-9597-C75E6F6BAEE1}"/>
              </a:ext>
            </a:extLst>
          </p:cNvPr>
          <p:cNvSpPr>
            <a:spLocks noGrp="1"/>
          </p:cNvSpPr>
          <p:nvPr>
            <p:ph type="dt" sz="half" idx="10"/>
          </p:nvPr>
        </p:nvSpPr>
        <p:spPr/>
        <p:txBody>
          <a:bodyPr/>
          <a:lstStyle/>
          <a:p>
            <a:fld id="{AC7F6B05-425D-4906-88AD-9D7CF88E5705}" type="datetime1">
              <a:rPr lang="en-US" smtClean="0"/>
              <a:t>10/10/21</a:t>
            </a:fld>
            <a:endParaRPr lang="en-US"/>
          </a:p>
        </p:txBody>
      </p:sp>
      <p:sp>
        <p:nvSpPr>
          <p:cNvPr id="3" name="Footer Placeholder 2">
            <a:extLst>
              <a:ext uri="{FF2B5EF4-FFF2-40B4-BE49-F238E27FC236}">
                <a16:creationId xmlns:a16="http://schemas.microsoft.com/office/drawing/2014/main" id="{5E9EC1E3-DBF3-4F7E-91AE-DEAAF1B4779F}"/>
              </a:ext>
            </a:extLst>
          </p:cNvPr>
          <p:cNvSpPr>
            <a:spLocks noGrp="1"/>
          </p:cNvSpPr>
          <p:nvPr>
            <p:ph type="ftr" sz="quarter" idx="11"/>
          </p:nvPr>
        </p:nvSpPr>
        <p:spPr/>
        <p:txBody>
          <a:bodyPr/>
          <a:lstStyle/>
          <a:p>
            <a:r>
              <a:rPr lang="en-US"/>
              <a:t>© L.Cielto, 2018</a:t>
            </a:r>
          </a:p>
        </p:txBody>
      </p:sp>
      <p:sp>
        <p:nvSpPr>
          <p:cNvPr id="4" name="Slide Number Placeholder 3">
            <a:extLst>
              <a:ext uri="{FF2B5EF4-FFF2-40B4-BE49-F238E27FC236}">
                <a16:creationId xmlns:a16="http://schemas.microsoft.com/office/drawing/2014/main" id="{574E92C7-0778-423B-BB96-3D298E7F635C}"/>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949909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76EE6-5B4F-4DBC-A6F2-2BD438B97D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F910C20-BECB-4651-894D-C5285239C1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930DCE-FCFD-4E29-9DBA-FCC5C2F81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1C22055-EDD0-4FA7-8599-FA3B43ADCAD1}"/>
              </a:ext>
            </a:extLst>
          </p:cNvPr>
          <p:cNvSpPr>
            <a:spLocks noGrp="1"/>
          </p:cNvSpPr>
          <p:nvPr>
            <p:ph type="dt" sz="half" idx="10"/>
          </p:nvPr>
        </p:nvSpPr>
        <p:spPr/>
        <p:txBody>
          <a:bodyPr/>
          <a:lstStyle/>
          <a:p>
            <a:fld id="{8E3332BB-B910-4B28-8F6A-E7189620FF3F}" type="datetime1">
              <a:rPr lang="en-US" smtClean="0"/>
              <a:t>10/10/21</a:t>
            </a:fld>
            <a:endParaRPr lang="en-US"/>
          </a:p>
        </p:txBody>
      </p:sp>
      <p:sp>
        <p:nvSpPr>
          <p:cNvPr id="6" name="Footer Placeholder 5">
            <a:extLst>
              <a:ext uri="{FF2B5EF4-FFF2-40B4-BE49-F238E27FC236}">
                <a16:creationId xmlns:a16="http://schemas.microsoft.com/office/drawing/2014/main" id="{4AC2B388-3BC8-4A9C-914E-C22CD8F37230}"/>
              </a:ext>
            </a:extLst>
          </p:cNvPr>
          <p:cNvSpPr>
            <a:spLocks noGrp="1"/>
          </p:cNvSpPr>
          <p:nvPr>
            <p:ph type="ftr" sz="quarter" idx="11"/>
          </p:nvPr>
        </p:nvSpPr>
        <p:spPr/>
        <p:txBody>
          <a:bodyPr/>
          <a:lstStyle/>
          <a:p>
            <a:r>
              <a:rPr lang="en-US"/>
              <a:t>© L.Cielto, 2018</a:t>
            </a:r>
          </a:p>
        </p:txBody>
      </p:sp>
      <p:sp>
        <p:nvSpPr>
          <p:cNvPr id="7" name="Slide Number Placeholder 6">
            <a:extLst>
              <a:ext uri="{FF2B5EF4-FFF2-40B4-BE49-F238E27FC236}">
                <a16:creationId xmlns:a16="http://schemas.microsoft.com/office/drawing/2014/main" id="{3A4C726A-7E11-4746-801B-727845E18511}"/>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17649325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6B662-D40F-406A-9729-70979F49D44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9AC5071-060D-4290-B693-8F15226D1C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D6EDF9-F34B-4653-83D0-9D1765576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50AB685-850F-439C-8FEA-CE41CD3EB0B4}"/>
              </a:ext>
            </a:extLst>
          </p:cNvPr>
          <p:cNvSpPr>
            <a:spLocks noGrp="1"/>
          </p:cNvSpPr>
          <p:nvPr>
            <p:ph type="dt" sz="half" idx="10"/>
          </p:nvPr>
        </p:nvSpPr>
        <p:spPr/>
        <p:txBody>
          <a:bodyPr/>
          <a:lstStyle/>
          <a:p>
            <a:fld id="{5F59D64F-33CC-43D6-A523-2019F61B9FAB}" type="datetime1">
              <a:rPr lang="en-US" smtClean="0"/>
              <a:t>10/10/21</a:t>
            </a:fld>
            <a:endParaRPr lang="en-US"/>
          </a:p>
        </p:txBody>
      </p:sp>
      <p:sp>
        <p:nvSpPr>
          <p:cNvPr id="6" name="Footer Placeholder 5">
            <a:extLst>
              <a:ext uri="{FF2B5EF4-FFF2-40B4-BE49-F238E27FC236}">
                <a16:creationId xmlns:a16="http://schemas.microsoft.com/office/drawing/2014/main" id="{CD132FB4-EE25-494A-B0B9-4DFDDEDC71A2}"/>
              </a:ext>
            </a:extLst>
          </p:cNvPr>
          <p:cNvSpPr>
            <a:spLocks noGrp="1"/>
          </p:cNvSpPr>
          <p:nvPr>
            <p:ph type="ftr" sz="quarter" idx="11"/>
          </p:nvPr>
        </p:nvSpPr>
        <p:spPr/>
        <p:txBody>
          <a:bodyPr/>
          <a:lstStyle/>
          <a:p>
            <a:r>
              <a:rPr lang="en-US"/>
              <a:t>© L.Cielto, 2018</a:t>
            </a:r>
          </a:p>
        </p:txBody>
      </p:sp>
      <p:sp>
        <p:nvSpPr>
          <p:cNvPr id="7" name="Slide Number Placeholder 6">
            <a:extLst>
              <a:ext uri="{FF2B5EF4-FFF2-40B4-BE49-F238E27FC236}">
                <a16:creationId xmlns:a16="http://schemas.microsoft.com/office/drawing/2014/main" id="{58C33326-CECA-4B70-9D1E-E8734E55B71A}"/>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3258207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BB5A2-32FA-4BED-AEFB-7AD3114581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4E5158-27BD-452D-ABA5-D7787E89BF8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82E409-356C-4337-B34E-F8E2A6292913}"/>
              </a:ext>
            </a:extLst>
          </p:cNvPr>
          <p:cNvSpPr>
            <a:spLocks noGrp="1"/>
          </p:cNvSpPr>
          <p:nvPr>
            <p:ph type="dt" sz="half" idx="10"/>
          </p:nvPr>
        </p:nvSpPr>
        <p:spPr/>
        <p:txBody>
          <a:bodyPr/>
          <a:lstStyle/>
          <a:p>
            <a:fld id="{20C73C8A-782B-4DD8-A886-7A7C990133C0}" type="datetime1">
              <a:rPr lang="en-US" smtClean="0"/>
              <a:t>10/10/21</a:t>
            </a:fld>
            <a:endParaRPr lang="en-US"/>
          </a:p>
        </p:txBody>
      </p:sp>
      <p:sp>
        <p:nvSpPr>
          <p:cNvPr id="5" name="Footer Placeholder 4">
            <a:extLst>
              <a:ext uri="{FF2B5EF4-FFF2-40B4-BE49-F238E27FC236}">
                <a16:creationId xmlns:a16="http://schemas.microsoft.com/office/drawing/2014/main" id="{4D84E1ED-553E-4BAC-AF44-88365406AE47}"/>
              </a:ext>
            </a:extLst>
          </p:cNvPr>
          <p:cNvSpPr>
            <a:spLocks noGrp="1"/>
          </p:cNvSpPr>
          <p:nvPr>
            <p:ph type="ftr" sz="quarter" idx="11"/>
          </p:nvPr>
        </p:nvSpPr>
        <p:spPr/>
        <p:txBody>
          <a:bodyPr/>
          <a:lstStyle/>
          <a:p>
            <a:r>
              <a:rPr lang="en-US"/>
              <a:t>© L.Cielto, 2018</a:t>
            </a:r>
          </a:p>
        </p:txBody>
      </p:sp>
      <p:sp>
        <p:nvSpPr>
          <p:cNvPr id="6" name="Slide Number Placeholder 5">
            <a:extLst>
              <a:ext uri="{FF2B5EF4-FFF2-40B4-BE49-F238E27FC236}">
                <a16:creationId xmlns:a16="http://schemas.microsoft.com/office/drawing/2014/main" id="{F23957E9-B90E-4E84-B5A1-1E3D9B6A16EB}"/>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1222021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BDF10F-37C4-4561-87BD-94E6940CA0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4DA13B-F3AB-41AA-9884-F32C47DE4DB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1C8F8F-0CB9-432A-B019-4563F0EF24CB}"/>
              </a:ext>
            </a:extLst>
          </p:cNvPr>
          <p:cNvSpPr>
            <a:spLocks noGrp="1"/>
          </p:cNvSpPr>
          <p:nvPr>
            <p:ph type="dt" sz="half" idx="10"/>
          </p:nvPr>
        </p:nvSpPr>
        <p:spPr/>
        <p:txBody>
          <a:bodyPr/>
          <a:lstStyle/>
          <a:p>
            <a:fld id="{C6D601E2-7543-46DC-A3B9-883495FCF91B}" type="datetime1">
              <a:rPr lang="en-US" smtClean="0"/>
              <a:t>10/10/21</a:t>
            </a:fld>
            <a:endParaRPr lang="en-US"/>
          </a:p>
        </p:txBody>
      </p:sp>
      <p:sp>
        <p:nvSpPr>
          <p:cNvPr id="5" name="Footer Placeholder 4">
            <a:extLst>
              <a:ext uri="{FF2B5EF4-FFF2-40B4-BE49-F238E27FC236}">
                <a16:creationId xmlns:a16="http://schemas.microsoft.com/office/drawing/2014/main" id="{F9904F25-81C3-45A1-82B1-82D1996CAEBD}"/>
              </a:ext>
            </a:extLst>
          </p:cNvPr>
          <p:cNvSpPr>
            <a:spLocks noGrp="1"/>
          </p:cNvSpPr>
          <p:nvPr>
            <p:ph type="ftr" sz="quarter" idx="11"/>
          </p:nvPr>
        </p:nvSpPr>
        <p:spPr/>
        <p:txBody>
          <a:bodyPr/>
          <a:lstStyle/>
          <a:p>
            <a:r>
              <a:rPr lang="en-US"/>
              <a:t>© L.Cielto, 2018</a:t>
            </a:r>
          </a:p>
        </p:txBody>
      </p:sp>
      <p:sp>
        <p:nvSpPr>
          <p:cNvPr id="6" name="Slide Number Placeholder 5">
            <a:extLst>
              <a:ext uri="{FF2B5EF4-FFF2-40B4-BE49-F238E27FC236}">
                <a16:creationId xmlns:a16="http://schemas.microsoft.com/office/drawing/2014/main" id="{9D231962-8730-4ECE-BB52-6E7F610AA6DA}"/>
              </a:ext>
            </a:extLst>
          </p:cNvPr>
          <p:cNvSpPr>
            <a:spLocks noGrp="1"/>
          </p:cNvSpPr>
          <p:nvPr>
            <p:ph type="sldNum" sz="quarter" idx="12"/>
          </p:nvPr>
        </p:nvSpPr>
        <p:spPr/>
        <p:txBody>
          <a:bodyPr/>
          <a:lstStyle/>
          <a:p>
            <a:fld id="{AE376EA4-03D1-434B-BD23-9B5FF02BA9EE}" type="slidenum">
              <a:rPr lang="en-US" smtClean="0"/>
              <a:t>‹#›</a:t>
            </a:fld>
            <a:endParaRPr lang="en-US"/>
          </a:p>
        </p:txBody>
      </p:sp>
    </p:spTree>
    <p:extLst>
      <p:ext uri="{BB962C8B-B14F-4D97-AF65-F5344CB8AC3E}">
        <p14:creationId xmlns:p14="http://schemas.microsoft.com/office/powerpoint/2010/main" val="7811285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873248-5609-4E88-B5AF-10833677E6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94C0DBB-FBFF-46DF-B1E6-1B3832E56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6D1F8F-48EF-475C-8925-AFE3D5250C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C1DBB7-4AD2-444F-AF3F-ECC4E6C52175}" type="datetime1">
              <a:rPr lang="en-US" smtClean="0"/>
              <a:t>10/10/21</a:t>
            </a:fld>
            <a:endParaRPr lang="en-US"/>
          </a:p>
        </p:txBody>
      </p:sp>
      <p:sp>
        <p:nvSpPr>
          <p:cNvPr id="5" name="Footer Placeholder 4">
            <a:extLst>
              <a:ext uri="{FF2B5EF4-FFF2-40B4-BE49-F238E27FC236}">
                <a16:creationId xmlns:a16="http://schemas.microsoft.com/office/drawing/2014/main" id="{01F8971E-E11A-47CD-AC71-CAB195A3305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L.Cielto, 2018</a:t>
            </a:r>
          </a:p>
        </p:txBody>
      </p:sp>
      <p:sp>
        <p:nvSpPr>
          <p:cNvPr id="6" name="Slide Number Placeholder 5">
            <a:extLst>
              <a:ext uri="{FF2B5EF4-FFF2-40B4-BE49-F238E27FC236}">
                <a16:creationId xmlns:a16="http://schemas.microsoft.com/office/drawing/2014/main" id="{229A6375-9BE4-4574-89E8-5BA1692B2F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376EA4-03D1-434B-BD23-9B5FF02BA9EE}" type="slidenum">
              <a:rPr lang="en-US" smtClean="0"/>
              <a:t>‹#›</a:t>
            </a:fld>
            <a:endParaRPr lang="en-US"/>
          </a:p>
        </p:txBody>
      </p:sp>
    </p:spTree>
    <p:extLst>
      <p:ext uri="{BB962C8B-B14F-4D97-AF65-F5344CB8AC3E}">
        <p14:creationId xmlns:p14="http://schemas.microsoft.com/office/powerpoint/2010/main" val="2346153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C80C-3858-4D8B-8335-42E5C5087541}"/>
              </a:ext>
            </a:extLst>
          </p:cNvPr>
          <p:cNvSpPr>
            <a:spLocks noGrp="1"/>
          </p:cNvSpPr>
          <p:nvPr>
            <p:ph type="title"/>
          </p:nvPr>
        </p:nvSpPr>
        <p:spPr>
          <a:xfrm>
            <a:off x="1752600" y="2427959"/>
            <a:ext cx="9922164" cy="1479023"/>
          </a:xfrm>
        </p:spPr>
        <p:txBody>
          <a:bodyPr>
            <a:normAutofit fontScale="90000"/>
          </a:bodyPr>
          <a:lstStyle/>
          <a:p>
            <a:r>
              <a:rPr lang="en-US" b="1" dirty="0"/>
              <a:t>Topic: Circles in context</a:t>
            </a:r>
            <a:br>
              <a:rPr lang="en-US" dirty="0"/>
            </a:br>
            <a:r>
              <a:rPr lang="en-US" b="1" dirty="0"/>
              <a:t>EQ: </a:t>
            </a:r>
            <a:r>
              <a:rPr lang="en-US" dirty="0"/>
              <a:t>How do I solve worded questions involving circles?</a:t>
            </a:r>
            <a:endParaRPr lang="en-AU" dirty="0"/>
          </a:p>
        </p:txBody>
      </p:sp>
      <p:pic>
        <p:nvPicPr>
          <p:cNvPr id="6" name="Picture 5">
            <a:extLst>
              <a:ext uri="{FF2B5EF4-FFF2-40B4-BE49-F238E27FC236}">
                <a16:creationId xmlns:a16="http://schemas.microsoft.com/office/drawing/2014/main" id="{A75525F1-D52C-4130-B921-CACDA0006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076" y="0"/>
            <a:ext cx="3821229" cy="835519"/>
          </a:xfrm>
          <a:prstGeom prst="rect">
            <a:avLst/>
          </a:prstGeom>
        </p:spPr>
      </p:pic>
      <p:sp>
        <p:nvSpPr>
          <p:cNvPr id="8" name="TextBox 7">
            <a:extLst>
              <a:ext uri="{FF2B5EF4-FFF2-40B4-BE49-F238E27FC236}">
                <a16:creationId xmlns:a16="http://schemas.microsoft.com/office/drawing/2014/main" id="{E05A1DDD-BE93-40FB-A4C1-258B1FD99488}"/>
              </a:ext>
            </a:extLst>
          </p:cNvPr>
          <p:cNvSpPr txBox="1"/>
          <p:nvPr/>
        </p:nvSpPr>
        <p:spPr>
          <a:xfrm>
            <a:off x="4658862" y="699522"/>
            <a:ext cx="6451600" cy="1015663"/>
          </a:xfrm>
          <a:prstGeom prst="rect">
            <a:avLst/>
          </a:prstGeom>
          <a:noFill/>
        </p:spPr>
        <p:txBody>
          <a:bodyPr wrap="square">
            <a:spAutoFit/>
          </a:bodyPr>
          <a:lstStyle/>
          <a:p>
            <a:r>
              <a:rPr lang="en-US" sz="6000" dirty="0">
                <a:ln>
                  <a:solidFill>
                    <a:schemeClr val="tx1"/>
                  </a:solidFill>
                </a:ln>
                <a:solidFill>
                  <a:srgbClr val="FFB3BA"/>
                </a:solidFill>
                <a:latin typeface="Luckiest Guy" panose="02000506000000020004" pitchFamily="2" charset="0"/>
              </a:rPr>
              <a:t>c</a:t>
            </a:r>
            <a:r>
              <a:rPr lang="en-US" sz="6000" dirty="0">
                <a:ln>
                  <a:solidFill>
                    <a:schemeClr val="tx1"/>
                  </a:solidFill>
                </a:ln>
                <a:solidFill>
                  <a:srgbClr val="FFDFBA"/>
                </a:solidFill>
                <a:latin typeface="Luckiest Guy" panose="02000506000000020004" pitchFamily="2" charset="0"/>
              </a:rPr>
              <a:t>i</a:t>
            </a:r>
            <a:r>
              <a:rPr lang="en-US" sz="6000" dirty="0">
                <a:ln>
                  <a:solidFill>
                    <a:schemeClr val="tx1"/>
                  </a:solidFill>
                </a:ln>
                <a:solidFill>
                  <a:srgbClr val="FFFFBA"/>
                </a:solidFill>
                <a:latin typeface="Luckiest Guy" panose="02000506000000020004" pitchFamily="2" charset="0"/>
              </a:rPr>
              <a:t>r</a:t>
            </a:r>
            <a:r>
              <a:rPr lang="en-US" sz="6000" dirty="0">
                <a:ln>
                  <a:solidFill>
                    <a:schemeClr val="tx1"/>
                  </a:solidFill>
                </a:ln>
                <a:solidFill>
                  <a:srgbClr val="BAFFC9"/>
                </a:solidFill>
                <a:latin typeface="Luckiest Guy" panose="02000506000000020004" pitchFamily="2" charset="0"/>
              </a:rPr>
              <a:t>c</a:t>
            </a:r>
            <a:r>
              <a:rPr lang="en-US" sz="6000" dirty="0">
                <a:ln>
                  <a:solidFill>
                    <a:schemeClr val="tx1"/>
                  </a:solidFill>
                </a:ln>
                <a:solidFill>
                  <a:srgbClr val="BAE1FF"/>
                </a:solidFill>
                <a:latin typeface="Luckiest Guy" panose="02000506000000020004" pitchFamily="2" charset="0"/>
              </a:rPr>
              <a:t>l</a:t>
            </a:r>
            <a:r>
              <a:rPr lang="en-US" sz="6000" dirty="0">
                <a:ln>
                  <a:solidFill>
                    <a:schemeClr val="tx1"/>
                  </a:solidFill>
                </a:ln>
                <a:solidFill>
                  <a:srgbClr val="FFB3BA"/>
                </a:solidFill>
                <a:latin typeface="Luckiest Guy" panose="02000506000000020004" pitchFamily="2" charset="0"/>
              </a:rPr>
              <a:t>e</a:t>
            </a:r>
            <a:r>
              <a:rPr lang="en-US" sz="6000" dirty="0">
                <a:ln>
                  <a:solidFill>
                    <a:schemeClr val="tx1"/>
                  </a:solidFill>
                </a:ln>
                <a:solidFill>
                  <a:srgbClr val="FFDFBA"/>
                </a:solidFill>
                <a:latin typeface="Luckiest Guy" panose="02000506000000020004" pitchFamily="2" charset="0"/>
              </a:rPr>
              <a:t>s</a:t>
            </a:r>
            <a:endParaRPr lang="en-AU" sz="6000" dirty="0"/>
          </a:p>
        </p:txBody>
      </p:sp>
      <p:pic>
        <p:nvPicPr>
          <p:cNvPr id="10" name="Picture 9">
            <a:extLst>
              <a:ext uri="{FF2B5EF4-FFF2-40B4-BE49-F238E27FC236}">
                <a16:creationId xmlns:a16="http://schemas.microsoft.com/office/drawing/2014/main" id="{E8D13165-2570-457A-B643-EF7646D19F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7289" y="0"/>
            <a:ext cx="3821229" cy="835519"/>
          </a:xfrm>
          <a:prstGeom prst="rect">
            <a:avLst/>
          </a:prstGeom>
        </p:spPr>
      </p:pic>
      <p:pic>
        <p:nvPicPr>
          <p:cNvPr id="11" name="Picture 10">
            <a:extLst>
              <a:ext uri="{FF2B5EF4-FFF2-40B4-BE49-F238E27FC236}">
                <a16:creationId xmlns:a16="http://schemas.microsoft.com/office/drawing/2014/main" id="{74DAFBDD-AFCD-43F1-8666-6EB6A86989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0654" y="0"/>
            <a:ext cx="3821229" cy="835519"/>
          </a:xfrm>
          <a:prstGeom prst="rect">
            <a:avLst/>
          </a:prstGeom>
        </p:spPr>
      </p:pic>
      <p:pic>
        <p:nvPicPr>
          <p:cNvPr id="12" name="Picture 11">
            <a:extLst>
              <a:ext uri="{FF2B5EF4-FFF2-40B4-BE49-F238E27FC236}">
                <a16:creationId xmlns:a16="http://schemas.microsoft.com/office/drawing/2014/main" id="{006F31FC-A8A9-475C-9EA9-7070F9BE93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4019" y="-1"/>
            <a:ext cx="3821229" cy="835519"/>
          </a:xfrm>
          <a:prstGeom prst="rect">
            <a:avLst/>
          </a:prstGeom>
        </p:spPr>
      </p:pic>
    </p:spTree>
    <p:extLst>
      <p:ext uri="{BB962C8B-B14F-4D97-AF65-F5344CB8AC3E}">
        <p14:creationId xmlns:p14="http://schemas.microsoft.com/office/powerpoint/2010/main" val="1920550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D69A3-10CF-4E59-96DB-67250E73AF1F}"/>
              </a:ext>
            </a:extLst>
          </p:cNvPr>
          <p:cNvSpPr>
            <a:spLocks noGrp="1"/>
          </p:cNvSpPr>
          <p:nvPr>
            <p:ph type="title"/>
          </p:nvPr>
        </p:nvSpPr>
        <p:spPr>
          <a:xfrm>
            <a:off x="642229" y="1027906"/>
            <a:ext cx="10515600" cy="1325563"/>
          </a:xfrm>
        </p:spPr>
        <p:txBody>
          <a:bodyPr>
            <a:normAutofit/>
          </a:bodyPr>
          <a:lstStyle/>
          <a:p>
            <a:r>
              <a:rPr lang="en-US" sz="3600" dirty="0"/>
              <a:t>Have a go at these questions:</a:t>
            </a:r>
            <a:endParaRPr lang="en-AU" sz="36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086E2-2B5D-4C6D-9002-E16A43F81B38}"/>
                  </a:ext>
                </a:extLst>
              </p:cNvPr>
              <p:cNvSpPr>
                <a:spLocks noGrp="1"/>
              </p:cNvSpPr>
              <p:nvPr>
                <p:ph idx="1"/>
              </p:nvPr>
            </p:nvSpPr>
            <p:spPr>
              <a:xfrm>
                <a:off x="642229" y="2059709"/>
                <a:ext cx="11217262" cy="4554971"/>
              </a:xfrm>
            </p:spPr>
            <p:txBody>
              <a:bodyPr>
                <a:normAutofit/>
              </a:bodyPr>
              <a:lstStyle/>
              <a:p>
                <a:pPr marL="514350" indent="-514350">
                  <a:buFont typeface="+mj-lt"/>
                  <a:buAutoNum type="arabicPeriod"/>
                </a:pPr>
                <a:r>
                  <a:rPr lang="en-US" sz="2400" dirty="0">
                    <a:latin typeface="Cambria Math" panose="02040503050406030204" pitchFamily="18" charset="0"/>
                  </a:rPr>
                  <a:t>Complete your summary from yesterday and highlight the important information.</a:t>
                </a:r>
              </a:p>
              <a:p>
                <a:pPr marL="514350" indent="-514350">
                  <a:buAutoNum type="arabicPeriod"/>
                </a:pPr>
                <a:r>
                  <a:rPr lang="en-US" sz="2400" dirty="0"/>
                  <a:t>Simplify </a:t>
                </a:r>
                <a14:m>
                  <m:oMath xmlns:m="http://schemas.openxmlformats.org/officeDocument/2006/math">
                    <m:f>
                      <m:fPr>
                        <m:ctrlPr>
                          <a:rPr lang="en-US" sz="2400" i="1" smtClean="0">
                            <a:latin typeface="Cambria Math" panose="02040503050406030204" pitchFamily="18" charset="0"/>
                          </a:rPr>
                        </m:ctrlPr>
                      </m:fPr>
                      <m:num>
                        <m:r>
                          <a:rPr lang="en-US" sz="2400" b="0" i="1" smtClean="0">
                            <a:latin typeface="Cambria Math" panose="02040503050406030204" pitchFamily="18" charset="0"/>
                          </a:rPr>
                          <m:t>21</m:t>
                        </m:r>
                      </m:num>
                      <m:den>
                        <m:r>
                          <a:rPr lang="en-US" sz="2400" b="0" i="1" smtClean="0">
                            <a:latin typeface="Cambria Math" panose="02040503050406030204" pitchFamily="18" charset="0"/>
                          </a:rPr>
                          <m:t>35</m:t>
                        </m:r>
                      </m:den>
                    </m:f>
                  </m:oMath>
                </a14:m>
                <a:endParaRPr lang="en-AU" sz="2400" dirty="0"/>
              </a:p>
              <a:p>
                <a:pPr marL="514350" indent="-514350">
                  <a:buAutoNum type="arabicPeriod"/>
                </a:pPr>
                <a:r>
                  <a:rPr lang="en-AU" sz="2400" dirty="0"/>
                  <a:t>Find the mean and mode of the following data:</a:t>
                </a:r>
              </a:p>
              <a:p>
                <a:pPr marL="914400" lvl="2" indent="0">
                  <a:buNone/>
                </a:pPr>
                <a:r>
                  <a:rPr lang="en-AU" sz="2400" dirty="0"/>
                  <a:t>      4, 4, 6, 8, 9, 10, 12</a:t>
                </a:r>
              </a:p>
              <a:p>
                <a:pPr marL="514350" indent="-514350">
                  <a:buAutoNum type="arabicPeriod"/>
                </a:pPr>
                <a:r>
                  <a:rPr lang="en-US" sz="2400" dirty="0"/>
                  <a:t>Find the area of the trapezium below:</a:t>
                </a:r>
              </a:p>
              <a:p>
                <a:pPr marL="514350" indent="-514350">
                  <a:buAutoNum type="arabicPeriod"/>
                </a:pPr>
                <a:endParaRPr lang="en-US" sz="2400" dirty="0"/>
              </a:p>
              <a:p>
                <a:pPr marL="514350" indent="-514350">
                  <a:buAutoNum type="arabicPeriod"/>
                </a:pPr>
                <a:endParaRPr lang="en-US" sz="2400" dirty="0"/>
              </a:p>
              <a:p>
                <a:pPr marL="514350" indent="-514350">
                  <a:buAutoNum type="arabicPeriod"/>
                </a:pPr>
                <a:r>
                  <a:rPr lang="en-AU" sz="2400" dirty="0"/>
                  <a:t>Find area of the semi-circle below</a:t>
                </a:r>
              </a:p>
            </p:txBody>
          </p:sp>
        </mc:Choice>
        <mc:Fallback xmlns="">
          <p:sp>
            <p:nvSpPr>
              <p:cNvPr id="3" name="Content Placeholder 2">
                <a:extLst>
                  <a:ext uri="{FF2B5EF4-FFF2-40B4-BE49-F238E27FC236}">
                    <a16:creationId xmlns:a16="http://schemas.microsoft.com/office/drawing/2014/main" id="{4A1086E2-2B5D-4C6D-9002-E16A43F81B38}"/>
                  </a:ext>
                </a:extLst>
              </p:cNvPr>
              <p:cNvSpPr>
                <a:spLocks noGrp="1" noRot="1" noChangeAspect="1" noMove="1" noResize="1" noEditPoints="1" noAdjustHandles="1" noChangeArrowheads="1" noChangeShapeType="1" noTextEdit="1"/>
              </p:cNvSpPr>
              <p:nvPr>
                <p:ph idx="1"/>
              </p:nvPr>
            </p:nvSpPr>
            <p:spPr>
              <a:xfrm>
                <a:off x="642229" y="2059709"/>
                <a:ext cx="11217262" cy="4554971"/>
              </a:xfrm>
              <a:blipFill>
                <a:blip r:embed="rId2"/>
                <a:stretch>
                  <a:fillRect l="-870" t="-1874"/>
                </a:stretch>
              </a:blipFill>
            </p:spPr>
            <p:txBody>
              <a:bodyPr/>
              <a:lstStyle/>
              <a:p>
                <a:r>
                  <a:rPr lang="en-AU">
                    <a:noFill/>
                  </a:rPr>
                  <a:t> </a:t>
                </a:r>
              </a:p>
            </p:txBody>
          </p:sp>
        </mc:Fallback>
      </mc:AlternateContent>
      <p:pic>
        <p:nvPicPr>
          <p:cNvPr id="7" name="Picture 6">
            <a:extLst>
              <a:ext uri="{FF2B5EF4-FFF2-40B4-BE49-F238E27FC236}">
                <a16:creationId xmlns:a16="http://schemas.microsoft.com/office/drawing/2014/main" id="{18719050-1446-495C-91D1-2826AFFB22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21163770">
            <a:off x="-69815" y="159203"/>
            <a:ext cx="4761685" cy="923429"/>
          </a:xfrm>
          <a:prstGeom prst="rect">
            <a:avLst/>
          </a:prstGeom>
        </p:spPr>
      </p:pic>
      <p:sp>
        <p:nvSpPr>
          <p:cNvPr id="6" name="Title 1">
            <a:extLst>
              <a:ext uri="{FF2B5EF4-FFF2-40B4-BE49-F238E27FC236}">
                <a16:creationId xmlns:a16="http://schemas.microsoft.com/office/drawing/2014/main" id="{4FC910BD-F6B3-4F37-B7E9-5D909A49152E}"/>
              </a:ext>
            </a:extLst>
          </p:cNvPr>
          <p:cNvSpPr txBox="1">
            <a:spLocks/>
          </p:cNvSpPr>
          <p:nvPr/>
        </p:nvSpPr>
        <p:spPr>
          <a:xfrm>
            <a:off x="4957617" y="173460"/>
            <a:ext cx="7095837" cy="894913"/>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t>Topic: </a:t>
            </a:r>
            <a:r>
              <a:rPr lang="en-US" sz="2400" dirty="0"/>
              <a:t>Circles in context</a:t>
            </a:r>
            <a:br>
              <a:rPr lang="en-US" sz="2400" dirty="0"/>
            </a:br>
            <a:r>
              <a:rPr lang="en-US" sz="2400" b="1" dirty="0"/>
              <a:t>EQ: </a:t>
            </a:r>
            <a:r>
              <a:rPr lang="en-US" sz="2400" dirty="0"/>
              <a:t>How do I solve worded questions involving circles? </a:t>
            </a:r>
            <a:endParaRPr lang="en-AU" sz="2400" dirty="0"/>
          </a:p>
        </p:txBody>
      </p:sp>
      <p:sp>
        <p:nvSpPr>
          <p:cNvPr id="12" name="TextBox 11">
            <a:extLst>
              <a:ext uri="{FF2B5EF4-FFF2-40B4-BE49-F238E27FC236}">
                <a16:creationId xmlns:a16="http://schemas.microsoft.com/office/drawing/2014/main" id="{A6E8D764-403F-4B7A-A4CC-51A49BF5B17E}"/>
              </a:ext>
            </a:extLst>
          </p:cNvPr>
          <p:cNvSpPr txBox="1"/>
          <p:nvPr/>
        </p:nvSpPr>
        <p:spPr>
          <a:xfrm>
            <a:off x="6611801" y="5330663"/>
            <a:ext cx="753732" cy="369332"/>
          </a:xfrm>
          <a:prstGeom prst="rect">
            <a:avLst/>
          </a:prstGeom>
          <a:noFill/>
        </p:spPr>
        <p:txBody>
          <a:bodyPr wrap="none" rtlCol="0">
            <a:spAutoFit/>
          </a:bodyPr>
          <a:lstStyle/>
          <a:p>
            <a:r>
              <a:rPr lang="en-US" dirty="0"/>
              <a:t>11 cm</a:t>
            </a:r>
            <a:endParaRPr lang="en-AU" dirty="0"/>
          </a:p>
        </p:txBody>
      </p:sp>
      <p:sp>
        <p:nvSpPr>
          <p:cNvPr id="13" name="TextBox 12">
            <a:extLst>
              <a:ext uri="{FF2B5EF4-FFF2-40B4-BE49-F238E27FC236}">
                <a16:creationId xmlns:a16="http://schemas.microsoft.com/office/drawing/2014/main" id="{78AFB0A1-341E-42D5-928C-4C66B33E9F92}"/>
              </a:ext>
            </a:extLst>
          </p:cNvPr>
          <p:cNvSpPr txBox="1"/>
          <p:nvPr/>
        </p:nvSpPr>
        <p:spPr>
          <a:xfrm>
            <a:off x="6818514" y="4598647"/>
            <a:ext cx="636713" cy="369332"/>
          </a:xfrm>
          <a:prstGeom prst="rect">
            <a:avLst/>
          </a:prstGeom>
          <a:noFill/>
        </p:spPr>
        <p:txBody>
          <a:bodyPr wrap="none" rtlCol="0">
            <a:spAutoFit/>
          </a:bodyPr>
          <a:lstStyle/>
          <a:p>
            <a:r>
              <a:rPr lang="en-US" dirty="0"/>
              <a:t>6 cm</a:t>
            </a:r>
            <a:endParaRPr lang="en-AU" dirty="0"/>
          </a:p>
        </p:txBody>
      </p:sp>
      <p:pic>
        <p:nvPicPr>
          <p:cNvPr id="16" name="Picture 15">
            <a:extLst>
              <a:ext uri="{FF2B5EF4-FFF2-40B4-BE49-F238E27FC236}">
                <a16:creationId xmlns:a16="http://schemas.microsoft.com/office/drawing/2014/main" id="{0652F36A-25AA-48CD-BF37-72C3DA88F9E9}"/>
              </a:ext>
            </a:extLst>
          </p:cNvPr>
          <p:cNvPicPr>
            <a:picLocks noChangeAspect="1"/>
          </p:cNvPicPr>
          <p:nvPr/>
        </p:nvPicPr>
        <p:blipFill>
          <a:blip r:embed="rId4"/>
          <a:stretch>
            <a:fillRect/>
          </a:stretch>
        </p:blipFill>
        <p:spPr>
          <a:xfrm>
            <a:off x="5556098" y="5699995"/>
            <a:ext cx="1899129" cy="1158005"/>
          </a:xfrm>
          <a:prstGeom prst="rect">
            <a:avLst/>
          </a:prstGeom>
        </p:spPr>
      </p:pic>
      <p:sp>
        <p:nvSpPr>
          <p:cNvPr id="17" name="Trapezoid 16">
            <a:extLst>
              <a:ext uri="{FF2B5EF4-FFF2-40B4-BE49-F238E27FC236}">
                <a16:creationId xmlns:a16="http://schemas.microsoft.com/office/drawing/2014/main" id="{429405AF-1B31-4947-BDE1-4B7F29441217}"/>
              </a:ext>
            </a:extLst>
          </p:cNvPr>
          <p:cNvSpPr/>
          <p:nvPr/>
        </p:nvSpPr>
        <p:spPr>
          <a:xfrm>
            <a:off x="6009186" y="4337194"/>
            <a:ext cx="1958962" cy="1006764"/>
          </a:xfrm>
          <a:prstGeom prst="trapezoid">
            <a:avLst>
              <a:gd name="adj" fmla="val 46674"/>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19" name="Straight Arrow Connector 18">
            <a:extLst>
              <a:ext uri="{FF2B5EF4-FFF2-40B4-BE49-F238E27FC236}">
                <a16:creationId xmlns:a16="http://schemas.microsoft.com/office/drawing/2014/main" id="{AA66F97B-33BC-4732-B73D-B46DDE9E940F}"/>
              </a:ext>
            </a:extLst>
          </p:cNvPr>
          <p:cNvCxnSpPr/>
          <p:nvPr/>
        </p:nvCxnSpPr>
        <p:spPr>
          <a:xfrm>
            <a:off x="7455227" y="4337194"/>
            <a:ext cx="0" cy="941388"/>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2C5B267-6D96-4441-A61F-BBA8233516A9}"/>
              </a:ext>
            </a:extLst>
          </p:cNvPr>
          <p:cNvSpPr txBox="1"/>
          <p:nvPr/>
        </p:nvSpPr>
        <p:spPr>
          <a:xfrm>
            <a:off x="6756619" y="3982956"/>
            <a:ext cx="636713" cy="369332"/>
          </a:xfrm>
          <a:prstGeom prst="rect">
            <a:avLst/>
          </a:prstGeom>
          <a:noFill/>
        </p:spPr>
        <p:txBody>
          <a:bodyPr wrap="none" rtlCol="0">
            <a:spAutoFit/>
          </a:bodyPr>
          <a:lstStyle/>
          <a:p>
            <a:r>
              <a:rPr lang="en-US" dirty="0"/>
              <a:t>5 cm</a:t>
            </a:r>
            <a:endParaRPr lang="en-AU" dirty="0"/>
          </a:p>
        </p:txBody>
      </p:sp>
    </p:spTree>
    <p:extLst>
      <p:ext uri="{BB962C8B-B14F-4D97-AF65-F5344CB8AC3E}">
        <p14:creationId xmlns:p14="http://schemas.microsoft.com/office/powerpoint/2010/main" val="2179587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9C80C-3858-4D8B-8335-42E5C5087541}"/>
              </a:ext>
            </a:extLst>
          </p:cNvPr>
          <p:cNvSpPr>
            <a:spLocks noGrp="1"/>
          </p:cNvSpPr>
          <p:nvPr>
            <p:ph type="title"/>
          </p:nvPr>
        </p:nvSpPr>
        <p:spPr>
          <a:xfrm>
            <a:off x="51153" y="362724"/>
            <a:ext cx="11307618" cy="428215"/>
          </a:xfrm>
        </p:spPr>
        <p:txBody>
          <a:bodyPr>
            <a:normAutofit fontScale="90000"/>
          </a:bodyPr>
          <a:lstStyle/>
          <a:p>
            <a:r>
              <a:rPr lang="en-US" sz="3100" b="1" dirty="0"/>
              <a:t>Topic: </a:t>
            </a:r>
            <a:r>
              <a:rPr lang="en-US" sz="3100" dirty="0"/>
              <a:t>Circles in Context</a:t>
            </a:r>
            <a:br>
              <a:rPr lang="en-US" sz="2800" dirty="0"/>
            </a:br>
            <a:br>
              <a:rPr lang="en-US" sz="2400" dirty="0"/>
            </a:br>
            <a:endParaRPr lang="en-AU" sz="2400" dirty="0"/>
          </a:p>
        </p:txBody>
      </p:sp>
      <p:cxnSp>
        <p:nvCxnSpPr>
          <p:cNvPr id="7" name="Straight Connector 6">
            <a:extLst>
              <a:ext uri="{FF2B5EF4-FFF2-40B4-BE49-F238E27FC236}">
                <a16:creationId xmlns:a16="http://schemas.microsoft.com/office/drawing/2014/main" id="{D087545D-2270-4C38-8388-B5F655310AAC}"/>
              </a:ext>
            </a:extLst>
          </p:cNvPr>
          <p:cNvCxnSpPr/>
          <p:nvPr/>
        </p:nvCxnSpPr>
        <p:spPr>
          <a:xfrm flipV="1">
            <a:off x="0" y="947443"/>
            <a:ext cx="12192000" cy="9294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4E10904-C7C7-48E2-9493-731F05868AFF}"/>
              </a:ext>
            </a:extLst>
          </p:cNvPr>
          <p:cNvCxnSpPr>
            <a:cxnSpLocks/>
          </p:cNvCxnSpPr>
          <p:nvPr/>
        </p:nvCxnSpPr>
        <p:spPr>
          <a:xfrm>
            <a:off x="1690251" y="1047513"/>
            <a:ext cx="0" cy="603642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C9F2500-0FE5-4F76-90C1-94C2F791EDCD}"/>
              </a:ext>
            </a:extLst>
          </p:cNvPr>
          <p:cNvCxnSpPr/>
          <p:nvPr/>
        </p:nvCxnSpPr>
        <p:spPr>
          <a:xfrm flipV="1">
            <a:off x="0" y="399039"/>
            <a:ext cx="12192000" cy="92941"/>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48927D14-8AFF-46E7-8F5F-002C1B2E84BB}"/>
              </a:ext>
            </a:extLst>
          </p:cNvPr>
          <p:cNvSpPr txBox="1"/>
          <p:nvPr/>
        </p:nvSpPr>
        <p:spPr>
          <a:xfrm>
            <a:off x="51153" y="1224826"/>
            <a:ext cx="1690248" cy="2308324"/>
          </a:xfrm>
          <a:prstGeom prst="rect">
            <a:avLst/>
          </a:prstGeom>
          <a:noFill/>
        </p:spPr>
        <p:txBody>
          <a:bodyPr wrap="square" rtlCol="0">
            <a:spAutoFit/>
          </a:bodyPr>
          <a:lstStyle/>
          <a:p>
            <a:r>
              <a:rPr lang="en-US" dirty="0"/>
              <a:t>How do I find the area of circle in context?</a:t>
            </a:r>
          </a:p>
          <a:p>
            <a:endParaRPr lang="en-US" dirty="0"/>
          </a:p>
          <a:p>
            <a:endParaRPr lang="en-US" dirty="0"/>
          </a:p>
          <a:p>
            <a:endParaRPr lang="en-US" dirty="0"/>
          </a:p>
          <a:p>
            <a:endParaRPr lang="en-US" dirty="0"/>
          </a:p>
        </p:txBody>
      </p:sp>
      <p:sp>
        <p:nvSpPr>
          <p:cNvPr id="34" name="TextBox 33">
            <a:extLst>
              <a:ext uri="{FF2B5EF4-FFF2-40B4-BE49-F238E27FC236}">
                <a16:creationId xmlns:a16="http://schemas.microsoft.com/office/drawing/2014/main" id="{F710DB70-1C88-4F8B-89EC-F34DBAE7C9D7}"/>
              </a:ext>
            </a:extLst>
          </p:cNvPr>
          <p:cNvSpPr txBox="1"/>
          <p:nvPr/>
        </p:nvSpPr>
        <p:spPr>
          <a:xfrm>
            <a:off x="87753" y="501367"/>
            <a:ext cx="8140883" cy="523220"/>
          </a:xfrm>
          <a:prstGeom prst="rect">
            <a:avLst/>
          </a:prstGeom>
          <a:noFill/>
        </p:spPr>
        <p:txBody>
          <a:bodyPr wrap="none" rtlCol="0">
            <a:spAutoFit/>
          </a:bodyPr>
          <a:lstStyle/>
          <a:p>
            <a:r>
              <a:rPr lang="en-US" sz="2800" b="1" dirty="0"/>
              <a:t>EQ: </a:t>
            </a:r>
            <a:r>
              <a:rPr lang="en-US" sz="2800" dirty="0"/>
              <a:t>How do I solve worded questions involving circles?</a:t>
            </a:r>
            <a:endParaRPr lang="en-AU" sz="2800" dirty="0"/>
          </a:p>
        </p:txBody>
      </p:sp>
      <p:pic>
        <p:nvPicPr>
          <p:cNvPr id="36" name="Picture 35">
            <a:extLst>
              <a:ext uri="{FF2B5EF4-FFF2-40B4-BE49-F238E27FC236}">
                <a16:creationId xmlns:a16="http://schemas.microsoft.com/office/drawing/2014/main" id="{94D1557F-BB15-4951-8818-C1E8B888B262}"/>
              </a:ext>
            </a:extLst>
          </p:cNvPr>
          <p:cNvPicPr>
            <a:picLocks noChangeAspect="1"/>
          </p:cNvPicPr>
          <p:nvPr/>
        </p:nvPicPr>
        <p:blipFill>
          <a:blip r:embed="rId2"/>
          <a:stretch>
            <a:fillRect/>
          </a:stretch>
        </p:blipFill>
        <p:spPr>
          <a:xfrm>
            <a:off x="2041300" y="1196888"/>
            <a:ext cx="7181850" cy="5362575"/>
          </a:xfrm>
          <a:prstGeom prst="rect">
            <a:avLst/>
          </a:prstGeom>
        </p:spPr>
      </p:pic>
    </p:spTree>
    <p:extLst>
      <p:ext uri="{BB962C8B-B14F-4D97-AF65-F5344CB8AC3E}">
        <p14:creationId xmlns:p14="http://schemas.microsoft.com/office/powerpoint/2010/main" val="799518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69CB4A-829F-4DC7-BA19-B12D9BAD8483}"/>
              </a:ext>
            </a:extLst>
          </p:cNvPr>
          <p:cNvPicPr>
            <a:picLocks noChangeAspect="1"/>
          </p:cNvPicPr>
          <p:nvPr/>
        </p:nvPicPr>
        <p:blipFill>
          <a:blip r:embed="rId2"/>
          <a:stretch>
            <a:fillRect/>
          </a:stretch>
        </p:blipFill>
        <p:spPr>
          <a:xfrm>
            <a:off x="3203671" y="0"/>
            <a:ext cx="5298884" cy="6850012"/>
          </a:xfrm>
          <a:prstGeom prst="rect">
            <a:avLst/>
          </a:prstGeom>
        </p:spPr>
      </p:pic>
    </p:spTree>
    <p:extLst>
      <p:ext uri="{BB962C8B-B14F-4D97-AF65-F5344CB8AC3E}">
        <p14:creationId xmlns:p14="http://schemas.microsoft.com/office/powerpoint/2010/main" val="23747608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CD213E-2B83-46C0-9D7C-7677DA4F6658}"/>
              </a:ext>
            </a:extLst>
          </p:cNvPr>
          <p:cNvSpPr txBox="1"/>
          <p:nvPr/>
        </p:nvSpPr>
        <p:spPr>
          <a:xfrm>
            <a:off x="1817774" y="168618"/>
            <a:ext cx="4217670" cy="523220"/>
          </a:xfrm>
          <a:prstGeom prst="rect">
            <a:avLst/>
          </a:prstGeom>
          <a:noFill/>
        </p:spPr>
        <p:txBody>
          <a:bodyPr wrap="square" rtlCol="0">
            <a:spAutoFit/>
          </a:bodyPr>
          <a:lstStyle/>
          <a:p>
            <a:pPr defTabSz="685595"/>
            <a:r>
              <a:rPr lang="en-US" sz="2800" b="1" dirty="0">
                <a:solidFill>
                  <a:prstClr val="black"/>
                </a:solidFill>
                <a:latin typeface="Fragment Core" panose="02000504040000020003" pitchFamily="50" charset="0"/>
              </a:rPr>
              <a:t>Practice </a:t>
            </a:r>
          </a:p>
        </p:txBody>
      </p:sp>
      <p:sp>
        <p:nvSpPr>
          <p:cNvPr id="8" name="TextBox 7">
            <a:extLst>
              <a:ext uri="{FF2B5EF4-FFF2-40B4-BE49-F238E27FC236}">
                <a16:creationId xmlns:a16="http://schemas.microsoft.com/office/drawing/2014/main" id="{8C296414-D504-46C5-B6D7-88F12EB782CF}"/>
              </a:ext>
            </a:extLst>
          </p:cNvPr>
          <p:cNvSpPr txBox="1"/>
          <p:nvPr/>
        </p:nvSpPr>
        <p:spPr>
          <a:xfrm>
            <a:off x="1661588" y="1305341"/>
            <a:ext cx="8135661" cy="4247317"/>
          </a:xfrm>
          <a:prstGeom prst="rect">
            <a:avLst/>
          </a:prstGeom>
          <a:noFill/>
        </p:spPr>
        <p:txBody>
          <a:bodyPr wrap="square" rtlCol="0">
            <a:spAutoFit/>
          </a:bodyPr>
          <a:lstStyle/>
          <a:p>
            <a:pPr marL="457200" indent="-457200">
              <a:spcAft>
                <a:spcPts val="1200"/>
              </a:spcAft>
              <a:buAutoNum type="arabicPeriod"/>
            </a:pPr>
            <a:r>
              <a:rPr lang="en-AU" sz="2400" dirty="0"/>
              <a:t>The floor of a round hut has a radius of 2 yards. What is the floor's diameter?</a:t>
            </a:r>
          </a:p>
          <a:p>
            <a:pPr marL="457200" indent="-457200">
              <a:spcAft>
                <a:spcPts val="1200"/>
              </a:spcAft>
              <a:buFontTx/>
              <a:buAutoNum type="arabicPeriod"/>
            </a:pPr>
            <a:r>
              <a:rPr lang="en-AU" sz="2400" dirty="0"/>
              <a:t>A merry-go-round has a circular platform with a radius of 1 meter. What is the platform's area?</a:t>
            </a:r>
          </a:p>
          <a:p>
            <a:pPr marL="457200" indent="-457200">
              <a:spcAft>
                <a:spcPts val="1200"/>
              </a:spcAft>
              <a:buFontTx/>
              <a:buAutoNum type="arabicPeriod"/>
            </a:pPr>
            <a:r>
              <a:rPr lang="en-AU" sz="2400" dirty="0"/>
              <a:t>After stepping into a room with unusual lighting, Ava's pupil has a radius of 4 </a:t>
            </a:r>
            <a:r>
              <a:rPr lang="en-AU" sz="2400" dirty="0" err="1"/>
              <a:t>millimeters</a:t>
            </a:r>
            <a:r>
              <a:rPr lang="en-AU" sz="2400" dirty="0"/>
              <a:t>. What is the pupil's area?</a:t>
            </a:r>
          </a:p>
          <a:p>
            <a:pPr marL="457200" indent="-457200">
              <a:spcAft>
                <a:spcPts val="1200"/>
              </a:spcAft>
              <a:buFontTx/>
              <a:buAutoNum type="arabicPeriod"/>
            </a:pPr>
            <a:r>
              <a:rPr lang="en-AU" sz="2400" dirty="0"/>
              <a:t>A dog is leashed to a point in the centre of a large yard, so the area the dog is able to explore is circular. The leash is 20 meters long. What is the area of the region the dog is able to explore?</a:t>
            </a:r>
          </a:p>
        </p:txBody>
      </p:sp>
      <p:sp>
        <p:nvSpPr>
          <p:cNvPr id="6" name="TextBox 5">
            <a:extLst>
              <a:ext uri="{FF2B5EF4-FFF2-40B4-BE49-F238E27FC236}">
                <a16:creationId xmlns:a16="http://schemas.microsoft.com/office/drawing/2014/main" id="{A7925EB2-4651-B74E-8A2C-DA29169A489A}"/>
              </a:ext>
            </a:extLst>
          </p:cNvPr>
          <p:cNvSpPr txBox="1"/>
          <p:nvPr/>
        </p:nvSpPr>
        <p:spPr>
          <a:xfrm>
            <a:off x="4607200" y="1745673"/>
            <a:ext cx="2244436" cy="400110"/>
          </a:xfrm>
          <a:prstGeom prst="rect">
            <a:avLst/>
          </a:prstGeom>
          <a:noFill/>
        </p:spPr>
        <p:txBody>
          <a:bodyPr wrap="square" rtlCol="0">
            <a:spAutoFit/>
          </a:bodyPr>
          <a:lstStyle/>
          <a:p>
            <a:r>
              <a:rPr lang="en-US" sz="2000" dirty="0">
                <a:solidFill>
                  <a:srgbClr val="FF0000"/>
                </a:solidFill>
              </a:rPr>
              <a:t>4 Yards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6B5393E-0211-8A47-8EFE-6B80D40A0F07}"/>
                  </a:ext>
                </a:extLst>
              </p:cNvPr>
              <p:cNvSpPr txBox="1"/>
              <p:nvPr/>
            </p:nvSpPr>
            <p:spPr>
              <a:xfrm>
                <a:off x="6851636" y="2586115"/>
                <a:ext cx="2244436" cy="400110"/>
              </a:xfrm>
              <a:prstGeom prst="rect">
                <a:avLst/>
              </a:prstGeom>
              <a:noFill/>
            </p:spPr>
            <p:txBody>
              <a:bodyPr wrap="square" rtlCol="0">
                <a:spAutoFit/>
              </a:bodyPr>
              <a:lstStyle/>
              <a:p>
                <a:r>
                  <a:rPr lang="en-US" sz="2000" dirty="0">
                    <a:solidFill>
                      <a:srgbClr val="FF0000"/>
                    </a:solidFill>
                  </a:rPr>
                  <a:t>3.14</a:t>
                </a:r>
                <a14:m>
                  <m:oMath xmlns:m="http://schemas.openxmlformats.org/officeDocument/2006/math">
                    <m:sSup>
                      <m:sSupPr>
                        <m:ctrlPr>
                          <a:rPr lang="en-US" sz="2000" i="1" smtClean="0">
                            <a:solidFill>
                              <a:srgbClr val="FF0000"/>
                            </a:solidFill>
                            <a:latin typeface="Cambria Math" panose="02040503050406030204" pitchFamily="18" charset="0"/>
                          </a:rPr>
                        </m:ctrlPr>
                      </m:sSupPr>
                      <m:e>
                        <m:r>
                          <a:rPr lang="en-AU" sz="2000" b="0" i="1" smtClean="0">
                            <a:solidFill>
                              <a:srgbClr val="FF0000"/>
                            </a:solidFill>
                            <a:latin typeface="Cambria Math" panose="02040503050406030204" pitchFamily="18" charset="0"/>
                          </a:rPr>
                          <m:t>𝑚</m:t>
                        </m:r>
                      </m:e>
                      <m:sup>
                        <m:r>
                          <a:rPr lang="en-AU" sz="2000" b="0" i="1" smtClean="0">
                            <a:solidFill>
                              <a:srgbClr val="FF0000"/>
                            </a:solidFill>
                            <a:latin typeface="Cambria Math" panose="02040503050406030204" pitchFamily="18" charset="0"/>
                          </a:rPr>
                          <m:t>2</m:t>
                        </m:r>
                      </m:sup>
                    </m:sSup>
                  </m:oMath>
                </a14:m>
                <a:endParaRPr lang="en-US" sz="2000" dirty="0">
                  <a:solidFill>
                    <a:srgbClr val="FF0000"/>
                  </a:solidFill>
                </a:endParaRPr>
              </a:p>
            </p:txBody>
          </p:sp>
        </mc:Choice>
        <mc:Fallback>
          <p:sp>
            <p:nvSpPr>
              <p:cNvPr id="10" name="TextBox 9">
                <a:extLst>
                  <a:ext uri="{FF2B5EF4-FFF2-40B4-BE49-F238E27FC236}">
                    <a16:creationId xmlns:a16="http://schemas.microsoft.com/office/drawing/2014/main" id="{16B5393E-0211-8A47-8EFE-6B80D40A0F07}"/>
                  </a:ext>
                </a:extLst>
              </p:cNvPr>
              <p:cNvSpPr txBox="1">
                <a:spLocks noRot="1" noChangeAspect="1" noMove="1" noResize="1" noEditPoints="1" noAdjustHandles="1" noChangeArrowheads="1" noChangeShapeType="1" noTextEdit="1"/>
              </p:cNvSpPr>
              <p:nvPr/>
            </p:nvSpPr>
            <p:spPr>
              <a:xfrm>
                <a:off x="6851636" y="2586115"/>
                <a:ext cx="2244436" cy="400110"/>
              </a:xfrm>
              <a:prstGeom prst="rect">
                <a:avLst/>
              </a:prstGeom>
              <a:blipFill>
                <a:blip r:embed="rId2"/>
                <a:stretch>
                  <a:fillRect l="-2809" t="-6061" b="-2424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24DA3A46-7731-9C45-A031-CAB28779E227}"/>
                  </a:ext>
                </a:extLst>
              </p:cNvPr>
              <p:cNvSpPr txBox="1"/>
              <p:nvPr/>
            </p:nvSpPr>
            <p:spPr>
              <a:xfrm>
                <a:off x="9048677" y="3483961"/>
                <a:ext cx="1481735" cy="400110"/>
              </a:xfrm>
              <a:prstGeom prst="rect">
                <a:avLst/>
              </a:prstGeom>
              <a:noFill/>
            </p:spPr>
            <p:txBody>
              <a:bodyPr wrap="square" rtlCol="0">
                <a:spAutoFit/>
              </a:bodyPr>
              <a:lstStyle/>
              <a:p>
                <a:r>
                  <a:rPr lang="en-US" sz="2000" dirty="0">
                    <a:solidFill>
                      <a:srgbClr val="FF0000"/>
                    </a:solidFill>
                  </a:rPr>
                  <a:t>50.27</a:t>
                </a:r>
                <a14:m>
                  <m:oMath xmlns:m="http://schemas.openxmlformats.org/officeDocument/2006/math">
                    <m:sSup>
                      <m:sSupPr>
                        <m:ctrlPr>
                          <a:rPr lang="en-US" sz="2000" i="1" smtClean="0">
                            <a:solidFill>
                              <a:srgbClr val="FF0000"/>
                            </a:solidFill>
                            <a:latin typeface="Cambria Math" panose="02040503050406030204" pitchFamily="18" charset="0"/>
                          </a:rPr>
                        </m:ctrlPr>
                      </m:sSupPr>
                      <m:e>
                        <m:r>
                          <a:rPr lang="en-AU" sz="2000" b="0" i="1" smtClean="0">
                            <a:solidFill>
                              <a:srgbClr val="FF0000"/>
                            </a:solidFill>
                            <a:latin typeface="Cambria Math" panose="02040503050406030204" pitchFamily="18" charset="0"/>
                          </a:rPr>
                          <m:t>𝑚𝑚</m:t>
                        </m:r>
                      </m:e>
                      <m:sup>
                        <m:r>
                          <a:rPr lang="en-AU" sz="2000" b="0" i="1" smtClean="0">
                            <a:solidFill>
                              <a:srgbClr val="FF0000"/>
                            </a:solidFill>
                            <a:latin typeface="Cambria Math" panose="02040503050406030204" pitchFamily="18" charset="0"/>
                          </a:rPr>
                          <m:t>2</m:t>
                        </m:r>
                      </m:sup>
                    </m:sSup>
                  </m:oMath>
                </a14:m>
                <a:endParaRPr lang="en-US" sz="2000" dirty="0">
                  <a:solidFill>
                    <a:srgbClr val="FF0000"/>
                  </a:solidFill>
                </a:endParaRPr>
              </a:p>
            </p:txBody>
          </p:sp>
        </mc:Choice>
        <mc:Fallback>
          <p:sp>
            <p:nvSpPr>
              <p:cNvPr id="11" name="TextBox 10">
                <a:extLst>
                  <a:ext uri="{FF2B5EF4-FFF2-40B4-BE49-F238E27FC236}">
                    <a16:creationId xmlns:a16="http://schemas.microsoft.com/office/drawing/2014/main" id="{24DA3A46-7731-9C45-A031-CAB28779E227}"/>
                  </a:ext>
                </a:extLst>
              </p:cNvPr>
              <p:cNvSpPr txBox="1">
                <a:spLocks noRot="1" noChangeAspect="1" noMove="1" noResize="1" noEditPoints="1" noAdjustHandles="1" noChangeArrowheads="1" noChangeShapeType="1" noTextEdit="1"/>
              </p:cNvSpPr>
              <p:nvPr/>
            </p:nvSpPr>
            <p:spPr>
              <a:xfrm>
                <a:off x="9048677" y="3483961"/>
                <a:ext cx="1481735" cy="400110"/>
              </a:xfrm>
              <a:prstGeom prst="rect">
                <a:avLst/>
              </a:prstGeom>
              <a:blipFill>
                <a:blip r:embed="rId3"/>
                <a:stretch>
                  <a:fillRect l="-4274" t="-9375" b="-2812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8314AF91-CF3C-0447-91E4-0CDDD07FF471}"/>
                  </a:ext>
                </a:extLst>
              </p:cNvPr>
              <p:cNvSpPr txBox="1"/>
              <p:nvPr/>
            </p:nvSpPr>
            <p:spPr>
              <a:xfrm>
                <a:off x="3738427" y="5152548"/>
                <a:ext cx="1481735" cy="400110"/>
              </a:xfrm>
              <a:prstGeom prst="rect">
                <a:avLst/>
              </a:prstGeom>
              <a:noFill/>
            </p:spPr>
            <p:txBody>
              <a:bodyPr wrap="square" rtlCol="0">
                <a:spAutoFit/>
              </a:bodyPr>
              <a:lstStyle/>
              <a:p>
                <a:r>
                  <a:rPr lang="en-US" sz="2000" dirty="0">
                    <a:solidFill>
                      <a:srgbClr val="FF0000"/>
                    </a:solidFill>
                  </a:rPr>
                  <a:t>314.16</a:t>
                </a:r>
                <a14:m>
                  <m:oMath xmlns:m="http://schemas.openxmlformats.org/officeDocument/2006/math">
                    <m:sSup>
                      <m:sSupPr>
                        <m:ctrlPr>
                          <a:rPr lang="en-US" sz="2000" i="1" smtClean="0">
                            <a:solidFill>
                              <a:srgbClr val="FF0000"/>
                            </a:solidFill>
                            <a:latin typeface="Cambria Math" panose="02040503050406030204" pitchFamily="18" charset="0"/>
                          </a:rPr>
                        </m:ctrlPr>
                      </m:sSupPr>
                      <m:e>
                        <m:r>
                          <a:rPr lang="en-AU" sz="2000" b="0" i="1" smtClean="0">
                            <a:solidFill>
                              <a:srgbClr val="FF0000"/>
                            </a:solidFill>
                            <a:latin typeface="Cambria Math" panose="02040503050406030204" pitchFamily="18" charset="0"/>
                          </a:rPr>
                          <m:t>𝑚</m:t>
                        </m:r>
                      </m:e>
                      <m:sup>
                        <m:r>
                          <a:rPr lang="en-AU" sz="2000" b="0" i="1" smtClean="0">
                            <a:solidFill>
                              <a:srgbClr val="FF0000"/>
                            </a:solidFill>
                            <a:latin typeface="Cambria Math" panose="02040503050406030204" pitchFamily="18" charset="0"/>
                          </a:rPr>
                          <m:t>2</m:t>
                        </m:r>
                      </m:sup>
                    </m:sSup>
                  </m:oMath>
                </a14:m>
                <a:endParaRPr lang="en-US" sz="2000" dirty="0">
                  <a:solidFill>
                    <a:srgbClr val="FF0000"/>
                  </a:solidFill>
                </a:endParaRPr>
              </a:p>
            </p:txBody>
          </p:sp>
        </mc:Choice>
        <mc:Fallback>
          <p:sp>
            <p:nvSpPr>
              <p:cNvPr id="12" name="TextBox 11">
                <a:extLst>
                  <a:ext uri="{FF2B5EF4-FFF2-40B4-BE49-F238E27FC236}">
                    <a16:creationId xmlns:a16="http://schemas.microsoft.com/office/drawing/2014/main" id="{8314AF91-CF3C-0447-91E4-0CDDD07FF471}"/>
                  </a:ext>
                </a:extLst>
              </p:cNvPr>
              <p:cNvSpPr txBox="1">
                <a:spLocks noRot="1" noChangeAspect="1" noMove="1" noResize="1" noEditPoints="1" noAdjustHandles="1" noChangeArrowheads="1" noChangeShapeType="1" noTextEdit="1"/>
              </p:cNvSpPr>
              <p:nvPr/>
            </p:nvSpPr>
            <p:spPr>
              <a:xfrm>
                <a:off x="3738427" y="5152548"/>
                <a:ext cx="1481735" cy="400110"/>
              </a:xfrm>
              <a:prstGeom prst="rect">
                <a:avLst/>
              </a:prstGeom>
              <a:blipFill>
                <a:blip r:embed="rId4"/>
                <a:stretch>
                  <a:fillRect l="-4274" t="-6061" b="-24242"/>
                </a:stretch>
              </a:blipFill>
            </p:spPr>
            <p:txBody>
              <a:bodyPr/>
              <a:lstStyle/>
              <a:p>
                <a:r>
                  <a:rPr lang="en-US">
                    <a:noFill/>
                  </a:rPr>
                  <a:t> </a:t>
                </a:r>
              </a:p>
            </p:txBody>
          </p:sp>
        </mc:Fallback>
      </mc:AlternateContent>
    </p:spTree>
    <p:extLst>
      <p:ext uri="{BB962C8B-B14F-4D97-AF65-F5344CB8AC3E}">
        <p14:creationId xmlns:p14="http://schemas.microsoft.com/office/powerpoint/2010/main" val="3799530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dissolve">
                                      <p:cBhvr>
                                        <p:cTn id="10" dur="500"/>
                                        <p:tgtEl>
                                          <p:spTgt spid="1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dissolve">
                                      <p:cBhvr>
                                        <p:cTn id="13" dur="500"/>
                                        <p:tgtEl>
                                          <p:spTgt spid="1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1" grpId="0"/>
      <p:bldP spid="1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CD213E-2B83-46C0-9D7C-7677DA4F6658}"/>
              </a:ext>
            </a:extLst>
          </p:cNvPr>
          <p:cNvSpPr txBox="1"/>
          <p:nvPr/>
        </p:nvSpPr>
        <p:spPr>
          <a:xfrm>
            <a:off x="1817774" y="168618"/>
            <a:ext cx="4217670" cy="523220"/>
          </a:xfrm>
          <a:prstGeom prst="rect">
            <a:avLst/>
          </a:prstGeom>
          <a:noFill/>
        </p:spPr>
        <p:txBody>
          <a:bodyPr wrap="square" rtlCol="0">
            <a:spAutoFit/>
          </a:bodyPr>
          <a:lstStyle/>
          <a:p>
            <a:pPr defTabSz="685595"/>
            <a:r>
              <a:rPr lang="en-US" sz="2800" b="1" dirty="0">
                <a:solidFill>
                  <a:prstClr val="black"/>
                </a:solidFill>
                <a:latin typeface="Fragment Core" panose="02000504040000020003" pitchFamily="50" charset="0"/>
              </a:rPr>
              <a:t>Practice 2</a:t>
            </a:r>
          </a:p>
        </p:txBody>
      </p:sp>
      <p:sp>
        <p:nvSpPr>
          <p:cNvPr id="8" name="TextBox 7">
            <a:extLst>
              <a:ext uri="{FF2B5EF4-FFF2-40B4-BE49-F238E27FC236}">
                <a16:creationId xmlns:a16="http://schemas.microsoft.com/office/drawing/2014/main" id="{8C296414-D504-46C5-B6D7-88F12EB782CF}"/>
              </a:ext>
            </a:extLst>
          </p:cNvPr>
          <p:cNvSpPr txBox="1"/>
          <p:nvPr/>
        </p:nvSpPr>
        <p:spPr>
          <a:xfrm>
            <a:off x="2029723" y="810142"/>
            <a:ext cx="8135661" cy="4247317"/>
          </a:xfrm>
          <a:prstGeom prst="rect">
            <a:avLst/>
          </a:prstGeom>
          <a:noFill/>
        </p:spPr>
        <p:txBody>
          <a:bodyPr wrap="square" rtlCol="0">
            <a:spAutoFit/>
          </a:bodyPr>
          <a:lstStyle/>
          <a:p>
            <a:pPr marL="457200" indent="-457200">
              <a:spcAft>
                <a:spcPts val="1200"/>
              </a:spcAft>
              <a:buAutoNum type="arabicPeriod"/>
            </a:pPr>
            <a:r>
              <a:rPr lang="en-AU" sz="2400" dirty="0"/>
              <a:t>A tree trunk is cut to reveal a circular cross-section of radius 60cm. Is the area of the cross-section more than 1m</a:t>
            </a:r>
            <a:r>
              <a:rPr lang="en-AU" sz="2400" baseline="30000" dirty="0"/>
              <a:t>2</a:t>
            </a:r>
            <a:r>
              <a:rPr lang="en-AU" sz="2400" dirty="0"/>
              <a:t> and, if so, by how much?</a:t>
            </a:r>
          </a:p>
          <a:p>
            <a:pPr marL="457200" indent="-457200">
              <a:spcAft>
                <a:spcPts val="1200"/>
              </a:spcAft>
              <a:buAutoNum type="arabicPeriod"/>
            </a:pPr>
            <a:r>
              <a:rPr lang="en-AU" sz="2400" dirty="0"/>
              <a:t>A circular oil slick has a diameter of 1km. The newspaper reported an area of more than 1km</a:t>
            </a:r>
            <a:r>
              <a:rPr lang="en-AU" sz="2400" baseline="30000" dirty="0"/>
              <a:t>2</a:t>
            </a:r>
            <a:r>
              <a:rPr lang="en-AU" sz="2400" dirty="0"/>
              <a:t>. Is the newspaper correct?</a:t>
            </a:r>
          </a:p>
          <a:p>
            <a:pPr marL="457200" indent="-457200">
              <a:spcAft>
                <a:spcPts val="1200"/>
              </a:spcAft>
              <a:buAutoNum type="arabicPeriod"/>
            </a:pPr>
            <a:r>
              <a:rPr lang="en-AU" sz="2400" dirty="0"/>
              <a:t>Which has the largest area, a circle of radius 5m, a semicircle of radius 7m, or a quadrant of radius 9m?</a:t>
            </a:r>
          </a:p>
          <a:p>
            <a:pPr marL="457200" indent="-457200">
              <a:spcAft>
                <a:spcPts val="1200"/>
              </a:spcAft>
              <a:buAutoNum type="arabicPeriod"/>
            </a:pPr>
            <a:r>
              <a:rPr lang="en-AU" sz="2400" dirty="0"/>
              <a:t>Two circular plates have radii 12cm and 13cm. Find the difference in their area correct to 2 decimal places.</a:t>
            </a:r>
          </a:p>
        </p:txBody>
      </p:sp>
    </p:spTree>
    <p:extLst>
      <p:ext uri="{BB962C8B-B14F-4D97-AF65-F5344CB8AC3E}">
        <p14:creationId xmlns:p14="http://schemas.microsoft.com/office/powerpoint/2010/main" val="4017284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2CD213E-2B83-46C0-9D7C-7677DA4F6658}"/>
              </a:ext>
            </a:extLst>
          </p:cNvPr>
          <p:cNvSpPr txBox="1"/>
          <p:nvPr/>
        </p:nvSpPr>
        <p:spPr>
          <a:xfrm>
            <a:off x="1817774" y="168618"/>
            <a:ext cx="4217670" cy="523220"/>
          </a:xfrm>
          <a:prstGeom prst="rect">
            <a:avLst/>
          </a:prstGeom>
          <a:noFill/>
        </p:spPr>
        <p:txBody>
          <a:bodyPr wrap="square" rtlCol="0">
            <a:spAutoFit/>
          </a:bodyPr>
          <a:lstStyle/>
          <a:p>
            <a:pPr defTabSz="685595"/>
            <a:r>
              <a:rPr lang="en-US" sz="2800" b="1" dirty="0">
                <a:solidFill>
                  <a:prstClr val="black"/>
                </a:solidFill>
                <a:latin typeface="Fragment Core" panose="02000504040000020003" pitchFamily="50" charset="0"/>
              </a:rPr>
              <a:t>Practice 2</a:t>
            </a:r>
          </a:p>
        </p:txBody>
      </p:sp>
      <p:sp>
        <p:nvSpPr>
          <p:cNvPr id="8" name="TextBox 7">
            <a:extLst>
              <a:ext uri="{FF2B5EF4-FFF2-40B4-BE49-F238E27FC236}">
                <a16:creationId xmlns:a16="http://schemas.microsoft.com/office/drawing/2014/main" id="{8C296414-D504-46C5-B6D7-88F12EB782CF}"/>
              </a:ext>
            </a:extLst>
          </p:cNvPr>
          <p:cNvSpPr txBox="1"/>
          <p:nvPr/>
        </p:nvSpPr>
        <p:spPr>
          <a:xfrm>
            <a:off x="2029722" y="810142"/>
            <a:ext cx="8402108" cy="4247317"/>
          </a:xfrm>
          <a:prstGeom prst="rect">
            <a:avLst/>
          </a:prstGeom>
          <a:noFill/>
        </p:spPr>
        <p:txBody>
          <a:bodyPr wrap="square" rtlCol="0">
            <a:spAutoFit/>
          </a:bodyPr>
          <a:lstStyle/>
          <a:p>
            <a:pPr marL="457200" indent="-457200">
              <a:spcAft>
                <a:spcPts val="1200"/>
              </a:spcAft>
              <a:buAutoNum type="arabicPeriod"/>
            </a:pPr>
            <a:r>
              <a:rPr lang="en-AU" sz="2400" dirty="0"/>
              <a:t>A tree trunk is cut to reveal a circular cross-section of radius 60cm. Is the area of the cross-section more than 1m</a:t>
            </a:r>
            <a:r>
              <a:rPr lang="en-AU" sz="2400" baseline="30000" dirty="0"/>
              <a:t>2</a:t>
            </a:r>
            <a:r>
              <a:rPr lang="en-AU" sz="2400" dirty="0"/>
              <a:t> and, if so, by how much? </a:t>
            </a:r>
            <a:r>
              <a:rPr lang="en-AU" sz="2400" dirty="0">
                <a:solidFill>
                  <a:srgbClr val="7030A0"/>
                </a:solidFill>
              </a:rPr>
              <a:t>Yes, by 1310cm</a:t>
            </a:r>
            <a:r>
              <a:rPr lang="en-AU" sz="2400" baseline="30000" dirty="0">
                <a:solidFill>
                  <a:srgbClr val="7030A0"/>
                </a:solidFill>
              </a:rPr>
              <a:t>2</a:t>
            </a:r>
            <a:endParaRPr lang="en-AU" sz="2400" baseline="30000" dirty="0"/>
          </a:p>
          <a:p>
            <a:pPr marL="457200" indent="-457200">
              <a:spcAft>
                <a:spcPts val="1200"/>
              </a:spcAft>
              <a:buAutoNum type="arabicPeriod"/>
            </a:pPr>
            <a:r>
              <a:rPr lang="en-AU" sz="2400" dirty="0"/>
              <a:t>A circular oil slick has a diameter of 1km. The newspaper reported an area of more than 1km</a:t>
            </a:r>
            <a:r>
              <a:rPr lang="en-AU" sz="2400" baseline="30000" dirty="0"/>
              <a:t>2</a:t>
            </a:r>
            <a:r>
              <a:rPr lang="en-AU" sz="2400" dirty="0"/>
              <a:t>. Is the newspaper correct? </a:t>
            </a:r>
            <a:r>
              <a:rPr lang="en-AU" sz="2400" dirty="0">
                <a:solidFill>
                  <a:srgbClr val="7030A0"/>
                </a:solidFill>
              </a:rPr>
              <a:t>No (A=0.79km</a:t>
            </a:r>
            <a:r>
              <a:rPr lang="en-AU" sz="2400" baseline="30000" dirty="0">
                <a:solidFill>
                  <a:srgbClr val="7030A0"/>
                </a:solidFill>
              </a:rPr>
              <a:t>2</a:t>
            </a:r>
            <a:r>
              <a:rPr lang="en-AU" sz="2400" dirty="0">
                <a:solidFill>
                  <a:srgbClr val="7030A0"/>
                </a:solidFill>
              </a:rPr>
              <a:t>)</a:t>
            </a:r>
            <a:endParaRPr lang="en-AU" sz="2400" dirty="0"/>
          </a:p>
          <a:p>
            <a:pPr marL="457200" indent="-457200">
              <a:spcAft>
                <a:spcPts val="1200"/>
              </a:spcAft>
              <a:buAutoNum type="arabicPeriod"/>
            </a:pPr>
            <a:r>
              <a:rPr lang="en-AU" sz="2400" dirty="0"/>
              <a:t>Which has the largest area, a circle of radius 5m, a semicircle of radius 7m, or a quadrant of radius 9m? </a:t>
            </a:r>
            <a:r>
              <a:rPr lang="en-AU" sz="2400" dirty="0">
                <a:solidFill>
                  <a:srgbClr val="7030A0"/>
                </a:solidFill>
              </a:rPr>
              <a:t>Circle radius 5m</a:t>
            </a:r>
            <a:endParaRPr lang="en-AU" sz="2400" dirty="0"/>
          </a:p>
          <a:p>
            <a:pPr marL="457200" indent="-457200">
              <a:spcAft>
                <a:spcPts val="1200"/>
              </a:spcAft>
              <a:buAutoNum type="arabicPeriod"/>
            </a:pPr>
            <a:r>
              <a:rPr lang="en-AU" sz="2400" dirty="0"/>
              <a:t>Two circular plates have radii 12cm and 13cm. Find the difference in their area correct to 2 decimal places. </a:t>
            </a:r>
            <a:r>
              <a:rPr lang="en-AU" sz="2400" dirty="0">
                <a:solidFill>
                  <a:srgbClr val="7030A0"/>
                </a:solidFill>
              </a:rPr>
              <a:t>78.54cm</a:t>
            </a:r>
            <a:r>
              <a:rPr lang="en-AU" sz="2400" baseline="30000" dirty="0">
                <a:solidFill>
                  <a:srgbClr val="7030A0"/>
                </a:solidFill>
              </a:rPr>
              <a:t>2</a:t>
            </a:r>
            <a:r>
              <a:rPr lang="en-AU" sz="2400" dirty="0">
                <a:solidFill>
                  <a:srgbClr val="7030A0"/>
                </a:solidFill>
              </a:rPr>
              <a:t> </a:t>
            </a:r>
            <a:endParaRPr lang="en-AU" sz="2400" dirty="0"/>
          </a:p>
        </p:txBody>
      </p:sp>
    </p:spTree>
    <p:extLst>
      <p:ext uri="{BB962C8B-B14F-4D97-AF65-F5344CB8AC3E}">
        <p14:creationId xmlns:p14="http://schemas.microsoft.com/office/powerpoint/2010/main" val="3897491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E5941E-41D4-42CB-BD59-A652858BF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20369748">
            <a:off x="13108" y="549642"/>
            <a:ext cx="4106224" cy="1118925"/>
          </a:xfrm>
          <a:prstGeom prst="rect">
            <a:avLst/>
          </a:prstGeom>
        </p:spPr>
      </p:pic>
      <p:pic>
        <p:nvPicPr>
          <p:cNvPr id="6" name="Picture 5">
            <a:extLst>
              <a:ext uri="{FF2B5EF4-FFF2-40B4-BE49-F238E27FC236}">
                <a16:creationId xmlns:a16="http://schemas.microsoft.com/office/drawing/2014/main" id="{3229DFD5-B429-47BC-BABE-4D8BAADACA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413988">
            <a:off x="8072666" y="640573"/>
            <a:ext cx="4106224" cy="1108272"/>
          </a:xfrm>
          <a:prstGeom prst="rect">
            <a:avLst/>
          </a:prstGeom>
        </p:spPr>
      </p:pic>
      <p:sp>
        <p:nvSpPr>
          <p:cNvPr id="8" name="Title 1">
            <a:extLst>
              <a:ext uri="{FF2B5EF4-FFF2-40B4-BE49-F238E27FC236}">
                <a16:creationId xmlns:a16="http://schemas.microsoft.com/office/drawing/2014/main" id="{131E223C-1AA4-46F5-9565-0A846B689FFE}"/>
              </a:ext>
            </a:extLst>
          </p:cNvPr>
          <p:cNvSpPr txBox="1">
            <a:spLocks/>
          </p:cNvSpPr>
          <p:nvPr/>
        </p:nvSpPr>
        <p:spPr>
          <a:xfrm>
            <a:off x="2219246" y="385043"/>
            <a:ext cx="7769087" cy="42768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8000" dirty="0">
                <a:ln>
                  <a:solidFill>
                    <a:schemeClr val="tx1"/>
                  </a:solidFill>
                </a:ln>
                <a:solidFill>
                  <a:srgbClr val="FFB3BA"/>
                </a:solidFill>
                <a:latin typeface="Luckiest Guy" panose="02000506000000020004" pitchFamily="2" charset="0"/>
              </a:rPr>
              <a:t>W</a:t>
            </a:r>
            <a:r>
              <a:rPr lang="en-US" sz="8000" dirty="0">
                <a:ln>
                  <a:solidFill>
                    <a:schemeClr val="tx1"/>
                  </a:solidFill>
                </a:ln>
                <a:solidFill>
                  <a:srgbClr val="FFDFBA"/>
                </a:solidFill>
                <a:latin typeface="Luckiest Guy" panose="02000506000000020004" pitchFamily="2" charset="0"/>
              </a:rPr>
              <a:t>h</a:t>
            </a:r>
            <a:r>
              <a:rPr lang="en-US" sz="8000" dirty="0">
                <a:ln>
                  <a:solidFill>
                    <a:schemeClr val="tx1"/>
                  </a:solidFill>
                </a:ln>
                <a:solidFill>
                  <a:srgbClr val="FFFFBA"/>
                </a:solidFill>
                <a:latin typeface="Luckiest Guy" panose="02000506000000020004" pitchFamily="2" charset="0"/>
              </a:rPr>
              <a:t>a</a:t>
            </a:r>
            <a:r>
              <a:rPr lang="en-US" sz="8000" dirty="0">
                <a:ln>
                  <a:solidFill>
                    <a:schemeClr val="tx1"/>
                  </a:solidFill>
                </a:ln>
                <a:solidFill>
                  <a:srgbClr val="BAFFC9"/>
                </a:solidFill>
                <a:latin typeface="Luckiest Guy" panose="02000506000000020004" pitchFamily="2" charset="0"/>
              </a:rPr>
              <a:t>t</a:t>
            </a:r>
            <a:r>
              <a:rPr lang="en-US" sz="8000" dirty="0">
                <a:ln>
                  <a:solidFill>
                    <a:schemeClr val="tx1"/>
                  </a:solidFill>
                </a:ln>
                <a:solidFill>
                  <a:srgbClr val="FFB3BA"/>
                </a:solidFill>
                <a:latin typeface="Luckiest Guy" panose="02000506000000020004" pitchFamily="2" charset="0"/>
              </a:rPr>
              <a:t> </a:t>
            </a:r>
            <a:r>
              <a:rPr lang="en-US" sz="8000" dirty="0">
                <a:ln>
                  <a:solidFill>
                    <a:schemeClr val="tx1"/>
                  </a:solidFill>
                </a:ln>
                <a:solidFill>
                  <a:srgbClr val="BAE1FF"/>
                </a:solidFill>
                <a:latin typeface="Luckiest Guy" panose="02000506000000020004" pitchFamily="2" charset="0"/>
              </a:rPr>
              <a:t>Q</a:t>
            </a:r>
            <a:r>
              <a:rPr lang="en-US" sz="8000" dirty="0">
                <a:ln>
                  <a:solidFill>
                    <a:schemeClr val="tx1"/>
                  </a:solidFill>
                </a:ln>
                <a:solidFill>
                  <a:srgbClr val="FFB3BA"/>
                </a:solidFill>
                <a:latin typeface="Luckiest Guy" panose="02000506000000020004" pitchFamily="2" charset="0"/>
              </a:rPr>
              <a:t>u</a:t>
            </a:r>
            <a:r>
              <a:rPr lang="en-US" sz="8000" dirty="0">
                <a:ln>
                  <a:solidFill>
                    <a:schemeClr val="tx1"/>
                  </a:solidFill>
                </a:ln>
                <a:solidFill>
                  <a:srgbClr val="FFDFBA"/>
                </a:solidFill>
                <a:latin typeface="Luckiest Guy" panose="02000506000000020004" pitchFamily="2" charset="0"/>
              </a:rPr>
              <a:t>e</a:t>
            </a:r>
            <a:r>
              <a:rPr lang="en-US" sz="8000" dirty="0">
                <a:ln>
                  <a:solidFill>
                    <a:schemeClr val="tx1"/>
                  </a:solidFill>
                </a:ln>
                <a:solidFill>
                  <a:srgbClr val="FFFFBA"/>
                </a:solidFill>
                <a:latin typeface="Luckiest Guy" panose="02000506000000020004" pitchFamily="2" charset="0"/>
              </a:rPr>
              <a:t>s</a:t>
            </a:r>
            <a:r>
              <a:rPr lang="en-US" sz="8000" dirty="0">
                <a:ln>
                  <a:solidFill>
                    <a:schemeClr val="tx1"/>
                  </a:solidFill>
                </a:ln>
                <a:solidFill>
                  <a:srgbClr val="BAFFC9"/>
                </a:solidFill>
                <a:latin typeface="Luckiest Guy" panose="02000506000000020004" pitchFamily="2" charset="0"/>
              </a:rPr>
              <a:t>t</a:t>
            </a:r>
            <a:r>
              <a:rPr lang="en-US" sz="8000" dirty="0">
                <a:ln>
                  <a:solidFill>
                    <a:schemeClr val="tx1"/>
                  </a:solidFill>
                </a:ln>
                <a:solidFill>
                  <a:srgbClr val="BAE1FF"/>
                </a:solidFill>
                <a:latin typeface="Luckiest Guy" panose="02000506000000020004" pitchFamily="2" charset="0"/>
              </a:rPr>
              <a:t>i</a:t>
            </a:r>
            <a:r>
              <a:rPr lang="en-US" sz="8000" dirty="0">
                <a:ln>
                  <a:solidFill>
                    <a:schemeClr val="tx1"/>
                  </a:solidFill>
                </a:ln>
                <a:solidFill>
                  <a:srgbClr val="FFB3BA"/>
                </a:solidFill>
                <a:latin typeface="Luckiest Guy" panose="02000506000000020004" pitchFamily="2" charset="0"/>
              </a:rPr>
              <a:t>o</a:t>
            </a:r>
            <a:r>
              <a:rPr lang="en-US" sz="8000" dirty="0">
                <a:ln>
                  <a:solidFill>
                    <a:schemeClr val="tx1"/>
                  </a:solidFill>
                </a:ln>
                <a:solidFill>
                  <a:srgbClr val="FFDFBA"/>
                </a:solidFill>
                <a:latin typeface="Luckiest Guy" panose="02000506000000020004" pitchFamily="2" charset="0"/>
              </a:rPr>
              <a:t>n</a:t>
            </a:r>
            <a:r>
              <a:rPr lang="en-US" sz="8000" dirty="0">
                <a:ln>
                  <a:solidFill>
                    <a:schemeClr val="tx1"/>
                  </a:solidFill>
                </a:ln>
                <a:solidFill>
                  <a:srgbClr val="FFFFBA"/>
                </a:solidFill>
                <a:latin typeface="Luckiest Guy" panose="02000506000000020004" pitchFamily="2" charset="0"/>
              </a:rPr>
              <a:t>s</a:t>
            </a:r>
            <a:r>
              <a:rPr lang="en-US" sz="8000" dirty="0">
                <a:ln>
                  <a:solidFill>
                    <a:schemeClr val="tx1"/>
                  </a:solidFill>
                </a:ln>
                <a:solidFill>
                  <a:srgbClr val="FFB3BA"/>
                </a:solidFill>
                <a:latin typeface="Luckiest Guy" panose="02000506000000020004" pitchFamily="2" charset="0"/>
              </a:rPr>
              <a:t> </a:t>
            </a:r>
          </a:p>
          <a:p>
            <a:pPr algn="ctr"/>
            <a:r>
              <a:rPr lang="en-US" sz="8000" dirty="0">
                <a:ln>
                  <a:solidFill>
                    <a:schemeClr val="tx1"/>
                  </a:solidFill>
                </a:ln>
                <a:solidFill>
                  <a:srgbClr val="BAFFC9"/>
                </a:solidFill>
                <a:latin typeface="Luckiest Guy" panose="02000506000000020004" pitchFamily="2" charset="0"/>
              </a:rPr>
              <a:t>d</a:t>
            </a:r>
            <a:r>
              <a:rPr lang="en-US" sz="8000" dirty="0">
                <a:ln>
                  <a:solidFill>
                    <a:schemeClr val="tx1"/>
                  </a:solidFill>
                </a:ln>
                <a:solidFill>
                  <a:srgbClr val="BAE1FF"/>
                </a:solidFill>
                <a:latin typeface="Luckiest Guy" panose="02000506000000020004" pitchFamily="2" charset="0"/>
              </a:rPr>
              <a:t>o</a:t>
            </a:r>
            <a:r>
              <a:rPr lang="en-US" sz="8000" dirty="0">
                <a:ln>
                  <a:solidFill>
                    <a:schemeClr val="tx1"/>
                  </a:solidFill>
                </a:ln>
                <a:solidFill>
                  <a:srgbClr val="FFB3BA"/>
                </a:solidFill>
                <a:latin typeface="Luckiest Guy" panose="02000506000000020004" pitchFamily="2" charset="0"/>
              </a:rPr>
              <a:t> y</a:t>
            </a:r>
            <a:r>
              <a:rPr lang="en-US" sz="8000" dirty="0">
                <a:ln>
                  <a:solidFill>
                    <a:schemeClr val="tx1"/>
                  </a:solidFill>
                </a:ln>
                <a:solidFill>
                  <a:srgbClr val="FFDFBA"/>
                </a:solidFill>
                <a:latin typeface="Luckiest Guy" panose="02000506000000020004" pitchFamily="2" charset="0"/>
              </a:rPr>
              <a:t>o</a:t>
            </a:r>
            <a:r>
              <a:rPr lang="en-US" sz="8000" dirty="0">
                <a:ln>
                  <a:solidFill>
                    <a:schemeClr val="tx1"/>
                  </a:solidFill>
                </a:ln>
                <a:solidFill>
                  <a:srgbClr val="FFFFBA"/>
                </a:solidFill>
                <a:latin typeface="Luckiest Guy" panose="02000506000000020004" pitchFamily="2" charset="0"/>
              </a:rPr>
              <a:t>u</a:t>
            </a:r>
            <a:r>
              <a:rPr lang="en-US" sz="8000" dirty="0">
                <a:ln>
                  <a:solidFill>
                    <a:schemeClr val="tx1"/>
                  </a:solidFill>
                </a:ln>
                <a:solidFill>
                  <a:srgbClr val="FFB3BA"/>
                </a:solidFill>
                <a:latin typeface="Luckiest Guy" panose="02000506000000020004" pitchFamily="2" charset="0"/>
              </a:rPr>
              <a:t> </a:t>
            </a:r>
            <a:r>
              <a:rPr lang="en-US" sz="8000" dirty="0">
                <a:ln>
                  <a:solidFill>
                    <a:schemeClr val="tx1"/>
                  </a:solidFill>
                </a:ln>
                <a:solidFill>
                  <a:srgbClr val="BAFFC9"/>
                </a:solidFill>
                <a:latin typeface="Luckiest Guy" panose="02000506000000020004" pitchFamily="2" charset="0"/>
              </a:rPr>
              <a:t>h</a:t>
            </a:r>
            <a:r>
              <a:rPr lang="en-US" sz="8000" dirty="0">
                <a:ln>
                  <a:solidFill>
                    <a:schemeClr val="tx1"/>
                  </a:solidFill>
                </a:ln>
                <a:solidFill>
                  <a:srgbClr val="BAE1FF"/>
                </a:solidFill>
                <a:latin typeface="Luckiest Guy" panose="02000506000000020004" pitchFamily="2" charset="0"/>
              </a:rPr>
              <a:t>a</a:t>
            </a:r>
            <a:r>
              <a:rPr lang="en-US" sz="8000" dirty="0">
                <a:ln>
                  <a:solidFill>
                    <a:schemeClr val="tx1"/>
                  </a:solidFill>
                </a:ln>
                <a:solidFill>
                  <a:srgbClr val="FFB3BA"/>
                </a:solidFill>
                <a:latin typeface="Luckiest Guy" panose="02000506000000020004" pitchFamily="2" charset="0"/>
              </a:rPr>
              <a:t>v</a:t>
            </a:r>
            <a:r>
              <a:rPr lang="en-US" sz="8000" dirty="0">
                <a:ln>
                  <a:solidFill>
                    <a:schemeClr val="tx1"/>
                  </a:solidFill>
                </a:ln>
                <a:solidFill>
                  <a:srgbClr val="FFDFBA"/>
                </a:solidFill>
                <a:latin typeface="Luckiest Guy" panose="02000506000000020004" pitchFamily="2" charset="0"/>
              </a:rPr>
              <a:t>e</a:t>
            </a:r>
            <a:r>
              <a:rPr lang="en-US" sz="8000" dirty="0">
                <a:ln>
                  <a:solidFill>
                    <a:schemeClr val="tx1"/>
                  </a:solidFill>
                </a:ln>
                <a:solidFill>
                  <a:srgbClr val="FFFFBA"/>
                </a:solidFill>
                <a:latin typeface="Luckiest Guy" panose="02000506000000020004" pitchFamily="2" charset="0"/>
              </a:rPr>
              <a:t>?</a:t>
            </a:r>
            <a:r>
              <a:rPr lang="en-US" sz="8000" dirty="0">
                <a:ln>
                  <a:solidFill>
                    <a:schemeClr val="tx1"/>
                  </a:solidFill>
                </a:ln>
                <a:solidFill>
                  <a:srgbClr val="BAFFC9"/>
                </a:solidFill>
                <a:latin typeface="Luckiest Guy" panose="02000506000000020004" pitchFamily="2" charset="0"/>
              </a:rPr>
              <a:t>?</a:t>
            </a:r>
          </a:p>
        </p:txBody>
      </p:sp>
    </p:spTree>
    <p:extLst>
      <p:ext uri="{BB962C8B-B14F-4D97-AF65-F5344CB8AC3E}">
        <p14:creationId xmlns:p14="http://schemas.microsoft.com/office/powerpoint/2010/main" val="19742232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11033</TotalTime>
  <Words>477</Words>
  <Application>Microsoft Macintosh PowerPoint</Application>
  <PresentationFormat>Widescreen</PresentationFormat>
  <Paragraphs>41</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Luckiest Guy</vt:lpstr>
      <vt:lpstr>Calibri</vt:lpstr>
      <vt:lpstr>Cambria Math</vt:lpstr>
      <vt:lpstr>Arial</vt:lpstr>
      <vt:lpstr>Calibri Light</vt:lpstr>
      <vt:lpstr>Fragment Core</vt:lpstr>
      <vt:lpstr>Office Theme</vt:lpstr>
      <vt:lpstr>Topic: Circles in context EQ: How do I solve worded questions involving circles?</vt:lpstr>
      <vt:lpstr>Have a go at these questions:</vt:lpstr>
      <vt:lpstr>Topic: Circles in Context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circles</dc:title>
  <dc:creator>GREGORY Jade [Baldivis Secondary College]</dc:creator>
  <cp:lastModifiedBy>DIXON Emily [Baldivis Secondary College]</cp:lastModifiedBy>
  <cp:revision>60</cp:revision>
  <dcterms:created xsi:type="dcterms:W3CDTF">2018-11-28T12:02:55Z</dcterms:created>
  <dcterms:modified xsi:type="dcterms:W3CDTF">2021-10-11T03:40:54Z</dcterms:modified>
</cp:coreProperties>
</file>
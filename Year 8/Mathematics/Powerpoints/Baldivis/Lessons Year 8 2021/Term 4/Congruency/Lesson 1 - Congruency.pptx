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notesMasterIdLst>
    <p:notesMasterId r:id="rId12"/>
  </p:notesMasterIdLst>
  <p:sldIdLst>
    <p:sldId id="257" r:id="rId2"/>
    <p:sldId id="395" r:id="rId3"/>
    <p:sldId id="263" r:id="rId4"/>
    <p:sldId id="271" r:id="rId5"/>
    <p:sldId id="259" r:id="rId6"/>
    <p:sldId id="264" r:id="rId7"/>
    <p:sldId id="265" r:id="rId8"/>
    <p:sldId id="272" r:id="rId9"/>
    <p:sldId id="260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84648" autoAdjust="0"/>
  </p:normalViewPr>
  <p:slideViewPr>
    <p:cSldViewPr snapToGrid="0">
      <p:cViewPr varScale="1">
        <p:scale>
          <a:sx n="103" d="100"/>
          <a:sy n="103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7E127-1EBA-4CCB-BFF5-D8EE72D6061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52AF9-1A51-4242-B23A-B41D0660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67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01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Hold up two pieces of paper with the letter A printed on them. (Print out the congruency doc and cut the first page in half.) Ask if they are the identical.</a:t>
            </a:r>
          </a:p>
          <a:p>
            <a:r>
              <a:rPr lang="en-AU" dirty="0"/>
              <a:t>Move one (translate) and ask again if they are identical</a:t>
            </a:r>
          </a:p>
          <a:p>
            <a:r>
              <a:rPr lang="en-AU" dirty="0"/>
              <a:t>Move one (rotate) and ask again if they are identical</a:t>
            </a:r>
          </a:p>
          <a:p>
            <a:r>
              <a:rPr lang="en-AU" dirty="0"/>
              <a:t>Move on (reflect) and ask again if they are identical</a:t>
            </a:r>
          </a:p>
          <a:p>
            <a:r>
              <a:rPr lang="en-AU" dirty="0"/>
              <a:t>Do a combination of translation, rotation and reflection and ask again if they are identical</a:t>
            </a:r>
          </a:p>
          <a:p>
            <a:r>
              <a:rPr lang="en-AU" dirty="0"/>
              <a:t>Explicitly state that you have translated, rotated and reflected the image and it is identical</a:t>
            </a:r>
          </a:p>
          <a:p>
            <a:endParaRPr lang="en-AU" dirty="0"/>
          </a:p>
          <a:p>
            <a:r>
              <a:rPr lang="en-AU" dirty="0"/>
              <a:t>Now hold up the single big A with one of the smaller A’s and ask if they are still identical – they are no longer identical. If something has been enlarged, shrunk or stretched it is no longer identical.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52AF9-1A51-4242-B23A-B41D066004D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5426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27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Move to Freefall worksheet </a:t>
            </a:r>
            <a:r>
              <a:rPr lang="en-AU"/>
              <a:t>congruence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52AF9-1A51-4242-B23A-B41D066004D3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3118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5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925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643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859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14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690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09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68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121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67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20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967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017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9471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5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37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88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Topic: Congruency</a:t>
            </a:r>
            <a:b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EQ: How do I know if two shapes are congruent?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8318" y="1466068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8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77FD-3BB7-412D-9B3F-03A870EB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52583"/>
            <a:ext cx="3364345" cy="925945"/>
          </a:xfrm>
        </p:spPr>
        <p:txBody>
          <a:bodyPr/>
          <a:lstStyle/>
          <a:p>
            <a:r>
              <a:rPr lang="en-US" dirty="0"/>
              <a:t>5 Questions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A6BF8-CBDD-4230-BF50-4016881AD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4529" y="2019520"/>
                <a:ext cx="10577855" cy="4919905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2800" b="0" i="0" smtClean="0">
                        <a:latin typeface="Cambria Math" panose="02040503050406030204" pitchFamily="18" charset="0"/>
                      </a:rPr>
                      <m:t>Calculate</m:t>
                    </m:r>
                    <m:r>
                      <a:rPr lang="en-CA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%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8</m:t>
                    </m:r>
                  </m:oMath>
                </a14:m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Calculate 8% of 25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 What do you notice? Which would be easier to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	   calculate mentally?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AutoNum type="arabicPeriod" startAt="4"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 Simplify 27:36</a:t>
                </a:r>
              </a:p>
              <a:p>
                <a:pPr marL="0" indent="0">
                  <a:buNone/>
                </a:pP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5.     </a:t>
                </a:r>
                <a:r>
                  <a:rPr lang="en-AU" sz="28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Complete your summary from last lesson.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AU" sz="1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A6BF8-CBDD-4230-BF50-4016881AD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4529" y="2019520"/>
                <a:ext cx="10577855" cy="4919905"/>
              </a:xfrm>
              <a:blipFill>
                <a:blip r:embed="rId2"/>
                <a:stretch>
                  <a:fillRect l="-1200" t="-1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0D00516-21C7-4483-A811-6D9731CC6C78}"/>
              </a:ext>
            </a:extLst>
          </p:cNvPr>
          <p:cNvSpPr txBox="1"/>
          <p:nvPr/>
        </p:nvSpPr>
        <p:spPr>
          <a:xfrm>
            <a:off x="1334529" y="409882"/>
            <a:ext cx="93046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Topic: Congruency</a:t>
            </a:r>
          </a:p>
          <a:p>
            <a:r>
              <a:rPr lang="en-US" sz="3000" dirty="0"/>
              <a:t>EQ: How do I know if two shapes are 	congruent?</a:t>
            </a:r>
            <a:endParaRPr lang="en-AU" sz="3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32EFBC-2836-48DA-9FE7-985DC7A877E1}"/>
              </a:ext>
            </a:extLst>
          </p:cNvPr>
          <p:cNvCxnSpPr/>
          <p:nvPr/>
        </p:nvCxnSpPr>
        <p:spPr>
          <a:xfrm>
            <a:off x="111452" y="1452583"/>
            <a:ext cx="1284778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9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34676" y="162830"/>
            <a:ext cx="73084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FF9900"/>
                </a:solidFill>
                <a:latin typeface="Bodoni MT" panose="02070603080606020203" pitchFamily="18" charset="0"/>
              </a:rPr>
              <a:t>Congruence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759" y="1842220"/>
            <a:ext cx="8943390" cy="50157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569" y="2523780"/>
            <a:ext cx="29531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80" dirty="0"/>
              <a:t>Which shapes are the same?</a:t>
            </a:r>
          </a:p>
          <a:p>
            <a:endParaRPr lang="en-AU" sz="2880" dirty="0"/>
          </a:p>
          <a:p>
            <a:r>
              <a:rPr lang="en-AU" sz="2880" dirty="0"/>
              <a:t>Can you pair them up?</a:t>
            </a:r>
          </a:p>
        </p:txBody>
      </p:sp>
      <p:sp>
        <p:nvSpPr>
          <p:cNvPr id="13" name="Oval 12"/>
          <p:cNvSpPr/>
          <p:nvPr/>
        </p:nvSpPr>
        <p:spPr>
          <a:xfrm>
            <a:off x="3751384" y="4958714"/>
            <a:ext cx="508783" cy="5173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3733799" y="2265124"/>
            <a:ext cx="508783" cy="5173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7819291" y="3990735"/>
            <a:ext cx="508783" cy="5173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6673755" y="2237937"/>
            <a:ext cx="508783" cy="51731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5757010" y="5710312"/>
            <a:ext cx="508783" cy="51731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8927249" y="2523780"/>
            <a:ext cx="508783" cy="51731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0912627" y="3013905"/>
            <a:ext cx="508783" cy="5173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7262745" y="5710312"/>
            <a:ext cx="508783" cy="5173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57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34676" y="162830"/>
            <a:ext cx="73084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FF9900"/>
                </a:solidFill>
                <a:latin typeface="Bodoni MT" panose="02070603080606020203" pitchFamily="18" charset="0"/>
              </a:rPr>
              <a:t>Congruence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856FF8-4588-4B4E-A095-7BAEC5AA66BB}"/>
              </a:ext>
            </a:extLst>
          </p:cNvPr>
          <p:cNvSpPr txBox="1"/>
          <p:nvPr/>
        </p:nvSpPr>
        <p:spPr>
          <a:xfrm>
            <a:off x="3044414" y="1979407"/>
            <a:ext cx="54971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800" dirty="0"/>
              <a:t>A vs A</a:t>
            </a:r>
          </a:p>
        </p:txBody>
      </p:sp>
    </p:spTree>
    <p:extLst>
      <p:ext uri="{BB962C8B-B14F-4D97-AF65-F5344CB8AC3E}">
        <p14:creationId xmlns:p14="http://schemas.microsoft.com/office/powerpoint/2010/main" val="2783779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08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Congruence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know if </a:t>
            </a:r>
            <a:r>
              <a:rPr lang="en-AU" sz="2399" b="1">
                <a:solidFill>
                  <a:prstClr val="black"/>
                </a:solidFill>
                <a:latin typeface="Kiwi School Handwriting" panose="00000500000000000000" pitchFamily="2" charset="0"/>
              </a:rPr>
              <a:t>two shapes 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are congruent?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FFA2FBA-9826-45D0-A46F-1CB437FB0EC3}"/>
              </a:ext>
            </a:extLst>
          </p:cNvPr>
          <p:cNvSpPr txBox="1"/>
          <p:nvPr/>
        </p:nvSpPr>
        <p:spPr>
          <a:xfrm>
            <a:off x="0" y="1580870"/>
            <a:ext cx="18475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Congruent Shapes?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3F9CA1-C27B-4E7C-A786-F74836D45B7E}"/>
              </a:ext>
            </a:extLst>
          </p:cNvPr>
          <p:cNvSpPr/>
          <p:nvPr/>
        </p:nvSpPr>
        <p:spPr>
          <a:xfrm>
            <a:off x="2000107" y="1580870"/>
            <a:ext cx="1000635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Congruent shapes have the </a:t>
            </a:r>
            <a:r>
              <a:rPr lang="en-US" sz="2800" b="1" dirty="0"/>
              <a:t>same shape and size</a:t>
            </a:r>
            <a:r>
              <a:rPr lang="en-US" sz="2800" dirty="0"/>
              <a:t>. They can fit </a:t>
            </a:r>
            <a:r>
              <a:rPr lang="en-US" sz="2800" b="1" i="1" dirty="0"/>
              <a:t>exactly</a:t>
            </a:r>
            <a:r>
              <a:rPr lang="en-US" sz="2800" dirty="0"/>
              <a:t> on top of each other.</a:t>
            </a:r>
          </a:p>
          <a:p>
            <a:endParaRPr lang="en-US" sz="2800" dirty="0"/>
          </a:p>
          <a:p>
            <a:r>
              <a:rPr lang="en-GB" sz="2800" dirty="0"/>
              <a:t>Two figures are congruent if one of them can be transformed to the other using the transformations: reflection, translation and rotation.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If something is enlarged, shrunk or stretched it is </a:t>
            </a:r>
            <a:r>
              <a:rPr lang="en-US" sz="2800" b="1" dirty="0"/>
              <a:t>no longer </a:t>
            </a:r>
            <a:r>
              <a:rPr lang="en-US" sz="2800" dirty="0"/>
              <a:t>congruent.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39433-FFEA-43AC-8A8A-729A10692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912" y="5670439"/>
            <a:ext cx="79533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3BFD0-A631-44A5-91BE-D67904D0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086" y="69739"/>
            <a:ext cx="9464040" cy="1325563"/>
          </a:xfrm>
        </p:spPr>
        <p:txBody>
          <a:bodyPr/>
          <a:lstStyle/>
          <a:p>
            <a:r>
              <a:rPr lang="en-AU" dirty="0"/>
              <a:t>For example:</a:t>
            </a:r>
          </a:p>
        </p:txBody>
      </p:sp>
      <p:sp>
        <p:nvSpPr>
          <p:cNvPr id="5" name="Star: 7 Points 4">
            <a:extLst>
              <a:ext uri="{FF2B5EF4-FFF2-40B4-BE49-F238E27FC236}">
                <a16:creationId xmlns:a16="http://schemas.microsoft.com/office/drawing/2014/main" id="{1154A42F-33D2-48FD-BE84-D4D90E07C70F}"/>
              </a:ext>
            </a:extLst>
          </p:cNvPr>
          <p:cNvSpPr/>
          <p:nvPr/>
        </p:nvSpPr>
        <p:spPr>
          <a:xfrm>
            <a:off x="1261903" y="2311223"/>
            <a:ext cx="1703070" cy="1463040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6" name="Star: 7 Points 5">
            <a:extLst>
              <a:ext uri="{FF2B5EF4-FFF2-40B4-BE49-F238E27FC236}">
                <a16:creationId xmlns:a16="http://schemas.microsoft.com/office/drawing/2014/main" id="{56707A9A-8526-49E4-A6CD-38F5CC211081}"/>
              </a:ext>
            </a:extLst>
          </p:cNvPr>
          <p:cNvSpPr/>
          <p:nvPr/>
        </p:nvSpPr>
        <p:spPr>
          <a:xfrm rot="993291">
            <a:off x="2831884" y="2265680"/>
            <a:ext cx="1703070" cy="1463040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7" name="Lightning Bolt 6">
            <a:extLst>
              <a:ext uri="{FF2B5EF4-FFF2-40B4-BE49-F238E27FC236}">
                <a16:creationId xmlns:a16="http://schemas.microsoft.com/office/drawing/2014/main" id="{5FF01CDF-887F-464D-B216-700F8B5C51AB}"/>
              </a:ext>
            </a:extLst>
          </p:cNvPr>
          <p:cNvSpPr/>
          <p:nvPr/>
        </p:nvSpPr>
        <p:spPr>
          <a:xfrm>
            <a:off x="4326347" y="2112839"/>
            <a:ext cx="1623060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CE636771-D1E3-42BC-8C8A-290671A76EB6}"/>
              </a:ext>
            </a:extLst>
          </p:cNvPr>
          <p:cNvSpPr/>
          <p:nvPr/>
        </p:nvSpPr>
        <p:spPr>
          <a:xfrm flipH="1">
            <a:off x="5956027" y="2353248"/>
            <a:ext cx="1586526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381D818B-95A6-4C62-B6AC-EC98451210D2}"/>
              </a:ext>
            </a:extLst>
          </p:cNvPr>
          <p:cNvSpPr/>
          <p:nvPr/>
        </p:nvSpPr>
        <p:spPr>
          <a:xfrm>
            <a:off x="7702246" y="2366571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DFE37083-335D-4B19-880B-58D3E8CD66E6}"/>
              </a:ext>
            </a:extLst>
          </p:cNvPr>
          <p:cNvSpPr/>
          <p:nvPr/>
        </p:nvSpPr>
        <p:spPr>
          <a:xfrm>
            <a:off x="8924929" y="3179612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2" name="Star: 7 Points 11">
            <a:extLst>
              <a:ext uri="{FF2B5EF4-FFF2-40B4-BE49-F238E27FC236}">
                <a16:creationId xmlns:a16="http://schemas.microsoft.com/office/drawing/2014/main" id="{70950C93-2398-4278-8A84-CF8F15AAA1CA}"/>
              </a:ext>
            </a:extLst>
          </p:cNvPr>
          <p:cNvSpPr/>
          <p:nvPr/>
        </p:nvSpPr>
        <p:spPr>
          <a:xfrm>
            <a:off x="1009804" y="4915810"/>
            <a:ext cx="1703070" cy="1253755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3" name="Star: 7 Points 12">
            <a:extLst>
              <a:ext uri="{FF2B5EF4-FFF2-40B4-BE49-F238E27FC236}">
                <a16:creationId xmlns:a16="http://schemas.microsoft.com/office/drawing/2014/main" id="{471D2567-293E-42B1-AAC9-6E6CC05E56FC}"/>
              </a:ext>
            </a:extLst>
          </p:cNvPr>
          <p:cNvSpPr/>
          <p:nvPr/>
        </p:nvSpPr>
        <p:spPr>
          <a:xfrm rot="993291">
            <a:off x="2956775" y="5133094"/>
            <a:ext cx="722153" cy="563803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4" name="Lightning Bolt 13">
            <a:extLst>
              <a:ext uri="{FF2B5EF4-FFF2-40B4-BE49-F238E27FC236}">
                <a16:creationId xmlns:a16="http://schemas.microsoft.com/office/drawing/2014/main" id="{25BDA5A9-9946-4033-8C71-1924335CF5BD}"/>
              </a:ext>
            </a:extLst>
          </p:cNvPr>
          <p:cNvSpPr/>
          <p:nvPr/>
        </p:nvSpPr>
        <p:spPr>
          <a:xfrm flipH="1">
            <a:off x="5311570" y="4768655"/>
            <a:ext cx="2056082" cy="1579550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5" name="Lightning Bolt 14">
            <a:extLst>
              <a:ext uri="{FF2B5EF4-FFF2-40B4-BE49-F238E27FC236}">
                <a16:creationId xmlns:a16="http://schemas.microsoft.com/office/drawing/2014/main" id="{314FBD87-17F3-4C54-A20E-235EC07E207D}"/>
              </a:ext>
            </a:extLst>
          </p:cNvPr>
          <p:cNvSpPr/>
          <p:nvPr/>
        </p:nvSpPr>
        <p:spPr>
          <a:xfrm rot="20563963">
            <a:off x="4529864" y="4614088"/>
            <a:ext cx="379344" cy="1857198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C37960AB-7070-46E8-9B45-4BA3B3C8A175}"/>
              </a:ext>
            </a:extLst>
          </p:cNvPr>
          <p:cNvSpPr/>
          <p:nvPr/>
        </p:nvSpPr>
        <p:spPr>
          <a:xfrm>
            <a:off x="7788218" y="4785735"/>
            <a:ext cx="2125980" cy="943828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8A1A6CD8-1E8D-4993-B479-F99FD952D68E}"/>
              </a:ext>
            </a:extLst>
          </p:cNvPr>
          <p:cNvSpPr/>
          <p:nvPr/>
        </p:nvSpPr>
        <p:spPr>
          <a:xfrm>
            <a:off x="9987919" y="5542687"/>
            <a:ext cx="1438636" cy="236984"/>
          </a:xfrm>
          <a:prstGeom prst="cloud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16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C3885F-D7DD-4FA0-8EC9-6C2363622420}"/>
              </a:ext>
            </a:extLst>
          </p:cNvPr>
          <p:cNvSpPr txBox="1"/>
          <p:nvPr/>
        </p:nvSpPr>
        <p:spPr>
          <a:xfrm>
            <a:off x="2312915" y="1365069"/>
            <a:ext cx="1304115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47A00C-EC0F-4467-A725-CDFF1D2C50E8}"/>
              </a:ext>
            </a:extLst>
          </p:cNvPr>
          <p:cNvSpPr txBox="1"/>
          <p:nvPr/>
        </p:nvSpPr>
        <p:spPr>
          <a:xfrm>
            <a:off x="5553038" y="1582545"/>
            <a:ext cx="426282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327B3-7DA1-42C4-B78D-BB4A5E194CEF}"/>
              </a:ext>
            </a:extLst>
          </p:cNvPr>
          <p:cNvSpPr txBox="1"/>
          <p:nvPr/>
        </p:nvSpPr>
        <p:spPr>
          <a:xfrm>
            <a:off x="8118951" y="2660138"/>
            <a:ext cx="426282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AU" sz="1104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75E481-282E-46F1-9E8A-066D00C126F0}"/>
              </a:ext>
            </a:extLst>
          </p:cNvPr>
          <p:cNvSpPr txBox="1"/>
          <p:nvPr/>
        </p:nvSpPr>
        <p:spPr>
          <a:xfrm>
            <a:off x="2290025" y="5414995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B776F2-975B-418A-B7C7-211A2D221A70}"/>
              </a:ext>
            </a:extLst>
          </p:cNvPr>
          <p:cNvSpPr txBox="1"/>
          <p:nvPr/>
        </p:nvSpPr>
        <p:spPr>
          <a:xfrm>
            <a:off x="4969059" y="4222683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76C567-1EF6-447B-AE6E-0733866D8850}"/>
              </a:ext>
            </a:extLst>
          </p:cNvPr>
          <p:cNvSpPr txBox="1"/>
          <p:nvPr/>
        </p:nvSpPr>
        <p:spPr>
          <a:xfrm>
            <a:off x="9110099" y="5257649"/>
            <a:ext cx="1394316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4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AU" sz="1104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1"/>
      <p:bldP spid="20" grpId="1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BEAEC4-F3C1-4AF3-8E4C-41B83FB4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89" y="0"/>
            <a:ext cx="11208854" cy="68605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FDD862-6FFE-4ADB-AD65-A9234B1F33BA}"/>
              </a:ext>
            </a:extLst>
          </p:cNvPr>
          <p:cNvSpPr/>
          <p:nvPr/>
        </p:nvSpPr>
        <p:spPr>
          <a:xfrm>
            <a:off x="638589" y="3949148"/>
            <a:ext cx="7246454" cy="11131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44ACA-C3E5-46C8-8019-0CCF2656824B}"/>
              </a:ext>
            </a:extLst>
          </p:cNvPr>
          <p:cNvSpPr/>
          <p:nvPr/>
        </p:nvSpPr>
        <p:spPr>
          <a:xfrm>
            <a:off x="8265215" y="3949148"/>
            <a:ext cx="2588315" cy="14179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AA6E22-7FE7-4713-BC94-C268870562AD}"/>
              </a:ext>
            </a:extLst>
          </p:cNvPr>
          <p:cNvSpPr/>
          <p:nvPr/>
        </p:nvSpPr>
        <p:spPr>
          <a:xfrm>
            <a:off x="638589" y="5267739"/>
            <a:ext cx="7246454" cy="11131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8A1C28-6144-448F-8A49-CD15B372C9D6}"/>
              </a:ext>
            </a:extLst>
          </p:cNvPr>
          <p:cNvSpPr/>
          <p:nvPr/>
        </p:nvSpPr>
        <p:spPr>
          <a:xfrm>
            <a:off x="8265215" y="5404870"/>
            <a:ext cx="2707585" cy="1417982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181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63EF57-B56F-43A7-926E-359F00DA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842" y="375139"/>
            <a:ext cx="5850315" cy="334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F732A3-C282-4157-8FD3-F338A05F4D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3395"/>
          <a:stretch/>
        </p:blipFill>
        <p:spPr>
          <a:xfrm>
            <a:off x="2601216" y="3877257"/>
            <a:ext cx="7517808" cy="199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3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666" y="1909727"/>
            <a:ext cx="10344667" cy="4027247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Century Gothic" panose="020B0502020202020204" pitchFamily="34" charset="0"/>
              </a:rPr>
              <a:t>Complete the worksheet and then glue onto your task page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1774</TotalTime>
  <Words>373</Words>
  <Application>Microsoft Macintosh PowerPoint</Application>
  <PresentationFormat>Widescreen</PresentationFormat>
  <Paragraphs>58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Bodoni MT</vt:lpstr>
      <vt:lpstr>Calibri</vt:lpstr>
      <vt:lpstr>Cambria Math</vt:lpstr>
      <vt:lpstr>Century Gothic</vt:lpstr>
      <vt:lpstr>DJB Fancy Nancy</vt:lpstr>
      <vt:lpstr>Kiwi School Handwriting</vt:lpstr>
      <vt:lpstr>Wingdings 3</vt:lpstr>
      <vt:lpstr>Wisp</vt:lpstr>
      <vt:lpstr>Topic: Congruency EQ: How do I know if two shapes are congruent?</vt:lpstr>
      <vt:lpstr>5 Questions</vt:lpstr>
      <vt:lpstr>PowerPoint Presentation</vt:lpstr>
      <vt:lpstr>PowerPoint Presentation</vt:lpstr>
      <vt:lpstr>PowerPoint Presentation</vt:lpstr>
      <vt:lpstr>For example: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Congruent triangles</dc:title>
  <dc:creator>Nine Labuschagne</dc:creator>
  <cp:lastModifiedBy>SUMMERS Brad [Baldivis Secondary College]</cp:lastModifiedBy>
  <cp:revision>20</cp:revision>
  <dcterms:created xsi:type="dcterms:W3CDTF">2017-11-28T00:00:34Z</dcterms:created>
  <dcterms:modified xsi:type="dcterms:W3CDTF">2021-12-04T13:26:53Z</dcterms:modified>
</cp:coreProperties>
</file>
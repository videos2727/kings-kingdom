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1"/>
  </p:sldMasterIdLst>
  <p:notesMasterIdLst>
    <p:notesMasterId r:id="rId13"/>
  </p:notesMasterIdLst>
  <p:sldIdLst>
    <p:sldId id="257" r:id="rId2"/>
    <p:sldId id="395" r:id="rId3"/>
    <p:sldId id="259" r:id="rId4"/>
    <p:sldId id="266" r:id="rId5"/>
    <p:sldId id="267" r:id="rId6"/>
    <p:sldId id="268" r:id="rId7"/>
    <p:sldId id="269" r:id="rId8"/>
    <p:sldId id="270" r:id="rId9"/>
    <p:sldId id="261" r:id="rId10"/>
    <p:sldId id="260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E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84648" autoAdjust="0"/>
  </p:normalViewPr>
  <p:slideViewPr>
    <p:cSldViewPr snapToGrid="0">
      <p:cViewPr varScale="1">
        <p:scale>
          <a:sx n="103" d="100"/>
          <a:sy n="103" d="100"/>
        </p:scale>
        <p:origin x="9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77E127-1EBA-4CCB-BFF5-D8EE72D6061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52AF9-1A51-4242-B23A-B41D066004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67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01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27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84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52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40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8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10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Move to Freefall worksheet congruence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52AF9-1A51-4242-B23A-B41D066004D3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3118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54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925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643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8594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5147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6905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809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68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121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667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87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203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2967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017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9471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5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337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0FC22-BCBD-492B-88F3-473F1F2A4F78}" type="datetimeFigureOut">
              <a:rPr lang="en-AU" smtClean="0"/>
              <a:t>4/12/21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886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Topic: Congruence</a:t>
            </a:r>
            <a:b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</a:br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EQ: How can we prove two triangles are congruent?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8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77FD-3BB7-412D-9B3F-03A870EB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52583"/>
            <a:ext cx="3364345" cy="925945"/>
          </a:xfrm>
        </p:spPr>
        <p:txBody>
          <a:bodyPr/>
          <a:lstStyle/>
          <a:p>
            <a:r>
              <a:rPr lang="en-US" dirty="0"/>
              <a:t>5 Questions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A6BF8-CBDD-4230-BF50-4016881ADE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4529" y="2019520"/>
                <a:ext cx="10577855" cy="4919905"/>
              </a:xfrm>
            </p:spPr>
            <p:txBody>
              <a:bodyPr>
                <a:normAutofit fontScale="700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Your</m:t>
                    </m:r>
                    <m: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morning</m:t>
                    </m:r>
                    <m: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bus</m:t>
                    </m:r>
                    <m: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ride</m:t>
                    </m:r>
                    <m: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starts</m:t>
                    </m:r>
                    <m: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at</m:t>
                    </m:r>
                    <m: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7:48 </m:t>
                    </m:r>
                    <m:r>
                      <m:rPr>
                        <m:sty m:val="p"/>
                      </m:rP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and</m:t>
                    </m:r>
                    <m: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takes</m:t>
                    </m:r>
                    <m: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23 </m:t>
                    </m:r>
                    <m:r>
                      <m:rPr>
                        <m:sty m:val="p"/>
                      </m:rP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minutes</m:t>
                    </m:r>
                    <m: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 </m:t>
                    </m:r>
                    <m:r>
                      <m:rPr>
                        <m:sty m:val="p"/>
                      </m:rP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What</m:t>
                    </m:r>
                    <m: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time</m:t>
                    </m:r>
                    <m: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does</m:t>
                    </m:r>
                    <m: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it</m:t>
                    </m:r>
                    <m: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end</m:t>
                    </m:r>
                    <m:r>
                      <a:rPr lang="en-CA" sz="31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?</m:t>
                    </m:r>
                  </m:oMath>
                </a14:m>
                <a:endParaRPr lang="en-CA" sz="31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sz="3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 What does AM stand for?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sz="3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sz="3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457200" indent="-457200"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en-US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  Jade drives 450km in 5hrs. Convert this to km/hr.</a:t>
                </a:r>
              </a:p>
              <a:p>
                <a:pPr marL="457200" indent="-457200">
                  <a:spcBef>
                    <a:spcPts val="0"/>
                  </a:spcBef>
                  <a:buFont typeface="+mj-lt"/>
                  <a:buAutoNum type="arabicPeriod"/>
                </a:pPr>
                <a:endParaRPr lang="en-US" sz="3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sz="3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514350" indent="-514350">
                  <a:buAutoNum type="arabicPeriod" startAt="4"/>
                </a:pPr>
                <a:r>
                  <a:rPr lang="en-US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  Umberto wins $500 and is splitting the money with his coworkers, Tony and Emily. 	He is splitting it in a 5:3:2 (</a:t>
                </a:r>
                <a:r>
                  <a:rPr lang="en-US" sz="31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Umberto:Tony:Emily</a:t>
                </a:r>
                <a:r>
                  <a:rPr lang="en-US" sz="3100" dirty="0">
                    <a:latin typeface="Arial" panose="020B0604020202020204" pitchFamily="34" charset="0"/>
                    <a:cs typeface="Arial" panose="020B0604020202020204" pitchFamily="34" charset="0"/>
                  </a:rPr>
                  <a:t>). How much does each person get?</a:t>
                </a:r>
              </a:p>
              <a:p>
                <a:pPr marL="0" indent="0">
                  <a:buNone/>
                </a:pPr>
                <a:endParaRPr lang="en-US" sz="3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sz="31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5.     </a:t>
                </a:r>
                <a:r>
                  <a:rPr lang="en-AU" sz="31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Complete your summary from last lesson.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AU" sz="14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EA6BF8-CBDD-4230-BF50-4016881AD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4529" y="2019520"/>
                <a:ext cx="10577855" cy="4919905"/>
              </a:xfrm>
              <a:blipFill>
                <a:blip r:embed="rId2"/>
                <a:stretch>
                  <a:fillRect l="-840" t="-1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0D00516-21C7-4483-A811-6D9731CC6C78}"/>
              </a:ext>
            </a:extLst>
          </p:cNvPr>
          <p:cNvSpPr txBox="1"/>
          <p:nvPr/>
        </p:nvSpPr>
        <p:spPr>
          <a:xfrm>
            <a:off x="1334529" y="409882"/>
            <a:ext cx="93046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Topic: Congruency</a:t>
            </a:r>
          </a:p>
          <a:p>
            <a:r>
              <a:rPr lang="en-US" sz="3000" dirty="0"/>
              <a:t>EQ: How do I know if two shapes are 	congruent?</a:t>
            </a:r>
            <a:endParaRPr lang="en-AU" sz="3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32EFBC-2836-48DA-9FE7-985DC7A877E1}"/>
              </a:ext>
            </a:extLst>
          </p:cNvPr>
          <p:cNvCxnSpPr/>
          <p:nvPr/>
        </p:nvCxnSpPr>
        <p:spPr>
          <a:xfrm>
            <a:off x="111452" y="1452583"/>
            <a:ext cx="12847782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98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08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Congruence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we prove two triangles are congruent?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FFA2FBA-9826-45D0-A46F-1CB437FB0EC3}"/>
              </a:ext>
            </a:extLst>
          </p:cNvPr>
          <p:cNvSpPr txBox="1"/>
          <p:nvPr/>
        </p:nvSpPr>
        <p:spPr>
          <a:xfrm>
            <a:off x="0" y="1580870"/>
            <a:ext cx="184752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Congruent Shapes?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3F9CA1-C27B-4E7C-A786-F74836D45B7E}"/>
              </a:ext>
            </a:extLst>
          </p:cNvPr>
          <p:cNvSpPr/>
          <p:nvPr/>
        </p:nvSpPr>
        <p:spPr>
          <a:xfrm>
            <a:off x="2000107" y="1580870"/>
            <a:ext cx="100063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Congruent shapes have the </a:t>
            </a:r>
            <a:r>
              <a:rPr lang="en-US" sz="2800" b="1" dirty="0"/>
              <a:t>same shape and size</a:t>
            </a:r>
            <a:r>
              <a:rPr lang="en-US" sz="2800" dirty="0"/>
              <a:t>. They can fit </a:t>
            </a:r>
            <a:r>
              <a:rPr lang="en-US" sz="2800" b="1" i="1" dirty="0"/>
              <a:t>exactly</a:t>
            </a:r>
            <a:r>
              <a:rPr lang="en-US" sz="2800" dirty="0"/>
              <a:t> on top of each other.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439433-FFEA-43AC-8A8A-729A10692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105" y="2771775"/>
            <a:ext cx="7953375" cy="6572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6C4D8B-0062-476A-BD77-710C74ED9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433" y="3936513"/>
            <a:ext cx="10514717" cy="53587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F44C0FE-7E3B-4FB4-BF89-95D99C4FE499}"/>
              </a:ext>
            </a:extLst>
          </p:cNvPr>
          <p:cNvSpPr/>
          <p:nvPr/>
        </p:nvSpPr>
        <p:spPr>
          <a:xfrm>
            <a:off x="2000107" y="4970618"/>
            <a:ext cx="100063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There are 4 rules we can use to show congruence.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SSS Rule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49" y="1574175"/>
            <a:ext cx="11071190" cy="1665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Side, Side, Side Rule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Congruent if all three sides of the triangles are </a:t>
            </a:r>
            <a:r>
              <a:rPr lang="en-AU" sz="2800" b="1" dirty="0">
                <a:latin typeface="Century Gothic" panose="020B0502020202020204" pitchFamily="34" charset="0"/>
              </a:rPr>
              <a:t>equal in length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97BA3D-D965-4314-9C3C-8DB8B3784F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196" b="13929"/>
          <a:stretch/>
        </p:blipFill>
        <p:spPr>
          <a:xfrm>
            <a:off x="3569434" y="3823840"/>
            <a:ext cx="8622566" cy="2919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636A85-8E84-4F7B-A3B2-A0B1F2098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49" y="4024279"/>
            <a:ext cx="35052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33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SAS Rule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364" y="1574174"/>
            <a:ext cx="10656805" cy="18548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Side, Angle, Side Rule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Congruent if two matching sides have </a:t>
            </a:r>
            <a:r>
              <a:rPr lang="en-AU" sz="2800" b="1" dirty="0">
                <a:latin typeface="Century Gothic" panose="020B0502020202020204" pitchFamily="34" charset="0"/>
              </a:rPr>
              <a:t>equal lengths,</a:t>
            </a:r>
            <a:r>
              <a:rPr lang="en-AU" sz="2800" dirty="0">
                <a:latin typeface="Century Gothic" panose="020B0502020202020204" pitchFamily="34" charset="0"/>
              </a:rPr>
              <a:t> and the </a:t>
            </a:r>
            <a:r>
              <a:rPr lang="en-AU" sz="2800" b="1" dirty="0">
                <a:latin typeface="Century Gothic" panose="020B0502020202020204" pitchFamily="34" charset="0"/>
              </a:rPr>
              <a:t>angle in between </a:t>
            </a:r>
            <a:r>
              <a:rPr lang="en-AU" sz="2800" dirty="0">
                <a:latin typeface="Century Gothic" panose="020B0502020202020204" pitchFamily="34" charset="0"/>
              </a:rPr>
              <a:t>these two sides is the same</a:t>
            </a:r>
            <a:endParaRPr lang="en-AU" sz="28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56E43E-DA4F-4906-B5DF-B68149426C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197" r="4576" b="14547"/>
          <a:stretch/>
        </p:blipFill>
        <p:spPr>
          <a:xfrm>
            <a:off x="3742101" y="3880532"/>
            <a:ext cx="8290873" cy="26968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F04B35-7295-49C9-B3DC-3729ABFF8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45470"/>
            <a:ext cx="3931048" cy="231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5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ASA Rule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69" y="1331133"/>
            <a:ext cx="11434588" cy="2255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Angle, Side, Angle Rule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Congruent if two angles are the same and the side length in between the angles is the same</a:t>
            </a:r>
            <a:endParaRPr lang="en-AU" sz="28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4AC279-4ACE-460B-B6B8-DFFAF624E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764" y="3314063"/>
            <a:ext cx="5946193" cy="341906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11483B-73B0-4CAD-92DE-F514963ABDC2}"/>
              </a:ext>
            </a:extLst>
          </p:cNvPr>
          <p:cNvSpPr/>
          <p:nvPr/>
        </p:nvSpPr>
        <p:spPr>
          <a:xfrm>
            <a:off x="10813775" y="3220278"/>
            <a:ext cx="1113182" cy="1033670"/>
          </a:xfrm>
          <a:prstGeom prst="rect">
            <a:avLst/>
          </a:prstGeom>
          <a:solidFill>
            <a:srgbClr val="F5E9E7"/>
          </a:solidFill>
          <a:ln>
            <a:solidFill>
              <a:srgbClr val="F5E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69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AAS Rule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49" y="1574174"/>
            <a:ext cx="11786808" cy="2255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Angle, Angle, Side Rule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Congruent if two angles are the same and one side is matching</a:t>
            </a:r>
            <a:endParaRPr lang="en-AU" sz="28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4B4C70-033A-4F01-A296-ECD2205851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59" t="42760" r="3879" b="17837"/>
          <a:stretch/>
        </p:blipFill>
        <p:spPr>
          <a:xfrm>
            <a:off x="2090846" y="3482724"/>
            <a:ext cx="9730094" cy="303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04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RHS Rule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985" y="1574174"/>
            <a:ext cx="11342971" cy="2255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Right-Angle, Hypotenuse, Side Rule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Congruent if the hypotenuse and one matching side are equal in length. They also have a 90° angle equal. </a:t>
            </a:r>
            <a:endParaRPr lang="en-AU" sz="28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B8C942-8B5D-451C-B53B-B28ADD12AD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04" t="42097" r="3601" b="14276"/>
          <a:stretch/>
        </p:blipFill>
        <p:spPr>
          <a:xfrm>
            <a:off x="3025163" y="3716756"/>
            <a:ext cx="8901794" cy="313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8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1CFF9-930D-4C1E-A703-CEC33CF02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3311"/>
            <a:ext cx="12192000" cy="550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666" y="1909727"/>
            <a:ext cx="10344667" cy="4027247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Century Gothic" panose="020B0502020202020204" pitchFamily="34" charset="0"/>
              </a:rPr>
              <a:t>Complete the activity sheet as your exit pass</a:t>
            </a:r>
          </a:p>
          <a:p>
            <a:pPr marL="0" indent="0">
              <a:buNone/>
            </a:pPr>
            <a:endParaRPr lang="en-AU" sz="32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3200" dirty="0">
                <a:latin typeface="Century Gothic" panose="020B0502020202020204" pitchFamily="34" charset="0"/>
              </a:rPr>
              <a:t>(The HL column is the same as the RHS rule)</a:t>
            </a:r>
          </a:p>
          <a:p>
            <a:pPr marL="0" indent="0">
              <a:buNone/>
            </a:pPr>
            <a:endParaRPr lang="en-AU" sz="3200" dirty="0">
              <a:latin typeface="Century Gothic" panose="020B0502020202020204" pitchFamily="34" charset="0"/>
            </a:endParaRPr>
          </a:p>
          <a:p>
            <a:r>
              <a:rPr lang="en-AU" sz="3200" dirty="0">
                <a:latin typeface="Century Gothic" panose="020B0502020202020204" pitchFamily="34" charset="0"/>
              </a:rPr>
              <a:t>Get your teacher to check that you are correct before you glue in the triangles!! </a:t>
            </a:r>
          </a:p>
          <a:p>
            <a:pPr marL="0" indent="0">
              <a:buNone/>
            </a:pPr>
            <a:endParaRPr lang="en-AU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4671</TotalTime>
  <Words>510</Words>
  <Application>Microsoft Macintosh PowerPoint</Application>
  <PresentationFormat>Widescreen</PresentationFormat>
  <Paragraphs>87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Wingdings 3</vt:lpstr>
      <vt:lpstr>Wisp</vt:lpstr>
      <vt:lpstr>Topic: Congruence EQ: How can we prove two triangles are congruent?</vt:lpstr>
      <vt:lpstr>5 Questions</vt:lpstr>
      <vt:lpstr>PowerPoint Presentation</vt:lpstr>
      <vt:lpstr>SSS Rule</vt:lpstr>
      <vt:lpstr>SAS Rule</vt:lpstr>
      <vt:lpstr>ASA Rule</vt:lpstr>
      <vt:lpstr>AAS Rule</vt:lpstr>
      <vt:lpstr>RHS Rule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Congruent triangles</dc:title>
  <dc:creator>Nine Labuschagne</dc:creator>
  <cp:lastModifiedBy>SUMMERS Brad [Baldivis Secondary College]</cp:lastModifiedBy>
  <cp:revision>21</cp:revision>
  <dcterms:created xsi:type="dcterms:W3CDTF">2017-11-28T00:00:34Z</dcterms:created>
  <dcterms:modified xsi:type="dcterms:W3CDTF">2021-12-04T13:32:52Z</dcterms:modified>
</cp:coreProperties>
</file>
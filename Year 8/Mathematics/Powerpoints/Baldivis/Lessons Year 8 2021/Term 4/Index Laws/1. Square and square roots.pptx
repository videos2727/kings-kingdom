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14"/>
  </p:notesMasterIdLst>
  <p:sldIdLst>
    <p:sldId id="256" r:id="rId2"/>
    <p:sldId id="264" r:id="rId3"/>
    <p:sldId id="316" r:id="rId4"/>
    <p:sldId id="343" r:id="rId5"/>
    <p:sldId id="311" r:id="rId6"/>
    <p:sldId id="336" r:id="rId7"/>
    <p:sldId id="339" r:id="rId8"/>
    <p:sldId id="345" r:id="rId9"/>
    <p:sldId id="341" r:id="rId10"/>
    <p:sldId id="342" r:id="rId11"/>
    <p:sldId id="292" r:id="rId12"/>
    <p:sldId id="34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92" autoAdjust="0"/>
    <p:restoredTop sz="76042" autoAdjust="0"/>
  </p:normalViewPr>
  <p:slideViewPr>
    <p:cSldViewPr snapToGrid="0">
      <p:cViewPr varScale="1">
        <p:scale>
          <a:sx n="80" d="100"/>
          <a:sy n="80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9FF19-E951-4407-A751-7B80C5EDBDDF}" type="datetimeFigureOut">
              <a:rPr lang="en-AU" smtClean="0"/>
              <a:t>17/10/21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61EA-ED97-4E1D-81AF-4ED4BFC385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947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Answers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43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-23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16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D) 6000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will need grid paper for this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474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50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21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53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65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8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10/17/21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45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9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20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616CA0-919D-4A49-9C8A-62FDFB3A5183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6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469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10/17/21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3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10/17/21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puzzlewocky.com/math-fun/graeco-latin-square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7443-25D2-44EB-AFEF-1E571AE1A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742" y="750448"/>
            <a:ext cx="9340516" cy="2875067"/>
          </a:xfrm>
        </p:spPr>
        <p:txBody>
          <a:bodyPr>
            <a:noAutofit/>
          </a:bodyPr>
          <a:lstStyle/>
          <a:p>
            <a:r>
              <a:rPr lang="en-AU" sz="3200" dirty="0"/>
              <a:t>TOPIC: Index Laws</a:t>
            </a:r>
            <a:br>
              <a:rPr lang="en-AU" sz="3200" dirty="0"/>
            </a:br>
            <a:r>
              <a:rPr lang="en-AU" sz="3200" dirty="0"/>
              <a:t>EQ: What is the relationship between the squared number and finding the square root?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35E3D-A5AF-0740-AAEE-7CCC10EA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87" y="3180102"/>
            <a:ext cx="4543425" cy="33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42" y="275752"/>
            <a:ext cx="3355683" cy="1206506"/>
          </a:xfrm>
        </p:spPr>
        <p:txBody>
          <a:bodyPr>
            <a:normAutofit fontScale="90000"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400">
                    <a:latin typeface="Cambria Math" panose="02040503050406030204" pitchFamily="18" charset="0"/>
                  </a:rPr>
                  <a:t>Complete your summary from yesterday and highlight the important information.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>
                    <a:latin typeface="Calibri" panose="020F0502020204030204" pitchFamily="34" charset="0"/>
                    <a:cs typeface="Calibri" panose="020F0502020204030204" pitchFamily="34" charset="0"/>
                  </a:rPr>
                  <a:t>Murray 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has 36 red plums and 18 purple plums. What fraction of the plums are red?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27−50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4×4=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soccer match attracted a crowd of 17 221 people.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One third of the people at the match supported the away team.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 of these is the closest to the number of people at the match who supported the away team?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500	b) 600		c) 5000 	d) 6000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  <a:blipFill>
                <a:blip r:embed="rId5"/>
                <a:stretch>
                  <a:fillRect l="-925" t="-838" r="-925" b="-8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5061098" y="14747"/>
            <a:ext cx="7130903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relationship between the square number and finding the square root?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836318" y="102955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978776"/>
            <a:ext cx="5925310" cy="1174991"/>
          </a:xfrm>
        </p:spPr>
        <p:txBody>
          <a:bodyPr>
            <a:normAutofit/>
          </a:bodyPr>
          <a:lstStyle/>
          <a:p>
            <a:r>
              <a:rPr lang="en-AU" sz="2400" dirty="0"/>
              <a:t>Starter activity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672" y="2640692"/>
            <a:ext cx="5925310" cy="32552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9 squares.</a:t>
            </a:r>
          </a:p>
          <a:p>
            <a:pPr marL="0" indent="0">
              <a:buNone/>
            </a:pP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25 squares.</a:t>
            </a:r>
          </a:p>
          <a:p>
            <a:pPr marL="0" indent="0">
              <a:buNone/>
            </a:pP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</p:txBody>
      </p:sp>
      <p:pic>
        <p:nvPicPr>
          <p:cNvPr id="5" name="Picture 4" descr="A picture containing transport, aircraft, balloon, checker&#10;&#10;Description automatically generated">
            <a:extLst>
              <a:ext uri="{FF2B5EF4-FFF2-40B4-BE49-F238E27FC236}">
                <a16:creationId xmlns:a16="http://schemas.microsoft.com/office/drawing/2014/main" id="{9053E5D2-CE2A-40BF-9CBF-AADB4C127C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5082" r="17006" b="-1"/>
          <a:stretch/>
        </p:blipFill>
        <p:spPr>
          <a:xfrm>
            <a:off x="7534654" y="10"/>
            <a:ext cx="4657345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46F4B3-2521-4CE9-B801-FE9FD92C8DE3}"/>
              </a:ext>
            </a:extLst>
          </p:cNvPr>
          <p:cNvSpPr txBox="1"/>
          <p:nvPr/>
        </p:nvSpPr>
        <p:spPr>
          <a:xfrm>
            <a:off x="9607637" y="6657945"/>
            <a:ext cx="258436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4" tooltip="https://puzzlewocky.com/math-fun/graeco-latin-squar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7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8151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1DB7C6-2588-4501-8165-16C49DDDD774}"/>
              </a:ext>
            </a:extLst>
          </p:cNvPr>
          <p:cNvSpPr txBox="1"/>
          <p:nvPr/>
        </p:nvSpPr>
        <p:spPr>
          <a:xfrm>
            <a:off x="70606" y="1338237"/>
            <a:ext cx="20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number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/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×5=25</m:t>
                    </m:r>
                  </m:oMath>
                </a14:m>
                <a:r>
                  <a:rPr lang="en-AU" sz="2400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25 is a square number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blipFill>
                <a:blip r:embed="rId3"/>
                <a:stretch>
                  <a:fillRect l="-134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B8D165-3A4E-45AC-BF8E-0690CB07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723140"/>
              </p:ext>
            </p:extLst>
          </p:nvPr>
        </p:nvGraphicFramePr>
        <p:xfrm>
          <a:off x="8350221" y="1320829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94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/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 is another way to write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=25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that is by using index notation so we have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×5=</m:t>
                    </m:r>
                    <m:sSup>
                      <m:sSupPr>
                        <m:ctrlP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>
                  <a:solidFill>
                    <a:srgbClr val="FF0000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 notation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 convenient way to describe repeated multiplication.</a:t>
                </a:r>
                <a:endParaRPr lang="en-GB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blipFill>
                <a:blip r:embed="rId4"/>
                <a:stretch>
                  <a:fillRect l="-979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/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CDB0AF1-DCE3-4FE1-867E-FFBAC4743CC2}"/>
              </a:ext>
            </a:extLst>
          </p:cNvPr>
          <p:cNvSpPr txBox="1"/>
          <p:nvPr/>
        </p:nvSpPr>
        <p:spPr>
          <a:xfrm>
            <a:off x="7360907" y="4820420"/>
            <a:ext cx="1489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Exponent or index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506AE-EEA1-4919-85B7-8A616B9BE451}"/>
              </a:ext>
            </a:extLst>
          </p:cNvPr>
          <p:cNvSpPr txBox="1"/>
          <p:nvPr/>
        </p:nvSpPr>
        <p:spPr>
          <a:xfrm>
            <a:off x="3822182" y="5695483"/>
            <a:ext cx="148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C93C3B-D6DC-42DD-8A8C-A63B74E84DB5}"/>
              </a:ext>
            </a:extLst>
          </p:cNvPr>
          <p:cNvCxnSpPr/>
          <p:nvPr/>
        </p:nvCxnSpPr>
        <p:spPr>
          <a:xfrm flipV="1">
            <a:off x="4983133" y="5557087"/>
            <a:ext cx="1150189" cy="39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0EFCA9-1DE2-476D-9970-14D9543191CC}"/>
              </a:ext>
            </a:extLst>
          </p:cNvPr>
          <p:cNvCxnSpPr/>
          <p:nvPr/>
        </p:nvCxnSpPr>
        <p:spPr>
          <a:xfrm flipH="1">
            <a:off x="6898082" y="5063112"/>
            <a:ext cx="494581" cy="1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6255E1-7270-4F62-BDA1-FD0F3C965DFD}"/>
              </a:ext>
            </a:extLst>
          </p:cNvPr>
          <p:cNvSpPr txBox="1"/>
          <p:nvPr/>
        </p:nvSpPr>
        <p:spPr>
          <a:xfrm>
            <a:off x="89038" y="3250760"/>
            <a:ext cx="2098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80" t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77" t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(ANS)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=3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=4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=5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=6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80" t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=7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=8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=9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=10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77" t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the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root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/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a square with an area of 25 squares has a side length of 5.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 is the square root of 25.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inverse operation to squaring is to find the square root.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sz="2400" i="1">
                          <a:solidFill>
                            <a:srgbClr val="0070C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sz="2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blipFill>
                <a:blip r:embed="rId3"/>
                <a:stretch>
                  <a:fillRect l="-1062" t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2A5F4A8-314F-9742-87E1-F30ECE3FE599}"/>
              </a:ext>
            </a:extLst>
          </p:cNvPr>
          <p:cNvSpPr txBox="1"/>
          <p:nvPr/>
        </p:nvSpPr>
        <p:spPr>
          <a:xfrm>
            <a:off x="444871" y="5220107"/>
            <a:ext cx="1480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the cube root?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D43DD-EC29-7144-9143-730F4EB5F3DB}"/>
              </a:ext>
            </a:extLst>
          </p:cNvPr>
          <p:cNvSpPr txBox="1"/>
          <p:nvPr/>
        </p:nvSpPr>
        <p:spPr>
          <a:xfrm>
            <a:off x="466640" y="3603264"/>
            <a:ext cx="1506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a cube number?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9A048D-8E4E-8C41-A072-38217A074AB0}"/>
                  </a:ext>
                </a:extLst>
              </p:cNvPr>
              <p:cNvSpPr txBox="1"/>
              <p:nvPr/>
            </p:nvSpPr>
            <p:spPr>
              <a:xfrm>
                <a:off x="2478991" y="3653561"/>
                <a:ext cx="758694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value when a number is multiplied by itself three times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5 x 5 x 5 = 125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125 is a cube number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9A048D-8E4E-8C41-A072-38217A074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991" y="3653561"/>
                <a:ext cx="7586949" cy="1200329"/>
              </a:xfrm>
              <a:prstGeom prst="rect">
                <a:avLst/>
              </a:prstGeom>
              <a:blipFill>
                <a:blip r:embed="rId4"/>
                <a:stretch>
                  <a:fillRect l="-1338" t="-4167" r="-334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62A2B3-42D8-8546-A784-5AD377B8F66F}"/>
                  </a:ext>
                </a:extLst>
              </p:cNvPr>
              <p:cNvSpPr txBox="1"/>
              <p:nvPr/>
            </p:nvSpPr>
            <p:spPr>
              <a:xfrm>
                <a:off x="2478991" y="5169068"/>
                <a:ext cx="4132926" cy="882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sz="2400" i="1">
                          <a:solidFill>
                            <a:srgbClr val="0070C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sz="2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62A2B3-42D8-8546-A784-5AD377B8F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991" y="5169068"/>
                <a:ext cx="4132926" cy="882036"/>
              </a:xfrm>
              <a:prstGeom prst="rect">
                <a:avLst/>
              </a:prstGeom>
              <a:blipFill>
                <a:blip r:embed="rId5"/>
                <a:stretch>
                  <a:fillRect l="-2454" t="-5714" r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9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15023"/>
            <a:ext cx="9720072" cy="1499616"/>
          </a:xfrm>
        </p:spPr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87177"/>
            <a:ext cx="7729728" cy="1188720"/>
          </a:xfrm>
        </p:spPr>
        <p:txBody>
          <a:bodyPr/>
          <a:lstStyle/>
          <a:p>
            <a:r>
              <a:rPr lang="en-AU" dirty="0"/>
              <a:t>Task: Calculate the following (ANS)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548640"/>
            <a:ext cx="7729728" cy="1188720"/>
          </a:xfrm>
        </p:spPr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50065"/>
            <a:ext cx="9720073" cy="44592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600" dirty="0">
                <a:latin typeface="Calibri" panose="020F0502020204030204" pitchFamily="34" charset="0"/>
                <a:cs typeface="Calibri" panose="020F0502020204030204" pitchFamily="34" charset="0"/>
              </a:rPr>
              <a:t>Worksheet on roots and square roots.</a:t>
            </a:r>
          </a:p>
          <a:p>
            <a:pPr marL="0" indent="0">
              <a:buNone/>
            </a:pPr>
            <a:endParaRPr lang="en-A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600" dirty="0">
                <a:latin typeface="Calibri" panose="020F0502020204030204" pitchFamily="34" charset="0"/>
                <a:cs typeface="Calibri" panose="020F0502020204030204" pitchFamily="34" charset="0"/>
              </a:rPr>
              <a:t>Further tasks – </a:t>
            </a:r>
          </a:p>
          <a:p>
            <a:pPr marL="0" indent="0">
              <a:buNone/>
            </a:pPr>
            <a:r>
              <a:rPr lang="en-AU" sz="3600" dirty="0">
                <a:latin typeface="Calibri" panose="020F0502020204030204" pitchFamily="34" charset="0"/>
                <a:cs typeface="Calibri" panose="020F0502020204030204" pitchFamily="34" charset="0"/>
              </a:rPr>
              <a:t>Dwyer Book, Page 2 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548640"/>
            <a:ext cx="7729728" cy="1188720"/>
          </a:xfrm>
        </p:spPr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50065"/>
            <a:ext cx="9720073" cy="4459295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24, 7 ,30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Essential question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with colour and diagrams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Questions completed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Contents page filed in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Formula page filled in</a:t>
            </a:r>
          </a:p>
          <a:p>
            <a:pPr marL="0" indent="0">
              <a:buNone/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21047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{E35F0204-89D9-7243-9395-304FB6603C74}tf10001120</Template>
  <TotalTime>195</TotalTime>
  <Words>687</Words>
  <Application>Microsoft Macintosh PowerPoint</Application>
  <PresentationFormat>Widescreen</PresentationFormat>
  <Paragraphs>152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Gill Sans MT</vt:lpstr>
      <vt:lpstr>Wingdings</vt:lpstr>
      <vt:lpstr>Parcel</vt:lpstr>
      <vt:lpstr>TOPIC: Index Laws EQ: What is the relationship between the squared number and finding the square root?</vt:lpstr>
      <vt:lpstr>PowerPoint Presentation</vt:lpstr>
      <vt:lpstr>Five Questions (LHS)</vt:lpstr>
      <vt:lpstr>Starter activity </vt:lpstr>
      <vt:lpstr>PowerPoint Presentation</vt:lpstr>
      <vt:lpstr>Task: Calculate the following (LHS)</vt:lpstr>
      <vt:lpstr>Task: Calculate the following (ANS)</vt:lpstr>
      <vt:lpstr>PowerPoint Presentation</vt:lpstr>
      <vt:lpstr>Task: Calculate the following (LHS)</vt:lpstr>
      <vt:lpstr>Task: Calculate the following (ANS)</vt:lpstr>
      <vt:lpstr>TASK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Order of Operations EQ: How Do I use the Order of Operations in Mathematics?</dc:title>
  <dc:creator>Magdeline Lum</dc:creator>
  <cp:lastModifiedBy>DIXON Emily [Baldivis Secondary College]</cp:lastModifiedBy>
  <cp:revision>22</cp:revision>
  <dcterms:created xsi:type="dcterms:W3CDTF">2021-03-14T04:06:38Z</dcterms:created>
  <dcterms:modified xsi:type="dcterms:W3CDTF">2021-10-17T13:56:05Z</dcterms:modified>
</cp:coreProperties>
</file>
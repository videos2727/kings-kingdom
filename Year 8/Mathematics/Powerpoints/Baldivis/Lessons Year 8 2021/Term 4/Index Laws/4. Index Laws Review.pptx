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11"/>
  </p:notesMasterIdLst>
  <p:sldIdLst>
    <p:sldId id="357" r:id="rId2"/>
    <p:sldId id="355" r:id="rId3"/>
    <p:sldId id="303" r:id="rId4"/>
    <p:sldId id="350" r:id="rId5"/>
    <p:sldId id="351" r:id="rId6"/>
    <p:sldId id="356" r:id="rId7"/>
    <p:sldId id="353" r:id="rId8"/>
    <p:sldId id="354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68" autoAdjust="0"/>
    <p:restoredTop sz="92869" autoAdjust="0"/>
  </p:normalViewPr>
  <p:slideViewPr>
    <p:cSldViewPr>
      <p:cViewPr varScale="1">
        <p:scale>
          <a:sx n="99" d="100"/>
          <a:sy n="99" d="100"/>
        </p:scale>
        <p:origin x="165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17/10/21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12984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093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8494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268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8314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324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36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081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558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443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22614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908720"/>
            <a:ext cx="5937755" cy="1188720"/>
          </a:xfrm>
        </p:spPr>
        <p:txBody>
          <a:bodyPr/>
          <a:lstStyle/>
          <a:p>
            <a:r>
              <a:rPr lang="en-AU" dirty="0"/>
              <a:t>First five Questions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2198091"/>
                <a:ext cx="7992888" cy="4291793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Complete your summary from yesterday and highlight the important information.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d>
                      <m:dPr>
                        <m:ctrlPr>
                          <a:rPr lang="en-AU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÷2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</m:oMath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a triangle has a base of 5cm and the area of 10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𝑐𝑚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what could its height be?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Simplify in index form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×5×5×5×5×5×5×5×5</m:t>
                    </m:r>
                  </m:oMath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 a decimal and a percentage?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198091"/>
                <a:ext cx="7992888" cy="4291793"/>
              </a:xfrm>
              <a:blipFill>
                <a:blip r:embed="rId2"/>
                <a:stretch>
                  <a:fillRect l="-794" t="-1475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772E003-A7C9-8242-9770-17838F87B1EA}"/>
              </a:ext>
            </a:extLst>
          </p:cNvPr>
          <p:cNvSpPr txBox="1"/>
          <p:nvPr/>
        </p:nvSpPr>
        <p:spPr>
          <a:xfrm>
            <a:off x="683568" y="-19648"/>
            <a:ext cx="2097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Index Notation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7F1CC-ACA9-1349-AD45-1569B188CD6D}"/>
              </a:ext>
            </a:extLst>
          </p:cNvPr>
          <p:cNvSpPr txBox="1"/>
          <p:nvPr/>
        </p:nvSpPr>
        <p:spPr>
          <a:xfrm>
            <a:off x="261789" y="36811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</p:spTree>
    <p:extLst>
      <p:ext uri="{BB962C8B-B14F-4D97-AF65-F5344CB8AC3E}">
        <p14:creationId xmlns:p14="http://schemas.microsoft.com/office/powerpoint/2010/main" val="145701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DC97F90-DEA2-1B48-A739-9DB1EBD29B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5094" y="1919593"/>
                <a:ext cx="6085378" cy="4389724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Indices have two parts- the index and the base:</a:t>
                </a: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Like terms have the exact same variables. Ex – 2x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and x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are like terms</a:t>
                </a: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=2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, while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</a:p>
              <a:p>
                <a:pPr lvl="1"/>
                <a:endParaRPr lang="en-AU" baseline="300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are not like terms, so you cannot add(+) or subtract (-) them. </a:t>
                </a: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DC97F90-DEA2-1B48-A739-9DB1EBD29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094" y="1919593"/>
                <a:ext cx="6085378" cy="4389724"/>
              </a:xfrm>
              <a:prstGeom prst="rect">
                <a:avLst/>
              </a:prstGeom>
              <a:blipFill>
                <a:blip r:embed="rId2"/>
                <a:stretch>
                  <a:fillRect l="-1040" t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8C73FEA-7D3C-EC4F-850A-8C61EB2BC36E}"/>
              </a:ext>
            </a:extLst>
          </p:cNvPr>
          <p:cNvSpPr txBox="1"/>
          <p:nvPr/>
        </p:nvSpPr>
        <p:spPr>
          <a:xfrm>
            <a:off x="59702" y="1901411"/>
            <a:ext cx="2394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What is an index?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1E9D7B-95B9-8648-BC80-0683F2D3CB16}"/>
              </a:ext>
            </a:extLst>
          </p:cNvPr>
          <p:cNvSpPr txBox="1"/>
          <p:nvPr/>
        </p:nvSpPr>
        <p:spPr>
          <a:xfrm>
            <a:off x="119514" y="4054153"/>
            <a:ext cx="2512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What is a like term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269F96-DF07-AC45-8ED8-6A284AB4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451043"/>
            <a:ext cx="2081666" cy="102713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65B62A-67BE-0143-BE9B-EE0AA34305E0}"/>
              </a:ext>
            </a:extLst>
          </p:cNvPr>
          <p:cNvCxnSpPr>
            <a:cxnSpLocks/>
          </p:cNvCxnSpPr>
          <p:nvPr/>
        </p:nvCxnSpPr>
        <p:spPr>
          <a:xfrm flipV="1">
            <a:off x="2735094" y="1628800"/>
            <a:ext cx="0" cy="5229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12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DC97F90-DEA2-1B48-A739-9DB1EBD29B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5094" y="1919593"/>
                <a:ext cx="6085378" cy="4389724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Indices have two parts- the index and the base:</a:t>
                </a: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Like terms have the exact same variables. Ex – 2x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and x</a:t>
                </a:r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are like terms</a:t>
                </a: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=2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, while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× 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baseline="30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</a:p>
              <a:p>
                <a:pPr lvl="1"/>
                <a:endParaRPr lang="en-AU" baseline="300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AU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are not like terms, so you cannot add(+) or subtract (-) them. </a:t>
                </a:r>
              </a:p>
              <a:p>
                <a:pPr lvl="1"/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7DC97F90-DEA2-1B48-A739-9DB1EBD29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094" y="1919593"/>
                <a:ext cx="6085378" cy="4389724"/>
              </a:xfrm>
              <a:prstGeom prst="rect">
                <a:avLst/>
              </a:prstGeom>
              <a:blipFill>
                <a:blip r:embed="rId2"/>
                <a:stretch>
                  <a:fillRect l="-1040" t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8C73FEA-7D3C-EC4F-850A-8C61EB2BC36E}"/>
              </a:ext>
            </a:extLst>
          </p:cNvPr>
          <p:cNvSpPr txBox="1"/>
          <p:nvPr/>
        </p:nvSpPr>
        <p:spPr>
          <a:xfrm>
            <a:off x="59703" y="1901411"/>
            <a:ext cx="1631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an index?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1E9D7B-95B9-8648-BC80-0683F2D3CB16}"/>
              </a:ext>
            </a:extLst>
          </p:cNvPr>
          <p:cNvSpPr txBox="1"/>
          <p:nvPr/>
        </p:nvSpPr>
        <p:spPr>
          <a:xfrm>
            <a:off x="119514" y="4054153"/>
            <a:ext cx="1284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</a:t>
            </a:r>
            <a:r>
              <a:rPr lang="en-AU" dirty="0"/>
              <a:t>is</a:t>
            </a:r>
            <a:r>
              <a:rPr lang="en-AU" sz="2000" dirty="0"/>
              <a:t> a like term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269F96-DF07-AC45-8ED8-6A284AB4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451043"/>
            <a:ext cx="2081666" cy="10271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B97D0E-BE70-3A4C-9C14-A9E34BEAED26}"/>
              </a:ext>
            </a:extLst>
          </p:cNvPr>
          <p:cNvCxnSpPr>
            <a:cxnSpLocks/>
          </p:cNvCxnSpPr>
          <p:nvPr/>
        </p:nvCxnSpPr>
        <p:spPr>
          <a:xfrm flipV="1">
            <a:off x="2735094" y="1628800"/>
            <a:ext cx="0" cy="5229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8DC0F2D-A78A-A64D-8BAF-697BE245A605}"/>
              </a:ext>
            </a:extLst>
          </p:cNvPr>
          <p:cNvSpPr txBox="1">
            <a:spLocks/>
          </p:cNvSpPr>
          <p:nvPr/>
        </p:nvSpPr>
        <p:spPr>
          <a:xfrm>
            <a:off x="2555781" y="1919952"/>
            <a:ext cx="6264692" cy="467739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There are laws that govern how we solve problems with indices, these are called index laws. </a:t>
            </a:r>
          </a:p>
          <a:p>
            <a:pPr marL="0" indent="0">
              <a:buNone/>
            </a:pPr>
            <a:endParaRPr lang="en-AU" sz="1650" b="1" dirty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sz="2000" b="1" dirty="0">
                <a:latin typeface="Cambria Math" charset="0"/>
                <a:ea typeface="Cambria Math" charset="0"/>
                <a:cs typeface="Cambria Math" charset="0"/>
              </a:rPr>
              <a:t>Multiplication Law </a:t>
            </a:r>
            <a:r>
              <a:rPr lang="en-AU" sz="2000" dirty="0">
                <a:latin typeface="Cambria Math" charset="0"/>
                <a:ea typeface="Cambria Math" charset="0"/>
                <a:cs typeface="Cambria Math" charset="0"/>
              </a:rPr>
              <a:t>: a</a:t>
            </a:r>
            <a:r>
              <a:rPr lang="en-AU" sz="2000" baseline="30000" dirty="0">
                <a:latin typeface="Cambria Math" charset="0"/>
                <a:ea typeface="Cambria Math" charset="0"/>
                <a:cs typeface="Cambria Math" charset="0"/>
              </a:rPr>
              <a:t>m</a:t>
            </a:r>
            <a:r>
              <a:rPr lang="en-AU" sz="2400" baseline="30000" dirty="0">
                <a:latin typeface="Cambria Math" charset="0"/>
                <a:ea typeface="Cambria Math" charset="0"/>
                <a:cs typeface="Cambria Math" charset="0"/>
              </a:rPr>
              <a:t>  </a:t>
            </a:r>
            <a:r>
              <a:rPr lang="en-AU" sz="2400" dirty="0">
                <a:latin typeface="Cambria Math" charset="0"/>
                <a:ea typeface="Cambria Math" charset="0"/>
                <a:cs typeface="Cambria Math" charset="0"/>
              </a:rPr>
              <a:t>x a</a:t>
            </a:r>
            <a:r>
              <a:rPr lang="en-AU" sz="2400" baseline="30000" dirty="0">
                <a:latin typeface="Cambria Math" charset="0"/>
                <a:ea typeface="Cambria Math" charset="0"/>
                <a:cs typeface="Cambria Math" charset="0"/>
              </a:rPr>
              <a:t>n </a:t>
            </a:r>
            <a:r>
              <a:rPr lang="en-AU" sz="2400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AU" sz="2400" dirty="0" err="1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sz="2400" baseline="30000" dirty="0" err="1">
                <a:latin typeface="Cambria Math" charset="0"/>
                <a:ea typeface="Cambria Math" charset="0"/>
                <a:cs typeface="Cambria Math" charset="0"/>
              </a:rPr>
              <a:t>m+n</a:t>
            </a:r>
            <a:r>
              <a:rPr lang="en-AU" sz="2400" baseline="30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endParaRPr lang="en-AU" sz="2000" dirty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When multiplying two indices together, you add them – you can only add like bases</a:t>
            </a:r>
            <a:endParaRPr lang="en-AU" sz="1650" u="sng" dirty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y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x y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= y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3+4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=y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7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REMEMBER: if there is and “a” and a “b”, only multiply “a” by “a” and “b” by “b” </a:t>
            </a:r>
            <a:r>
              <a:rPr lang="en-AU" sz="1650" dirty="0" err="1">
                <a:latin typeface="Cambria Math" charset="0"/>
                <a:ea typeface="Cambria Math" charset="0"/>
                <a:cs typeface="Cambria Math" charset="0"/>
              </a:rPr>
              <a:t>eg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: 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x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b becomes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2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 b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x b =</a:t>
            </a:r>
          </a:p>
          <a:p>
            <a:pPr marL="0" indent="0">
              <a:buNone/>
            </a:pP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	= 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4+2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x b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3+1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 </a:t>
            </a:r>
          </a:p>
          <a:p>
            <a:pPr marL="0" indent="0">
              <a:buNone/>
            </a:pP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	= 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a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6</a:t>
            </a:r>
            <a:r>
              <a:rPr lang="en-AU" sz="1650" dirty="0">
                <a:latin typeface="Cambria Math" charset="0"/>
                <a:ea typeface="Cambria Math" charset="0"/>
                <a:cs typeface="Cambria Math" charset="0"/>
              </a:rPr>
              <a:t>b</a:t>
            </a:r>
            <a:r>
              <a:rPr lang="en-AU" sz="1650" baseline="30000" dirty="0">
                <a:latin typeface="Cambria Math" charset="0"/>
                <a:ea typeface="Cambria Math" charset="0"/>
                <a:cs typeface="Cambria Math" charset="0"/>
              </a:rPr>
              <a:t>4 </a:t>
            </a:r>
          </a:p>
          <a:p>
            <a:pPr marL="0" indent="0">
              <a:buNone/>
            </a:pPr>
            <a:endParaRPr lang="en-AU" sz="1650" dirty="0">
              <a:latin typeface="Cambria Math" charset="0"/>
              <a:ea typeface="Cambria Math" charset="0"/>
              <a:cs typeface="Cambria Math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F7C49D-3BAF-804E-9D62-B35A5F1D3430}"/>
              </a:ext>
            </a:extLst>
          </p:cNvPr>
          <p:cNvCxnSpPr>
            <a:cxnSpLocks/>
          </p:cNvCxnSpPr>
          <p:nvPr/>
        </p:nvCxnSpPr>
        <p:spPr>
          <a:xfrm flipV="1">
            <a:off x="2267744" y="1628800"/>
            <a:ext cx="0" cy="5229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C7A28C-02DD-074A-97C2-EE0D13A70DAD}"/>
              </a:ext>
            </a:extLst>
          </p:cNvPr>
          <p:cNvSpPr txBox="1"/>
          <p:nvPr/>
        </p:nvSpPr>
        <p:spPr>
          <a:xfrm>
            <a:off x="344439" y="1922929"/>
            <a:ext cx="1284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are index laws?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EB84-4D1D-7642-A0A9-27107A4D9FD1}"/>
              </a:ext>
            </a:extLst>
          </p:cNvPr>
          <p:cNvSpPr txBox="1"/>
          <p:nvPr/>
        </p:nvSpPr>
        <p:spPr>
          <a:xfrm>
            <a:off x="381503" y="3930546"/>
            <a:ext cx="1598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the Multiplication law?</a:t>
            </a:r>
          </a:p>
        </p:txBody>
      </p:sp>
    </p:spTree>
    <p:extLst>
      <p:ext uri="{BB962C8B-B14F-4D97-AF65-F5344CB8AC3E}">
        <p14:creationId xmlns:p14="http://schemas.microsoft.com/office/powerpoint/2010/main" val="303551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4204BE5-ACBA-3C42-8942-D4424234A7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9754" y="1811726"/>
                <a:ext cx="6552726" cy="2193338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3600" b="1" dirty="0">
                    <a:latin typeface="Cambria Math" charset="0"/>
                    <a:ea typeface="Cambria Math" charset="0"/>
                    <a:cs typeface="Cambria Math" charset="0"/>
                  </a:rPr>
                  <a:t>Division law</a:t>
                </a:r>
                <a:r>
                  <a:rPr lang="en-AU" sz="3600" dirty="0">
                    <a:latin typeface="Cambria Math" charset="0"/>
                    <a:ea typeface="Cambria Math" charset="0"/>
                    <a:cs typeface="Cambria Math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AU" sz="3600" i="1">
                        <a:latin typeface="Cambria Math" charset="0"/>
                        <a:ea typeface="Cambria Math" charset="0"/>
                        <a:cs typeface="Cambria Math" charset="0"/>
                      </a:rPr>
                      <m:t> ÷</m:t>
                    </m:r>
                    <m:sSup>
                      <m:sSupPr>
                        <m:ctrlPr>
                          <a:rPr lang="en-AU" sz="3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sz="360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−</m:t>
                        </m:r>
                        <m:r>
                          <a:rPr lang="en-AU" sz="3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sz="3600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AU" sz="2800" dirty="0">
                    <a:latin typeface="Cambria Math" charset="0"/>
                    <a:ea typeface="Cambria Math" charset="0"/>
                    <a:cs typeface="Cambria Math" charset="0"/>
                  </a:rPr>
                  <a:t>Multiplication and division are opposites in  mathematics, and in index laws</a:t>
                </a:r>
              </a:p>
              <a:p>
                <a:pPr marL="0" indent="0">
                  <a:buNone/>
                </a:pPr>
                <a:r>
                  <a:rPr lang="en-AU" sz="2800" dirty="0">
                    <a:latin typeface="Cambria Math" charset="0"/>
                    <a:ea typeface="Cambria Math" charset="0"/>
                    <a:cs typeface="Cambria Math" charset="0"/>
                  </a:rPr>
                  <a:t>When dividing the same bases, subtract the indices</a:t>
                </a:r>
              </a:p>
              <a:p>
                <a:pPr marL="0" indent="0">
                  <a:buNone/>
                </a:pPr>
                <a:r>
                  <a:rPr lang="en-AU" sz="2800" dirty="0">
                    <a:latin typeface="Cambria Math" charset="0"/>
                    <a:ea typeface="Cambria Math" charset="0"/>
                    <a:cs typeface="Cambria Math" charset="0"/>
                  </a:rPr>
                  <a:t>Fractions are also governed by index law 2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bg-BG" sz="4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sz="40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4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4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bg-BG" sz="40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AU" sz="4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4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4000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AU" sz="280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7 </m:t>
                        </m:r>
                      </m:sup>
                    </m:sSup>
                    <m:r>
                      <a:rPr lang="en-AU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800" dirty="0">
                    <a:latin typeface="Cambria Math" charset="0"/>
                    <a:ea typeface="Cambria Math" charset="0"/>
                    <a:cs typeface="Cambria Math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7−3</m:t>
                        </m:r>
                      </m:sup>
                    </m:sSup>
                  </m:oMath>
                </a14:m>
                <a:r>
                  <a:rPr lang="en-AU" sz="2800" dirty="0">
                    <a:latin typeface="Cambria Math" charset="0"/>
                    <a:ea typeface="Cambria Math" charset="0"/>
                    <a:cs typeface="Cambria Math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AU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sup>
                    </m:sSup>
                  </m:oMath>
                </a14:m>
                <a:endParaRPr lang="en-AU" sz="2800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4204BE5-ACBA-3C42-8942-D4424234A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4" y="1811726"/>
                <a:ext cx="6552726" cy="2193338"/>
              </a:xfrm>
              <a:prstGeom prst="rect">
                <a:avLst/>
              </a:prstGeom>
              <a:blipFill>
                <a:blip r:embed="rId2"/>
                <a:stretch>
                  <a:fillRect l="-3095" t="-7471" b="-95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A16897-C518-E84D-8A01-6D816702FDD9}"/>
              </a:ext>
            </a:extLst>
          </p:cNvPr>
          <p:cNvCxnSpPr>
            <a:cxnSpLocks/>
          </p:cNvCxnSpPr>
          <p:nvPr/>
        </p:nvCxnSpPr>
        <p:spPr>
          <a:xfrm flipV="1">
            <a:off x="2267744" y="1628800"/>
            <a:ext cx="0" cy="5229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09FD4DD-CAB0-9940-9CDA-3D80C14C8432}"/>
              </a:ext>
            </a:extLst>
          </p:cNvPr>
          <p:cNvSpPr txBox="1"/>
          <p:nvPr/>
        </p:nvSpPr>
        <p:spPr>
          <a:xfrm>
            <a:off x="381503" y="2353880"/>
            <a:ext cx="1598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the Division law?</a:t>
            </a:r>
          </a:p>
        </p:txBody>
      </p:sp>
    </p:spTree>
    <p:extLst>
      <p:ext uri="{BB962C8B-B14F-4D97-AF65-F5344CB8AC3E}">
        <p14:creationId xmlns:p14="http://schemas.microsoft.com/office/powerpoint/2010/main" val="13831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7A0F9C-532C-2C46-94B1-FFBBB4ED354A}"/>
              </a:ext>
            </a:extLst>
          </p:cNvPr>
          <p:cNvSpPr txBox="1">
            <a:spLocks/>
          </p:cNvSpPr>
          <p:nvPr/>
        </p:nvSpPr>
        <p:spPr>
          <a:xfrm>
            <a:off x="2456404" y="1934806"/>
            <a:ext cx="6552726" cy="408648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000" b="1" dirty="0">
                <a:latin typeface="Cambria Math" charset="0"/>
                <a:ea typeface="Cambria Math" charset="0"/>
                <a:cs typeface="Cambria Math" charset="0"/>
              </a:rPr>
              <a:t>Power of a Power</a:t>
            </a:r>
            <a:r>
              <a:rPr lang="en-AU" sz="3000" dirty="0">
                <a:latin typeface="Cambria Math" charset="0"/>
                <a:ea typeface="Cambria Math" charset="0"/>
                <a:cs typeface="Cambria Math" charset="0"/>
              </a:rPr>
              <a:t>: (a</a:t>
            </a:r>
            <a:r>
              <a:rPr lang="en-AU" sz="3000" baseline="30000" dirty="0">
                <a:latin typeface="Cambria Math" charset="0"/>
                <a:ea typeface="Cambria Math" charset="0"/>
                <a:cs typeface="Cambria Math" charset="0"/>
              </a:rPr>
              <a:t>m</a:t>
            </a:r>
            <a:r>
              <a:rPr lang="en-AU" sz="3000" dirty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sz="3000" baseline="30000" dirty="0">
                <a:latin typeface="Cambria Math" charset="0"/>
                <a:ea typeface="Cambria Math" charset="0"/>
                <a:cs typeface="Cambria Math" charset="0"/>
              </a:rPr>
              <a:t>n </a:t>
            </a:r>
            <a:r>
              <a:rPr lang="en-AU" sz="3000" dirty="0">
                <a:latin typeface="Cambria Math" charset="0"/>
                <a:ea typeface="Cambria Math" charset="0"/>
                <a:cs typeface="Cambria Math" charset="0"/>
              </a:rPr>
              <a:t> = a </a:t>
            </a:r>
            <a:r>
              <a:rPr lang="en-AU" sz="3000" baseline="30000" dirty="0">
                <a:latin typeface="Cambria Math" charset="0"/>
                <a:ea typeface="Cambria Math" charset="0"/>
                <a:cs typeface="Cambria Math" charset="0"/>
              </a:rPr>
              <a:t>m x n </a:t>
            </a:r>
          </a:p>
          <a:p>
            <a:pPr marL="0" indent="0">
              <a:buNone/>
            </a:pP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When there are indices inside and outside of a brackets, they multiply.</a:t>
            </a:r>
          </a:p>
          <a:p>
            <a:pPr marL="0" indent="0">
              <a:buNone/>
            </a:pPr>
            <a:r>
              <a:rPr lang="en-AU" dirty="0" err="1">
                <a:latin typeface="Cambria Math" charset="0"/>
                <a:ea typeface="Cambria Math" charset="0"/>
                <a:cs typeface="Cambria Math" charset="0"/>
              </a:rPr>
              <a:t>Eg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; (x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3  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 - think about what indices mean. (expand the indices)</a:t>
            </a:r>
          </a:p>
          <a:p>
            <a:pPr marL="0" indent="0">
              <a:buNone/>
            </a:pP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)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3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 means 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u="sng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) 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x 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u="sng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) 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x 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(x</a:t>
            </a:r>
            <a:r>
              <a:rPr lang="en-AU" u="sng" baseline="30000" dirty="0">
                <a:latin typeface="Cambria Math" charset="0"/>
                <a:ea typeface="Cambria Math" charset="0"/>
                <a:cs typeface="Cambria Math" charset="0"/>
              </a:rPr>
              <a:t>4</a:t>
            </a:r>
            <a:r>
              <a:rPr lang="en-AU" u="sng" dirty="0">
                <a:latin typeface="Cambria Math" charset="0"/>
                <a:ea typeface="Cambria Math" charset="0"/>
                <a:cs typeface="Cambria Math" charset="0"/>
              </a:rPr>
              <a:t>), 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then use the first index law, </a:t>
            </a:r>
          </a:p>
          <a:p>
            <a:pPr marL="0" indent="0">
              <a:buNone/>
            </a:pP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4+4+4 = </a:t>
            </a: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AU" baseline="30000" dirty="0">
                <a:latin typeface="Cambria Math" charset="0"/>
                <a:ea typeface="Cambria Math" charset="0"/>
                <a:cs typeface="Cambria Math" charset="0"/>
              </a:rPr>
              <a:t>12</a:t>
            </a:r>
            <a:endParaRPr lang="en-AU" dirty="0">
              <a:latin typeface="Cambria Math" charset="0"/>
              <a:ea typeface="Cambria Math" charset="0"/>
              <a:cs typeface="Cambria Math" charset="0"/>
            </a:endParaRPr>
          </a:p>
          <a:p>
            <a:pPr marL="0" indent="0">
              <a:buNone/>
            </a:pPr>
            <a:r>
              <a:rPr lang="en-AU" dirty="0">
                <a:latin typeface="Cambria Math" charset="0"/>
                <a:ea typeface="Cambria Math" charset="0"/>
                <a:cs typeface="Cambria Math" charset="0"/>
              </a:rPr>
              <a:t>Multiply by the index outside the brackets. </a:t>
            </a:r>
          </a:p>
          <a:p>
            <a:endParaRPr lang="en-AU" sz="1650" u="sng" baseline="300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A16897-C518-E84D-8A01-6D816702FDD9}"/>
              </a:ext>
            </a:extLst>
          </p:cNvPr>
          <p:cNvCxnSpPr>
            <a:cxnSpLocks/>
          </p:cNvCxnSpPr>
          <p:nvPr/>
        </p:nvCxnSpPr>
        <p:spPr>
          <a:xfrm flipV="1">
            <a:off x="2267744" y="1628800"/>
            <a:ext cx="0" cy="5229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4B5B6F-00D2-6140-8DCF-E5EEC653F865}"/>
              </a:ext>
            </a:extLst>
          </p:cNvPr>
          <p:cNvSpPr txBox="1"/>
          <p:nvPr/>
        </p:nvSpPr>
        <p:spPr>
          <a:xfrm>
            <a:off x="381503" y="2353880"/>
            <a:ext cx="1598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the Power of a power law?</a:t>
            </a:r>
          </a:p>
        </p:txBody>
      </p:sp>
    </p:spTree>
    <p:extLst>
      <p:ext uri="{BB962C8B-B14F-4D97-AF65-F5344CB8AC3E}">
        <p14:creationId xmlns:p14="http://schemas.microsoft.com/office/powerpoint/2010/main" val="36636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1996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867" y="-2584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073" y="10635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82800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 and how do I apply them?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828EC6-E726-7A47-A99E-F0E08CB182E3}"/>
                  </a:ext>
                </a:extLst>
              </p:cNvPr>
              <p:cNvSpPr txBox="1"/>
              <p:nvPr/>
            </p:nvSpPr>
            <p:spPr>
              <a:xfrm>
                <a:off x="2748377" y="1556792"/>
                <a:ext cx="56606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Power to zero</a:t>
                </a:r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CA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Any base raised to the power of zero = 1.</a:t>
                </a: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Ex) 2</a:t>
                </a:r>
                <a:r>
                  <a:rPr lang="en-US" sz="28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 	2,000,000</a:t>
                </a:r>
                <a:r>
                  <a:rPr lang="en-US" sz="28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		a</a:t>
                </a:r>
                <a:r>
                  <a:rPr lang="en-US" sz="28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 	but…	6b</a:t>
                </a:r>
                <a:r>
                  <a:rPr lang="en-US" sz="28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6×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=6×1=6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828EC6-E726-7A47-A99E-F0E08CB18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377" y="1556792"/>
                <a:ext cx="5660652" cy="2308324"/>
              </a:xfrm>
              <a:prstGeom prst="rect">
                <a:avLst/>
              </a:prstGeom>
              <a:blipFill>
                <a:blip r:embed="rId2"/>
                <a:stretch>
                  <a:fillRect l="-2691" t="-3279" r="-3587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7E02CA-E9C2-274F-995E-D313B7B736E2}"/>
              </a:ext>
            </a:extLst>
          </p:cNvPr>
          <p:cNvCxnSpPr>
            <a:cxnSpLocks/>
          </p:cNvCxnSpPr>
          <p:nvPr/>
        </p:nvCxnSpPr>
        <p:spPr>
          <a:xfrm flipV="1">
            <a:off x="2355273" y="1289666"/>
            <a:ext cx="0" cy="55683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A0766F-224A-5C4F-AFEB-EE33849D142C}"/>
              </a:ext>
            </a:extLst>
          </p:cNvPr>
          <p:cNvCxnSpPr>
            <a:cxnSpLocks/>
          </p:cNvCxnSpPr>
          <p:nvPr/>
        </p:nvCxnSpPr>
        <p:spPr>
          <a:xfrm>
            <a:off x="13867" y="1289666"/>
            <a:ext cx="91301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1BE54CD-440D-3F4B-B397-F366A388F1E7}"/>
              </a:ext>
            </a:extLst>
          </p:cNvPr>
          <p:cNvSpPr txBox="1"/>
          <p:nvPr/>
        </p:nvSpPr>
        <p:spPr>
          <a:xfrm>
            <a:off x="381503" y="2353880"/>
            <a:ext cx="1598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the Power to zero law?</a:t>
            </a:r>
          </a:p>
        </p:txBody>
      </p:sp>
    </p:spTree>
    <p:extLst>
      <p:ext uri="{BB962C8B-B14F-4D97-AF65-F5344CB8AC3E}">
        <p14:creationId xmlns:p14="http://schemas.microsoft.com/office/powerpoint/2010/main" val="191560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AC2457-FBA8-D74E-875A-E0B958D9E722}"/>
              </a:ext>
            </a:extLst>
          </p:cNvPr>
          <p:cNvSpPr txBox="1"/>
          <p:nvPr/>
        </p:nvSpPr>
        <p:spPr>
          <a:xfrm>
            <a:off x="609290" y="1672758"/>
            <a:ext cx="2300202" cy="1188720"/>
          </a:xfrm>
          <a:prstGeom prst="rect">
            <a:avLst/>
          </a:prstGeom>
        </p:spPr>
        <p:txBody>
          <a:bodyPr vert="horz" lIns="182880" tIns="182880" rIns="182880" bIns="182880" rtlCol="0" anchor="ctr">
            <a:normAutofit fontScale="92500" lnSpcReduction="2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 cap="all" spc="20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Complete Have Some Fun Worksheet</a:t>
            </a:r>
            <a:endParaRPr lang="en-US" sz="1700" cap="all" spc="20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300" cap="all" spc="20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D558B-91A4-CA40-8C50-60820A08D99E}"/>
              </a:ext>
            </a:extLst>
          </p:cNvPr>
          <p:cNvSpPr txBox="1"/>
          <p:nvPr/>
        </p:nvSpPr>
        <p:spPr>
          <a:xfrm>
            <a:off x="323528" y="4009633"/>
            <a:ext cx="3249487" cy="3455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  <a:buClr>
                <a:schemeClr val="accent2"/>
              </a:buClr>
            </a:pPr>
            <a:r>
              <a:rPr lang="en-US" sz="3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HAVE ANY QUESTIONS? </a:t>
            </a:r>
            <a:endParaRPr lang="en-US" sz="3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0636" y="964692"/>
            <a:ext cx="516407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3351" y="1128683"/>
            <a:ext cx="4918644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116A86-2DA0-5E40-984C-7975485D6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351" y="1620987"/>
            <a:ext cx="5002972" cy="375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46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{E35F0204-89D9-7243-9395-304FB6603C74}tf10001120</Template>
  <TotalTime>1001</TotalTime>
  <Words>656</Words>
  <Application>Microsoft Macintosh PowerPoint</Application>
  <PresentationFormat>On-screen Show (4:3)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Gill Sans MT</vt:lpstr>
      <vt:lpstr>Parcel</vt:lpstr>
      <vt:lpstr>First five 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DIXON Emily [Baldivis Secondary College]</cp:lastModifiedBy>
  <cp:revision>85</cp:revision>
  <dcterms:created xsi:type="dcterms:W3CDTF">2014-05-14T02:58:57Z</dcterms:created>
  <dcterms:modified xsi:type="dcterms:W3CDTF">2021-10-17T13:55:24Z</dcterms:modified>
</cp:coreProperties>
</file>
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395" r:id="rId2"/>
    <p:sldId id="396" r:id="rId3"/>
    <p:sldId id="374" r:id="rId4"/>
    <p:sldId id="302" r:id="rId5"/>
    <p:sldId id="397" r:id="rId6"/>
    <p:sldId id="394" r:id="rId7"/>
    <p:sldId id="398" r:id="rId8"/>
    <p:sldId id="391" r:id="rId9"/>
    <p:sldId id="393" r:id="rId10"/>
    <p:sldId id="392" r:id="rId11"/>
    <p:sldId id="27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911"/>
    <a:srgbClr val="F8F200"/>
    <a:srgbClr val="FFA7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6" autoAdjust="0"/>
    <p:restoredTop sz="94660"/>
  </p:normalViewPr>
  <p:slideViewPr>
    <p:cSldViewPr snapToGrid="0">
      <p:cViewPr varScale="1">
        <p:scale>
          <a:sx n="74" d="100"/>
          <a:sy n="74" d="100"/>
        </p:scale>
        <p:origin x="529" y="43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7D808B-F4C8-4EB6-B060-5F8D29830851}" type="datetimeFigureOut">
              <a:rPr lang="en-AU" smtClean="0"/>
              <a:t>24/11/2021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56EFB6-726C-46D5-B56E-1522DED4634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87166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24/11/2021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6208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24/11/2021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99458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24/11/2021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10192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24/11/2021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29697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24/11/2021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19499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24/11/2021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46399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24/11/2021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6850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24/11/2021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21393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24/11/2021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42587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24/11/2021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00310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24/11/2021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84475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914ADA-8B9F-4ECF-9857-DA0E09389161}" type="datetimeFigureOut">
              <a:rPr lang="en-AU" smtClean="0"/>
              <a:t>24/11/2021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30882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977FD-3BB7-412D-9B3F-03A870EBD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424"/>
            <a:ext cx="3364345" cy="925945"/>
          </a:xfrm>
        </p:spPr>
        <p:txBody>
          <a:bodyPr/>
          <a:lstStyle/>
          <a:p>
            <a:r>
              <a:rPr lang="en-US" dirty="0"/>
              <a:t>5 Questions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EA6BF8-CBDD-4230-BF50-4016881ADE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15%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62</m:t>
                    </m:r>
                  </m:oMath>
                </a14:m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 Simplify 32:44</a:t>
                </a:r>
              </a:p>
              <a:p>
                <a:pPr marL="457200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dirty="0"/>
                  <a:t> 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 3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dirty="0"/>
                  <a:t> solve: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dirty="0"/>
                  <a:t>              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+3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4.    What is the area of the triangle below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sz="2800" dirty="0">
                    <a:solidFill>
                      <a:prstClr val="black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5.     </a:t>
                </a:r>
                <a:r>
                  <a:rPr lang="en-AU" sz="2800" dirty="0">
                    <a:solidFill>
                      <a:prstClr val="black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Complete your summaries. I will be checking your books soon!!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AU" sz="14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EA6BF8-CBDD-4230-BF50-4016881ADE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1" t="-36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8" name="Picture 4" descr="How to Find the Area and Perimeter of a Triangle [Video]">
            <a:extLst>
              <a:ext uri="{FF2B5EF4-FFF2-40B4-BE49-F238E27FC236}">
                <a16:creationId xmlns:a16="http://schemas.microsoft.com/office/drawing/2014/main" id="{24010A99-F85A-4F64-93AA-B9F847F78A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66" t="26835" r="18018" b="2994"/>
          <a:stretch/>
        </p:blipFill>
        <p:spPr bwMode="auto">
          <a:xfrm>
            <a:off x="6631708" y="3889663"/>
            <a:ext cx="1569675" cy="1694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0D00516-21C7-4483-A811-6D9731CC6C78}"/>
              </a:ext>
            </a:extLst>
          </p:cNvPr>
          <p:cNvSpPr txBox="1"/>
          <p:nvPr/>
        </p:nvSpPr>
        <p:spPr>
          <a:xfrm>
            <a:off x="5377469" y="156511"/>
            <a:ext cx="57472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Topic: Time</a:t>
            </a:r>
          </a:p>
          <a:p>
            <a:r>
              <a:rPr lang="en-US" sz="2000" dirty="0"/>
              <a:t>EQ: How do I convert between 12- and 24-hour time?</a:t>
            </a:r>
            <a:endParaRPr lang="en-AU" sz="20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932EFBC-2836-48DA-9FE7-985DC7A877E1}"/>
              </a:ext>
            </a:extLst>
          </p:cNvPr>
          <p:cNvCxnSpPr/>
          <p:nvPr/>
        </p:nvCxnSpPr>
        <p:spPr>
          <a:xfrm>
            <a:off x="-222181" y="1327369"/>
            <a:ext cx="12847782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68989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977FD-3BB7-412D-9B3F-03A870EBD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424"/>
            <a:ext cx="3364345" cy="925945"/>
          </a:xfrm>
        </p:spPr>
        <p:txBody>
          <a:bodyPr/>
          <a:lstStyle/>
          <a:p>
            <a:r>
              <a:rPr lang="en-US" dirty="0"/>
              <a:t>5 Questions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A6BF8-CBDD-4230-BF50-4016881ADE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 Increase $42  by 35%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What is 12:30pm in 24-hour time?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</a:t>
            </a:r>
            <a:r>
              <a:rPr lang="en-US" sz="2800" dirty="0"/>
              <a:t>Find the median of the following data: 4, 6, 8, 2, 1, 9</a:t>
            </a:r>
            <a:endParaRPr lang="en-US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What is 1845 in 12-hour time?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AU" sz="28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Complete your summaries. I will be checking your books soon!!</a:t>
            </a:r>
          </a:p>
          <a:p>
            <a:pPr marL="342900" indent="-342900">
              <a:buFont typeface="+mj-lt"/>
              <a:buAutoNum type="arabicPeriod"/>
            </a:pPr>
            <a:endParaRPr lang="en-AU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D00516-21C7-4483-A811-6D9731CC6C78}"/>
              </a:ext>
            </a:extLst>
          </p:cNvPr>
          <p:cNvSpPr txBox="1"/>
          <p:nvPr/>
        </p:nvSpPr>
        <p:spPr>
          <a:xfrm>
            <a:off x="5377469" y="156511"/>
            <a:ext cx="403591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Topic: Time</a:t>
            </a:r>
          </a:p>
          <a:p>
            <a:r>
              <a:rPr lang="en-US" sz="2000" dirty="0"/>
              <a:t>EQ: How do I calculate elapsed time?</a:t>
            </a:r>
            <a:endParaRPr lang="en-AU" sz="20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932EFBC-2836-48DA-9FE7-985DC7A877E1}"/>
              </a:ext>
            </a:extLst>
          </p:cNvPr>
          <p:cNvCxnSpPr/>
          <p:nvPr/>
        </p:nvCxnSpPr>
        <p:spPr>
          <a:xfrm>
            <a:off x="-222181" y="1327369"/>
            <a:ext cx="12847782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1645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9EC0944F-D4D3-4E72-9DCE-449D877A84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6774" y="4019593"/>
            <a:ext cx="2491858" cy="2491858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EA6A4F79-1262-4393-A907-0F9AED415A0D}"/>
              </a:ext>
            </a:extLst>
          </p:cNvPr>
          <p:cNvSpPr txBox="1">
            <a:spLocks/>
          </p:cNvSpPr>
          <p:nvPr/>
        </p:nvSpPr>
        <p:spPr>
          <a:xfrm>
            <a:off x="0" y="144213"/>
            <a:ext cx="12192000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6000" dirty="0">
                <a:latin typeface="Arial Black" panose="020B0A04020102020204" pitchFamily="34" charset="0"/>
              </a:rPr>
              <a:t>A Review of Time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87C932EF-A0C1-448A-A790-2B99AB8C6B19}"/>
              </a:ext>
            </a:extLst>
          </p:cNvPr>
          <p:cNvSpPr txBox="1">
            <a:spLocks/>
          </p:cNvSpPr>
          <p:nvPr/>
        </p:nvSpPr>
        <p:spPr>
          <a:xfrm>
            <a:off x="3952612" y="1045426"/>
            <a:ext cx="4286775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4000" dirty="0">
                <a:latin typeface="Arial" panose="020B0604020202020204" pitchFamily="34" charset="0"/>
                <a:cs typeface="Arial" panose="020B0604020202020204" pitchFamily="34" charset="0"/>
              </a:rPr>
              <a:t>Analogue Clocks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04DF6C9-53C6-4F06-840B-BDBF374F0C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17112"/>
            <a:ext cx="3484644" cy="348464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548F653-CA51-4D86-9B42-0366A79A2C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4513" y="1907449"/>
            <a:ext cx="2346428" cy="22947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9357F2C-7BE7-40CC-AC01-984B9D9BE3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7320" y="1794612"/>
            <a:ext cx="2518620" cy="262165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2741E97-7C25-4A42-95C6-09169D79D9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73154" y="3478438"/>
            <a:ext cx="2158916" cy="3033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620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C2D334-A181-FF4A-B3F3-88C75FF64A8E}"/>
              </a:ext>
            </a:extLst>
          </p:cNvPr>
          <p:cNvSpPr txBox="1"/>
          <p:nvPr/>
        </p:nvSpPr>
        <p:spPr>
          <a:xfrm>
            <a:off x="10272714" y="6488114"/>
            <a:ext cx="549275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AU" dirty="0">
                <a:solidFill>
                  <a:prstClr val="black"/>
                </a:solidFill>
                <a:latin typeface="Calibri"/>
              </a:rPr>
              <a:t> 5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8B7D626-B98B-B641-8B18-E98DA4A9444A}"/>
              </a:ext>
            </a:extLst>
          </p:cNvPr>
          <p:cNvCxnSpPr>
            <a:cxnSpLocks/>
          </p:cNvCxnSpPr>
          <p:nvPr/>
        </p:nvCxnSpPr>
        <p:spPr>
          <a:xfrm>
            <a:off x="-507423" y="608412"/>
            <a:ext cx="12921095" cy="2619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397D406-54BB-0042-8BF5-296A32C2E671}"/>
              </a:ext>
            </a:extLst>
          </p:cNvPr>
          <p:cNvCxnSpPr>
            <a:cxnSpLocks/>
          </p:cNvCxnSpPr>
          <p:nvPr/>
        </p:nvCxnSpPr>
        <p:spPr>
          <a:xfrm>
            <a:off x="0" y="1135206"/>
            <a:ext cx="1233054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C6149F8-9522-8743-BC9D-0AAB46245AE5}"/>
              </a:ext>
            </a:extLst>
          </p:cNvPr>
          <p:cNvSpPr txBox="1"/>
          <p:nvPr/>
        </p:nvSpPr>
        <p:spPr>
          <a:xfrm>
            <a:off x="51090" y="1368"/>
            <a:ext cx="576262" cy="64633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AU" sz="1200" dirty="0">
                <a:solidFill>
                  <a:prstClr val="black"/>
                </a:solidFill>
                <a:latin typeface="Calibri"/>
              </a:rPr>
              <a:t>24</a:t>
            </a:r>
          </a:p>
          <a:p>
            <a:pPr>
              <a:defRPr/>
            </a:pPr>
            <a:r>
              <a:rPr lang="en-AU" sz="1200" dirty="0">
                <a:solidFill>
                  <a:prstClr val="black"/>
                </a:solidFill>
                <a:latin typeface="Calibri"/>
              </a:rPr>
              <a:t>7</a:t>
            </a:r>
          </a:p>
          <a:p>
            <a:pPr>
              <a:defRPr/>
            </a:pPr>
            <a:r>
              <a:rPr lang="en-AU" sz="1200" dirty="0">
                <a:solidFill>
                  <a:prstClr val="black"/>
                </a:solidFill>
                <a:latin typeface="Calibri"/>
              </a:rPr>
              <a:t>30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0AD74E7-A691-E94F-85F0-BC5019DFFBA3}"/>
              </a:ext>
            </a:extLst>
          </p:cNvPr>
          <p:cNvCxnSpPr>
            <a:cxnSpLocks/>
          </p:cNvCxnSpPr>
          <p:nvPr/>
        </p:nvCxnSpPr>
        <p:spPr>
          <a:xfrm>
            <a:off x="2270702" y="1135206"/>
            <a:ext cx="0" cy="582901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150DA4E-AE78-6A4E-A730-61882425D717}"/>
              </a:ext>
            </a:extLst>
          </p:cNvPr>
          <p:cNvSpPr txBox="1"/>
          <p:nvPr/>
        </p:nvSpPr>
        <p:spPr>
          <a:xfrm>
            <a:off x="8963026" y="106363"/>
            <a:ext cx="1584325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AU" sz="2400" dirty="0">
                <a:solidFill>
                  <a:prstClr val="black"/>
                </a:solidFill>
                <a:latin typeface="Calibri"/>
              </a:rPr>
              <a:t>Date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7C1D5A-9723-6743-A4FF-90510E5EA519}"/>
              </a:ext>
            </a:extLst>
          </p:cNvPr>
          <p:cNvSpPr txBox="1"/>
          <p:nvPr/>
        </p:nvSpPr>
        <p:spPr>
          <a:xfrm>
            <a:off x="485127" y="633416"/>
            <a:ext cx="8620125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AU" sz="2400" dirty="0">
                <a:solidFill>
                  <a:prstClr val="black"/>
                </a:solidFill>
                <a:latin typeface="Calibri"/>
              </a:rPr>
              <a:t>EQ – How do I convert between 12 and 24 hour time?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5C67CB1-03B3-F245-A002-9A2FBEC40DCD}"/>
              </a:ext>
            </a:extLst>
          </p:cNvPr>
          <p:cNvSpPr txBox="1"/>
          <p:nvPr/>
        </p:nvSpPr>
        <p:spPr>
          <a:xfrm>
            <a:off x="591715" y="79345"/>
            <a:ext cx="160319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AU" sz="2400" dirty="0">
                <a:solidFill>
                  <a:prstClr val="black"/>
                </a:solidFill>
                <a:latin typeface="Calibri"/>
              </a:rPr>
              <a:t>Topic: Time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CE712D-A3B6-41C6-AE85-762C1A4C6CAC}"/>
              </a:ext>
            </a:extLst>
          </p:cNvPr>
          <p:cNvSpPr txBox="1"/>
          <p:nvPr/>
        </p:nvSpPr>
        <p:spPr>
          <a:xfrm>
            <a:off x="51090" y="1266477"/>
            <a:ext cx="2268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is 12-hour time?</a:t>
            </a:r>
            <a:endParaRPr lang="en-AU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32673C5-A997-4436-A400-E4215F87D8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4368" y="1266477"/>
            <a:ext cx="8581614" cy="434801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C2D334-A181-FF4A-B3F3-88C75FF64A8E}"/>
              </a:ext>
            </a:extLst>
          </p:cNvPr>
          <p:cNvSpPr txBox="1"/>
          <p:nvPr/>
        </p:nvSpPr>
        <p:spPr>
          <a:xfrm>
            <a:off x="10272714" y="6488114"/>
            <a:ext cx="549275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AU" dirty="0">
                <a:solidFill>
                  <a:prstClr val="black"/>
                </a:solidFill>
                <a:latin typeface="Calibri"/>
              </a:rPr>
              <a:t> 5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8B7D626-B98B-B641-8B18-E98DA4A9444A}"/>
              </a:ext>
            </a:extLst>
          </p:cNvPr>
          <p:cNvCxnSpPr>
            <a:cxnSpLocks/>
          </p:cNvCxnSpPr>
          <p:nvPr/>
        </p:nvCxnSpPr>
        <p:spPr>
          <a:xfrm>
            <a:off x="-507423" y="608412"/>
            <a:ext cx="12921095" cy="2619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397D406-54BB-0042-8BF5-296A32C2E671}"/>
              </a:ext>
            </a:extLst>
          </p:cNvPr>
          <p:cNvCxnSpPr>
            <a:cxnSpLocks/>
          </p:cNvCxnSpPr>
          <p:nvPr/>
        </p:nvCxnSpPr>
        <p:spPr>
          <a:xfrm>
            <a:off x="0" y="1135206"/>
            <a:ext cx="1233054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C6149F8-9522-8743-BC9D-0AAB46245AE5}"/>
              </a:ext>
            </a:extLst>
          </p:cNvPr>
          <p:cNvSpPr txBox="1"/>
          <p:nvPr/>
        </p:nvSpPr>
        <p:spPr>
          <a:xfrm>
            <a:off x="51090" y="1368"/>
            <a:ext cx="576262" cy="64633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AU" sz="1200" dirty="0">
                <a:solidFill>
                  <a:prstClr val="black"/>
                </a:solidFill>
                <a:latin typeface="Calibri"/>
              </a:rPr>
              <a:t>24</a:t>
            </a:r>
          </a:p>
          <a:p>
            <a:pPr>
              <a:defRPr/>
            </a:pPr>
            <a:r>
              <a:rPr lang="en-AU" sz="1200" dirty="0">
                <a:solidFill>
                  <a:prstClr val="black"/>
                </a:solidFill>
                <a:latin typeface="Calibri"/>
              </a:rPr>
              <a:t>7</a:t>
            </a:r>
          </a:p>
          <a:p>
            <a:pPr>
              <a:defRPr/>
            </a:pPr>
            <a:r>
              <a:rPr lang="en-AU" sz="1200" dirty="0">
                <a:solidFill>
                  <a:prstClr val="black"/>
                </a:solidFill>
                <a:latin typeface="Calibri"/>
              </a:rPr>
              <a:t>30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0AD74E7-A691-E94F-85F0-BC5019DFFBA3}"/>
              </a:ext>
            </a:extLst>
          </p:cNvPr>
          <p:cNvCxnSpPr>
            <a:cxnSpLocks/>
          </p:cNvCxnSpPr>
          <p:nvPr/>
        </p:nvCxnSpPr>
        <p:spPr>
          <a:xfrm>
            <a:off x="2270702" y="1135206"/>
            <a:ext cx="0" cy="582901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150DA4E-AE78-6A4E-A730-61882425D717}"/>
              </a:ext>
            </a:extLst>
          </p:cNvPr>
          <p:cNvSpPr txBox="1"/>
          <p:nvPr/>
        </p:nvSpPr>
        <p:spPr>
          <a:xfrm>
            <a:off x="8963026" y="106363"/>
            <a:ext cx="1584325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AU" sz="2400" dirty="0">
                <a:solidFill>
                  <a:prstClr val="black"/>
                </a:solidFill>
                <a:latin typeface="Calibri"/>
              </a:rPr>
              <a:t>Date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7C1D5A-9723-6743-A4FF-90510E5EA519}"/>
              </a:ext>
            </a:extLst>
          </p:cNvPr>
          <p:cNvSpPr txBox="1"/>
          <p:nvPr/>
        </p:nvSpPr>
        <p:spPr>
          <a:xfrm>
            <a:off x="485127" y="633416"/>
            <a:ext cx="8620125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AU" sz="2400" dirty="0">
                <a:solidFill>
                  <a:prstClr val="black"/>
                </a:solidFill>
                <a:latin typeface="Calibri"/>
              </a:rPr>
              <a:t>EQ – How do I convert between 12 and 24 hour time?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5C67CB1-03B3-F245-A002-9A2FBEC40DCD}"/>
              </a:ext>
            </a:extLst>
          </p:cNvPr>
          <p:cNvSpPr txBox="1"/>
          <p:nvPr/>
        </p:nvSpPr>
        <p:spPr>
          <a:xfrm>
            <a:off x="591715" y="79345"/>
            <a:ext cx="160319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AU" sz="2400" dirty="0">
                <a:solidFill>
                  <a:prstClr val="black"/>
                </a:solidFill>
                <a:latin typeface="Calibri"/>
              </a:rPr>
              <a:t>Topic: Time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CF483A-295D-496D-8B9B-7B90D3462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3352" y="1432355"/>
            <a:ext cx="9438364" cy="501563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C96D943-1F43-4BC9-81CD-BE2EA943026D}"/>
              </a:ext>
            </a:extLst>
          </p:cNvPr>
          <p:cNvSpPr txBox="1"/>
          <p:nvPr/>
        </p:nvSpPr>
        <p:spPr>
          <a:xfrm>
            <a:off x="51090" y="1266477"/>
            <a:ext cx="2285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is 24-hour time?</a:t>
            </a:r>
            <a:endParaRPr lang="en-AU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09DA18C-837A-4E76-AA2D-EAC5D5AB40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3352" y="1472481"/>
            <a:ext cx="9438364" cy="5015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024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EA6A4F79-1262-4393-A907-0F9AED415A0D}"/>
              </a:ext>
            </a:extLst>
          </p:cNvPr>
          <p:cNvSpPr txBox="1">
            <a:spLocks/>
          </p:cNvSpPr>
          <p:nvPr/>
        </p:nvSpPr>
        <p:spPr>
          <a:xfrm>
            <a:off x="0" y="144213"/>
            <a:ext cx="12192000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dirty="0">
                <a:latin typeface="Arial Black" panose="020B0A04020102020204" pitchFamily="34" charset="0"/>
              </a:rPr>
              <a:t>12-Hour and 24-Hour Time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0198D598-DF3C-482C-A837-AE4ADFC2E7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7581136"/>
              </p:ext>
            </p:extLst>
          </p:nvPr>
        </p:nvGraphicFramePr>
        <p:xfrm>
          <a:off x="2702143" y="1163989"/>
          <a:ext cx="6441858" cy="5425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0929">
                  <a:extLst>
                    <a:ext uri="{9D8B030D-6E8A-4147-A177-3AD203B41FA5}">
                      <a16:colId xmlns:a16="http://schemas.microsoft.com/office/drawing/2014/main" val="3116449925"/>
                    </a:ext>
                  </a:extLst>
                </a:gridCol>
                <a:gridCol w="3220929">
                  <a:extLst>
                    <a:ext uri="{9D8B030D-6E8A-4147-A177-3AD203B41FA5}">
                      <a16:colId xmlns:a16="http://schemas.microsoft.com/office/drawing/2014/main" val="1251564933"/>
                    </a:ext>
                  </a:extLst>
                </a:gridCol>
              </a:tblGrid>
              <a:tr h="676864">
                <a:tc>
                  <a:txBody>
                    <a:bodyPr/>
                    <a:lstStyle/>
                    <a:p>
                      <a:pPr algn="ctr"/>
                      <a:r>
                        <a:rPr lang="en-US" sz="4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 </a:t>
                      </a:r>
                      <a:r>
                        <a:rPr lang="en-US" sz="44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hr</a:t>
                      </a:r>
                      <a:endParaRPr lang="en-US" sz="44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 </a:t>
                      </a:r>
                      <a:r>
                        <a:rPr lang="en-US" sz="44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hr</a:t>
                      </a:r>
                      <a:endParaRPr lang="en-US" sz="44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3937964"/>
                  </a:ext>
                </a:extLst>
              </a:tr>
              <a:tr h="514416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2069671"/>
                  </a:ext>
                </a:extLst>
              </a:tr>
              <a:tr h="51441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556847"/>
                  </a:ext>
                </a:extLst>
              </a:tr>
              <a:tr h="51441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11 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2365579"/>
                  </a:ext>
                </a:extLst>
              </a:tr>
              <a:tr h="51441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1430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4067210"/>
                  </a:ext>
                </a:extLst>
              </a:tr>
              <a:tr h="51441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11:30 pm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7203902"/>
                  </a:ext>
                </a:extLst>
              </a:tr>
              <a:tr h="51441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5:45 pm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3068584"/>
                  </a:ext>
                </a:extLst>
              </a:tr>
              <a:tr h="51441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0915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9949068"/>
                  </a:ext>
                </a:extLst>
              </a:tr>
              <a:tr h="51441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2:12 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1569739"/>
                  </a:ext>
                </a:extLst>
              </a:tr>
              <a:tr h="51441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2151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19863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6104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8B7D626-B98B-B641-8B18-E98DA4A9444A}"/>
              </a:ext>
            </a:extLst>
          </p:cNvPr>
          <p:cNvCxnSpPr>
            <a:cxnSpLocks/>
          </p:cNvCxnSpPr>
          <p:nvPr/>
        </p:nvCxnSpPr>
        <p:spPr>
          <a:xfrm>
            <a:off x="-507423" y="608412"/>
            <a:ext cx="12921095" cy="2619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397D406-54BB-0042-8BF5-296A32C2E671}"/>
              </a:ext>
            </a:extLst>
          </p:cNvPr>
          <p:cNvCxnSpPr>
            <a:cxnSpLocks/>
          </p:cNvCxnSpPr>
          <p:nvPr/>
        </p:nvCxnSpPr>
        <p:spPr>
          <a:xfrm>
            <a:off x="0" y="1135206"/>
            <a:ext cx="1233054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C6149F8-9522-8743-BC9D-0AAB46245AE5}"/>
              </a:ext>
            </a:extLst>
          </p:cNvPr>
          <p:cNvSpPr txBox="1"/>
          <p:nvPr/>
        </p:nvSpPr>
        <p:spPr>
          <a:xfrm>
            <a:off x="51090" y="1368"/>
            <a:ext cx="576262" cy="64633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AU" sz="1200" dirty="0">
                <a:solidFill>
                  <a:prstClr val="black"/>
                </a:solidFill>
                <a:latin typeface="Calibri"/>
              </a:rPr>
              <a:t>24</a:t>
            </a:r>
          </a:p>
          <a:p>
            <a:pPr>
              <a:defRPr/>
            </a:pPr>
            <a:r>
              <a:rPr lang="en-AU" sz="1200" dirty="0">
                <a:solidFill>
                  <a:prstClr val="black"/>
                </a:solidFill>
                <a:latin typeface="Calibri"/>
              </a:rPr>
              <a:t>7</a:t>
            </a:r>
          </a:p>
          <a:p>
            <a:pPr>
              <a:defRPr/>
            </a:pPr>
            <a:r>
              <a:rPr lang="en-AU" sz="1200" dirty="0">
                <a:solidFill>
                  <a:prstClr val="black"/>
                </a:solidFill>
                <a:latin typeface="Calibri"/>
              </a:rPr>
              <a:t>30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0AD74E7-A691-E94F-85F0-BC5019DFFBA3}"/>
              </a:ext>
            </a:extLst>
          </p:cNvPr>
          <p:cNvCxnSpPr>
            <a:cxnSpLocks/>
          </p:cNvCxnSpPr>
          <p:nvPr/>
        </p:nvCxnSpPr>
        <p:spPr>
          <a:xfrm>
            <a:off x="1832501" y="1135206"/>
            <a:ext cx="0" cy="582901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150DA4E-AE78-6A4E-A730-61882425D717}"/>
              </a:ext>
            </a:extLst>
          </p:cNvPr>
          <p:cNvSpPr txBox="1"/>
          <p:nvPr/>
        </p:nvSpPr>
        <p:spPr>
          <a:xfrm>
            <a:off x="8963026" y="106363"/>
            <a:ext cx="1584325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AU" sz="2400" dirty="0">
                <a:solidFill>
                  <a:prstClr val="black"/>
                </a:solidFill>
                <a:latin typeface="Calibri"/>
              </a:rPr>
              <a:t>Date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7C1D5A-9723-6743-A4FF-90510E5EA519}"/>
              </a:ext>
            </a:extLst>
          </p:cNvPr>
          <p:cNvSpPr txBox="1"/>
          <p:nvPr/>
        </p:nvSpPr>
        <p:spPr>
          <a:xfrm>
            <a:off x="591715" y="669335"/>
            <a:ext cx="8620125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AU" sz="2400" dirty="0">
                <a:solidFill>
                  <a:prstClr val="black"/>
                </a:solidFill>
                <a:latin typeface="Calibri"/>
              </a:rPr>
              <a:t>EQ – How do I convert between 12 and 24 hour time?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5C67CB1-03B3-F245-A002-9A2FBEC40DCD}"/>
              </a:ext>
            </a:extLst>
          </p:cNvPr>
          <p:cNvSpPr txBox="1"/>
          <p:nvPr/>
        </p:nvSpPr>
        <p:spPr>
          <a:xfrm>
            <a:off x="591715" y="79345"/>
            <a:ext cx="167212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AU" sz="2400" dirty="0">
                <a:solidFill>
                  <a:prstClr val="black"/>
                </a:solidFill>
                <a:latin typeface="Calibri"/>
              </a:rPr>
              <a:t>Topic:  Time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96D943-1F43-4BC9-81CD-BE2EA943026D}"/>
              </a:ext>
            </a:extLst>
          </p:cNvPr>
          <p:cNvSpPr txBox="1"/>
          <p:nvPr/>
        </p:nvSpPr>
        <p:spPr>
          <a:xfrm>
            <a:off x="160485" y="1272517"/>
            <a:ext cx="21102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do I solve elapsed time?</a:t>
            </a:r>
            <a:endParaRPr lang="en-AU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192D04-1795-4658-BBBB-11B71F5FAEFD}"/>
              </a:ext>
            </a:extLst>
          </p:cNvPr>
          <p:cNvSpPr/>
          <p:nvPr/>
        </p:nvSpPr>
        <p:spPr>
          <a:xfrm>
            <a:off x="1952740" y="1248783"/>
            <a:ext cx="488590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err="1"/>
              <a:t>Eg</a:t>
            </a:r>
            <a:r>
              <a:rPr lang="en-US" sz="2000" dirty="0"/>
              <a:t> For 3:50am and 9:30am, elapsed time is ____ </a:t>
            </a:r>
            <a:r>
              <a:rPr lang="en-US" sz="2000" dirty="0" err="1"/>
              <a:t>hrs</a:t>
            </a:r>
            <a:r>
              <a:rPr lang="en-US" sz="2000" dirty="0"/>
              <a:t>, ____ mins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5982825-8449-49FE-BD4F-9005B13CBB87}"/>
              </a:ext>
            </a:extLst>
          </p:cNvPr>
          <p:cNvSpPr/>
          <p:nvPr/>
        </p:nvSpPr>
        <p:spPr>
          <a:xfrm>
            <a:off x="1832501" y="2284208"/>
            <a:ext cx="464260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One method possible method to work this out is;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8919DEF-700E-4FC1-8728-916E1406A9E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68"/>
          <a:stretch/>
        </p:blipFill>
        <p:spPr>
          <a:xfrm>
            <a:off x="1907165" y="3339555"/>
            <a:ext cx="5038580" cy="110197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4868C3B-BB2A-4A01-A78A-C5225C41F0E8}"/>
              </a:ext>
            </a:extLst>
          </p:cNvPr>
          <p:cNvSpPr txBox="1"/>
          <p:nvPr/>
        </p:nvSpPr>
        <p:spPr>
          <a:xfrm>
            <a:off x="7182606" y="1241648"/>
            <a:ext cx="5009394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Step 1) </a:t>
            </a:r>
            <a:r>
              <a:rPr lang="en-US" sz="1800" dirty="0"/>
              <a:t>	Calculate number of minutes until the next full hour.</a:t>
            </a:r>
          </a:p>
          <a:p>
            <a:pPr lvl="1"/>
            <a:r>
              <a:rPr lang="en-US" i="1" dirty="0" err="1"/>
              <a:t>Eg</a:t>
            </a:r>
            <a:r>
              <a:rPr lang="en-US" i="1" dirty="0"/>
              <a:t> There are 10 mins until 4am</a:t>
            </a:r>
          </a:p>
          <a:p>
            <a:endParaRPr lang="en-US" sz="1800" i="1" dirty="0"/>
          </a:p>
          <a:p>
            <a:r>
              <a:rPr lang="en-US" sz="1800" b="1" dirty="0"/>
              <a:t>Step 2) </a:t>
            </a:r>
            <a:r>
              <a:rPr lang="en-US" sz="1800" dirty="0"/>
              <a:t>	Calculate number of hours until you reach the correct hour.</a:t>
            </a:r>
            <a:endParaRPr lang="en-US" dirty="0"/>
          </a:p>
          <a:p>
            <a:pPr lvl="1"/>
            <a:r>
              <a:rPr lang="en-US" i="1" dirty="0" err="1"/>
              <a:t>Eg</a:t>
            </a:r>
            <a:r>
              <a:rPr lang="en-US" i="1" dirty="0"/>
              <a:t> There are 5 hours from 4am until 9am</a:t>
            </a:r>
          </a:p>
          <a:p>
            <a:pPr lvl="1"/>
            <a:endParaRPr lang="en-US" i="1" dirty="0"/>
          </a:p>
          <a:p>
            <a:r>
              <a:rPr lang="en-US" sz="1800" b="1" dirty="0"/>
              <a:t>Step 3) </a:t>
            </a:r>
            <a:r>
              <a:rPr lang="en-US" sz="1800" dirty="0"/>
              <a:t>	Add the minutes needed to get the final time.</a:t>
            </a:r>
          </a:p>
          <a:p>
            <a:pPr lvl="1"/>
            <a:r>
              <a:rPr lang="en-US" i="1" dirty="0" err="1"/>
              <a:t>Eg</a:t>
            </a:r>
            <a:r>
              <a:rPr lang="en-US" i="1" dirty="0"/>
              <a:t> 30 min required to get you from 9am to 9:30am</a:t>
            </a:r>
          </a:p>
          <a:p>
            <a:pPr lvl="1"/>
            <a:endParaRPr lang="en-US" dirty="0"/>
          </a:p>
          <a:p>
            <a:r>
              <a:rPr lang="en-US" sz="1800" b="1" dirty="0"/>
              <a:t>Step 4) </a:t>
            </a:r>
            <a:r>
              <a:rPr lang="en-US" sz="1800" dirty="0"/>
              <a:t>	Put them together</a:t>
            </a:r>
          </a:p>
          <a:p>
            <a:pPr lvl="1"/>
            <a:r>
              <a:rPr lang="en-US" i="1" dirty="0"/>
              <a:t>1o mins + 5 hours + 30 mins</a:t>
            </a:r>
          </a:p>
          <a:p>
            <a:pPr lvl="1"/>
            <a:endParaRPr lang="en-US" i="1" dirty="0"/>
          </a:p>
          <a:p>
            <a:r>
              <a:rPr lang="en-US" i="1" dirty="0"/>
              <a:t>There are </a:t>
            </a:r>
            <a:r>
              <a:rPr lang="en-US" b="1" i="1" dirty="0"/>
              <a:t>5hrs and 40 mins</a:t>
            </a:r>
            <a:r>
              <a:rPr lang="en-US" i="1" dirty="0"/>
              <a:t> from 3:50am until 9:30am</a:t>
            </a:r>
            <a:endParaRPr lang="en-US" dirty="0"/>
          </a:p>
          <a:p>
            <a:endParaRPr lang="en-AU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A5AAFCC-180F-4928-AED7-B167BAC9A188}"/>
              </a:ext>
            </a:extLst>
          </p:cNvPr>
          <p:cNvCxnSpPr>
            <a:cxnSpLocks/>
          </p:cNvCxnSpPr>
          <p:nvPr/>
        </p:nvCxnSpPr>
        <p:spPr>
          <a:xfrm>
            <a:off x="7075506" y="1135206"/>
            <a:ext cx="0" cy="582901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6434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EA6A4F79-1262-4393-A907-0F9AED415A0D}"/>
              </a:ext>
            </a:extLst>
          </p:cNvPr>
          <p:cNvSpPr txBox="1">
            <a:spLocks/>
          </p:cNvSpPr>
          <p:nvPr/>
        </p:nvSpPr>
        <p:spPr>
          <a:xfrm>
            <a:off x="0" y="144213"/>
            <a:ext cx="12192000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6000" dirty="0">
                <a:latin typeface="Arial Black" panose="020B0A04020102020204" pitchFamily="34" charset="0"/>
              </a:rPr>
              <a:t>Time Elapsed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87C932EF-A0C1-448A-A790-2B99AB8C6B19}"/>
              </a:ext>
            </a:extLst>
          </p:cNvPr>
          <p:cNvSpPr txBox="1">
            <a:spLocks/>
          </p:cNvSpPr>
          <p:nvPr/>
        </p:nvSpPr>
        <p:spPr>
          <a:xfrm>
            <a:off x="576044" y="1257065"/>
            <a:ext cx="11039912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How long is it between 11:52 am and 12:00 pm?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39828B7-B294-4A5D-AACA-CF181EE8095D}"/>
              </a:ext>
            </a:extLst>
          </p:cNvPr>
          <p:cNvCxnSpPr>
            <a:cxnSpLocks/>
          </p:cNvCxnSpPr>
          <p:nvPr/>
        </p:nvCxnSpPr>
        <p:spPr>
          <a:xfrm flipH="1" flipV="1">
            <a:off x="9047848" y="1696191"/>
            <a:ext cx="234890" cy="44283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1D4966F-BDDA-4511-A0A1-A5C91D3B718D}"/>
              </a:ext>
            </a:extLst>
          </p:cNvPr>
          <p:cNvSpPr txBox="1"/>
          <p:nvPr/>
        </p:nvSpPr>
        <p:spPr>
          <a:xfrm>
            <a:off x="9047847" y="2139025"/>
            <a:ext cx="1585520" cy="646331"/>
          </a:xfrm>
          <a:prstGeom prst="rect">
            <a:avLst/>
          </a:prstGeom>
          <a:solidFill>
            <a:srgbClr val="FFF91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This is NOT a decimal point!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26C897BC-DA1F-4E58-B4C1-6340E678E2A8}"/>
              </a:ext>
            </a:extLst>
          </p:cNvPr>
          <p:cNvSpPr txBox="1">
            <a:spLocks/>
          </p:cNvSpPr>
          <p:nvPr/>
        </p:nvSpPr>
        <p:spPr>
          <a:xfrm>
            <a:off x="9047847" y="3036595"/>
            <a:ext cx="2568109" cy="560714"/>
          </a:xfrm>
          <a:prstGeom prst="rect">
            <a:avLst/>
          </a:prstGeom>
          <a:solidFill>
            <a:srgbClr val="FFF911"/>
          </a:solidFill>
          <a:ln>
            <a:solidFill>
              <a:schemeClr val="tx1"/>
            </a:solidFill>
          </a:ln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60 min = 1 hr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682644DD-6DEF-489A-8CDF-FB8176732DBE}"/>
              </a:ext>
            </a:extLst>
          </p:cNvPr>
          <p:cNvSpPr txBox="1">
            <a:spLocks/>
          </p:cNvSpPr>
          <p:nvPr/>
        </p:nvSpPr>
        <p:spPr>
          <a:xfrm>
            <a:off x="3289682" y="1874057"/>
            <a:ext cx="2568109" cy="560714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 minutes.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24EA5707-3242-49F3-AB80-DB6350216A5F}"/>
              </a:ext>
            </a:extLst>
          </p:cNvPr>
          <p:cNvSpPr txBox="1">
            <a:spLocks/>
          </p:cNvSpPr>
          <p:nvPr/>
        </p:nvSpPr>
        <p:spPr>
          <a:xfrm>
            <a:off x="1074234" y="3192020"/>
            <a:ext cx="6999006" cy="560714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30 minutes.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EE8621EF-139F-4F4A-B4C9-4A08C079DF8C}"/>
              </a:ext>
            </a:extLst>
          </p:cNvPr>
          <p:cNvSpPr txBox="1">
            <a:spLocks/>
          </p:cNvSpPr>
          <p:nvPr/>
        </p:nvSpPr>
        <p:spPr>
          <a:xfrm>
            <a:off x="2107825" y="4494235"/>
            <a:ext cx="4737946" cy="560714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 hours.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C8ED1C66-35C3-4EBD-BF77-7EF7FDAFA3CB}"/>
              </a:ext>
            </a:extLst>
          </p:cNvPr>
          <p:cNvSpPr txBox="1">
            <a:spLocks/>
          </p:cNvSpPr>
          <p:nvPr/>
        </p:nvSpPr>
        <p:spPr>
          <a:xfrm>
            <a:off x="-946218" y="2580245"/>
            <a:ext cx="11039912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How long is it between 6:40 pm and 7:10 pm?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73233F2F-B3A4-4C58-9538-89548FED553F}"/>
              </a:ext>
            </a:extLst>
          </p:cNvPr>
          <p:cNvSpPr txBox="1">
            <a:spLocks/>
          </p:cNvSpPr>
          <p:nvPr/>
        </p:nvSpPr>
        <p:spPr>
          <a:xfrm>
            <a:off x="-946218" y="3898208"/>
            <a:ext cx="11039912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How long is it between 9:00 am and 9:00 pm?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3F553976-EB3F-4CF4-8DFD-71824385C1B2}"/>
              </a:ext>
            </a:extLst>
          </p:cNvPr>
          <p:cNvSpPr txBox="1">
            <a:spLocks/>
          </p:cNvSpPr>
          <p:nvPr/>
        </p:nvSpPr>
        <p:spPr>
          <a:xfrm>
            <a:off x="-946220" y="5221388"/>
            <a:ext cx="11039912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How long is it between 2:10 am and 1:30 pm?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FCCD27E5-6861-4F1F-83DA-EABDDEA81DEC}"/>
              </a:ext>
            </a:extLst>
          </p:cNvPr>
          <p:cNvSpPr txBox="1">
            <a:spLocks/>
          </p:cNvSpPr>
          <p:nvPr/>
        </p:nvSpPr>
        <p:spPr>
          <a:xfrm>
            <a:off x="2204763" y="5817415"/>
            <a:ext cx="4737946" cy="560714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 hours and 20 minutes.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76C1146-FCE4-4228-A937-B7622CF3FA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7847" y="3814197"/>
            <a:ext cx="2568109" cy="2867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115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9" grpId="0" animBg="1"/>
      <p:bldP spid="20" grpId="0"/>
      <p:bldP spid="24" grpId="0"/>
      <p:bldP spid="25" grpId="0"/>
      <p:bldP spid="3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EA6A4F79-1262-4393-A907-0F9AED415A0D}"/>
              </a:ext>
            </a:extLst>
          </p:cNvPr>
          <p:cNvSpPr txBox="1">
            <a:spLocks/>
          </p:cNvSpPr>
          <p:nvPr/>
        </p:nvSpPr>
        <p:spPr>
          <a:xfrm>
            <a:off x="0" y="144213"/>
            <a:ext cx="12192000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6000" dirty="0">
                <a:latin typeface="Arial Black" panose="020B0A04020102020204" pitchFamily="34" charset="0"/>
              </a:rPr>
              <a:t>Time Elapsed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87C932EF-A0C1-448A-A790-2B99AB8C6B19}"/>
              </a:ext>
            </a:extLst>
          </p:cNvPr>
          <p:cNvSpPr txBox="1">
            <a:spLocks/>
          </p:cNvSpPr>
          <p:nvPr/>
        </p:nvSpPr>
        <p:spPr>
          <a:xfrm>
            <a:off x="570659" y="1139377"/>
            <a:ext cx="11039912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Mr </a:t>
            </a:r>
            <a:r>
              <a:rPr lang="en-AU" sz="3200" dirty="0" err="1">
                <a:latin typeface="Arial" panose="020B0604020202020204" pitchFamily="34" charset="0"/>
                <a:cs typeface="Arial" panose="020B0604020202020204" pitchFamily="34" charset="0"/>
              </a:rPr>
              <a:t>Carr</a:t>
            </a:r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 attends volleyball training for 1 ½ hours. If he starts at 3:17 pm when will he finish?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9BB888-2CCA-491D-BB78-73D88C9834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5894" y="2002176"/>
            <a:ext cx="3247923" cy="2161345"/>
          </a:xfrm>
          <a:prstGeom prst="rect">
            <a:avLst/>
          </a:prstGeo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682644DD-6DEF-489A-8CDF-FB8176732DBE}"/>
              </a:ext>
            </a:extLst>
          </p:cNvPr>
          <p:cNvSpPr txBox="1">
            <a:spLocks/>
          </p:cNvSpPr>
          <p:nvPr/>
        </p:nvSpPr>
        <p:spPr>
          <a:xfrm>
            <a:off x="4806561" y="2154608"/>
            <a:ext cx="2568109" cy="560714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4:47 pm.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7C7F76F6-F7D7-4512-8C70-EEC6F8B8FCB4}"/>
              </a:ext>
            </a:extLst>
          </p:cNvPr>
          <p:cNvSpPr txBox="1">
            <a:spLocks/>
          </p:cNvSpPr>
          <p:nvPr/>
        </p:nvSpPr>
        <p:spPr>
          <a:xfrm>
            <a:off x="251301" y="2772644"/>
            <a:ext cx="9627635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How many hours does Miss Levitt work if she arrives at school at 6:15 am and leaves at 5:45 pm?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BD41553-AB6E-406E-8F1B-4586960B8297}"/>
              </a:ext>
            </a:extLst>
          </p:cNvPr>
          <p:cNvSpPr txBox="1">
            <a:spLocks/>
          </p:cNvSpPr>
          <p:nvPr/>
        </p:nvSpPr>
        <p:spPr>
          <a:xfrm>
            <a:off x="362399" y="4676093"/>
            <a:ext cx="11456435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Miss Palmer couldn’t sleep, so she got up early at 3:52 am. She stayed up late too, crawling to bed at 12:01 am. </a:t>
            </a:r>
          </a:p>
          <a:p>
            <a:pPr algn="ctr"/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How many hours was Miss Palmer up for?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24EA5707-3242-49F3-AB80-DB6350216A5F}"/>
              </a:ext>
            </a:extLst>
          </p:cNvPr>
          <p:cNvSpPr txBox="1">
            <a:spLocks/>
          </p:cNvSpPr>
          <p:nvPr/>
        </p:nvSpPr>
        <p:spPr>
          <a:xfrm>
            <a:off x="1401979" y="3910257"/>
            <a:ext cx="7326281" cy="560714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 ½ hours (11 hours and 30 minutes).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EE8621EF-139F-4F4A-B4C9-4A08C079DF8C}"/>
              </a:ext>
            </a:extLst>
          </p:cNvPr>
          <p:cNvSpPr txBox="1">
            <a:spLocks/>
          </p:cNvSpPr>
          <p:nvPr/>
        </p:nvSpPr>
        <p:spPr>
          <a:xfrm>
            <a:off x="3918109" y="6151385"/>
            <a:ext cx="4737946" cy="560714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21 hours and 9 minutes.</a:t>
            </a:r>
          </a:p>
        </p:txBody>
      </p:sp>
    </p:spTree>
    <p:extLst>
      <p:ext uri="{BB962C8B-B14F-4D97-AF65-F5344CB8AC3E}">
        <p14:creationId xmlns:p14="http://schemas.microsoft.com/office/powerpoint/2010/main" val="4274031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4" grpId="0"/>
      <p:bldP spid="2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EA6A4F79-1262-4393-A907-0F9AED415A0D}"/>
              </a:ext>
            </a:extLst>
          </p:cNvPr>
          <p:cNvSpPr txBox="1">
            <a:spLocks/>
          </p:cNvSpPr>
          <p:nvPr/>
        </p:nvSpPr>
        <p:spPr>
          <a:xfrm>
            <a:off x="0" y="230119"/>
            <a:ext cx="12192000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6000" dirty="0">
                <a:latin typeface="Arial Black" panose="020B0A04020102020204" pitchFamily="34" charset="0"/>
              </a:rPr>
              <a:t>What Happened to 10?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87C932EF-A0C1-448A-A790-2B99AB8C6B19}"/>
              </a:ext>
            </a:extLst>
          </p:cNvPr>
          <p:cNvSpPr txBox="1">
            <a:spLocks/>
          </p:cNvSpPr>
          <p:nvPr/>
        </p:nvSpPr>
        <p:spPr>
          <a:xfrm>
            <a:off x="371910" y="1313848"/>
            <a:ext cx="6693015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3600" dirty="0">
                <a:latin typeface="Arial" panose="020B0604020202020204" pitchFamily="34" charset="0"/>
                <a:cs typeface="Arial" panose="020B0604020202020204" pitchFamily="34" charset="0"/>
              </a:rPr>
              <a:t>In small groups on your laptops, research the following: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82C058-BAB2-488B-A553-54EF17ADFD56}"/>
              </a:ext>
            </a:extLst>
          </p:cNvPr>
          <p:cNvSpPr/>
          <p:nvPr/>
        </p:nvSpPr>
        <p:spPr>
          <a:xfrm>
            <a:off x="8137320" y="1685304"/>
            <a:ext cx="3281493" cy="954107"/>
          </a:xfrm>
          <a:prstGeom prst="rect">
            <a:avLst/>
          </a:prstGeom>
          <a:solidFill>
            <a:srgbClr val="FFF911"/>
          </a:solidFill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Time is a little bit different…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D8623C8-A0C6-45F5-978B-EC95C4DE5459}"/>
              </a:ext>
            </a:extLst>
          </p:cNvPr>
          <p:cNvSpPr/>
          <p:nvPr/>
        </p:nvSpPr>
        <p:spPr>
          <a:xfrm>
            <a:off x="6962861" y="2820625"/>
            <a:ext cx="5394122" cy="5232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60 seconds = 1 minute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3F12542-BB4B-45D4-A0D8-2CE553501775}"/>
              </a:ext>
            </a:extLst>
          </p:cNvPr>
          <p:cNvSpPr/>
          <p:nvPr/>
        </p:nvSpPr>
        <p:spPr>
          <a:xfrm>
            <a:off x="7245293" y="3377675"/>
            <a:ext cx="4555221" cy="5232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60 minutes = 1 hour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3E8C6A1-076D-4A82-91DB-4F3684A32F4C}"/>
              </a:ext>
            </a:extLst>
          </p:cNvPr>
          <p:cNvSpPr/>
          <p:nvPr/>
        </p:nvSpPr>
        <p:spPr>
          <a:xfrm>
            <a:off x="6962861" y="3934725"/>
            <a:ext cx="5327009" cy="5232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24 hours = 1 day</a:t>
            </a:r>
            <a:endParaRPr lang="en-AU" sz="28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3CDC1CF-EAF3-4024-883D-3CD11A01F18B}"/>
              </a:ext>
            </a:extLst>
          </p:cNvPr>
          <p:cNvSpPr/>
          <p:nvPr/>
        </p:nvSpPr>
        <p:spPr>
          <a:xfrm>
            <a:off x="6962861" y="4491775"/>
            <a:ext cx="5914239" cy="5232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7 days = 1 week</a:t>
            </a:r>
            <a:endParaRPr lang="en-AU" sz="28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26D833E-6AED-49DA-A85E-745FBBDA16C5}"/>
              </a:ext>
            </a:extLst>
          </p:cNvPr>
          <p:cNvSpPr/>
          <p:nvPr/>
        </p:nvSpPr>
        <p:spPr>
          <a:xfrm>
            <a:off x="6962861" y="5048825"/>
            <a:ext cx="5159230" cy="5232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12 months = 1 year</a:t>
            </a:r>
            <a:endParaRPr lang="en-AU" sz="28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EE4168A-DA5B-4DF3-A0CF-4D75E42C86F1}"/>
              </a:ext>
            </a:extLst>
          </p:cNvPr>
          <p:cNvSpPr/>
          <p:nvPr/>
        </p:nvSpPr>
        <p:spPr>
          <a:xfrm>
            <a:off x="8003096" y="5605875"/>
            <a:ext cx="3415717" cy="5232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365 days = 1 year*</a:t>
            </a:r>
            <a:endParaRPr lang="en-AU" sz="28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789BAB-0384-4D16-B74F-A2C9F18896AC}"/>
              </a:ext>
            </a:extLst>
          </p:cNvPr>
          <p:cNvSpPr/>
          <p:nvPr/>
        </p:nvSpPr>
        <p:spPr>
          <a:xfrm>
            <a:off x="9542476" y="6142616"/>
            <a:ext cx="23006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*(except leap years) 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560A56-42BF-4CF5-9445-139C13B5D9DA}"/>
              </a:ext>
            </a:extLst>
          </p:cNvPr>
          <p:cNvSpPr/>
          <p:nvPr/>
        </p:nvSpPr>
        <p:spPr>
          <a:xfrm>
            <a:off x="7508844" y="1469776"/>
            <a:ext cx="4404220" cy="5182694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B2A0D8E0-1F5B-472B-B486-28580378B757}"/>
              </a:ext>
            </a:extLst>
          </p:cNvPr>
          <p:cNvSpPr txBox="1">
            <a:spLocks/>
          </p:cNvSpPr>
          <p:nvPr/>
        </p:nvSpPr>
        <p:spPr>
          <a:xfrm>
            <a:off x="377855" y="2518926"/>
            <a:ext cx="6857998" cy="4116766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>
              <a:lnSpc>
                <a:spcPts val="4000"/>
              </a:lnSpc>
              <a:buFont typeface="+mj-lt"/>
              <a:buAutoNum type="arabicPeriod"/>
            </a:pPr>
            <a:r>
              <a:rPr lang="en-AU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is there 60 seconds in a minute and 60 minutes in an hour? </a:t>
            </a:r>
          </a:p>
          <a:p>
            <a:pPr marL="514350" indent="-514350">
              <a:lnSpc>
                <a:spcPts val="4000"/>
              </a:lnSpc>
              <a:buFont typeface="+mj-lt"/>
              <a:buAutoNum type="arabicPeriod"/>
            </a:pPr>
            <a:r>
              <a:rPr lang="en-AU" sz="2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are there 24 hours in a day?</a:t>
            </a:r>
          </a:p>
          <a:p>
            <a:pPr marL="514350" indent="-514350">
              <a:lnSpc>
                <a:spcPts val="4000"/>
              </a:lnSpc>
              <a:buFont typeface="+mj-lt"/>
              <a:buAutoNum type="arabicPeriod"/>
            </a:pPr>
            <a:r>
              <a:rPr lang="en-AU" sz="2800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are there 7 days in a week?</a:t>
            </a:r>
          </a:p>
          <a:p>
            <a:pPr marL="514350" indent="-514350">
              <a:lnSpc>
                <a:spcPts val="4000"/>
              </a:lnSpc>
              <a:buFont typeface="+mj-lt"/>
              <a:buAutoNum type="arabicPeriod"/>
            </a:pPr>
            <a:r>
              <a:rPr lang="en-AU" sz="28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are there 12 months in a year?</a:t>
            </a:r>
          </a:p>
          <a:p>
            <a:pPr marL="514350" indent="-514350">
              <a:lnSpc>
                <a:spcPts val="4000"/>
              </a:lnSpc>
              <a:buFont typeface="+mj-lt"/>
              <a:buAutoNum type="arabicPeriod"/>
            </a:pPr>
            <a:r>
              <a:rPr lang="en-AU" sz="28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are there 365 days in a year?</a:t>
            </a:r>
          </a:p>
          <a:p>
            <a:pPr marL="514350" indent="-514350">
              <a:lnSpc>
                <a:spcPts val="4000"/>
              </a:lnSpc>
              <a:buFont typeface="+mj-lt"/>
              <a:buAutoNum type="arabicPeriod"/>
            </a:pPr>
            <a:r>
              <a:rPr lang="en-AU" sz="28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is a leap year and how often does it occur?</a:t>
            </a:r>
          </a:p>
          <a:p>
            <a:pPr marL="514350" indent="-514350">
              <a:buFont typeface="+mj-lt"/>
              <a:buAutoNum type="arabicPeriod"/>
            </a:pP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948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68294" y="62031"/>
            <a:ext cx="11875981" cy="1325563"/>
          </a:xfrm>
        </p:spPr>
        <p:txBody>
          <a:bodyPr>
            <a:noAutofit/>
          </a:bodyPr>
          <a:lstStyle/>
          <a:p>
            <a:pPr algn="ctr"/>
            <a:r>
              <a:rPr lang="en-AU" dirty="0">
                <a:latin typeface="Arial Black" panose="020B0A04020102020204" pitchFamily="34" charset="0"/>
              </a:rPr>
              <a:t>What have we learnt today?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7350" y="1596421"/>
            <a:ext cx="106249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latin typeface="Arial Black" panose="020B0A04020102020204" pitchFamily="34" charset="0"/>
              </a:rPr>
              <a:t>Lesson Objectives: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7350" y="1668599"/>
            <a:ext cx="763186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400" b="1" dirty="0">
                <a:latin typeface="Arial" panose="020B0604020202020204" pitchFamily="34" charset="0"/>
                <a:cs typeface="Arial" panose="020B0604020202020204" pitchFamily="34" charset="0"/>
              </a:rPr>
              <a:t>I will interpret 24 hour and 12 hour time</a:t>
            </a:r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3BDDFD-0EE1-48D7-9661-52E2D71C9D1B}"/>
              </a:ext>
            </a:extLst>
          </p:cNvPr>
          <p:cNvSpPr txBox="1"/>
          <p:nvPr/>
        </p:nvSpPr>
        <p:spPr>
          <a:xfrm>
            <a:off x="601477" y="3316910"/>
            <a:ext cx="666680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Complete the following table.</a:t>
            </a:r>
          </a:p>
          <a:p>
            <a:pPr algn="ctr"/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8F6B8F0-CFAF-4D41-A1FA-553FC19A8B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5306468"/>
              </p:ext>
            </p:extLst>
          </p:nvPr>
        </p:nvGraphicFramePr>
        <p:xfrm>
          <a:off x="713952" y="4074969"/>
          <a:ext cx="6441858" cy="231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0929">
                  <a:extLst>
                    <a:ext uri="{9D8B030D-6E8A-4147-A177-3AD203B41FA5}">
                      <a16:colId xmlns:a16="http://schemas.microsoft.com/office/drawing/2014/main" val="3116449925"/>
                    </a:ext>
                  </a:extLst>
                </a:gridCol>
                <a:gridCol w="3220929">
                  <a:extLst>
                    <a:ext uri="{9D8B030D-6E8A-4147-A177-3AD203B41FA5}">
                      <a16:colId xmlns:a16="http://schemas.microsoft.com/office/drawing/2014/main" val="12515649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chemeClr val="tx1"/>
                          </a:solidFill>
                        </a:rPr>
                        <a:t>24 </a:t>
                      </a:r>
                      <a:r>
                        <a:rPr lang="en-US" sz="3200" dirty="0" err="1">
                          <a:solidFill>
                            <a:schemeClr val="tx1"/>
                          </a:solidFill>
                        </a:rPr>
                        <a:t>hr</a:t>
                      </a:r>
                      <a:endParaRPr 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chemeClr val="tx1"/>
                          </a:solidFill>
                        </a:rPr>
                        <a:t>12 </a:t>
                      </a:r>
                      <a:r>
                        <a:rPr lang="en-US" sz="3200" dirty="0" err="1">
                          <a:solidFill>
                            <a:schemeClr val="tx1"/>
                          </a:solidFill>
                        </a:rPr>
                        <a:t>hr</a:t>
                      </a:r>
                      <a:endParaRPr 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3937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0400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20696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8:30 pm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556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/>
                        <a:t>1300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2365579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3BA6BC3A-49E0-440C-B0D8-A468A8B7FA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0244" y="3782132"/>
            <a:ext cx="4494031" cy="2902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654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10325</TotalTime>
  <Words>689</Words>
  <Application>Microsoft Office PowerPoint</Application>
  <PresentationFormat>Widescreen</PresentationFormat>
  <Paragraphs>121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Arial Black</vt:lpstr>
      <vt:lpstr>Calibri</vt:lpstr>
      <vt:lpstr>Calibri Light</vt:lpstr>
      <vt:lpstr>Cambria Math</vt:lpstr>
      <vt:lpstr>Office Theme</vt:lpstr>
      <vt:lpstr>5 Questions</vt:lpstr>
      <vt:lpstr>5 Questions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have we learnt today?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teacher</dc:creator>
  <cp:lastModifiedBy>Jade Gregory</cp:lastModifiedBy>
  <cp:revision>359</cp:revision>
  <dcterms:created xsi:type="dcterms:W3CDTF">2017-02-09T01:19:14Z</dcterms:created>
  <dcterms:modified xsi:type="dcterms:W3CDTF">2021-11-24T01:55:22Z</dcterms:modified>
</cp:coreProperties>
</file>
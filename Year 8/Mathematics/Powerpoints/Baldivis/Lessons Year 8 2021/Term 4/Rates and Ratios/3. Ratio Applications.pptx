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8" r:id="rId3"/>
    <p:sldId id="267" r:id="rId4"/>
    <p:sldId id="258" r:id="rId5"/>
    <p:sldId id="257" r:id="rId6"/>
    <p:sldId id="259" r:id="rId7"/>
    <p:sldId id="260" r:id="rId8"/>
    <p:sldId id="263" r:id="rId9"/>
    <p:sldId id="261" r:id="rId10"/>
    <p:sldId id="262" r:id="rId11"/>
    <p:sldId id="265" r:id="rId12"/>
    <p:sldId id="264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24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35C22-D45C-4198-B28C-28347809426D}" type="datetimeFigureOut">
              <a:rPr lang="en-AU" smtClean="0"/>
              <a:t>2/11/21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23C7-DF19-4B2C-B3B7-D6A45C51EC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274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35C22-D45C-4198-B28C-28347809426D}" type="datetimeFigureOut">
              <a:rPr lang="en-AU" smtClean="0"/>
              <a:t>2/11/21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23C7-DF19-4B2C-B3B7-D6A45C51EC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166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35C22-D45C-4198-B28C-28347809426D}" type="datetimeFigureOut">
              <a:rPr lang="en-AU" smtClean="0"/>
              <a:t>2/11/21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23C7-DF19-4B2C-B3B7-D6A45C51EC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9049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35C22-D45C-4198-B28C-28347809426D}" type="datetimeFigureOut">
              <a:rPr lang="en-AU" smtClean="0"/>
              <a:t>2/11/21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23C7-DF19-4B2C-B3B7-D6A45C51EC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0845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35C22-D45C-4198-B28C-28347809426D}" type="datetimeFigureOut">
              <a:rPr lang="en-AU" smtClean="0"/>
              <a:t>2/11/21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23C7-DF19-4B2C-B3B7-D6A45C51EC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4115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35C22-D45C-4198-B28C-28347809426D}" type="datetimeFigureOut">
              <a:rPr lang="en-AU" smtClean="0"/>
              <a:t>2/11/21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23C7-DF19-4B2C-B3B7-D6A45C51EC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1955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35C22-D45C-4198-B28C-28347809426D}" type="datetimeFigureOut">
              <a:rPr lang="en-AU" smtClean="0"/>
              <a:t>2/11/21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23C7-DF19-4B2C-B3B7-D6A45C51EC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7465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35C22-D45C-4198-B28C-28347809426D}" type="datetimeFigureOut">
              <a:rPr lang="en-AU" smtClean="0"/>
              <a:t>2/11/21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23C7-DF19-4B2C-B3B7-D6A45C51EC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2452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35C22-D45C-4198-B28C-28347809426D}" type="datetimeFigureOut">
              <a:rPr lang="en-AU" smtClean="0"/>
              <a:t>2/11/21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23C7-DF19-4B2C-B3B7-D6A45C51EC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7264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35C22-D45C-4198-B28C-28347809426D}" type="datetimeFigureOut">
              <a:rPr lang="en-AU" smtClean="0"/>
              <a:t>2/11/21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23C7-DF19-4B2C-B3B7-D6A45C51EC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0753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35C22-D45C-4198-B28C-28347809426D}" type="datetimeFigureOut">
              <a:rPr lang="en-AU" smtClean="0"/>
              <a:t>2/11/21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23C7-DF19-4B2C-B3B7-D6A45C51EC45}" type="slidenum">
              <a:rPr lang="en-AU" smtClean="0"/>
              <a:t>‹#›</a:t>
            </a:fld>
            <a:endParaRPr lang="en-A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083501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35C22-D45C-4198-B28C-28347809426D}" type="datetimeFigureOut">
              <a:rPr lang="en-AU" smtClean="0"/>
              <a:t>2/11/21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23C7-DF19-4B2C-B3B7-D6A45C51EC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76625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35C22-D45C-4198-B28C-28347809426D}" type="datetimeFigureOut">
              <a:rPr lang="en-AU" smtClean="0"/>
              <a:t>2/11/21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23C7-DF19-4B2C-B3B7-D6A45C51EC45}" type="slidenum">
              <a:rPr lang="en-AU" smtClean="0"/>
              <a:t>‹#›</a:t>
            </a:fld>
            <a:endParaRPr lang="en-A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934499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35C22-D45C-4198-B28C-28347809426D}" type="datetimeFigureOut">
              <a:rPr lang="en-AU" smtClean="0"/>
              <a:t>2/11/21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23C7-DF19-4B2C-B3B7-D6A45C51EC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93344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35C22-D45C-4198-B28C-28347809426D}" type="datetimeFigureOut">
              <a:rPr lang="en-AU" smtClean="0"/>
              <a:t>2/11/21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23C7-DF19-4B2C-B3B7-D6A45C51EC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94450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35C22-D45C-4198-B28C-28347809426D}" type="datetimeFigureOut">
              <a:rPr lang="en-AU" smtClean="0"/>
              <a:t>2/11/21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23C7-DF19-4B2C-B3B7-D6A45C51EC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2205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835C22-D45C-4198-B28C-28347809426D}" type="datetimeFigureOut">
              <a:rPr lang="en-AU" smtClean="0"/>
              <a:t>2/11/21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1F923C7-DF19-4B2C-B3B7-D6A45C51EC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3146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9208D-BD30-42CF-93E8-348F777B48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Ratio Applications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7ACAED-F0CD-47B5-8F01-6B2CA13436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EQ: How do I divide a quantity in a given ratio?</a:t>
            </a:r>
          </a:p>
          <a:p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EC6405-0235-4153-A194-75DE5FB45412}"/>
              </a:ext>
            </a:extLst>
          </p:cNvPr>
          <p:cNvSpPr txBox="1"/>
          <p:nvPr/>
        </p:nvSpPr>
        <p:spPr>
          <a:xfrm>
            <a:off x="543339" y="3286539"/>
            <a:ext cx="20938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Name those characters?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8D4A87-54A0-496A-933E-FD0E00F4A3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778" y="463827"/>
            <a:ext cx="4035675" cy="2637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479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D69A3-10CF-4E59-96DB-67250E73A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460" y="1274041"/>
            <a:ext cx="7886700" cy="994172"/>
          </a:xfrm>
        </p:spPr>
        <p:txBody>
          <a:bodyPr>
            <a:normAutofit/>
          </a:bodyPr>
          <a:lstStyle/>
          <a:p>
            <a:pPr algn="l"/>
            <a:r>
              <a:rPr lang="en-US" sz="2700" dirty="0"/>
              <a:t>Daily 5</a:t>
            </a:r>
            <a:endParaRPr lang="en-AU" sz="27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086E2-2B5D-4C6D-9002-E16A43F81B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5081" y="1844824"/>
                <a:ext cx="7807344" cy="4608512"/>
              </a:xfrm>
            </p:spPr>
            <p:txBody>
              <a:bodyPr>
                <a:normAutofit lnSpcReduction="10000"/>
              </a:bodyPr>
              <a:lstStyle/>
              <a:p>
                <a:pPr marL="385763" indent="-385763">
                  <a:buFont typeface="+mj-lt"/>
                  <a:buAutoNum type="arabicPeriod"/>
                </a:pPr>
                <a:r>
                  <a:rPr lang="en-US" sz="2800" dirty="0"/>
                  <a:t>Make sure your summaries from last term are complete. Highlight important information.</a:t>
                </a:r>
              </a:p>
              <a:p>
                <a:pPr marL="385763" indent="-385763">
                  <a:buFont typeface="Arial" pitchFamily="34" charset="0"/>
                  <a:buAutoNum type="arabicPeriod"/>
                </a:pPr>
                <a:r>
                  <a:rPr lang="en-AU" sz="2800" dirty="0"/>
                  <a:t>A triangle with a Length of 8 cm and a height of 4cm. What is the area?</a:t>
                </a:r>
              </a:p>
              <a:p>
                <a:pPr marL="385763" indent="-385763">
                  <a:buFont typeface="Arial" pitchFamily="34" charset="0"/>
                  <a:buAutoNum type="arabicPeriod"/>
                </a:pPr>
                <a:r>
                  <a:rPr lang="en-AU" sz="2800" dirty="0"/>
                  <a:t>3</a:t>
                </a:r>
                <a:r>
                  <a:rPr lang="en-AU" sz="2800" baseline="30000" dirty="0"/>
                  <a:t>2</a:t>
                </a:r>
                <a:r>
                  <a:rPr lang="en-AU" sz="2800" dirty="0"/>
                  <a:t> + (8 </a:t>
                </a:r>
                <a14:m>
                  <m:oMath xmlns:m="http://schemas.openxmlformats.org/officeDocument/2006/math">
                    <m:r>
                      <a:rPr lang="en-AU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sz="2800" dirty="0"/>
                  <a:t> 4) + 15 =</a:t>
                </a:r>
              </a:p>
              <a:p>
                <a:pPr marL="385763" indent="-385763"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÷</m:t>
                        </m:r>
                        <m:sSup>
                          <m:sSupPr>
                            <m:ctrlPr>
                              <a:rPr lang="en-AU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CA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CA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n-CA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en-AU" sz="2800" dirty="0"/>
              </a:p>
              <a:p>
                <a:pPr marL="385763" indent="-385763">
                  <a:buAutoNum type="arabicPeriod"/>
                </a:pPr>
                <a:r>
                  <a:rPr lang="en-AU" sz="2800" dirty="0"/>
                  <a:t>Find the circumference of the semi circle below.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086E2-2B5D-4C6D-9002-E16A43F81B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5081" y="1844824"/>
                <a:ext cx="7807344" cy="4608512"/>
              </a:xfrm>
              <a:blipFill>
                <a:blip r:embed="rId2"/>
                <a:stretch>
                  <a:fillRect l="-974" t="-2198" r="-2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ABA02223-11AE-4C48-B8BD-6678F67D2348}"/>
              </a:ext>
            </a:extLst>
          </p:cNvPr>
          <p:cNvSpPr txBox="1">
            <a:spLocks/>
          </p:cNvSpPr>
          <p:nvPr/>
        </p:nvSpPr>
        <p:spPr>
          <a:xfrm>
            <a:off x="107460" y="155891"/>
            <a:ext cx="7005892" cy="994173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/>
              <a:t>Topic: Ratio Application</a:t>
            </a:r>
            <a:br>
              <a:rPr lang="en-US" sz="2400" dirty="0"/>
            </a:br>
            <a:r>
              <a:rPr lang="en-US" sz="2400" b="1" dirty="0"/>
              <a:t>EQ: </a:t>
            </a:r>
            <a:r>
              <a:rPr lang="en-US" sz="2400" dirty="0"/>
              <a:t>How do I divide a quantity in a given ratio?</a:t>
            </a:r>
            <a:endParaRPr lang="en-AU" sz="2400" dirty="0"/>
          </a:p>
        </p:txBody>
      </p:sp>
      <p:pic>
        <p:nvPicPr>
          <p:cNvPr id="1026" name="Picture 2" descr="Area of a semicircle">
            <a:extLst>
              <a:ext uri="{FF2B5EF4-FFF2-40B4-BE49-F238E27FC236}">
                <a16:creationId xmlns:a16="http://schemas.microsoft.com/office/drawing/2014/main" id="{45962307-F9F6-4F5C-A741-04B0BE6EBD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 bwMode="auto">
          <a:xfrm>
            <a:off x="8400257" y="5013176"/>
            <a:ext cx="1948767" cy="1734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ADCE42A-4558-4499-A818-C2AABCD5A1AF}"/>
              </a:ext>
            </a:extLst>
          </p:cNvPr>
          <p:cNvCxnSpPr>
            <a:cxnSpLocks/>
          </p:cNvCxnSpPr>
          <p:nvPr/>
        </p:nvCxnSpPr>
        <p:spPr>
          <a:xfrm>
            <a:off x="0" y="1212052"/>
            <a:ext cx="10668000" cy="0"/>
          </a:xfrm>
          <a:prstGeom prst="line">
            <a:avLst/>
          </a:prstGeom>
          <a:ln w="28575">
            <a:solidFill>
              <a:srgbClr val="D66FF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High Five Bee">
            <a:extLst>
              <a:ext uri="{FF2B5EF4-FFF2-40B4-BE49-F238E27FC236}">
                <a16:creationId xmlns:a16="http://schemas.microsoft.com/office/drawing/2014/main" id="{71B11C8C-E085-4354-811D-1ABEF196F2E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5829" y="793883"/>
            <a:ext cx="1948767" cy="1948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587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ECC31-C6A3-4C3E-97D3-CF6993265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Trivia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1F1C7-FA5C-43D2-ABDE-8F34C4C79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Do sharks have tongues?</a:t>
            </a:r>
          </a:p>
          <a:p>
            <a:r>
              <a:rPr lang="en-AU" dirty="0"/>
              <a:t>Answer on next slide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B2CCB2-39FD-4468-9334-7B161ECD6B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211390"/>
            <a:ext cx="5761590" cy="422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580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480EC-71EF-475D-84E9-4B8C0715A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Revision on equivalent ratio’s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B41DF-A202-448C-8337-80B5CAD58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85461"/>
            <a:ext cx="8596668" cy="5300869"/>
          </a:xfrm>
        </p:spPr>
        <p:txBody>
          <a:bodyPr>
            <a:normAutofit/>
          </a:bodyPr>
          <a:lstStyle/>
          <a:p>
            <a:r>
              <a:rPr lang="en-AU" dirty="0"/>
              <a:t>Find three equivalent ratio’s for each of the following: The first is done for you. </a:t>
            </a:r>
          </a:p>
          <a:p>
            <a:pPr marL="0" indent="0">
              <a:buNone/>
            </a:pPr>
            <a:r>
              <a:rPr lang="en-AU" dirty="0"/>
              <a:t>    3 : 5 –  9 : 15,  21 : 35,  30 : 50.</a:t>
            </a:r>
          </a:p>
          <a:p>
            <a:pPr marL="0" indent="0">
              <a:buNone/>
            </a:pPr>
            <a:endParaRPr lang="en-AU" dirty="0"/>
          </a:p>
          <a:p>
            <a:r>
              <a:rPr lang="en-AU" dirty="0"/>
              <a:t>1 : 2 -  </a:t>
            </a:r>
          </a:p>
          <a:p>
            <a:endParaRPr lang="en-AU" dirty="0"/>
          </a:p>
          <a:p>
            <a:r>
              <a:rPr lang="en-AU" dirty="0"/>
              <a:t>8 : 7 - </a:t>
            </a:r>
          </a:p>
          <a:p>
            <a:pPr marL="0" indent="0">
              <a:buNone/>
            </a:pPr>
            <a:endParaRPr lang="en-AU" dirty="0"/>
          </a:p>
          <a:p>
            <a:r>
              <a:rPr lang="en-AU" dirty="0"/>
              <a:t>4 : 12 - </a:t>
            </a:r>
          </a:p>
          <a:p>
            <a:endParaRPr lang="en-AU" dirty="0"/>
          </a:p>
          <a:p>
            <a:r>
              <a:rPr lang="en-AU" dirty="0"/>
              <a:t>14 : 49 - </a:t>
            </a:r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DA3905-64A5-4F5B-949F-3D11B45B2C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077" y="2960164"/>
            <a:ext cx="4967080" cy="33113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4C6A35-5019-4428-A906-4CAF43E44A40}"/>
              </a:ext>
            </a:extLst>
          </p:cNvPr>
          <p:cNvSpPr txBox="1"/>
          <p:nvPr/>
        </p:nvSpPr>
        <p:spPr>
          <a:xfrm>
            <a:off x="9978887" y="834887"/>
            <a:ext cx="22131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Sharks have tongues..</a:t>
            </a:r>
          </a:p>
        </p:txBody>
      </p:sp>
    </p:spTree>
    <p:extLst>
      <p:ext uri="{BB962C8B-B14F-4D97-AF65-F5344CB8AC3E}">
        <p14:creationId xmlns:p14="http://schemas.microsoft.com/office/powerpoint/2010/main" val="2538742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C274A-4A00-4B12-A376-54390D6D1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Simplify the following ratio’s.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D4824-6B9E-4349-87D6-AA873129F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05949"/>
            <a:ext cx="8596668" cy="4835414"/>
          </a:xfrm>
        </p:spPr>
        <p:txBody>
          <a:bodyPr>
            <a:normAutofit/>
          </a:bodyPr>
          <a:lstStyle/>
          <a:p>
            <a:endParaRPr lang="en-AU" dirty="0"/>
          </a:p>
          <a:p>
            <a:r>
              <a:rPr lang="en-AU" dirty="0"/>
              <a:t>250kg : 5 tonnes =  turn tonnes to </a:t>
            </a:r>
            <a:r>
              <a:rPr lang="en-AU" dirty="0" err="1"/>
              <a:t>kgs</a:t>
            </a:r>
            <a:r>
              <a:rPr lang="en-AU" dirty="0"/>
              <a:t> 250 : 5000 = </a:t>
            </a:r>
            <a:r>
              <a:rPr lang="en-AU" b="1" dirty="0"/>
              <a:t>1 : 20</a:t>
            </a:r>
          </a:p>
          <a:p>
            <a:endParaRPr lang="en-AU" dirty="0"/>
          </a:p>
          <a:p>
            <a:r>
              <a:rPr lang="en-AU" dirty="0"/>
              <a:t>16 : 8</a:t>
            </a:r>
          </a:p>
          <a:p>
            <a:endParaRPr lang="en-AU" dirty="0"/>
          </a:p>
          <a:p>
            <a:r>
              <a:rPr lang="en-AU" dirty="0"/>
              <a:t>40 : 8</a:t>
            </a:r>
          </a:p>
          <a:p>
            <a:endParaRPr lang="en-AU" dirty="0"/>
          </a:p>
          <a:p>
            <a:r>
              <a:rPr lang="en-AU" dirty="0"/>
              <a:t>2000ml : 15L</a:t>
            </a:r>
          </a:p>
          <a:p>
            <a:endParaRPr lang="en-AU" dirty="0"/>
          </a:p>
          <a:p>
            <a:r>
              <a:rPr lang="en-AU" dirty="0"/>
              <a:t>96 : 156</a:t>
            </a:r>
          </a:p>
          <a:p>
            <a:endParaRPr lang="en-AU" dirty="0"/>
          </a:p>
          <a:p>
            <a:r>
              <a:rPr lang="en-AU" dirty="0"/>
              <a:t>240 seconds : 2 mins</a:t>
            </a:r>
          </a:p>
          <a:p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702E99-55E7-4BEC-B037-E1A98D629F59}"/>
              </a:ext>
            </a:extLst>
          </p:cNvPr>
          <p:cNvSpPr txBox="1"/>
          <p:nvPr/>
        </p:nvSpPr>
        <p:spPr>
          <a:xfrm>
            <a:off x="8097078" y="3975652"/>
            <a:ext cx="29684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Who is this? And what does he say?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E81D65-0A0C-47C9-8DBF-B1E45ECA83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7558" y="384313"/>
            <a:ext cx="4422870" cy="3370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46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F062E-A8E0-4764-AF97-C6D0D7BFB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659" y="113841"/>
            <a:ext cx="10548854" cy="1186149"/>
          </a:xfrm>
        </p:spPr>
        <p:txBody>
          <a:bodyPr>
            <a:normAutofit fontScale="90000"/>
          </a:bodyPr>
          <a:lstStyle/>
          <a:p>
            <a:r>
              <a:rPr lang="en-AU" dirty="0"/>
              <a:t>Ratio Applications</a:t>
            </a:r>
            <a:br>
              <a:rPr lang="en-AU" dirty="0"/>
            </a:br>
            <a:r>
              <a:rPr lang="en-AU" dirty="0"/>
              <a:t>EQ: How do I divide a quantity in a given ratio?</a:t>
            </a:r>
            <a:br>
              <a:rPr lang="en-AU" dirty="0"/>
            </a:b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F030D4-404F-441F-8EBD-0042F7C941AC}"/>
              </a:ext>
            </a:extLst>
          </p:cNvPr>
          <p:cNvSpPr txBox="1"/>
          <p:nvPr/>
        </p:nvSpPr>
        <p:spPr>
          <a:xfrm>
            <a:off x="600216" y="1388847"/>
            <a:ext cx="1137962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Ratios are used in many different places. Some examples include: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400" dirty="0"/>
              <a:t>Mixing cement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400" dirty="0"/>
              <a:t>Baking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400" dirty="0"/>
              <a:t>Medicine</a:t>
            </a:r>
          </a:p>
          <a:p>
            <a:endParaRPr lang="en-AU" sz="2400" dirty="0"/>
          </a:p>
          <a:p>
            <a:r>
              <a:rPr lang="en-AU" sz="2400" dirty="0"/>
              <a:t>Think of a ratio in terms of parts. A ratio of 2 : 3 has a total of 5 parts.</a:t>
            </a:r>
          </a:p>
          <a:p>
            <a:r>
              <a:rPr lang="en-AU" sz="2400" dirty="0"/>
              <a:t>Use the following procedure:</a:t>
            </a:r>
          </a:p>
          <a:p>
            <a:endParaRPr lang="en-AU" sz="2400" dirty="0"/>
          </a:p>
          <a:p>
            <a:pPr marL="342900" indent="-342900">
              <a:buAutoNum type="arabicPeriod"/>
            </a:pPr>
            <a:r>
              <a:rPr lang="en-AU" sz="2400" dirty="0"/>
              <a:t>Find the total number of parts in the ratio.</a:t>
            </a:r>
          </a:p>
          <a:p>
            <a:pPr marL="342900" indent="-342900">
              <a:buAutoNum type="arabicPeriod"/>
            </a:pPr>
            <a:r>
              <a:rPr lang="en-AU" sz="2400" dirty="0"/>
              <a:t>Find the value of one part.</a:t>
            </a:r>
          </a:p>
          <a:p>
            <a:pPr marL="342900" indent="-342900">
              <a:buAutoNum type="arabicPeriod"/>
            </a:pPr>
            <a:r>
              <a:rPr lang="en-AU" sz="2400" dirty="0"/>
              <a:t>Find the valve of the number of parts.</a:t>
            </a:r>
          </a:p>
          <a:p>
            <a:pPr marL="342900" indent="-342900">
              <a:buAutoNum type="arabicPeriod"/>
            </a:pPr>
            <a:endParaRPr lang="en-AU" sz="2400" dirty="0"/>
          </a:p>
          <a:p>
            <a:r>
              <a:rPr lang="en-AU" sz="2400" dirty="0"/>
              <a:t>This is know as the unitary method.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7B46DD6-B747-40C4-8574-9302601BF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0291" y="6692832"/>
            <a:ext cx="8596668" cy="3880773"/>
          </a:xfrm>
        </p:spPr>
        <p:txBody>
          <a:bodyPr/>
          <a:lstStyle/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62428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577B3-73DF-48D4-B86A-E169E8268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ice-cream problem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5796CD-455F-47E3-942A-4520635940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2" y="1586429"/>
                <a:ext cx="11209867" cy="5089793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AU" sz="2000" dirty="0"/>
                  <a:t>Mr Evans, Mr Morgan, Ms L and Ms D’Souza all invest money to start an ice-cream business. They invest the following $120 : $200 : $80 : $300 </a:t>
                </a:r>
                <a:r>
                  <a:rPr lang="en-AU" sz="2000" b="1" dirty="0"/>
                  <a:t>(Just remember the ratio is in the same order as the people)</a:t>
                </a:r>
                <a:r>
                  <a:rPr lang="en-AU" sz="2000" dirty="0"/>
                  <a:t> The ice-cream business produced a profit of $16800. How much should each person get based on their starting investment?</a:t>
                </a:r>
              </a:p>
              <a:p>
                <a:endParaRPr lang="en-AU" sz="2000" dirty="0"/>
              </a:p>
              <a:p>
                <a:r>
                  <a:rPr lang="en-AU" sz="2400" dirty="0"/>
                  <a:t>Step 1: I add all the parts together  120 + 200 + 80 + 300 = 700</a:t>
                </a:r>
              </a:p>
              <a:p>
                <a:r>
                  <a:rPr lang="en-AU" sz="2400" dirty="0"/>
                  <a:t>Step 2: I divide the profit by the amount of parts  16800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sz="2400" dirty="0"/>
                  <a:t> 700 = 24 therefore one part is worth $24</a:t>
                </a:r>
              </a:p>
              <a:p>
                <a:r>
                  <a:rPr lang="en-AU" sz="2400" dirty="0"/>
                  <a:t>Step 3: Multiply the parts by 24 =</a:t>
                </a:r>
              </a:p>
              <a:p>
                <a:r>
                  <a:rPr lang="en-AU" sz="2400" dirty="0"/>
                  <a:t>120 x 24 =2880,      200 x 24 = 4800,     80 x 24 = 1920,         300 x 24 = 7200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algn="ctr"/>
                <a:r>
                  <a:rPr lang="en-AU" sz="2600" dirty="0"/>
                  <a:t> 2880 : 4800 : 1920 : 7200 (this should all add together to equal the profit made.</a:t>
                </a:r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5796CD-455F-47E3-942A-4520635940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2" y="1586429"/>
                <a:ext cx="11209867" cy="5089793"/>
              </a:xfrm>
              <a:blipFill>
                <a:blip r:embed="rId2"/>
                <a:stretch>
                  <a:fillRect l="-339" t="-9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189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51EC2-873D-4356-A482-0F5039BF4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Sharing problem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490F479-EA5B-4B7F-B58E-3281B2417F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8233" t="16376" r="22836" b="43677"/>
          <a:stretch/>
        </p:blipFill>
        <p:spPr>
          <a:xfrm>
            <a:off x="677333" y="1930400"/>
            <a:ext cx="11330141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255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27002-C770-491A-A8E4-703FE19AC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lottery problem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B18C0-8998-4332-A731-7D5933F90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90"/>
            <a:ext cx="9799707" cy="3645300"/>
          </a:xfrm>
        </p:spPr>
        <p:txBody>
          <a:bodyPr>
            <a:normAutofit/>
          </a:bodyPr>
          <a:lstStyle/>
          <a:p>
            <a:r>
              <a:rPr lang="en-AU" sz="2400" dirty="0"/>
              <a:t>Mr Wilson, Mrs Keen and Mr Craig buy a lottery ticket. They put in different amounts of money to purchase the ticket as seen in the ratio $5 : $8 : $2. They won $7500000. How much do they get each?</a:t>
            </a:r>
          </a:p>
        </p:txBody>
      </p:sp>
    </p:spTree>
    <p:extLst>
      <p:ext uri="{BB962C8B-B14F-4D97-AF65-F5344CB8AC3E}">
        <p14:creationId xmlns:p14="http://schemas.microsoft.com/office/powerpoint/2010/main" val="2581348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14D27-714F-4361-8C44-3C3DDAF1A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Feed me problem: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D4776-B707-411E-98A2-98977E3A1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Julie has three different size dogs called Zeus, Thor and Marty. Each dog requires a different amount of biscuits per week (each part represents a cup of food). Each week her dogs require the following cups  14 : 21 : 35. Julie spends 55 dollars on food per week. How much money does it take to feed each dog? </a:t>
            </a:r>
          </a:p>
        </p:txBody>
      </p:sp>
    </p:spTree>
    <p:extLst>
      <p:ext uri="{BB962C8B-B14F-4D97-AF65-F5344CB8AC3E}">
        <p14:creationId xmlns:p14="http://schemas.microsoft.com/office/powerpoint/2010/main" val="3042467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2C2DA-4E1F-44DA-9AA3-4F9DED5DF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Discussion Questions: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0241911-58B7-4539-9F36-D610256D97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7657" t="59053" r="17269" b="6918"/>
          <a:stretch/>
        </p:blipFill>
        <p:spPr>
          <a:xfrm>
            <a:off x="278295" y="1269999"/>
            <a:ext cx="11913705" cy="3502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98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7F217-1285-4BBE-A7A5-1E1E3749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 short quick write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18AFE-5B38-431A-AAFA-1C186811E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Please take 2 minutes and write down what you have learnt about ratio’s. </a:t>
            </a:r>
          </a:p>
        </p:txBody>
      </p:sp>
    </p:spTree>
    <p:extLst>
      <p:ext uri="{BB962C8B-B14F-4D97-AF65-F5344CB8AC3E}">
        <p14:creationId xmlns:p14="http://schemas.microsoft.com/office/powerpoint/2010/main" val="4023694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9C3E2-1CD0-4B72-A8E8-9FB1AFF66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Have yourself a wonderful day and don’t forget….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C26FD2-CAC8-4726-B1EE-4022112BC9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7027" y="1462231"/>
            <a:ext cx="5128590" cy="5229152"/>
          </a:xfrm>
        </p:spPr>
      </p:pic>
    </p:spTree>
    <p:extLst>
      <p:ext uri="{BB962C8B-B14F-4D97-AF65-F5344CB8AC3E}">
        <p14:creationId xmlns:p14="http://schemas.microsoft.com/office/powerpoint/2010/main" val="350595487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810</TotalTime>
  <Words>628</Words>
  <Application>Microsoft Macintosh PowerPoint</Application>
  <PresentationFormat>Widescreen</PresentationFormat>
  <Paragraphs>78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Cambria Math</vt:lpstr>
      <vt:lpstr>Trebuchet MS</vt:lpstr>
      <vt:lpstr>Wingdings 3</vt:lpstr>
      <vt:lpstr>Facet</vt:lpstr>
      <vt:lpstr>Ratio Applications</vt:lpstr>
      <vt:lpstr>Daily 5</vt:lpstr>
      <vt:lpstr>Trivia Question</vt:lpstr>
      <vt:lpstr>Revision on equivalent ratio’s</vt:lpstr>
      <vt:lpstr>Simplify the following ratio’s.</vt:lpstr>
      <vt:lpstr>Ratio Applications EQ: How do I divide a quantity in a given ratio? </vt:lpstr>
      <vt:lpstr>The ice-cream problem</vt:lpstr>
      <vt:lpstr>The Sharing problem</vt:lpstr>
      <vt:lpstr>The lottery problem </vt:lpstr>
      <vt:lpstr>The Feed me problem:</vt:lpstr>
      <vt:lpstr>Discussion Questions:</vt:lpstr>
      <vt:lpstr>A short quick write </vt:lpstr>
      <vt:lpstr>Have yourself a wonderful day and don’t forget….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Ratio Applications</dc:title>
  <dc:creator>CRAIG Mason [Baldivis Secondary College]</dc:creator>
  <cp:lastModifiedBy>SUMMERS Brad [Baldivis Secondary College]</cp:lastModifiedBy>
  <cp:revision>20</cp:revision>
  <dcterms:created xsi:type="dcterms:W3CDTF">2018-05-03T00:34:39Z</dcterms:created>
  <dcterms:modified xsi:type="dcterms:W3CDTF">2021-11-02T01:12:39Z</dcterms:modified>
</cp:coreProperties>
</file>
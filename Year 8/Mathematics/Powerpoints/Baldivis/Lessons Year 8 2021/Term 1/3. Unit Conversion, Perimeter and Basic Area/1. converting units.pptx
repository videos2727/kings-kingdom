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3" r:id="rId2"/>
    <p:sldId id="259" r:id="rId3"/>
    <p:sldId id="261" r:id="rId4"/>
    <p:sldId id="317" r:id="rId5"/>
    <p:sldId id="316" r:id="rId6"/>
    <p:sldId id="306" r:id="rId7"/>
    <p:sldId id="298" r:id="rId8"/>
    <p:sldId id="305" r:id="rId9"/>
    <p:sldId id="304" r:id="rId10"/>
    <p:sldId id="303" r:id="rId11"/>
    <p:sldId id="302" r:id="rId12"/>
    <p:sldId id="301" r:id="rId13"/>
    <p:sldId id="300" r:id="rId14"/>
    <p:sldId id="299" r:id="rId15"/>
    <p:sldId id="294" r:id="rId16"/>
    <p:sldId id="297" r:id="rId17"/>
    <p:sldId id="296" r:id="rId18"/>
    <p:sldId id="295" r:id="rId19"/>
    <p:sldId id="307" r:id="rId20"/>
    <p:sldId id="308" r:id="rId21"/>
    <p:sldId id="312" r:id="rId22"/>
    <p:sldId id="311" r:id="rId23"/>
    <p:sldId id="310" r:id="rId24"/>
    <p:sldId id="309" r:id="rId25"/>
    <p:sldId id="315" r:id="rId26"/>
    <p:sldId id="314" r:id="rId27"/>
    <p:sldId id="292" r:id="rId28"/>
    <p:sldId id="31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1134" autoAdjust="0"/>
  </p:normalViewPr>
  <p:slideViewPr>
    <p:cSldViewPr snapToGrid="0">
      <p:cViewPr varScale="1">
        <p:scale>
          <a:sx n="41" d="100"/>
          <a:sy n="41" d="100"/>
        </p:scale>
        <p:origin x="900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948E82-AE3C-491C-82B1-ED44EE02E324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44247C-4A70-42F1-9C2B-D6755787DD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0864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have a go section </a:t>
            </a:r>
            <a:r>
              <a:rPr lang="en-US" dirty="0" err="1"/>
              <a:t>wi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AB0BC-46C4-41F5-90CA-7986DA82332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9316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in flow chart of area units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44247C-4A70-42F1-9C2B-D6755787DD94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665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3671-ABD9-479A-A271-091C6ECB7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7E5DD-FAA3-427B-8463-5132C66119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D7B9A-EB55-4362-BAE7-3CDCA5B1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1C73B-1E9A-41C7-9DB2-445831DA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36126-0B97-4809-AC5F-464294B1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1607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24ED-8613-4621-B650-4C941AFB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AC857-25FB-4631-BE48-A8408A397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7BFD7-2CAB-4A85-918B-1FB50458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63832-9E98-47D3-ACD3-3096A928B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EA7A5-1A90-468F-93C2-67EC873B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935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B581-4F6E-47C4-9C2E-EC4CD372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F41C7-6B01-414D-867B-4A9E4A321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3B8B5-4EBA-4C4C-B089-0D7F8566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B9E6C-1905-4910-ADA1-5F88CCA35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4CAB2-AC4C-431A-A6F8-DA1D3BA5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28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E9E56-BB49-4A54-A771-914B48EF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9F171-F0A0-4F5B-BB54-2FF7D1292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988D3-4F2A-4A4B-A59B-2B6C48D40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DA820-150D-4A5A-8112-B4CDAE86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3E3A4-70F4-458B-880B-9EE64F650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5C96F-F121-4F85-9591-ABE153005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4048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8C93-B931-4C9A-93AE-C19D0188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B25DD-871A-4DEA-851A-7114CB0D6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6C79E-D508-46B1-8402-0686064BF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2DB96E-3335-4BCC-A6C4-E6D37AA2C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FB45B-448C-4153-B904-294751575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C2C20-8D80-4B91-9CAF-49232C27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FBED2-E928-41F3-8C30-2DB035DA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3FE39-7D26-4BD6-B9E6-768411F53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771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D7EE6-C0D9-4045-B22A-C4A36E99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70B31D-6460-4296-8063-0B18C2D3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32280A-2631-4141-9A19-ECF6A749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5687B5-FCFF-435D-B86B-86280E1EA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794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1BC559-E091-48BA-893C-2AFE400B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E0C6A-FF07-442B-8277-A36552733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A41C-A213-494D-ADDF-E5E2A7D8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898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0D21-1023-4EA9-8F7E-2C9F971F4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6FF3E-5B8C-4CB7-BBDC-1AF26CEBE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AF2FD-4BF8-4226-BBB8-69599B2A9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42255-C861-4835-B698-821D12D2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F7F17-DAFD-45C8-B6C3-6E23C99A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FAF24-A44A-4742-8CDC-49AC31E40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630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0038-50FA-4337-9ACF-E68037B8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EC264-AFAF-40E6-8A58-977EB685E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30912-6263-441F-BCFB-0A0332816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64FA9-60B2-4709-8323-0D5A9AAE9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2E264-A579-4552-BB3B-888704C3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D92E1-2098-4CA9-ADA3-B8F6F2E58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07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4EC8-CC7D-4217-82A7-A75BC77D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0D997-AD2B-434C-ABDB-298615E1D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70008-4CD1-429C-AC59-063C32235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09AFB-2FED-4C7D-B7E1-483D970D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CEF4C-4183-4BF0-8C5B-B3157910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09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11332E-203B-4E4A-ACCE-E1F7AF481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BC2DA9-2681-4052-9309-703723AF0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8D0C-7584-486B-8C39-44BA71EBB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C85A3-877C-44A1-A29B-5D36BB24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FA5DB-A43A-4149-A09B-460FF643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719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2DF93E-E10D-43BE-9456-28F143A2C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EBE5B-538A-481D-8369-D2580F946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1DAC2-6018-4B88-915C-99DFF82F2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7707C-F5D8-49DB-9071-7B74EE06250C}" type="datetimeFigureOut">
              <a:rPr lang="en-AU" smtClean="0"/>
              <a:t>15/02/2021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1F3A4-95C9-4D32-B3D2-C012EC9DB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27310-01F7-45C5-ABE3-F5D54F63A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D5919-4C93-466F-B8E8-6FDC688433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786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Measurement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7883" y="1027832"/>
            <a:ext cx="9144000" cy="642703"/>
          </a:xfrm>
        </p:spPr>
        <p:txBody>
          <a:bodyPr/>
          <a:lstStyle/>
          <a:p>
            <a:r>
              <a:rPr lang="en-AU" sz="2400" dirty="0"/>
              <a:t>EQ – How do I convert between units of length and area?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272716" y="1613118"/>
            <a:ext cx="1164656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and EQ in Interactive Notebook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PHONES OR EAR BUDS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Have a go: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A5FF00-1EC4-438D-83D9-3F95B5552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46" y="3582888"/>
            <a:ext cx="7096125" cy="2409825"/>
          </a:xfrm>
          <a:prstGeom prst="rect">
            <a:avLst/>
          </a:prstGeom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F03466E8-DC7D-4008-9C6D-7F5A28CE7A60}"/>
              </a:ext>
            </a:extLst>
          </p:cNvPr>
          <p:cNvSpPr/>
          <p:nvPr/>
        </p:nvSpPr>
        <p:spPr>
          <a:xfrm>
            <a:off x="10020300" y="790532"/>
            <a:ext cx="2057400" cy="1855968"/>
          </a:xfrm>
          <a:prstGeom prst="wedgeEllipseCallout">
            <a:avLst>
              <a:gd name="adj1" fmla="val -102777"/>
              <a:gd name="adj2" fmla="val -52972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FEC9D-A354-4569-8E70-A0C1153933E9}"/>
              </a:ext>
            </a:extLst>
          </p:cNvPr>
          <p:cNvSpPr txBox="1"/>
          <p:nvPr/>
        </p:nvSpPr>
        <p:spPr>
          <a:xfrm>
            <a:off x="10353675" y="1349184"/>
            <a:ext cx="1619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Second topic so don’t forget to add to Contents page in INB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1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7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617471" y="1934047"/>
                <a:ext cx="8229600" cy="452596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Summary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Simplify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+9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Simplify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𝑒𝑓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−4+7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×−3=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.</a:t>
                </a:r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7471" y="1934047"/>
                <a:ext cx="8229600" cy="4525963"/>
              </a:xfrm>
              <a:blipFill>
                <a:blip r:embed="rId2"/>
                <a:stretch>
                  <a:fillRect l="-1556" t="-22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800" y="4197028"/>
            <a:ext cx="7953965" cy="146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617471" y="1934047"/>
                <a:ext cx="8229600" cy="4525963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Summary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Simplify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−12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i="1" dirty="0" smtClean="0">
                        <a:latin typeface="Cambria Math" panose="02040503050406030204" pitchFamily="18" charset="0"/>
                      </a:rPr>
                      <m:t>+9=5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+9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Simplify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𝑒𝑓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=−35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−4+7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×−3=−25</m:t>
                    </m:r>
                  </m:oMath>
                </a14:m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AU" dirty="0"/>
                  <a:t>.</a:t>
                </a:r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  <a:p>
                <a:pPr marL="514350" indent="-514350">
                  <a:buFont typeface="+mj-lt"/>
                  <a:buAutoNum type="arabicParenR"/>
                </a:pPr>
                <a:endParaRPr lang="en-AU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7471" y="1934047"/>
                <a:ext cx="8229600" cy="4525963"/>
              </a:xfrm>
              <a:blipFill>
                <a:blip r:embed="rId2"/>
                <a:stretch>
                  <a:fillRect l="-1556" t="-228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044865"/>
            <a:ext cx="6516216" cy="1199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244" y="3789041"/>
            <a:ext cx="2376264" cy="299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078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</p:spTree>
    <p:extLst>
      <p:ext uri="{BB962C8B-B14F-4D97-AF65-F5344CB8AC3E}">
        <p14:creationId xmlns:p14="http://schemas.microsoft.com/office/powerpoint/2010/main" val="2671054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9920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8368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95227" y="418454"/>
            <a:ext cx="2093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/>
              <a:t>Measurement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42308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71354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62649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84078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65216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42013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27452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0386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5866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81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6357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004742" y="4473116"/>
            <a:ext cx="385458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</a:t>
            </a:r>
          </a:p>
          <a:p>
            <a:pPr marL="342900" indent="-342900">
              <a:buAutoNum type="arabicPeriod"/>
            </a:pPr>
            <a:r>
              <a:rPr lang="en-AU" dirty="0"/>
              <a:t>780mm to cm</a:t>
            </a:r>
          </a:p>
          <a:p>
            <a:pPr marL="342900" indent="-342900">
              <a:buAutoNum type="arabicPeriod"/>
            </a:pPr>
            <a:r>
              <a:rPr lang="en-AU" dirty="0"/>
              <a:t>2.4km to cm</a:t>
            </a:r>
          </a:p>
        </p:txBody>
      </p:sp>
    </p:spTree>
    <p:extLst>
      <p:ext uri="{BB962C8B-B14F-4D97-AF65-F5344CB8AC3E}">
        <p14:creationId xmlns:p14="http://schemas.microsoft.com/office/powerpoint/2010/main" val="3905453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004742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   </a:t>
            </a:r>
          </a:p>
          <a:p>
            <a:pPr marL="342900" indent="-342900">
              <a:buAutoNum type="arabicPeriod"/>
            </a:pPr>
            <a:r>
              <a:rPr lang="en-AU" dirty="0"/>
              <a:t>780mm to cm  </a:t>
            </a:r>
          </a:p>
          <a:p>
            <a:pPr marL="342900" indent="-342900">
              <a:buAutoNum type="arabicPeriod"/>
            </a:pPr>
            <a:r>
              <a:rPr lang="en-AU" dirty="0"/>
              <a:t>2.4km to cm   </a:t>
            </a:r>
          </a:p>
          <a:p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170554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004742" y="4473116"/>
            <a:ext cx="38545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5m to cm   5  </a:t>
            </a:r>
            <a:r>
              <a:rPr lang="en-AU" dirty="0">
                <a:solidFill>
                  <a:srgbClr val="00B050"/>
                </a:solidFill>
              </a:rPr>
              <a:t>x100  =  </a:t>
            </a:r>
            <a:r>
              <a:rPr lang="en-AU" dirty="0"/>
              <a:t>500cm</a:t>
            </a:r>
            <a:endParaRPr lang="en-AU" dirty="0">
              <a:solidFill>
                <a:srgbClr val="00B050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AU" dirty="0"/>
              <a:t>780mm to cm  </a:t>
            </a:r>
          </a:p>
          <a:p>
            <a:pPr marL="342900" indent="-342900">
              <a:buFontTx/>
              <a:buAutoNum type="arabicPeriod"/>
            </a:pPr>
            <a:r>
              <a:rPr lang="en-AU" dirty="0"/>
              <a:t>2.4km to cm   </a:t>
            </a:r>
          </a:p>
          <a:p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404354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04742" y="4473116"/>
                <a:ext cx="385458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	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742" y="4473116"/>
                <a:ext cx="3854581" cy="1754326"/>
              </a:xfrm>
              <a:prstGeom prst="rect">
                <a:avLst/>
              </a:prstGeom>
              <a:blipFill>
                <a:blip r:embed="rId3"/>
                <a:stretch>
                  <a:fillRect l="-1424" t="-2083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3893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04742" y="4473117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2.4 </a:t>
                </a:r>
                <a:r>
                  <a:rPr lang="en-AU" dirty="0">
                    <a:solidFill>
                      <a:srgbClr val="00B050"/>
                    </a:solidFill>
                  </a:rPr>
                  <a:t>x1000 </a:t>
                </a:r>
                <a:r>
                  <a:rPr lang="en-AU" dirty="0"/>
                  <a:t>= 2400 m </a:t>
                </a:r>
              </a:p>
              <a:p>
                <a:r>
                  <a:rPr lang="en-AU" dirty="0"/>
                  <a:t>	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742" y="4473117"/>
                <a:ext cx="3854581" cy="2031325"/>
              </a:xfrm>
              <a:prstGeom prst="rect">
                <a:avLst/>
              </a:prstGeom>
              <a:blipFill>
                <a:blip r:embed="rId3"/>
                <a:stretch>
                  <a:fillRect l="-1424" t="-1802" r="-6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615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19490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6930" y="1169093"/>
            <a:ext cx="8021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 and area?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5174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7786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6516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5155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7786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6497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04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87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/>
              <p:cNvSpPr txBox="1"/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386" y="3798360"/>
                <a:ext cx="346983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04742" y="4473117"/>
                <a:ext cx="3854581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Change the following to the given units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:r>
                  <a:rPr lang="en-AU" dirty="0"/>
                  <a:t>5m to cm   5  </a:t>
                </a:r>
                <a:r>
                  <a:rPr lang="en-AU" dirty="0">
                    <a:solidFill>
                      <a:srgbClr val="00B050"/>
                    </a:solidFill>
                  </a:rPr>
                  <a:t>x100  =  </a:t>
                </a:r>
                <a:r>
                  <a:rPr lang="en-AU" dirty="0"/>
                  <a:t>500cm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FontTx/>
                  <a:buAutoNum type="arabicPeriod"/>
                </a:pPr>
                <a:r>
                  <a:rPr lang="en-AU" dirty="0"/>
                  <a:t>780mm to cm  780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 </a:t>
                </a:r>
                <a:r>
                  <a:rPr lang="en-AU" dirty="0"/>
                  <a:t> = 78cm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pPr marL="342900" indent="-342900">
                  <a:buAutoNum type="arabicPeriod"/>
                </a:pPr>
                <a:r>
                  <a:rPr lang="en-AU" dirty="0"/>
                  <a:t>2.4km to cm   </a:t>
                </a:r>
              </a:p>
              <a:p>
                <a:r>
                  <a:rPr lang="en-AU" dirty="0"/>
                  <a:t>	2.4 </a:t>
                </a:r>
                <a:r>
                  <a:rPr lang="en-AU" dirty="0">
                    <a:solidFill>
                      <a:srgbClr val="00B050"/>
                    </a:solidFill>
                  </a:rPr>
                  <a:t>x1000 </a:t>
                </a:r>
                <a:r>
                  <a:rPr lang="en-AU" dirty="0"/>
                  <a:t>= 2400 m </a:t>
                </a:r>
              </a:p>
              <a:p>
                <a:r>
                  <a:rPr lang="en-AU" dirty="0"/>
                  <a:t>	2400 </a:t>
                </a:r>
                <a:r>
                  <a:rPr lang="en-AU" dirty="0">
                    <a:solidFill>
                      <a:srgbClr val="00B050"/>
                    </a:solidFill>
                  </a:rPr>
                  <a:t> x 100 = </a:t>
                </a:r>
                <a:r>
                  <a:rPr lang="en-AU" dirty="0"/>
                  <a:t>240 000cm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742" y="4473117"/>
                <a:ext cx="3854581" cy="2031325"/>
              </a:xfrm>
              <a:prstGeom prst="rect">
                <a:avLst/>
              </a:prstGeom>
              <a:blipFill>
                <a:blip r:embed="rId3"/>
                <a:stretch>
                  <a:fillRect l="-1424" t="-1802" r="-633" b="-39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632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-275" t="-2909" r="51519" b="2909"/>
          <a:stretch/>
        </p:blipFill>
        <p:spPr>
          <a:xfrm>
            <a:off x="1775521" y="260648"/>
            <a:ext cx="5503661" cy="247519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5187" t="-4041"/>
          <a:stretch/>
        </p:blipFill>
        <p:spPr>
          <a:xfrm>
            <a:off x="1552778" y="2924944"/>
            <a:ext cx="5882316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8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7808" y="1340768"/>
            <a:ext cx="34589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Guided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1966" y="2390504"/>
            <a:ext cx="30745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Converting Units worksheet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Metric </a:t>
            </a:r>
            <a:r>
              <a:rPr lang="en-US"/>
              <a:t>Length puzzle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16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about converting between area units?</a:t>
            </a:r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1142</Words>
  <Application>Microsoft Office PowerPoint</Application>
  <PresentationFormat>Widescreen</PresentationFormat>
  <Paragraphs>342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Times New Roman</vt:lpstr>
      <vt:lpstr>Office Theme</vt:lpstr>
      <vt:lpstr>Topic: Measurement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about converting between area units?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2</cp:revision>
  <dcterms:created xsi:type="dcterms:W3CDTF">2021-02-15T12:33:44Z</dcterms:created>
  <dcterms:modified xsi:type="dcterms:W3CDTF">2021-02-15T12:52:43Z</dcterms:modified>
</cp:coreProperties>
</file>
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4" r:id="rId6"/>
    <p:sldId id="260" r:id="rId7"/>
    <p:sldId id="261" r:id="rId8"/>
    <p:sldId id="266" r:id="rId9"/>
    <p:sldId id="267" r:id="rId10"/>
    <p:sldId id="265" r:id="rId11"/>
    <p:sldId id="27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19"/>
  </p:normalViewPr>
  <p:slideViewPr>
    <p:cSldViewPr>
      <p:cViewPr varScale="1">
        <p:scale>
          <a:sx n="120" d="100"/>
          <a:sy n="120" d="100"/>
        </p:scale>
        <p:origin x="2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3BF6-86C6-4269-B990-132A7ACBC32A}" type="datetimeFigureOut">
              <a:rPr lang="en-GB" smtClean="0"/>
              <a:pPr/>
              <a:t>14/02/2021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1F135-1A28-4439-AE1E-C5D12DF8C48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3BF6-86C6-4269-B990-132A7ACBC32A}" type="datetimeFigureOut">
              <a:rPr lang="en-GB" smtClean="0"/>
              <a:pPr/>
              <a:t>14/02/2021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1F135-1A28-4439-AE1E-C5D12DF8C48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3BF6-86C6-4269-B990-132A7ACBC32A}" type="datetimeFigureOut">
              <a:rPr lang="en-GB" smtClean="0"/>
              <a:pPr/>
              <a:t>14/02/2021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1F135-1A28-4439-AE1E-C5D12DF8C48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3BF6-86C6-4269-B990-132A7ACBC32A}" type="datetimeFigureOut">
              <a:rPr lang="en-GB" smtClean="0"/>
              <a:pPr/>
              <a:t>14/02/2021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1F135-1A28-4439-AE1E-C5D12DF8C48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3BF6-86C6-4269-B990-132A7ACBC32A}" type="datetimeFigureOut">
              <a:rPr lang="en-GB" smtClean="0"/>
              <a:pPr/>
              <a:t>14/02/2021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1F135-1A28-4439-AE1E-C5D12DF8C48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3BF6-86C6-4269-B990-132A7ACBC32A}" type="datetimeFigureOut">
              <a:rPr lang="en-GB" smtClean="0"/>
              <a:pPr/>
              <a:t>14/02/2021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1F135-1A28-4439-AE1E-C5D12DF8C48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3BF6-86C6-4269-B990-132A7ACBC32A}" type="datetimeFigureOut">
              <a:rPr lang="en-GB" smtClean="0"/>
              <a:pPr/>
              <a:t>14/02/2021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1F135-1A28-4439-AE1E-C5D12DF8C48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3BF6-86C6-4269-B990-132A7ACBC32A}" type="datetimeFigureOut">
              <a:rPr lang="en-GB" smtClean="0"/>
              <a:pPr/>
              <a:t>14/02/2021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1F135-1A28-4439-AE1E-C5D12DF8C48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3BF6-86C6-4269-B990-132A7ACBC32A}" type="datetimeFigureOut">
              <a:rPr lang="en-GB" smtClean="0"/>
              <a:pPr/>
              <a:t>14/02/2021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1F135-1A28-4439-AE1E-C5D12DF8C48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3BF6-86C6-4269-B990-132A7ACBC32A}" type="datetimeFigureOut">
              <a:rPr lang="en-GB" smtClean="0"/>
              <a:pPr/>
              <a:t>14/02/2021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1F135-1A28-4439-AE1E-C5D12DF8C48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3BF6-86C6-4269-B990-132A7ACBC32A}" type="datetimeFigureOut">
              <a:rPr lang="en-GB" smtClean="0"/>
              <a:pPr/>
              <a:t>14/02/2021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1F135-1A28-4439-AE1E-C5D12DF8C48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F3BF6-86C6-4269-B990-132A7ACBC32A}" type="datetimeFigureOut">
              <a:rPr lang="en-GB" smtClean="0"/>
              <a:pPr/>
              <a:t>14/02/2021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1F135-1A28-4439-AE1E-C5D12DF8C48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://farm4.static.flickr.com/3439/3212450281_4e5062431a.jpg"/>
          <p:cNvPicPr>
            <a:picLocks noChangeAspect="1" noChangeArrowheads="1"/>
          </p:cNvPicPr>
          <p:nvPr/>
        </p:nvPicPr>
        <p:blipFill>
          <a:blip r:embed="rId2" cstate="print"/>
          <a:srcRect l="1869" t="2751" r="8168" b="2751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332656"/>
            <a:ext cx="8458200" cy="3962871"/>
          </a:xfr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dirty="0">
                <a:latin typeface="Arial Black" pitchFamily="34" charset="0"/>
              </a:rPr>
              <a:t>Topic: Rational Numbers</a:t>
            </a:r>
            <a:br>
              <a:rPr lang="en-GB" dirty="0">
                <a:latin typeface="Arial Black" pitchFamily="34" charset="0"/>
              </a:rPr>
            </a:br>
            <a:br>
              <a:rPr lang="en-GB" dirty="0">
                <a:latin typeface="Arial Black" pitchFamily="34" charset="0"/>
              </a:rPr>
            </a:br>
            <a:r>
              <a:rPr lang="en-GB" dirty="0">
                <a:latin typeface="Arial Black" pitchFamily="34" charset="0"/>
              </a:rPr>
              <a:t>EQ: What do I need in order to add and subtract rational numbers?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5" name="Picture 9" descr="C:\Users\Ben\AppData\Local\Microsoft\Windows\Temporary Internet Files\Content.IE5\PTU0SRMA\MP900422986[1].jpg"/>
          <p:cNvPicPr>
            <a:picLocks noChangeAspect="1" noChangeArrowheads="1"/>
          </p:cNvPicPr>
          <p:nvPr/>
        </p:nvPicPr>
        <p:blipFill>
          <a:blip r:embed="rId2" cstate="print"/>
          <a:srcRect l="6813" t="78" r="2192" b="29609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9064" y="188640"/>
            <a:ext cx="4485184" cy="864096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6000" dirty="0">
                <a:latin typeface="Comic Sans MS" pitchFamily="66" charset="0"/>
              </a:rPr>
              <a:t>Warm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68760"/>
            <a:ext cx="4320480" cy="1200329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What is the lowest common multiple of: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3728" y="2708920"/>
            <a:ext cx="720080" cy="6463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3728" y="3501008"/>
            <a:ext cx="720080" cy="6463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3728" y="4293096"/>
            <a:ext cx="720080" cy="6463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3728" y="5085184"/>
            <a:ext cx="720080" cy="6463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3728" y="5877272"/>
            <a:ext cx="720080" cy="6463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96" y="2708920"/>
            <a:ext cx="1907704" cy="6463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3 and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96" y="3501008"/>
            <a:ext cx="1907704" cy="6463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5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96" y="4293096"/>
            <a:ext cx="1907704" cy="6463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4 and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96" y="5085184"/>
            <a:ext cx="1907704" cy="6463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3 and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96" y="5877272"/>
            <a:ext cx="1907704" cy="6463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5 and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3520" y="1124744"/>
            <a:ext cx="4320480" cy="52322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800" dirty="0"/>
              <a:t>Find a the missing numbers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08304" y="1844824"/>
            <a:ext cx="720080" cy="64633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sz="3600" dirty="0"/>
          </a:p>
        </p:txBody>
      </p:sp>
      <p:sp>
        <p:nvSpPr>
          <p:cNvPr id="34" name="TextBox 33"/>
          <p:cNvSpPr txBox="1"/>
          <p:nvPr/>
        </p:nvSpPr>
        <p:spPr>
          <a:xfrm>
            <a:off x="7236296" y="2708920"/>
            <a:ext cx="720080" cy="646331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15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7236296" y="2636912"/>
            <a:ext cx="86409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8224" y="2276872"/>
            <a:ext cx="720080" cy="646331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6176" y="1844824"/>
            <a:ext cx="720080" cy="646331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6176" y="2780928"/>
            <a:ext cx="720080" cy="646331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5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6012160" y="2636912"/>
            <a:ext cx="7200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308304" y="3573016"/>
            <a:ext cx="720080" cy="64633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sz="3600" dirty="0"/>
          </a:p>
        </p:txBody>
      </p:sp>
      <p:sp>
        <p:nvSpPr>
          <p:cNvPr id="41" name="TextBox 40"/>
          <p:cNvSpPr txBox="1"/>
          <p:nvPr/>
        </p:nvSpPr>
        <p:spPr>
          <a:xfrm>
            <a:off x="7347390" y="4365104"/>
            <a:ext cx="720080" cy="646331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40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7317410" y="4365104"/>
            <a:ext cx="7200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660232" y="3933056"/>
            <a:ext cx="720080" cy="646331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=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56176" y="3573016"/>
            <a:ext cx="720080" cy="646331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56176" y="4221088"/>
            <a:ext cx="720080" cy="646331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cxnSp>
        <p:nvCxnSpPr>
          <p:cNvPr id="46" name="Straight Connector 45"/>
          <p:cNvCxnSpPr/>
          <p:nvPr/>
        </p:nvCxnSpPr>
        <p:spPr>
          <a:xfrm>
            <a:off x="6084168" y="4293096"/>
            <a:ext cx="7200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380312" y="5157192"/>
            <a:ext cx="720080" cy="646331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80312" y="5974923"/>
            <a:ext cx="720080" cy="64633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sz="3600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7380312" y="5830907"/>
            <a:ext cx="720080" cy="2564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8224" y="5517232"/>
            <a:ext cx="720080" cy="646331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=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56176" y="5275565"/>
            <a:ext cx="720080" cy="646331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4168" y="5793216"/>
            <a:ext cx="720080" cy="646331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cxnSp>
        <p:nvCxnSpPr>
          <p:cNvPr id="53" name="Straight Connector 52"/>
          <p:cNvCxnSpPr/>
          <p:nvPr/>
        </p:nvCxnSpPr>
        <p:spPr>
          <a:xfrm>
            <a:off x="6156176" y="5877272"/>
            <a:ext cx="50405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308304" y="1844824"/>
            <a:ext cx="720080" cy="64633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08304" y="3573016"/>
            <a:ext cx="720080" cy="64633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80312" y="5974923"/>
            <a:ext cx="720080" cy="64633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600" dirty="0"/>
              <a:t>30</a:t>
            </a:r>
          </a:p>
        </p:txBody>
      </p:sp>
      <p:sp>
        <p:nvSpPr>
          <p:cNvPr id="9218" name="AutoShape 2" descr="data:image/jpeg;base64,/9j/4AAQSkZJRgABAQAAAQABAAD/2wBDAAkGBwgHBgkIBwgKCgkLDRYPDQwMDRsUFRAWIB0iIiAdHx8kKDQsJCYxJx8fLT0tMTU3Ojo6Iys/RD84QzQ5Ojf/2wBDAQoKCg0MDRoPDxo3JR8lNzc3Nzc3Nzc3Nzc3Nzc3Nzc3Nzc3Nzc3Nzc3Nzc3Nzc3Nzc3Nzc3Nzc3Nzc3Nzc3Nzf/wAARCADNAPUDASIAAhEBAxEB/8QAHAABAQACAwEBAAAAAAAAAAAAAAECBgMEBQcI/8QAPhAAAgEDAgQDBQUFBgcAAAAAAAECAwQRBSEGEjFBE1FhB3GBkaEUIiMywVJigrHwFSRCQ3LRJTM0U2OSwv/EABkBAQEAAwEAAAAAAAAAAAAAAAABAgMEBf/EACQRAQACAgICAQUBAQAAAAAAAAABAgMRBDESIUETFCIyUWEj/9oADAMBAAIRAxEAPwD7YwGQrEADAAAIFIihQAMAQpABUQpAAAAAAABkABkAAAUAABizFmZMBGJjg5MEwUYYBngAZFAIqBlIwI2ERlQRSk7FChCsAQFAEKQpAAAAA4ru4p2lrWuazxTowlOb9Esv+QGo8d8f2XCv91pQV1qMo58JPEaaa2cn69kvotz4lqPtG4qvak86xc0YS5vu0Zciin2WN9u255fEWpXWp6lc3t5LNxdTdSo/JPpFeSwl8MHjzX3t3jvliGMz8Nz0D2kcU6dWjGnqM7mlFP8ACu81VJv1e/XyZ9r9n/GkeLLatGta/ZbuhhTipZjU85R9zayu2V5n500mzr1JKnb0p1KtZ4Sgm5JLHl03a39D7v7KdLjpVtUo1XirhuMPLm5eZt9Mvkjsnso+/Em0b0yrS0xv4fQgAUAC4AgAKBMFIEMAAC4ABFDEyMSiMqI+pUBSkRUQGACgACAAAAKGBDyOK+apw9qNvRlRVerbVIQjVmop5jh7v0fzwdnW9RpaTpdze1Z04+FTlKCqSUVOSi2or1eOh+Wtf1LUK15XjWvalaUptzkpPllJNrOO3nvuDp5t3X8avKS2Xv3b8/66GycCW68S7ryoKeaXh0qso5UZNrb49M/M8PR9Iq6rC+dFNytbWVw2pJLEZJPr16rp5/B/VuE9OhZ6RRozgs8u7x1NHIv40038ak2v5fxzcOcP/wBlqU5xjCtVjmdOD5ox3zhM3zRakLF2znUf96k6fI5vHMsY5Y9Pf3+RrttWjH7ktmtkbjo9FVaSqVYqdNcsqSaTUZea26+pz4Zm19uvNFaY9fD10ADveaAAogKQgEaKQomAZAAAAAAAjIVgAVEKQACgQAACkKgAYAHgcY2c7zR7qm6lVUpUnHkoU1Kby8SeOrwt8LHTv0PzNc6dc3ms1bW1pOdbmm1Fzxnq9m3u8dF+Z+TZ+uDVLfgzTNK1uOr2MJUsSlWrx521UniWGljbHM+jS7cr2aGttE03g2ehcOuzbj/at5Tj4/NHKtoOUZyjJp/ecuSKSykkn6uXe0ahcW9zTpX8lKjKSSq0aUoqH+pNvbHdN47pLc2icOZ1J1HmdSbqSz3b/wBlhe5I69SC5Njzs2Tyt/j0sOOKV9dtltrLTLqnOcIW9xzPMpLEn810O9bW9K2pKlQgoQXRJs03Rq8rLUoNtqEtpeqN3OrBet43Ee3Lnrak6mdxIADoc4AAoACIgKxgCAuABATJSgAQAwUAAAQXAAAAACFQAAAADrah/wBJUXnhfVHZOtqEFUtpJvCTi/k0/wBCTG40sTqdtR1CpLxHh7HQt7+FS5+zVJctR/lT/wAR1NS1ipbVZU7rS9QjJPHNSpRqwl6xcZZx70n6Guajd315UjLTdPuKNSM1KNa7xTUWn1UU3J/Q877fNNv1l6X3OGK78obzNcrjPvFm8UJqpQpzXSUU/oaTQmrq1p1kseJDLXk+6+DNj4duXVs/Ck/vUtvgbONM1vNZa+THlSLQ9YAHc4QAAAAAABUAABgjIxKBSFAAYAAFRCgAAAAAAAEAABQ6epz5bWXqdtnk63dKMFSg05dXv9DKkblhedVafqs81MJtZ7PdHkuLlUfTHmlsejqFaE63VJ+v+5x2Nv41zGmu73Z2z0447elpNOpRtlSqZazzRePPdr9fme5oMlTv5U87Ti8ep5mvVZWkLSnSk0oT8Sr6rDST+bfwRaNz4NxRrwf5Jb+48XPatc+4e5x62tg8ZboCRakk10e6MjrcSAoAEKQAACoAADEBACsAEAFwQB3KECgAAAAAAAAazxLx1ovD05ULitKvdRW9CglJxf7z6R+efQ6vtJ4rfDmlKlaySvrpNU3n/lx7z9/Zeu/Y/PV5dzq1JSlKTbbbbeW2Z1pv3LC19en2jTfapQ1e/dlGgrKVR4oTnLmcn+y+yb7fLrjPbq1Krbw3lvfO+fefAW3nOcM+mcF8XLUKcdP1Op/fI4VKrL/OXk/3v5+/rzcmuSv50np08XJjt/zvHb37qLU05x+8+mVlHt8M2Up1VOS37JnVlDxl+6t2abxbx7faRe09O4fvFTnRz9oqxhGX3u0FlNbd/V47M24eZOWPGY9tefhxinyifT6/rulq8s/wo5q04vC/aXkabmrGjFxWXFqMl7jQbf2t8VUMc9xbV8dqttHf/wBcHv8AB/FtzxJd3jvaFtRlmLXgJpOTznZt9cefU5+Th9ebp4mf34PrGh3cLrT6KW1SnBRnHyxsegaXQuK9pQrVLaXLUiotZWzXMsp+mMm06bfU72gpc0PFUU6lNSTcM9MpN4ytzLFk8o1PbHPi8Z8o6dwAG5zhChgQAFQAAGKARQBQgQAAAABQAAUABAOG7ureyt53F3WhRowWZTqSwkdLX9e0/h+yd1qVbki8qEI7zqPyiv6SPg/HXHF5xLcRhL8GzpPNKhF5w+nNJ95Y+C3x3znWu2NracntK4oteIdajcWPiu3hQjCHiQ5X1k28Zfn6P0NGk+bcylJvq/cY4eTb/jRM7YrOTlhBuScc5XTBnSpOT6ZPTWkajG1hdUtPuZ0pt8lSNGcoy88PH6jQ9i544v6OhwspKP2yS5ftCf3nHs2vP1+hpEX72+7O9Wsbrnc7ijOMn154NfzMqOnXNeSjQoVKj8oQcv5GFcda/rGmy+S19eUug3k9bhXVIaXqsZ1p8lCquSpNf4N8qXwf0ydhcJa9KPMtF1Bx8/slT/Y8u9saljNwvKFWjNf4atKUH9UhakWjUpS00tFofoLR68L2jScmnC4hyuUHlZe2zXXc+c6hxTO24/uryyudqVWnTjOm/u1FCEYyXrFuL+G58/p3t1RpOhb3FejRk94RqyjF/wAKe529Gpp39Nv8sJKUn6Lovj/LJrwYfCzdnz/UrEafrOnONSnGpB5jJKUX5p9DI8Xgm5+2cIaNXby52VLL9VFJ/VHtCeyOgAEEADKJkAERCgpQDAwBCgAADhubqjbR5qs0vRbskzrtYiZ9Q5gfM+MPao9E1OVjY2FOrKEIylOtNrd74wvTHfuajee1/iOtGat42NqsbSjRcmn/ABN/qZRWZjcMbT4zqX3o1TirjvSdBo1qdOtTur+H3Vb05Z5ZfvtbLHl19D4fqfHfEmrW8oXuq15UEsKnTUaSm3tvyJZWOzya9UuJNSpqW3M+nqzOKf1jN/49XiPiK+1y/qXV7WdSpLZdlFeUV2XoeK3ndk6mcYOXRGbUiRy04Nnu8N8G61xDNf2fZzdFvDr1Pu01/E+vuWWfZODvZppmgyp3V81fX0cOLlH8Om/3Y936v4JEmYjtlWsy1b2dezd3MaeqcQ0pQoPEqNpLZ1PWflH06vvhdfsNOEaVONOnFQhFJRjFYSS6JIyBqtaZboroe6w9wljpsARQNKSxJZXdMAg/J3EVlLTtavrR7yoXFSlnzxJo4bKXhwqST6Qb98nt+rNm9rFp9m441RRSxUnGqv4oRb+uTWLKhWuqngW1OpWqSa/DpRcpP4Lc3xPy0THvT9G+yup4nAelLO8ISg/hN/o0bYah7L9K1LR+GI2uq0PAqOo5wpuScoppLfGy6eZtxqv+0t1elBAYqBgAQBgqMiFBFQA87WtQlY28fCS8So2oyktoktMVjcsq1m06h6J1bm/trZffqJy/ZjuzVLvWqmVRq15ObXVvCZ0o1ZV6nh0lOpUe6hFNt/I57cj4rDqrxfm0tgvNeynGk+RefVnjVbyVV5k236nZo6DqNfDlShRi/wDuT3+Syd6lwtPH4l3Ff6aef1Nc1y37bYthx9S+G+0WNCGvVGqFXxq1OE/ElVXI1jl2jj93HU1RS6cy2P0Dxn7OYazp8ZWdx/xCg26TqLljNPrFtZa80/P3s8LRvYxBx59b1Dlb/wAq0jnHvnJf/PxO/F+NIiXmZo8skzXp8fxnpkyoafc3leFG1pTq16jxCEY5cn5JH6Is/ZdwlapZ0+pXa71rmo/oml9DZdN0bTNJjy6bp9tbbYbpUlFv3vqzObwwjHL4Hw77M+I9SuYwvNNnYUE/v17mSSS9I/mk/kvVH2HQvZ7w5o0YOFhC6rxW9W6/EefNRf3V8EbSUwm8yzisQiSikkkklhJdgUGLJAUAQFAEKABrPGuiafqFtTurqxtq1WlJR56lGMnyvtlrpn+Z5GmUKNvTVO3o0qMMbxpwUV8kbnqtPxdNuYf+Nte9b/oabQnyQT9exyZ/Vod3G1NZb5gYMaclOnGSeVJJmR1uLRgAABgAJpAUA0BggFOpqdlG9tZUpY5lvB+TO0CTG41K1tNZ3D53eQcZyhUhvHKafVNHq8EctO5uqcknOcE1Lu0n0+q+R2uKLGUJfbqEOZPaql28pf16GtUNTdncKpbJxrR89/6RxanFk9vT19bF6+X0op4nD2pajfwlK+tqVOKyuaGU289MPoe1udtZi0bh5t6zSdSoICsQAAAAE2AZGSmwZGRkG1yMkyMENqCDp1C7Srjwpp9OV5+R87g5csY74a6rsb5fzbs68aTzOVNqOPPBpC8WGVOjOLjt+VnLyYmZh28TqW08P38aturarJKrS2im/wA0ex7B80qXCg+abqx8pOnNY+h7ul8TTjCMKzVeHTxE917y48uo1YycebTM09tuB0NO1a3v0oxbhV3zTl128jvnRExMbhyWrNZ1IACoAACA41MyTKw2yBMlyFRxUlhrKOlHTLGjPnp2dCL81TWx3skyNQsWmOmEZY6dDNSTMZJGHxKjmBwc010Hiy9w0OcHCpvzHOyaHMMo4W2xiXkNI5XJLuTnj5mCjLyRVT82BfEj2I6qXYqhEyUUuyA41Ub6Iv4j6bHIAunHyzfWRfDXdmYGzTDw49x4UPL6mYAw8Gn+wjjnY2lR5qWtGb85U039TnBJWJ04aFla20nK3tqVKTWG4QSOcALMzPYAAAAA6akZKZxhGxg51MyUjhRyIxGZSJFwQQY9DMBXHyZYdPPc5ABxeCjJQSMwDSAoAAEAoyAABO5QACAAAAAAAABFUEKgAAA//9k="/>
          <p:cNvSpPr>
            <a:spLocks noChangeAspect="1" noChangeArrowheads="1"/>
          </p:cNvSpPr>
          <p:nvPr/>
        </p:nvSpPr>
        <p:spPr bwMode="auto">
          <a:xfrm>
            <a:off x="63500" y="-950913"/>
            <a:ext cx="2333625" cy="195262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220" name="AutoShape 4" descr="data:image/jpeg;base64,/9j/4AAQSkZJRgABAQAAAQABAAD/2wBDAAkGBwgHBgkIBwgKCgkLDRYPDQwMDRsUFRAWIB0iIiAdHx8kKDQsJCYxJx8fLT0tMTU3Ojo6Iys/RD84QzQ5Ojf/2wBDAQoKCg0MDRoPDxo3JR8lNzc3Nzc3Nzc3Nzc3Nzc3Nzc3Nzc3Nzc3Nzc3Nzc3Nzc3Nzc3Nzc3Nzc3Nzc3Nzc3Nzf/wAARCADNAPUDASIAAhEBAxEB/8QAHAABAQACAwEBAAAAAAAAAAAAAAECBgMEBQcI/8QAPhAAAgEDAgQDBQUFBgcAAAAAAAECAwQRBSEGEjFBE1FhB3GBkaEUIiMywVJigrHwFSRCQ3LRJTM0U2OSwv/EABkBAQEAAwEAAAAAAAAAAAAAAAABAgMEBf/EACQRAQACAgICAQUBAQAAAAAAAAABAgMRBDESIUETFCIyUWEj/9oADAMBAAIRAxEAPwD7YwGQrEADAAAIFIihQAMAQpABUQpAAAAAAABkABkAAAUAABizFmZMBGJjg5MEwUYYBngAZFAIqBlIwI2ERlQRSk7FChCsAQFAEKQpAAAAA4ru4p2lrWuazxTowlOb9Esv+QGo8d8f2XCv91pQV1qMo58JPEaaa2cn69kvotz4lqPtG4qvak86xc0YS5vu0Zciin2WN9u255fEWpXWp6lc3t5LNxdTdSo/JPpFeSwl8MHjzX3t3jvliGMz8Nz0D2kcU6dWjGnqM7mlFP8ACu81VJv1e/XyZ9r9n/GkeLLatGta/ZbuhhTipZjU85R9zayu2V5n500mzr1JKnb0p1KtZ4Sgm5JLHl03a39D7v7KdLjpVtUo1XirhuMPLm5eZt9Mvkjsnso+/Em0b0yrS0xv4fQgAUAC4AgAKBMFIEMAAC4ABFDEyMSiMqI+pUBSkRUQGACgACAAAAKGBDyOK+apw9qNvRlRVerbVIQjVmop5jh7v0fzwdnW9RpaTpdze1Z04+FTlKCqSUVOSi2or1eOh+Wtf1LUK15XjWvalaUptzkpPllJNrOO3nvuDp5t3X8avKS2Xv3b8/66GycCW68S7ryoKeaXh0qso5UZNrb49M/M8PR9Iq6rC+dFNytbWVw2pJLEZJPr16rp5/B/VuE9OhZ6RRozgs8u7x1NHIv40038ak2v5fxzcOcP/wBlqU5xjCtVjmdOD5ox3zhM3zRakLF2znUf96k6fI5vHMsY5Y9Pf3+RrttWjH7ktmtkbjo9FVaSqVYqdNcsqSaTUZea26+pz4Zm19uvNFaY9fD10ADveaAAogKQgEaKQomAZAAAAAAAjIVgAVEKQACgQAACkKgAYAHgcY2c7zR7qm6lVUpUnHkoU1Kby8SeOrwt8LHTv0PzNc6dc3ms1bW1pOdbmm1Fzxnq9m3u8dF+Z+TZ+uDVLfgzTNK1uOr2MJUsSlWrx521UniWGljbHM+jS7cr2aGttE03g2ehcOuzbj/at5Tj4/NHKtoOUZyjJp/ecuSKSykkn6uXe0ahcW9zTpX8lKjKSSq0aUoqH+pNvbHdN47pLc2icOZ1J1HmdSbqSz3b/wBlhe5I69SC5Njzs2Tyt/j0sOOKV9dtltrLTLqnOcIW9xzPMpLEn810O9bW9K2pKlQgoQXRJs03Rq8rLUoNtqEtpeqN3OrBet43Ee3Lnrak6mdxIADoc4AAoACIgKxgCAuABATJSgAQAwUAAAQXAAAAACFQAAAADrah/wBJUXnhfVHZOtqEFUtpJvCTi/k0/wBCTG40sTqdtR1CpLxHh7HQt7+FS5+zVJctR/lT/wAR1NS1ipbVZU7rS9QjJPHNSpRqwl6xcZZx70n6Guajd315UjLTdPuKNSM1KNa7xTUWn1UU3J/Q877fNNv1l6X3OGK78obzNcrjPvFm8UJqpQpzXSUU/oaTQmrq1p1kseJDLXk+6+DNj4duXVs/Ck/vUtvgbONM1vNZa+THlSLQ9YAHc4QAAAAAABUAABgjIxKBSFAAYAAFRCgAAAAAAAEAABQ6epz5bWXqdtnk63dKMFSg05dXv9DKkblhedVafqs81MJtZ7PdHkuLlUfTHmlsejqFaE63VJ+v+5x2Nv41zGmu73Z2z0447elpNOpRtlSqZazzRePPdr9fme5oMlTv5U87Ti8ep5mvVZWkLSnSk0oT8Sr6rDST+bfwRaNz4NxRrwf5Jb+48XPatc+4e5x62tg8ZboCRakk10e6MjrcSAoAEKQAACoAADEBACsAEAFwQB3KECgAAAAAAAAazxLx1ovD05ULitKvdRW9CglJxf7z6R+efQ6vtJ4rfDmlKlaySvrpNU3n/lx7z9/Zeu/Y/PV5dzq1JSlKTbbbbeW2Z1pv3LC19en2jTfapQ1e/dlGgrKVR4oTnLmcn+y+yb7fLrjPbq1Krbw3lvfO+fefAW3nOcM+mcF8XLUKcdP1Op/fI4VKrL/OXk/3v5+/rzcmuSv50np08XJjt/zvHb37qLU05x+8+mVlHt8M2Up1VOS37JnVlDxl+6t2abxbx7faRe09O4fvFTnRz9oqxhGX3u0FlNbd/V47M24eZOWPGY9tefhxinyifT6/rulq8s/wo5q04vC/aXkabmrGjFxWXFqMl7jQbf2t8VUMc9xbV8dqttHf/wBcHv8AB/FtzxJd3jvaFtRlmLXgJpOTznZt9cefU5+Th9ebp4mf34PrGh3cLrT6KW1SnBRnHyxsegaXQuK9pQrVLaXLUiotZWzXMsp+mMm06bfU72gpc0PFUU6lNSTcM9MpN4ytzLFk8o1PbHPi8Z8o6dwAG5zhChgQAFQAAGKARQBQgQAAAABQAAUABAOG7ureyt53F3WhRowWZTqSwkdLX9e0/h+yd1qVbki8qEI7zqPyiv6SPg/HXHF5xLcRhL8GzpPNKhF5w+nNJ95Y+C3x3znWu2NracntK4oteIdajcWPiu3hQjCHiQ5X1k28Zfn6P0NGk+bcylJvq/cY4eTb/jRM7YrOTlhBuScc5XTBnSpOT6ZPTWkajG1hdUtPuZ0pt8lSNGcoy88PH6jQ9i544v6OhwspKP2yS5ftCf3nHs2vP1+hpEX72+7O9Wsbrnc7ijOMn154NfzMqOnXNeSjQoVKj8oQcv5GFcda/rGmy+S19eUug3k9bhXVIaXqsZ1p8lCquSpNf4N8qXwf0ydhcJa9KPMtF1Bx8/slT/Y8u9saljNwvKFWjNf4atKUH9UhakWjUpS00tFofoLR68L2jScmnC4hyuUHlZe2zXXc+c6hxTO24/uryyudqVWnTjOm/u1FCEYyXrFuL+G58/p3t1RpOhb3FejRk94RqyjF/wAKe529Gpp39Nv8sJKUn6Lovj/LJrwYfCzdnz/UrEafrOnONSnGpB5jJKUX5p9DI8Xgm5+2cIaNXby52VLL9VFJ/VHtCeyOgAEEADKJkAERCgpQDAwBCgAADhubqjbR5qs0vRbskzrtYiZ9Q5gfM+MPao9E1OVjY2FOrKEIylOtNrd74wvTHfuajee1/iOtGat42NqsbSjRcmn/ABN/qZRWZjcMbT4zqX3o1TirjvSdBo1qdOtTur+H3Vb05Z5ZfvtbLHl19D4fqfHfEmrW8oXuq15UEsKnTUaSm3tvyJZWOzya9UuJNSpqW3M+nqzOKf1jN/49XiPiK+1y/qXV7WdSpLZdlFeUV2XoeK3ndk6mcYOXRGbUiRy04Nnu8N8G61xDNf2fZzdFvDr1Pu01/E+vuWWfZODvZppmgyp3V81fX0cOLlH8Om/3Y936v4JEmYjtlWsy1b2dezd3MaeqcQ0pQoPEqNpLZ1PWflH06vvhdfsNOEaVONOnFQhFJRjFYSS6JIyBqtaZboroe6w9wljpsARQNKSxJZXdMAg/J3EVlLTtavrR7yoXFSlnzxJo4bKXhwqST6Qb98nt+rNm9rFp9m441RRSxUnGqv4oRb+uTWLKhWuqngW1OpWqSa/DpRcpP4Lc3xPy0THvT9G+yup4nAelLO8ISg/hN/o0bYah7L9K1LR+GI2uq0PAqOo5wpuScoppLfGy6eZtxqv+0t1elBAYqBgAQBgqMiFBFQA87WtQlY28fCS8So2oyktoktMVjcsq1m06h6J1bm/trZffqJy/ZjuzVLvWqmVRq15ObXVvCZ0o1ZV6nh0lOpUe6hFNt/I57cj4rDqrxfm0tgvNeynGk+RefVnjVbyVV5k236nZo6DqNfDlShRi/wDuT3+Syd6lwtPH4l3Ff6aef1Nc1y37bYthx9S+G+0WNCGvVGqFXxq1OE/ElVXI1jl2jj93HU1RS6cy2P0Dxn7OYazp8ZWdx/xCg26TqLljNPrFtZa80/P3s8LRvYxBx59b1Dlb/wAq0jnHvnJf/PxO/F+NIiXmZo8skzXp8fxnpkyoafc3leFG1pTq16jxCEY5cn5JH6Is/ZdwlapZ0+pXa71rmo/oml9DZdN0bTNJjy6bp9tbbYbpUlFv3vqzObwwjHL4Hw77M+I9SuYwvNNnYUE/v17mSSS9I/mk/kvVH2HQvZ7w5o0YOFhC6rxW9W6/EefNRf3V8EbSUwm8yzisQiSikkkklhJdgUGLJAUAQFAEKABrPGuiafqFtTurqxtq1WlJR56lGMnyvtlrpn+Z5GmUKNvTVO3o0qMMbxpwUV8kbnqtPxdNuYf+Nte9b/oabQnyQT9exyZ/Vod3G1NZb5gYMaclOnGSeVJJmR1uLRgAABgAJpAUA0BggFOpqdlG9tZUpY5lvB+TO0CTG41K1tNZ3D53eQcZyhUhvHKafVNHq8EctO5uqcknOcE1Lu0n0+q+R2uKLGUJfbqEOZPaql28pf16GtUNTdncKpbJxrR89/6RxanFk9vT19bF6+X0op4nD2pajfwlK+tqVOKyuaGU289MPoe1udtZi0bh5t6zSdSoICsQAAAAE2AZGSmwZGRkG1yMkyMENqCDp1C7Srjwpp9OV5+R87g5csY74a6rsb5fzbs68aTzOVNqOPPBpC8WGVOjOLjt+VnLyYmZh28TqW08P38aturarJKrS2im/wA0ex7B80qXCg+abqx8pOnNY+h7ul8TTjCMKzVeHTxE917y48uo1YycebTM09tuB0NO1a3v0oxbhV3zTl128jvnRExMbhyWrNZ1IACoAACA41MyTKw2yBMlyFRxUlhrKOlHTLGjPnp2dCL81TWx3skyNQsWmOmEZY6dDNSTMZJGHxKjmBwc010Hiy9w0OcHCpvzHOyaHMMo4W2xiXkNI5XJLuTnj5mCjLyRVT82BfEj2I6qXYqhEyUUuyA41Ub6Iv4j6bHIAunHyzfWRfDXdmYGzTDw49x4UPL6mYAw8Gn+wjjnY2lR5qWtGb85U039TnBJWJ04aFla20nK3tqVKTWG4QSOcALMzPYAAAAA6akZKZxhGxg51MyUjhRyIxGZSJFwQQY9DMBXHyZYdPPc5ABxeCjJQSMwDSAoAAEAoyAABO5QACAAAAAAAABFUEKgAAA//9k="/>
          <p:cNvSpPr>
            <a:spLocks noChangeAspect="1" noChangeArrowheads="1"/>
          </p:cNvSpPr>
          <p:nvPr/>
        </p:nvSpPr>
        <p:spPr bwMode="auto">
          <a:xfrm>
            <a:off x="63500" y="-950913"/>
            <a:ext cx="2333625" cy="195262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5" grpId="0" animBg="1"/>
      <p:bldP spid="6" grpId="0" animBg="1"/>
      <p:bldP spid="7" grpId="0" animBg="1"/>
      <p:bldP spid="8" grpId="0" animBg="1"/>
      <p:bldP spid="9" grpId="0" animBg="1"/>
      <p:bldP spid="15" grpId="0" animBg="1"/>
      <p:bldP spid="33" grpId="0" animBg="1"/>
      <p:bldP spid="34" grpId="0"/>
      <p:bldP spid="36" grpId="0"/>
      <p:bldP spid="37" grpId="0"/>
      <p:bldP spid="38" grpId="0"/>
      <p:bldP spid="40" grpId="0" animBg="1"/>
      <p:bldP spid="41" grpId="0"/>
      <p:bldP spid="43" grpId="0"/>
      <p:bldP spid="44" grpId="0"/>
      <p:bldP spid="45" grpId="0"/>
      <p:bldP spid="47" grpId="0"/>
      <p:bldP spid="48" grpId="0" animBg="1"/>
      <p:bldP spid="50" grpId="0"/>
      <p:bldP spid="51" grpId="0"/>
      <p:bldP spid="52" grpId="0"/>
      <p:bldP spid="65" grpId="0" animBg="1"/>
      <p:bldP spid="66" grpId="0" animBg="1"/>
      <p:bldP spid="6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http://hstrial-sos4.intuitwebsites.com/chalkboard_large.jpg"/>
          <p:cNvPicPr>
            <a:picLocks noChangeAspect="1" noChangeArrowheads="1"/>
          </p:cNvPicPr>
          <p:nvPr/>
        </p:nvPicPr>
        <p:blipFill>
          <a:blip r:embed="rId2" cstate="print"/>
          <a:srcRect l="2945" t="4126" r="2556" b="4525"/>
          <a:stretch>
            <a:fillRect/>
          </a:stretch>
        </p:blipFill>
        <p:spPr bwMode="auto">
          <a:xfrm>
            <a:off x="0" y="-27384"/>
            <a:ext cx="9180512" cy="6885384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03582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Rational Numbers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77C62D-0680-B04A-BEEA-44B5EFF92C3B}"/>
              </a:ext>
            </a:extLst>
          </p:cNvPr>
          <p:cNvSpPr txBox="1"/>
          <p:nvPr/>
        </p:nvSpPr>
        <p:spPr>
          <a:xfrm>
            <a:off x="570384" y="1369110"/>
            <a:ext cx="767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 rational number is a number that can be written as a simple fractions (i.e. as a ratio)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1C8C95-21B5-814E-A78D-BFB7C27F29BC}"/>
              </a:ext>
            </a:extLst>
          </p:cNvPr>
          <p:cNvSpPr txBox="1"/>
          <p:nvPr/>
        </p:nvSpPr>
        <p:spPr>
          <a:xfrm>
            <a:off x="590546" y="2281277"/>
            <a:ext cx="692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Ex:</a:t>
            </a:r>
          </a:p>
        </p:txBody>
      </p:sp>
      <p:pic>
        <p:nvPicPr>
          <p:cNvPr id="23" name="Picture 22" descr="Table&#10;&#10;Description automatically generated">
            <a:extLst>
              <a:ext uri="{FF2B5EF4-FFF2-40B4-BE49-F238E27FC236}">
                <a16:creationId xmlns:a16="http://schemas.microsoft.com/office/drawing/2014/main" id="{9B190773-3DE5-E84E-982E-4A6F28EF9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2473494"/>
            <a:ext cx="5080000" cy="218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C33830C-822C-8642-8A0D-D1926CBF573C}"/>
                  </a:ext>
                </a:extLst>
              </p:cNvPr>
              <p:cNvSpPr txBox="1"/>
              <p:nvPr/>
            </p:nvSpPr>
            <p:spPr>
              <a:xfrm>
                <a:off x="590546" y="4922922"/>
                <a:ext cx="7704856" cy="1577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</a:rPr>
                  <a:t>In general, a rational number looks like this: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CA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  <a:p>
                <a:endParaRPr lang="en-US" sz="2800" dirty="0">
                  <a:solidFill>
                    <a:schemeClr val="bg1"/>
                  </a:solidFill>
                </a:endParaRPr>
              </a:p>
              <a:p>
                <a:r>
                  <a:rPr lang="en-US" sz="2800" dirty="0">
                    <a:solidFill>
                      <a:schemeClr val="bg1"/>
                    </a:solidFill>
                  </a:rPr>
                  <a:t>But </a:t>
                </a:r>
                <a14:m>
                  <m:oMath xmlns:m="http://schemas.openxmlformats.org/officeDocument/2006/math">
                    <m:r>
                      <a:rPr lang="en-CA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cannot be zero, as we can’t divide by zero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C33830C-822C-8642-8A0D-D1926CBF5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46" y="4922922"/>
                <a:ext cx="7704856" cy="1577932"/>
              </a:xfrm>
              <a:prstGeom prst="rect">
                <a:avLst/>
              </a:prstGeom>
              <a:blipFill>
                <a:blip r:embed="rId4"/>
                <a:stretch>
                  <a:fillRect l="-1645" b="-10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http://hstrial-sos4.intuitwebsites.com/chalkboard_large.jpg"/>
          <p:cNvPicPr>
            <a:picLocks noChangeAspect="1" noChangeArrowheads="1"/>
          </p:cNvPicPr>
          <p:nvPr/>
        </p:nvPicPr>
        <p:blipFill>
          <a:blip r:embed="rId2" cstate="print"/>
          <a:srcRect l="2945" t="4126" r="2556" b="4525"/>
          <a:stretch>
            <a:fillRect/>
          </a:stretch>
        </p:blipFill>
        <p:spPr bwMode="auto">
          <a:xfrm>
            <a:off x="-36512" y="0"/>
            <a:ext cx="9180512" cy="6885384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944" y="571651"/>
            <a:ext cx="7903582" cy="11430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Adding and Subtracting Rational Numbers (Fractions)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299994"/>
            <a:ext cx="8280920" cy="343326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The golden rule is this:</a:t>
            </a:r>
          </a:p>
          <a:p>
            <a:pPr>
              <a:buNone/>
            </a:pPr>
            <a:endParaRPr lang="en-GB" dirty="0">
              <a:solidFill>
                <a:schemeClr val="bg1"/>
              </a:solidFill>
              <a:latin typeface="Comic Sans MS" pitchFamily="66" charset="0"/>
            </a:endParaRPr>
          </a:p>
          <a:p>
            <a:pPr>
              <a:buNone/>
            </a:pPr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We can only add and subtract fractions that have the same denominator. </a:t>
            </a:r>
          </a:p>
          <a:p>
            <a:pPr>
              <a:buNone/>
            </a:pPr>
            <a:endParaRPr lang="en-GB" dirty="0">
              <a:solidFill>
                <a:schemeClr val="bg1"/>
              </a:solidFill>
              <a:latin typeface="Comic Sans MS" pitchFamily="66" charset="0"/>
            </a:endParaRPr>
          </a:p>
          <a:p>
            <a:pPr>
              <a:buNone/>
            </a:pPr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If two fractions don’t have the same denominator, we need to find the Lowest Common Multiple (LCM)</a:t>
            </a:r>
          </a:p>
        </p:txBody>
      </p:sp>
    </p:spTree>
    <p:extLst>
      <p:ext uri="{BB962C8B-B14F-4D97-AF65-F5344CB8AC3E}">
        <p14:creationId xmlns:p14="http://schemas.microsoft.com/office/powerpoint/2010/main" val="308620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http://hstrial-sos4.intuitwebsites.com/chalkboard_large.jpg"/>
          <p:cNvPicPr>
            <a:picLocks noChangeAspect="1" noChangeArrowheads="1"/>
          </p:cNvPicPr>
          <p:nvPr/>
        </p:nvPicPr>
        <p:blipFill>
          <a:blip r:embed="rId2" cstate="print"/>
          <a:srcRect l="2945" t="4126" r="2556" b="4525"/>
          <a:stretch>
            <a:fillRect/>
          </a:stretch>
        </p:blipFill>
        <p:spPr bwMode="auto">
          <a:xfrm>
            <a:off x="0" y="-13692"/>
            <a:ext cx="9180512" cy="6885384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209" y="133050"/>
            <a:ext cx="7903582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Same Denominator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C7F880-8140-1F40-8A87-BE30E08C6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50" y="1091106"/>
            <a:ext cx="8280920" cy="148691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Rule: If the denominator is the same, don’t change it. Keep it the same and simply add the numerators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7657B2-B164-F841-8175-226F4566AD50}"/>
              </a:ext>
            </a:extLst>
          </p:cNvPr>
          <p:cNvSpPr/>
          <p:nvPr/>
        </p:nvSpPr>
        <p:spPr>
          <a:xfrm>
            <a:off x="1918110" y="2828602"/>
            <a:ext cx="26032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A0CB05-75BD-A14D-B124-DC6BD05652AC}"/>
              </a:ext>
            </a:extLst>
          </p:cNvPr>
          <p:cNvSpPr/>
          <p:nvPr/>
        </p:nvSpPr>
        <p:spPr>
          <a:xfrm>
            <a:off x="1896471" y="3221017"/>
            <a:ext cx="30360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A0A7D7-E9CE-1B4E-9034-6D3BE8069011}"/>
              </a:ext>
            </a:extLst>
          </p:cNvPr>
          <p:cNvCxnSpPr/>
          <p:nvPr/>
        </p:nvCxnSpPr>
        <p:spPr>
          <a:xfrm>
            <a:off x="1787477" y="3221018"/>
            <a:ext cx="54385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6342023-BE19-414B-8C40-DCD9ABD1F62F}"/>
              </a:ext>
            </a:extLst>
          </p:cNvPr>
          <p:cNvSpPr/>
          <p:nvPr/>
        </p:nvSpPr>
        <p:spPr>
          <a:xfrm>
            <a:off x="3372713" y="2828602"/>
            <a:ext cx="30360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7442DF-9C57-5541-B4CF-AC66FCD8C318}"/>
              </a:ext>
            </a:extLst>
          </p:cNvPr>
          <p:cNvSpPr/>
          <p:nvPr/>
        </p:nvSpPr>
        <p:spPr>
          <a:xfrm>
            <a:off x="3372713" y="3221017"/>
            <a:ext cx="30360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7498E69-DB93-594D-995D-E6F3552C6269}"/>
              </a:ext>
            </a:extLst>
          </p:cNvPr>
          <p:cNvCxnSpPr/>
          <p:nvPr/>
        </p:nvCxnSpPr>
        <p:spPr>
          <a:xfrm>
            <a:off x="3263720" y="3221018"/>
            <a:ext cx="54385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EC51AC7-CB5F-B045-9C41-BC29A502046B}"/>
              </a:ext>
            </a:extLst>
          </p:cNvPr>
          <p:cNvSpPr/>
          <p:nvPr/>
        </p:nvSpPr>
        <p:spPr>
          <a:xfrm>
            <a:off x="2717952" y="3024810"/>
            <a:ext cx="268343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+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6FB68-B1F2-0145-9E4C-73C90B328F43}"/>
              </a:ext>
            </a:extLst>
          </p:cNvPr>
          <p:cNvSpPr/>
          <p:nvPr/>
        </p:nvSpPr>
        <p:spPr>
          <a:xfrm>
            <a:off x="4140527" y="3024810"/>
            <a:ext cx="276358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=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F8F236-CD42-4344-BCE9-6732530C9700}"/>
              </a:ext>
            </a:extLst>
          </p:cNvPr>
          <p:cNvSpPr/>
          <p:nvPr/>
        </p:nvSpPr>
        <p:spPr>
          <a:xfrm>
            <a:off x="4682686" y="2828602"/>
            <a:ext cx="715582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1 + 3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1C8390-6C48-B74B-AAE7-E0EDEC9193DC}"/>
              </a:ext>
            </a:extLst>
          </p:cNvPr>
          <p:cNvSpPr/>
          <p:nvPr/>
        </p:nvSpPr>
        <p:spPr>
          <a:xfrm>
            <a:off x="4848955" y="3221017"/>
            <a:ext cx="30360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50B8FD-72B5-3548-A7E1-33F444A3D34B}"/>
              </a:ext>
            </a:extLst>
          </p:cNvPr>
          <p:cNvCxnSpPr/>
          <p:nvPr/>
        </p:nvCxnSpPr>
        <p:spPr>
          <a:xfrm>
            <a:off x="4739962" y="3221018"/>
            <a:ext cx="54385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3DBAE13-340D-F546-A238-517BCD73AA8A}"/>
              </a:ext>
            </a:extLst>
          </p:cNvPr>
          <p:cNvSpPr/>
          <p:nvPr/>
        </p:nvSpPr>
        <p:spPr>
          <a:xfrm>
            <a:off x="5702562" y="3024810"/>
            <a:ext cx="276358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=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3B48E7-8CD1-854D-98EF-10D4F51A9029}"/>
              </a:ext>
            </a:extLst>
          </p:cNvPr>
          <p:cNvSpPr/>
          <p:nvPr/>
        </p:nvSpPr>
        <p:spPr>
          <a:xfrm>
            <a:off x="6412324" y="2828602"/>
            <a:ext cx="30360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A8E541-F3A4-EC46-B169-ED5147E7882D}"/>
              </a:ext>
            </a:extLst>
          </p:cNvPr>
          <p:cNvSpPr/>
          <p:nvPr/>
        </p:nvSpPr>
        <p:spPr>
          <a:xfrm>
            <a:off x="6410991" y="3221017"/>
            <a:ext cx="30360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99B3A49-33CC-3243-8EFC-80F21855FDC4}"/>
              </a:ext>
            </a:extLst>
          </p:cNvPr>
          <p:cNvCxnSpPr/>
          <p:nvPr/>
        </p:nvCxnSpPr>
        <p:spPr>
          <a:xfrm>
            <a:off x="6301997" y="3221018"/>
            <a:ext cx="54385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3B68B0C-242B-504F-9E33-CB9E8EF827F0}"/>
              </a:ext>
            </a:extLst>
          </p:cNvPr>
          <p:cNvSpPr/>
          <p:nvPr/>
        </p:nvSpPr>
        <p:spPr>
          <a:xfrm>
            <a:off x="1446048" y="3751933"/>
            <a:ext cx="1204453" cy="25391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1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One fifth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E468A6-753F-8F47-9169-7FC13A9C7451}"/>
              </a:ext>
            </a:extLst>
          </p:cNvPr>
          <p:cNvSpPr/>
          <p:nvPr/>
        </p:nvSpPr>
        <p:spPr>
          <a:xfrm>
            <a:off x="2922291" y="3751933"/>
            <a:ext cx="1204453" cy="43858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1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Three one fifths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939D7D-0EBE-F641-9605-5246B705ECA1}"/>
              </a:ext>
            </a:extLst>
          </p:cNvPr>
          <p:cNvSpPr/>
          <p:nvPr/>
        </p:nvSpPr>
        <p:spPr>
          <a:xfrm>
            <a:off x="3003727" y="6057746"/>
            <a:ext cx="803848" cy="64716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1EBEC0-D309-5044-B6A4-DC6C8B7A5E5E}"/>
              </a:ext>
            </a:extLst>
          </p:cNvPr>
          <p:cNvSpPr/>
          <p:nvPr/>
        </p:nvSpPr>
        <p:spPr>
          <a:xfrm>
            <a:off x="3806118" y="6057746"/>
            <a:ext cx="803848" cy="64716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07F877-DC39-E144-93A2-1EA84106EF86}"/>
              </a:ext>
            </a:extLst>
          </p:cNvPr>
          <p:cNvSpPr/>
          <p:nvPr/>
        </p:nvSpPr>
        <p:spPr>
          <a:xfrm>
            <a:off x="4608510" y="6057746"/>
            <a:ext cx="803848" cy="64716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C357A1-4B50-704C-9352-FEBF5AD97904}"/>
              </a:ext>
            </a:extLst>
          </p:cNvPr>
          <p:cNvSpPr/>
          <p:nvPr/>
        </p:nvSpPr>
        <p:spPr>
          <a:xfrm>
            <a:off x="5410901" y="6057746"/>
            <a:ext cx="803848" cy="64716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4E74F0-317E-5A4A-A7F4-D6B6D0681CAE}"/>
              </a:ext>
            </a:extLst>
          </p:cNvPr>
          <p:cNvSpPr/>
          <p:nvPr/>
        </p:nvSpPr>
        <p:spPr>
          <a:xfrm>
            <a:off x="6213687" y="6057746"/>
            <a:ext cx="803848" cy="6471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E5D2ED-5646-0841-B810-284C9D23212A}"/>
              </a:ext>
            </a:extLst>
          </p:cNvPr>
          <p:cNvSpPr/>
          <p:nvPr/>
        </p:nvSpPr>
        <p:spPr>
          <a:xfrm>
            <a:off x="1918110" y="4536800"/>
            <a:ext cx="26032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829908-61DE-4046-ADED-99B46A62C92F}"/>
              </a:ext>
            </a:extLst>
          </p:cNvPr>
          <p:cNvSpPr/>
          <p:nvPr/>
        </p:nvSpPr>
        <p:spPr>
          <a:xfrm>
            <a:off x="1896471" y="4929215"/>
            <a:ext cx="30360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E28F0AF-8A62-E945-8A66-1C1DFBB1CC82}"/>
              </a:ext>
            </a:extLst>
          </p:cNvPr>
          <p:cNvCxnSpPr/>
          <p:nvPr/>
        </p:nvCxnSpPr>
        <p:spPr>
          <a:xfrm>
            <a:off x="1787477" y="4929215"/>
            <a:ext cx="54385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62197CB-40F0-024C-8B8B-764B19DDEA55}"/>
              </a:ext>
            </a:extLst>
          </p:cNvPr>
          <p:cNvSpPr/>
          <p:nvPr/>
        </p:nvSpPr>
        <p:spPr>
          <a:xfrm>
            <a:off x="3372713" y="4536800"/>
            <a:ext cx="30360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398462-8E24-1E46-966E-27A2C157827D}"/>
              </a:ext>
            </a:extLst>
          </p:cNvPr>
          <p:cNvSpPr/>
          <p:nvPr/>
        </p:nvSpPr>
        <p:spPr>
          <a:xfrm>
            <a:off x="3372713" y="4929215"/>
            <a:ext cx="30360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3779F9A-75D4-3A4F-9721-39B4D77EBCF3}"/>
              </a:ext>
            </a:extLst>
          </p:cNvPr>
          <p:cNvCxnSpPr/>
          <p:nvPr/>
        </p:nvCxnSpPr>
        <p:spPr>
          <a:xfrm>
            <a:off x="3263720" y="4929215"/>
            <a:ext cx="54385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6BDD158-C11B-EE42-AC08-D6497EE0ABC3}"/>
              </a:ext>
            </a:extLst>
          </p:cNvPr>
          <p:cNvSpPr/>
          <p:nvPr/>
        </p:nvSpPr>
        <p:spPr>
          <a:xfrm>
            <a:off x="2717952" y="4733008"/>
            <a:ext cx="268343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+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3CD26C-60B0-E545-84E1-4F9A20316DDA}"/>
              </a:ext>
            </a:extLst>
          </p:cNvPr>
          <p:cNvSpPr/>
          <p:nvPr/>
        </p:nvSpPr>
        <p:spPr>
          <a:xfrm>
            <a:off x="4140527" y="4733008"/>
            <a:ext cx="276358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=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53A424-EB1E-DE4E-BD12-920182B13DE5}"/>
              </a:ext>
            </a:extLst>
          </p:cNvPr>
          <p:cNvSpPr/>
          <p:nvPr/>
        </p:nvSpPr>
        <p:spPr>
          <a:xfrm>
            <a:off x="4682686" y="4536800"/>
            <a:ext cx="715582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1</a:t>
            </a:r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+ </a:t>
            </a:r>
            <a:r>
              <a:rPr lang="en-US" sz="21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61448AE-9BC0-854A-9CC1-D3DE989E4949}"/>
              </a:ext>
            </a:extLst>
          </p:cNvPr>
          <p:cNvSpPr/>
          <p:nvPr/>
        </p:nvSpPr>
        <p:spPr>
          <a:xfrm>
            <a:off x="4848955" y="4929215"/>
            <a:ext cx="30360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6339D72-9239-1D45-85E6-6783896DE12E}"/>
              </a:ext>
            </a:extLst>
          </p:cNvPr>
          <p:cNvCxnSpPr/>
          <p:nvPr/>
        </p:nvCxnSpPr>
        <p:spPr>
          <a:xfrm>
            <a:off x="4739962" y="4929215"/>
            <a:ext cx="54385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D7D800CA-1008-4E4C-B2D9-56D7CC6ED406}"/>
              </a:ext>
            </a:extLst>
          </p:cNvPr>
          <p:cNvSpPr/>
          <p:nvPr/>
        </p:nvSpPr>
        <p:spPr>
          <a:xfrm>
            <a:off x="5702562" y="4733008"/>
            <a:ext cx="276358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=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953C23-8313-D240-A8B1-19089EDB3B3D}"/>
              </a:ext>
            </a:extLst>
          </p:cNvPr>
          <p:cNvSpPr/>
          <p:nvPr/>
        </p:nvSpPr>
        <p:spPr>
          <a:xfrm>
            <a:off x="6412324" y="4536800"/>
            <a:ext cx="30360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F17B71-B0F7-6A46-9CD7-992CC4E0E219}"/>
              </a:ext>
            </a:extLst>
          </p:cNvPr>
          <p:cNvSpPr/>
          <p:nvPr/>
        </p:nvSpPr>
        <p:spPr>
          <a:xfrm>
            <a:off x="6410991" y="4929215"/>
            <a:ext cx="303609" cy="39241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5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9A439C-A45E-0146-B446-CD02EB5958B1}"/>
              </a:ext>
            </a:extLst>
          </p:cNvPr>
          <p:cNvCxnSpPr/>
          <p:nvPr/>
        </p:nvCxnSpPr>
        <p:spPr>
          <a:xfrm>
            <a:off x="6301997" y="4929215"/>
            <a:ext cx="54385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70A1A68B-6991-5F47-B861-E174C6CF6404}"/>
              </a:ext>
            </a:extLst>
          </p:cNvPr>
          <p:cNvSpPr/>
          <p:nvPr/>
        </p:nvSpPr>
        <p:spPr>
          <a:xfrm>
            <a:off x="1446048" y="5460130"/>
            <a:ext cx="1204453" cy="25391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1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One fifth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F8D782E-D23A-3E4C-B641-59DF79295FDA}"/>
              </a:ext>
            </a:extLst>
          </p:cNvPr>
          <p:cNvSpPr/>
          <p:nvPr/>
        </p:nvSpPr>
        <p:spPr>
          <a:xfrm>
            <a:off x="2922291" y="5460130"/>
            <a:ext cx="1204453" cy="43858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1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Three one fifths</a:t>
            </a:r>
          </a:p>
        </p:txBody>
      </p:sp>
    </p:spTree>
    <p:extLst>
      <p:ext uri="{BB962C8B-B14F-4D97-AF65-F5344CB8AC3E}">
        <p14:creationId xmlns:p14="http://schemas.microsoft.com/office/powerpoint/2010/main" val="79203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hstrial-sos4.intuitwebsites.com/chalkboard_large.jpg"/>
          <p:cNvPicPr>
            <a:picLocks noChangeAspect="1" noChangeArrowheads="1"/>
          </p:cNvPicPr>
          <p:nvPr/>
        </p:nvPicPr>
        <p:blipFill>
          <a:blip r:embed="rId2" cstate="print"/>
          <a:srcRect l="2945" t="4126" r="2556" b="4525"/>
          <a:stretch>
            <a:fillRect/>
          </a:stretch>
        </p:blipFill>
        <p:spPr bwMode="auto">
          <a:xfrm>
            <a:off x="-36512" y="-27384"/>
            <a:ext cx="9180512" cy="6885384"/>
          </a:xfrm>
          <a:prstGeom prst="rect">
            <a:avLst/>
          </a:prstGeom>
          <a:noFill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03582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Same Denominator Examples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23528" y="1988840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7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2339752" y="1988840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7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139952" y="1916832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7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403648" y="1988840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+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3275856" y="1916832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=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395536" y="328498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9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2411760" y="328498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9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4211960" y="3212976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9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1475656" y="328498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+</a:t>
            </a: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3347864" y="3212976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=</a:t>
            </a: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467544" y="472514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11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2483768" y="472514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11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4283968" y="4653136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11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1547664" y="472514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-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3419872" y="4653136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hstrial-sos4.intuitwebsites.com/chalkboard_large.jpg"/>
          <p:cNvPicPr>
            <a:picLocks noChangeAspect="1" noChangeArrowheads="1"/>
          </p:cNvPicPr>
          <p:nvPr/>
        </p:nvPicPr>
        <p:blipFill>
          <a:blip r:embed="rId2" cstate="print"/>
          <a:srcRect l="2945" t="4126" r="2556" b="4525"/>
          <a:stretch>
            <a:fillRect/>
          </a:stretch>
        </p:blipFill>
        <p:spPr bwMode="auto">
          <a:xfrm>
            <a:off x="-36512" y="-13692"/>
            <a:ext cx="9180512" cy="6885384"/>
          </a:xfrm>
          <a:prstGeom prst="rect">
            <a:avLst/>
          </a:prstGeom>
          <a:noFill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03582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Different Denominator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931224" cy="60466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We need to make sure the denominator of both fractions is the same before we add or subtract</a:t>
            </a: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755576" y="256490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5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1" name="Title 1"/>
          <p:cNvSpPr txBox="1">
            <a:spLocks/>
          </p:cNvSpPr>
          <p:nvPr/>
        </p:nvSpPr>
        <p:spPr>
          <a:xfrm>
            <a:off x="2771800" y="256490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10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2" name="Title 1"/>
          <p:cNvSpPr txBox="1">
            <a:spLocks/>
          </p:cNvSpPr>
          <p:nvPr/>
        </p:nvSpPr>
        <p:spPr>
          <a:xfrm>
            <a:off x="4644008" y="400506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10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1835696" y="256490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+</a:t>
            </a: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3707904" y="2492896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=</a:t>
            </a:r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827584" y="400506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800" b="0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10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6" name="Title 1"/>
          <p:cNvSpPr txBox="1">
            <a:spLocks/>
          </p:cNvSpPr>
          <p:nvPr/>
        </p:nvSpPr>
        <p:spPr>
          <a:xfrm>
            <a:off x="2843808" y="400506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10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7" name="Title 1"/>
          <p:cNvSpPr txBox="1">
            <a:spLocks/>
          </p:cNvSpPr>
          <p:nvPr/>
        </p:nvSpPr>
        <p:spPr>
          <a:xfrm>
            <a:off x="1907704" y="400506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+</a:t>
            </a:r>
          </a:p>
        </p:txBody>
      </p:sp>
      <p:sp>
        <p:nvSpPr>
          <p:cNvPr id="38" name="Title 1"/>
          <p:cNvSpPr txBox="1">
            <a:spLocks/>
          </p:cNvSpPr>
          <p:nvPr/>
        </p:nvSpPr>
        <p:spPr>
          <a:xfrm>
            <a:off x="3779912" y="400506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=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1043608" y="4509120"/>
            <a:ext cx="100811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259632" y="3717032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5389233" y="2123728"/>
            <a:ext cx="3528392" cy="1512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We need to LCM of 5 and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10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?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000" baseline="0" dirty="0">
                <a:solidFill>
                  <a:schemeClr val="bg1"/>
                </a:solidFill>
                <a:latin typeface="Comic Sans MS" pitchFamily="66" charset="0"/>
              </a:rPr>
              <a:t>5: 5, </a:t>
            </a:r>
            <a:r>
              <a:rPr lang="en-GB" sz="2000" b="1" u="sng" baseline="0" dirty="0">
                <a:solidFill>
                  <a:schemeClr val="bg1"/>
                </a:solidFill>
                <a:latin typeface="Comic Sans MS" pitchFamily="66" charset="0"/>
              </a:rPr>
              <a:t>10</a:t>
            </a:r>
            <a:r>
              <a:rPr lang="en-GB" sz="2000" baseline="0" dirty="0">
                <a:solidFill>
                  <a:schemeClr val="bg1"/>
                </a:solidFill>
                <a:latin typeface="Comic Sans MS" pitchFamily="66" charset="0"/>
              </a:rPr>
              <a:t>, 15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10, </a:t>
            </a:r>
            <a:r>
              <a:rPr kumimoji="0" lang="en-GB" sz="2000" b="1" i="0" u="sng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10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, 20,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  <p:bldP spid="36" grpId="0"/>
      <p:bldP spid="37" grpId="0"/>
      <p:bldP spid="38" grpId="0"/>
      <p:bldP spid="41" grpId="0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hstrial-sos4.intuitwebsites.com/chalkboard_large.jpg"/>
          <p:cNvPicPr>
            <a:picLocks noChangeAspect="1" noChangeArrowheads="1"/>
          </p:cNvPicPr>
          <p:nvPr/>
        </p:nvPicPr>
        <p:blipFill>
          <a:blip r:embed="rId2" cstate="print"/>
          <a:srcRect l="2945" t="4126" r="2556" b="4525"/>
          <a:stretch>
            <a:fillRect/>
          </a:stretch>
        </p:blipFill>
        <p:spPr bwMode="auto">
          <a:xfrm>
            <a:off x="-36512" y="0"/>
            <a:ext cx="9180512" cy="6885384"/>
          </a:xfrm>
          <a:prstGeom prst="rect">
            <a:avLst/>
          </a:prstGeom>
          <a:noFill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03582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Different Denominators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931224" cy="60466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We need to make sure the denominator of both fractions is the same before we add or subtract</a:t>
            </a: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755576" y="256490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5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1" name="Title 1"/>
          <p:cNvSpPr txBox="1">
            <a:spLocks/>
          </p:cNvSpPr>
          <p:nvPr/>
        </p:nvSpPr>
        <p:spPr>
          <a:xfrm>
            <a:off x="2771800" y="256490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6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2" name="Title 1"/>
          <p:cNvSpPr txBox="1">
            <a:spLocks/>
          </p:cNvSpPr>
          <p:nvPr/>
        </p:nvSpPr>
        <p:spPr>
          <a:xfrm>
            <a:off x="4644008" y="400506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27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30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1835696" y="256490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+</a:t>
            </a: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3707904" y="2492896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=</a:t>
            </a:r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827584" y="400506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800" b="0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30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6" name="Title 1"/>
          <p:cNvSpPr txBox="1">
            <a:spLocks/>
          </p:cNvSpPr>
          <p:nvPr/>
        </p:nvSpPr>
        <p:spPr>
          <a:xfrm>
            <a:off x="2843808" y="400506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800" b="0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30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7" name="Title 1"/>
          <p:cNvSpPr txBox="1">
            <a:spLocks/>
          </p:cNvSpPr>
          <p:nvPr/>
        </p:nvSpPr>
        <p:spPr>
          <a:xfrm>
            <a:off x="1907704" y="400506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+</a:t>
            </a:r>
          </a:p>
        </p:txBody>
      </p:sp>
      <p:sp>
        <p:nvSpPr>
          <p:cNvPr id="38" name="Title 1"/>
          <p:cNvSpPr txBox="1">
            <a:spLocks/>
          </p:cNvSpPr>
          <p:nvPr/>
        </p:nvSpPr>
        <p:spPr>
          <a:xfrm>
            <a:off x="3779912" y="4077072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=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1043608" y="4509120"/>
            <a:ext cx="100811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115616" y="3717032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81862" y="2237963"/>
            <a:ext cx="3600400" cy="1512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We need the LCM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of 5 and 6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000" baseline="0" dirty="0">
                <a:solidFill>
                  <a:schemeClr val="bg1"/>
                </a:solidFill>
                <a:latin typeface="Comic Sans MS" pitchFamily="66" charset="0"/>
              </a:rPr>
              <a:t>5:</a:t>
            </a:r>
            <a:r>
              <a:rPr lang="en-GB" sz="2000" dirty="0">
                <a:solidFill>
                  <a:schemeClr val="bg1"/>
                </a:solidFill>
                <a:latin typeface="Comic Sans MS" pitchFamily="66" charset="0"/>
              </a:rPr>
              <a:t> 5,10,15,20,25,</a:t>
            </a:r>
            <a:r>
              <a:rPr lang="en-GB" sz="2000" b="1" u="sng" dirty="0">
                <a:solidFill>
                  <a:schemeClr val="bg1"/>
                </a:solidFill>
                <a:latin typeface="Comic Sans MS" pitchFamily="66" charset="0"/>
              </a:rPr>
              <a:t>30</a:t>
            </a:r>
            <a:r>
              <a:rPr lang="en-GB" sz="2000" dirty="0">
                <a:solidFill>
                  <a:schemeClr val="bg1"/>
                </a:solidFill>
                <a:latin typeface="Comic Sans MS" pitchFamily="66" charset="0"/>
              </a:rPr>
              <a:t>,35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6: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6,12,18,24, </a:t>
            </a:r>
            <a:r>
              <a:rPr kumimoji="0" lang="en-GB" sz="2000" b="1" i="0" u="sng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30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, 36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059832" y="4542219"/>
            <a:ext cx="100811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31840" y="3750131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  <p:bldP spid="36" grpId="0"/>
      <p:bldP spid="37" grpId="0"/>
      <p:bldP spid="38" grpId="0"/>
      <p:bldP spid="41" grpId="0"/>
      <p:bldP spid="16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hstrial-sos4.intuitwebsites.com/chalkboard_large.jpg"/>
          <p:cNvPicPr>
            <a:picLocks noChangeAspect="1" noChangeArrowheads="1"/>
          </p:cNvPicPr>
          <p:nvPr/>
        </p:nvPicPr>
        <p:blipFill>
          <a:blip r:embed="rId2" cstate="print"/>
          <a:srcRect l="2945" t="4126" r="2556" b="4525"/>
          <a:stretch>
            <a:fillRect/>
          </a:stretch>
        </p:blipFill>
        <p:spPr bwMode="auto">
          <a:xfrm>
            <a:off x="-36512" y="0"/>
            <a:ext cx="9180512" cy="6885384"/>
          </a:xfrm>
          <a:prstGeom prst="rect">
            <a:avLst/>
          </a:prstGeom>
          <a:noFill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03582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Different Denominators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931224" cy="60466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We need to make sure the denominator of both fractions is the same before we add or subtract</a:t>
            </a: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755576" y="256490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8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1" name="Title 1"/>
          <p:cNvSpPr txBox="1">
            <a:spLocks/>
          </p:cNvSpPr>
          <p:nvPr/>
        </p:nvSpPr>
        <p:spPr>
          <a:xfrm>
            <a:off x="2771800" y="256490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3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2" name="Title 1"/>
          <p:cNvSpPr txBox="1">
            <a:spLocks/>
          </p:cNvSpPr>
          <p:nvPr/>
        </p:nvSpPr>
        <p:spPr>
          <a:xfrm>
            <a:off x="4644008" y="400506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24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1835696" y="256490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-</a:t>
            </a: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3707904" y="2492896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=</a:t>
            </a:r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827584" y="400506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800" b="0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noProof="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24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6" name="Title 1"/>
          <p:cNvSpPr txBox="1">
            <a:spLocks/>
          </p:cNvSpPr>
          <p:nvPr/>
        </p:nvSpPr>
        <p:spPr>
          <a:xfrm>
            <a:off x="2843808" y="400506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  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dirty="0">
                <a:solidFill>
                  <a:schemeClr val="bg1"/>
                </a:solidFill>
                <a:latin typeface="Comic Sans MS" pitchFamily="66" charset="0"/>
                <a:ea typeface="+mj-ea"/>
                <a:cs typeface="+mj-cs"/>
              </a:rPr>
              <a:t>24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7" name="Title 1"/>
          <p:cNvSpPr txBox="1">
            <a:spLocks/>
          </p:cNvSpPr>
          <p:nvPr/>
        </p:nvSpPr>
        <p:spPr>
          <a:xfrm>
            <a:off x="1907704" y="400506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-</a:t>
            </a:r>
          </a:p>
        </p:txBody>
      </p:sp>
      <p:sp>
        <p:nvSpPr>
          <p:cNvPr id="38" name="Title 1"/>
          <p:cNvSpPr txBox="1">
            <a:spLocks/>
          </p:cNvSpPr>
          <p:nvPr/>
        </p:nvSpPr>
        <p:spPr>
          <a:xfrm>
            <a:off x="3635896" y="4005064"/>
            <a:ext cx="12961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=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1043608" y="4509120"/>
            <a:ext cx="100811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259632" y="3717032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86419" y="2076300"/>
            <a:ext cx="3528392" cy="15841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We need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to find the LCM of 8 and 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000" dirty="0">
                <a:solidFill>
                  <a:schemeClr val="bg1"/>
                </a:solidFill>
                <a:latin typeface="Comic Sans MS" pitchFamily="66" charset="0"/>
              </a:rPr>
              <a:t>8: 8,16,</a:t>
            </a:r>
            <a:r>
              <a:rPr lang="en-GB" sz="2000" b="1" u="sng" dirty="0">
                <a:solidFill>
                  <a:schemeClr val="bg1"/>
                </a:solidFill>
                <a:latin typeface="Comic Sans MS" pitchFamily="66" charset="0"/>
              </a:rPr>
              <a:t>24</a:t>
            </a:r>
            <a:r>
              <a:rPr lang="en-GB" sz="2000" dirty="0">
                <a:solidFill>
                  <a:schemeClr val="bg1"/>
                </a:solidFill>
                <a:latin typeface="Comic Sans MS" pitchFamily="66" charset="0"/>
              </a:rPr>
              <a:t>,32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3: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3,6,9,12,15,18,21,</a:t>
            </a:r>
            <a:r>
              <a:rPr kumimoji="0" lang="en-GB" sz="2000" b="1" i="0" u="sng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24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,27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2915816" y="4509120"/>
            <a:ext cx="100811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59832" y="3789040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  <p:bldP spid="36" grpId="0"/>
      <p:bldP spid="37" grpId="0"/>
      <p:bldP spid="38" grpId="0"/>
      <p:bldP spid="41" grpId="0"/>
      <p:bldP spid="16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49C62F0A-21C7-8D46-90FF-42A6F3684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1875027"/>
            <a:ext cx="8178799" cy="3107944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D6542-1688-0846-8BA6-1D1E7671719B}"/>
              </a:ext>
            </a:extLst>
          </p:cNvPr>
          <p:cNvSpPr txBox="1"/>
          <p:nvPr/>
        </p:nvSpPr>
        <p:spPr>
          <a:xfrm>
            <a:off x="1835696" y="345528"/>
            <a:ext cx="4824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Your Turn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D6542-1688-0846-8BA6-1D1E7671719B}"/>
              </a:ext>
            </a:extLst>
          </p:cNvPr>
          <p:cNvSpPr txBox="1"/>
          <p:nvPr/>
        </p:nvSpPr>
        <p:spPr>
          <a:xfrm>
            <a:off x="479160" y="417576"/>
            <a:ext cx="818223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Extension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  <a:gd name="connsiteX0" fmla="*/ 0 w 3429000"/>
              <a:gd name="connsiteY0" fmla="*/ 0 h 18288"/>
              <a:gd name="connsiteX1" fmla="*/ 617220 w 3429000"/>
              <a:gd name="connsiteY1" fmla="*/ 0 h 18288"/>
              <a:gd name="connsiteX2" fmla="*/ 1200150 w 3429000"/>
              <a:gd name="connsiteY2" fmla="*/ 0 h 18288"/>
              <a:gd name="connsiteX3" fmla="*/ 1817370 w 3429000"/>
              <a:gd name="connsiteY3" fmla="*/ 0 h 18288"/>
              <a:gd name="connsiteX4" fmla="*/ 250317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743200 w 3429000"/>
              <a:gd name="connsiteY7" fmla="*/ 18288 h 18288"/>
              <a:gd name="connsiteX8" fmla="*/ 1988820 w 3429000"/>
              <a:gd name="connsiteY8" fmla="*/ 18288 h 18288"/>
              <a:gd name="connsiteX9" fmla="*/ 1405890 w 3429000"/>
              <a:gd name="connsiteY9" fmla="*/ 18288 h 18288"/>
              <a:gd name="connsiteX10" fmla="*/ 65151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07705" y="23860"/>
                  <a:pt x="509323" y="68036"/>
                  <a:pt x="685800" y="0"/>
                </a:cubicBezTo>
                <a:cubicBezTo>
                  <a:pt x="881422" y="-43910"/>
                  <a:pt x="1129204" y="-58858"/>
                  <a:pt x="1371600" y="0"/>
                </a:cubicBezTo>
                <a:cubicBezTo>
                  <a:pt x="1611115" y="-12848"/>
                  <a:pt x="1887211" y="-6418"/>
                  <a:pt x="2057400" y="0"/>
                </a:cubicBezTo>
                <a:cubicBezTo>
                  <a:pt x="2233905" y="-53439"/>
                  <a:pt x="2400311" y="-9735"/>
                  <a:pt x="2674620" y="0"/>
                </a:cubicBezTo>
                <a:cubicBezTo>
                  <a:pt x="2899369" y="50175"/>
                  <a:pt x="3197952" y="-27603"/>
                  <a:pt x="3429000" y="0"/>
                </a:cubicBezTo>
                <a:cubicBezTo>
                  <a:pt x="3428966" y="4844"/>
                  <a:pt x="3428590" y="11009"/>
                  <a:pt x="3429000" y="18288"/>
                </a:cubicBezTo>
                <a:cubicBezTo>
                  <a:pt x="3212354" y="28872"/>
                  <a:pt x="3083619" y="-836"/>
                  <a:pt x="2811780" y="18288"/>
                </a:cubicBezTo>
                <a:cubicBezTo>
                  <a:pt x="2533576" y="25058"/>
                  <a:pt x="2477440" y="20531"/>
                  <a:pt x="2228850" y="18288"/>
                </a:cubicBezTo>
                <a:cubicBezTo>
                  <a:pt x="2003657" y="-1843"/>
                  <a:pt x="1810789" y="18294"/>
                  <a:pt x="1543050" y="18288"/>
                </a:cubicBezTo>
                <a:cubicBezTo>
                  <a:pt x="1286635" y="-21162"/>
                  <a:pt x="1189418" y="22290"/>
                  <a:pt x="925830" y="18288"/>
                </a:cubicBezTo>
                <a:cubicBezTo>
                  <a:pt x="678389" y="-2387"/>
                  <a:pt x="367033" y="43234"/>
                  <a:pt x="0" y="18288"/>
                </a:cubicBezTo>
                <a:cubicBezTo>
                  <a:pt x="-649" y="11698"/>
                  <a:pt x="663" y="5413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69914" y="-16656"/>
                  <a:pt x="469790" y="-24030"/>
                  <a:pt x="617220" y="0"/>
                </a:cubicBezTo>
                <a:cubicBezTo>
                  <a:pt x="786601" y="24467"/>
                  <a:pt x="1085311" y="15192"/>
                  <a:pt x="1200150" y="0"/>
                </a:cubicBezTo>
                <a:cubicBezTo>
                  <a:pt x="1340195" y="-5060"/>
                  <a:pt x="1552999" y="41254"/>
                  <a:pt x="1817370" y="0"/>
                </a:cubicBezTo>
                <a:cubicBezTo>
                  <a:pt x="2086739" y="-377"/>
                  <a:pt x="2228603" y="31972"/>
                  <a:pt x="2503170" y="0"/>
                </a:cubicBezTo>
                <a:cubicBezTo>
                  <a:pt x="2794334" y="-14173"/>
                  <a:pt x="3002837" y="-13310"/>
                  <a:pt x="3429000" y="0"/>
                </a:cubicBezTo>
                <a:cubicBezTo>
                  <a:pt x="3428475" y="5049"/>
                  <a:pt x="3429193" y="12044"/>
                  <a:pt x="3429000" y="18288"/>
                </a:cubicBezTo>
                <a:cubicBezTo>
                  <a:pt x="3101445" y="-3440"/>
                  <a:pt x="2879434" y="34023"/>
                  <a:pt x="2743200" y="18288"/>
                </a:cubicBezTo>
                <a:cubicBezTo>
                  <a:pt x="2609544" y="13915"/>
                  <a:pt x="2334178" y="48649"/>
                  <a:pt x="1988820" y="18288"/>
                </a:cubicBezTo>
                <a:cubicBezTo>
                  <a:pt x="1620184" y="18423"/>
                  <a:pt x="1586822" y="-1871"/>
                  <a:pt x="1405890" y="18288"/>
                </a:cubicBezTo>
                <a:cubicBezTo>
                  <a:pt x="1266239" y="28547"/>
                  <a:pt x="867500" y="15208"/>
                  <a:pt x="651510" y="18288"/>
                </a:cubicBezTo>
                <a:cubicBezTo>
                  <a:pt x="445459" y="40105"/>
                  <a:pt x="119818" y="-23744"/>
                  <a:pt x="0" y="18288"/>
                </a:cubicBezTo>
                <a:cubicBezTo>
                  <a:pt x="-39" y="12511"/>
                  <a:pt x="-381" y="8039"/>
                  <a:pt x="0" y="0"/>
                </a:cubicBezTo>
                <a:close/>
              </a:path>
              <a:path w="3429000" h="18288" fill="none" stroke="0" extrusionOk="0">
                <a:moveTo>
                  <a:pt x="0" y="0"/>
                </a:moveTo>
                <a:cubicBezTo>
                  <a:pt x="199661" y="29771"/>
                  <a:pt x="488726" y="20925"/>
                  <a:pt x="685800" y="0"/>
                </a:cubicBezTo>
                <a:cubicBezTo>
                  <a:pt x="835372" y="-29710"/>
                  <a:pt x="1088413" y="6369"/>
                  <a:pt x="1371600" y="0"/>
                </a:cubicBezTo>
                <a:cubicBezTo>
                  <a:pt x="1631865" y="6637"/>
                  <a:pt x="1839907" y="52251"/>
                  <a:pt x="2057400" y="0"/>
                </a:cubicBezTo>
                <a:cubicBezTo>
                  <a:pt x="2266442" y="-8132"/>
                  <a:pt x="2461070" y="-4034"/>
                  <a:pt x="2674620" y="0"/>
                </a:cubicBezTo>
                <a:cubicBezTo>
                  <a:pt x="2940120" y="30498"/>
                  <a:pt x="3202681" y="-54357"/>
                  <a:pt x="3429000" y="0"/>
                </a:cubicBezTo>
                <a:cubicBezTo>
                  <a:pt x="3429314" y="4158"/>
                  <a:pt x="3428021" y="12539"/>
                  <a:pt x="3429000" y="18288"/>
                </a:cubicBezTo>
                <a:cubicBezTo>
                  <a:pt x="3250522" y="56023"/>
                  <a:pt x="3056248" y="-1557"/>
                  <a:pt x="2811780" y="18288"/>
                </a:cubicBezTo>
                <a:cubicBezTo>
                  <a:pt x="2534418" y="26558"/>
                  <a:pt x="2483107" y="19890"/>
                  <a:pt x="2228850" y="18288"/>
                </a:cubicBezTo>
                <a:cubicBezTo>
                  <a:pt x="1996093" y="-20362"/>
                  <a:pt x="1790611" y="35096"/>
                  <a:pt x="1543050" y="18288"/>
                </a:cubicBezTo>
                <a:cubicBezTo>
                  <a:pt x="1276188" y="-29727"/>
                  <a:pt x="1196665" y="1050"/>
                  <a:pt x="925830" y="18288"/>
                </a:cubicBezTo>
                <a:cubicBezTo>
                  <a:pt x="718623" y="61416"/>
                  <a:pt x="374628" y="25039"/>
                  <a:pt x="0" y="18288"/>
                </a:cubicBezTo>
                <a:cubicBezTo>
                  <a:pt x="20" y="11469"/>
                  <a:pt x="-29" y="515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3429000"/>
                      <a:gd name="connsiteY0" fmla="*/ 0 h 18288"/>
                      <a:gd name="connsiteX1" fmla="*/ 685800 w 3429000"/>
                      <a:gd name="connsiteY1" fmla="*/ 0 h 18288"/>
                      <a:gd name="connsiteX2" fmla="*/ 1371600 w 3429000"/>
                      <a:gd name="connsiteY2" fmla="*/ 0 h 18288"/>
                      <a:gd name="connsiteX3" fmla="*/ 2057400 w 3429000"/>
                      <a:gd name="connsiteY3" fmla="*/ 0 h 18288"/>
                      <a:gd name="connsiteX4" fmla="*/ 2674620 w 3429000"/>
                      <a:gd name="connsiteY4" fmla="*/ 0 h 18288"/>
                      <a:gd name="connsiteX5" fmla="*/ 3429000 w 3429000"/>
                      <a:gd name="connsiteY5" fmla="*/ 0 h 18288"/>
                      <a:gd name="connsiteX6" fmla="*/ 3429000 w 3429000"/>
                      <a:gd name="connsiteY6" fmla="*/ 18288 h 18288"/>
                      <a:gd name="connsiteX7" fmla="*/ 2811780 w 3429000"/>
                      <a:gd name="connsiteY7" fmla="*/ 18288 h 18288"/>
                      <a:gd name="connsiteX8" fmla="*/ 2228850 w 3429000"/>
                      <a:gd name="connsiteY8" fmla="*/ 18288 h 18288"/>
                      <a:gd name="connsiteX9" fmla="*/ 1543050 w 3429000"/>
                      <a:gd name="connsiteY9" fmla="*/ 18288 h 18288"/>
                      <a:gd name="connsiteX10" fmla="*/ 925830 w 3429000"/>
                      <a:gd name="connsiteY10" fmla="*/ 18288 h 18288"/>
                      <a:gd name="connsiteX11" fmla="*/ 0 w 3429000"/>
                      <a:gd name="connsiteY11" fmla="*/ 18288 h 18288"/>
                      <a:gd name="connsiteX12" fmla="*/ 0 w 3429000"/>
                      <a:gd name="connsiteY12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429000" h="18288" fill="none" extrusionOk="0">
                        <a:moveTo>
                          <a:pt x="0" y="0"/>
                        </a:moveTo>
                        <a:cubicBezTo>
                          <a:pt x="219865" y="20479"/>
                          <a:pt x="493281" y="26186"/>
                          <a:pt x="685800" y="0"/>
                        </a:cubicBezTo>
                        <a:cubicBezTo>
                          <a:pt x="878319" y="-26186"/>
                          <a:pt x="1121382" y="-11869"/>
                          <a:pt x="1371600" y="0"/>
                        </a:cubicBezTo>
                        <a:cubicBezTo>
                          <a:pt x="1621818" y="11869"/>
                          <a:pt x="1878793" y="32281"/>
                          <a:pt x="2057400" y="0"/>
                        </a:cubicBezTo>
                        <a:cubicBezTo>
                          <a:pt x="2236007" y="-32281"/>
                          <a:pt x="2433797" y="-18251"/>
                          <a:pt x="2674620" y="0"/>
                        </a:cubicBezTo>
                        <a:cubicBezTo>
                          <a:pt x="2915443" y="18251"/>
                          <a:pt x="3205923" y="-1443"/>
                          <a:pt x="3429000" y="0"/>
                        </a:cubicBezTo>
                        <a:cubicBezTo>
                          <a:pt x="3429442" y="4516"/>
                          <a:pt x="3428173" y="12266"/>
                          <a:pt x="3429000" y="18288"/>
                        </a:cubicBezTo>
                        <a:cubicBezTo>
                          <a:pt x="3221081" y="48608"/>
                          <a:pt x="3088001" y="8066"/>
                          <a:pt x="2811780" y="18288"/>
                        </a:cubicBezTo>
                        <a:cubicBezTo>
                          <a:pt x="2535559" y="28510"/>
                          <a:pt x="2481355" y="24898"/>
                          <a:pt x="2228850" y="18288"/>
                        </a:cubicBezTo>
                        <a:cubicBezTo>
                          <a:pt x="1976345" y="11679"/>
                          <a:pt x="1807520" y="48356"/>
                          <a:pt x="1543050" y="18288"/>
                        </a:cubicBezTo>
                        <a:cubicBezTo>
                          <a:pt x="1278580" y="-11780"/>
                          <a:pt x="1181944" y="5123"/>
                          <a:pt x="925830" y="18288"/>
                        </a:cubicBezTo>
                        <a:cubicBezTo>
                          <a:pt x="669716" y="31453"/>
                          <a:pt x="410304" y="34815"/>
                          <a:pt x="0" y="18288"/>
                        </a:cubicBezTo>
                        <a:cubicBezTo>
                          <a:pt x="-306" y="11477"/>
                          <a:pt x="485" y="4355"/>
                          <a:pt x="0" y="0"/>
                        </a:cubicBezTo>
                        <a:close/>
                      </a:path>
                      <a:path w="3429000" h="18288" stroke="0" extrusionOk="0">
                        <a:moveTo>
                          <a:pt x="0" y="0"/>
                        </a:moveTo>
                        <a:cubicBezTo>
                          <a:pt x="174095" y="-12874"/>
                          <a:pt x="443087" y="-14090"/>
                          <a:pt x="617220" y="0"/>
                        </a:cubicBezTo>
                        <a:cubicBezTo>
                          <a:pt x="791353" y="14090"/>
                          <a:pt x="1072677" y="8451"/>
                          <a:pt x="1200150" y="0"/>
                        </a:cubicBezTo>
                        <a:cubicBezTo>
                          <a:pt x="1327623" y="-8451"/>
                          <a:pt x="1526638" y="19866"/>
                          <a:pt x="1817370" y="0"/>
                        </a:cubicBezTo>
                        <a:cubicBezTo>
                          <a:pt x="2108102" y="-19866"/>
                          <a:pt x="2221289" y="26161"/>
                          <a:pt x="2503170" y="0"/>
                        </a:cubicBezTo>
                        <a:cubicBezTo>
                          <a:pt x="2785051" y="-26161"/>
                          <a:pt x="3022134" y="39178"/>
                          <a:pt x="3429000" y="0"/>
                        </a:cubicBezTo>
                        <a:cubicBezTo>
                          <a:pt x="3429577" y="4624"/>
                          <a:pt x="3429819" y="11191"/>
                          <a:pt x="3429000" y="18288"/>
                        </a:cubicBezTo>
                        <a:cubicBezTo>
                          <a:pt x="3103464" y="593"/>
                          <a:pt x="2887909" y="22940"/>
                          <a:pt x="2743200" y="18288"/>
                        </a:cubicBezTo>
                        <a:cubicBezTo>
                          <a:pt x="2598491" y="13636"/>
                          <a:pt x="2362615" y="10656"/>
                          <a:pt x="1988820" y="18288"/>
                        </a:cubicBezTo>
                        <a:cubicBezTo>
                          <a:pt x="1615025" y="25920"/>
                          <a:pt x="1580494" y="3693"/>
                          <a:pt x="1405890" y="18288"/>
                        </a:cubicBezTo>
                        <a:cubicBezTo>
                          <a:pt x="1231286" y="32884"/>
                          <a:pt x="885259" y="-16285"/>
                          <a:pt x="651510" y="18288"/>
                        </a:cubicBezTo>
                        <a:cubicBezTo>
                          <a:pt x="417761" y="52861"/>
                          <a:pt x="138362" y="-13856"/>
                          <a:pt x="0" y="18288"/>
                        </a:cubicBezTo>
                        <a:cubicBezTo>
                          <a:pt x="-171" y="12755"/>
                          <a:pt x="-690" y="793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alendar&#10;&#10;Description automatically generated with medium confidence">
            <a:extLst>
              <a:ext uri="{FF2B5EF4-FFF2-40B4-BE49-F238E27FC236}">
                <a16:creationId xmlns:a16="http://schemas.microsoft.com/office/drawing/2014/main" id="{BD79D616-76F3-B04F-8B2B-917054A22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0" y="3322288"/>
            <a:ext cx="8661654" cy="220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5604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417</Words>
  <Application>Microsoft Macintosh PowerPoint</Application>
  <PresentationFormat>On-screen Show (4:3)</PresentationFormat>
  <Paragraphs>158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Cambria Math</vt:lpstr>
      <vt:lpstr>Comic Sans MS</vt:lpstr>
      <vt:lpstr>Office Theme</vt:lpstr>
      <vt:lpstr>Topic: Rational Numbers  EQ: What do I need in order to add and subtract rational numbers?</vt:lpstr>
      <vt:lpstr>Warm up</vt:lpstr>
      <vt:lpstr>Rational Numbers</vt:lpstr>
      <vt:lpstr>Adding and Subtracting Rational Numbers (Fractions)</vt:lpstr>
      <vt:lpstr>Same Denominator</vt:lpstr>
      <vt:lpstr>Same Denominator Examples</vt:lpstr>
      <vt:lpstr>Different Denominator</vt:lpstr>
      <vt:lpstr>Different Denominators</vt:lpstr>
      <vt:lpstr>Different Denominators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and Subtracting Fractions</dc:title>
  <dc:creator>Ben</dc:creator>
  <cp:lastModifiedBy>SUMMERS Brad [Baldivis Secondary College]</cp:lastModifiedBy>
  <cp:revision>12</cp:revision>
  <dcterms:created xsi:type="dcterms:W3CDTF">2012-05-03T13:08:35Z</dcterms:created>
  <dcterms:modified xsi:type="dcterms:W3CDTF">2021-02-14T09:43:02Z</dcterms:modified>
</cp:coreProperties>
</file>
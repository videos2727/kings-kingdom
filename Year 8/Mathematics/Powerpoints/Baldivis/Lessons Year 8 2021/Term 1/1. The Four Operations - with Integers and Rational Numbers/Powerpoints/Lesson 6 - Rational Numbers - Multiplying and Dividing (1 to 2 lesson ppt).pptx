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94" r:id="rId4"/>
    <p:sldId id="393" r:id="rId5"/>
    <p:sldId id="391" r:id="rId6"/>
    <p:sldId id="395" r:id="rId7"/>
    <p:sldId id="398" r:id="rId8"/>
    <p:sldId id="399" r:id="rId9"/>
    <p:sldId id="400" r:id="rId10"/>
    <p:sldId id="401" r:id="rId11"/>
    <p:sldId id="377" r:id="rId12"/>
    <p:sldId id="402" r:id="rId13"/>
    <p:sldId id="403" r:id="rId14"/>
    <p:sldId id="404" r:id="rId15"/>
    <p:sldId id="405" r:id="rId16"/>
    <p:sldId id="406" r:id="rId17"/>
    <p:sldId id="407" r:id="rId18"/>
    <p:sldId id="414" r:id="rId19"/>
    <p:sldId id="408" r:id="rId20"/>
    <p:sldId id="409" r:id="rId21"/>
    <p:sldId id="410" r:id="rId22"/>
    <p:sldId id="411" r:id="rId23"/>
    <p:sldId id="412" r:id="rId24"/>
    <p:sldId id="413" r:id="rId25"/>
    <p:sldId id="36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14/2/21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es.nwcomplex.org/apps/video/watch.jsp?v=120450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300.png"/><Relationship Id="rId7" Type="http://schemas.openxmlformats.org/officeDocument/2006/relationships/image" Target="../media/image33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gif"/><Relationship Id="rId3" Type="http://schemas.openxmlformats.org/officeDocument/2006/relationships/image" Target="../media/image360.png"/><Relationship Id="rId7" Type="http://schemas.openxmlformats.org/officeDocument/2006/relationships/image" Target="../media/image40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farm4.static.flickr.com/3439/3212450281_4e5062431a.jpg"/>
          <p:cNvPicPr>
            <a:picLocks noChangeAspect="1" noChangeArrowheads="1"/>
          </p:cNvPicPr>
          <p:nvPr/>
        </p:nvPicPr>
        <p:blipFill>
          <a:blip r:embed="rId2" cstate="print"/>
          <a:srcRect l="1869" t="2751" r="8168" b="2751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1544" y="332657"/>
            <a:ext cx="8458200" cy="5332163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dirty="0">
                <a:latin typeface="Arial Black" pitchFamily="34" charset="0"/>
              </a:rPr>
              <a:t>Topic: Rational Numbers</a:t>
            </a:r>
            <a:br>
              <a:rPr lang="en-GB" dirty="0">
                <a:latin typeface="Arial Black" pitchFamily="34" charset="0"/>
              </a:rPr>
            </a:br>
            <a:br>
              <a:rPr lang="en-GB" dirty="0">
                <a:latin typeface="Arial Black" pitchFamily="34" charset="0"/>
              </a:rPr>
            </a:br>
            <a:r>
              <a:rPr lang="en-GB" dirty="0">
                <a:latin typeface="Arial Black" pitchFamily="34" charset="0"/>
              </a:rPr>
              <a:t>EQ: How do I multiply and divide rational numbers?</a:t>
            </a:r>
          </a:p>
        </p:txBody>
      </p:sp>
    </p:spTree>
    <p:extLst>
      <p:ext uri="{BB962C8B-B14F-4D97-AF65-F5344CB8AC3E}">
        <p14:creationId xmlns:p14="http://schemas.microsoft.com/office/powerpoint/2010/main" val="732186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rit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222339"/>
            <a:ext cx="4639845" cy="463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2367" y="1009061"/>
            <a:ext cx="1098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Arial Black" panose="020B0A04020102020204" pitchFamily="34" charset="0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6717" y="3230674"/>
            <a:ext cx="74249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latin typeface="Arial Black" panose="020B0A04020102020204" pitchFamily="34" charset="0"/>
              </a:rPr>
              <a:t>I will multiply and divide fractions (find a fraction of a fraction).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latin typeface="Arial Black" panose="020B0A04020102020204" pitchFamily="34" charset="0"/>
              </a:rPr>
              <a:t>I will divide fractions by finding the inverse.</a:t>
            </a:r>
          </a:p>
          <a:p>
            <a:endParaRPr lang="en-AU" sz="2800" dirty="0">
              <a:latin typeface="Arial Black" panose="020B0A04020102020204" pitchFamily="34" charset="0"/>
            </a:endParaRPr>
          </a:p>
          <a:p>
            <a:endParaRPr lang="en-AU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2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 txBox="1">
            <a:spLocks/>
          </p:cNvSpPr>
          <p:nvPr/>
        </p:nvSpPr>
        <p:spPr>
          <a:xfrm>
            <a:off x="61612" y="31789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520830" y="156959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543260" y="155278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79118" y="1305537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118" y="1305537"/>
                <a:ext cx="813391" cy="14950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9648235" y="155278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6818" y="1552783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68472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 txBox="1">
            <a:spLocks/>
          </p:cNvSpPr>
          <p:nvPr/>
        </p:nvSpPr>
        <p:spPr>
          <a:xfrm>
            <a:off x="61612" y="244030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520830" y="156959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584532" y="155278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9124118" y="1329832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118" y="1329832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0567041" y="1329864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7041" y="1329864"/>
                <a:ext cx="813391" cy="14950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9774380" y="1562010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00671" y="1562010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78831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75681" y="2009107"/>
                <a:ext cx="11316319" cy="355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Ryley reads the label of a tin of soup: </a:t>
                </a:r>
              </a:p>
              <a:p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</a:p>
              <a:p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Ingredients:</a:t>
                </a:r>
                <a14:m>
                  <m:oMath xmlns:m="http://schemas.openxmlformats.org/officeDocument/2006/math">
                    <m:r>
                      <a:rPr lang="en-AU" sz="4000" b="0" i="0" smtClean="0"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4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water,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4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vegetables,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AU" sz="4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AU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salt.</a:t>
                </a:r>
              </a:p>
              <a:p>
                <a:endParaRPr lang="en-AU" sz="2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AutoNum type="arabicPeriod"/>
                </a:pPr>
                <a:r>
                  <a:rPr lang="en-AU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Were all of the ingredients listed? </a:t>
                </a:r>
              </a:p>
              <a:p>
                <a:pPr marL="514350" indent="-514350">
                  <a:buAutoNum type="arabicPeriod"/>
                </a:pPr>
                <a:r>
                  <a:rPr lang="en-AU" sz="2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If sugar was the final ingredient, what fraction of the soup would it represent?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81" y="2009107"/>
                <a:ext cx="11316319" cy="3551998"/>
              </a:xfrm>
              <a:prstGeom prst="rect">
                <a:avLst/>
              </a:prstGeom>
              <a:blipFill>
                <a:blip r:embed="rId2"/>
                <a:stretch>
                  <a:fillRect l="-1131" t="-1890" b="-39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183" y="288715"/>
            <a:ext cx="2774913" cy="349639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93271" y="288715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</p:spTree>
    <p:extLst>
      <p:ext uri="{BB962C8B-B14F-4D97-AF65-F5344CB8AC3E}">
        <p14:creationId xmlns:p14="http://schemas.microsoft.com/office/powerpoint/2010/main" val="280195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16019" y="252419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Back to primary school…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838" y="1277963"/>
            <a:ext cx="113163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What is 3 lots of 6?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838" y="5687357"/>
            <a:ext cx="113163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3 x 6 = 18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38" y="2338575"/>
            <a:ext cx="3183483" cy="227258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255" y="3275859"/>
            <a:ext cx="3183483" cy="227258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215" y="2186318"/>
            <a:ext cx="3183483" cy="22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9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/>
          <p:cNvSpPr/>
          <p:nvPr/>
        </p:nvSpPr>
        <p:spPr>
          <a:xfrm>
            <a:off x="720022" y="5124620"/>
            <a:ext cx="10575201" cy="145114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316019" y="252419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Back to primary school…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9128" y="5082355"/>
            <a:ext cx="105861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When you see ‘</a:t>
            </a:r>
            <a:r>
              <a:rPr lang="en-AU" sz="4400" b="1" i="1" dirty="0">
                <a:latin typeface="Arial" panose="020B0604020202020204" pitchFamily="34" charset="0"/>
                <a:cs typeface="Arial" panose="020B0604020202020204" pitchFamily="34" charset="0"/>
              </a:rPr>
              <a:t>lots of</a:t>
            </a:r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’ or ‘</a:t>
            </a:r>
            <a:r>
              <a:rPr lang="en-AU" sz="4400" b="1" i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</a:p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replace it with a multiplication sign (x).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727" y="1577982"/>
            <a:ext cx="30395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5 lots of 2 </a:t>
            </a:r>
          </a:p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5 x 2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7117" y="1577982"/>
            <a:ext cx="30395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3 lots of 6 </a:t>
            </a:r>
          </a:p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3 x 6 =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507" y="1577982"/>
            <a:ext cx="30395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4 lots of 6 </a:t>
            </a:r>
          </a:p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4 x 6 = 24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29" y="3239364"/>
            <a:ext cx="809499" cy="9525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62" y="3733357"/>
            <a:ext cx="809499" cy="95255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128" y="3226613"/>
            <a:ext cx="809499" cy="95255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161" y="3733357"/>
            <a:ext cx="809499" cy="95255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793" y="3261388"/>
            <a:ext cx="1029456" cy="7348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717" y="3842187"/>
            <a:ext cx="1029456" cy="73489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641" y="3261387"/>
            <a:ext cx="1029456" cy="73489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20" y="3276267"/>
            <a:ext cx="801143" cy="72001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862" y="4081876"/>
            <a:ext cx="1032802" cy="80509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8495" y="3319991"/>
            <a:ext cx="591581" cy="76188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9913" y="4105444"/>
            <a:ext cx="956846" cy="91924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0771246" y="3264625"/>
            <a:ext cx="804925" cy="72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  <p:bldP spid="7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2324456" y="4126079"/>
            <a:ext cx="7503208" cy="1598064"/>
          </a:xfrm>
          <a:prstGeom prst="roundRect">
            <a:avLst/>
          </a:prstGeom>
          <a:solidFill>
            <a:srgbClr val="FF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/>
          <p:cNvSpPr/>
          <p:nvPr/>
        </p:nvSpPr>
        <p:spPr>
          <a:xfrm>
            <a:off x="2324456" y="2109829"/>
            <a:ext cx="7503208" cy="159806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a Fraction of a Fraction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8352" y="1159238"/>
            <a:ext cx="8135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(Multiplying Fractions)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56672" y="2844585"/>
                <a:ext cx="813391" cy="19938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6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672" y="2844585"/>
                <a:ext cx="813391" cy="19938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067124" y="2844585"/>
                <a:ext cx="813391" cy="19938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6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124" y="2844585"/>
                <a:ext cx="813391" cy="1993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236982" y="3333661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0782" y="2212700"/>
            <a:ext cx="813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numerators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0515" y="3390216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166" y="3390216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0781" y="5022995"/>
            <a:ext cx="8135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denominators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605" y="2709434"/>
            <a:ext cx="21362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1 </a:t>
            </a:r>
            <a:r>
              <a:rPr lang="en-AU" sz="6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AU" sz="66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0150" y="3938596"/>
            <a:ext cx="21362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2 </a:t>
            </a:r>
            <a:r>
              <a:rPr lang="en-AU" sz="6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AU" sz="66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777" y="3862217"/>
            <a:ext cx="2114550" cy="2190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61270" y="2687915"/>
            <a:ext cx="7250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3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029" y="3938596"/>
            <a:ext cx="6355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6084" y="3903483"/>
            <a:ext cx="581025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2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/>
      <p:bldP spid="13" grpId="0"/>
      <p:bldP spid="15" grpId="0"/>
      <p:bldP spid="16" grpId="0"/>
      <p:bldP spid="17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/>
          <p:cNvSpPr/>
          <p:nvPr/>
        </p:nvSpPr>
        <p:spPr>
          <a:xfrm>
            <a:off x="3734512" y="5690243"/>
            <a:ext cx="4691641" cy="4508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3982189" y="5667922"/>
            <a:ext cx="4227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numerators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3734512" y="6360199"/>
            <a:ext cx="4691641" cy="446848"/>
          </a:xfrm>
          <a:prstGeom prst="roundRect">
            <a:avLst/>
          </a:prstGeom>
          <a:solidFill>
            <a:srgbClr val="FF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a Fraction of a Fraction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8352" y="1159238"/>
            <a:ext cx="8135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(Multiplying Fractions)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2606" y="6318895"/>
            <a:ext cx="477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denominators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53" y="6141124"/>
            <a:ext cx="4987745" cy="219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196409" y="1969196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409" y="1969196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073909" y="1969951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9" y="1969951"/>
                <a:ext cx="813391" cy="1480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492970" y="1969983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970" y="1969983"/>
                <a:ext cx="813391" cy="14950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85245" y="1969132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245" y="1969132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0504306" y="1969164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306" y="1969164"/>
                <a:ext cx="813391" cy="14950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410859" y="230120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0679" y="2514434"/>
            <a:ext cx="8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164" y="2308365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6236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/>
          <p:cNvSpPr/>
          <p:nvPr/>
        </p:nvSpPr>
        <p:spPr>
          <a:xfrm>
            <a:off x="3734512" y="5690243"/>
            <a:ext cx="4691641" cy="4508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3982189" y="5667922"/>
            <a:ext cx="4227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numerators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3734512" y="6360199"/>
            <a:ext cx="4691641" cy="446848"/>
          </a:xfrm>
          <a:prstGeom prst="roundRect">
            <a:avLst/>
          </a:prstGeom>
          <a:solidFill>
            <a:srgbClr val="FF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a Fraction of a Whole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8352" y="1159238"/>
            <a:ext cx="8135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(Multiplying Fractions)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2606" y="6318895"/>
            <a:ext cx="477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denominators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53" y="6141124"/>
            <a:ext cx="4987745" cy="219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073909" y="1969951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909" y="1969951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85245" y="1969132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5245" y="1969132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5730854" y="2301208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9658" y="2201310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542" y="2484801"/>
            <a:ext cx="8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310" y="2447531"/>
            <a:ext cx="8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9355" y="2201309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2218" y="2116542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8109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643A7A40-1AE6-4218-A8E0-8248174A5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8AB40A-4374-4897-B5EE-9F8913476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6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8325852" y="1118937"/>
            <a:ext cx="3404937" cy="2683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Independent Practice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83379C-045E-4010-ABDC-A270A0AA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1" y="170308"/>
            <a:ext cx="2514948" cy="2174333"/>
            <a:chOff x="-305" y="-4155"/>
            <a:chExt cx="2514948" cy="217433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B0AB1BF-11AE-4CFF-85EC-E51DBD316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26548A0-953E-4FBA-97A5-592ACAF42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4FA27B-CD1F-421B-BB4F-B141F02FF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DBD6AB-1AC7-4807-9C34-01139BB7C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A6093E77-60A0-5449-93AA-BA371529A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34" y="754379"/>
            <a:ext cx="7095087" cy="507298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5FDDF18-F156-4D2D-82C6-F55008E3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3" y="4560734"/>
            <a:ext cx="3061446" cy="2297265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822C29E-FFDD-45BC-A286-9C00C8E2D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9E2381D-1763-4D42-A3A2-B2345DD35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2A622D5-9532-4E0C-B9A8-DAEDD4646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0ABE88-5ADF-4A31-8505-78968DBB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4526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912" y="1460780"/>
            <a:ext cx="105861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AU" sz="36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inverse</a:t>
            </a:r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 is the opposite of something.</a:t>
            </a:r>
          </a:p>
          <a:p>
            <a:pPr algn="ctr"/>
            <a:endParaRPr lang="en-A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AU" sz="3600" i="1" dirty="0">
                <a:latin typeface="Arial" panose="020B0604020202020204" pitchFamily="34" charset="0"/>
                <a:cs typeface="Arial" panose="020B0604020202020204" pitchFamily="34" charset="0"/>
              </a:rPr>
              <a:t>invert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 something is to put it upside down or in the opposite position.</a:t>
            </a:r>
          </a:p>
        </p:txBody>
      </p:sp>
      <p:sp>
        <p:nvSpPr>
          <p:cNvPr id="4" name="Arrow: Down 3"/>
          <p:cNvSpPr/>
          <p:nvPr/>
        </p:nvSpPr>
        <p:spPr>
          <a:xfrm>
            <a:off x="7938809" y="4672405"/>
            <a:ext cx="1501630" cy="178071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Down 26"/>
          <p:cNvSpPr/>
          <p:nvPr/>
        </p:nvSpPr>
        <p:spPr>
          <a:xfrm rot="10800000">
            <a:off x="3049425" y="4672405"/>
            <a:ext cx="1501630" cy="1780710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/>
          <p:cNvSpPr txBox="1"/>
          <p:nvPr/>
        </p:nvSpPr>
        <p:spPr>
          <a:xfrm>
            <a:off x="1728295" y="3988506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UP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17680" y="3988506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DOWN!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60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19" y="1379963"/>
            <a:ext cx="105861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AU" sz="36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inverse</a:t>
            </a:r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 is the opposite of something.</a:t>
            </a:r>
          </a:p>
          <a:p>
            <a:pPr algn="ctr"/>
            <a:endParaRPr lang="en-A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AU" sz="3600" i="1" dirty="0">
                <a:latin typeface="Arial" panose="020B0604020202020204" pitchFamily="34" charset="0"/>
                <a:cs typeface="Arial" panose="020B0604020202020204" pitchFamily="34" charset="0"/>
              </a:rPr>
              <a:t>invert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 something is to put it upside down or in the opposite position.</a:t>
            </a:r>
          </a:p>
        </p:txBody>
      </p:sp>
      <p:sp>
        <p:nvSpPr>
          <p:cNvPr id="4" name="Arrow: Down 3"/>
          <p:cNvSpPr/>
          <p:nvPr/>
        </p:nvSpPr>
        <p:spPr>
          <a:xfrm rot="16200000">
            <a:off x="7938809" y="4672405"/>
            <a:ext cx="1501630" cy="178071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Down 26"/>
          <p:cNvSpPr/>
          <p:nvPr/>
        </p:nvSpPr>
        <p:spPr>
          <a:xfrm rot="5400000">
            <a:off x="3049425" y="4672405"/>
            <a:ext cx="1501630" cy="1780710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/>
          <p:cNvSpPr txBox="1"/>
          <p:nvPr/>
        </p:nvSpPr>
        <p:spPr>
          <a:xfrm>
            <a:off x="1728295" y="3988506"/>
            <a:ext cx="4362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LEFT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17680" y="3988506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14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8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6401" y="1371745"/>
            <a:ext cx="5268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ADDITION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74397" y="1371745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SUBTRACTION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06110" y="4124732"/>
            <a:ext cx="5268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DIVISION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64106" y="4124732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MULTIPLICATION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567" y="2151385"/>
            <a:ext cx="1596207" cy="15962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054" y="1991020"/>
            <a:ext cx="1756572" cy="17565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784" y="4647952"/>
            <a:ext cx="2179112" cy="18729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283" y="4756196"/>
            <a:ext cx="2020365" cy="18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3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9980" y="1489190"/>
            <a:ext cx="739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this fraction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554105" y="2497670"/>
                <a:ext cx="813391" cy="2897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9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9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9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9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96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105" y="2497670"/>
                <a:ext cx="813391" cy="2897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624164" y="2497670"/>
                <a:ext cx="813391" cy="2897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9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9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9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9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96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164" y="2497670"/>
                <a:ext cx="813391" cy="2897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Left 3"/>
          <p:cNvSpPr/>
          <p:nvPr/>
        </p:nvSpPr>
        <p:spPr>
          <a:xfrm>
            <a:off x="4664279" y="2994870"/>
            <a:ext cx="1115736" cy="204691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202119" y="2922375"/>
            <a:ext cx="1133954" cy="2048434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275521" y="5782260"/>
            <a:ext cx="739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SWITCH IT!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48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4" grpId="0"/>
      <p:bldP spid="4" grpId="0" animBg="1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9980" y="1279467"/>
            <a:ext cx="739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Find the inverse of these fractions.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44460" y="2103388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60" y="2103388"/>
                <a:ext cx="813391" cy="14950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06643" y="2103386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643" y="2103386"/>
                <a:ext cx="813391" cy="14950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768826" y="2103385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826" y="2103385"/>
                <a:ext cx="813391" cy="14950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731009" y="2103384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124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009" y="2103384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 r="-358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144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/>
          <p:cNvSpPr/>
          <p:nvPr/>
        </p:nvSpPr>
        <p:spPr>
          <a:xfrm>
            <a:off x="6493079" y="4232218"/>
            <a:ext cx="5228446" cy="118750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: Rounded Corners 35"/>
          <p:cNvSpPr/>
          <p:nvPr/>
        </p:nvSpPr>
        <p:spPr>
          <a:xfrm>
            <a:off x="3483665" y="2713359"/>
            <a:ext cx="4756557" cy="11875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421638" y="1262084"/>
            <a:ext cx="4756557" cy="118750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148951" y="1262084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LEAVE IT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3210978" y="2713359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SWAP IT</a:t>
            </a: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6419592" y="4232218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SWITCH IT</a:t>
            </a:r>
          </a:p>
        </p:txBody>
      </p:sp>
    </p:spTree>
    <p:extLst>
      <p:ext uri="{BB962C8B-B14F-4D97-AF65-F5344CB8AC3E}">
        <p14:creationId xmlns:p14="http://schemas.microsoft.com/office/powerpoint/2010/main" val="395793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 animBg="1"/>
      <p:bldP spid="4" grpId="0" animBg="1"/>
      <p:bldP spid="32" grpId="0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CD275F-4B63-3E48-8183-AEBB48D54DE2}"/>
              </a:ext>
            </a:extLst>
          </p:cNvPr>
          <p:cNvSpPr/>
          <p:nvPr/>
        </p:nvSpPr>
        <p:spPr>
          <a:xfrm>
            <a:off x="3135862" y="3244334"/>
            <a:ext cx="5920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wes.nwcomplex.org</a:t>
            </a:r>
            <a:r>
              <a:rPr lang="en-US" dirty="0">
                <a:hlinkClick r:id="rId2"/>
              </a:rPr>
              <a:t>/apps/video/</a:t>
            </a:r>
            <a:r>
              <a:rPr lang="en-US" dirty="0" err="1">
                <a:hlinkClick r:id="rId2"/>
              </a:rPr>
              <a:t>watch.jsp?v</a:t>
            </a:r>
            <a:r>
              <a:rPr lang="en-US" dirty="0">
                <a:hlinkClick r:id="rId2"/>
              </a:rPr>
              <a:t>=120450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44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112314" y="4095342"/>
            <a:ext cx="5394121" cy="134223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409538" y="183276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1028" y="3312749"/>
            <a:ext cx="9562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One divided by two, divided by three divided by four…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28587" y="3935537"/>
            <a:ext cx="73920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9600" dirty="0">
                <a:latin typeface="Cooper Black" panose="0208090404030B020404" pitchFamily="18" charset="0"/>
                <a:cs typeface="Arial" panose="020B0604020202020204" pitchFamily="34" charset="0"/>
              </a:rPr>
              <a:t>WHAT?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47" y="5604765"/>
            <a:ext cx="9562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How do we solve it?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42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  <p:bldP spid="16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8240223" y="1228292"/>
            <a:ext cx="3001025" cy="97012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: Rounded Corners 36"/>
          <p:cNvSpPr/>
          <p:nvPr/>
        </p:nvSpPr>
        <p:spPr>
          <a:xfrm>
            <a:off x="6493079" y="4232218"/>
            <a:ext cx="5228446" cy="118750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: Rounded Corners 35"/>
          <p:cNvSpPr/>
          <p:nvPr/>
        </p:nvSpPr>
        <p:spPr>
          <a:xfrm>
            <a:off x="3483665" y="2713359"/>
            <a:ext cx="4756557" cy="11875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421638" y="1262084"/>
            <a:ext cx="4756557" cy="118750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148951" y="1262084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LEAVE IT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3210978" y="2713359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SWAP IT</a:t>
            </a: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6419592" y="4232218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SWITCH IT</a:t>
            </a:r>
          </a:p>
        </p:txBody>
      </p:sp>
      <p:cxnSp>
        <p:nvCxnSpPr>
          <p:cNvPr id="5" name="Straight Arrow Connector 4"/>
          <p:cNvCxnSpPr>
            <a:cxnSpLocks/>
            <a:stCxn id="9" idx="1"/>
          </p:cNvCxnSpPr>
          <p:nvPr/>
        </p:nvCxnSpPr>
        <p:spPr>
          <a:xfrm flipH="1">
            <a:off x="7053181" y="1713357"/>
            <a:ext cx="1187042" cy="9407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9651534" y="2198421"/>
            <a:ext cx="0" cy="19335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7053180" y="1291148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Berlin Sans FB Demi" panose="020E0802020502020306" pitchFamily="34" charset="0"/>
              </a:rPr>
              <a:t>Invert it</a:t>
            </a:r>
          </a:p>
        </p:txBody>
      </p:sp>
    </p:spTree>
    <p:extLst>
      <p:ext uri="{BB962C8B-B14F-4D97-AF65-F5344CB8AC3E}">
        <p14:creationId xmlns:p14="http://schemas.microsoft.com/office/powerpoint/2010/main" val="382883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7" grpId="0" animBg="1"/>
      <p:bldP spid="36" grpId="0" animBg="1"/>
      <p:bldP spid="4" grpId="0" animBg="1"/>
      <p:bldP spid="32" grpId="0"/>
      <p:bldP spid="34" grpId="0"/>
      <p:bldP spid="35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6188411" y="1475695"/>
            <a:ext cx="721017" cy="16535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/>
          <p:cNvSpPr/>
          <p:nvPr/>
        </p:nvSpPr>
        <p:spPr>
          <a:xfrm>
            <a:off x="5589418" y="1996580"/>
            <a:ext cx="506582" cy="52011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/>
          <p:cNvSpPr/>
          <p:nvPr/>
        </p:nvSpPr>
        <p:spPr>
          <a:xfrm>
            <a:off x="4739790" y="1475695"/>
            <a:ext cx="782078" cy="1653546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: Rounded Corners 22"/>
          <p:cNvSpPr/>
          <p:nvPr/>
        </p:nvSpPr>
        <p:spPr>
          <a:xfrm>
            <a:off x="1036942" y="3938356"/>
            <a:ext cx="2185153" cy="64633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/>
          <p:cNvSpPr/>
          <p:nvPr/>
        </p:nvSpPr>
        <p:spPr>
          <a:xfrm>
            <a:off x="1036942" y="3042103"/>
            <a:ext cx="218515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/>
          <p:cNvSpPr/>
          <p:nvPr/>
        </p:nvSpPr>
        <p:spPr>
          <a:xfrm>
            <a:off x="1036942" y="2126428"/>
            <a:ext cx="2185153" cy="64633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409538" y="183276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485" y="2707585"/>
            <a:ext cx="2074849" cy="27560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7683" y="2126428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Leave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683" y="3022681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Swap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683" y="3918934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Switch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481" y="2126428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481" y="3025325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481" y="3923310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06" y="3324834"/>
            <a:ext cx="816935" cy="1481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008978" y="3721642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269" y="3709854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188411" y="3326269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411" y="3326269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4014732" y="5439111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769350" y="502070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350" y="5020705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360109" y="5442546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6114727" y="502414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727" y="5024140"/>
                <a:ext cx="813391" cy="14800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9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6" grpId="0" animBg="1"/>
      <p:bldP spid="23" grpId="0" animBg="1"/>
      <p:bldP spid="22" grpId="0" animBg="1"/>
      <p:bldP spid="5" grpId="0" animBg="1"/>
      <p:bldP spid="19" grpId="0"/>
      <p:bldP spid="20" grpId="0"/>
      <p:bldP spid="21" grpId="0"/>
      <p:bldP spid="24" grpId="0"/>
      <p:bldP spid="25" grpId="0"/>
      <p:bldP spid="26" grpId="0"/>
      <p:bldP spid="27" grpId="0"/>
      <p:bldP spid="28" grpId="0"/>
      <p:bldP spid="29" grpId="0"/>
      <p:bldP spid="33" grpId="0"/>
      <p:bldP spid="34" grpId="0"/>
      <p:bldP spid="35" grpId="0"/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6188411" y="1475695"/>
            <a:ext cx="721017" cy="16535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/>
          <p:cNvSpPr/>
          <p:nvPr/>
        </p:nvSpPr>
        <p:spPr>
          <a:xfrm>
            <a:off x="5589418" y="1996580"/>
            <a:ext cx="506582" cy="52011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/>
          <p:cNvSpPr/>
          <p:nvPr/>
        </p:nvSpPr>
        <p:spPr>
          <a:xfrm>
            <a:off x="4739790" y="1475695"/>
            <a:ext cx="782078" cy="1653546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: Rounded Corners 22"/>
          <p:cNvSpPr/>
          <p:nvPr/>
        </p:nvSpPr>
        <p:spPr>
          <a:xfrm>
            <a:off x="1036942" y="3938356"/>
            <a:ext cx="2185153" cy="64633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/>
          <p:cNvSpPr/>
          <p:nvPr/>
        </p:nvSpPr>
        <p:spPr>
          <a:xfrm>
            <a:off x="1036942" y="3042103"/>
            <a:ext cx="218515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/>
          <p:cNvSpPr/>
          <p:nvPr/>
        </p:nvSpPr>
        <p:spPr>
          <a:xfrm>
            <a:off x="1036942" y="2126428"/>
            <a:ext cx="2185153" cy="64633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409538" y="183276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683" y="2126428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Leave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683" y="3022681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Swap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683" y="3918934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Switch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481" y="2126428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481" y="3025325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481" y="3923310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8978" y="3721642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269" y="3709854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188411" y="3326269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411" y="3326269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4014732" y="5439111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769350" y="5020705"/>
                <a:ext cx="830142" cy="1483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350" y="5020705"/>
                <a:ext cx="830142" cy="14834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547738" y="5442156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6274599" y="502414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599" y="5024140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769349" y="3326268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349" y="3326268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369" y="2488284"/>
            <a:ext cx="26193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1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6" grpId="0" animBg="1"/>
      <p:bldP spid="23" grpId="0" animBg="1"/>
      <p:bldP spid="22" grpId="0" animBg="1"/>
      <p:bldP spid="5" grpId="0" animBg="1"/>
      <p:bldP spid="19" grpId="0"/>
      <p:bldP spid="20" grpId="0"/>
      <p:bldP spid="21" grpId="0"/>
      <p:bldP spid="24" grpId="0"/>
      <p:bldP spid="25" grpId="0"/>
      <p:bldP spid="26" grpId="0"/>
      <p:bldP spid="27" grpId="0"/>
      <p:bldP spid="28" grpId="0"/>
      <p:bldP spid="29" grpId="0"/>
      <p:bldP spid="33" grpId="0"/>
      <p:bldP spid="34" grpId="0"/>
      <p:bldP spid="35" grpId="0"/>
      <p:bldP spid="36" grpId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/>
          <p:cNvSpPr/>
          <p:nvPr/>
        </p:nvSpPr>
        <p:spPr>
          <a:xfrm>
            <a:off x="7580355" y="5904118"/>
            <a:ext cx="2185153" cy="64633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/>
          <p:cNvSpPr/>
          <p:nvPr/>
        </p:nvSpPr>
        <p:spPr>
          <a:xfrm>
            <a:off x="5080436" y="5904118"/>
            <a:ext cx="218515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/>
          <p:cNvSpPr/>
          <p:nvPr/>
        </p:nvSpPr>
        <p:spPr>
          <a:xfrm>
            <a:off x="2576462" y="5882964"/>
            <a:ext cx="2185153" cy="64633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7203" y="5882964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Leave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1177" y="5884696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Swap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1096" y="5884696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Switch 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353142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142" y="1309080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059915" y="1309079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915" y="1309079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635236" y="165012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525512" y="1309081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512" y="1309081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232285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285" y="1309080"/>
                <a:ext cx="813391" cy="1480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807606" y="165013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0565218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218" y="1309080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9271991" y="1309079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991" y="1309079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9847312" y="165012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</p:spTree>
    <p:extLst>
      <p:ext uri="{BB962C8B-B14F-4D97-AF65-F5344CB8AC3E}">
        <p14:creationId xmlns:p14="http://schemas.microsoft.com/office/powerpoint/2010/main" val="148076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5" grpId="0" animBg="1"/>
      <p:bldP spid="19" grpId="0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/>
          <p:cNvSpPr/>
          <p:nvPr/>
        </p:nvSpPr>
        <p:spPr>
          <a:xfrm>
            <a:off x="7580355" y="5904118"/>
            <a:ext cx="2185153" cy="64633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/>
          <p:cNvSpPr/>
          <p:nvPr/>
        </p:nvSpPr>
        <p:spPr>
          <a:xfrm>
            <a:off x="5080436" y="5904118"/>
            <a:ext cx="218515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/>
          <p:cNvSpPr/>
          <p:nvPr/>
        </p:nvSpPr>
        <p:spPr>
          <a:xfrm>
            <a:off x="2576462" y="5882964"/>
            <a:ext cx="2185153" cy="64633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7203" y="5882964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Leave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1177" y="5884696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Swap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1096" y="5884696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Switch 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353142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142" y="1309080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635236" y="165012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525512" y="1309081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512" y="1309081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807606" y="165013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0565218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218" y="1309080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9847312" y="165012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28540" y="1557795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24460" y="1595575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1422" y="1541258"/>
            <a:ext cx="10548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30006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8294" y="503235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66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474" y="2002123"/>
            <a:ext cx="10624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474" y="2190220"/>
            <a:ext cx="114567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I will multiply fractions (find a fraction of a fraction).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 Black" panose="020B0A040201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360" y="3261401"/>
            <a:ext cx="4057650" cy="3448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350" y="3769059"/>
            <a:ext cx="6530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What do you do when you see the word ‘of’?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5681" y="5118191"/>
            <a:ext cx="3239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Replace it with x</a:t>
            </a:r>
          </a:p>
        </p:txBody>
      </p:sp>
    </p:spTree>
    <p:extLst>
      <p:ext uri="{BB962C8B-B14F-4D97-AF65-F5344CB8AC3E}">
        <p14:creationId xmlns:p14="http://schemas.microsoft.com/office/powerpoint/2010/main" val="40269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14142</TotalTime>
  <Words>554</Words>
  <Application>Microsoft Macintosh PowerPoint</Application>
  <PresentationFormat>Widescreen</PresentationFormat>
  <Paragraphs>198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Berlin Sans FB Demi</vt:lpstr>
      <vt:lpstr>Calibri</vt:lpstr>
      <vt:lpstr>Calibri Light</vt:lpstr>
      <vt:lpstr>Cambria Math</vt:lpstr>
      <vt:lpstr>Cooper Black</vt:lpstr>
      <vt:lpstr>Office Theme</vt:lpstr>
      <vt:lpstr>Topic: Rational Numbers  EQ: How do I multiply and divide rational numbers?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have we learnt today?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SUMMERS Brad [Baldivis Secondary College]</cp:lastModifiedBy>
  <cp:revision>523</cp:revision>
  <dcterms:created xsi:type="dcterms:W3CDTF">2017-02-09T01:19:14Z</dcterms:created>
  <dcterms:modified xsi:type="dcterms:W3CDTF">2021-02-14T09:54:20Z</dcterms:modified>
</cp:coreProperties>
</file>
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60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DEC14-392C-47FB-AAA8-953BC3610003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A0214-7DF2-43B2-833E-1DB85CE2FA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464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70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312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342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432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ADBBC-29D8-4B69-A920-010444E78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A372F6-328B-4CBA-AFA5-5E79AFA94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CBAF6-D02E-4FEF-87D6-95A54D57B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78B-F2AF-4B84-86B3-34897D76207F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E95D5-515C-4A6C-B62C-1BAC6B5F7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F7F6B-0219-414D-96BD-A8B937480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C0211-9F14-4DCB-A57C-DFFE4EEAFC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6588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79607-9674-4D31-93F9-0DD0C6FDD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60F4F-39E4-40F1-B1FE-E96175B07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D71C6-389E-4A8E-A6DC-69F4A8027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78B-F2AF-4B84-86B3-34897D76207F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B4C26-FD78-448E-8E1D-670E28F89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F0BCA-5DD4-4027-8697-D72C2B739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C0211-9F14-4DCB-A57C-DFFE4EEAFC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498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646C1-A260-41ED-9C6A-DA36A3A20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95EED-C909-417D-B6A6-FAB136AB5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DB386-2EA3-4144-872F-3AD20E465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78B-F2AF-4B84-86B3-34897D76207F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8EDD0-D0C6-49B3-BCC2-436D0F814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3B18A-A5B4-4317-AED1-068EAC66A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C0211-9F14-4DCB-A57C-DFFE4EEAFC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1798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2B3AE-E106-44CA-BC4D-8AC46DF8E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9500-5BC4-4831-9F87-AEC56FE4AE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DA5009-B877-4E55-B555-8D233BF28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904D9B-1720-4F41-A0CE-E5B5941D8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78B-F2AF-4B84-86B3-34897D76207F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35373-29F2-4D82-9859-C5A44CF88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AF483-D306-454E-B7BD-F7688392A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C0211-9F14-4DCB-A57C-DFFE4EEAFC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3042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83EBD-F714-4D8A-86C6-A533F584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95D15-81B8-4779-A39F-793280A2C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4947A9-8B64-46A3-A648-1952C256C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6B37EA-B455-4541-BAC1-38EB9F421D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6D9B5E-0664-4336-A44B-A03FCAB8A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C536F0-BB02-46C9-9325-705344F5F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78B-F2AF-4B84-86B3-34897D76207F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DEF1CB-5B89-4ED2-933D-EECB3E17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E10ABE-4EBD-46F6-B4A3-5C1EA8899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C0211-9F14-4DCB-A57C-DFFE4EEAFC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8074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B48E6-4A3C-40AE-8E3D-F1D28B5FC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685C4-56BE-4C8C-BD0B-7C4030A5B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78B-F2AF-4B84-86B3-34897D76207F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D7AC7B-426D-4A27-8199-73DC70A29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6BF3D-6BDB-4ED1-BA48-0389D5A25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C0211-9F14-4DCB-A57C-DFFE4EEAFC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763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844EC7-92A8-4E40-9616-9C4D78A72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78B-F2AF-4B84-86B3-34897D76207F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6E21E-60AB-4ED6-A335-44D122089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01425-3E7A-43F3-931F-CC9799F5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C0211-9F14-4DCB-A57C-DFFE4EEAFC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9794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ECFF1-539A-4CB9-9202-282DB48C1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94877-F7E6-4012-B563-03C71D974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A5F9C-B55B-40F3-9F31-328D5802D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02414-7191-467E-87D5-273B3C0CF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78B-F2AF-4B84-86B3-34897D76207F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DC09A-54BB-444F-AD6C-B934CDCAB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CEFB2-B6CE-4FD7-864F-D002F82E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C0211-9F14-4DCB-A57C-DFFE4EEAFC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9548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F54D5-9B7A-4E52-88D4-1EC2EB004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27E3FA-98B2-44D8-B9F2-B23533A00F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7718C7-2DE5-4B20-A1B5-06E24D545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19F8F-CC6E-4AE5-95F6-1B8D91552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78B-F2AF-4B84-86B3-34897D76207F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2EA0E-D011-4316-8B65-96096AE8E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7267D-672B-493E-8A24-B8B09D498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C0211-9F14-4DCB-A57C-DFFE4EEAFC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2826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B941B-D642-4742-B88B-8E87E3DF6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6C303-B84B-4575-8F83-F9746C450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32E0A-4248-4225-8396-1D5CA0A0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78B-F2AF-4B84-86B3-34897D76207F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28DD2-411D-476D-A0AD-7BA40C71D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7C050-CC66-400F-813F-7A5FCE94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C0211-9F14-4DCB-A57C-DFFE4EEAFC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3923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B0BFE5-9019-4EFD-A722-6AC659D775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68F07E-F874-4A9F-BEDB-E19775A7B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E5B93-1CCC-4897-A219-56313DAF0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78B-F2AF-4B84-86B3-34897D76207F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43F68-7ECE-460F-84F5-D862CD488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7A6E3-B6CB-4CC7-BAA3-86948B09E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C0211-9F14-4DCB-A57C-DFFE4EEAFC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3128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3A93A2-96BF-46A4-9A11-B66490EC5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3C16B-9BB0-4CDC-B741-716738DDF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A7682-A9C8-4399-8A2D-899568330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A378B-F2AF-4B84-86B3-34897D76207F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099BD-17B2-49FB-9E4B-DBEFCCE41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72AFB-A10C-4B58-9129-36DA7CE980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C0211-9F14-4DCB-A57C-DFFE4EEAFC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7706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50E94D3F-258D-4DCB-A72C-E28DEF7645AB}"/>
              </a:ext>
            </a:extLst>
          </p:cNvPr>
          <p:cNvSpPr txBox="1">
            <a:spLocks/>
          </p:cNvSpPr>
          <p:nvPr/>
        </p:nvSpPr>
        <p:spPr>
          <a:xfrm>
            <a:off x="1372830" y="306207"/>
            <a:ext cx="9446339" cy="1119144"/>
          </a:xfrm>
          <a:prstGeom prst="rect">
            <a:avLst/>
          </a:prstGeom>
          <a:ln>
            <a:noFill/>
          </a:ln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The order of operations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 :What is important to remember when we use a number line? (revision)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D2DA7F-3799-459F-ADC1-5E650318C523}"/>
              </a:ext>
            </a:extLst>
          </p:cNvPr>
          <p:cNvSpPr txBox="1"/>
          <p:nvPr/>
        </p:nvSpPr>
        <p:spPr>
          <a:xfrm>
            <a:off x="375920" y="2011680"/>
            <a:ext cx="323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your VIVOS</a:t>
            </a:r>
          </a:p>
          <a:p>
            <a:r>
              <a:rPr lang="en-US" dirty="0"/>
              <a:t>- Number Ninja???????</a:t>
            </a:r>
            <a:endParaRPr lang="en-AU" dirty="0"/>
          </a:p>
        </p:txBody>
      </p:sp>
      <p:sp>
        <p:nvSpPr>
          <p:cNvPr id="3" name="Speech Bubble: Oval 2">
            <a:extLst>
              <a:ext uri="{FF2B5EF4-FFF2-40B4-BE49-F238E27FC236}">
                <a16:creationId xmlns:a16="http://schemas.microsoft.com/office/drawing/2014/main" id="{E7335CD9-32D4-4F0E-B594-5E61F79EB5F1}"/>
              </a:ext>
            </a:extLst>
          </p:cNvPr>
          <p:cNvSpPr/>
          <p:nvPr/>
        </p:nvSpPr>
        <p:spPr>
          <a:xfrm>
            <a:off x="10020300" y="790532"/>
            <a:ext cx="2057400" cy="1855968"/>
          </a:xfrm>
          <a:prstGeom prst="wedgeEllipseCallout">
            <a:avLst>
              <a:gd name="adj1" fmla="val -117129"/>
              <a:gd name="adj2" fmla="val -2679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25A966-6ED3-40B6-834E-23D1EC57F3B8}"/>
              </a:ext>
            </a:extLst>
          </p:cNvPr>
          <p:cNvSpPr txBox="1"/>
          <p:nvPr/>
        </p:nvSpPr>
        <p:spPr>
          <a:xfrm>
            <a:off x="10353675" y="1349184"/>
            <a:ext cx="16192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First topic so don’t forget to add to Contents page in INB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296232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54416" y="1500143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3641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The order of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700" y="92736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 What is important to remember when we use a number line?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A56AA4-6C38-4E30-9F2B-02AE5647EA28}"/>
              </a:ext>
            </a:extLst>
          </p:cNvPr>
          <p:cNvSpPr txBox="1"/>
          <p:nvPr/>
        </p:nvSpPr>
        <p:spPr>
          <a:xfrm>
            <a:off x="2180294" y="4381500"/>
            <a:ext cx="885824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1. Draw 2 lines on the board, one long one and one really short. </a:t>
            </a:r>
          </a:p>
          <a:p>
            <a:r>
              <a:rPr lang="en-US" sz="1800" dirty="0"/>
              <a:t>2. Label both lines as 0 to 12 </a:t>
            </a:r>
          </a:p>
          <a:p>
            <a:r>
              <a:rPr lang="en-US" dirty="0"/>
              <a:t>3. A</a:t>
            </a:r>
            <a:r>
              <a:rPr lang="en-US" sz="1800" dirty="0"/>
              <a:t>sk students to place 6 on each line and explain their reason.</a:t>
            </a:r>
          </a:p>
          <a:p>
            <a:r>
              <a:rPr lang="en-US" sz="1800" dirty="0"/>
              <a:t>4. Introduce the terms starting number, ending number and midpoint.</a:t>
            </a:r>
          </a:p>
          <a:p>
            <a:r>
              <a:rPr lang="en-US" dirty="0"/>
              <a:t>5. Ask Do number lines have to start at 0?</a:t>
            </a:r>
          </a:p>
          <a:p>
            <a:r>
              <a:rPr lang="en-US" sz="1800" dirty="0"/>
              <a:t>6.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 to get students to find the midpoint on a line starting between 2 and ending in 12.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Share what students have done </a:t>
            </a:r>
            <a:r>
              <a:rPr lang="en-US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200" dirty="0">
                <a:solidFill>
                  <a:srgbClr val="FF0000"/>
                </a:solidFill>
              </a:rPr>
              <a:t>students may fold the paper; students could use the ruler, students could use knowledge of numbers, students may use addition or subtraction or difference between) </a:t>
            </a:r>
          </a:p>
          <a:p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endParaRPr lang="en-US" sz="1800" dirty="0"/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6F7297-4F75-4C84-970A-71A2A620C2B8}"/>
              </a:ext>
            </a:extLst>
          </p:cNvPr>
          <p:cNvSpPr txBox="1"/>
          <p:nvPr/>
        </p:nvSpPr>
        <p:spPr>
          <a:xfrm>
            <a:off x="2362643" y="3874830"/>
            <a:ext cx="1866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Teacher notes:</a:t>
            </a:r>
            <a:endParaRPr lang="en-AU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E90393-1FCB-4330-B11B-9A01E33A2D7C}"/>
              </a:ext>
            </a:extLst>
          </p:cNvPr>
          <p:cNvCxnSpPr/>
          <p:nvPr/>
        </p:nvCxnSpPr>
        <p:spPr>
          <a:xfrm>
            <a:off x="2266950" y="2476500"/>
            <a:ext cx="9153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E9FD3CA-6202-4168-AD87-3238F88FC35B}"/>
              </a:ext>
            </a:extLst>
          </p:cNvPr>
          <p:cNvCxnSpPr/>
          <p:nvPr/>
        </p:nvCxnSpPr>
        <p:spPr>
          <a:xfrm>
            <a:off x="2286000" y="3286125"/>
            <a:ext cx="3371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6EA4F25-7D85-41D5-8DED-96DA94B421E7}"/>
              </a:ext>
            </a:extLst>
          </p:cNvPr>
          <p:cNvSpPr txBox="1"/>
          <p:nvPr/>
        </p:nvSpPr>
        <p:spPr>
          <a:xfrm>
            <a:off x="2266950" y="2562523"/>
            <a:ext cx="409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A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0750B2-CF82-4BC8-B3BA-FFD870C85007}"/>
              </a:ext>
            </a:extLst>
          </p:cNvPr>
          <p:cNvSpPr txBox="1"/>
          <p:nvPr/>
        </p:nvSpPr>
        <p:spPr>
          <a:xfrm>
            <a:off x="2173618" y="3268191"/>
            <a:ext cx="409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A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541BA9-8CF8-4CB3-BA51-D89A9D33642F}"/>
              </a:ext>
            </a:extLst>
          </p:cNvPr>
          <p:cNvSpPr txBox="1"/>
          <p:nvPr/>
        </p:nvSpPr>
        <p:spPr>
          <a:xfrm>
            <a:off x="5453066" y="3387209"/>
            <a:ext cx="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  <a:endParaRPr lang="en-A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793F50-C9FB-4C00-8E46-495928EE8C4E}"/>
              </a:ext>
            </a:extLst>
          </p:cNvPr>
          <p:cNvSpPr txBox="1"/>
          <p:nvPr/>
        </p:nvSpPr>
        <p:spPr>
          <a:xfrm>
            <a:off x="11179973" y="2563595"/>
            <a:ext cx="481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54416" y="1500143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3641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The order of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700" y="92736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 What is important to remember when we use a number line?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A56AA4-6C38-4E30-9F2B-02AE5647EA28}"/>
              </a:ext>
            </a:extLst>
          </p:cNvPr>
          <p:cNvSpPr txBox="1"/>
          <p:nvPr/>
        </p:nvSpPr>
        <p:spPr>
          <a:xfrm>
            <a:off x="2378401" y="2160345"/>
            <a:ext cx="885824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Can you have numbers less than 0 on a number line? What are they called? What does the number line look like?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Now get students to extend thinking again with the following: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Draw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line with 4 in the midpoint and 12 at the end. What is the starting number? </a:t>
            </a:r>
            <a:r>
              <a:rPr lang="en-US" sz="12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(so that they have to find that -4 goes at the start).</a:t>
            </a:r>
          </a:p>
          <a:p>
            <a:endParaRPr lang="en-US" sz="12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sz="12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9. How many numbers between -4 and 1 or 6 and -5?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10. What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happening here? </a:t>
            </a:r>
            <a:r>
              <a:rPr lang="en-US" sz="12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(adding/subtracting)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endParaRPr lang="en-US" sz="1800" dirty="0"/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6F7297-4F75-4C84-970A-71A2A620C2B8}"/>
              </a:ext>
            </a:extLst>
          </p:cNvPr>
          <p:cNvSpPr txBox="1"/>
          <p:nvPr/>
        </p:nvSpPr>
        <p:spPr>
          <a:xfrm>
            <a:off x="2095500" y="1611257"/>
            <a:ext cx="1866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Teacher notes: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D6117C-26D6-4969-9CD4-4ECF5D548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344" y="3034773"/>
            <a:ext cx="56197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247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626146" y="1500143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3641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The order of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700" y="92736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 How to add and subtract integers?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D1D4D5-384E-4516-A85B-98BCDC16D5B5}"/>
              </a:ext>
            </a:extLst>
          </p:cNvPr>
          <p:cNvSpPr txBox="1"/>
          <p:nvPr/>
        </p:nvSpPr>
        <p:spPr>
          <a:xfrm>
            <a:off x="1914524" y="1857375"/>
            <a:ext cx="865132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definition you will need to know for next lesson:</a:t>
            </a:r>
          </a:p>
          <a:p>
            <a:r>
              <a:rPr lang="en-US" sz="2800" dirty="0">
                <a:solidFill>
                  <a:srgbClr val="0070C0"/>
                </a:solidFill>
              </a:rPr>
              <a:t>Integers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FBCA86-5502-461A-B1F2-C2CFFCB0F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906" y="3106520"/>
            <a:ext cx="487680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23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626146" y="1500143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3641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The order of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700" y="92736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 How to add and subtract integers?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D1D4D5-384E-4516-A85B-98BCDC16D5B5}"/>
              </a:ext>
            </a:extLst>
          </p:cNvPr>
          <p:cNvSpPr txBox="1"/>
          <p:nvPr/>
        </p:nvSpPr>
        <p:spPr>
          <a:xfrm>
            <a:off x="1914524" y="1857375"/>
            <a:ext cx="86513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Summary:</a:t>
            </a:r>
          </a:p>
          <a:p>
            <a:r>
              <a:rPr lang="en-US" dirty="0"/>
              <a:t>Number lines are another way to represent numbers</a:t>
            </a:r>
          </a:p>
          <a:p>
            <a:r>
              <a:rPr lang="en-US" dirty="0"/>
              <a:t>Reflect and then write about the key features of a number line and how to identify them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139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403</Words>
  <Application>Microsoft Office PowerPoint</Application>
  <PresentationFormat>Widescreen</PresentationFormat>
  <Paragraphs>69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Fragment Core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Sarah [Baldivis Secondary College]</dc:creator>
  <cp:lastModifiedBy>JAMES Sarah [Baldivis Secondary College]</cp:lastModifiedBy>
  <cp:revision>4</cp:revision>
  <dcterms:created xsi:type="dcterms:W3CDTF">2021-01-29T11:37:42Z</dcterms:created>
  <dcterms:modified xsi:type="dcterms:W3CDTF">2021-01-29T12:22:50Z</dcterms:modified>
</cp:coreProperties>
</file>
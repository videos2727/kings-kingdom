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0" r:id="rId1"/>
  </p:sldMasterIdLst>
  <p:sldIdLst>
    <p:sldId id="283" r:id="rId2"/>
    <p:sldId id="263" r:id="rId3"/>
    <p:sldId id="264" r:id="rId4"/>
    <p:sldId id="284" r:id="rId5"/>
    <p:sldId id="285" r:id="rId6"/>
    <p:sldId id="28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52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9711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91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8548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2/5/2019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994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349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577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483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2/5/2019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281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625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27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003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5565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Number</a:t>
            </a:r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9418" y="371764"/>
            <a:ext cx="4356100" cy="3111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39272" y="4546601"/>
            <a:ext cx="31903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Term 1</a:t>
            </a:r>
          </a:p>
          <a:p>
            <a:pPr algn="ctr"/>
            <a:r>
              <a:rPr lang="en-US" sz="2400" dirty="0" smtClean="0"/>
              <a:t>Semester 1</a:t>
            </a:r>
          </a:p>
          <a:p>
            <a:r>
              <a:rPr lang="en-US" sz="2400" dirty="0" smtClean="0"/>
              <a:t>Teacher:</a:t>
            </a:r>
          </a:p>
          <a:p>
            <a:r>
              <a:rPr lang="en-US" sz="2400" dirty="0" smtClean="0"/>
              <a:t>Class: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996433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606829"/>
            <a:ext cx="6024082" cy="1385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66994" y="325976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01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40" y="275204"/>
            <a:ext cx="5565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1897199" y="344357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06312" y="282134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2105" y="325976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0682" y="105927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6024081" y="628749"/>
            <a:ext cx="6024082" cy="1385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4595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4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24082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024082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096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1751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89" y="601549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5850" y="1196753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6" y="142494"/>
            <a:ext cx="690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3544530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1642225" y="6432302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0" y="724659"/>
            <a:ext cx="12192000" cy="554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-147782" y="1254942"/>
            <a:ext cx="12432146" cy="3970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406886" y="1294643"/>
            <a:ext cx="14889" cy="55633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20520" y="47351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8522" y="769906"/>
            <a:ext cx="12474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Essential </a:t>
            </a:r>
            <a:r>
              <a:rPr lang="en-AU" sz="1100" dirty="0" smtClean="0"/>
              <a:t>Question:</a:t>
            </a:r>
            <a:endParaRPr lang="en-AU" sz="1100" dirty="0"/>
          </a:p>
        </p:txBody>
      </p:sp>
      <p:sp>
        <p:nvSpPr>
          <p:cNvPr id="22" name="TextBox 21"/>
          <p:cNvSpPr txBox="1"/>
          <p:nvPr/>
        </p:nvSpPr>
        <p:spPr>
          <a:xfrm>
            <a:off x="3036418" y="1324501"/>
            <a:ext cx="25829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Notes:</a:t>
            </a:r>
          </a:p>
          <a:p>
            <a:endParaRPr lang="en-AU" sz="2000" dirty="0"/>
          </a:p>
        </p:txBody>
      </p:sp>
      <p:sp>
        <p:nvSpPr>
          <p:cNvPr id="23" name="TextBox 22"/>
          <p:cNvSpPr txBox="1"/>
          <p:nvPr/>
        </p:nvSpPr>
        <p:spPr>
          <a:xfrm>
            <a:off x="220520" y="1339890"/>
            <a:ext cx="1022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61651" y="805537"/>
            <a:ext cx="9068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we use BIMDAS</a:t>
            </a:r>
            <a:r>
              <a:rPr lang="en-AU" dirty="0" smtClean="0"/>
              <a:t>?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963031" y="150684"/>
            <a:ext cx="204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</a:t>
            </a:r>
            <a:r>
              <a:rPr lang="en-AU" sz="2400" b="1" dirty="0" smtClean="0"/>
              <a:t>BIMDAS</a:t>
            </a:r>
            <a:endParaRPr lang="en-AU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9390252" y="13968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24831" y="1725329"/>
            <a:ext cx="644420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Also known as ‘order of operations’</a:t>
            </a:r>
          </a:p>
          <a:p>
            <a:endParaRPr lang="en-AU" sz="2400" dirty="0"/>
          </a:p>
          <a:p>
            <a:r>
              <a:rPr lang="en-AU" sz="2400" dirty="0"/>
              <a:t>1. </a:t>
            </a:r>
            <a:r>
              <a:rPr lang="en-AU" sz="2400" b="1" u="sng" dirty="0"/>
              <a:t>B</a:t>
            </a:r>
            <a:r>
              <a:rPr lang="en-AU" sz="2400" dirty="0"/>
              <a:t>rackets First</a:t>
            </a:r>
          </a:p>
          <a:p>
            <a:endParaRPr lang="en-AU" sz="2400" dirty="0"/>
          </a:p>
          <a:p>
            <a:r>
              <a:rPr lang="en-AU" sz="2400" dirty="0"/>
              <a:t>2. </a:t>
            </a:r>
            <a:r>
              <a:rPr lang="en-AU" sz="2400" b="1" u="sng" dirty="0" smtClean="0"/>
              <a:t>I</a:t>
            </a:r>
            <a:r>
              <a:rPr lang="en-AU" sz="2400" dirty="0" smtClean="0"/>
              <a:t>ndices</a:t>
            </a:r>
            <a:endParaRPr lang="en-AU" sz="2400" dirty="0"/>
          </a:p>
          <a:p>
            <a:endParaRPr lang="en-AU" sz="2400" dirty="0"/>
          </a:p>
          <a:p>
            <a:r>
              <a:rPr lang="en-AU" sz="2400" dirty="0"/>
              <a:t>3. </a:t>
            </a:r>
            <a:r>
              <a:rPr lang="en-AU" sz="2400" b="1" u="sng" dirty="0"/>
              <a:t>M</a:t>
            </a:r>
            <a:r>
              <a:rPr lang="en-AU" sz="2400" dirty="0"/>
              <a:t>ultiply and/or </a:t>
            </a:r>
            <a:r>
              <a:rPr lang="en-AU" sz="2400" b="1" u="sng" dirty="0"/>
              <a:t>D</a:t>
            </a:r>
            <a:r>
              <a:rPr lang="en-AU" sz="2400" dirty="0"/>
              <a:t>ivide </a:t>
            </a:r>
          </a:p>
          <a:p>
            <a:r>
              <a:rPr lang="en-AU" sz="2400" dirty="0"/>
              <a:t>                   (from left to right)</a:t>
            </a:r>
          </a:p>
          <a:p>
            <a:endParaRPr lang="en-AU" sz="2400" b="1" u="sng" dirty="0"/>
          </a:p>
          <a:p>
            <a:r>
              <a:rPr lang="en-AU" sz="2400" dirty="0"/>
              <a:t>4. </a:t>
            </a:r>
            <a:r>
              <a:rPr lang="en-AU" sz="2400" b="1" u="sng" dirty="0"/>
              <a:t>A</a:t>
            </a:r>
            <a:r>
              <a:rPr lang="en-AU" sz="2400" dirty="0"/>
              <a:t>dd or </a:t>
            </a:r>
            <a:r>
              <a:rPr lang="en-AU" sz="2400" b="1" u="sng" dirty="0"/>
              <a:t>S</a:t>
            </a:r>
            <a:r>
              <a:rPr lang="en-AU" sz="2400" dirty="0"/>
              <a:t>ubtract </a:t>
            </a:r>
          </a:p>
          <a:p>
            <a:r>
              <a:rPr lang="en-AU" sz="2400" dirty="0"/>
              <a:t>                    (from left to right)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7194498" y="1294643"/>
            <a:ext cx="14889" cy="55633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97646" y="1819380"/>
            <a:ext cx="15438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are the rules of BIMDAS?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311106" y="1294643"/>
                <a:ext cx="2582901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Example :</a:t>
                </a:r>
              </a:p>
              <a:p>
                <a:endParaRPr lang="en-US" sz="20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8+96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÷2=</m:t>
                    </m:r>
                  </m:oMath>
                </a14:m>
                <a:endParaRPr lang="en-AU" sz="20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endParaRPr lang="en-US" sz="20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10 −</m:t>
                    </m:r>
                    <m:sSup>
                      <m:sSupPr>
                        <m:ctrlPr>
                          <a:rPr lang="en-AU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÷8</m:t>
                    </m:r>
                  </m:oMath>
                </a14:m>
                <a:r>
                  <a:rPr lang="en-AU" sz="2000" dirty="0" smtClean="0"/>
                  <a:t> =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2 </m:t>
                        </m:r>
                      </m:sup>
                    </m:sSup>
                    <m:r>
                      <a:rPr lang="en-AU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(4+3)</m:t>
                    </m:r>
                  </m:oMath>
                </a14:m>
                <a:r>
                  <a:rPr lang="en-AU" sz="2000" dirty="0" smtClean="0"/>
                  <a:t> =</a:t>
                </a:r>
                <a:endParaRPr lang="en-AU" sz="20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1106" y="1294643"/>
                <a:ext cx="2582901" cy="3785652"/>
              </a:xfrm>
              <a:prstGeom prst="rect">
                <a:avLst/>
              </a:prstGeom>
              <a:blipFill>
                <a:blip r:embed="rId2"/>
                <a:stretch>
                  <a:fillRect l="-2358" t="-805" b="-193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2657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58014" y="528935"/>
            <a:ext cx="41892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Left-hand side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7382830"/>
                  </p:ext>
                </p:extLst>
              </p:nvPr>
            </p:nvGraphicFramePr>
            <p:xfrm>
              <a:off x="1472203" y="1727199"/>
              <a:ext cx="9740741" cy="1828801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361308">
                      <a:extLst>
                        <a:ext uri="{9D8B030D-6E8A-4147-A177-3AD203B41FA5}">
                          <a16:colId xmlns:a16="http://schemas.microsoft.com/office/drawing/2014/main" val="2449134096"/>
                        </a:ext>
                      </a:extLst>
                    </a:gridCol>
                    <a:gridCol w="2361308">
                      <a:extLst>
                        <a:ext uri="{9D8B030D-6E8A-4147-A177-3AD203B41FA5}">
                          <a16:colId xmlns:a16="http://schemas.microsoft.com/office/drawing/2014/main" val="2130743795"/>
                        </a:ext>
                      </a:extLst>
                    </a:gridCol>
                    <a:gridCol w="2361308">
                      <a:extLst>
                        <a:ext uri="{9D8B030D-6E8A-4147-A177-3AD203B41FA5}">
                          <a16:colId xmlns:a16="http://schemas.microsoft.com/office/drawing/2014/main" val="865903446"/>
                        </a:ext>
                      </a:extLst>
                    </a:gridCol>
                    <a:gridCol w="2656817">
                      <a:extLst>
                        <a:ext uri="{9D8B030D-6E8A-4147-A177-3AD203B41FA5}">
                          <a16:colId xmlns:a16="http://schemas.microsoft.com/office/drawing/2014/main" val="2170240053"/>
                        </a:ext>
                      </a:extLst>
                    </a:gridCol>
                  </a:tblGrid>
                  <a:tr h="182880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7 + 8 </m:t>
                                </m:r>
                                <m:r>
                                  <a:rPr lang="en-GB" sz="1800" b="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1800" b="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3</m:t>
                                </m:r>
                              </m:oMath>
                            </m:oMathPara>
                          </a14:m>
                          <a:endParaRPr lang="en-AU" sz="1800" b="0" i="1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800" b="0" i="0" dirty="0" smtClean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800" b="0" i="1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20 – 4 </m:t>
                              </m:r>
                              <m:r>
                                <a:rPr lang="en-GB" sz="1800" b="0" i="1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1800" b="0" i="1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 2</m:t>
                              </m:r>
                            </m:oMath>
                          </a14:m>
                          <a:endParaRPr lang="en-AU" sz="1800" b="0" i="1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800" b="0" i="0" dirty="0" smtClean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800" b="0" i="1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17 + 3 </m:t>
                              </m:r>
                              <m:r>
                                <a:rPr lang="en-GB" sz="1800" b="0" i="1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1800" b="0" i="1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 6</m:t>
                              </m:r>
                            </m:oMath>
                          </a14:m>
                          <a:endParaRPr lang="en-AU" sz="1800" b="0" i="1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23 – 18 ÷ 3</m:t>
                                </m:r>
                              </m:oMath>
                            </m:oMathPara>
                          </a14:m>
                          <a:endParaRPr lang="en-AU" sz="1800" b="0" i="1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549599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7382830"/>
                  </p:ext>
                </p:extLst>
              </p:nvPr>
            </p:nvGraphicFramePr>
            <p:xfrm>
              <a:off x="1472203" y="1727199"/>
              <a:ext cx="9740741" cy="1828801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361308">
                      <a:extLst>
                        <a:ext uri="{9D8B030D-6E8A-4147-A177-3AD203B41FA5}">
                          <a16:colId xmlns:a16="http://schemas.microsoft.com/office/drawing/2014/main" val="2449134096"/>
                        </a:ext>
                      </a:extLst>
                    </a:gridCol>
                    <a:gridCol w="2361308">
                      <a:extLst>
                        <a:ext uri="{9D8B030D-6E8A-4147-A177-3AD203B41FA5}">
                          <a16:colId xmlns:a16="http://schemas.microsoft.com/office/drawing/2014/main" val="2130743795"/>
                        </a:ext>
                      </a:extLst>
                    </a:gridCol>
                    <a:gridCol w="2361308">
                      <a:extLst>
                        <a:ext uri="{9D8B030D-6E8A-4147-A177-3AD203B41FA5}">
                          <a16:colId xmlns:a16="http://schemas.microsoft.com/office/drawing/2014/main" val="865903446"/>
                        </a:ext>
                      </a:extLst>
                    </a:gridCol>
                    <a:gridCol w="2656817">
                      <a:extLst>
                        <a:ext uri="{9D8B030D-6E8A-4147-A177-3AD203B41FA5}">
                          <a16:colId xmlns:a16="http://schemas.microsoft.com/office/drawing/2014/main" val="2170240053"/>
                        </a:ext>
                      </a:extLst>
                    </a:gridCol>
                  </a:tblGrid>
                  <a:tr h="182880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58" t="-332" r="-312629" b="-6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17" t="-332" r="-213437" b="-6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332" r="-112887" b="-6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6972" t="-332" r="-459" b="-6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549599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8824016"/>
                  </p:ext>
                </p:extLst>
              </p:nvPr>
            </p:nvGraphicFramePr>
            <p:xfrm>
              <a:off x="1472202" y="3830934"/>
              <a:ext cx="9740740" cy="19510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35185">
                      <a:extLst>
                        <a:ext uri="{9D8B030D-6E8A-4147-A177-3AD203B41FA5}">
                          <a16:colId xmlns:a16="http://schemas.microsoft.com/office/drawing/2014/main" val="1067271268"/>
                        </a:ext>
                      </a:extLst>
                    </a:gridCol>
                    <a:gridCol w="2435185">
                      <a:extLst>
                        <a:ext uri="{9D8B030D-6E8A-4147-A177-3AD203B41FA5}">
                          <a16:colId xmlns:a16="http://schemas.microsoft.com/office/drawing/2014/main" val="3348006136"/>
                        </a:ext>
                      </a:extLst>
                    </a:gridCol>
                    <a:gridCol w="2435185">
                      <a:extLst>
                        <a:ext uri="{9D8B030D-6E8A-4147-A177-3AD203B41FA5}">
                          <a16:colId xmlns:a16="http://schemas.microsoft.com/office/drawing/2014/main" val="1358782608"/>
                        </a:ext>
                      </a:extLst>
                    </a:gridCol>
                    <a:gridCol w="2435185">
                      <a:extLst>
                        <a:ext uri="{9D8B030D-6E8A-4147-A177-3AD203B41FA5}">
                          <a16:colId xmlns:a16="http://schemas.microsoft.com/office/drawing/2014/main" val="1079451264"/>
                        </a:ext>
                      </a:extLst>
                    </a:gridCol>
                  </a:tblGrid>
                  <a:tr h="195103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3 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×(5+4)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4+8 − 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40 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÷4 −5 ×2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2+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(8 −6)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688776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8824016"/>
                  </p:ext>
                </p:extLst>
              </p:nvPr>
            </p:nvGraphicFramePr>
            <p:xfrm>
              <a:off x="1472202" y="3830934"/>
              <a:ext cx="9740740" cy="19510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35185">
                      <a:extLst>
                        <a:ext uri="{9D8B030D-6E8A-4147-A177-3AD203B41FA5}">
                          <a16:colId xmlns:a16="http://schemas.microsoft.com/office/drawing/2014/main" val="1067271268"/>
                        </a:ext>
                      </a:extLst>
                    </a:gridCol>
                    <a:gridCol w="2435185">
                      <a:extLst>
                        <a:ext uri="{9D8B030D-6E8A-4147-A177-3AD203B41FA5}">
                          <a16:colId xmlns:a16="http://schemas.microsoft.com/office/drawing/2014/main" val="3348006136"/>
                        </a:ext>
                      </a:extLst>
                    </a:gridCol>
                    <a:gridCol w="2435185">
                      <a:extLst>
                        <a:ext uri="{9D8B030D-6E8A-4147-A177-3AD203B41FA5}">
                          <a16:colId xmlns:a16="http://schemas.microsoft.com/office/drawing/2014/main" val="1358782608"/>
                        </a:ext>
                      </a:extLst>
                    </a:gridCol>
                    <a:gridCol w="2435185">
                      <a:extLst>
                        <a:ext uri="{9D8B030D-6E8A-4147-A177-3AD203B41FA5}">
                          <a16:colId xmlns:a16="http://schemas.microsoft.com/office/drawing/2014/main" val="1079451264"/>
                        </a:ext>
                      </a:extLst>
                    </a:gridCol>
                  </a:tblGrid>
                  <a:tr h="19510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0" t="-312" r="-300250" b="-6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250" t="-312" r="-200250" b="-6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52" t="-312" r="-100752" b="-6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000" t="-312" r="-500" b="-6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688776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64825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72095" y="1122218"/>
            <a:ext cx="64589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WORKSHEET</a:t>
            </a:r>
          </a:p>
          <a:p>
            <a:endParaRPr lang="en-AU" dirty="0"/>
          </a:p>
          <a:p>
            <a:pPr marL="285750" indent="-285750">
              <a:buFontTx/>
              <a:buChar char="-"/>
            </a:pPr>
            <a:r>
              <a:rPr lang="en-AU" dirty="0" smtClean="0"/>
              <a:t>COMPLETED</a:t>
            </a:r>
          </a:p>
          <a:p>
            <a:pPr marL="285750" indent="-285750">
              <a:buFontTx/>
              <a:buChar char="-"/>
            </a:pPr>
            <a:endParaRPr lang="en-AU" dirty="0"/>
          </a:p>
          <a:p>
            <a:pPr marL="285750" indent="-285750">
              <a:buFontTx/>
              <a:buChar char="-"/>
            </a:pPr>
            <a:endParaRPr lang="en-AU" dirty="0" smtClean="0"/>
          </a:p>
          <a:p>
            <a:pPr marL="285750" indent="-285750">
              <a:buFontTx/>
              <a:buChar char="-"/>
            </a:pPr>
            <a:r>
              <a:rPr lang="en-AU" dirty="0" smtClean="0"/>
              <a:t>GLUE onto Left hand side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139" y="795164"/>
            <a:ext cx="4762500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352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162</TotalTime>
  <Words>160</Words>
  <Application>Microsoft Office PowerPoint</Application>
  <PresentationFormat>Widescreen</PresentationFormat>
  <Paragraphs>71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Times New Roman</vt:lpstr>
      <vt:lpstr>Retrospect</vt:lpstr>
      <vt:lpstr>Number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YEAR 9</dc:title>
  <dc:creator>D'SOUZA Jillian [Baldivis Secondary College]</dc:creator>
  <cp:lastModifiedBy>D'SOUZA Jillian [Baldivis Secondary College]</cp:lastModifiedBy>
  <cp:revision>40</cp:revision>
  <dcterms:created xsi:type="dcterms:W3CDTF">2018-01-31T23:34:05Z</dcterms:created>
  <dcterms:modified xsi:type="dcterms:W3CDTF">2019-02-05T08:59:04Z</dcterms:modified>
</cp:coreProperties>
</file>
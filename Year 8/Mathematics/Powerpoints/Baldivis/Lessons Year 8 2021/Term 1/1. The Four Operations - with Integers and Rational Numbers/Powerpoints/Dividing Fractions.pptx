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94" r:id="rId4"/>
    <p:sldId id="393" r:id="rId5"/>
    <p:sldId id="400" r:id="rId6"/>
    <p:sldId id="401" r:id="rId7"/>
    <p:sldId id="403" r:id="rId8"/>
    <p:sldId id="404" r:id="rId9"/>
    <p:sldId id="405" r:id="rId10"/>
    <p:sldId id="406" r:id="rId11"/>
    <p:sldId id="402" r:id="rId12"/>
    <p:sldId id="408" r:id="rId13"/>
    <p:sldId id="407" r:id="rId14"/>
    <p:sldId id="414" r:id="rId15"/>
    <p:sldId id="409" r:id="rId16"/>
    <p:sldId id="410" r:id="rId17"/>
    <p:sldId id="411" r:id="rId18"/>
    <p:sldId id="413" r:id="rId19"/>
    <p:sldId id="377" r:id="rId20"/>
    <p:sldId id="3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17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4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620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945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019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969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949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639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8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139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258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31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447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4ADA-8B9F-4ECF-9857-DA0E09389161}" type="datetimeFigureOut">
              <a:rPr lang="en-AU" smtClean="0"/>
              <a:t>1/3/21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AFD57-68CF-4DF2-BA7E-BB906AB4CDA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088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es.nwcomplex.org/apps/video/watch.jsp?v=120450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gif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://farm4.static.flickr.com/3439/3212450281_4e5062431a.jpg"/>
          <p:cNvPicPr>
            <a:picLocks noChangeAspect="1" noChangeArrowheads="1"/>
          </p:cNvPicPr>
          <p:nvPr/>
        </p:nvPicPr>
        <p:blipFill>
          <a:blip r:embed="rId2" cstate="print"/>
          <a:srcRect l="1869" t="2751" r="8168" b="2751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1544" y="332657"/>
            <a:ext cx="8458200" cy="5332163"/>
          </a:xfrm>
          <a:solidFill>
            <a:schemeClr val="bg1"/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dirty="0">
                <a:latin typeface="Arial Black" pitchFamily="34" charset="0"/>
              </a:rPr>
              <a:t>Topic: Rational Numbers</a:t>
            </a:r>
            <a:br>
              <a:rPr lang="en-GB" dirty="0">
                <a:latin typeface="Arial Black" pitchFamily="34" charset="0"/>
              </a:rPr>
            </a:br>
            <a:br>
              <a:rPr lang="en-GB" dirty="0">
                <a:latin typeface="Arial Black" pitchFamily="34" charset="0"/>
              </a:rPr>
            </a:br>
            <a:r>
              <a:rPr lang="en-GB" dirty="0">
                <a:latin typeface="Arial Black" pitchFamily="34" charset="0"/>
              </a:rPr>
              <a:t>EQ: How do I divide rational numbers?</a:t>
            </a:r>
          </a:p>
        </p:txBody>
      </p:sp>
    </p:spTree>
    <p:extLst>
      <p:ext uri="{BB962C8B-B14F-4D97-AF65-F5344CB8AC3E}">
        <p14:creationId xmlns:p14="http://schemas.microsoft.com/office/powerpoint/2010/main" val="3757676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writ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222339"/>
            <a:ext cx="4639845" cy="4635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2367" y="1009061"/>
            <a:ext cx="1098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600" dirty="0">
                <a:latin typeface="Arial Black" panose="020B0A04020102020204" pitchFamily="34" charset="0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6717" y="3230674"/>
            <a:ext cx="74249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latin typeface="Arial Black" panose="020B0A04020102020204" pitchFamily="34" charset="0"/>
              </a:rPr>
              <a:t>I will divide fractions by finding the inverse.</a:t>
            </a:r>
          </a:p>
          <a:p>
            <a:endParaRPr lang="en-AU" sz="2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62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 txBox="1">
            <a:spLocks/>
          </p:cNvSpPr>
          <p:nvPr/>
        </p:nvSpPr>
        <p:spPr>
          <a:xfrm>
            <a:off x="61612" y="317898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68" y="13374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629" y="13374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1520830" y="156959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270" y="1320605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331" y="1320637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5543260" y="155278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079118" y="1305537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9118" y="1305537"/>
                <a:ext cx="813391" cy="14950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9648235" y="1552783"/>
            <a:ext cx="830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36818" y="1552783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68472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 txBox="1">
            <a:spLocks/>
          </p:cNvSpPr>
          <p:nvPr/>
        </p:nvSpPr>
        <p:spPr>
          <a:xfrm>
            <a:off x="61612" y="244030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514" y="1626508"/>
            <a:ext cx="10586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When you see word </a:t>
            </a:r>
            <a:r>
              <a:rPr lang="en-AU" sz="3600" b="1" i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, you replace it with…</a:t>
            </a:r>
          </a:p>
        </p:txBody>
      </p:sp>
      <p:sp>
        <p:nvSpPr>
          <p:cNvPr id="2" name="Rectangle 1"/>
          <p:cNvSpPr/>
          <p:nvPr/>
        </p:nvSpPr>
        <p:spPr>
          <a:xfrm>
            <a:off x="4552027" y="2770975"/>
            <a:ext cx="49039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a multiplication sign. </a:t>
            </a:r>
            <a:endParaRPr lang="en-AU" sz="3600" dirty="0"/>
          </a:p>
        </p:txBody>
      </p:sp>
      <p:sp>
        <p:nvSpPr>
          <p:cNvPr id="15" name="TextBox 14"/>
          <p:cNvSpPr txBox="1"/>
          <p:nvPr/>
        </p:nvSpPr>
        <p:spPr>
          <a:xfrm>
            <a:off x="706514" y="4170356"/>
            <a:ext cx="11316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What is 5 lots of 2?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730" y="5310772"/>
            <a:ext cx="6220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5 x 2 = 10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879" y="4828329"/>
            <a:ext cx="801143" cy="72001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621" y="5633938"/>
            <a:ext cx="1032802" cy="80509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254" y="4872053"/>
            <a:ext cx="591581" cy="76188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3672" y="5657506"/>
            <a:ext cx="956846" cy="919241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265005" y="4816687"/>
            <a:ext cx="804925" cy="7234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2267" y="2465925"/>
            <a:ext cx="1644115" cy="14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3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/>
          <p:cNvSpPr/>
          <p:nvPr/>
        </p:nvSpPr>
        <p:spPr>
          <a:xfrm>
            <a:off x="4563454" y="5690243"/>
            <a:ext cx="3025212" cy="4508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4401721" y="5651741"/>
            <a:ext cx="3357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top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4217759" y="6360199"/>
            <a:ext cx="3725145" cy="446848"/>
          </a:xfrm>
          <a:prstGeom prst="roundRect">
            <a:avLst/>
          </a:prstGeom>
          <a:solidFill>
            <a:srgbClr val="FF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2028352" y="1159238"/>
            <a:ext cx="8135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latin typeface="Arial" panose="020B0604020202020204" pitchFamily="34" charset="0"/>
                <a:cs typeface="Arial" panose="020B0604020202020204" pitchFamily="34" charset="0"/>
              </a:rPr>
              <a:t>(Multiplying Fractions)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7760" y="6310181"/>
            <a:ext cx="3725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Multiply the bottom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710" y="6141124"/>
            <a:ext cx="3956704" cy="219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48" y="1969164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2196409" y="1969196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409" y="1969196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410859" y="230120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61612" y="244030"/>
            <a:ext cx="11875981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6000" dirty="0">
                <a:latin typeface="Arial Black" panose="020B0A04020102020204" pitchFamily="34" charset="0"/>
              </a:rPr>
              <a:t>Daily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5139623" y="1967181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9623" y="1967181"/>
                <a:ext cx="813391" cy="1480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6541933" y="2199327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817" y="2482818"/>
            <a:ext cx="8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8963774" y="1969128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774" y="1969128"/>
                <a:ext cx="813391" cy="14950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9748574" y="2443428"/>
            <a:ext cx="8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62217" y="2197207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0868913" y="196912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913" y="1969127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/>
          <p:cNvSpPr/>
          <p:nvPr/>
        </p:nvSpPr>
        <p:spPr>
          <a:xfrm>
            <a:off x="8468057" y="2251766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62368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912" y="1460780"/>
            <a:ext cx="105861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AU" sz="36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inverse</a:t>
            </a:r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 is the opposite of something.</a:t>
            </a:r>
          </a:p>
          <a:p>
            <a:pPr algn="ctr"/>
            <a:endParaRPr lang="en-A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AU" sz="3600" i="1" dirty="0">
                <a:latin typeface="Arial" panose="020B0604020202020204" pitchFamily="34" charset="0"/>
                <a:cs typeface="Arial" panose="020B0604020202020204" pitchFamily="34" charset="0"/>
              </a:rPr>
              <a:t>invert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 something is to put it upside down or in the opposite position.</a:t>
            </a:r>
          </a:p>
        </p:txBody>
      </p:sp>
      <p:sp>
        <p:nvSpPr>
          <p:cNvPr id="4" name="Arrow: Down 3"/>
          <p:cNvSpPr/>
          <p:nvPr/>
        </p:nvSpPr>
        <p:spPr>
          <a:xfrm>
            <a:off x="7938809" y="4672405"/>
            <a:ext cx="1501630" cy="178071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Down 26"/>
          <p:cNvSpPr/>
          <p:nvPr/>
        </p:nvSpPr>
        <p:spPr>
          <a:xfrm rot="10800000">
            <a:off x="3049425" y="4672405"/>
            <a:ext cx="1501630" cy="1780710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/>
          <p:cNvSpPr txBox="1"/>
          <p:nvPr/>
        </p:nvSpPr>
        <p:spPr>
          <a:xfrm>
            <a:off x="1728295" y="3988506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UP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17680" y="3988506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DOWN!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9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8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19" y="1379963"/>
            <a:ext cx="105861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AU" sz="36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inverse</a:t>
            </a:r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 is the opposite of something.</a:t>
            </a:r>
          </a:p>
          <a:p>
            <a:pPr algn="ctr"/>
            <a:endParaRPr lang="en-AU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AU" sz="3600" i="1" dirty="0">
                <a:latin typeface="Arial" panose="020B0604020202020204" pitchFamily="34" charset="0"/>
                <a:cs typeface="Arial" panose="020B0604020202020204" pitchFamily="34" charset="0"/>
              </a:rPr>
              <a:t>invert</a:t>
            </a:r>
            <a:r>
              <a:rPr lang="en-AU" sz="3600" dirty="0">
                <a:latin typeface="Arial" panose="020B0604020202020204" pitchFamily="34" charset="0"/>
                <a:cs typeface="Arial" panose="020B0604020202020204" pitchFamily="34" charset="0"/>
              </a:rPr>
              <a:t> something is to put it upside down or in the opposite position.</a:t>
            </a:r>
          </a:p>
        </p:txBody>
      </p:sp>
      <p:sp>
        <p:nvSpPr>
          <p:cNvPr id="4" name="Arrow: Down 3"/>
          <p:cNvSpPr/>
          <p:nvPr/>
        </p:nvSpPr>
        <p:spPr>
          <a:xfrm rot="16200000">
            <a:off x="7938809" y="4672405"/>
            <a:ext cx="1501630" cy="1780710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Down 26"/>
          <p:cNvSpPr/>
          <p:nvPr/>
        </p:nvSpPr>
        <p:spPr>
          <a:xfrm rot="5400000">
            <a:off x="3049425" y="4672405"/>
            <a:ext cx="1501630" cy="1780710"/>
          </a:xfrm>
          <a:prstGeom prst="down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TextBox 27"/>
          <p:cNvSpPr txBox="1"/>
          <p:nvPr/>
        </p:nvSpPr>
        <p:spPr>
          <a:xfrm>
            <a:off x="1728295" y="3988506"/>
            <a:ext cx="4362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LEFT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17680" y="3988506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31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8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6401" y="1371745"/>
            <a:ext cx="5268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ADDITION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74397" y="1371745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SUBTRACTION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06110" y="4124732"/>
            <a:ext cx="5268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DIVISION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64106" y="4124732"/>
            <a:ext cx="4143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MULTIPLICATION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567" y="2151385"/>
            <a:ext cx="1596207" cy="15962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054" y="1991020"/>
            <a:ext cx="1756572" cy="17565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784" y="4647952"/>
            <a:ext cx="2179112" cy="187295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283" y="4756196"/>
            <a:ext cx="2020365" cy="18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6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9980" y="1489190"/>
            <a:ext cx="739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The inverse of this fraction is…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554105" y="2497670"/>
                <a:ext cx="813391" cy="2897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9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9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9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9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96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105" y="2497670"/>
                <a:ext cx="813391" cy="28978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624164" y="2497670"/>
                <a:ext cx="813391" cy="28978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9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9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9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9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96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164" y="2497670"/>
                <a:ext cx="813391" cy="2897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Curved Left 3"/>
          <p:cNvSpPr/>
          <p:nvPr/>
        </p:nvSpPr>
        <p:spPr>
          <a:xfrm>
            <a:off x="4664279" y="2994870"/>
            <a:ext cx="1115736" cy="204691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202119" y="2922375"/>
            <a:ext cx="1133954" cy="2048434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275521" y="5782260"/>
            <a:ext cx="739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SWITCH IT!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21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14" grpId="0"/>
      <p:bldP spid="4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Finding the Inverse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9980" y="1279467"/>
            <a:ext cx="7392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Find the inverse of these fractions.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44460" y="2103388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60" y="2103388"/>
                <a:ext cx="813391" cy="14950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806643" y="2103386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643" y="2103386"/>
                <a:ext cx="813391" cy="14950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768826" y="2103385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826" y="2103385"/>
                <a:ext cx="813391" cy="14950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9731009" y="2103384"/>
                <a:ext cx="813391" cy="1495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124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009" y="2103384"/>
                <a:ext cx="813391" cy="1495089"/>
              </a:xfrm>
              <a:prstGeom prst="rect">
                <a:avLst/>
              </a:prstGeom>
              <a:blipFill>
                <a:blip r:embed="rId5"/>
                <a:stretch>
                  <a:fillRect r="-358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485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/>
          <p:cNvSpPr/>
          <p:nvPr/>
        </p:nvSpPr>
        <p:spPr>
          <a:xfrm>
            <a:off x="6493079" y="4232218"/>
            <a:ext cx="5228446" cy="118750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: Rounded Corners 35"/>
          <p:cNvSpPr/>
          <p:nvPr/>
        </p:nvSpPr>
        <p:spPr>
          <a:xfrm>
            <a:off x="3483665" y="2713359"/>
            <a:ext cx="4756557" cy="11875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421638" y="1262084"/>
            <a:ext cx="4756557" cy="118750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148951" y="1262084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LEAVE IT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3210978" y="2713359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SWAP IT</a:t>
            </a: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6419592" y="4232218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SWITCH IT</a:t>
            </a:r>
          </a:p>
        </p:txBody>
      </p:sp>
    </p:spTree>
    <p:extLst>
      <p:ext uri="{BB962C8B-B14F-4D97-AF65-F5344CB8AC3E}">
        <p14:creationId xmlns:p14="http://schemas.microsoft.com/office/powerpoint/2010/main" val="425039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 animBg="1"/>
      <p:bldP spid="4" grpId="0" animBg="1"/>
      <p:bldP spid="32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112314" y="4095342"/>
            <a:ext cx="5394121" cy="134223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409538" y="183276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1028" y="3312749"/>
            <a:ext cx="9562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One divided by two, divided by three divided by four…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28587" y="3935537"/>
            <a:ext cx="73920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9600" dirty="0">
                <a:latin typeface="Cooper Black" panose="0208090404030B020404" pitchFamily="18" charset="0"/>
                <a:cs typeface="Arial" panose="020B0604020202020204" pitchFamily="34" charset="0"/>
              </a:rPr>
              <a:t>WHAT?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247" y="5604765"/>
            <a:ext cx="9562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How do we solve it?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44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8240223" y="1228292"/>
            <a:ext cx="3001025" cy="970129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: Rounded Corners 36"/>
          <p:cNvSpPr/>
          <p:nvPr/>
        </p:nvSpPr>
        <p:spPr>
          <a:xfrm>
            <a:off x="6493079" y="4232218"/>
            <a:ext cx="5228446" cy="118750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: Rounded Corners 35"/>
          <p:cNvSpPr/>
          <p:nvPr/>
        </p:nvSpPr>
        <p:spPr>
          <a:xfrm>
            <a:off x="3483665" y="2713359"/>
            <a:ext cx="4756557" cy="11875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: Rounded Corners 3"/>
          <p:cNvSpPr/>
          <p:nvPr/>
        </p:nvSpPr>
        <p:spPr>
          <a:xfrm>
            <a:off x="421638" y="1262084"/>
            <a:ext cx="4756557" cy="118750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Title 1"/>
          <p:cNvSpPr txBox="1">
            <a:spLocks/>
          </p:cNvSpPr>
          <p:nvPr/>
        </p:nvSpPr>
        <p:spPr>
          <a:xfrm>
            <a:off x="148951" y="1262084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LEAVE IT</a:t>
            </a: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3210978" y="2713359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SWAP IT</a:t>
            </a: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6419592" y="4232218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8000" dirty="0">
                <a:latin typeface="Berlin Sans FB Demi" panose="020E0802020502020306" pitchFamily="34" charset="0"/>
              </a:rPr>
              <a:t>SWITCH IT</a:t>
            </a:r>
          </a:p>
        </p:txBody>
      </p:sp>
      <p:cxnSp>
        <p:nvCxnSpPr>
          <p:cNvPr id="5" name="Straight Arrow Connector 4"/>
          <p:cNvCxnSpPr>
            <a:cxnSpLocks/>
            <a:stCxn id="9" idx="1"/>
          </p:cNvCxnSpPr>
          <p:nvPr/>
        </p:nvCxnSpPr>
        <p:spPr>
          <a:xfrm flipH="1">
            <a:off x="7053181" y="1713357"/>
            <a:ext cx="1187042" cy="9407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9651534" y="2198421"/>
            <a:ext cx="0" cy="19335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itle 1"/>
          <p:cNvSpPr txBox="1">
            <a:spLocks/>
          </p:cNvSpPr>
          <p:nvPr/>
        </p:nvSpPr>
        <p:spPr>
          <a:xfrm>
            <a:off x="7053180" y="1291148"/>
            <a:ext cx="5301933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Berlin Sans FB Demi" panose="020E0802020502020306" pitchFamily="34" charset="0"/>
              </a:rPr>
              <a:t>Invert it</a:t>
            </a:r>
          </a:p>
        </p:txBody>
      </p:sp>
    </p:spTree>
    <p:extLst>
      <p:ext uri="{BB962C8B-B14F-4D97-AF65-F5344CB8AC3E}">
        <p14:creationId xmlns:p14="http://schemas.microsoft.com/office/powerpoint/2010/main" val="203981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7" grpId="0" animBg="1"/>
      <p:bldP spid="36" grpId="0" animBg="1"/>
      <p:bldP spid="4" grpId="0" animBg="1"/>
      <p:bldP spid="32" grpId="0"/>
      <p:bldP spid="34" grpId="0"/>
      <p:bldP spid="35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932C57-7546-5E41-9F69-D71EDE0A8575}"/>
              </a:ext>
            </a:extLst>
          </p:cNvPr>
          <p:cNvSpPr/>
          <p:nvPr/>
        </p:nvSpPr>
        <p:spPr>
          <a:xfrm>
            <a:off x="3135862" y="2731378"/>
            <a:ext cx="5920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https://wes.nwcomplex.org/apps/video/watch.jsp?v=120450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929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6188411" y="1475695"/>
            <a:ext cx="721017" cy="16535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/>
          <p:cNvSpPr/>
          <p:nvPr/>
        </p:nvSpPr>
        <p:spPr>
          <a:xfrm>
            <a:off x="5589418" y="1996580"/>
            <a:ext cx="506582" cy="52011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/>
          <p:cNvSpPr/>
          <p:nvPr/>
        </p:nvSpPr>
        <p:spPr>
          <a:xfrm>
            <a:off x="4739790" y="1475695"/>
            <a:ext cx="782078" cy="1653546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: Rounded Corners 22"/>
          <p:cNvSpPr/>
          <p:nvPr/>
        </p:nvSpPr>
        <p:spPr>
          <a:xfrm>
            <a:off x="1036942" y="3938356"/>
            <a:ext cx="2185153" cy="64633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/>
          <p:cNvSpPr/>
          <p:nvPr/>
        </p:nvSpPr>
        <p:spPr>
          <a:xfrm>
            <a:off x="1036942" y="3042103"/>
            <a:ext cx="218515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/>
          <p:cNvSpPr/>
          <p:nvPr/>
        </p:nvSpPr>
        <p:spPr>
          <a:xfrm>
            <a:off x="1036942" y="2126428"/>
            <a:ext cx="2185153" cy="64633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409538" y="183276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1485" y="2707585"/>
            <a:ext cx="2074849" cy="27560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7683" y="2126428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Leave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683" y="3022681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Swap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683" y="3918934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Switch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481" y="2126428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481" y="3025325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481" y="3923310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06" y="3324834"/>
            <a:ext cx="816935" cy="1481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008978" y="3721642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269" y="3709854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188411" y="3326269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411" y="3326269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4014732" y="5439111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769350" y="502070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350" y="5020705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360109" y="5442546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6114727" y="502414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727" y="5024140"/>
                <a:ext cx="813391" cy="14800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887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6" grpId="0" animBg="1"/>
      <p:bldP spid="23" grpId="0" animBg="1"/>
      <p:bldP spid="22" grpId="0" animBg="1"/>
      <p:bldP spid="5" grpId="0" animBg="1"/>
      <p:bldP spid="19" grpId="0"/>
      <p:bldP spid="20" grpId="0"/>
      <p:bldP spid="21" grpId="0"/>
      <p:bldP spid="24" grpId="0"/>
      <p:bldP spid="25" grpId="0"/>
      <p:bldP spid="26" grpId="0"/>
      <p:bldP spid="27" grpId="0"/>
      <p:bldP spid="28" grpId="0"/>
      <p:bldP spid="29" grpId="0"/>
      <p:bldP spid="33" grpId="0"/>
      <p:bldP spid="34" grpId="0"/>
      <p:bldP spid="35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/>
          <p:cNvSpPr/>
          <p:nvPr/>
        </p:nvSpPr>
        <p:spPr>
          <a:xfrm>
            <a:off x="6188411" y="1475695"/>
            <a:ext cx="721017" cy="16535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/>
          <p:cNvSpPr/>
          <p:nvPr/>
        </p:nvSpPr>
        <p:spPr>
          <a:xfrm>
            <a:off x="5589418" y="1996580"/>
            <a:ext cx="506582" cy="52011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: Rounded Corners 5"/>
          <p:cNvSpPr/>
          <p:nvPr/>
        </p:nvSpPr>
        <p:spPr>
          <a:xfrm>
            <a:off x="4739790" y="1475695"/>
            <a:ext cx="782078" cy="1653546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: Rounded Corners 22"/>
          <p:cNvSpPr/>
          <p:nvPr/>
        </p:nvSpPr>
        <p:spPr>
          <a:xfrm>
            <a:off x="1036942" y="3938356"/>
            <a:ext cx="2185153" cy="64633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/>
          <p:cNvSpPr/>
          <p:nvPr/>
        </p:nvSpPr>
        <p:spPr>
          <a:xfrm>
            <a:off x="1036942" y="3042103"/>
            <a:ext cx="218515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/>
          <p:cNvSpPr/>
          <p:nvPr/>
        </p:nvSpPr>
        <p:spPr>
          <a:xfrm>
            <a:off x="1036942" y="2126428"/>
            <a:ext cx="2185153" cy="64633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027" y="1500715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088" y="1500747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409538" y="183276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683" y="2126428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Leave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683" y="3022681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Swap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683" y="3918934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Switch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481" y="2126428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481" y="3025325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481" y="3923310"/>
            <a:ext cx="65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8978" y="3721642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269" y="3709854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188411" y="3326269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411" y="3326269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4014732" y="5439111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769350" y="5020705"/>
                <a:ext cx="830142" cy="1483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350" y="5020705"/>
                <a:ext cx="830142" cy="14834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5547738" y="5442156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6274599" y="502414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599" y="5024140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769349" y="3326268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349" y="3326268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369" y="2488284"/>
            <a:ext cx="26193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2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6" grpId="0" animBg="1"/>
      <p:bldP spid="23" grpId="0" animBg="1"/>
      <p:bldP spid="22" grpId="0" animBg="1"/>
      <p:bldP spid="5" grpId="0" animBg="1"/>
      <p:bldP spid="19" grpId="0"/>
      <p:bldP spid="20" grpId="0"/>
      <p:bldP spid="21" grpId="0"/>
      <p:bldP spid="24" grpId="0"/>
      <p:bldP spid="25" grpId="0"/>
      <p:bldP spid="26" grpId="0"/>
      <p:bldP spid="27" grpId="0"/>
      <p:bldP spid="28" grpId="0"/>
      <p:bldP spid="29" grpId="0"/>
      <p:bldP spid="33" grpId="0"/>
      <p:bldP spid="34" grpId="0"/>
      <p:bldP spid="35" grpId="0"/>
      <p:bldP spid="36" grpId="0"/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/>
          <p:cNvSpPr/>
          <p:nvPr/>
        </p:nvSpPr>
        <p:spPr>
          <a:xfrm>
            <a:off x="7580355" y="5904118"/>
            <a:ext cx="2185153" cy="64633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/>
          <p:cNvSpPr/>
          <p:nvPr/>
        </p:nvSpPr>
        <p:spPr>
          <a:xfrm>
            <a:off x="5080436" y="5904118"/>
            <a:ext cx="218515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/>
          <p:cNvSpPr/>
          <p:nvPr/>
        </p:nvSpPr>
        <p:spPr>
          <a:xfrm>
            <a:off x="2576462" y="5882964"/>
            <a:ext cx="2185153" cy="64633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7203" y="5882964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Leave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1177" y="5884696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Swap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1096" y="5884696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Switch 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353142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142" y="1309080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059915" y="1309079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915" y="1309079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635236" y="165012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525512" y="1309081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512" y="1309081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232285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285" y="1309080"/>
                <a:ext cx="813391" cy="1480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807606" y="165013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0565218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218" y="1309080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9271991" y="1309079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991" y="1309079"/>
                <a:ext cx="813391" cy="14800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9847312" y="165012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</p:spTree>
    <p:extLst>
      <p:ext uri="{BB962C8B-B14F-4D97-AF65-F5344CB8AC3E}">
        <p14:creationId xmlns:p14="http://schemas.microsoft.com/office/powerpoint/2010/main" val="284830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5" grpId="0" animBg="1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/>
          <p:cNvSpPr/>
          <p:nvPr/>
        </p:nvSpPr>
        <p:spPr>
          <a:xfrm>
            <a:off x="7580355" y="5904118"/>
            <a:ext cx="2185153" cy="64633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: Rounded Corners 21"/>
          <p:cNvSpPr/>
          <p:nvPr/>
        </p:nvSpPr>
        <p:spPr>
          <a:xfrm>
            <a:off x="5080436" y="5904118"/>
            <a:ext cx="2185153" cy="646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: Rounded Corners 4"/>
          <p:cNvSpPr/>
          <p:nvPr/>
        </p:nvSpPr>
        <p:spPr>
          <a:xfrm>
            <a:off x="2576462" y="5882964"/>
            <a:ext cx="2185153" cy="646331"/>
          </a:xfrm>
          <a:prstGeom prst="roundRect">
            <a:avLst/>
          </a:prstGeom>
          <a:solidFill>
            <a:srgbClr val="FFA7A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0" y="307792"/>
            <a:ext cx="12192000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dirty="0">
                <a:latin typeface="Arial Black" panose="020B0A04020102020204" pitchFamily="34" charset="0"/>
              </a:rPr>
              <a:t>Dividing Fractions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7203" y="5882964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Leave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1177" y="5884696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Swap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1096" y="5884696"/>
            <a:ext cx="232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Switch 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353142" y="1309080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142" y="1309080"/>
                <a:ext cx="813391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1635236" y="165012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316449" y="13256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6449" y="1325615"/>
                <a:ext cx="813391" cy="14800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5807606" y="1650130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0966648" y="136339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648" y="1363395"/>
                <a:ext cx="813391" cy="14800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/>
          <p:cNvSpPr txBox="1"/>
          <p:nvPr/>
        </p:nvSpPr>
        <p:spPr>
          <a:xfrm>
            <a:off x="9847312" y="1650129"/>
            <a:ext cx="830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876" y="1557795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34929" y="1557795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51422" y="1541258"/>
            <a:ext cx="10548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95459" y="1557795"/>
            <a:ext cx="56480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926942" y="13256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6942" y="1325615"/>
                <a:ext cx="813391" cy="14800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/>
          <p:cNvSpPr/>
          <p:nvPr/>
        </p:nvSpPr>
        <p:spPr>
          <a:xfrm>
            <a:off x="6445422" y="1557795"/>
            <a:ext cx="81339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6000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180364" y="1325615"/>
                <a:ext cx="813391" cy="14800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48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4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364" y="1325615"/>
                <a:ext cx="813391" cy="14800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6011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Independent Practice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11EE203B-C886-B941-AA2E-952D39B73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764506"/>
            <a:ext cx="7225748" cy="53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26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8294" y="503235"/>
            <a:ext cx="11875981" cy="1325563"/>
          </a:xfrm>
        </p:spPr>
        <p:txBody>
          <a:bodyPr>
            <a:noAutofit/>
          </a:bodyPr>
          <a:lstStyle/>
          <a:p>
            <a:pPr algn="ctr"/>
            <a:r>
              <a:rPr lang="en-AU" sz="6600" dirty="0">
                <a:latin typeface="Arial Black" panose="020B0A04020102020204" pitchFamily="34" charset="0"/>
              </a:rPr>
              <a:t>What have we learnt today?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474" y="2002123"/>
            <a:ext cx="10624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anose="020B0A04020102020204" pitchFamily="34" charset="0"/>
              </a:rPr>
              <a:t>Lesson Objectives: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294" y="2368090"/>
            <a:ext cx="114567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dirty="0">
              <a:latin typeface="Arial Black" panose="020B0A04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>
                <a:latin typeface="Arial" panose="020B0604020202020204" pitchFamily="34" charset="0"/>
                <a:cs typeface="Arial" panose="020B0604020202020204" pitchFamily="34" charset="0"/>
              </a:rPr>
              <a:t>I will divide fractions by finding the inverse.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800" dirty="0"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6350" y="3769059"/>
            <a:ext cx="6530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What is the phrase to remember how to divide fractions?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5680" y="5118191"/>
            <a:ext cx="5150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Leave it, Swap it, Switch it</a:t>
            </a:r>
          </a:p>
        </p:txBody>
      </p:sp>
      <p:pic>
        <p:nvPicPr>
          <p:cNvPr id="1026" name="Picture 2" descr="Image result for fractions carto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275" y="2450153"/>
            <a:ext cx="3810000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9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14234</TotalTime>
  <Words>386</Words>
  <Application>Microsoft Macintosh PowerPoint</Application>
  <PresentationFormat>Widescreen</PresentationFormat>
  <Paragraphs>151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Berlin Sans FB Demi</vt:lpstr>
      <vt:lpstr>Calibri</vt:lpstr>
      <vt:lpstr>Calibri Light</vt:lpstr>
      <vt:lpstr>Cambria Math</vt:lpstr>
      <vt:lpstr>Cooper Black</vt:lpstr>
      <vt:lpstr>Office Theme</vt:lpstr>
      <vt:lpstr>Topic: Rational Numbers  EQ: How do I divide rational numbers?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have we learnt today?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SUMMERS Brad [Baldivis Secondary College]</cp:lastModifiedBy>
  <cp:revision>551</cp:revision>
  <dcterms:created xsi:type="dcterms:W3CDTF">2017-02-09T01:19:14Z</dcterms:created>
  <dcterms:modified xsi:type="dcterms:W3CDTF">2021-03-01T10:13:56Z</dcterms:modified>
</cp:coreProperties>
</file>
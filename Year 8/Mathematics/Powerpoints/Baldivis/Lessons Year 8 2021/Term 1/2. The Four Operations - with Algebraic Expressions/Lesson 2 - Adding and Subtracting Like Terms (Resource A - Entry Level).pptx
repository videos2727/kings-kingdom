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tiff" ContentType="image/tiff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73" r:id="rId3"/>
    <p:sldId id="259" r:id="rId4"/>
    <p:sldId id="260" r:id="rId5"/>
    <p:sldId id="262" r:id="rId6"/>
    <p:sldId id="264" r:id="rId7"/>
    <p:sldId id="258" r:id="rId8"/>
    <p:sldId id="263" r:id="rId9"/>
    <p:sldId id="265" r:id="rId10"/>
    <p:sldId id="266" r:id="rId11"/>
    <p:sldId id="267" r:id="rId12"/>
    <p:sldId id="268" r:id="rId13"/>
    <p:sldId id="269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6C919-545A-4FEC-AE68-55E6946624F4}" type="datetimeFigureOut">
              <a:rPr lang="en-AU" smtClean="0"/>
              <a:t>8/6/18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F0E04-A781-4021-BDF6-15A9F238A2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0432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EE401711-02DC-4F5A-B0A4-D7A4CFB82638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0A69-C0BC-4A5A-8FE4-5D0B5D0F11EE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3B61-F054-442D-881D-6A81C2774BFE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CD3A-8283-4FC4-856C-D5E0BF662449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8FEE8-FC08-4C54-BE1B-81CB6CA05FC8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A528B-AADB-4276-9F0D-B13FCF86F309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497F-A1E4-4C0B-8811-954A59B26923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24E7-1432-4F89-B9E6-59843C6C91FE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AD9C-D29C-4D1E-A739-CC3C95B41085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336BD-BA89-4B92-9DBC-679F61142570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B5C7-A3C7-439B-802A-DFE3FCA7ADBD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E65EA-47B7-4DBF-958B-A3D4DA4F431A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4AAA-CF98-48DB-9517-D7ADD1FD1213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9F696-D0E7-4C66-925E-251F9C0B0F21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2732E-4FBC-4B01-A175-6B1CAC9B226D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FC5-17E4-4A26-A144-49682BD36ECA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79482-E0DA-4858-9A19-F8B792C0C3D9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DC48ED7C-D9A5-4EA8-B309-6E368BFA8F2B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923BE-C0EF-44B1-9FDB-A1130A93B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1032604" y="1392668"/>
            <a:ext cx="9755187" cy="2766528"/>
          </a:xfrm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chemeClr val="tx1"/>
                </a:solidFill>
              </a:rPr>
              <a:t>Algebra</a:t>
            </a:r>
            <a:br>
              <a:rPr lang="en-AU" dirty="0"/>
            </a:br>
            <a:br>
              <a:rPr lang="en-AU" dirty="0"/>
            </a:br>
            <a:r>
              <a:rPr lang="en-AU" sz="4400" dirty="0"/>
              <a:t>Interactive Notebook </a:t>
            </a:r>
            <a:endParaRPr lang="en-AU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FA17EFD-1356-4883-A84A-E579FA1731EE}"/>
              </a:ext>
            </a:extLst>
          </p:cNvPr>
          <p:cNvSpPr txBox="1">
            <a:spLocks/>
          </p:cNvSpPr>
          <p:nvPr/>
        </p:nvSpPr>
        <p:spPr>
          <a:xfrm>
            <a:off x="791623" y="1753344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8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dirty="0"/>
              <a:t>Name : </a:t>
            </a:r>
          </a:p>
          <a:p>
            <a:pPr algn="l"/>
            <a:r>
              <a:rPr lang="en-AU" dirty="0"/>
              <a:t>Class : </a:t>
            </a:r>
          </a:p>
          <a:p>
            <a:pPr algn="l"/>
            <a:r>
              <a:rPr lang="en-AU"/>
              <a:t>Term 2 </a:t>
            </a:r>
            <a:r>
              <a:rPr lang="en-AU" dirty="0"/>
              <a:t>Semester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711BA6-0986-49BB-8DBE-3CA464DACAC9}"/>
                  </a:ext>
                </a:extLst>
              </p:cNvPr>
              <p:cNvSpPr txBox="1"/>
              <p:nvPr/>
            </p:nvSpPr>
            <p:spPr>
              <a:xfrm>
                <a:off x="8237318" y="4856364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711BA6-0986-49BB-8DBE-3CA464DAC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7318" y="4856364"/>
                <a:ext cx="2474780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9367B-6917-462A-98DF-32E36AD3FA5C}"/>
                  </a:ext>
                </a:extLst>
              </p:cNvPr>
              <p:cNvSpPr txBox="1"/>
              <p:nvPr/>
            </p:nvSpPr>
            <p:spPr>
              <a:xfrm>
                <a:off x="2088364" y="3885861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9367B-6917-462A-98DF-32E36AD3F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364" y="3885861"/>
                <a:ext cx="168809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14D1A-27B8-4E70-8AA0-995A5995C4D8}"/>
                  </a:ext>
                </a:extLst>
              </p:cNvPr>
              <p:cNvSpPr txBox="1"/>
              <p:nvPr/>
            </p:nvSpPr>
            <p:spPr>
              <a:xfrm>
                <a:off x="2728817" y="664562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14D1A-27B8-4E70-8AA0-995A5995C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817" y="664562"/>
                <a:ext cx="96475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08624D-6B7D-4F2C-B0FE-668B6DB788A2}"/>
                  </a:ext>
                </a:extLst>
              </p:cNvPr>
              <p:cNvSpPr txBox="1"/>
              <p:nvPr/>
            </p:nvSpPr>
            <p:spPr>
              <a:xfrm>
                <a:off x="5241309" y="90156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08624D-6B7D-4F2C-B0FE-668B6DB78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309" y="901568"/>
                <a:ext cx="1054969" cy="11443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393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F43ED-1159-4C43-824B-3E5D76D4D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I learn?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701A71-C76C-9341-8ACB-211D9F589E0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06777" y="2066306"/>
            <a:ext cx="11598240" cy="190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738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8016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39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73592" y="5803"/>
            <a:ext cx="9428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7225" y="374467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667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7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9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6200" y="153568"/>
            <a:ext cx="9241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Glossary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24082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24082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96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2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89" y="601549"/>
            <a:ext cx="1159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51" y="1196753"/>
            <a:ext cx="7168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7" y="142494"/>
            <a:ext cx="726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5456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What is a ‘like term’ and how do I collect them?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921355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5456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What is a ‘like term’ and how do I collect them?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97072E-18F0-4CD8-B553-9A4841BFFCFB}"/>
              </a:ext>
            </a:extLst>
          </p:cNvPr>
          <p:cNvSpPr txBox="1"/>
          <p:nvPr/>
        </p:nvSpPr>
        <p:spPr>
          <a:xfrm>
            <a:off x="151858" y="2287797"/>
            <a:ext cx="269503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u="sng" dirty="0">
                <a:latin typeface="Arial" panose="020B0604020202020204" pitchFamily="34" charset="0"/>
                <a:cs typeface="Arial" panose="020B0604020202020204" pitchFamily="34" charset="0"/>
              </a:rPr>
              <a:t>Glossary terms</a:t>
            </a:r>
          </a:p>
          <a:p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constant</a:t>
            </a:r>
          </a:p>
          <a:p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variable</a:t>
            </a:r>
          </a:p>
          <a:p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                 coefficient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AF0A8B-D1DE-4DDF-8BEF-AA064B24B1A5}"/>
                  </a:ext>
                </a:extLst>
              </p:cNvPr>
              <p:cNvSpPr txBox="1"/>
              <p:nvPr/>
            </p:nvSpPr>
            <p:spPr>
              <a:xfrm>
                <a:off x="2654621" y="2852044"/>
                <a:ext cx="8427563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A number with nothing else attached to it</a:t>
                </a:r>
              </a:p>
              <a:p>
                <a:r>
                  <a:rPr lang="en-AU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Eg</a:t>
                </a:r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1, 2, 5, 47, 936</m:t>
                    </m:r>
                  </m:oMath>
                </a14:m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A letter that represents an unknown number</a:t>
                </a:r>
              </a:p>
              <a:p>
                <a:r>
                  <a:rPr lang="en-AU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Eg</a:t>
                </a:r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AU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AU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AU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AU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The number in front of the variable</a:t>
                </a:r>
              </a:p>
              <a:p>
                <a:r>
                  <a:rPr lang="en-AU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Eg</a:t>
                </a:r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3 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𝑖𝑠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𝑡h𝑒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𝑐𝑜𝑒𝑓𝑓𝑖𝑐𝑖𝑒𝑛𝑡</m:t>
                    </m:r>
                  </m:oMath>
                </a14:m>
                <a:endParaRPr lang="en-AU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5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5 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𝑖𝑠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𝑡h𝑒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𝑐𝑜𝑒𝑓𝑓𝑖𝑐𝑖𝑒𝑛𝑡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AF0A8B-D1DE-4DDF-8BEF-AA064B24B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621" y="2852044"/>
                <a:ext cx="8427563" cy="3139321"/>
              </a:xfrm>
              <a:prstGeom prst="rect">
                <a:avLst/>
              </a:prstGeom>
              <a:blipFill>
                <a:blip r:embed="rId2"/>
                <a:stretch>
                  <a:fillRect l="-578" t="-11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010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5456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What is a ‘like term’ and how do I collect them?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5EC273-8067-486B-AF2E-1041B6F946B9}"/>
              </a:ext>
            </a:extLst>
          </p:cNvPr>
          <p:cNvSpPr txBox="1"/>
          <p:nvPr/>
        </p:nvSpPr>
        <p:spPr>
          <a:xfrm>
            <a:off x="377072" y="2488676"/>
            <a:ext cx="2102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What is a like term?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723B1C-6DEC-4B38-A775-1459B6BD7F04}"/>
                  </a:ext>
                </a:extLst>
              </p:cNvPr>
              <p:cNvSpPr txBox="1"/>
              <p:nvPr/>
            </p:nvSpPr>
            <p:spPr>
              <a:xfrm>
                <a:off x="2733773" y="2488676"/>
                <a:ext cx="7626285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Like terms are the terms that have the </a:t>
                </a:r>
                <a:r>
                  <a:rPr lang="en-US" altLang="en-US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same variables</a:t>
                </a:r>
              </a:p>
              <a:p>
                <a:endParaRPr lang="en-US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  5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 7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𝑥𝑦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 4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    6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   3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𝑦𝑥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  8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endParaRPr lang="en-AU" altLang="en-US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Group the above into ‘like terms’:</a:t>
                </a:r>
              </a:p>
              <a:p>
                <a:endParaRPr lang="en-US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alt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r>
                        <a:rPr lang="en-AU" alt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AU" alt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4</m:t>
                      </m:r>
                      <m:r>
                        <a:rPr lang="en-AU" alt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</m:oMath>
                  </m:oMathPara>
                </a14:m>
                <a:endParaRPr lang="en-AU" altLang="en-US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alt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5</m:t>
                      </m:r>
                      <m:r>
                        <a:rPr lang="en-AU" alt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lang="en-AU" alt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6</m:t>
                      </m:r>
                      <m:r>
                        <a:rPr lang="en-AU" alt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lang="en-AU" alt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8</m:t>
                      </m:r>
                      <m:r>
                        <a:rPr lang="en-AU" alt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</m:oMath>
                  </m:oMathPara>
                </a14:m>
                <a:endParaRPr lang="en-AU" altLang="en-US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altLang="en-US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7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𝑥𝑦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3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𝑦𝑥</m:t>
                    </m:r>
                  </m:oMath>
                </a14:m>
                <a:r>
                  <a:rPr lang="en-AU" altLang="en-US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AU" altLang="en-US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7</m:t>
                    </m:r>
                    <m:r>
                      <a:rPr lang="en-AU" altLang="en-US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𝑥𝑦</m:t>
                    </m:r>
                    <m:r>
                      <a:rPr lang="en-AU" altLang="en-US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3</m:t>
                    </m:r>
                    <m:r>
                      <a:rPr lang="en-AU" altLang="en-US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𝑥𝑦</m:t>
                    </m:r>
                  </m:oMath>
                </a14:m>
                <a:r>
                  <a:rPr lang="en-AU" altLang="en-US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ALWAYS IN ALPHABETICAL ORDER!</a:t>
                </a:r>
              </a:p>
              <a:p>
                <a:endParaRPr lang="en-US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723B1C-6DEC-4B38-A775-1459B6BD7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773" y="2488676"/>
                <a:ext cx="7626285" cy="3693319"/>
              </a:xfrm>
              <a:prstGeom prst="rect">
                <a:avLst/>
              </a:prstGeom>
              <a:blipFill>
                <a:blip r:embed="rId2"/>
                <a:stretch>
                  <a:fillRect l="-639" t="-8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958B2CCA-1086-404F-91D8-3E3B9B589206}"/>
              </a:ext>
            </a:extLst>
          </p:cNvPr>
          <p:cNvSpPr/>
          <p:nvPr/>
        </p:nvSpPr>
        <p:spPr>
          <a:xfrm>
            <a:off x="3115295" y="2969527"/>
            <a:ext cx="622169" cy="4996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E2FFA8F-44F8-425F-AD7A-26E101A9D603}"/>
              </a:ext>
            </a:extLst>
          </p:cNvPr>
          <p:cNvSpPr/>
          <p:nvPr/>
        </p:nvSpPr>
        <p:spPr>
          <a:xfrm>
            <a:off x="6096000" y="2969527"/>
            <a:ext cx="622169" cy="4996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70D2AB1-F061-45BB-BB2E-DC81D646FF64}"/>
              </a:ext>
            </a:extLst>
          </p:cNvPr>
          <p:cNvSpPr/>
          <p:nvPr/>
        </p:nvSpPr>
        <p:spPr>
          <a:xfrm>
            <a:off x="9197609" y="2909991"/>
            <a:ext cx="622169" cy="4996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084C68B-A23E-4E87-8D65-BBB43DFCF019}"/>
              </a:ext>
            </a:extLst>
          </p:cNvPr>
          <p:cNvSpPr/>
          <p:nvPr/>
        </p:nvSpPr>
        <p:spPr>
          <a:xfrm>
            <a:off x="8202105" y="2957041"/>
            <a:ext cx="622169" cy="4996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A16A819-83CC-4CA5-B025-672A5FEE08FD}"/>
              </a:ext>
            </a:extLst>
          </p:cNvPr>
          <p:cNvSpPr/>
          <p:nvPr/>
        </p:nvSpPr>
        <p:spPr>
          <a:xfrm>
            <a:off x="7175369" y="2971182"/>
            <a:ext cx="622169" cy="4996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0910C4B-5992-4BFD-82B4-5FD1471BFB2B}"/>
              </a:ext>
            </a:extLst>
          </p:cNvPr>
          <p:cNvSpPr/>
          <p:nvPr/>
        </p:nvSpPr>
        <p:spPr>
          <a:xfrm>
            <a:off x="5075144" y="2969527"/>
            <a:ext cx="622169" cy="4996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DE69D95-DD9A-445A-B9FA-38BD9C7B1BDF}"/>
              </a:ext>
            </a:extLst>
          </p:cNvPr>
          <p:cNvSpPr/>
          <p:nvPr/>
        </p:nvSpPr>
        <p:spPr>
          <a:xfrm>
            <a:off x="4079640" y="2957042"/>
            <a:ext cx="622169" cy="4996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3274293-10A8-4466-85B2-8FBF1B76C0B0}"/>
              </a:ext>
            </a:extLst>
          </p:cNvPr>
          <p:cNvCxnSpPr/>
          <p:nvPr/>
        </p:nvCxnSpPr>
        <p:spPr>
          <a:xfrm>
            <a:off x="3737464" y="5439266"/>
            <a:ext cx="106077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4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4" grpId="0" animBg="1"/>
      <p:bldP spid="14" grpId="1" animBg="1"/>
      <p:bldP spid="15" grpId="0" animBg="1"/>
      <p:bldP spid="15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31F0-15B2-4EA9-B65F-D192823FF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/>
          <a:p>
            <a:r>
              <a:rPr lang="en-AU" dirty="0"/>
              <a:t>Practice: </a:t>
            </a:r>
            <a:r>
              <a:rPr lang="en-AU" dirty="0" err="1"/>
              <a:t>lhs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D2E84C-0D55-4386-8B95-F1D9CB182D5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8578393" y="402308"/>
            <a:ext cx="2798010" cy="1757809"/>
          </a:xfr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634288E-EF37-463B-84EF-4578E76F22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7698595"/>
                  </p:ext>
                </p:extLst>
              </p:nvPr>
            </p:nvGraphicFramePr>
            <p:xfrm>
              <a:off x="685801" y="2443609"/>
              <a:ext cx="81280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330691866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77732446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443144986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60369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4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6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𝑦𝑥𝑧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27473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𝑦𝑥𝑧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²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8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8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𝑧𝑦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8297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9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18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𝑥𝑦𝑧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10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²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72896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634288E-EF37-463B-84EF-4578E76F22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7698595"/>
                  </p:ext>
                </p:extLst>
              </p:nvPr>
            </p:nvGraphicFramePr>
            <p:xfrm>
              <a:off x="685801" y="2443609"/>
              <a:ext cx="81280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330691866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77732446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443144986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60369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" t="-1639" r="-300000" b="-2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01" t="-1639" r="-200901" b="-2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000" t="-1639" r="-100299" b="-2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901" t="-1639" r="-601" b="-2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27473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" t="-100000" r="-300000" b="-1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01" t="-100000" r="-200901" b="-1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000" t="-100000" r="-100299" b="-1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901" t="-100000" r="-601" b="-1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8297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" t="-203279" r="-300000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01" t="-203279" r="-200901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000" t="-203279" r="-100299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901" t="-203279" r="-601" b="-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72896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2850A12-344E-4464-8B50-1174ABB184D4}"/>
              </a:ext>
            </a:extLst>
          </p:cNvPr>
          <p:cNvSpPr txBox="1"/>
          <p:nvPr/>
        </p:nvSpPr>
        <p:spPr>
          <a:xfrm>
            <a:off x="557672" y="1790785"/>
            <a:ext cx="5458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GROUP  THE FOLLOWING INTO LIKE TERMS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0CC4F7BE-D617-458E-821A-B34D8D5711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3667783"/>
                  </p:ext>
                </p:extLst>
              </p:nvPr>
            </p:nvGraphicFramePr>
            <p:xfrm>
              <a:off x="759381" y="3976553"/>
              <a:ext cx="10323300" cy="10856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20550">
                      <a:extLst>
                        <a:ext uri="{9D8B030D-6E8A-4147-A177-3AD203B41FA5}">
                          <a16:colId xmlns:a16="http://schemas.microsoft.com/office/drawing/2014/main" val="4274588088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1155024427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4187622094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517163734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3951418350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560248314"/>
                        </a:ext>
                      </a:extLst>
                    </a:gridCol>
                  </a:tblGrid>
                  <a:tr h="108564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4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9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8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𝟏𝟖</m:t>
                                </m:r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𝒂𝒃</m:t>
                                </m:r>
                              </m:oMath>
                            </m:oMathPara>
                          </a14:m>
                          <a:endParaRPr lang="en-AU" b="1" u="sng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𝟖</m:t>
                                </m:r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𝒚𝒛</m:t>
                                </m:r>
                              </m:oMath>
                            </m:oMathPara>
                          </a14:m>
                          <a:endParaRPr lang="en-AU" b="1" u="sng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</m:t>
                                </m:r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𝒙𝒚𝒛</m:t>
                                </m:r>
                              </m:oMath>
                            </m:oMathPara>
                          </a14:m>
                          <a:endParaRPr lang="en-AU" b="1" u="sng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𝒙𝒚𝒛</m:t>
                                </m:r>
                              </m:oMath>
                            </m:oMathPara>
                          </a14:m>
                          <a:endParaRPr lang="en-AU" b="1" u="sng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𝑥𝑦𝑧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²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10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²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7111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0CC4F7BE-D617-458E-821A-B34D8D5711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3667783"/>
                  </p:ext>
                </p:extLst>
              </p:nvPr>
            </p:nvGraphicFramePr>
            <p:xfrm>
              <a:off x="759381" y="3976553"/>
              <a:ext cx="10323300" cy="10856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20550">
                      <a:extLst>
                        <a:ext uri="{9D8B030D-6E8A-4147-A177-3AD203B41FA5}">
                          <a16:colId xmlns:a16="http://schemas.microsoft.com/office/drawing/2014/main" val="4274588088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1155024427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4187622094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517163734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3951418350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560248314"/>
                        </a:ext>
                      </a:extLst>
                    </a:gridCol>
                  </a:tblGrid>
                  <a:tr h="10856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3" t="-559" r="-499647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709" t="-559" r="-401418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559" r="-300000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1064" t="-559" r="-201064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99647" t="-559" r="-100353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01418" t="-559" r="-709" b="-11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671113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69088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5456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What is a ‘like term’ and how do I collect them?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832033-4EB2-43D5-8E91-BA571C47BE6A}"/>
              </a:ext>
            </a:extLst>
          </p:cNvPr>
          <p:cNvSpPr txBox="1"/>
          <p:nvPr/>
        </p:nvSpPr>
        <p:spPr>
          <a:xfrm>
            <a:off x="122548" y="2516957"/>
            <a:ext cx="2318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 add and subtract like terms?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AE1744-D473-4850-93F1-65E90EAE5D49}"/>
                  </a:ext>
                </a:extLst>
              </p:cNvPr>
              <p:cNvSpPr txBox="1"/>
              <p:nvPr/>
            </p:nvSpPr>
            <p:spPr>
              <a:xfrm>
                <a:off x="2846894" y="2516957"/>
                <a:ext cx="9275976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Like terms can be combined when they are added or subtracted to simplify the expression.</a:t>
                </a:r>
              </a:p>
              <a:p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</a:t>
                </a: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16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+  5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𝑦𝑥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 =  </m:t>
                    </m:r>
                  </m:oMath>
                </a14:m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6</m:t>
                    </m:r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5</m:t>
                    </m:r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−10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</m:oMath>
                </a14:m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10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−15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AE1744-D473-4850-93F1-65E90EAE5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6894" y="2516957"/>
                <a:ext cx="9275976" cy="2554545"/>
              </a:xfrm>
              <a:prstGeom prst="rect">
                <a:avLst/>
              </a:prstGeom>
              <a:blipFill>
                <a:blip r:embed="rId2"/>
                <a:stretch>
                  <a:fillRect l="-329" t="-71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4813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739B-3655-4018-A22A-828BC78DC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Practice: </a:t>
            </a:r>
            <a:r>
              <a:rPr lang="en-AU" dirty="0" err="1"/>
              <a:t>lhs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1B9AF-E71A-4DCA-83D2-2F2A2C892BC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8D38E9-1D3B-495F-A743-AD8D397193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438" t="19381" r="43402" b="62676"/>
          <a:stretch/>
        </p:blipFill>
        <p:spPr>
          <a:xfrm>
            <a:off x="4939645" y="582105"/>
            <a:ext cx="4703975" cy="29378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EAA8C5-953B-4312-9B1F-5D20FC596215}"/>
              </a:ext>
            </a:extLst>
          </p:cNvPr>
          <p:cNvSpPr txBox="1"/>
          <p:nvPr/>
        </p:nvSpPr>
        <p:spPr>
          <a:xfrm>
            <a:off x="9741901" y="683442"/>
            <a:ext cx="350677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2a</a:t>
            </a:r>
          </a:p>
          <a:p>
            <a:pPr>
              <a:lnSpc>
                <a:spcPct val="150000"/>
              </a:lnSpc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19c</a:t>
            </a:r>
          </a:p>
          <a:p>
            <a:pPr>
              <a:lnSpc>
                <a:spcPct val="150000"/>
              </a:lnSpc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3k</a:t>
            </a:r>
          </a:p>
          <a:p>
            <a:pPr>
              <a:lnSpc>
                <a:spcPct val="150000"/>
              </a:lnSpc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18o</a:t>
            </a:r>
          </a:p>
          <a:p>
            <a:pPr>
              <a:lnSpc>
                <a:spcPct val="150000"/>
              </a:lnSpc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-w</a:t>
            </a:r>
          </a:p>
          <a:p>
            <a:pPr>
              <a:lnSpc>
                <a:spcPct val="150000"/>
              </a:lnSpc>
            </a:pPr>
            <a:endParaRPr lang="en-AU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A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4101765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5456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What is a ‘like term’ and how do I collect them?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832033-4EB2-43D5-8E91-BA571C47BE6A}"/>
              </a:ext>
            </a:extLst>
          </p:cNvPr>
          <p:cNvSpPr txBox="1"/>
          <p:nvPr/>
        </p:nvSpPr>
        <p:spPr>
          <a:xfrm>
            <a:off x="122548" y="2516957"/>
            <a:ext cx="2318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 add and subtract like terms?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AE1744-D473-4850-93F1-65E90EAE5D49}"/>
                  </a:ext>
                </a:extLst>
              </p:cNvPr>
              <p:cNvSpPr txBox="1"/>
              <p:nvPr/>
            </p:nvSpPr>
            <p:spPr>
              <a:xfrm>
                <a:off x="2846894" y="2516957"/>
                <a:ext cx="8663234" cy="3293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Like terms can be combined when they are added or subtracted to simplify the expression.</a:t>
                </a:r>
              </a:p>
              <a:p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</a:t>
                </a: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16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+  5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 =  </m:t>
                    </m:r>
                  </m:oMath>
                </a14:m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6</m:t>
                    </m:r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5</m:t>
                    </m:r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−10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</m:oMath>
                </a14:m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10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−15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+7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−2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+3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br>
                  <a:rPr lang="en-AU" sz="16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A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AE1744-D473-4850-93F1-65E90EAE5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6894" y="2516957"/>
                <a:ext cx="8663234" cy="3293209"/>
              </a:xfrm>
              <a:prstGeom prst="rect">
                <a:avLst/>
              </a:prstGeom>
              <a:blipFill>
                <a:blip r:embed="rId2"/>
                <a:stretch>
                  <a:fillRect l="-352" t="-5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8540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509CE9E-05BD-4AFF-B418-151A665111C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83625" y="721970"/>
                <a:ext cx="10396882" cy="1151965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+7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−2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+3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</m:oMath>
                  </m:oMathPara>
                </a14:m>
                <a:b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AU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509CE9E-05BD-4AFF-B418-151A665111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3625" y="721970"/>
                <a:ext cx="10396882" cy="115196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FF81F1A9-D3EC-4389-9639-7F7560E569AA}"/>
              </a:ext>
            </a:extLst>
          </p:cNvPr>
          <p:cNvSpPr/>
          <p:nvPr/>
        </p:nvSpPr>
        <p:spPr>
          <a:xfrm>
            <a:off x="2413262" y="580106"/>
            <a:ext cx="1414021" cy="1293829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93C3BC7-0C66-4599-8AB4-DB1F040A45EB}"/>
              </a:ext>
            </a:extLst>
          </p:cNvPr>
          <p:cNvSpPr/>
          <p:nvPr/>
        </p:nvSpPr>
        <p:spPr>
          <a:xfrm>
            <a:off x="5459691" y="460169"/>
            <a:ext cx="1770668" cy="1490411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F427727-A42D-4153-97A7-A0C9F6610C68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3120273" y="1873935"/>
            <a:ext cx="857838" cy="87760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57FD753-D232-4A0F-893F-17655EC3EC3E}"/>
              </a:ext>
            </a:extLst>
          </p:cNvPr>
          <p:cNvCxnSpPr>
            <a:cxnSpLocks/>
            <a:stCxn id="5" idx="4"/>
          </p:cNvCxnSpPr>
          <p:nvPr/>
        </p:nvCxnSpPr>
        <p:spPr>
          <a:xfrm flipH="1">
            <a:off x="3978111" y="1950580"/>
            <a:ext cx="2366914" cy="80095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F31310A2-220C-43C9-B5DA-13BE39A190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4684" y="2674890"/>
                <a:ext cx="4883591" cy="1151965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 cap="all" baseline="0">
                    <a:solidFill>
                      <a:schemeClr val="accent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      </m:t>
                      </m:r>
                      <m:r>
                        <a:rPr lang="en-AU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r>
                        <a:rPr lang="en-AU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−2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F31310A2-220C-43C9-B5DA-13BE39A19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684" y="2674890"/>
                <a:ext cx="4883591" cy="11519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C76ECB9C-5D7C-4045-ABA9-35E208386C85}"/>
              </a:ext>
            </a:extLst>
          </p:cNvPr>
          <p:cNvSpPr/>
          <p:nvPr/>
        </p:nvSpPr>
        <p:spPr>
          <a:xfrm>
            <a:off x="3799787" y="506075"/>
            <a:ext cx="1770668" cy="14904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FBA488-8920-4B65-9AFE-342BB06EE8A3}"/>
              </a:ext>
            </a:extLst>
          </p:cNvPr>
          <p:cNvSpPr/>
          <p:nvPr/>
        </p:nvSpPr>
        <p:spPr>
          <a:xfrm>
            <a:off x="7231930" y="506075"/>
            <a:ext cx="1770668" cy="14904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31E500E-48D8-4A3D-B6BD-060A731CE588}"/>
              </a:ext>
            </a:extLst>
          </p:cNvPr>
          <p:cNvCxnSpPr>
            <a:cxnSpLocks/>
          </p:cNvCxnSpPr>
          <p:nvPr/>
        </p:nvCxnSpPr>
        <p:spPr>
          <a:xfrm>
            <a:off x="4631705" y="2015799"/>
            <a:ext cx="2101995" cy="78164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2347DC4-E607-4790-8971-8D42BEE1A5EC}"/>
              </a:ext>
            </a:extLst>
          </p:cNvPr>
          <p:cNvCxnSpPr>
            <a:cxnSpLocks/>
          </p:cNvCxnSpPr>
          <p:nvPr/>
        </p:nvCxnSpPr>
        <p:spPr>
          <a:xfrm flipH="1">
            <a:off x="6733700" y="1996486"/>
            <a:ext cx="1406737" cy="83169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56AF546-84C4-4A48-B95E-90BA770A8133}"/>
              </a:ext>
            </a:extLst>
          </p:cNvPr>
          <p:cNvSpPr/>
          <p:nvPr/>
        </p:nvSpPr>
        <p:spPr>
          <a:xfrm>
            <a:off x="2413262" y="2751535"/>
            <a:ext cx="2748306" cy="981479"/>
          </a:xfrm>
          <a:prstGeom prst="rect">
            <a:avLst/>
          </a:prstGeom>
          <a:noFill/>
          <a:ln w="571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itle 1">
                <a:extLst>
                  <a:ext uri="{FF2B5EF4-FFF2-40B4-BE49-F238E27FC236}">
                    <a16:creationId xmlns:a16="http://schemas.microsoft.com/office/drawing/2014/main" id="{B670AF65-DD0D-4666-8ABD-558ADFD4DF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8913" y="3949299"/>
                <a:ext cx="4582718" cy="1151965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 anchor="ctr">
                <a:normAutofit fontScale="250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 cap="all" baseline="0">
                    <a:solidFill>
                      <a:schemeClr val="accent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                      </m:t>
                      </m:r>
                    </m:oMath>
                  </m:oMathPara>
                </a14:m>
                <a:endParaRPr lang="en-AU" b="0" i="1" dirty="0">
                  <a:solidFill>
                    <a:srgbClr val="0070C0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r>
                  <a:rPr lang="en-AU" b="0" dirty="0">
                    <a:solidFill>
                      <a:srgbClr val="0070C0"/>
                    </a:solidFill>
                    <a:cs typeface="Arial" panose="020B0604020202020204" pitchFamily="34" charset="0"/>
                  </a:rPr>
                  <a:t>                                                          </a:t>
                </a:r>
                <a14:m>
                  <m:oMath xmlns:m="http://schemas.openxmlformats.org/officeDocument/2006/math">
                    <m:r>
                      <a:rPr lang="en-AU" sz="216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</m:t>
                    </m:r>
                    <m:r>
                      <a:rPr lang="en-AU" sz="2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  </m:t>
                    </m:r>
                    <m:r>
                      <a:rPr lang="en-AU" sz="2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AU" sz="135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br>
                  <a:rPr lang="en-AU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AU" dirty="0"/>
              </a:p>
            </p:txBody>
          </p:sp>
        </mc:Choice>
        <mc:Fallback xmlns="">
          <p:sp>
            <p:nvSpPr>
              <p:cNvPr id="25" name="Title 1">
                <a:extLst>
                  <a:ext uri="{FF2B5EF4-FFF2-40B4-BE49-F238E27FC236}">
                    <a16:creationId xmlns:a16="http://schemas.microsoft.com/office/drawing/2014/main" id="{B670AF65-DD0D-4666-8ABD-558ADFD4D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13" y="3949299"/>
                <a:ext cx="4582718" cy="11519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2CE74E37-64BD-4C0F-AD7E-CC9F8346C3CD}"/>
              </a:ext>
            </a:extLst>
          </p:cNvPr>
          <p:cNvSpPr/>
          <p:nvPr/>
        </p:nvSpPr>
        <p:spPr>
          <a:xfrm>
            <a:off x="5339656" y="2714226"/>
            <a:ext cx="3386128" cy="981479"/>
          </a:xfrm>
          <a:prstGeom prst="rect">
            <a:avLst/>
          </a:prstGeom>
          <a:noFill/>
          <a:ln w="571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le 1">
                <a:extLst>
                  <a:ext uri="{FF2B5EF4-FFF2-40B4-BE49-F238E27FC236}">
                    <a16:creationId xmlns:a16="http://schemas.microsoft.com/office/drawing/2014/main" id="{F779E96C-8238-4F5A-A782-C5F7BCF86A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48275" y="2721801"/>
                <a:ext cx="4883591" cy="1151965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 cap="all" baseline="0">
                    <a:solidFill>
                      <a:schemeClr val="accent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AU" dirty="0">
                    <a:solidFill>
                      <a:srgbClr val="0070C0"/>
                    </a:solidFill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AU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7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+3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8" name="Title 1">
                <a:extLst>
                  <a:ext uri="{FF2B5EF4-FFF2-40B4-BE49-F238E27FC236}">
                    <a16:creationId xmlns:a16="http://schemas.microsoft.com/office/drawing/2014/main" id="{F779E96C-8238-4F5A-A782-C5F7BCF86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8275" y="2721801"/>
                <a:ext cx="4883591" cy="11519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itle 1">
                <a:extLst>
                  <a:ext uri="{FF2B5EF4-FFF2-40B4-BE49-F238E27FC236}">
                    <a16:creationId xmlns:a16="http://schemas.microsoft.com/office/drawing/2014/main" id="{7808B9A0-BA5F-4841-8BC8-2D514807932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59666" y="4051827"/>
                <a:ext cx="4582718" cy="1151965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 anchor="ctr">
                <a:normAutofit fontScale="325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 cap="all" baseline="0">
                    <a:solidFill>
                      <a:schemeClr val="accent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                      </m:t>
                      </m:r>
                    </m:oMath>
                  </m:oMathPara>
                </a14:m>
                <a:endParaRPr lang="en-AU" b="0" i="1" dirty="0">
                  <a:solidFill>
                    <a:srgbClr val="0070C0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r>
                  <a:rPr lang="en-AU" b="0" dirty="0">
                    <a:solidFill>
                      <a:srgbClr val="0070C0"/>
                    </a:solidFill>
                    <a:cs typeface="Arial" panose="020B0604020202020204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AU" sz="166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+ 10</m:t>
                    </m:r>
                    <m:r>
                      <a:rPr lang="en-AU" sz="16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br>
                  <a:rPr lang="en-AU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AU" dirty="0"/>
              </a:p>
            </p:txBody>
          </p:sp>
        </mc:Choice>
        <mc:Fallback xmlns="">
          <p:sp>
            <p:nvSpPr>
              <p:cNvPr id="29" name="Title 1">
                <a:extLst>
                  <a:ext uri="{FF2B5EF4-FFF2-40B4-BE49-F238E27FC236}">
                    <a16:creationId xmlns:a16="http://schemas.microsoft.com/office/drawing/2014/main" id="{7808B9A0-BA5F-4841-8BC8-2D5148079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9666" y="4051827"/>
                <a:ext cx="4582718" cy="11519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1021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4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95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96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9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0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1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02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4" dur="5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5" dur="5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6" dur="5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07" dur="5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17" grpId="0" animBg="1"/>
      <p:bldP spid="17" grpId="1" animBg="1"/>
      <p:bldP spid="18" grpId="0" animBg="1"/>
      <p:bldP spid="18" grpId="1" animBg="1"/>
      <p:bldP spid="23" grpId="0" animBg="1"/>
      <p:bldP spid="23" grpId="1" animBg="1"/>
      <p:bldP spid="25" grpId="0" uiExpand="1" build="allAtOnce"/>
      <p:bldP spid="26" grpId="0" animBg="1"/>
      <p:bldP spid="26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739B-3655-4018-A22A-828BC78DC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Practice: </a:t>
            </a:r>
            <a:r>
              <a:rPr lang="en-AU" dirty="0" err="1"/>
              <a:t>lhs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1B9AF-E71A-4DCA-83D2-2F2A2C892BC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CBD52E-3415-4884-846E-4F307DE546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016" t="37706" r="56452" b="46336"/>
          <a:stretch/>
        </p:blipFill>
        <p:spPr>
          <a:xfrm>
            <a:off x="3667431" y="1591958"/>
            <a:ext cx="5827246" cy="24294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EAA8C5-953B-4312-9B1F-5D20FC596215}"/>
                  </a:ext>
                </a:extLst>
              </p:cNvPr>
              <p:cNvSpPr txBox="1"/>
              <p:nvPr/>
            </p:nvSpPr>
            <p:spPr>
              <a:xfrm>
                <a:off x="9494677" y="1837765"/>
                <a:ext cx="3506771" cy="263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AU" sz="22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𝟏𝟑</m:t>
                    </m:r>
                    <m:r>
                      <a:rPr lang="en-AU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n-AU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n-AU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</m:oMath>
                </a14:m>
                <a:endParaRPr lang="en-AU" sz="2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𝒃</m:t>
                      </m:r>
                      <m:r>
                        <a:rPr lang="en-AU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+ </m:t>
                      </m:r>
                      <m:r>
                        <a:rPr lang="en-AU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  <m:r>
                        <a:rPr lang="en-AU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𝒈</m:t>
                      </m:r>
                    </m:oMath>
                  </m:oMathPara>
                </a14:m>
                <a:endParaRPr lang="en-AU" sz="2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𝒕</m:t>
                      </m:r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𝟏𝟎</m:t>
                      </m:r>
                    </m:oMath>
                  </m:oMathPara>
                </a14:m>
                <a:endParaRPr lang="en-AU" sz="2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𝟖</m:t>
                      </m:r>
                      <m:sSup>
                        <m:sSupPr>
                          <m:ctrlPr>
                            <a:rPr lang="en-AU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AU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𝒃</m:t>
                          </m:r>
                        </m:e>
                        <m:sup>
                          <m:r>
                            <a:rPr lang="en-AU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𝟏𝟏</m:t>
                      </m:r>
                    </m:oMath>
                  </m:oMathPara>
                </a14:m>
                <a:endParaRPr lang="en-AU" sz="2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AU" sz="22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		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EAA8C5-953B-4312-9B1F-5D20FC596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4677" y="1837765"/>
                <a:ext cx="3506771" cy="26314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7857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6927" y="287685"/>
            <a:ext cx="7272473" cy="585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20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Answers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6838" y="1727472"/>
            <a:ext cx="9443702" cy="379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6201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99</TotalTime>
  <Words>463</Words>
  <Application>Microsoft Macintosh PowerPoint</Application>
  <PresentationFormat>Widescreen</PresentationFormat>
  <Paragraphs>154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Impact</vt:lpstr>
      <vt:lpstr>Main Event</vt:lpstr>
      <vt:lpstr>Algebra  Interactive Notebook </vt:lpstr>
      <vt:lpstr>What will I learn?</vt:lpstr>
      <vt:lpstr>PowerPoint Presentation</vt:lpstr>
      <vt:lpstr>PowerPoint Presentation</vt:lpstr>
      <vt:lpstr>Simplifying Expressions  </vt:lpstr>
      <vt:lpstr>Simplifying Expressions  </vt:lpstr>
      <vt:lpstr>Simplifying Expressions  </vt:lpstr>
      <vt:lpstr>Practice: lhs</vt:lpstr>
      <vt:lpstr>Simplifying Expressions  </vt:lpstr>
      <vt:lpstr>Practice: lhs</vt:lpstr>
      <vt:lpstr>Simplifying Expressions  </vt:lpstr>
      <vt:lpstr>3x+7y -2x +3y </vt:lpstr>
      <vt:lpstr>Practice: lhs</vt:lpstr>
      <vt:lpstr>Task</vt:lpstr>
      <vt:lpstr>Answers</vt:lpstr>
    </vt:vector>
  </TitlesOfParts>
  <LinksUpToDate>false</LinksUpToDate>
  <SharedDoc>false</SharedDoc>
  <HyperlinksChanged>false</HyperlinksChanged>
  <AppVersion>16.0013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 Interactive Notebook </dc:title>
  <dc:creator>D'SOUZA Jillian [Baldivis Secondary College]</dc:creator>
  <cp:lastModifiedBy>EVANS Clem [Baldivis Secondary College]</cp:lastModifiedBy>
  <cp:revision>27</cp:revision>
  <dcterms:created xsi:type="dcterms:W3CDTF">2018-03-11T07:42:05Z</dcterms:created>
  <dcterms:modified xsi:type="dcterms:W3CDTF">2018-06-08T01:11:27Z</dcterms:modified>
</cp:coreProperties>
</file>
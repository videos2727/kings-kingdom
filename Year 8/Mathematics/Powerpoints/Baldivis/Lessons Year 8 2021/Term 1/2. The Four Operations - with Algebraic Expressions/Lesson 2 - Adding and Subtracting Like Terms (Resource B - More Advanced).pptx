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63" r:id="rId3"/>
    <p:sldId id="264" r:id="rId4"/>
    <p:sldId id="272" r:id="rId5"/>
    <p:sldId id="329" r:id="rId6"/>
    <p:sldId id="331" r:id="rId7"/>
    <p:sldId id="327" r:id="rId8"/>
    <p:sldId id="320" r:id="rId9"/>
    <p:sldId id="266" r:id="rId10"/>
    <p:sldId id="326" r:id="rId11"/>
    <p:sldId id="333" r:id="rId12"/>
    <p:sldId id="269" r:id="rId13"/>
    <p:sldId id="334" r:id="rId14"/>
    <p:sldId id="271" r:id="rId15"/>
    <p:sldId id="332" r:id="rId16"/>
    <p:sldId id="32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>
        <p:scale>
          <a:sx n="83" d="100"/>
          <a:sy n="83" d="100"/>
        </p:scale>
        <p:origin x="63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A024-B204-46E6-B739-2B44EE5C3A49}" type="datetimeFigureOut">
              <a:rPr lang="en-GB" smtClean="0"/>
              <a:t>10/06/2019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39247-3359-400B-9B33-7574D81F7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14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5284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25438" y="665163"/>
            <a:ext cx="5911850" cy="33258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8815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560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25438" y="665163"/>
            <a:ext cx="5911850" cy="33258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8815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6033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25438" y="665163"/>
            <a:ext cx="5911850" cy="33258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2521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93429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71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6/10/2019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undeniableme.wordpress.com/2010/06/09/these-are-the-days-of-our-lives/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-nd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1AD4-8D81-4EEB-995D-4F5389278F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4000" dirty="0"/>
              <a:t>Topic: Algebra: Simplifying expressions</a:t>
            </a:r>
            <a:br>
              <a:rPr lang="en-AU" sz="4000" dirty="0"/>
            </a:br>
            <a:r>
              <a:rPr lang="en-AU" sz="4000" dirty="0"/>
              <a:t>EQ: What is a Liked Term and How do I collect them? 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C3B88-1766-4CF1-8B6C-D9F0A67A00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8 Mathematics</a:t>
            </a:r>
          </a:p>
          <a:p>
            <a:r>
              <a:rPr lang="en-AU" dirty="0"/>
              <a:t>Mrs Parlevliet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9279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66994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89719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2105" y="325976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9962" y="105927"/>
            <a:ext cx="283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49" y="1196753"/>
            <a:ext cx="1180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1367" y="1906544"/>
                <a:ext cx="9720073" cy="4023360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Write the summary to yesterday’s lesson.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What are the terms in </a:t>
                </a:r>
                <a:r>
                  <a:rPr lang="en-AU"/>
                  <a:t>this expression</a:t>
                </a:r>
                <a:r>
                  <a:rPr lang="en-AU" dirty="0"/>
                  <a:t>?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+15</m:t>
                    </m:r>
                  </m:oMath>
                </a14:m>
                <a:endParaRPr lang="en-AU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What is the perimeter of a semi-circle with a radius of 4cm?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If Mrs Parlevliet has 3 oranges and is given another 2 oranges and 4 apples, how many oranges and apples does she have?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1367" y="1906544"/>
                <a:ext cx="9720073" cy="4023360"/>
              </a:xfrm>
              <a:blipFill>
                <a:blip r:embed="rId2"/>
                <a:stretch>
                  <a:fillRect l="-1129" t="-1818" r="-13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751403" y="627947"/>
            <a:ext cx="2258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Topic: Algebra</a:t>
            </a:r>
            <a:endParaRPr lang="en-AU" sz="28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51403" y="1073249"/>
            <a:ext cx="5641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EQ – </a:t>
            </a:r>
            <a:r>
              <a:rPr lang="en-US" sz="2400" dirty="0">
                <a:solidFill>
                  <a:schemeClr val="tx2"/>
                </a:solidFill>
              </a:rPr>
              <a:t>What are like terms and how do I collect them?</a:t>
            </a:r>
            <a:endParaRPr lang="en-AU" sz="24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__/6/2019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1D6E2D-77F3-4F92-A6C9-579C57BB2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54" y="4090578"/>
            <a:ext cx="9615734" cy="185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__/6/2019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833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Algebra: Simplifying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are like terms and how do I collect them?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7AE5B-79E1-49C9-A9BD-685CC10BDFCF}"/>
              </a:ext>
            </a:extLst>
          </p:cNvPr>
          <p:cNvSpPr txBox="1"/>
          <p:nvPr/>
        </p:nvSpPr>
        <p:spPr>
          <a:xfrm>
            <a:off x="5527695" y="147484"/>
            <a:ext cx="2699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55822-A19D-4459-A956-11BFF22E7154}"/>
              </a:ext>
            </a:extLst>
          </p:cNvPr>
          <p:cNvSpPr txBox="1"/>
          <p:nvPr/>
        </p:nvSpPr>
        <p:spPr>
          <a:xfrm>
            <a:off x="178608" y="1392827"/>
            <a:ext cx="2102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a like term?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B0669F-7CE4-477E-9A11-6997D21B843E}"/>
                  </a:ext>
                </a:extLst>
              </p:cNvPr>
              <p:cNvSpPr txBox="1"/>
              <p:nvPr/>
            </p:nvSpPr>
            <p:spPr>
              <a:xfrm>
                <a:off x="2535309" y="1392828"/>
                <a:ext cx="9570419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Like terms are the terms that have the </a:t>
                </a:r>
                <a:r>
                  <a:rPr lang="en-US" altLang="en-US" sz="24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same variables</a:t>
                </a:r>
              </a:p>
              <a:p>
                <a:endParaRPr lang="en-US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5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7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4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  6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 3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𝑦𝑥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8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altLang="en-US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Group the above into ‘like terms’:</a:t>
                </a:r>
              </a:p>
              <a:p>
                <a:endParaRPr lang="en-US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alt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alt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alt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4</m:t>
                      </m:r>
                      <m:r>
                        <a:rPr lang="en-AU" alt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altLang="en-US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alt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5</m:t>
                      </m:r>
                      <m:r>
                        <a:rPr lang="en-AU" alt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alt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6</m:t>
                      </m:r>
                      <m:r>
                        <a:rPr lang="en-AU" alt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alt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8</m:t>
                      </m:r>
                      <m:r>
                        <a:rPr lang="en-AU" alt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endParaRPr lang="en-AU" altLang="en-US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altLang="en-US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3</m:t>
                    </m:r>
                    <m:r>
                      <a:rPr lang="en-AU" alt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𝑦𝑥</m:t>
                    </m:r>
                  </m:oMath>
                </a14:m>
                <a:r>
                  <a:rPr lang="en-AU" altLang="en-US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AU" alt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alt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  <m:r>
                      <a:rPr lang="en-AU" alt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3</m:t>
                    </m:r>
                    <m:r>
                      <a:rPr lang="en-AU" alt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𝑥𝑦</m:t>
                    </m:r>
                  </m:oMath>
                </a14:m>
                <a:r>
                  <a:rPr lang="en-AU" altLang="en-US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</a:p>
              <a:p>
                <a:endParaRPr lang="en-AU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altLang="en-US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You can rearrange pronumerals into alphabetical order to group like terms.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B0669F-7CE4-477E-9A11-6997D21B8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309" y="1392828"/>
                <a:ext cx="9570419" cy="5262979"/>
              </a:xfrm>
              <a:prstGeom prst="rect">
                <a:avLst/>
              </a:prstGeom>
              <a:blipFill>
                <a:blip r:embed="rId3"/>
                <a:stretch>
                  <a:fillRect l="-1019" t="-810" b="-17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EA214BA4-0171-44F0-8519-4ACFBE6CCF0F}"/>
              </a:ext>
            </a:extLst>
          </p:cNvPr>
          <p:cNvSpPr/>
          <p:nvPr/>
        </p:nvSpPr>
        <p:spPr>
          <a:xfrm>
            <a:off x="2897158" y="2104614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F1714F6-CACB-4A5E-86CE-C120A5CAEF00}"/>
              </a:ext>
            </a:extLst>
          </p:cNvPr>
          <p:cNvSpPr/>
          <p:nvPr/>
        </p:nvSpPr>
        <p:spPr>
          <a:xfrm>
            <a:off x="6799348" y="2123488"/>
            <a:ext cx="622169" cy="4927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10E76A-A26D-4B1D-9A2D-54BFBAED1213}"/>
              </a:ext>
            </a:extLst>
          </p:cNvPr>
          <p:cNvSpPr/>
          <p:nvPr/>
        </p:nvSpPr>
        <p:spPr>
          <a:xfrm>
            <a:off x="10953651" y="2104614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985973-959A-4705-8BA3-94FD349CE2C3}"/>
              </a:ext>
            </a:extLst>
          </p:cNvPr>
          <p:cNvSpPr/>
          <p:nvPr/>
        </p:nvSpPr>
        <p:spPr>
          <a:xfrm>
            <a:off x="9648258" y="2123488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6E02FB4-FB03-4484-86EF-F31409BD9B67}"/>
              </a:ext>
            </a:extLst>
          </p:cNvPr>
          <p:cNvSpPr/>
          <p:nvPr/>
        </p:nvSpPr>
        <p:spPr>
          <a:xfrm>
            <a:off x="8180837" y="2104614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5187703-B547-4178-A441-55FDF34EDC84}"/>
              </a:ext>
            </a:extLst>
          </p:cNvPr>
          <p:cNvSpPr/>
          <p:nvPr/>
        </p:nvSpPr>
        <p:spPr>
          <a:xfrm>
            <a:off x="5473831" y="2111002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21D71F-F244-4F45-9054-0352F8E1DD13}"/>
              </a:ext>
            </a:extLst>
          </p:cNvPr>
          <p:cNvSpPr/>
          <p:nvPr/>
        </p:nvSpPr>
        <p:spPr>
          <a:xfrm>
            <a:off x="4196441" y="2111002"/>
            <a:ext cx="622169" cy="49962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DD49B87-E36D-4318-80DE-2F8C331CA369}"/>
              </a:ext>
            </a:extLst>
          </p:cNvPr>
          <p:cNvCxnSpPr/>
          <p:nvPr/>
        </p:nvCxnSpPr>
        <p:spPr>
          <a:xfrm>
            <a:off x="4079588" y="5321078"/>
            <a:ext cx="106077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75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31F0-15B2-4EA9-B65F-D192823F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D2E84C-0D55-4386-8B95-F1D9CB182D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578393" y="402308"/>
            <a:ext cx="2798010" cy="1757809"/>
          </a:xfr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𝑦𝑥𝑧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𝑧𝑦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6634288E-EF37-463B-84EF-4578E76F22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698595"/>
                  </p:ext>
                </p:extLst>
              </p:nvPr>
            </p:nvGraphicFramePr>
            <p:xfrm>
              <a:off x="685801" y="2443609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33069186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7732446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4314498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60369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639" r="-300000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639" r="-200901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639" r="-100299" b="-2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639" r="-601"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2747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100000" r="-300000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100000" r="-200901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100000" r="-100299" b="-111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100000" r="-601" b="-1112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829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9" t="-203279" r="-300000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01" t="-203279" r="-20090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-203279" r="-100299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901" t="-203279" r="-601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2896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2850A12-344E-4464-8B50-1174ABB184D4}"/>
              </a:ext>
            </a:extLst>
          </p:cNvPr>
          <p:cNvSpPr txBox="1"/>
          <p:nvPr/>
        </p:nvSpPr>
        <p:spPr>
          <a:xfrm>
            <a:off x="557672" y="1790785"/>
            <a:ext cx="5458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GROUP  THE FOLLOWING INTO LIKE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𝒂𝒃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  <m:r>
                                  <a:rPr lang="en-AU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𝒙𝒚𝒛</m:t>
                                </m:r>
                              </m:oMath>
                            </m:oMathPara>
                          </a14:m>
                          <a:endParaRPr lang="en-AU" b="1" u="sng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10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  <m:r>
                                  <a:rPr lang="en-AU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²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endParaRPr lang="en-AU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CC4F7BE-D617-458E-821A-B34D8D5711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3667783"/>
                  </p:ext>
                </p:extLst>
              </p:nvPr>
            </p:nvGraphicFramePr>
            <p:xfrm>
              <a:off x="759381" y="3976553"/>
              <a:ext cx="10323300" cy="1085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0550">
                      <a:extLst>
                        <a:ext uri="{9D8B030D-6E8A-4147-A177-3AD203B41FA5}">
                          <a16:colId xmlns:a16="http://schemas.microsoft.com/office/drawing/2014/main" val="4274588088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1155024427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418762209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17163734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3951418350"/>
                        </a:ext>
                      </a:extLst>
                    </a:gridCol>
                    <a:gridCol w="1720550">
                      <a:extLst>
                        <a:ext uri="{9D8B030D-6E8A-4147-A177-3AD203B41FA5}">
                          <a16:colId xmlns:a16="http://schemas.microsoft.com/office/drawing/2014/main" val="560248314"/>
                        </a:ext>
                      </a:extLst>
                    </a:gridCol>
                  </a:tblGrid>
                  <a:tr h="10856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" t="-559" r="-499647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09" t="-559" r="-401418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559" r="-300000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064" t="-559" r="-201064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647" t="-559" r="-100353" b="-1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418" t="-559" r="-709" b="-1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7111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908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444" y="804333"/>
            <a:ext cx="4055108" cy="52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7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__/6/2019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833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Algebra: Simplifying Expressions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are like terms and how do I collect them?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7AE5B-79E1-49C9-A9BD-685CC10BDFCF}"/>
              </a:ext>
            </a:extLst>
          </p:cNvPr>
          <p:cNvSpPr txBox="1"/>
          <p:nvPr/>
        </p:nvSpPr>
        <p:spPr>
          <a:xfrm>
            <a:off x="5527695" y="147484"/>
            <a:ext cx="2699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0E9A11-8FF0-4318-8DE3-F0ADB9EEF403}"/>
              </a:ext>
            </a:extLst>
          </p:cNvPr>
          <p:cNvSpPr txBox="1"/>
          <p:nvPr/>
        </p:nvSpPr>
        <p:spPr>
          <a:xfrm>
            <a:off x="63465" y="1286515"/>
            <a:ext cx="2318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 add and subtract like terms?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A12EED-2F86-4F7E-94C1-C37D2FE20F16}"/>
                  </a:ext>
                </a:extLst>
              </p:cNvPr>
              <p:cNvSpPr txBox="1"/>
              <p:nvPr/>
            </p:nvSpPr>
            <p:spPr>
              <a:xfrm>
                <a:off x="2484584" y="1303330"/>
                <a:ext cx="9275976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Like terms can be combined when they are added or subtracted to simplify the expression.</a:t>
                </a:r>
              </a:p>
              <a:p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  5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𝑦𝑥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=  </m:t>
                    </m:r>
                  </m:oMath>
                </a14:m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5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−10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</m:oMath>
                </a14:m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−15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A12EED-2F86-4F7E-94C1-C37D2FE20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584" y="1303330"/>
                <a:ext cx="9275976" cy="4893647"/>
              </a:xfrm>
              <a:prstGeom prst="rect">
                <a:avLst/>
              </a:prstGeom>
              <a:blipFill>
                <a:blip r:embed="rId3"/>
                <a:stretch>
                  <a:fillRect l="-1052" t="-9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78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42B0DB-AE48-45BA-A45F-5819F664562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19195" y="2084832"/>
            <a:ext cx="3762099" cy="36546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EAA8C5-953B-4312-9B1F-5D20FC596215}"/>
              </a:ext>
            </a:extLst>
          </p:cNvPr>
          <p:cNvSpPr txBox="1"/>
          <p:nvPr/>
        </p:nvSpPr>
        <p:spPr>
          <a:xfrm>
            <a:off x="7640979" y="2028045"/>
            <a:ext cx="3583034" cy="405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9c</a:t>
            </a:r>
          </a:p>
          <a:p>
            <a:pPr>
              <a:lnSpc>
                <a:spcPct val="150000"/>
              </a:lnSpc>
            </a:pPr>
            <a:r>
              <a:rPr lang="en-AU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-5z</a:t>
            </a:r>
          </a:p>
          <a:p>
            <a:pPr>
              <a:lnSpc>
                <a:spcPct val="150000"/>
              </a:lnSpc>
            </a:pPr>
            <a:r>
              <a:rPr lang="en-AU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12d</a:t>
            </a:r>
          </a:p>
          <a:p>
            <a:pPr>
              <a:lnSpc>
                <a:spcPct val="150000"/>
              </a:lnSpc>
            </a:pPr>
            <a:r>
              <a:rPr lang="en-AU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-x</a:t>
            </a:r>
          </a:p>
          <a:p>
            <a:pPr>
              <a:lnSpc>
                <a:spcPct val="150000"/>
              </a:lnSpc>
            </a:pPr>
            <a:r>
              <a:rPr lang="en-AU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10a</a:t>
            </a:r>
          </a:p>
          <a:p>
            <a:pPr>
              <a:lnSpc>
                <a:spcPct val="150000"/>
              </a:lnSpc>
            </a:pPr>
            <a:r>
              <a:rPr lang="en-AU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4a</a:t>
            </a:r>
          </a:p>
          <a:p>
            <a:pPr>
              <a:lnSpc>
                <a:spcPct val="150000"/>
              </a:lnSpc>
            </a:pPr>
            <a:r>
              <a:rPr lang="en-AU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</a:p>
          <a:p>
            <a:pPr>
              <a:lnSpc>
                <a:spcPct val="150000"/>
              </a:lnSpc>
            </a:pPr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410176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444" y="804333"/>
            <a:ext cx="4055108" cy="52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5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__/6/2019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Algebra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are like terms and how do I collect them?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7AE5B-79E1-49C9-A9BD-685CC10BDFCF}"/>
              </a:ext>
            </a:extLst>
          </p:cNvPr>
          <p:cNvSpPr txBox="1"/>
          <p:nvPr/>
        </p:nvSpPr>
        <p:spPr>
          <a:xfrm>
            <a:off x="5527695" y="147484"/>
            <a:ext cx="2699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301EF-7475-4099-9370-25C2F70D20F3}"/>
              </a:ext>
            </a:extLst>
          </p:cNvPr>
          <p:cNvSpPr txBox="1"/>
          <p:nvPr/>
        </p:nvSpPr>
        <p:spPr>
          <a:xfrm>
            <a:off x="63465" y="1286515"/>
            <a:ext cx="23189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 add and subtract like terms when there are different terms?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itle 1">
                <a:extLst>
                  <a:ext uri="{FF2B5EF4-FFF2-40B4-BE49-F238E27FC236}">
                    <a16:creationId xmlns:a16="http://schemas.microsoft.com/office/drawing/2014/main" id="{3E22FE10-B969-426E-8F00-D5E601EFD7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7037" y="1804657"/>
                <a:ext cx="10396882" cy="1151965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5000" kern="1200" cap="all" spc="1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+7</m:t>
                      </m:r>
                      <m:r>
                        <a:rPr lang="en-AU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−2</m:t>
                      </m:r>
                      <m:r>
                        <a:rPr lang="en-AU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+3</m:t>
                      </m:r>
                      <m:r>
                        <a:rPr lang="en-AU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b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>
          <p:sp>
            <p:nvSpPr>
              <p:cNvPr id="44" name="Title 1">
                <a:extLst>
                  <a:ext uri="{FF2B5EF4-FFF2-40B4-BE49-F238E27FC236}">
                    <a16:creationId xmlns:a16="http://schemas.microsoft.com/office/drawing/2014/main" id="{3E22FE10-B969-426E-8F00-D5E601EFD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037" y="1804657"/>
                <a:ext cx="10396882" cy="11519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44">
            <a:extLst>
              <a:ext uri="{FF2B5EF4-FFF2-40B4-BE49-F238E27FC236}">
                <a16:creationId xmlns:a16="http://schemas.microsoft.com/office/drawing/2014/main" id="{76C2D7E6-3C82-45C9-ADCD-9E08FD0311C6}"/>
              </a:ext>
            </a:extLst>
          </p:cNvPr>
          <p:cNvSpPr/>
          <p:nvPr/>
        </p:nvSpPr>
        <p:spPr>
          <a:xfrm>
            <a:off x="3396674" y="1662793"/>
            <a:ext cx="1414021" cy="1293829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0CB2161-E171-413C-8B24-4C863C87A8EB}"/>
              </a:ext>
            </a:extLst>
          </p:cNvPr>
          <p:cNvSpPr/>
          <p:nvPr/>
        </p:nvSpPr>
        <p:spPr>
          <a:xfrm>
            <a:off x="6443103" y="1542856"/>
            <a:ext cx="1770668" cy="1490411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64202FA-8A71-4628-BE06-4A5FDBEDF673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103685" y="2956622"/>
            <a:ext cx="857838" cy="8776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64ADEDF-FF16-4B47-BB64-F3A45D51EF3D}"/>
              </a:ext>
            </a:extLst>
          </p:cNvPr>
          <p:cNvCxnSpPr>
            <a:cxnSpLocks/>
            <a:stCxn id="46" idx="4"/>
          </p:cNvCxnSpPr>
          <p:nvPr/>
        </p:nvCxnSpPr>
        <p:spPr>
          <a:xfrm flipH="1">
            <a:off x="4961523" y="3033267"/>
            <a:ext cx="2366914" cy="8009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itle 1">
                <a:extLst>
                  <a:ext uri="{FF2B5EF4-FFF2-40B4-BE49-F238E27FC236}">
                    <a16:creationId xmlns:a16="http://schemas.microsoft.com/office/drawing/2014/main" id="{550F08C0-C919-426B-9FBE-D2748B71C1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8096" y="3757577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−2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9" name="Title 1">
                <a:extLst>
                  <a:ext uri="{FF2B5EF4-FFF2-40B4-BE49-F238E27FC236}">
                    <a16:creationId xmlns:a16="http://schemas.microsoft.com/office/drawing/2014/main" id="{550F08C0-C919-426B-9FBE-D2748B71C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96" y="3757577"/>
                <a:ext cx="4883591" cy="11519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EFF92C45-8D21-49F0-AF55-E87CBDDAF769}"/>
              </a:ext>
            </a:extLst>
          </p:cNvPr>
          <p:cNvSpPr/>
          <p:nvPr/>
        </p:nvSpPr>
        <p:spPr>
          <a:xfrm>
            <a:off x="4783199" y="1588762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A18D17A-D020-4D23-8510-0298A1230B84}"/>
              </a:ext>
            </a:extLst>
          </p:cNvPr>
          <p:cNvSpPr/>
          <p:nvPr/>
        </p:nvSpPr>
        <p:spPr>
          <a:xfrm>
            <a:off x="8215342" y="1588762"/>
            <a:ext cx="1770668" cy="14904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32A1AB-4369-47F3-8F92-7D0D1C8AB764}"/>
              </a:ext>
            </a:extLst>
          </p:cNvPr>
          <p:cNvCxnSpPr>
            <a:cxnSpLocks/>
          </p:cNvCxnSpPr>
          <p:nvPr/>
        </p:nvCxnSpPr>
        <p:spPr>
          <a:xfrm>
            <a:off x="5615117" y="3098486"/>
            <a:ext cx="2101995" cy="7816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D369D96-EEE3-4468-B1AA-C27DBB3AA73A}"/>
              </a:ext>
            </a:extLst>
          </p:cNvPr>
          <p:cNvCxnSpPr>
            <a:cxnSpLocks/>
          </p:cNvCxnSpPr>
          <p:nvPr/>
        </p:nvCxnSpPr>
        <p:spPr>
          <a:xfrm flipH="1">
            <a:off x="7717112" y="3079173"/>
            <a:ext cx="1406737" cy="8316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2BAD486F-7BD8-40B6-AC98-9E967D2F155A}"/>
              </a:ext>
            </a:extLst>
          </p:cNvPr>
          <p:cNvSpPr/>
          <p:nvPr/>
        </p:nvSpPr>
        <p:spPr>
          <a:xfrm>
            <a:off x="3396674" y="3834222"/>
            <a:ext cx="2748306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itle 1">
                <a:extLst>
                  <a:ext uri="{FF2B5EF4-FFF2-40B4-BE49-F238E27FC236}">
                    <a16:creationId xmlns:a16="http://schemas.microsoft.com/office/drawing/2014/main" id="{B42F9A59-EFA5-449E-A121-ACA7DAB5FA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12325" y="5031986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2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                                                       </a:t>
                </a:r>
                <a14:m>
                  <m:oMath xmlns:m="http://schemas.openxmlformats.org/officeDocument/2006/math">
                    <m:r>
                      <a:rPr lang="en-AU" sz="2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          </m:t>
                    </m:r>
                    <m:r>
                      <a:rPr lang="en-AU" sz="2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AU" sz="135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>
          <p:sp>
            <p:nvSpPr>
              <p:cNvPr id="55" name="Title 1">
                <a:extLst>
                  <a:ext uri="{FF2B5EF4-FFF2-40B4-BE49-F238E27FC236}">
                    <a16:creationId xmlns:a16="http://schemas.microsoft.com/office/drawing/2014/main" id="{B42F9A59-EFA5-449E-A121-ACA7DAB5F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325" y="5031986"/>
                <a:ext cx="4582718" cy="11519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51EF6600-4E40-4B18-B69E-C378F9301BC3}"/>
              </a:ext>
            </a:extLst>
          </p:cNvPr>
          <p:cNvSpPr/>
          <p:nvPr/>
        </p:nvSpPr>
        <p:spPr>
          <a:xfrm>
            <a:off x="6323068" y="3796913"/>
            <a:ext cx="3386128" cy="981479"/>
          </a:xfrm>
          <a:prstGeom prst="rect">
            <a:avLst/>
          </a:prstGeom>
          <a:noFill/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itle 1">
                <a:extLst>
                  <a:ext uri="{FF2B5EF4-FFF2-40B4-BE49-F238E27FC236}">
                    <a16:creationId xmlns:a16="http://schemas.microsoft.com/office/drawing/2014/main" id="{4DD132C9-ECB8-4A3D-9687-82400EB26B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1687" y="3804488"/>
                <a:ext cx="4883591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AU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+3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7" name="Title 1">
                <a:extLst>
                  <a:ext uri="{FF2B5EF4-FFF2-40B4-BE49-F238E27FC236}">
                    <a16:creationId xmlns:a16="http://schemas.microsoft.com/office/drawing/2014/main" id="{4DD132C9-ECB8-4A3D-9687-82400EB26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687" y="3804488"/>
                <a:ext cx="4883591" cy="11519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itle 1">
                <a:extLst>
                  <a:ext uri="{FF2B5EF4-FFF2-40B4-BE49-F238E27FC236}">
                    <a16:creationId xmlns:a16="http://schemas.microsoft.com/office/drawing/2014/main" id="{5721E361-1C5F-4512-8A89-8FD26E8140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43078" y="5134514"/>
                <a:ext cx="4582718" cy="115196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 anchor="ctr">
                <a:normAutofit fontScale="3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5400" kern="1200" cap="all" baseline="0">
                    <a:solidFill>
                      <a:schemeClr val="accent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en-AU" b="0" i="1" dirty="0">
                  <a:solidFill>
                    <a:srgbClr val="0070C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AU" b="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AU" sz="16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+ 10</m:t>
                    </m:r>
                    <m:r>
                      <a:rPr lang="en-AU" sz="16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br>
                  <a:rPr lang="en-A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AU" dirty="0"/>
              </a:p>
            </p:txBody>
          </p:sp>
        </mc:Choice>
        <mc:Fallback>
          <p:sp>
            <p:nvSpPr>
              <p:cNvPr id="58" name="Title 1">
                <a:extLst>
                  <a:ext uri="{FF2B5EF4-FFF2-40B4-BE49-F238E27FC236}">
                    <a16:creationId xmlns:a16="http://schemas.microsoft.com/office/drawing/2014/main" id="{5721E361-1C5F-4512-8A89-8FD26E814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078" y="5134514"/>
                <a:ext cx="4582718" cy="11519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99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4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6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9" dur="5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4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06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6" grpId="0" animBg="1"/>
      <p:bldP spid="46" grpId="1" animBg="1"/>
      <p:bldP spid="50" grpId="0" animBg="1"/>
      <p:bldP spid="50" grpId="1" animBg="1"/>
      <p:bldP spid="51" grpId="0" animBg="1"/>
      <p:bldP spid="51" grpId="1" animBg="1"/>
      <p:bldP spid="54" grpId="0" animBg="1"/>
      <p:bldP spid="54" grpId="1" animBg="1"/>
      <p:bldP spid="55" grpId="0" uiExpand="1" build="allAtOnce"/>
      <p:bldP spid="56" grpId="0" animBg="1"/>
      <p:bldP spid="5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739B-3655-4018-A22A-828BC78D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8B0773-8A8C-4098-A770-7C82F36302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24128" y="1837765"/>
            <a:ext cx="4900438" cy="415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857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444" y="804333"/>
            <a:ext cx="4055108" cy="52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0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0844" y="276183"/>
            <a:ext cx="8000945" cy="643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0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6838" y="1727472"/>
            <a:ext cx="9443702" cy="379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20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035E9-9492-4A96-8BC3-7FB24D7F9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2B846-6EC2-44DD-AA6E-979741CE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59317"/>
            <a:ext cx="4389120" cy="17495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spc="100" dirty="0"/>
              <a:t>Write Your </a:t>
            </a:r>
            <a:r>
              <a:rPr lang="en-US" sz="4400" spc="100" dirty="0" err="1"/>
              <a:t>SUmmary</a:t>
            </a:r>
            <a:endParaRPr lang="en-US" sz="4400" spc="1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FBDC43-ADB2-4EDE-8696-528BCABD1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E65F-97FC-4575-A0E0-1C1DA3815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9" y="2286000"/>
            <a:ext cx="4389120" cy="3931920"/>
          </a:xfrm>
        </p:spPr>
        <p:txBody>
          <a:bodyPr vert="horz" lIns="45720" tIns="45720" rIns="4572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have 3 minutes to write a summary that answers the Essential Question.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share your summary with the people sitting in your row.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Placeholder 5" descr="A picture containing table&#10;&#10;Description automatically generated">
            <a:extLst>
              <a:ext uri="{FF2B5EF4-FFF2-40B4-BE49-F238E27FC236}">
                <a16:creationId xmlns:a16="http://schemas.microsoft.com/office/drawing/2014/main" id="{148E7043-18B4-4389-82A0-C4B4F0E354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126" r="-1" b="-1"/>
          <a:stretch/>
        </p:blipFill>
        <p:spPr>
          <a:xfrm>
            <a:off x="7056116" y="960120"/>
            <a:ext cx="4175762" cy="4940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EE6F8F-C6B7-4C88-A2A5-372F5C7FCBC9}"/>
              </a:ext>
            </a:extLst>
          </p:cNvPr>
          <p:cNvSpPr txBox="1"/>
          <p:nvPr/>
        </p:nvSpPr>
        <p:spPr>
          <a:xfrm>
            <a:off x="8823848" y="5700917"/>
            <a:ext cx="240803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3" tooltip="http://undeniableme.wordpress.com/2010/06/09/these-are-the-days-of-our-liv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0491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405</Words>
  <Application>Microsoft Office PowerPoint</Application>
  <PresentationFormat>Widescreen</PresentationFormat>
  <Paragraphs>125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 Math</vt:lpstr>
      <vt:lpstr>Tw Cen MT</vt:lpstr>
      <vt:lpstr>Tw Cen MT Condensed</vt:lpstr>
      <vt:lpstr>Wingdings 3</vt:lpstr>
      <vt:lpstr>Integral</vt:lpstr>
      <vt:lpstr>Topic: Algebra: Simplifying expressions EQ: What is a Liked Term and How do I collect them? </vt:lpstr>
      <vt:lpstr>PowerPoint Presentation</vt:lpstr>
      <vt:lpstr>PowerPoint Presentation</vt:lpstr>
      <vt:lpstr>Five Questions (LHS)</vt:lpstr>
      <vt:lpstr>PowerPoint Presentation</vt:lpstr>
      <vt:lpstr>Practice: lhs</vt:lpstr>
      <vt:lpstr>PowerPoint Presentation</vt:lpstr>
      <vt:lpstr>PowerPoint Presentation</vt:lpstr>
      <vt:lpstr>Practice: lhs</vt:lpstr>
      <vt:lpstr>PowerPoint Presentation</vt:lpstr>
      <vt:lpstr>PowerPoint Presentation</vt:lpstr>
      <vt:lpstr>Practice: lhs</vt:lpstr>
      <vt:lpstr>PowerPoint Presentation</vt:lpstr>
      <vt:lpstr>Task</vt:lpstr>
      <vt:lpstr>Answers</vt:lpstr>
      <vt:lpstr>Write Your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Algebra EQ: What Are the KeyWords in Algebra? </dc:title>
  <dc:creator>PARLEVLIET Magdeline [Baldivis Secondary College]</dc:creator>
  <cp:lastModifiedBy>PARLEVLIET Magdeline [Baldivis Secondary College]</cp:lastModifiedBy>
  <cp:revision>9</cp:revision>
  <dcterms:created xsi:type="dcterms:W3CDTF">2019-06-04T18:12:26Z</dcterms:created>
  <dcterms:modified xsi:type="dcterms:W3CDTF">2019-06-09T17:52:38Z</dcterms:modified>
</cp:coreProperties>
</file>
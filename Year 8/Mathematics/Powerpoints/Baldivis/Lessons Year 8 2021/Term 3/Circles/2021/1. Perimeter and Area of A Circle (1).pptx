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69" r:id="rId2"/>
    <p:sldId id="266" r:id="rId3"/>
    <p:sldId id="268" r:id="rId4"/>
    <p:sldId id="26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</p:sldIdLst>
  <p:sldSz cx="12192000" cy="6858000"/>
  <p:notesSz cx="6858000" cy="9144000"/>
  <p:embeddedFontLst>
    <p:embeddedFont>
      <p:font typeface="Arial Black" panose="020B0A04020102020204" pitchFamily="34" charset="0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libri Light" panose="020F0302020204030204" pitchFamily="34" charset="0"/>
      <p:regular r:id="rId20"/>
      <p:italic r:id="rId21"/>
    </p:embeddedFont>
    <p:embeddedFont>
      <p:font typeface="Cambria Math" panose="02040503050406030204" pitchFamily="18" charset="0"/>
      <p:regular r:id="rId22"/>
    </p:embeddedFont>
    <p:embeddedFont>
      <p:font typeface="Century Gothic" panose="020B0502020202020204" pitchFamily="34" charset="0"/>
      <p:regular r:id="rId23"/>
      <p:bold r:id="rId24"/>
      <p:italic r:id="rId25"/>
      <p:boldItalic r:id="rId26"/>
    </p:embeddedFont>
    <p:embeddedFont>
      <p:font typeface="Luckiest Guy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FFC9"/>
    <a:srgbClr val="FFDFBA"/>
    <a:srgbClr val="BAE1FF"/>
    <a:srgbClr val="FFFFBA"/>
    <a:srgbClr val="FFB3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7" y="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11606-EFA7-41DC-AB0A-6DA65BA77C5C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764A6-6D6C-4356-AA38-56B831EC8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26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8E566-F249-42DF-8B95-9A116F24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88311-2966-484C-9013-E263432F7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1D8C6-8CCE-4DE5-B8C9-BC9C5B16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0F2D7-E3FF-4727-84C2-87C8B072F849}" type="datetime1">
              <a:rPr lang="en-US" smtClean="0"/>
              <a:t>9/19/2021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C6E7C-FBF1-4E69-8984-DE5BE6FF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51B88-0472-471D-82BA-306920D6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98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9A8E-C957-4899-AA5F-2C6A2ED4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5E816-FB0E-4FC9-956C-4FADDB328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AE124-FBF6-4560-B8AA-20B2FD17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B273-464D-4D05-8DDD-8521E316EB9A}" type="datetime1">
              <a:rPr lang="en-US" smtClean="0"/>
              <a:t>9/19/2021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4761A-F3F4-4A15-B6FA-4A42C154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5F7B-EB69-4578-A41F-8C636339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2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798D7-E42C-4D93-9FA1-E6DA79E80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12488-B257-41F3-AEBD-51C5FCB6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65B59-5901-420F-8942-9C0D98C6A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33E6-20E2-418E-B571-48F7227880DC}" type="datetime1">
              <a:rPr lang="en-US" smtClean="0"/>
              <a:t>9/19/2021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EFBF5-73E3-4B3A-9985-2AA1E29F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DF86D-66F3-4BBA-A8BF-EBCB959F0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3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8B29F-96A1-4916-A5EF-FEF71194A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B9756-DDA5-4FB0-BB96-5763099C6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91503-2A43-40A8-9151-1E5CBBFFE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68AAE-2145-4273-A72D-86BBDFFA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BCC6-70D1-4913-A4FF-11EFA5AA92BB}" type="datetime1">
              <a:rPr lang="en-US" smtClean="0"/>
              <a:t>9/19/2021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860CA-D260-4054-B289-475063865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9DDD4-1B17-49E7-845F-35B68F65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A3B16-2DB0-4A98-A12C-981C19BFE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450FB-B4A3-4E02-A50C-07E03E16D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88F19-7A0B-4F91-A1FC-7162D82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72B43-061A-4490-ABE4-2F21A5E5A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D6CB1-03CD-4A24-876A-CBDA6A5BD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7BD4E-BF9F-4D68-8E29-F68DD211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634E2-D21C-46F3-AA0D-490FEA5AE96D}" type="datetime1">
              <a:rPr lang="en-US" smtClean="0"/>
              <a:t>9/19/2021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7F79F8-C89C-433C-91C9-CBA113076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428B45-29D5-4F8B-AAA1-EC631F9A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9179D-63BC-4C08-B1F5-04A31D21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7CAA20-0D4D-41DA-A0AE-3C8E1D3C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DAE8-C118-4E9A-A9F3-58E5AC490EF4}" type="datetime1">
              <a:rPr lang="en-US" smtClean="0"/>
              <a:t>9/19/2021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506C2-A53C-4F40-8C0B-AE4D8FC4D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CDF8C-07FD-402E-8574-69D643A5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3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BE403-C520-4819-9597-C75E6F6BA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F6B05-425D-4906-88AD-9D7CF88E5705}" type="datetime1">
              <a:rPr lang="en-US" smtClean="0"/>
              <a:t>9/19/2021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EC1E3-DBF3-4F7E-91AE-DEAAF1B4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E92C7-0778-423B-BB96-3D298E7F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0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6EE6-5B4F-4DBC-A6F2-2BD438B97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10C20-BECB-4651-894D-C5285239C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30DCE-FCFD-4E29-9DBA-FCC5C2F81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22055-EDD0-4FA7-8599-FA3B43ADC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32BB-B910-4B28-8F6A-E7189620FF3F}" type="datetime1">
              <a:rPr lang="en-US" smtClean="0"/>
              <a:t>9/19/2021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2B388-3BC8-4A9C-914E-C22CD8F37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C726A-7E11-4746-801B-727845E1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32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6B662-D40F-406A-9729-70979F49D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AC5071-060D-4290-B693-8F15226D1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6EDF9-F34B-4653-83D0-9D1765576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AB685-850F-439C-8FEA-CE41CD3EB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D64F-33CC-43D6-A523-2019F61B9FAB}" type="datetime1">
              <a:rPr lang="en-US" smtClean="0"/>
              <a:t>9/19/2021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32FB4-EE25-494A-B0B9-4DFDDEDC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33326-CECA-4B70-9D1E-E8734E55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0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BB5A2-32FA-4BED-AEFB-7AD31145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E5158-27BD-452D-ABA5-D7787E89B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2E409-356C-4337-B34E-F8E2A629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3C8A-782B-4DD8-A886-7A7C990133C0}" type="datetime1">
              <a:rPr lang="en-US" smtClean="0"/>
              <a:t>9/19/2021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4E1ED-553E-4BAC-AF44-88365406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957E9-B90E-4E84-B5A1-1E3D9B6A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2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BDF10F-37C4-4561-87BD-94E6940CA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DA13B-F3AB-41AA-9884-F32C47DE4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C8F8F-0CB9-432A-B019-4563F0EF2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01E2-7543-46DC-A3B9-883495FCF91B}" type="datetime1">
              <a:rPr lang="en-US" smtClean="0"/>
              <a:t>9/19/2021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04F25-81C3-45A1-82B1-82D1996C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31962-8730-4ECE-BB52-6E7F610A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8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873248-5609-4E88-B5AF-10833677E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C0DBB-FBFF-46DF-B1E6-1B3832E56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D1F8F-48EF-475C-8925-AFE3D5250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1DBB7-4AD2-444F-AF3F-ECC4E6C52175}" type="datetime1">
              <a:rPr lang="en-US" smtClean="0"/>
              <a:t>9/19/2021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8971E-E11A-47CD-AC71-CAB195A33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6375-9BE4-4574-89E8-5BA1692B2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5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84938-D0C7-4395-91F8-66E1E9AED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new Cover page and content page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0B135-5383-4D61-8AEA-1F5F417DD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will continue through to next term </a:t>
            </a:r>
          </a:p>
          <a:p>
            <a:r>
              <a:rPr lang="en-US" dirty="0"/>
              <a:t>Topic: Circles and Index Laws</a:t>
            </a:r>
          </a:p>
          <a:p>
            <a:r>
              <a:rPr lang="en-US" dirty="0"/>
              <a:t>Semester 2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Complete your learning log on measurement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5DA2B-A67D-45E8-9550-25400B56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</p:spTree>
    <p:extLst>
      <p:ext uri="{BB962C8B-B14F-4D97-AF65-F5344CB8AC3E}">
        <p14:creationId xmlns:p14="http://schemas.microsoft.com/office/powerpoint/2010/main" val="4040902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C80C-3858-4D8B-8335-42E5C508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2224"/>
            <a:ext cx="10515600" cy="185160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Topic: </a:t>
            </a:r>
            <a:r>
              <a:rPr lang="en-US" dirty="0"/>
              <a:t>Circles</a:t>
            </a:r>
            <a:br>
              <a:rPr lang="en-US" dirty="0"/>
            </a:br>
            <a:r>
              <a:rPr lang="en-US" b="1" dirty="0"/>
              <a:t>EQ: </a:t>
            </a:r>
            <a:r>
              <a:rPr lang="en-US" dirty="0"/>
              <a:t>How do I find the circumference and area of a circle?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37A574-D5E6-47C5-8B01-803D06681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9748">
            <a:off x="-426091" y="523471"/>
            <a:ext cx="5117378" cy="1118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5525F1-D52C-4130-B921-CACDA0006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3576">
            <a:off x="7357549" y="793531"/>
            <a:ext cx="5117378" cy="1118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5A1DDD-BE93-40FB-A4C1-258B1FD99488}"/>
              </a:ext>
            </a:extLst>
          </p:cNvPr>
          <p:cNvSpPr txBox="1"/>
          <p:nvPr/>
        </p:nvSpPr>
        <p:spPr>
          <a:xfrm>
            <a:off x="4558897" y="143766"/>
            <a:ext cx="6451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c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i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r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c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l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e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s</a:t>
            </a:r>
            <a:endParaRPr lang="en-AU" sz="6000" dirty="0"/>
          </a:p>
        </p:txBody>
      </p:sp>
    </p:spTree>
    <p:extLst>
      <p:ext uri="{BB962C8B-B14F-4D97-AF65-F5344CB8AC3E}">
        <p14:creationId xmlns:p14="http://schemas.microsoft.com/office/powerpoint/2010/main" val="1920550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69A3-10CF-4E59-96DB-67250E73A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29" y="102790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Have a go at these questions:</a:t>
            </a:r>
            <a:endParaRPr lang="en-AU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86E2-2B5D-4C6D-9002-E16A43F81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229" y="1297575"/>
                <a:ext cx="9051235" cy="4351338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AutoNum type="arabicPeriod"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dirty="0">
                    <a:latin typeface="Cambria Math" panose="02040503050406030204" pitchFamily="18" charset="0"/>
                  </a:rPr>
                  <a:t>Complete your summary from last lesson and update your contents page.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+3=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rabicPeriod"/>
                </a:pPr>
                <a:r>
                  <a:rPr lang="en-AU" dirty="0"/>
                  <a:t>What is the formula to find the volume of a triangular prism?</a:t>
                </a:r>
              </a:p>
              <a:p>
                <a:pPr marL="514350" indent="-514350">
                  <a:buAutoNum type="arabicPeriod"/>
                </a:pPr>
                <a:r>
                  <a:rPr lang="en-AU" dirty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AU" dirty="0"/>
                  <a:t>What is the area of this shape? Show your working out.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86E2-2B5D-4C6D-9002-E16A43F81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29" y="1297575"/>
                <a:ext cx="9051235" cy="4351338"/>
              </a:xfrm>
              <a:blipFill>
                <a:blip r:embed="rId2"/>
                <a:stretch>
                  <a:fillRect l="-14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A68D030-97F4-448B-A94C-B346634E7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484" y="4165526"/>
            <a:ext cx="2189508" cy="2592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719050-1446-495C-91D1-2826AFFB2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3576">
            <a:off x="7717767" y="738113"/>
            <a:ext cx="5117378" cy="111892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BA02223-11AE-4C48-B8BD-6678F67D2348}"/>
              </a:ext>
            </a:extLst>
          </p:cNvPr>
          <p:cNvSpPr txBox="1">
            <a:spLocks/>
          </p:cNvSpPr>
          <p:nvPr/>
        </p:nvSpPr>
        <p:spPr>
          <a:xfrm>
            <a:off x="642229" y="-160915"/>
            <a:ext cx="10515600" cy="1851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Topic: </a:t>
            </a:r>
            <a:r>
              <a:rPr lang="en-US" sz="2800" dirty="0"/>
              <a:t>Circles</a:t>
            </a:r>
            <a:br>
              <a:rPr lang="en-US" sz="2800" dirty="0"/>
            </a:br>
            <a:r>
              <a:rPr lang="en-US" sz="2800" b="1" dirty="0"/>
              <a:t>EQ: </a:t>
            </a:r>
            <a:r>
              <a:rPr lang="en-US" sz="2800" dirty="0"/>
              <a:t>How do I find the circumference and area of a circle?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179587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C80C-3858-4D8B-8335-42E5C508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0"/>
            <a:ext cx="11307618" cy="1851602"/>
          </a:xfrm>
        </p:spPr>
        <p:txBody>
          <a:bodyPr>
            <a:normAutofit/>
          </a:bodyPr>
          <a:lstStyle/>
          <a:p>
            <a:r>
              <a:rPr lang="en-US" sz="3200" b="1" dirty="0"/>
              <a:t>Topic: </a:t>
            </a:r>
            <a:r>
              <a:rPr lang="en-US" sz="3200" dirty="0"/>
              <a:t>Circles</a:t>
            </a:r>
            <a:br>
              <a:rPr lang="en-US" sz="3200" dirty="0"/>
            </a:br>
            <a:r>
              <a:rPr lang="en-US" sz="3200" b="1" dirty="0"/>
              <a:t>EQ: </a:t>
            </a:r>
            <a:r>
              <a:rPr lang="en-US" sz="3200" dirty="0"/>
              <a:t>How do I find the circumference and area of a circle?</a:t>
            </a:r>
            <a:endParaRPr lang="en-AU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37A574-D5E6-47C5-8B01-803D06681D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9748">
            <a:off x="-426091" y="523471"/>
            <a:ext cx="5117378" cy="1118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5525F1-D52C-4130-B921-CACDA00060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3576">
            <a:off x="7357549" y="793531"/>
            <a:ext cx="5117378" cy="111892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87545D-2270-4C38-8388-B5F655310AAC}"/>
              </a:ext>
            </a:extLst>
          </p:cNvPr>
          <p:cNvCxnSpPr/>
          <p:nvPr/>
        </p:nvCxnSpPr>
        <p:spPr>
          <a:xfrm flipV="1">
            <a:off x="0" y="1486477"/>
            <a:ext cx="12192000" cy="9294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E10904-C7C7-48E2-9493-731F05868AFF}"/>
              </a:ext>
            </a:extLst>
          </p:cNvPr>
          <p:cNvCxnSpPr>
            <a:cxnSpLocks/>
          </p:cNvCxnSpPr>
          <p:nvPr/>
        </p:nvCxnSpPr>
        <p:spPr>
          <a:xfrm>
            <a:off x="2328564" y="1579418"/>
            <a:ext cx="8236" cy="53480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DACDB9-3533-4C8A-8B1A-7C3B8AAF6769}"/>
              </a:ext>
            </a:extLst>
          </p:cNvPr>
          <p:cNvSpPr txBox="1"/>
          <p:nvPr/>
        </p:nvSpPr>
        <p:spPr>
          <a:xfrm>
            <a:off x="2455277" y="1637332"/>
            <a:ext cx="807258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New Glossary words:</a:t>
            </a:r>
          </a:p>
          <a:p>
            <a:endParaRPr lang="en-US" sz="2400" dirty="0"/>
          </a:p>
          <a:p>
            <a:r>
              <a:rPr lang="en-US" sz="2000" b="1" dirty="0"/>
              <a:t>Circumference: </a:t>
            </a:r>
            <a:r>
              <a:rPr lang="en-US" sz="2000" dirty="0">
                <a:solidFill>
                  <a:srgbClr val="FF0000"/>
                </a:solidFill>
              </a:rPr>
              <a:t>Circumference</a:t>
            </a:r>
            <a:r>
              <a:rPr lang="en-US" sz="2000" dirty="0"/>
              <a:t> is the distance around a circle.</a:t>
            </a:r>
          </a:p>
          <a:p>
            <a:endParaRPr lang="en-US" sz="2000" dirty="0"/>
          </a:p>
          <a:p>
            <a:r>
              <a:rPr lang="en-US" sz="2000" b="1" dirty="0"/>
              <a:t>Diameter: </a:t>
            </a:r>
            <a:r>
              <a:rPr lang="en-US" sz="2000" dirty="0"/>
              <a:t>a line going from the circumference passing through the center of the circle.</a:t>
            </a:r>
          </a:p>
          <a:p>
            <a:endParaRPr lang="en-US" sz="2000" dirty="0"/>
          </a:p>
          <a:p>
            <a:r>
              <a:rPr lang="en-US" sz="2000" b="1" dirty="0"/>
              <a:t>Radius: </a:t>
            </a:r>
            <a:r>
              <a:rPr lang="en-US" sz="2000" dirty="0"/>
              <a:t>half of the diameter, or a line from the center of the circle to the circumference.</a:t>
            </a:r>
            <a:endParaRPr lang="en-AU" sz="2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5E38EA-7230-4D05-BB62-D97AEB1C2452}"/>
              </a:ext>
            </a:extLst>
          </p:cNvPr>
          <p:cNvSpPr/>
          <p:nvPr/>
        </p:nvSpPr>
        <p:spPr>
          <a:xfrm>
            <a:off x="3916218" y="4821381"/>
            <a:ext cx="1616364" cy="157018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9BEABA0-C693-468F-90AB-074CCB30AFA1}"/>
              </a:ext>
            </a:extLst>
          </p:cNvPr>
          <p:cNvSpPr/>
          <p:nvPr/>
        </p:nvSpPr>
        <p:spPr>
          <a:xfrm>
            <a:off x="7112000" y="4821381"/>
            <a:ext cx="1616364" cy="157018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9518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pie">
            <a:extLst>
              <a:ext uri="{FF2B5EF4-FFF2-40B4-BE49-F238E27FC236}">
                <a16:creationId xmlns:a16="http://schemas.microsoft.com/office/drawing/2014/main" id="{78174002-8435-43A4-9793-2CCA2B17A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16114">
            <a:off x="2114965" y="4136444"/>
            <a:ext cx="2788340" cy="2413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02ECC5-E92E-477A-AFC4-263FB12AEC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2034" y="2756454"/>
                <a:ext cx="11876501" cy="1640886"/>
              </a:xfrm>
            </p:spPr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6000" dirty="0">
                    <a:ea typeface="Cambria Math" panose="02040503050406030204" pitchFamily="18" charset="0"/>
                  </a:rPr>
                  <a:t>(Pi) </a:t>
                </a:r>
                <a14:m>
                  <m:oMath xmlns:m="http://schemas.openxmlformats.org/officeDocument/2006/math">
                    <m:r>
                      <a:rPr lang="en-US" sz="6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6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6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6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6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m:rPr>
                        <m:sty m:val="p"/>
                      </m:rPr>
                      <a:rPr lang="en-US" sz="6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OR</m:t>
                    </m:r>
                    <m:r>
                      <a:rPr lang="en-US" sz="6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</m:oMath>
                </a14:m>
                <a:r>
                  <a:rPr lang="en-US" sz="6000" dirty="0">
                    <a:ea typeface="Cambria Math" panose="02040503050406030204" pitchFamily="18" charset="0"/>
                  </a:rPr>
                  <a:t>(Pi) </a:t>
                </a:r>
                <a14:m>
                  <m:oMath xmlns:m="http://schemas.openxmlformats.org/officeDocument/2006/math">
                    <m:r>
                      <a:rPr lang="en-US" sz="6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6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=3.14</m:t>
                    </m:r>
                  </m:oMath>
                </a14:m>
                <a:endParaRPr lang="en-US" sz="6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02ECC5-E92E-477A-AFC4-263FB12AEC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034" y="2756454"/>
                <a:ext cx="11876501" cy="1640886"/>
              </a:xfrm>
              <a:blipFill>
                <a:blip r:embed="rId3"/>
                <a:stretch>
                  <a:fillRect t="-5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C8AB705-B7A7-42A2-A320-79E93AC6C1A1}"/>
              </a:ext>
            </a:extLst>
          </p:cNvPr>
          <p:cNvSpPr/>
          <p:nvPr/>
        </p:nvSpPr>
        <p:spPr>
          <a:xfrm>
            <a:off x="23981" y="102765"/>
            <a:ext cx="11985072" cy="665247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40045C-D6A5-4A0E-891C-26B5CD1B7A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9748">
            <a:off x="-452263" y="296522"/>
            <a:ext cx="3784367" cy="9499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B6756E-8BF7-4CA4-AE97-5940BCD2EF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3988">
            <a:off x="8756506" y="11909"/>
            <a:ext cx="3895327" cy="1007398"/>
          </a:xfrm>
          <a:prstGeom prst="rect">
            <a:avLst/>
          </a:prstGeom>
        </p:spPr>
      </p:pic>
      <p:pic>
        <p:nvPicPr>
          <p:cNvPr id="3076" name="Picture 4" descr="Image result for pie kawaii">
            <a:extLst>
              <a:ext uri="{FF2B5EF4-FFF2-40B4-BE49-F238E27FC236}">
                <a16:creationId xmlns:a16="http://schemas.microsoft.com/office/drawing/2014/main" id="{91E639C7-664A-4258-B9D9-8810F9D85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7314">
            <a:off x="6040008" y="4038106"/>
            <a:ext cx="3784299" cy="263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941EF40-0C6C-434C-868F-6868079C6E05}"/>
              </a:ext>
            </a:extLst>
          </p:cNvPr>
          <p:cNvSpPr txBox="1">
            <a:spLocks/>
          </p:cNvSpPr>
          <p:nvPr/>
        </p:nvSpPr>
        <p:spPr>
          <a:xfrm>
            <a:off x="2711172" y="414768"/>
            <a:ext cx="8215445" cy="1851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Topic: </a:t>
            </a:r>
            <a:r>
              <a:rPr lang="en-US" sz="2800" dirty="0"/>
              <a:t>Circles</a:t>
            </a:r>
            <a:br>
              <a:rPr lang="en-US" sz="2800" dirty="0"/>
            </a:br>
            <a:r>
              <a:rPr lang="en-US" sz="2800" b="1" dirty="0"/>
              <a:t>EQ: </a:t>
            </a:r>
            <a:r>
              <a:rPr lang="en-US" sz="2800" dirty="0"/>
              <a:t>How do I find the circumference and area of a circle?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271747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D098F-D897-4CED-9186-B7F7CF07B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4183" y="1641322"/>
            <a:ext cx="9381688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Example 1: Find the circumference of the circle given.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0EFB9C-215B-4FFF-B9D5-25A3F3A3B374}"/>
              </a:ext>
            </a:extLst>
          </p:cNvPr>
          <p:cNvGrpSpPr/>
          <p:nvPr/>
        </p:nvGrpSpPr>
        <p:grpSpPr>
          <a:xfrm>
            <a:off x="1127041" y="2534078"/>
            <a:ext cx="2332140" cy="2348917"/>
            <a:chOff x="2239861" y="2667215"/>
            <a:chExt cx="2332140" cy="2348917"/>
          </a:xfrm>
        </p:grpSpPr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ACA2BF99-1608-44AD-B73C-D3E82E2E44D4}"/>
                </a:ext>
              </a:extLst>
            </p:cNvPr>
            <p:cNvSpPr/>
            <p:nvPr/>
          </p:nvSpPr>
          <p:spPr>
            <a:xfrm>
              <a:off x="2239861" y="2667215"/>
              <a:ext cx="2332140" cy="2348917"/>
            </a:xfrm>
            <a:prstGeom prst="flowChartConnector">
              <a:avLst/>
            </a:prstGeom>
            <a:solidFill>
              <a:srgbClr val="FFFFBA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9E9784E-4039-4EF9-B965-B36D02FC17EF}"/>
                </a:ext>
              </a:extLst>
            </p:cNvPr>
            <p:cNvCxnSpPr>
              <a:stCxn id="4" idx="2"/>
              <a:endCxn id="4" idx="6"/>
            </p:cNvCxnSpPr>
            <p:nvPr/>
          </p:nvCxnSpPr>
          <p:spPr>
            <a:xfrm>
              <a:off x="2239861" y="3841674"/>
              <a:ext cx="2332140" cy="0"/>
            </a:xfrm>
            <a:prstGeom prst="line">
              <a:avLst/>
            </a:prstGeom>
            <a:ln w="28575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3A1EE5-80AB-4E30-AF87-253DAD5D31A0}"/>
                </a:ext>
              </a:extLst>
            </p:cNvPr>
            <p:cNvSpPr txBox="1"/>
            <p:nvPr/>
          </p:nvSpPr>
          <p:spPr>
            <a:xfrm>
              <a:off x="3087148" y="3866516"/>
              <a:ext cx="847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10 cm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F7C3F9-2E51-47DC-AE94-5BC1C9E7BE2E}"/>
                  </a:ext>
                </a:extLst>
              </p:cNvPr>
              <p:cNvSpPr txBox="1"/>
              <p:nvPr/>
            </p:nvSpPr>
            <p:spPr>
              <a:xfrm>
                <a:off x="3998433" y="2541093"/>
                <a:ext cx="6772710" cy="2492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Circumference = </a:t>
                </a:r>
                <a14:m>
                  <m:oMath xmlns:m="http://schemas.openxmlformats.org/officeDocument/2006/math">
                    <m:r>
                      <a:rPr lang="en-US" sz="360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36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600" b="0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3600" b="0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600" b="0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Diameter</m:t>
                    </m:r>
                  </m:oMath>
                </a14:m>
                <a:endParaRPr lang="en-US" sz="36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  <a:p>
                <a:endParaRPr lang="en-US" sz="2400" dirty="0">
                  <a:latin typeface="Century Gothic" panose="020B0502020202020204" pitchFamily="34" charset="0"/>
                </a:endParaRPr>
              </a:p>
              <a:p>
                <a:r>
                  <a:rPr lang="en-US" sz="3200" dirty="0">
                    <a:latin typeface="Century Gothic" panose="020B0502020202020204" pitchFamily="34" charset="0"/>
                  </a:rPr>
                  <a:t>          C =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3200" dirty="0">
                    <a:latin typeface="Century Gothic" panose="020B0502020202020204" pitchFamily="34" charset="0"/>
                  </a:rPr>
                  <a:t> x 10cm</a:t>
                </a:r>
              </a:p>
              <a:p>
                <a:endParaRPr lang="en-US" sz="3200" dirty="0">
                  <a:latin typeface="Century Gothic" panose="020B0502020202020204" pitchFamily="34" charset="0"/>
                </a:endParaRPr>
              </a:p>
              <a:p>
                <a:r>
                  <a:rPr lang="en-US" sz="3200" dirty="0">
                    <a:latin typeface="Century Gothic" panose="020B0502020202020204" pitchFamily="34" charset="0"/>
                  </a:rPr>
                  <a:t>          C = 31.4 cm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F7C3F9-2E51-47DC-AE94-5BC1C9E7B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433" y="2541093"/>
                <a:ext cx="6772710" cy="2492990"/>
              </a:xfrm>
              <a:prstGeom prst="rect">
                <a:avLst/>
              </a:prstGeom>
              <a:blipFill>
                <a:blip r:embed="rId2"/>
                <a:stretch>
                  <a:fillRect b="-70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4FD37D-51E7-49E3-AC29-2B11978C585D}"/>
                  </a:ext>
                </a:extLst>
              </p:cNvPr>
              <p:cNvSpPr txBox="1"/>
              <p:nvPr/>
            </p:nvSpPr>
            <p:spPr>
              <a:xfrm>
                <a:off x="1384183" y="5445957"/>
                <a:ext cx="963907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Century Gothic" panose="020B0502020202020204" pitchFamily="34" charset="0"/>
                  </a:rPr>
                  <a:t>Since we were given the </a:t>
                </a:r>
                <a:r>
                  <a:rPr lang="en-US" sz="2400" b="1" dirty="0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Diameter</a:t>
                </a:r>
                <a:r>
                  <a:rPr lang="en-US" sz="2400" b="1" dirty="0">
                    <a:latin typeface="Century Gothic" panose="020B0502020202020204" pitchFamily="34" charset="0"/>
                  </a:rPr>
                  <a:t>, we use the formula  - Circumference =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𝐃𝐢𝐚𝐦𝐞𝐭𝐞𝐫</m:t>
                    </m:r>
                  </m:oMath>
                </a14:m>
                <a:endParaRPr lang="en-US" sz="2400" b="1" dirty="0">
                  <a:latin typeface="Century Gothic" panose="020B0502020202020204" pitchFamily="34" charset="0"/>
                </a:endParaRPr>
              </a:p>
              <a:p>
                <a:pPr algn="ctr"/>
                <a:r>
                  <a:rPr lang="en-US" sz="2400" b="1" dirty="0">
                    <a:latin typeface="Century Gothic" panose="020B0502020202020204" pitchFamily="34" charset="0"/>
                  </a:rPr>
                  <a:t>   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4FD37D-51E7-49E3-AC29-2B11978C5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183" y="5445957"/>
                <a:ext cx="9639073" cy="1200329"/>
              </a:xfrm>
              <a:prstGeom prst="rect">
                <a:avLst/>
              </a:prstGeom>
              <a:blipFill>
                <a:blip r:embed="rId3"/>
                <a:stretch>
                  <a:fillRect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7C37C80D-998A-4BE4-8283-B06D4D49D0D7}"/>
              </a:ext>
            </a:extLst>
          </p:cNvPr>
          <p:cNvSpPr/>
          <p:nvPr/>
        </p:nvSpPr>
        <p:spPr>
          <a:xfrm>
            <a:off x="103464" y="100668"/>
            <a:ext cx="11985072" cy="665247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0F2B61-0C63-4FB2-8CEE-4DA636A909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9748">
            <a:off x="65895" y="619216"/>
            <a:ext cx="4106224" cy="11189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46E079-A975-4571-88CA-13020735411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3988">
            <a:off x="8072667" y="774643"/>
            <a:ext cx="4106224" cy="1108272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B981460-E9EE-4804-B455-6B2D27AB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C12326B-6C59-420D-A5BD-18BDEAD7A8E6}"/>
              </a:ext>
            </a:extLst>
          </p:cNvPr>
          <p:cNvSpPr txBox="1">
            <a:spLocks/>
          </p:cNvSpPr>
          <p:nvPr/>
        </p:nvSpPr>
        <p:spPr>
          <a:xfrm>
            <a:off x="642229" y="-160915"/>
            <a:ext cx="10515600" cy="1851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Topic: </a:t>
            </a:r>
            <a:r>
              <a:rPr lang="en-US" sz="2800" dirty="0"/>
              <a:t>Circles</a:t>
            </a:r>
            <a:br>
              <a:rPr lang="en-US" sz="2800" dirty="0"/>
            </a:br>
            <a:r>
              <a:rPr lang="en-US" sz="2800" b="1" dirty="0"/>
              <a:t>EQ: </a:t>
            </a:r>
            <a:r>
              <a:rPr lang="en-US" sz="2800" dirty="0"/>
              <a:t>How do I find the circumference and area of a circle?</a:t>
            </a:r>
            <a:endParaRPr lang="en-AU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E1F6BA-0A25-47B8-9519-D1141B2535AD}"/>
              </a:ext>
            </a:extLst>
          </p:cNvPr>
          <p:cNvSpPr/>
          <p:nvPr/>
        </p:nvSpPr>
        <p:spPr>
          <a:xfrm>
            <a:off x="4969164" y="3426903"/>
            <a:ext cx="3629891" cy="17897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3158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D098F-D897-4CED-9186-B7F7CF07B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4183" y="164132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Example 2: Find the circumference of the circle given.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797B2A-9A74-47EB-87FB-1B76818E2533}"/>
              </a:ext>
            </a:extLst>
          </p:cNvPr>
          <p:cNvGrpSpPr/>
          <p:nvPr/>
        </p:nvGrpSpPr>
        <p:grpSpPr>
          <a:xfrm>
            <a:off x="1016205" y="2587071"/>
            <a:ext cx="2332140" cy="2348917"/>
            <a:chOff x="2239861" y="2667215"/>
            <a:chExt cx="2332140" cy="2348917"/>
          </a:xfrm>
          <a:solidFill>
            <a:srgbClr val="BAFFC9"/>
          </a:solidFill>
        </p:grpSpPr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ACA2BF99-1608-44AD-B73C-D3E82E2E44D4}"/>
                </a:ext>
              </a:extLst>
            </p:cNvPr>
            <p:cNvSpPr/>
            <p:nvPr/>
          </p:nvSpPr>
          <p:spPr>
            <a:xfrm>
              <a:off x="2239861" y="2667215"/>
              <a:ext cx="2332140" cy="2348917"/>
            </a:xfrm>
            <a:prstGeom prst="flowChartConnector">
              <a:avLst/>
            </a:prstGeom>
            <a:grp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9E9784E-4039-4EF9-B965-B36D02FC17EF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2239861" y="3841674"/>
              <a:ext cx="1124125" cy="0"/>
            </a:xfrm>
            <a:prstGeom prst="line">
              <a:avLst/>
            </a:prstGeom>
            <a:grpFill/>
            <a:ln w="28575">
              <a:solidFill>
                <a:srgbClr val="00B050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3A1EE5-80AB-4E30-AF87-253DAD5D31A0}"/>
                </a:ext>
              </a:extLst>
            </p:cNvPr>
            <p:cNvSpPr txBox="1"/>
            <p:nvPr/>
          </p:nvSpPr>
          <p:spPr>
            <a:xfrm>
              <a:off x="2516697" y="3868543"/>
              <a:ext cx="847289" cy="461665"/>
            </a:xfrm>
            <a:prstGeom prst="rect">
              <a:avLst/>
            </a:prstGeom>
            <a:grp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8 cm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F7C3F9-2E51-47DC-AE94-5BC1C9E7BE2E}"/>
                  </a:ext>
                </a:extLst>
              </p:cNvPr>
              <p:cNvSpPr txBox="1"/>
              <p:nvPr/>
            </p:nvSpPr>
            <p:spPr>
              <a:xfrm>
                <a:off x="3508869" y="2472129"/>
                <a:ext cx="777081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entury Gothic" panose="020B0502020202020204" pitchFamily="34" charset="0"/>
                  </a:rPr>
                  <a:t>Circumference = 2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4000" b="0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4000" b="0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4000" i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4000" b="0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4000" b="0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4000" b="0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4000" b="0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Radius</m:t>
                    </m:r>
                  </m:oMath>
                </a14:m>
                <a:endParaRPr lang="en-US" sz="40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  <a:p>
                <a:endParaRPr lang="en-US" sz="2400" dirty="0">
                  <a:latin typeface="Century Gothic" panose="020B0502020202020204" pitchFamily="34" charset="0"/>
                </a:endParaRPr>
              </a:p>
              <a:p>
                <a:r>
                  <a:rPr lang="en-US" sz="2400" dirty="0">
                    <a:latin typeface="Century Gothic" panose="020B0502020202020204" pitchFamily="34" charset="0"/>
                  </a:rPr>
                  <a:t>          </a:t>
                </a:r>
                <a:r>
                  <a:rPr lang="en-US" sz="3200" dirty="0">
                    <a:latin typeface="Century Gothic" panose="020B0502020202020204" pitchFamily="34" charset="0"/>
                  </a:rPr>
                  <a:t>C =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3200" dirty="0">
                    <a:latin typeface="Century Gothic" panose="020B0502020202020204" pitchFamily="34" charset="0"/>
                  </a:rPr>
                  <a:t> x 2 x 8</a:t>
                </a:r>
              </a:p>
              <a:p>
                <a:endParaRPr lang="en-US" sz="3200" dirty="0">
                  <a:latin typeface="Century Gothic" panose="020B0502020202020204" pitchFamily="34" charset="0"/>
                </a:endParaRPr>
              </a:p>
              <a:p>
                <a:r>
                  <a:rPr lang="en-US" sz="3200" dirty="0">
                    <a:latin typeface="Century Gothic" panose="020B0502020202020204" pitchFamily="34" charset="0"/>
                  </a:rPr>
                  <a:t>        C = 50.24 cm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F7C3F9-2E51-47DC-AE94-5BC1C9E7B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869" y="2472129"/>
                <a:ext cx="7770816" cy="2554545"/>
              </a:xfrm>
              <a:prstGeom prst="rect">
                <a:avLst/>
              </a:prstGeom>
              <a:blipFill>
                <a:blip r:embed="rId2"/>
                <a:stretch>
                  <a:fillRect b="-69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203DEC9-C6A6-4C96-ABFF-4648A6E6BFC0}"/>
                  </a:ext>
                </a:extLst>
              </p:cNvPr>
              <p:cNvSpPr/>
              <p:nvPr/>
            </p:nvSpPr>
            <p:spPr>
              <a:xfrm>
                <a:off x="686507" y="5520347"/>
                <a:ext cx="10818987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 dirty="0">
                    <a:latin typeface="Century Gothic" panose="020B0502020202020204" pitchFamily="34" charset="0"/>
                  </a:rPr>
                  <a:t>Since we were given the </a:t>
                </a:r>
                <a:r>
                  <a:rPr lang="en-US" sz="2000" b="1" dirty="0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Radius</a:t>
                </a:r>
                <a:r>
                  <a:rPr lang="en-US" sz="2000" b="1" dirty="0">
                    <a:latin typeface="Century Gothic" panose="020B0502020202020204" pitchFamily="34" charset="0"/>
                  </a:rPr>
                  <a:t>, we use the formula  -  Circumference = 2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𝐑𝐚𝐝𝐢𝐮𝐬</m:t>
                    </m:r>
                  </m:oMath>
                </a14:m>
                <a:endParaRPr lang="en-US" sz="2000" b="1" dirty="0">
                  <a:latin typeface="Century Gothic" panose="020B0502020202020204" pitchFamily="34" charset="0"/>
                </a:endParaRPr>
              </a:p>
              <a:p>
                <a:pPr algn="ctr"/>
                <a:r>
                  <a:rPr lang="en-US" sz="2000" b="1" dirty="0">
                    <a:latin typeface="Century Gothic" panose="020B0502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203DEC9-C6A6-4C96-ABFF-4648A6E6BF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507" y="5520347"/>
                <a:ext cx="10818987" cy="707886"/>
              </a:xfrm>
              <a:prstGeom prst="rect">
                <a:avLst/>
              </a:prstGeom>
              <a:blipFill>
                <a:blip r:embed="rId3"/>
                <a:stretch>
                  <a:fillRect l="-113" t="-51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65434DED-2272-47C8-9624-D799D774B6F3}"/>
              </a:ext>
            </a:extLst>
          </p:cNvPr>
          <p:cNvSpPr/>
          <p:nvPr/>
        </p:nvSpPr>
        <p:spPr>
          <a:xfrm>
            <a:off x="103464" y="100668"/>
            <a:ext cx="11985072" cy="665247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4CA1F8-B5E0-4157-B4B6-672D5BBA1E4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3988">
            <a:off x="8072667" y="774643"/>
            <a:ext cx="4106224" cy="11082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BF6456-7CDD-4C2A-9E8E-5DCF28C64BC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9748">
            <a:off x="65895" y="619216"/>
            <a:ext cx="4106224" cy="111892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928B6D0-50B4-4616-8C9B-A4641DC2E855}"/>
              </a:ext>
            </a:extLst>
          </p:cNvPr>
          <p:cNvSpPr txBox="1">
            <a:spLocks/>
          </p:cNvSpPr>
          <p:nvPr/>
        </p:nvSpPr>
        <p:spPr>
          <a:xfrm>
            <a:off x="2081859" y="-74312"/>
            <a:ext cx="10515600" cy="1851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Topic: </a:t>
            </a:r>
            <a:r>
              <a:rPr lang="en-US" sz="2800" dirty="0"/>
              <a:t>Circles</a:t>
            </a:r>
            <a:br>
              <a:rPr lang="en-US" sz="2800" dirty="0"/>
            </a:br>
            <a:r>
              <a:rPr lang="en-US" sz="2800" b="1" dirty="0"/>
              <a:t>EQ: </a:t>
            </a:r>
            <a:r>
              <a:rPr lang="en-US" sz="2800" dirty="0"/>
              <a:t>How do I find the circumference and area of a circle?</a:t>
            </a:r>
            <a:endParaRPr lang="en-AU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408E92-0C67-45A4-B554-011D9F4F1C52}"/>
              </a:ext>
            </a:extLst>
          </p:cNvPr>
          <p:cNvSpPr/>
          <p:nvPr/>
        </p:nvSpPr>
        <p:spPr>
          <a:xfrm>
            <a:off x="4238014" y="3442050"/>
            <a:ext cx="3686786" cy="17497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437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B7A3-7C40-402E-9C69-829D3FFD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282" y="1852356"/>
            <a:ext cx="3701773" cy="3506597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latin typeface="Century Gothic" panose="020B0502020202020204" pitchFamily="34" charset="0"/>
              </a:rPr>
              <a:t>Try these on your own!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967DC9-4C9E-4EAF-A615-0D165A327F5A}"/>
              </a:ext>
            </a:extLst>
          </p:cNvPr>
          <p:cNvSpPr/>
          <p:nvPr/>
        </p:nvSpPr>
        <p:spPr>
          <a:xfrm>
            <a:off x="103464" y="100668"/>
            <a:ext cx="11985072" cy="665247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32996B-081C-4CEB-8700-8E38A605C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3988">
            <a:off x="7979581" y="875311"/>
            <a:ext cx="4106224" cy="11082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616524-41DA-49BC-8AD9-E72CDF05179C}"/>
              </a:ext>
            </a:extLst>
          </p:cNvPr>
          <p:cNvSpPr txBox="1"/>
          <p:nvPr/>
        </p:nvSpPr>
        <p:spPr>
          <a:xfrm>
            <a:off x="607625" y="167345"/>
            <a:ext cx="5174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Calculate the circumference of each circle.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0623FA-F283-40A4-8032-F15DD382AB19}"/>
              </a:ext>
            </a:extLst>
          </p:cNvPr>
          <p:cNvSpPr/>
          <p:nvPr/>
        </p:nvSpPr>
        <p:spPr>
          <a:xfrm>
            <a:off x="1046970" y="999802"/>
            <a:ext cx="1361873" cy="1351722"/>
          </a:xfrm>
          <a:prstGeom prst="ellipse">
            <a:avLst/>
          </a:prstGeom>
          <a:solidFill>
            <a:srgbClr val="BAFFC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0AC0C7-CC2B-4851-8F36-0DC6DCA92EBE}"/>
              </a:ext>
            </a:extLst>
          </p:cNvPr>
          <p:cNvSpPr/>
          <p:nvPr/>
        </p:nvSpPr>
        <p:spPr>
          <a:xfrm>
            <a:off x="3787659" y="5099910"/>
            <a:ext cx="1361873" cy="1351722"/>
          </a:xfrm>
          <a:prstGeom prst="ellipse">
            <a:avLst/>
          </a:prstGeom>
          <a:solidFill>
            <a:srgbClr val="FFDF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95B2F2-CF07-4E73-978C-8C888009F85F}"/>
              </a:ext>
            </a:extLst>
          </p:cNvPr>
          <p:cNvSpPr/>
          <p:nvPr/>
        </p:nvSpPr>
        <p:spPr>
          <a:xfrm>
            <a:off x="3787659" y="2953907"/>
            <a:ext cx="1361873" cy="1351722"/>
          </a:xfrm>
          <a:prstGeom prst="ellipse">
            <a:avLst/>
          </a:prstGeom>
          <a:solidFill>
            <a:srgbClr val="BAE1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5012124-A141-4F0B-A48C-F44D15941C64}"/>
              </a:ext>
            </a:extLst>
          </p:cNvPr>
          <p:cNvSpPr/>
          <p:nvPr/>
        </p:nvSpPr>
        <p:spPr>
          <a:xfrm>
            <a:off x="3787659" y="998343"/>
            <a:ext cx="1361873" cy="1351722"/>
          </a:xfrm>
          <a:prstGeom prst="ellipse">
            <a:avLst/>
          </a:prstGeom>
          <a:solidFill>
            <a:srgbClr val="FFFF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0EB3674-2E6D-4187-B71D-821E386D4579}"/>
              </a:ext>
            </a:extLst>
          </p:cNvPr>
          <p:cNvSpPr/>
          <p:nvPr/>
        </p:nvSpPr>
        <p:spPr>
          <a:xfrm>
            <a:off x="1079143" y="2929794"/>
            <a:ext cx="1361873" cy="1351722"/>
          </a:xfrm>
          <a:prstGeom prst="ellipse">
            <a:avLst/>
          </a:prstGeom>
          <a:solidFill>
            <a:srgbClr val="FFDF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0DC81CE-766A-4836-882D-53C9BA72F1B2}"/>
              </a:ext>
            </a:extLst>
          </p:cNvPr>
          <p:cNvSpPr/>
          <p:nvPr/>
        </p:nvSpPr>
        <p:spPr>
          <a:xfrm>
            <a:off x="1079143" y="5058560"/>
            <a:ext cx="1361873" cy="1351722"/>
          </a:xfrm>
          <a:prstGeom prst="ellipse">
            <a:avLst/>
          </a:prstGeom>
          <a:solidFill>
            <a:srgbClr val="FFB3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D5568D-1189-422B-A85C-B8C84277DE80}"/>
              </a:ext>
            </a:extLst>
          </p:cNvPr>
          <p:cNvCxnSpPr>
            <a:stCxn id="8" idx="2"/>
          </p:cNvCxnSpPr>
          <p:nvPr/>
        </p:nvCxnSpPr>
        <p:spPr>
          <a:xfrm flipV="1">
            <a:off x="1046970" y="1674204"/>
            <a:ext cx="680936" cy="1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0A8A1D-CA55-4FF7-A782-EF04E8B993BC}"/>
              </a:ext>
            </a:extLst>
          </p:cNvPr>
          <p:cNvCxnSpPr/>
          <p:nvPr/>
        </p:nvCxnSpPr>
        <p:spPr>
          <a:xfrm flipV="1">
            <a:off x="4465405" y="3628309"/>
            <a:ext cx="680936" cy="1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81FA82-DE05-4157-802A-BCD713E9359A}"/>
              </a:ext>
            </a:extLst>
          </p:cNvPr>
          <p:cNvCxnSpPr/>
          <p:nvPr/>
        </p:nvCxnSpPr>
        <p:spPr>
          <a:xfrm flipV="1">
            <a:off x="1075953" y="5732962"/>
            <a:ext cx="680936" cy="1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4B9B03-766A-4B97-B99B-AE70CD9056E5}"/>
              </a:ext>
            </a:extLst>
          </p:cNvPr>
          <p:cNvCxnSpPr>
            <a:cxnSpLocks/>
            <a:endCxn id="11" idx="6"/>
          </p:cNvCxnSpPr>
          <p:nvPr/>
        </p:nvCxnSpPr>
        <p:spPr>
          <a:xfrm flipV="1">
            <a:off x="3784469" y="1674204"/>
            <a:ext cx="1365063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41928DA-A39D-469A-8BAB-D790FBC0D98F}"/>
              </a:ext>
            </a:extLst>
          </p:cNvPr>
          <p:cNvCxnSpPr>
            <a:cxnSpLocks/>
          </p:cNvCxnSpPr>
          <p:nvPr/>
        </p:nvCxnSpPr>
        <p:spPr>
          <a:xfrm flipV="1">
            <a:off x="1075953" y="3628309"/>
            <a:ext cx="1365063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CD3E76-3DF3-46CB-92E7-7037ABD399D0}"/>
              </a:ext>
            </a:extLst>
          </p:cNvPr>
          <p:cNvCxnSpPr>
            <a:cxnSpLocks/>
          </p:cNvCxnSpPr>
          <p:nvPr/>
        </p:nvCxnSpPr>
        <p:spPr>
          <a:xfrm flipV="1">
            <a:off x="3784469" y="5773592"/>
            <a:ext cx="1365063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FA5BA9C-95B8-44D4-A21F-8F5CFDD128E6}"/>
              </a:ext>
            </a:extLst>
          </p:cNvPr>
          <p:cNvSpPr txBox="1"/>
          <p:nvPr/>
        </p:nvSpPr>
        <p:spPr>
          <a:xfrm>
            <a:off x="1019613" y="1367297"/>
            <a:ext cx="138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ldhabi" panose="01000000000000000000" pitchFamily="2" charset="-78"/>
              </a:rPr>
              <a:t>0.9 cm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CD4DDF-42D0-4661-9DDC-E55C95527873}"/>
              </a:ext>
            </a:extLst>
          </p:cNvPr>
          <p:cNvSpPr txBox="1"/>
          <p:nvPr/>
        </p:nvSpPr>
        <p:spPr>
          <a:xfrm>
            <a:off x="4240622" y="3305261"/>
            <a:ext cx="96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ldhabi" panose="01000000000000000000" pitchFamily="2" charset="-78"/>
              </a:rPr>
              <a:t>0.1 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CD338D-4E9B-47F4-B84C-6E9754A40D1F}"/>
              </a:ext>
            </a:extLst>
          </p:cNvPr>
          <p:cNvSpPr txBox="1"/>
          <p:nvPr/>
        </p:nvSpPr>
        <p:spPr>
          <a:xfrm>
            <a:off x="1050677" y="5404260"/>
            <a:ext cx="960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ldhabi" panose="01000000000000000000" pitchFamily="2" charset="-78"/>
              </a:rPr>
              <a:t>0.6 cm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E2ADA4-659E-421E-A7E0-CB5148AC3B1D}"/>
              </a:ext>
            </a:extLst>
          </p:cNvPr>
          <p:cNvSpPr txBox="1"/>
          <p:nvPr/>
        </p:nvSpPr>
        <p:spPr>
          <a:xfrm>
            <a:off x="4026138" y="1348334"/>
            <a:ext cx="117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ldhabi" panose="01000000000000000000" pitchFamily="2" charset="-78"/>
              </a:rPr>
              <a:t>1.6 cm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5FD1A2-B6F0-40B5-8D46-78604089ADAC}"/>
              </a:ext>
            </a:extLst>
          </p:cNvPr>
          <p:cNvSpPr txBox="1"/>
          <p:nvPr/>
        </p:nvSpPr>
        <p:spPr>
          <a:xfrm>
            <a:off x="1276568" y="3301178"/>
            <a:ext cx="96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ldhabi" panose="01000000000000000000" pitchFamily="2" charset="-78"/>
              </a:rPr>
              <a:t>0.6 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4C5DAE-3BF0-4FA1-9056-318A65A56CFD}"/>
              </a:ext>
            </a:extLst>
          </p:cNvPr>
          <p:cNvSpPr txBox="1"/>
          <p:nvPr/>
        </p:nvSpPr>
        <p:spPr>
          <a:xfrm>
            <a:off x="4026138" y="5404260"/>
            <a:ext cx="96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cs typeface="Aldhabi" panose="01000000000000000000" pitchFamily="2" charset="-78"/>
              </a:rPr>
              <a:t>0.8 m</a:t>
            </a:r>
          </a:p>
        </p:txBody>
      </p:sp>
    </p:spTree>
    <p:extLst>
      <p:ext uri="{BB962C8B-B14F-4D97-AF65-F5344CB8AC3E}">
        <p14:creationId xmlns:p14="http://schemas.microsoft.com/office/powerpoint/2010/main" val="1693024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13AC67-85A8-42E1-8C0C-36D4E3C4C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1685" y="2023635"/>
            <a:ext cx="6925092" cy="784449"/>
          </a:xfrm>
        </p:spPr>
        <p:txBody>
          <a:bodyPr>
            <a:normAutofit/>
          </a:bodyPr>
          <a:lstStyle/>
          <a:p>
            <a:r>
              <a:rPr lang="en-US" sz="32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</a:rPr>
              <a:t>Area</a:t>
            </a:r>
            <a:r>
              <a:rPr lang="en-US" dirty="0"/>
              <a:t> refers to the space inside a shape or figure.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23F8B9C1-14F8-4FE3-A9DE-D46897D01EF8}"/>
              </a:ext>
            </a:extLst>
          </p:cNvPr>
          <p:cNvSpPr/>
          <p:nvPr/>
        </p:nvSpPr>
        <p:spPr>
          <a:xfrm>
            <a:off x="833307" y="3947948"/>
            <a:ext cx="2332140" cy="2348917"/>
          </a:xfrm>
          <a:prstGeom prst="flowChartConnector">
            <a:avLst/>
          </a:prstGeom>
          <a:solidFill>
            <a:srgbClr val="BAE1FF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8C8ADF-0996-47FC-B565-EEA526500399}"/>
              </a:ext>
            </a:extLst>
          </p:cNvPr>
          <p:cNvCxnSpPr>
            <a:cxnSpLocks/>
          </p:cNvCxnSpPr>
          <p:nvPr/>
        </p:nvCxnSpPr>
        <p:spPr>
          <a:xfrm>
            <a:off x="2041322" y="5122406"/>
            <a:ext cx="1124125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AF1020-9BCC-4600-8F60-0C8DED403E41}"/>
                  </a:ext>
                </a:extLst>
              </p:cNvPr>
              <p:cNvSpPr txBox="1"/>
              <p:nvPr/>
            </p:nvSpPr>
            <p:spPr>
              <a:xfrm>
                <a:off x="4238014" y="3164784"/>
                <a:ext cx="7180978" cy="3231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As we can see, the circle has 1 radius (half of the diameter, or a line from the center of the circle to the circumference).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To calculate the Area of the Circle given, we use the formula</a:t>
                </a:r>
              </a:p>
              <a:p>
                <a:endParaRPr lang="en-US" sz="2400" dirty="0"/>
              </a:p>
              <a:p>
                <a:r>
                  <a:rPr lang="en-US" sz="3600" b="0" dirty="0">
                    <a:ln>
                      <a:solidFill>
                        <a:schemeClr val="tx1"/>
                      </a:solidFill>
                    </a:ln>
                    <a:solidFill>
                      <a:srgbClr val="BAFFC9"/>
                    </a:solidFill>
                    <a:ea typeface="Cambria Math" panose="02040503050406030204" pitchFamily="18" charset="0"/>
                  </a:rPr>
                  <a:t>Area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BAFFC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l-GR" sz="36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BAFFC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36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BAFFC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600" b="0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BAFFC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3600" b="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BAFFC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600" b="0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BAFFC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BAFFC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3600" b="0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BAFFC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200" dirty="0">
                  <a:ln>
                    <a:solidFill>
                      <a:schemeClr val="tx1"/>
                    </a:solidFill>
                  </a:ln>
                  <a:solidFill>
                    <a:srgbClr val="BAFFC9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AF1020-9BCC-4600-8F60-0C8DED403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014" y="3164784"/>
                <a:ext cx="7180978" cy="3231654"/>
              </a:xfrm>
              <a:prstGeom prst="rect">
                <a:avLst/>
              </a:prstGeom>
              <a:blipFill>
                <a:blip r:embed="rId2"/>
                <a:stretch>
                  <a:fillRect l="-1273" t="-15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84311163-106E-42E7-A18F-41CAA5BAF6E6}"/>
              </a:ext>
            </a:extLst>
          </p:cNvPr>
          <p:cNvSpPr/>
          <p:nvPr/>
        </p:nvSpPr>
        <p:spPr>
          <a:xfrm>
            <a:off x="103464" y="100668"/>
            <a:ext cx="11985072" cy="665247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B35DD0-F469-4258-9774-B7AE0648C3C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3988">
            <a:off x="8072667" y="774643"/>
            <a:ext cx="4106224" cy="11082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88B80B9-4CD8-4B02-8E9B-9107FD56C6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9748">
            <a:off x="65895" y="619216"/>
            <a:ext cx="4106224" cy="11189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EE48A62-B919-428F-A76D-1EC70598E4D1}"/>
              </a:ext>
            </a:extLst>
          </p:cNvPr>
          <p:cNvSpPr txBox="1"/>
          <p:nvPr/>
        </p:nvSpPr>
        <p:spPr>
          <a:xfrm>
            <a:off x="906325" y="3086042"/>
            <a:ext cx="2425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So how do we calculate Area?</a:t>
            </a:r>
          </a:p>
        </p:txBody>
      </p:sp>
      <p:pic>
        <p:nvPicPr>
          <p:cNvPr id="20" name="Picture 19" descr="A picture containing indoor&#10;&#10;Description automatically generated">
            <a:extLst>
              <a:ext uri="{FF2B5EF4-FFF2-40B4-BE49-F238E27FC236}">
                <a16:creationId xmlns:a16="http://schemas.microsoft.com/office/drawing/2014/main" id="{9B19646D-C3E1-4C81-AC76-B2EA1320AA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869771">
            <a:off x="2065128" y="2145488"/>
            <a:ext cx="2676765" cy="148317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F0B888C-7A7E-4972-881D-DDDE16E3AC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9EEE309-1A7B-420D-A40C-B9E9263911BB}"/>
              </a:ext>
            </a:extLst>
          </p:cNvPr>
          <p:cNvSpPr txBox="1">
            <a:spLocks/>
          </p:cNvSpPr>
          <p:nvPr/>
        </p:nvSpPr>
        <p:spPr>
          <a:xfrm>
            <a:off x="2387902" y="-85555"/>
            <a:ext cx="10515600" cy="1851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Topic: </a:t>
            </a:r>
            <a:r>
              <a:rPr lang="en-US" sz="2800" dirty="0"/>
              <a:t>Circles</a:t>
            </a:r>
            <a:br>
              <a:rPr lang="en-US" sz="2800" dirty="0"/>
            </a:br>
            <a:r>
              <a:rPr lang="en-US" sz="2800" b="1" dirty="0"/>
              <a:t>EQ: </a:t>
            </a:r>
            <a:r>
              <a:rPr lang="en-US" sz="2800" dirty="0"/>
              <a:t>How do I find the circumference and area of a circle?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14480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D098F-D897-4CED-9186-B7F7CF07B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4183" y="1641322"/>
            <a:ext cx="940308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Example 1: Find the Area of the circle given.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064933-3B18-454D-A3C2-2A232345F578}"/>
              </a:ext>
            </a:extLst>
          </p:cNvPr>
          <p:cNvGrpSpPr/>
          <p:nvPr/>
        </p:nvGrpSpPr>
        <p:grpSpPr>
          <a:xfrm>
            <a:off x="3649496" y="3032798"/>
            <a:ext cx="2332140" cy="2348917"/>
            <a:chOff x="3974573" y="3124362"/>
            <a:chExt cx="2332140" cy="2348917"/>
          </a:xfrm>
        </p:grpSpPr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ACA2BF99-1608-44AD-B73C-D3E82E2E44D4}"/>
                </a:ext>
              </a:extLst>
            </p:cNvPr>
            <p:cNvSpPr/>
            <p:nvPr/>
          </p:nvSpPr>
          <p:spPr>
            <a:xfrm>
              <a:off x="3974573" y="3124362"/>
              <a:ext cx="2332140" cy="2348917"/>
            </a:xfrm>
            <a:prstGeom prst="flowChartConnector">
              <a:avLst/>
            </a:prstGeom>
            <a:solidFill>
              <a:srgbClr val="FFDFBA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9E9784E-4039-4EF9-B965-B36D02FC17EF}"/>
                </a:ext>
              </a:extLst>
            </p:cNvPr>
            <p:cNvCxnSpPr>
              <a:cxnSpLocks/>
            </p:cNvCxnSpPr>
            <p:nvPr/>
          </p:nvCxnSpPr>
          <p:spPr>
            <a:xfrm>
              <a:off x="5098698" y="4327016"/>
              <a:ext cx="1208015" cy="0"/>
            </a:xfrm>
            <a:prstGeom prst="line">
              <a:avLst/>
            </a:prstGeom>
            <a:ln w="381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3A1EE5-80AB-4E30-AF87-253DAD5D31A0}"/>
                </a:ext>
              </a:extLst>
            </p:cNvPr>
            <p:cNvSpPr txBox="1"/>
            <p:nvPr/>
          </p:nvSpPr>
          <p:spPr>
            <a:xfrm>
              <a:off x="5354399" y="3929488"/>
              <a:ext cx="847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entury Gothic" panose="020B0502020202020204" pitchFamily="34" charset="0"/>
                </a:rPr>
                <a:t>4cm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F7C3F9-2E51-47DC-AE94-5BC1C9E7BE2E}"/>
                  </a:ext>
                </a:extLst>
              </p:cNvPr>
              <p:cNvSpPr txBox="1"/>
              <p:nvPr/>
            </p:nvSpPr>
            <p:spPr>
              <a:xfrm>
                <a:off x="6482965" y="1835075"/>
                <a:ext cx="4741604" cy="4245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440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4400" i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4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4400" i="1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400" dirty="0">
                  <a:ln>
                    <a:solidFill>
                      <a:schemeClr val="tx1"/>
                    </a:solidFill>
                  </a:ln>
                  <a:solidFill>
                    <a:srgbClr val="FFDFBA"/>
                  </a:solidFill>
                  <a:latin typeface="Century Gothic" panose="020B0502020202020204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3200" dirty="0">
                    <a:latin typeface="Century Gothic" panose="020B0502020202020204" pitchFamily="34" charset="0"/>
                  </a:rPr>
                  <a:t>A = 3.14 x 4</a:t>
                </a:r>
                <a:r>
                  <a:rPr lang="en-US" sz="3200" baseline="30000" dirty="0">
                    <a:latin typeface="Century Gothic" panose="020B0502020202020204" pitchFamily="34" charset="0"/>
                  </a:rPr>
                  <a:t>2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3200" dirty="0">
                    <a:latin typeface="Century Gothic" panose="020B0502020202020204" pitchFamily="34" charset="0"/>
                  </a:rPr>
                  <a:t>A = 3.14 x 16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3200" dirty="0">
                    <a:latin typeface="Century Gothic" panose="020B0502020202020204" pitchFamily="34" charset="0"/>
                  </a:rPr>
                  <a:t>A = 50.24cm</a:t>
                </a:r>
                <a:endParaRPr lang="en-US" sz="28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F7C3F9-2E51-47DC-AE94-5BC1C9E7B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965" y="1835075"/>
                <a:ext cx="4741604" cy="4245971"/>
              </a:xfrm>
              <a:prstGeom prst="rect">
                <a:avLst/>
              </a:prstGeom>
              <a:blipFill>
                <a:blip r:embed="rId2"/>
                <a:stretch>
                  <a:fillRect l="-3213" b="-3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7C37C80D-998A-4BE4-8283-B06D4D49D0D7}"/>
              </a:ext>
            </a:extLst>
          </p:cNvPr>
          <p:cNvSpPr/>
          <p:nvPr/>
        </p:nvSpPr>
        <p:spPr>
          <a:xfrm>
            <a:off x="103464" y="100668"/>
            <a:ext cx="11985072" cy="665247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48733C-E444-45BC-9F0D-B60C242F4C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3988">
            <a:off x="8072667" y="774643"/>
            <a:ext cx="4106224" cy="11082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FA7B47-572A-484F-A9E4-E980FEF6DE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9748">
            <a:off x="65895" y="619216"/>
            <a:ext cx="4106224" cy="111892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E9D4D71-70BB-4763-800F-FF89C5310854}"/>
              </a:ext>
            </a:extLst>
          </p:cNvPr>
          <p:cNvSpPr txBox="1">
            <a:spLocks/>
          </p:cNvSpPr>
          <p:nvPr/>
        </p:nvSpPr>
        <p:spPr>
          <a:xfrm>
            <a:off x="1944556" y="-19503"/>
            <a:ext cx="10515600" cy="1851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Topic: </a:t>
            </a:r>
            <a:r>
              <a:rPr lang="en-US" sz="2800" dirty="0"/>
              <a:t>Circles</a:t>
            </a:r>
            <a:br>
              <a:rPr lang="en-US" sz="2800" dirty="0"/>
            </a:br>
            <a:r>
              <a:rPr lang="en-US" sz="2800" b="1" dirty="0"/>
              <a:t>EQ: </a:t>
            </a:r>
            <a:r>
              <a:rPr lang="en-US" sz="2800" dirty="0"/>
              <a:t>How do I find the circumference and area of a circle?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100197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79E976-4D0C-4A55-8C1E-649FD28581DC}"/>
              </a:ext>
            </a:extLst>
          </p:cNvPr>
          <p:cNvSpPr txBox="1"/>
          <p:nvPr/>
        </p:nvSpPr>
        <p:spPr>
          <a:xfrm>
            <a:off x="6518313" y="2399514"/>
            <a:ext cx="43005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Century Gothic" panose="020B0502020202020204" pitchFamily="34" charset="0"/>
              </a:rPr>
              <a:t>Give these </a:t>
            </a:r>
          </a:p>
          <a:p>
            <a:pPr algn="ctr"/>
            <a:r>
              <a:rPr lang="en-US" sz="7200" b="1" dirty="0">
                <a:latin typeface="Century Gothic" panose="020B0502020202020204" pitchFamily="34" charset="0"/>
              </a:rPr>
              <a:t>a try!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413824-EAA6-4987-9214-7809F042E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4006">
            <a:off x="6804125" y="887316"/>
            <a:ext cx="5353620" cy="145883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08D7FE0-BA92-4DD8-85FD-CAA92ACD122C}"/>
              </a:ext>
            </a:extLst>
          </p:cNvPr>
          <p:cNvSpPr/>
          <p:nvPr/>
        </p:nvSpPr>
        <p:spPr>
          <a:xfrm>
            <a:off x="1046970" y="999802"/>
            <a:ext cx="1361873" cy="1351722"/>
          </a:xfrm>
          <a:prstGeom prst="ellipse">
            <a:avLst/>
          </a:prstGeom>
          <a:solidFill>
            <a:srgbClr val="BAFFC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9929DD-2ABA-4777-8B05-ED9F5BA5CCAA}"/>
              </a:ext>
            </a:extLst>
          </p:cNvPr>
          <p:cNvSpPr/>
          <p:nvPr/>
        </p:nvSpPr>
        <p:spPr>
          <a:xfrm>
            <a:off x="3787659" y="5099910"/>
            <a:ext cx="1361873" cy="1351722"/>
          </a:xfrm>
          <a:prstGeom prst="ellipse">
            <a:avLst/>
          </a:prstGeom>
          <a:solidFill>
            <a:srgbClr val="FFDF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B18E528-B72A-4BE1-A63C-1FF167B6298D}"/>
              </a:ext>
            </a:extLst>
          </p:cNvPr>
          <p:cNvSpPr/>
          <p:nvPr/>
        </p:nvSpPr>
        <p:spPr>
          <a:xfrm>
            <a:off x="3787659" y="2953907"/>
            <a:ext cx="1361873" cy="1351722"/>
          </a:xfrm>
          <a:prstGeom prst="ellipse">
            <a:avLst/>
          </a:prstGeom>
          <a:solidFill>
            <a:srgbClr val="BAE1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D29860-AF0D-405E-A855-5962EAEED08E}"/>
              </a:ext>
            </a:extLst>
          </p:cNvPr>
          <p:cNvSpPr/>
          <p:nvPr/>
        </p:nvSpPr>
        <p:spPr>
          <a:xfrm>
            <a:off x="3787659" y="998343"/>
            <a:ext cx="1361873" cy="1351722"/>
          </a:xfrm>
          <a:prstGeom prst="ellipse">
            <a:avLst/>
          </a:prstGeom>
          <a:solidFill>
            <a:srgbClr val="FFFF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B5E0F02-76F7-4268-A614-CA77815C09EA}"/>
              </a:ext>
            </a:extLst>
          </p:cNvPr>
          <p:cNvSpPr/>
          <p:nvPr/>
        </p:nvSpPr>
        <p:spPr>
          <a:xfrm>
            <a:off x="1079143" y="2929794"/>
            <a:ext cx="1361873" cy="1351722"/>
          </a:xfrm>
          <a:prstGeom prst="ellipse">
            <a:avLst/>
          </a:prstGeom>
          <a:solidFill>
            <a:srgbClr val="FFDF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26166D-0186-41FB-AE72-E10A1189C349}"/>
              </a:ext>
            </a:extLst>
          </p:cNvPr>
          <p:cNvSpPr/>
          <p:nvPr/>
        </p:nvSpPr>
        <p:spPr>
          <a:xfrm>
            <a:off x="1079143" y="5058560"/>
            <a:ext cx="1361873" cy="1351722"/>
          </a:xfrm>
          <a:prstGeom prst="ellipse">
            <a:avLst/>
          </a:prstGeom>
          <a:solidFill>
            <a:srgbClr val="FFB3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7ABAD2-47D9-467A-AA80-F1DBF19FE5FB}"/>
              </a:ext>
            </a:extLst>
          </p:cNvPr>
          <p:cNvSpPr txBox="1"/>
          <p:nvPr/>
        </p:nvSpPr>
        <p:spPr>
          <a:xfrm>
            <a:off x="647381" y="195990"/>
            <a:ext cx="5174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Calculate the area of each circle.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94D576-CAF3-4DB3-8CB8-CA5150ABC013}"/>
              </a:ext>
            </a:extLst>
          </p:cNvPr>
          <p:cNvSpPr/>
          <p:nvPr/>
        </p:nvSpPr>
        <p:spPr>
          <a:xfrm>
            <a:off x="103464" y="100668"/>
            <a:ext cx="11985072" cy="665247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505406-D273-4A6A-870F-88B7BD6D7D4A}"/>
              </a:ext>
            </a:extLst>
          </p:cNvPr>
          <p:cNvCxnSpPr>
            <a:cxnSpLocks/>
            <a:endCxn id="8" idx="5"/>
          </p:cNvCxnSpPr>
          <p:nvPr/>
        </p:nvCxnSpPr>
        <p:spPr>
          <a:xfrm>
            <a:off x="4468595" y="5777231"/>
            <a:ext cx="481495" cy="4764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C3888D-62A7-41AF-AE70-713FC6CF913C}"/>
              </a:ext>
            </a:extLst>
          </p:cNvPr>
          <p:cNvCxnSpPr/>
          <p:nvPr/>
        </p:nvCxnSpPr>
        <p:spPr>
          <a:xfrm flipV="1">
            <a:off x="1075953" y="3604196"/>
            <a:ext cx="680936" cy="1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85302E-E527-4742-B9FF-31664B85212F}"/>
              </a:ext>
            </a:extLst>
          </p:cNvPr>
          <p:cNvCxnSpPr>
            <a:cxnSpLocks/>
            <a:stCxn id="12" idx="1"/>
          </p:cNvCxnSpPr>
          <p:nvPr/>
        </p:nvCxnSpPr>
        <p:spPr>
          <a:xfrm>
            <a:off x="1278585" y="5256515"/>
            <a:ext cx="478304" cy="5154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CB6898-71BA-4E99-92AC-9421B783D5E2}"/>
              </a:ext>
            </a:extLst>
          </p:cNvPr>
          <p:cNvCxnSpPr>
            <a:cxnSpLocks/>
            <a:stCxn id="7" idx="1"/>
            <a:endCxn id="7" idx="5"/>
          </p:cNvCxnSpPr>
          <p:nvPr/>
        </p:nvCxnSpPr>
        <p:spPr>
          <a:xfrm>
            <a:off x="1246412" y="1197757"/>
            <a:ext cx="962989" cy="9558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9F0D6D3-0463-4A7A-A665-B1A67D19867C}"/>
              </a:ext>
            </a:extLst>
          </p:cNvPr>
          <p:cNvCxnSpPr>
            <a:cxnSpLocks/>
            <a:stCxn id="9" idx="3"/>
            <a:endCxn id="9" idx="7"/>
          </p:cNvCxnSpPr>
          <p:nvPr/>
        </p:nvCxnSpPr>
        <p:spPr>
          <a:xfrm flipV="1">
            <a:off x="3987101" y="3151862"/>
            <a:ext cx="962989" cy="9558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3EC23C8-75BE-4780-B5DD-B03118BBAD17}"/>
              </a:ext>
            </a:extLst>
          </p:cNvPr>
          <p:cNvCxnSpPr>
            <a:cxnSpLocks/>
            <a:stCxn id="10" idx="2"/>
            <a:endCxn id="10" idx="6"/>
          </p:cNvCxnSpPr>
          <p:nvPr/>
        </p:nvCxnSpPr>
        <p:spPr>
          <a:xfrm>
            <a:off x="3787659" y="1674204"/>
            <a:ext cx="13618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6A848DF-0D99-4CC2-8866-220F5504028E}"/>
              </a:ext>
            </a:extLst>
          </p:cNvPr>
          <p:cNvSpPr txBox="1"/>
          <p:nvPr/>
        </p:nvSpPr>
        <p:spPr>
          <a:xfrm>
            <a:off x="1091263" y="3281190"/>
            <a:ext cx="962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8 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DEAE90-58D6-4905-8895-8F95E9A2F366}"/>
              </a:ext>
            </a:extLst>
          </p:cNvPr>
          <p:cNvSpPr txBox="1"/>
          <p:nvPr/>
        </p:nvSpPr>
        <p:spPr>
          <a:xfrm rot="2548690">
            <a:off x="1248081" y="5349522"/>
            <a:ext cx="962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4 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3E0707-81F4-45EB-8E79-91A1FD6173E2}"/>
              </a:ext>
            </a:extLst>
          </p:cNvPr>
          <p:cNvSpPr txBox="1"/>
          <p:nvPr/>
        </p:nvSpPr>
        <p:spPr>
          <a:xfrm rot="2693290">
            <a:off x="4314536" y="5726178"/>
            <a:ext cx="962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10 in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4D445C-FDAE-4C3B-B1A6-82C9CFE4F46F}"/>
              </a:ext>
            </a:extLst>
          </p:cNvPr>
          <p:cNvSpPr txBox="1"/>
          <p:nvPr/>
        </p:nvSpPr>
        <p:spPr>
          <a:xfrm rot="2614526">
            <a:off x="1351508" y="1405612"/>
            <a:ext cx="962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14 cm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2DE4EA-AB6C-4514-9CDF-FE12E813BE7C}"/>
              </a:ext>
            </a:extLst>
          </p:cNvPr>
          <p:cNvSpPr txBox="1"/>
          <p:nvPr/>
        </p:nvSpPr>
        <p:spPr>
          <a:xfrm rot="18897498">
            <a:off x="3973985" y="3277543"/>
            <a:ext cx="962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10 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E452A7-1FE8-43F1-B1B0-F9D32C912245}"/>
              </a:ext>
            </a:extLst>
          </p:cNvPr>
          <p:cNvSpPr txBox="1"/>
          <p:nvPr/>
        </p:nvSpPr>
        <p:spPr>
          <a:xfrm>
            <a:off x="4081804" y="1338520"/>
            <a:ext cx="962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18 m</a:t>
            </a:r>
          </a:p>
        </p:txBody>
      </p:sp>
    </p:spTree>
    <p:extLst>
      <p:ext uri="{BB962C8B-B14F-4D97-AF65-F5344CB8AC3E}">
        <p14:creationId xmlns:p14="http://schemas.microsoft.com/office/powerpoint/2010/main" val="22787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E5941E-41D4-42CB-BD59-A652858BF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9748">
            <a:off x="65895" y="619216"/>
            <a:ext cx="4106224" cy="1118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29DFD5-B429-47BC-BABE-4D8BAADAC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3988">
            <a:off x="8072667" y="774643"/>
            <a:ext cx="4106224" cy="11082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2C07B0B-A6CC-46B7-BB71-43B07B216EE1}"/>
              </a:ext>
            </a:extLst>
          </p:cNvPr>
          <p:cNvSpPr/>
          <p:nvPr/>
        </p:nvSpPr>
        <p:spPr>
          <a:xfrm>
            <a:off x="103464" y="100668"/>
            <a:ext cx="11985072" cy="665247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E223C-1AA4-46F5-9565-0A846B689FFE}"/>
              </a:ext>
            </a:extLst>
          </p:cNvPr>
          <p:cNvSpPr txBox="1">
            <a:spLocks/>
          </p:cNvSpPr>
          <p:nvPr/>
        </p:nvSpPr>
        <p:spPr>
          <a:xfrm>
            <a:off x="2356692" y="1328778"/>
            <a:ext cx="7769087" cy="4276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W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h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a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t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 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Q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u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e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s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t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i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o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n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s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 </a:t>
            </a:r>
          </a:p>
          <a:p>
            <a:pPr algn="ctr"/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d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o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 y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o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u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 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h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a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v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e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?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74223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6728</TotalTime>
  <Words>556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Cambria Math</vt:lpstr>
      <vt:lpstr>Calibri Light</vt:lpstr>
      <vt:lpstr>Luckiest Guy</vt:lpstr>
      <vt:lpstr>Calibri</vt:lpstr>
      <vt:lpstr>Arial</vt:lpstr>
      <vt:lpstr>Century Gothic</vt:lpstr>
      <vt:lpstr>Arial Black</vt:lpstr>
      <vt:lpstr>Office Theme</vt:lpstr>
      <vt:lpstr>Complete new Cover page and content page</vt:lpstr>
      <vt:lpstr>Topic: Circles EQ: How do I find the circumference and area of a circle?</vt:lpstr>
      <vt:lpstr>Have a go at these questions:</vt:lpstr>
      <vt:lpstr>Topic: Circles EQ: How do I find the circumference and area of a circle?</vt:lpstr>
      <vt:lpstr>PowerPoint Presentation</vt:lpstr>
      <vt:lpstr>PowerPoint Presentation</vt:lpstr>
      <vt:lpstr>PowerPoint Presentation</vt:lpstr>
      <vt:lpstr>Try these on your own!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circles</dc:title>
  <dc:creator>GREGORY Jade [Baldivis Secondary College]</dc:creator>
  <cp:lastModifiedBy>Jade Gregory</cp:lastModifiedBy>
  <cp:revision>33</cp:revision>
  <dcterms:created xsi:type="dcterms:W3CDTF">2018-11-28T12:02:55Z</dcterms:created>
  <dcterms:modified xsi:type="dcterms:W3CDTF">2021-09-19T13:06:56Z</dcterms:modified>
</cp:coreProperties>
</file>
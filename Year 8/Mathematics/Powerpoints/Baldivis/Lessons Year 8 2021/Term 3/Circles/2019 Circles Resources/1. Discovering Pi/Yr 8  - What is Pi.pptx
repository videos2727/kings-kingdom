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62" r:id="rId6"/>
    <p:sldId id="367" r:id="rId7"/>
    <p:sldId id="369" r:id="rId8"/>
    <p:sldId id="368" r:id="rId9"/>
    <p:sldId id="3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7A52-F37A-4C25-AA2E-74D479A2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6AD4B-3CA8-4008-BC16-8F3632648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4A543-6847-477B-A3D8-CB500A4F0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D453-432B-4236-B999-1A167E58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C9B7D-95B5-4CEC-84D6-42A92885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348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051B-4A6B-4DF5-A2A5-586DD952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8EED2-BB2C-4219-AD85-3F274D8E3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38106-4B0A-4538-A058-BB8B70C4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1F4D8-9C44-4B43-B8B3-A8C374E3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2DA1B-0F50-4900-9A0A-E94724F2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882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5AD3-D7E4-40A9-B1D3-47883E880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91679-BFA9-43DA-9999-26BAB5A82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A28E8-37EE-4B0B-B94C-AE5D578B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E6793-8873-4EAA-802F-C8BB6D31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57C27-3624-48A6-8032-396821F8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480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E2BB-67F6-44C2-ACBE-CE0C086C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00B75-4B5D-4F7E-B3B5-653FDA22C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68D4A-C6CC-4607-8E33-7BE071CD6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D7E3E-1A6B-4782-977D-DCB53ECF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00E6E-36A0-46B4-8BA6-38F68C82C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3FC0A-7B1F-4088-A9F4-64804702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5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A94E-9C83-4E6D-BEC9-937CE3B3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43EA9-6688-4588-B8DD-F7DB34A5B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B7B4F-474E-458F-B9A7-4F6EB49A8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9881D-6585-4B60-BED4-AF13E4346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EE2FAE-6566-4EF1-82B1-626276E96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8533D-DFB0-4E36-8C20-A239A3B8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DD30E-D4F5-46BC-B1E2-10EB39FC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D124E-B105-4574-BBDA-57E9A3B6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4376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8253-EA03-4105-BB63-081AF59A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779F8-4435-4784-84DC-E052DCB87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9A3C2-ACB5-409D-968D-227A6C46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3EB32-1350-4F2D-8181-866592BB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065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7C984-A275-477D-8EED-F769D0E0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E565A-A962-4C95-B6AD-A63D399AD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5895C-4019-40DB-B81A-DE9EA42A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10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64AE-1ECB-406E-9291-4DCBEE561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E70E1-EDBC-4B31-A903-A4BC31BBE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97694-45A0-49C5-BF3C-2C2BDDC82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F4E5B-E50C-4A3E-87CF-A6BE5CD5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8B57E-B7CD-45FD-898B-E70DE4F8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BD266-81A3-48D7-8215-00CE29DD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97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CBDC-5EA6-4E1D-BA75-0F7C45738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96938-B65F-4E80-88C9-0D9EB4E8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CD862-AAB4-4E36-9451-FD6BE700D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F02D4-3CEB-4E3C-B7C1-E9302E76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8D49B-876F-4922-891B-F23CBC49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0FFD5-ED76-4345-BDDF-39A332EB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938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E5B9-152B-4E94-B399-BF383B99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78D17-0AF8-4A66-9CF2-4A4523BA4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0252C-7742-4F48-B9AB-AB5130659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5C8DE-1973-4086-B4CD-DEB4FEFB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534F4-03EB-4DF3-BC9B-6769E49E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2318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71766-2DF0-49F1-B226-D2E200A5F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EFE02-E323-478E-B090-AB219AB4A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DFF13-675D-47A3-86C6-0F53EEAC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220A5-6740-4B62-9216-32E93D86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22378-16D2-40A4-B740-9CC73ED6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45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96989-6545-4BC2-968A-A044725E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1425F-3B3E-416B-8375-B76C7AFC3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2B609-6A50-4D58-9B83-B87577D47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CDB8B-AC9F-4FEC-9C44-84D84C77D4C5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0FAAB-114C-41BC-BF31-1759668C4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B4B6A-5994-458A-80C5-F14AFF77C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C298A-B027-417E-9503-C356898A4D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07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70EA-B6F0-4B92-9AE4-C9227EE0F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What is Pi?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C6F6E-8E6A-4AC5-9588-0E44134B8F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7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89D48C-1291-4FFE-8F6D-EA49566F451F}"/>
              </a:ext>
            </a:extLst>
          </p:cNvPr>
          <p:cNvSpPr txBox="1"/>
          <p:nvPr/>
        </p:nvSpPr>
        <p:spPr>
          <a:xfrm>
            <a:off x="198783" y="318052"/>
            <a:ext cx="37768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you M&amp;M’s as a way to measure the distance across your circle.</a:t>
            </a:r>
          </a:p>
          <a:p>
            <a:endParaRPr lang="en-AU" dirty="0"/>
          </a:p>
          <a:p>
            <a:r>
              <a:rPr lang="en-AU" dirty="0"/>
              <a:t>Then use the M&amp;M’s to measure the circumference of this circle.</a:t>
            </a:r>
          </a:p>
          <a:p>
            <a:endParaRPr lang="en-AU" dirty="0"/>
          </a:p>
          <a:p>
            <a:r>
              <a:rPr lang="en-AU" dirty="0"/>
              <a:t>Use this to fill in the table for each circle.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BB6DC-34F3-41C1-8CD6-1DD866365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321" y="274156"/>
            <a:ext cx="6084057" cy="341683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8B8D96-D2E7-4043-9031-CF4395672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637949"/>
              </p:ext>
            </p:extLst>
          </p:nvPr>
        </p:nvGraphicFramePr>
        <p:xfrm>
          <a:off x="712717" y="4231625"/>
          <a:ext cx="8192743" cy="2560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87269">
                  <a:extLst>
                    <a:ext uri="{9D8B030D-6E8A-4147-A177-3AD203B41FA5}">
                      <a16:colId xmlns:a16="http://schemas.microsoft.com/office/drawing/2014/main" val="3071240531"/>
                    </a:ext>
                  </a:extLst>
                </a:gridCol>
                <a:gridCol w="1884592">
                  <a:extLst>
                    <a:ext uri="{9D8B030D-6E8A-4147-A177-3AD203B41FA5}">
                      <a16:colId xmlns:a16="http://schemas.microsoft.com/office/drawing/2014/main" val="869487147"/>
                    </a:ext>
                  </a:extLst>
                </a:gridCol>
                <a:gridCol w="2231126">
                  <a:extLst>
                    <a:ext uri="{9D8B030D-6E8A-4147-A177-3AD203B41FA5}">
                      <a16:colId xmlns:a16="http://schemas.microsoft.com/office/drawing/2014/main" val="1249244000"/>
                    </a:ext>
                  </a:extLst>
                </a:gridCol>
                <a:gridCol w="2689756">
                  <a:extLst>
                    <a:ext uri="{9D8B030D-6E8A-4147-A177-3AD203B41FA5}">
                      <a16:colId xmlns:a16="http://schemas.microsoft.com/office/drawing/2014/main" val="3976737737"/>
                    </a:ext>
                  </a:extLst>
                </a:gridCol>
              </a:tblGrid>
              <a:tr h="332507">
                <a:tc>
                  <a:txBody>
                    <a:bodyPr/>
                    <a:lstStyle/>
                    <a:p>
                      <a:r>
                        <a:rPr lang="en-AU" dirty="0"/>
                        <a:t>Circle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Diameter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Circumference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Diameter ÷ Circumference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8468294"/>
                  </a:ext>
                </a:extLst>
              </a:tr>
              <a:tr h="332507">
                <a:tc>
                  <a:txBody>
                    <a:bodyPr/>
                    <a:lstStyle/>
                    <a:p>
                      <a:r>
                        <a:rPr lang="en-AU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 6÷2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209593"/>
                  </a:ext>
                </a:extLst>
              </a:tr>
              <a:tr h="332507">
                <a:tc>
                  <a:txBody>
                    <a:bodyPr/>
                    <a:lstStyle/>
                    <a:p>
                      <a:r>
                        <a:rPr lang="en-AU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16498"/>
                  </a:ext>
                </a:extLst>
              </a:tr>
              <a:tr h="332507"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996654"/>
                  </a:ext>
                </a:extLst>
              </a:tr>
              <a:tr h="332507">
                <a:tc>
                  <a:txBody>
                    <a:bodyPr/>
                    <a:lstStyle/>
                    <a:p>
                      <a:r>
                        <a:rPr lang="en-AU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5277"/>
                  </a:ext>
                </a:extLst>
              </a:tr>
              <a:tr h="332507">
                <a:tc>
                  <a:txBody>
                    <a:bodyPr/>
                    <a:lstStyle/>
                    <a:p>
                      <a:r>
                        <a:rPr lang="en-AU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838772"/>
                  </a:ext>
                </a:extLst>
              </a:tr>
              <a:tr h="332507">
                <a:tc>
                  <a:txBody>
                    <a:bodyPr/>
                    <a:lstStyle/>
                    <a:p>
                      <a:r>
                        <a:rPr lang="en-AU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10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307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 explained with pie">
            <a:hlinkClick r:id="" action="ppaction://media"/>
            <a:extLst>
              <a:ext uri="{FF2B5EF4-FFF2-40B4-BE49-F238E27FC236}">
                <a16:creationId xmlns:a16="http://schemas.microsoft.com/office/drawing/2014/main" id="{7DB27B80-B3B6-45E2-B010-A7A59EBE21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0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72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D1DE70-7B59-4976-90E5-D17FD2A0ACA3}"/>
              </a:ext>
            </a:extLst>
          </p:cNvPr>
          <p:cNvSpPr txBox="1"/>
          <p:nvPr/>
        </p:nvSpPr>
        <p:spPr>
          <a:xfrm>
            <a:off x="119270" y="59346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we get the number “Pi”?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38396-9868-4D05-8B1A-72D674C69525}"/>
              </a:ext>
            </a:extLst>
          </p:cNvPr>
          <p:cNvSpPr txBox="1"/>
          <p:nvPr/>
        </p:nvSpPr>
        <p:spPr>
          <a:xfrm>
            <a:off x="119270" y="12992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Pi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E39C02-E371-4270-9651-FC12B4803669}"/>
              </a:ext>
            </a:extLst>
          </p:cNvPr>
          <p:cNvCxnSpPr/>
          <p:nvPr/>
        </p:nvCxnSpPr>
        <p:spPr>
          <a:xfrm>
            <a:off x="0" y="5934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7EFFFE-BB8A-4FCA-BF55-0888D39D9273}"/>
              </a:ext>
            </a:extLst>
          </p:cNvPr>
          <p:cNvCxnSpPr/>
          <p:nvPr/>
        </p:nvCxnSpPr>
        <p:spPr>
          <a:xfrm>
            <a:off x="0" y="105887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649D53-48CB-43A5-9FAB-CB08012F4A6A}"/>
              </a:ext>
            </a:extLst>
          </p:cNvPr>
          <p:cNvCxnSpPr>
            <a:cxnSpLocks/>
          </p:cNvCxnSpPr>
          <p:nvPr/>
        </p:nvCxnSpPr>
        <p:spPr>
          <a:xfrm>
            <a:off x="1828800" y="1055132"/>
            <a:ext cx="0" cy="5802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6C9985-0DAA-4A5B-9739-76431CFE3DCF}"/>
                  </a:ext>
                </a:extLst>
              </p:cNvPr>
              <p:cNvSpPr txBox="1"/>
              <p:nvPr/>
            </p:nvSpPr>
            <p:spPr>
              <a:xfrm>
                <a:off x="1921565" y="1239747"/>
                <a:ext cx="10084905" cy="4490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An irrational number is a decimal number that continues on forever (like a recurring decimal) but it does not repeat (unlike a recurring decimal).</a:t>
                </a:r>
              </a:p>
              <a:p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The number “Pi” or  </a:t>
                </a:r>
                <a14:m>
                  <m:oMath xmlns:m="http://schemas.openxmlformats.org/officeDocument/2006/math">
                    <m:r>
                      <a:rPr lang="en-AU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AU" sz="2400" dirty="0"/>
                  <a:t> is an irrational number that occurs when we divide the circumference of a circle by the diameter of a circle.</a:t>
                </a:r>
              </a:p>
              <a:p>
                <a:endParaRPr lang="en-AU" sz="2400" dirty="0"/>
              </a:p>
              <a:p>
                <a:r>
                  <a:rPr lang="en-AU" sz="2400" dirty="0"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AU" sz="2400" dirty="0"/>
                  <a:t>3.14 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We can use it to calculate the circumference of circles.</a:t>
                </a:r>
              </a:p>
              <a:p>
                <a:r>
                  <a:rPr lang="en-AU" sz="2400" dirty="0"/>
                  <a:t>	circumference = </a:t>
                </a:r>
                <a14:m>
                  <m:oMath xmlns:m="http://schemas.openxmlformats.org/officeDocument/2006/math">
                    <m:r>
                      <a:rPr lang="en-AU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AU" sz="2400" dirty="0"/>
                  <a:t> x diameter  	or     circumference = </a:t>
                </a:r>
                <a14:m>
                  <m:oMath xmlns:m="http://schemas.openxmlformats.org/officeDocument/2006/math">
                    <m:r>
                      <a:rPr lang="en-AU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AU" sz="2400" dirty="0"/>
                  <a:t> x radius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6C9985-0DAA-4A5B-9739-76431CFE3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565" y="1239747"/>
                <a:ext cx="10084905" cy="4490268"/>
              </a:xfrm>
              <a:prstGeom prst="rect">
                <a:avLst/>
              </a:prstGeom>
              <a:blipFill>
                <a:blip r:embed="rId2"/>
                <a:stretch>
                  <a:fillRect l="-906" t="-1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300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together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2" y="1405661"/>
            <a:ext cx="6912768" cy="18989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042" y="3717032"/>
            <a:ext cx="2592288" cy="1869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882" y="3717032"/>
            <a:ext cx="2503479" cy="1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5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233605-0DD6-4C61-AE58-67734F6C7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332656"/>
            <a:ext cx="8683628" cy="6291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FD05D9-B42C-430F-BBE4-D716D1CFD1BB}"/>
              </a:ext>
            </a:extLst>
          </p:cNvPr>
          <p:cNvSpPr/>
          <p:nvPr/>
        </p:nvSpPr>
        <p:spPr>
          <a:xfrm>
            <a:off x="2040835" y="2994992"/>
            <a:ext cx="8490321" cy="3180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720A4C-EA80-4577-A517-987D0DA45479}"/>
              </a:ext>
            </a:extLst>
          </p:cNvPr>
          <p:cNvSpPr/>
          <p:nvPr/>
        </p:nvSpPr>
        <p:spPr>
          <a:xfrm>
            <a:off x="1854151" y="6207292"/>
            <a:ext cx="8490321" cy="3180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790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EFBE9B-C747-4AE1-8B85-B34DE84F6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260649"/>
            <a:ext cx="8424936" cy="61892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E0D44D-5879-496B-AE1F-1CC7931A0533}"/>
              </a:ext>
            </a:extLst>
          </p:cNvPr>
          <p:cNvSpPr/>
          <p:nvPr/>
        </p:nvSpPr>
        <p:spPr>
          <a:xfrm>
            <a:off x="1854151" y="2878188"/>
            <a:ext cx="8490321" cy="3180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49592-3E86-48B1-991F-DBFB052774D6}"/>
              </a:ext>
            </a:extLst>
          </p:cNvPr>
          <p:cNvSpPr/>
          <p:nvPr/>
        </p:nvSpPr>
        <p:spPr>
          <a:xfrm>
            <a:off x="1919536" y="6131830"/>
            <a:ext cx="8490321" cy="3180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46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FE6477-FE8F-4EA0-8DF7-0965699A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9" y="620688"/>
            <a:ext cx="8517779" cy="29523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473F4D-D180-43DF-B948-872B77C0438E}"/>
              </a:ext>
            </a:extLst>
          </p:cNvPr>
          <p:cNvSpPr/>
          <p:nvPr/>
        </p:nvSpPr>
        <p:spPr>
          <a:xfrm>
            <a:off x="2066186" y="3373000"/>
            <a:ext cx="8490321" cy="400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40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A4070E-97A8-46D1-B495-434A96AA2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420995"/>
            <a:ext cx="8430315" cy="29512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5C658E-782F-40B2-B267-C1CC23701736}"/>
              </a:ext>
            </a:extLst>
          </p:cNvPr>
          <p:cNvSpPr/>
          <p:nvPr/>
        </p:nvSpPr>
        <p:spPr>
          <a:xfrm>
            <a:off x="1961540" y="3054195"/>
            <a:ext cx="8490321" cy="3180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1469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137</Words>
  <Application>Microsoft Office PowerPoint</Application>
  <PresentationFormat>Widescreen</PresentationFormat>
  <Paragraphs>31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What is Pi?</vt:lpstr>
      <vt:lpstr>PowerPoint Presentation</vt:lpstr>
      <vt:lpstr>PowerPoint Presentation</vt:lpstr>
      <vt:lpstr>PowerPoint Presentation</vt:lpstr>
      <vt:lpstr>Let’s do some together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Pi?</dc:title>
  <dc:creator>WILSON James [Baldivis Secondary College]</dc:creator>
  <cp:lastModifiedBy>WILSON James [Baldivis Secondary College]</cp:lastModifiedBy>
  <cp:revision>5</cp:revision>
  <dcterms:created xsi:type="dcterms:W3CDTF">2019-05-23T14:01:25Z</dcterms:created>
  <dcterms:modified xsi:type="dcterms:W3CDTF">2019-05-23T14:33:19Z</dcterms:modified>
</cp:coreProperties>
</file>
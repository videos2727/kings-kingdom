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3" r:id="rId2"/>
    <p:sldMasterId id="2147483661" r:id="rId3"/>
  </p:sldMasterIdLst>
  <p:notesMasterIdLst>
    <p:notesMasterId r:id="rId23"/>
  </p:notesMasterIdLst>
  <p:handoutMasterIdLst>
    <p:handoutMasterId r:id="rId24"/>
  </p:handoutMasterIdLst>
  <p:sldIdLst>
    <p:sldId id="298" r:id="rId4"/>
    <p:sldId id="292" r:id="rId5"/>
    <p:sldId id="294" r:id="rId6"/>
    <p:sldId id="281" r:id="rId7"/>
    <p:sldId id="280" r:id="rId8"/>
    <p:sldId id="268" r:id="rId9"/>
    <p:sldId id="278" r:id="rId10"/>
    <p:sldId id="279" r:id="rId11"/>
    <p:sldId id="269" r:id="rId12"/>
    <p:sldId id="283" r:id="rId13"/>
    <p:sldId id="284" r:id="rId14"/>
    <p:sldId id="285" r:id="rId15"/>
    <p:sldId id="282" r:id="rId16"/>
    <p:sldId id="286" r:id="rId17"/>
    <p:sldId id="287" r:id="rId18"/>
    <p:sldId id="288" r:id="rId19"/>
    <p:sldId id="289" r:id="rId20"/>
    <p:sldId id="296" r:id="rId21"/>
    <p:sldId id="299" r:id="rId22"/>
  </p:sldIdLst>
  <p:sldSz cx="12192000" cy="6858000"/>
  <p:notesSz cx="10234613" cy="7099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06" autoAdjust="0"/>
    <p:restoredTop sz="94660"/>
  </p:normalViewPr>
  <p:slideViewPr>
    <p:cSldViewPr snapToGrid="0">
      <p:cViewPr varScale="1">
        <p:scale>
          <a:sx n="92" d="100"/>
          <a:sy n="92" d="100"/>
        </p:scale>
        <p:origin x="-120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7" d="100"/>
          <a:sy n="117" d="100"/>
        </p:scale>
        <p:origin x="23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619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797246" y="0"/>
            <a:ext cx="4434999" cy="35619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02F5E693-0224-4A4C-8D24-A9126DE68BE1}" type="datetimeFigureOut">
              <a:rPr lang="en-AU" smtClean="0"/>
              <a:t>27-Feb-17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43103"/>
            <a:ext cx="4434999" cy="35619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797246" y="6743103"/>
            <a:ext cx="4434999" cy="35619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6B8AC761-2EA5-4FB0-804A-674BD929E0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3529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550" y="0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190C0F-ED56-794A-8295-69B0CD8413FE}" type="datetimeFigureOut">
              <a:rPr lang="en-US" smtClean="0"/>
              <a:t>2/27/2017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87675" y="887413"/>
            <a:ext cx="4259263" cy="23955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938" y="3416300"/>
            <a:ext cx="8186737" cy="27955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3700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550" y="6743700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C5D84-0B17-FF43-81FE-3906865B4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90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0" y="1440000"/>
            <a:ext cx="10560000" cy="1200000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en-US" dirty="0" smtClean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0000" y="2880000"/>
            <a:ext cx="10560000" cy="33600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EFB1-45C7-4049-B073-B343CB1F5C4A}" type="slidenum">
              <a:rPr lang="en-AU" smtClean="0"/>
              <a:t>‹#›</a:t>
            </a:fld>
            <a:endParaRPr lang="en-AU" dirty="0"/>
          </a:p>
        </p:txBody>
      </p:sp>
    </p:spTree>
    <p:extLst/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EFB1-45C7-4049-B073-B343CB1F5C4A}" type="slidenum">
              <a:rPr lang="en-AU" smtClean="0"/>
              <a:t>‹#›</a:t>
            </a:fld>
            <a:endParaRPr lang="en-AU" dirty="0"/>
          </a:p>
        </p:txBody>
      </p:sp>
    </p:spTree>
    <p:extLst/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0000" y="2880000"/>
            <a:ext cx="5160000" cy="3360000"/>
          </a:xfrm>
        </p:spPr>
        <p:txBody>
          <a:bodyPr/>
          <a:lstStyle>
            <a:lvl1pPr marL="239994">
              <a:defRPr sz="2667">
                <a:solidFill>
                  <a:schemeClr val="tx1"/>
                </a:solidFill>
              </a:defRPr>
            </a:lvl1pPr>
            <a:lvl2pPr marL="479988">
              <a:defRPr sz="2667">
                <a:solidFill>
                  <a:schemeClr val="tx1"/>
                </a:solidFill>
              </a:defRPr>
            </a:lvl2pPr>
            <a:lvl3pPr marL="719982">
              <a:defRPr sz="2667">
                <a:solidFill>
                  <a:schemeClr val="tx1"/>
                </a:solidFill>
              </a:defRPr>
            </a:lvl3pPr>
            <a:lvl4pPr marL="959976">
              <a:defRPr sz="2667">
                <a:solidFill>
                  <a:schemeClr val="tx1"/>
                </a:solidFill>
              </a:defRPr>
            </a:lvl4pPr>
            <a:lvl5pPr marL="1199970">
              <a:defRPr sz="2667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0000" y="2880000"/>
            <a:ext cx="5160000" cy="3360000"/>
          </a:xfrm>
        </p:spPr>
        <p:txBody>
          <a:bodyPr>
            <a:normAutofit/>
          </a:bodyPr>
          <a:lstStyle>
            <a:lvl1pPr marL="239994">
              <a:defRPr sz="2667">
                <a:solidFill>
                  <a:schemeClr val="tx1"/>
                </a:solidFill>
              </a:defRPr>
            </a:lvl1pPr>
            <a:lvl2pPr marL="479988">
              <a:defRPr sz="2667">
                <a:solidFill>
                  <a:schemeClr val="tx1"/>
                </a:solidFill>
              </a:defRPr>
            </a:lvl2pPr>
            <a:lvl3pPr marL="719982">
              <a:defRPr sz="2667">
                <a:solidFill>
                  <a:schemeClr val="tx1"/>
                </a:solidFill>
              </a:defRPr>
            </a:lvl3pPr>
            <a:lvl4pPr marL="959976">
              <a:defRPr sz="2667">
                <a:solidFill>
                  <a:schemeClr val="tx1"/>
                </a:solidFill>
              </a:defRPr>
            </a:lvl4pPr>
            <a:lvl5pPr marL="1199970">
              <a:defRPr sz="2667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EFB1-45C7-4049-B073-B343CB1F5C4A}" type="slidenum">
              <a:rPr lang="en-AU" smtClean="0"/>
              <a:t>‹#›</a:t>
            </a:fld>
            <a:endParaRPr lang="en-AU" dirty="0"/>
          </a:p>
        </p:txBody>
      </p:sp>
    </p:spTree>
    <p:extLst/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/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0000" y="1440000"/>
            <a:ext cx="10560000" cy="120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000" y="2880000"/>
            <a:ext cx="10560000" cy="336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00000" y="6336000"/>
            <a:ext cx="1920000" cy="38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67">
                <a:solidFill>
                  <a:schemeClr val="tx1"/>
                </a:solidFill>
              </a:defRPr>
            </a:lvl1pPr>
          </a:lstStyle>
          <a:p>
            <a:fld id="{D1BBEFB1-45C7-4049-B073-B343CB1F5C4A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99353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hf hdr="0" ftr="0" dt="0"/>
  <p:txStyles>
    <p:titleStyle>
      <a:lvl1pPr algn="l" defTabSz="1219170" rtl="0" eaLnBrk="1" latinLnBrk="0" hangingPunct="1">
        <a:spcBef>
          <a:spcPct val="0"/>
        </a:spcBef>
        <a:buNone/>
        <a:defRPr sz="4267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39994" indent="-239994" algn="l" defTabSz="1219170" rtl="0" eaLnBrk="1" latinLnBrk="0" hangingPunct="1"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479988" indent="-239994" algn="l" defTabSz="1219170" rtl="0" eaLnBrk="1" latinLnBrk="0" hangingPunct="1">
        <a:spcBef>
          <a:spcPts val="0"/>
        </a:spcBef>
        <a:spcAft>
          <a:spcPts val="80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2pPr>
      <a:lvl3pPr marL="719982" indent="-239994" algn="l" defTabSz="1219170" rtl="0" eaLnBrk="1" latinLnBrk="0" hangingPunct="1"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959976" indent="-239994" algn="l" defTabSz="1219170" rtl="0" eaLnBrk="1" latinLnBrk="0" hangingPunct="1">
        <a:spcBef>
          <a:spcPts val="0"/>
        </a:spcBef>
        <a:spcAft>
          <a:spcPts val="80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1199970" indent="-239994" algn="l" defTabSz="1219170" rtl="0" eaLnBrk="1" latinLnBrk="0" hangingPunct="1">
        <a:spcBef>
          <a:spcPts val="0"/>
        </a:spcBef>
        <a:spcAft>
          <a:spcPts val="80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1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ommons.wikimedia.org/wiki/File:Ariel_50_inch_High_Wheel_Bike.jpg?uselang=en-gb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commons.wikimedia.org/wiki/File:High_wheeler.jpg?uselang=en-gb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commons.wikimedia.org/wiki/File:OceanaGold_mining_truck_Macraes,_NZ.jpg?uselang=en-gb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commons.wikimedia.org/wiki/File:Big_South_American_dump_truck.jpg?uselang=en-gb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/index.php?curid=47383540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/index.php?curid=47383540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mmons.wikimedia.org/wiki/File:London_Eye_Pod.jpg?uselang=en-gb" TargetMode="Externa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947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Lesson 1: Circumference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i="1" dirty="0" smtClean="0"/>
              <a:t>Reinforcement…</a:t>
            </a:r>
          </a:p>
          <a:p>
            <a:r>
              <a:rPr lang="en-AU" i="1" dirty="0" smtClean="0"/>
              <a:t>Reasonable Approximations</a:t>
            </a:r>
            <a:endParaRPr lang="en-AU" i="1" dirty="0"/>
          </a:p>
        </p:txBody>
      </p:sp>
    </p:spTree>
    <p:extLst>
      <p:ext uri="{BB962C8B-B14F-4D97-AF65-F5344CB8AC3E}">
        <p14:creationId xmlns:p14="http://schemas.microsoft.com/office/powerpoint/2010/main" val="4293445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How this works…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995436"/>
            <a:ext cx="9720073" cy="4023360"/>
          </a:xfrm>
        </p:spPr>
        <p:txBody>
          <a:bodyPr>
            <a:noAutofit/>
          </a:bodyPr>
          <a:lstStyle/>
          <a:p>
            <a:pPr marL="470916" lvl="1" indent="-342900">
              <a:buFont typeface="Arial" panose="020B0604020202020204" pitchFamily="34" charset="0"/>
              <a:buChar char="•"/>
            </a:pPr>
            <a:r>
              <a:rPr lang="en-AU" sz="2600" dirty="0" smtClean="0"/>
              <a:t>Make a sign to hold up for ‘greater than’ and a sign for ‘less than’. </a:t>
            </a:r>
          </a:p>
          <a:p>
            <a:pPr marL="470916" lvl="1" indent="-342900">
              <a:buFont typeface="Arial" panose="020B0604020202020204" pitchFamily="34" charset="0"/>
              <a:buChar char="•"/>
            </a:pPr>
            <a:endParaRPr lang="en-AU" sz="2600" dirty="0"/>
          </a:p>
          <a:p>
            <a:pPr marL="470916" lvl="1" indent="-342900">
              <a:buFont typeface="Arial" panose="020B0604020202020204" pitchFamily="34" charset="0"/>
              <a:buChar char="•"/>
            </a:pPr>
            <a:r>
              <a:rPr lang="en-AU" sz="2600" dirty="0" smtClean="0"/>
              <a:t>Hold up your symbol (showing  </a:t>
            </a:r>
            <a:r>
              <a:rPr lang="en-AU" sz="2600" b="1" dirty="0" smtClean="0">
                <a:solidFill>
                  <a:srgbClr val="FFC000"/>
                </a:solidFill>
              </a:rPr>
              <a:t>&gt;</a:t>
            </a:r>
            <a:r>
              <a:rPr lang="en-AU" sz="2600" dirty="0" smtClean="0"/>
              <a:t> or </a:t>
            </a:r>
            <a:r>
              <a:rPr lang="en-AU" sz="2600" b="1" dirty="0">
                <a:solidFill>
                  <a:srgbClr val="FFC000"/>
                </a:solidFill>
              </a:rPr>
              <a:t>&lt;</a:t>
            </a:r>
            <a:r>
              <a:rPr lang="en-AU" sz="2600" dirty="0"/>
              <a:t> </a:t>
            </a:r>
            <a:r>
              <a:rPr lang="en-AU" sz="2600" dirty="0" smtClean="0"/>
              <a:t>) to show if the particular </a:t>
            </a:r>
            <a:r>
              <a:rPr lang="en-AU" sz="2600" dirty="0"/>
              <a:t>property </a:t>
            </a:r>
            <a:r>
              <a:rPr lang="en-AU" sz="2600" dirty="0" smtClean="0"/>
              <a:t>– circumference, diameter or radius – is greater than or less than the stated value</a:t>
            </a:r>
          </a:p>
          <a:p>
            <a:pPr marL="982980" lvl="4" indent="-342900">
              <a:buFont typeface="Arial" panose="020B0604020202020204" pitchFamily="34" charset="0"/>
              <a:buChar char="•"/>
            </a:pPr>
            <a:r>
              <a:rPr lang="en-AU" sz="2600" dirty="0" smtClean="0"/>
              <a:t>Don’t </a:t>
            </a:r>
            <a:r>
              <a:rPr lang="en-AU" sz="2600" dirty="0"/>
              <a:t>take too long making each </a:t>
            </a:r>
            <a:r>
              <a:rPr lang="en-AU" sz="2600" dirty="0" smtClean="0"/>
              <a:t>decision; you </a:t>
            </a:r>
            <a:r>
              <a:rPr lang="en-AU" sz="2600" dirty="0"/>
              <a:t>are allowed to change your mind as you get more </a:t>
            </a:r>
            <a:r>
              <a:rPr lang="en-AU" sz="2600" dirty="0" smtClean="0"/>
              <a:t>information with each slide!</a:t>
            </a:r>
          </a:p>
          <a:p>
            <a:pPr marL="128016" lvl="1" indent="0">
              <a:buNone/>
            </a:pPr>
            <a:r>
              <a:rPr lang="en-AU" sz="2600" dirty="0" smtClean="0"/>
              <a:t>Think about:</a:t>
            </a:r>
          </a:p>
          <a:p>
            <a:pPr marL="470916" lvl="1" indent="-342900">
              <a:buFont typeface="Arial" panose="020B0604020202020204" pitchFamily="34" charset="0"/>
              <a:buChar char="•"/>
            </a:pPr>
            <a:r>
              <a:rPr lang="en-AU" sz="2600" dirty="0" smtClean="0"/>
              <a:t>What is a reasonable estimate?</a:t>
            </a:r>
          </a:p>
          <a:p>
            <a:pPr marL="470916" lvl="1" indent="-342900">
              <a:buFont typeface="Arial" panose="020B0604020202020204" pitchFamily="34" charset="0"/>
              <a:buChar char="•"/>
            </a:pPr>
            <a:r>
              <a:rPr lang="en-AU" sz="2600" dirty="0" smtClean="0"/>
              <a:t>When does having more information help?</a:t>
            </a:r>
          </a:p>
        </p:txBody>
      </p:sp>
    </p:spTree>
    <p:extLst>
      <p:ext uri="{BB962C8B-B14F-4D97-AF65-F5344CB8AC3E}">
        <p14:creationId xmlns:p14="http://schemas.microsoft.com/office/powerpoint/2010/main" val="387007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is one revolution OF…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t">
            <a:normAutofit fontScale="25000" lnSpcReduction="20000"/>
          </a:bodyPr>
          <a:lstStyle/>
          <a:p>
            <a:endParaRPr lang="en-AU" sz="1000" dirty="0" smtClean="0"/>
          </a:p>
          <a:p>
            <a:endParaRPr lang="en-AU" sz="1000" dirty="0"/>
          </a:p>
          <a:p>
            <a:r>
              <a:rPr lang="en-AU" sz="12800" dirty="0" smtClean="0"/>
              <a:t>the large wheel of a</a:t>
            </a:r>
          </a:p>
          <a:p>
            <a:r>
              <a:rPr lang="en-AU" sz="12800" dirty="0" smtClean="0"/>
              <a:t>Penny farthing bicycle</a:t>
            </a:r>
          </a:p>
          <a:p>
            <a:r>
              <a:rPr lang="en-AU" sz="12800" dirty="0"/>
              <a:t>m</a:t>
            </a:r>
            <a:r>
              <a:rPr lang="en-AU" sz="12800" dirty="0" smtClean="0"/>
              <a:t>ore than,</a:t>
            </a:r>
            <a:r>
              <a:rPr lang="en-AU" sz="12800" dirty="0"/>
              <a:t> </a:t>
            </a:r>
            <a:r>
              <a:rPr lang="en-AU" sz="12800" dirty="0" smtClean="0"/>
              <a:t>or less than,</a:t>
            </a:r>
          </a:p>
          <a:p>
            <a:r>
              <a:rPr lang="en-AU" sz="12800" dirty="0" smtClean="0"/>
              <a:t>5 metres?</a:t>
            </a:r>
          </a:p>
          <a:p>
            <a:pPr marL="0" indent="0">
              <a:buNone/>
            </a:pPr>
            <a:endParaRPr lang="en-AU" sz="1000" dirty="0" smtClean="0"/>
          </a:p>
          <a:p>
            <a:pPr marL="0" indent="0">
              <a:buNone/>
            </a:pPr>
            <a:endParaRPr lang="en-AU" sz="1000" dirty="0" smtClean="0"/>
          </a:p>
          <a:p>
            <a:pPr marL="0" indent="0">
              <a:buNone/>
            </a:pPr>
            <a:endParaRPr lang="en-AU" sz="1000" dirty="0" smtClean="0"/>
          </a:p>
          <a:p>
            <a:pPr marL="0" indent="0">
              <a:buNone/>
            </a:pPr>
            <a:endParaRPr lang="en-AU" sz="1000" dirty="0" smtClean="0"/>
          </a:p>
          <a:p>
            <a:endParaRPr lang="en-AU" sz="1000" dirty="0" smtClean="0"/>
          </a:p>
          <a:p>
            <a:pPr marL="0" indent="0">
              <a:buNone/>
            </a:pPr>
            <a:endParaRPr lang="en-AU" sz="1000" dirty="0"/>
          </a:p>
          <a:p>
            <a:pPr marL="0" indent="0">
              <a:buNone/>
            </a:pPr>
            <a:endParaRPr lang="en-AU" sz="1000" dirty="0" smtClean="0"/>
          </a:p>
          <a:p>
            <a:pPr marL="0" indent="0">
              <a:buNone/>
            </a:pPr>
            <a:r>
              <a:rPr lang="en-AU" sz="1000" dirty="0" smtClean="0"/>
              <a:t>				</a:t>
            </a:r>
            <a:endParaRPr lang="en-AU" sz="3400" dirty="0"/>
          </a:p>
        </p:txBody>
      </p:sp>
    </p:spTree>
    <p:extLst>
      <p:ext uri="{BB962C8B-B14F-4D97-AF65-F5344CB8AC3E}">
        <p14:creationId xmlns:p14="http://schemas.microsoft.com/office/powerpoint/2010/main" val="248011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is one revolution OF…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t">
            <a:normAutofit fontScale="25000" lnSpcReduction="20000"/>
          </a:bodyPr>
          <a:lstStyle/>
          <a:p>
            <a:endParaRPr lang="en-AU" sz="1000" dirty="0" smtClean="0"/>
          </a:p>
          <a:p>
            <a:endParaRPr lang="en-AU" sz="1000" dirty="0"/>
          </a:p>
          <a:p>
            <a:r>
              <a:rPr lang="en-AU" sz="12800" dirty="0" smtClean="0"/>
              <a:t>the large wheel of a</a:t>
            </a:r>
          </a:p>
          <a:p>
            <a:r>
              <a:rPr lang="en-AU" sz="12800" dirty="0" smtClean="0"/>
              <a:t>Penny farthing bicycle</a:t>
            </a:r>
          </a:p>
          <a:p>
            <a:r>
              <a:rPr lang="en-AU" sz="12800" dirty="0"/>
              <a:t>m</a:t>
            </a:r>
            <a:r>
              <a:rPr lang="en-AU" sz="12800" dirty="0" smtClean="0"/>
              <a:t>ore than,</a:t>
            </a:r>
            <a:r>
              <a:rPr lang="en-AU" sz="12800" dirty="0"/>
              <a:t> </a:t>
            </a:r>
            <a:r>
              <a:rPr lang="en-AU" sz="12800" dirty="0" smtClean="0"/>
              <a:t>or less than,</a:t>
            </a:r>
          </a:p>
          <a:p>
            <a:r>
              <a:rPr lang="en-AU" sz="12800" dirty="0" smtClean="0"/>
              <a:t>5 metres?</a:t>
            </a:r>
          </a:p>
          <a:p>
            <a:pPr marL="0" indent="0">
              <a:buNone/>
            </a:pPr>
            <a:endParaRPr lang="en-AU" sz="1000" dirty="0" smtClean="0"/>
          </a:p>
          <a:p>
            <a:pPr marL="0" indent="0">
              <a:buNone/>
            </a:pPr>
            <a:endParaRPr lang="en-AU" sz="1000" dirty="0" smtClean="0"/>
          </a:p>
          <a:p>
            <a:pPr marL="0" indent="0">
              <a:buNone/>
            </a:pPr>
            <a:endParaRPr lang="en-AU" sz="1000" dirty="0" smtClean="0"/>
          </a:p>
          <a:p>
            <a:pPr marL="0" indent="0">
              <a:buNone/>
            </a:pPr>
            <a:endParaRPr lang="en-AU" sz="1000" dirty="0" smtClean="0"/>
          </a:p>
          <a:p>
            <a:endParaRPr lang="en-AU" sz="1000" dirty="0" smtClean="0"/>
          </a:p>
          <a:p>
            <a:pPr marL="0" indent="0">
              <a:buNone/>
            </a:pPr>
            <a:endParaRPr lang="en-AU" sz="1000" dirty="0"/>
          </a:p>
          <a:p>
            <a:pPr marL="0" indent="0">
              <a:buNone/>
            </a:pPr>
            <a:endParaRPr lang="en-AU" sz="1000" dirty="0" smtClean="0"/>
          </a:p>
          <a:p>
            <a:pPr marL="0" indent="0">
              <a:buNone/>
            </a:pPr>
            <a:r>
              <a:rPr lang="en-AU" sz="1000" dirty="0" smtClean="0"/>
              <a:t>				</a:t>
            </a:r>
            <a:r>
              <a:rPr lang="en-AU" sz="3400" dirty="0" smtClean="0"/>
              <a:t>Image taken from </a:t>
            </a:r>
            <a:r>
              <a:rPr lang="en-AU" sz="3400" dirty="0">
                <a:hlinkClick r:id="rId2"/>
              </a:rPr>
              <a:t>https://</a:t>
            </a:r>
            <a:r>
              <a:rPr lang="en-AU" sz="3400" dirty="0" smtClean="0">
                <a:hlinkClick r:id="rId2"/>
              </a:rPr>
              <a:t>commons.wikimedia.org/wiki/File:Ariel_50_inch_High_Wheel_Bike.jpg?uselang=en-gb</a:t>
            </a:r>
            <a:r>
              <a:rPr lang="en-AU" sz="3400" dirty="0" smtClean="0"/>
              <a:t> </a:t>
            </a:r>
            <a:endParaRPr lang="en-AU" sz="3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578" y="2040870"/>
            <a:ext cx="4889619" cy="365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88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is one revolution OF…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t">
            <a:normAutofit fontScale="25000" lnSpcReduction="20000"/>
          </a:bodyPr>
          <a:lstStyle/>
          <a:p>
            <a:endParaRPr lang="en-AU" sz="1000" dirty="0" smtClean="0"/>
          </a:p>
          <a:p>
            <a:endParaRPr lang="en-AU" sz="1000" dirty="0"/>
          </a:p>
          <a:p>
            <a:r>
              <a:rPr lang="en-AU" sz="12800" dirty="0" smtClean="0"/>
              <a:t>the large wheel of a</a:t>
            </a:r>
          </a:p>
          <a:p>
            <a:r>
              <a:rPr lang="en-AU" sz="12800" dirty="0" smtClean="0"/>
              <a:t>Penny farthing bicycle</a:t>
            </a:r>
          </a:p>
          <a:p>
            <a:r>
              <a:rPr lang="en-AU" sz="12800" dirty="0"/>
              <a:t>m</a:t>
            </a:r>
            <a:r>
              <a:rPr lang="en-AU" sz="12800" dirty="0" smtClean="0"/>
              <a:t>ore than,</a:t>
            </a:r>
            <a:r>
              <a:rPr lang="en-AU" sz="12800" dirty="0"/>
              <a:t> </a:t>
            </a:r>
            <a:r>
              <a:rPr lang="en-AU" sz="12800" dirty="0" smtClean="0"/>
              <a:t>or less than,</a:t>
            </a:r>
          </a:p>
          <a:p>
            <a:r>
              <a:rPr lang="en-AU" sz="12800" dirty="0" smtClean="0"/>
              <a:t>5 metres?</a:t>
            </a:r>
          </a:p>
          <a:p>
            <a:pPr marL="0" indent="0">
              <a:buNone/>
            </a:pPr>
            <a:endParaRPr lang="en-AU" sz="1000" dirty="0" smtClean="0"/>
          </a:p>
          <a:p>
            <a:pPr marL="0" indent="0">
              <a:buNone/>
            </a:pPr>
            <a:endParaRPr lang="en-AU" sz="1000" dirty="0" smtClean="0"/>
          </a:p>
          <a:p>
            <a:pPr marL="0" indent="0">
              <a:buNone/>
            </a:pPr>
            <a:endParaRPr lang="en-AU" sz="1000" dirty="0" smtClean="0"/>
          </a:p>
          <a:p>
            <a:pPr marL="0" indent="0">
              <a:buNone/>
            </a:pPr>
            <a:endParaRPr lang="en-AU" sz="1000" dirty="0" smtClean="0"/>
          </a:p>
          <a:p>
            <a:endParaRPr lang="en-AU" sz="1000" dirty="0" smtClean="0"/>
          </a:p>
          <a:p>
            <a:pPr marL="0" indent="0">
              <a:buNone/>
            </a:pPr>
            <a:endParaRPr lang="en-AU" sz="1000" dirty="0"/>
          </a:p>
          <a:p>
            <a:pPr marL="0" indent="0">
              <a:buNone/>
            </a:pPr>
            <a:endParaRPr lang="en-AU" sz="1000" dirty="0" smtClean="0"/>
          </a:p>
          <a:p>
            <a:pPr marL="0" indent="0">
              <a:buNone/>
            </a:pPr>
            <a:r>
              <a:rPr lang="en-AU" sz="1000" dirty="0" smtClean="0"/>
              <a:t>				</a:t>
            </a:r>
            <a:r>
              <a:rPr lang="en-AU" sz="3400" dirty="0" smtClean="0"/>
              <a:t>Image taken from </a:t>
            </a:r>
            <a:r>
              <a:rPr lang="en-AU" sz="3400" dirty="0">
                <a:hlinkClick r:id="rId2"/>
              </a:rPr>
              <a:t>https://</a:t>
            </a:r>
            <a:r>
              <a:rPr lang="en-AU" sz="3400" dirty="0" smtClean="0">
                <a:hlinkClick r:id="rId2"/>
              </a:rPr>
              <a:t>commons.wikimedia.org/wiki/File:High_wheeler.jpg?uselang=en-gb</a:t>
            </a:r>
            <a:r>
              <a:rPr lang="en-AU" sz="3400" dirty="0" smtClean="0"/>
              <a:t> </a:t>
            </a:r>
            <a:endParaRPr lang="en-AU" sz="3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116" y="1880075"/>
            <a:ext cx="3611666" cy="361166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54365" y="4862810"/>
            <a:ext cx="9483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 smtClean="0"/>
              <a:t>&lt;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1667999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is one revolution Of…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t">
            <a:normAutofit fontScale="85000" lnSpcReduction="20000"/>
          </a:bodyPr>
          <a:lstStyle/>
          <a:p>
            <a:endParaRPr lang="en-AU" sz="1000" dirty="0" smtClean="0"/>
          </a:p>
          <a:p>
            <a:endParaRPr lang="en-AU" sz="1000" dirty="0"/>
          </a:p>
          <a:p>
            <a:endParaRPr lang="en-AU" sz="1000" dirty="0" smtClean="0"/>
          </a:p>
          <a:p>
            <a:r>
              <a:rPr lang="en-AU" sz="3800" dirty="0" smtClean="0"/>
              <a:t>the </a:t>
            </a:r>
            <a:r>
              <a:rPr lang="en-AU" sz="3800" dirty="0"/>
              <a:t>wheel of a mine </a:t>
            </a:r>
            <a:endParaRPr lang="en-AU" sz="3800" dirty="0" smtClean="0"/>
          </a:p>
          <a:p>
            <a:r>
              <a:rPr lang="en-AU" sz="3800" dirty="0" smtClean="0"/>
              <a:t>dump truck more </a:t>
            </a:r>
            <a:r>
              <a:rPr lang="en-AU" sz="3800" dirty="0"/>
              <a:t>than, </a:t>
            </a:r>
            <a:endParaRPr lang="en-AU" sz="3800" dirty="0" smtClean="0"/>
          </a:p>
          <a:p>
            <a:r>
              <a:rPr lang="en-AU" sz="3800" dirty="0" smtClean="0"/>
              <a:t>or </a:t>
            </a:r>
            <a:r>
              <a:rPr lang="en-AU" sz="3800" dirty="0"/>
              <a:t>less than, 10 metres?</a:t>
            </a:r>
          </a:p>
          <a:p>
            <a:endParaRPr lang="en-AU" sz="1000" dirty="0" smtClean="0"/>
          </a:p>
          <a:p>
            <a:endParaRPr lang="en-AU" sz="1000" dirty="0" smtClean="0"/>
          </a:p>
          <a:p>
            <a:pPr algn="ctr"/>
            <a:endParaRPr lang="en-AU" sz="1000" dirty="0"/>
          </a:p>
          <a:p>
            <a:r>
              <a:rPr lang="en-AU" sz="1000" dirty="0" smtClean="0"/>
              <a:t>				</a:t>
            </a:r>
            <a:r>
              <a:rPr lang="en-AU" sz="2100" dirty="0" smtClean="0"/>
              <a:t>  </a:t>
            </a:r>
          </a:p>
          <a:p>
            <a:r>
              <a:rPr lang="en-AU" sz="3100" dirty="0" smtClean="0"/>
              <a:t> 				</a:t>
            </a:r>
            <a:endParaRPr lang="en-AU" sz="3100" dirty="0"/>
          </a:p>
        </p:txBody>
      </p:sp>
    </p:spTree>
    <p:extLst>
      <p:ext uri="{BB962C8B-B14F-4D97-AF65-F5344CB8AC3E}">
        <p14:creationId xmlns:p14="http://schemas.microsoft.com/office/powerpoint/2010/main" val="3124581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is one revolution Of…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24128" y="2286000"/>
            <a:ext cx="9720074" cy="4023360"/>
          </a:xfrm>
        </p:spPr>
        <p:txBody>
          <a:bodyPr anchor="t">
            <a:normAutofit fontScale="40000" lnSpcReduction="20000"/>
          </a:bodyPr>
          <a:lstStyle/>
          <a:p>
            <a:endParaRPr lang="en-AU" sz="1000" dirty="0" smtClean="0"/>
          </a:p>
          <a:p>
            <a:endParaRPr lang="en-AU" sz="1000" dirty="0"/>
          </a:p>
          <a:p>
            <a:endParaRPr lang="en-AU" sz="1000" dirty="0" smtClean="0"/>
          </a:p>
          <a:p>
            <a:endParaRPr lang="en-AU" sz="1000" dirty="0" smtClean="0"/>
          </a:p>
          <a:p>
            <a:r>
              <a:rPr lang="en-AU" sz="8000" dirty="0" smtClean="0"/>
              <a:t>the </a:t>
            </a:r>
            <a:r>
              <a:rPr lang="en-AU" sz="8000" dirty="0"/>
              <a:t>wheel of a mine </a:t>
            </a:r>
          </a:p>
          <a:p>
            <a:r>
              <a:rPr lang="en-AU" sz="8000" dirty="0"/>
              <a:t>dump truck more than, </a:t>
            </a:r>
          </a:p>
          <a:p>
            <a:r>
              <a:rPr lang="en-AU" sz="8000" dirty="0"/>
              <a:t>or less than, 10 metres?</a:t>
            </a:r>
          </a:p>
          <a:p>
            <a:endParaRPr lang="en-AU" sz="1000" dirty="0" smtClean="0"/>
          </a:p>
          <a:p>
            <a:endParaRPr lang="en-AU" sz="1000" dirty="0" smtClean="0"/>
          </a:p>
          <a:p>
            <a:endParaRPr lang="en-AU" sz="1000" dirty="0" smtClean="0"/>
          </a:p>
          <a:p>
            <a:pPr algn="ctr"/>
            <a:endParaRPr lang="en-AU" sz="1000" dirty="0" smtClean="0"/>
          </a:p>
          <a:p>
            <a:r>
              <a:rPr lang="en-AU" sz="1000" dirty="0" smtClean="0"/>
              <a:t>				</a:t>
            </a:r>
            <a:r>
              <a:rPr lang="en-AU" sz="2100" dirty="0" smtClean="0"/>
              <a:t>  </a:t>
            </a:r>
          </a:p>
          <a:p>
            <a:r>
              <a:rPr lang="en-AU" sz="3100" dirty="0" smtClean="0"/>
              <a:t> 				</a:t>
            </a:r>
            <a:r>
              <a:rPr lang="en-AU" sz="1200" dirty="0" smtClean="0"/>
              <a:t>     Image taken from </a:t>
            </a:r>
            <a:r>
              <a:rPr lang="en-AU" sz="1200" dirty="0" smtClean="0">
                <a:hlinkClick r:id="rId2"/>
              </a:rPr>
              <a:t>https://commons.wikimedia.org/wiki/File:OceanaGold_mining_truck_Macraes,_NZ.jpg?uselang=en-gb</a:t>
            </a:r>
            <a:r>
              <a:rPr lang="en-AU" sz="1200" dirty="0" smtClean="0"/>
              <a:t> </a:t>
            </a:r>
            <a:endParaRPr lang="en-AU" sz="31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053" y="2350906"/>
            <a:ext cx="4505058" cy="288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5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is one revolution Of…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t">
            <a:normAutofit fontScale="85000" lnSpcReduction="20000"/>
          </a:bodyPr>
          <a:lstStyle/>
          <a:p>
            <a:endParaRPr lang="en-AU" sz="1000" dirty="0" smtClean="0"/>
          </a:p>
          <a:p>
            <a:endParaRPr lang="en-AU" sz="1000" dirty="0"/>
          </a:p>
          <a:p>
            <a:endParaRPr lang="en-AU" sz="1000" dirty="0" smtClean="0"/>
          </a:p>
          <a:p>
            <a:r>
              <a:rPr lang="en-AU" sz="3800" dirty="0" smtClean="0"/>
              <a:t>the </a:t>
            </a:r>
            <a:r>
              <a:rPr lang="en-AU" sz="3800" dirty="0"/>
              <a:t>wheel of a mine </a:t>
            </a:r>
          </a:p>
          <a:p>
            <a:r>
              <a:rPr lang="en-AU" sz="3800" dirty="0"/>
              <a:t>dump truck more than, </a:t>
            </a:r>
          </a:p>
          <a:p>
            <a:r>
              <a:rPr lang="en-AU" sz="3800" dirty="0"/>
              <a:t>or less than, 10 metres?</a:t>
            </a:r>
          </a:p>
          <a:p>
            <a:endParaRPr lang="en-AU" sz="1000" dirty="0" smtClean="0"/>
          </a:p>
          <a:p>
            <a:endParaRPr lang="en-AU" sz="1000" dirty="0" smtClean="0"/>
          </a:p>
          <a:p>
            <a:pPr algn="ctr"/>
            <a:endParaRPr lang="en-AU" sz="1000" dirty="0"/>
          </a:p>
          <a:p>
            <a:r>
              <a:rPr lang="en-AU" sz="1000" dirty="0" smtClean="0"/>
              <a:t>				</a:t>
            </a:r>
            <a:r>
              <a:rPr lang="en-AU" sz="2100" dirty="0" smtClean="0"/>
              <a:t>  </a:t>
            </a:r>
          </a:p>
          <a:p>
            <a:r>
              <a:rPr lang="en-AU" sz="3100" dirty="0" smtClean="0"/>
              <a:t> 				</a:t>
            </a:r>
            <a:r>
              <a:rPr lang="en-AU" sz="1200" dirty="0" smtClean="0"/>
              <a:t>     Image taken </a:t>
            </a:r>
            <a:r>
              <a:rPr lang="en-AU" sz="1200" dirty="0"/>
              <a:t>from </a:t>
            </a:r>
            <a:r>
              <a:rPr lang="en-AU" sz="1200" dirty="0">
                <a:hlinkClick r:id="rId2"/>
              </a:rPr>
              <a:t>https://</a:t>
            </a:r>
            <a:r>
              <a:rPr lang="en-AU" sz="1200" dirty="0" smtClean="0">
                <a:hlinkClick r:id="rId2"/>
              </a:rPr>
              <a:t>commons.wikimedia.org/wiki/File:Big_South_American_dump_truck.jpg?uselang=en-gb</a:t>
            </a:r>
            <a:r>
              <a:rPr lang="en-AU" sz="1200" dirty="0" smtClean="0"/>
              <a:t> </a:t>
            </a:r>
            <a:endParaRPr lang="en-AU" sz="31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590" y="2289932"/>
            <a:ext cx="4616152" cy="34621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54365" y="4862810"/>
            <a:ext cx="9483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 smtClean="0"/>
              <a:t>&lt;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113136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Is one revolution of…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the London Eye</a:t>
            </a:r>
          </a:p>
          <a:p>
            <a:r>
              <a:rPr lang="en-AU" sz="3200" dirty="0"/>
              <a:t>m</a:t>
            </a:r>
            <a:r>
              <a:rPr lang="en-AU" sz="3200" dirty="0" smtClean="0"/>
              <a:t>ore than, or less than</a:t>
            </a:r>
          </a:p>
          <a:p>
            <a:r>
              <a:rPr lang="en-AU" sz="3200" dirty="0" smtClean="0"/>
              <a:t>500 m?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18445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Is one revolution of…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/>
              <a:t>the London Eye</a:t>
            </a:r>
          </a:p>
          <a:p>
            <a:r>
              <a:rPr lang="en-AU" sz="3200" dirty="0"/>
              <a:t>more than, or less than</a:t>
            </a:r>
          </a:p>
          <a:p>
            <a:r>
              <a:rPr lang="en-AU" sz="3200" dirty="0"/>
              <a:t>500 m?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722" y="2445914"/>
            <a:ext cx="4535817" cy="34018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7698" y="600769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1200" dirty="0"/>
              <a:t>By </a:t>
            </a:r>
            <a:r>
              <a:rPr lang="en-AU" sz="1200" dirty="0" err="1"/>
              <a:t>hobbesnblue</a:t>
            </a:r>
            <a:r>
              <a:rPr lang="en-AU" sz="1200" dirty="0"/>
              <a:t>, CC BY-SA 3.0, </a:t>
            </a:r>
            <a:r>
              <a:rPr lang="en-AU" sz="1200" dirty="0">
                <a:hlinkClick r:id="rId3"/>
              </a:rPr>
              <a:t>https://</a:t>
            </a:r>
            <a:r>
              <a:rPr lang="en-AU" sz="1200" dirty="0" smtClean="0">
                <a:hlinkClick r:id="rId3"/>
              </a:rPr>
              <a:t>commons.wikimedia.org/w/index.php?curid=47383540</a:t>
            </a:r>
            <a:r>
              <a:rPr lang="en-AU" sz="1200" dirty="0" smtClean="0"/>
              <a:t> 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107572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Is one revolution of…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the London Eye</a:t>
            </a:r>
          </a:p>
          <a:p>
            <a:r>
              <a:rPr lang="en-AU" sz="3200" dirty="0"/>
              <a:t>m</a:t>
            </a:r>
            <a:r>
              <a:rPr lang="en-AU" sz="3200" dirty="0" smtClean="0"/>
              <a:t>ore than, or less than</a:t>
            </a:r>
          </a:p>
          <a:p>
            <a:r>
              <a:rPr lang="en-AU" sz="3200" dirty="0" smtClean="0"/>
              <a:t>500 m?</a:t>
            </a:r>
            <a:endParaRPr lang="en-AU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982" y="2259255"/>
            <a:ext cx="4537817" cy="34033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90970" y="1839579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1200" dirty="0"/>
              <a:t>By </a:t>
            </a:r>
            <a:r>
              <a:rPr lang="en-AU" sz="1200" dirty="0" err="1"/>
              <a:t>hobbesnblue</a:t>
            </a:r>
            <a:r>
              <a:rPr lang="en-AU" sz="1200" dirty="0"/>
              <a:t>, CC BY-SA 3.0, </a:t>
            </a:r>
            <a:r>
              <a:rPr lang="en-AU" sz="1200" dirty="0">
                <a:hlinkClick r:id="rId3"/>
              </a:rPr>
              <a:t>https://</a:t>
            </a:r>
            <a:r>
              <a:rPr lang="en-AU" sz="1200" dirty="0" smtClean="0">
                <a:hlinkClick r:id="rId3"/>
              </a:rPr>
              <a:t>commons.wikimedia.org/w/index.php?curid=47383540</a:t>
            </a:r>
            <a:r>
              <a:rPr lang="en-AU" sz="1200" dirty="0" smtClean="0"/>
              <a:t> </a:t>
            </a:r>
            <a:endParaRPr lang="en-AU" sz="1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486" y="3854114"/>
            <a:ext cx="2411338" cy="18085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5563" y="570512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1200" dirty="0" smtClean="0"/>
              <a:t>Image taken </a:t>
            </a:r>
            <a:r>
              <a:rPr lang="en-AU" sz="1200" dirty="0"/>
              <a:t>from </a:t>
            </a:r>
            <a:r>
              <a:rPr lang="en-AU" sz="1200" dirty="0">
                <a:hlinkClick r:id="rId5"/>
              </a:rPr>
              <a:t>https://</a:t>
            </a:r>
            <a:r>
              <a:rPr lang="en-AU" sz="1200" dirty="0" smtClean="0">
                <a:hlinkClick r:id="rId5"/>
              </a:rPr>
              <a:t>commons.wikimedia.org/wiki/File:London_Eye_Pod.jpg?uselang=en-gb</a:t>
            </a:r>
            <a:r>
              <a:rPr lang="en-AU" sz="1200" dirty="0" smtClean="0"/>
              <a:t> </a:t>
            </a:r>
            <a:endParaRPr lang="en-AU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1113440" y="4303153"/>
            <a:ext cx="9483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 smtClean="0"/>
              <a:t>&lt;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275716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Does the…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tip </a:t>
            </a:r>
            <a:r>
              <a:rPr lang="en-AU" sz="3200" dirty="0"/>
              <a:t>of the minute hand</a:t>
            </a:r>
          </a:p>
          <a:p>
            <a:r>
              <a:rPr lang="en-AU" sz="3200" dirty="0"/>
              <a:t>of a “standard” wall clock</a:t>
            </a:r>
          </a:p>
          <a:p>
            <a:r>
              <a:rPr lang="en-AU" sz="3200" dirty="0"/>
              <a:t>travel more than, or less than</a:t>
            </a:r>
          </a:p>
          <a:p>
            <a:r>
              <a:rPr lang="en-AU" sz="3200" dirty="0"/>
              <a:t>1metre in one hour?</a:t>
            </a:r>
          </a:p>
        </p:txBody>
      </p:sp>
    </p:spTree>
    <p:extLst>
      <p:ext uri="{BB962C8B-B14F-4D97-AF65-F5344CB8AC3E}">
        <p14:creationId xmlns:p14="http://schemas.microsoft.com/office/powerpoint/2010/main" val="17872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Does the…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/>
              <a:t>tip of the minute hand</a:t>
            </a:r>
          </a:p>
          <a:p>
            <a:r>
              <a:rPr lang="en-AU" sz="3200" dirty="0"/>
              <a:t>of a “standard” wall clock</a:t>
            </a:r>
          </a:p>
          <a:p>
            <a:r>
              <a:rPr lang="en-AU" sz="3200" dirty="0"/>
              <a:t>travel more than, or less than</a:t>
            </a:r>
          </a:p>
          <a:p>
            <a:r>
              <a:rPr lang="en-AU" sz="3200" dirty="0"/>
              <a:t>1metre in one hour?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473340" y="1476320"/>
            <a:ext cx="4926650" cy="369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3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Does the…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tip </a:t>
            </a:r>
            <a:r>
              <a:rPr lang="en-AU" sz="3200" dirty="0"/>
              <a:t>of the minute </a:t>
            </a:r>
            <a:r>
              <a:rPr lang="en-AU" sz="3200" dirty="0" smtClean="0"/>
              <a:t>hand</a:t>
            </a:r>
          </a:p>
          <a:p>
            <a:r>
              <a:rPr lang="en-AU" sz="3200" dirty="0" smtClean="0"/>
              <a:t>of </a:t>
            </a:r>
            <a:r>
              <a:rPr lang="en-AU" sz="3200" dirty="0"/>
              <a:t>a “standard” wall </a:t>
            </a:r>
            <a:r>
              <a:rPr lang="en-AU" sz="3200" dirty="0" smtClean="0"/>
              <a:t>clock</a:t>
            </a:r>
          </a:p>
          <a:p>
            <a:r>
              <a:rPr lang="en-AU" sz="3200" dirty="0"/>
              <a:t>t</a:t>
            </a:r>
            <a:r>
              <a:rPr lang="en-AU" sz="3200" dirty="0" smtClean="0"/>
              <a:t>ravel more than, or less than</a:t>
            </a:r>
          </a:p>
          <a:p>
            <a:r>
              <a:rPr lang="en-AU" sz="3200" dirty="0" smtClean="0"/>
              <a:t>1metre in one hour?</a:t>
            </a:r>
            <a:endParaRPr lang="en-AU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420804" y="1617294"/>
            <a:ext cx="4944354" cy="37082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54365" y="4862810"/>
            <a:ext cx="9483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 smtClean="0"/>
              <a:t>&lt;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111077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Is </a:t>
            </a:r>
            <a:r>
              <a:rPr lang="en-AU" dirty="0"/>
              <a:t>the…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diameter of a trundle wheel</a:t>
            </a:r>
          </a:p>
          <a:p>
            <a:r>
              <a:rPr lang="en-AU" sz="3200" dirty="0"/>
              <a:t>m</a:t>
            </a:r>
            <a:r>
              <a:rPr lang="en-AU" sz="3200" dirty="0" smtClean="0"/>
              <a:t>ore than, or less than,</a:t>
            </a:r>
          </a:p>
          <a:p>
            <a:r>
              <a:rPr lang="en-AU" sz="3200" dirty="0" smtClean="0"/>
              <a:t>30 cm?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670052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Is </a:t>
            </a:r>
            <a:r>
              <a:rPr lang="en-AU" dirty="0"/>
              <a:t>the…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diameter of a trundle wheel</a:t>
            </a:r>
          </a:p>
          <a:p>
            <a:r>
              <a:rPr lang="en-AU" sz="3200" dirty="0"/>
              <a:t>m</a:t>
            </a:r>
            <a:r>
              <a:rPr lang="en-AU" sz="3200" dirty="0" smtClean="0"/>
              <a:t>ore than, or less than,</a:t>
            </a:r>
          </a:p>
          <a:p>
            <a:r>
              <a:rPr lang="en-AU" sz="3200" dirty="0" smtClean="0"/>
              <a:t>30 cm?</a:t>
            </a:r>
            <a:endParaRPr lang="en-AU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15" t="21141" r="23063" b="35255"/>
          <a:stretch/>
        </p:blipFill>
        <p:spPr>
          <a:xfrm>
            <a:off x="5309242" y="2977609"/>
            <a:ext cx="5717060" cy="299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230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Is the…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diameter of a trundle wheel</a:t>
            </a:r>
          </a:p>
          <a:p>
            <a:r>
              <a:rPr lang="en-AU" sz="3200" dirty="0"/>
              <a:t>m</a:t>
            </a:r>
            <a:r>
              <a:rPr lang="en-AU" sz="3200" dirty="0" smtClean="0"/>
              <a:t>ore than, or less than,</a:t>
            </a:r>
          </a:p>
          <a:p>
            <a:r>
              <a:rPr lang="en-AU" sz="3200" dirty="0" smtClean="0"/>
              <a:t>30 cm?</a:t>
            </a:r>
          </a:p>
          <a:p>
            <a:endParaRPr lang="en-AU" sz="2400" dirty="0"/>
          </a:p>
          <a:p>
            <a:r>
              <a:rPr lang="en-AU" sz="2400" dirty="0" smtClean="0"/>
              <a:t>If it </a:t>
            </a:r>
            <a:r>
              <a:rPr lang="en-AU" sz="2400" dirty="0" smtClean="0"/>
              <a:t>is a </a:t>
            </a:r>
            <a:r>
              <a:rPr lang="en-AU" sz="2400" dirty="0" smtClean="0"/>
              <a:t>standard1m circumference</a:t>
            </a:r>
          </a:p>
          <a:p>
            <a:r>
              <a:rPr lang="en-AU" sz="2400" dirty="0" smtClean="0"/>
              <a:t>trundle wheel…</a:t>
            </a:r>
            <a:endParaRPr lang="en-AU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15" t="21141" r="23063" b="35255"/>
          <a:stretch/>
        </p:blipFill>
        <p:spPr>
          <a:xfrm>
            <a:off x="5415378" y="2996120"/>
            <a:ext cx="5717060" cy="29903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92084" y="4862810"/>
            <a:ext cx="9483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 smtClean="0"/>
              <a:t>&gt;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1458887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669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6" id="{A0D193CC-76EE-4878-838D-47BE12D94ADE}" vid="{8912C857-D4AD-4E07-B424-61AD33B1F67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6" id="{A0D193CC-76EE-4878-838D-47BE12D94ADE}" vid="{C5BFC58A-78A4-435B-BBDE-6D83B7170BD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1025</TotalTime>
  <Words>464</Words>
  <Application>Microsoft Office PowerPoint</Application>
  <PresentationFormat>Custom</PresentationFormat>
  <Paragraphs>144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Integral</vt:lpstr>
      <vt:lpstr>1_Office Theme</vt:lpstr>
      <vt:lpstr>Office Theme</vt:lpstr>
      <vt:lpstr>PowerPoint Presentation</vt:lpstr>
      <vt:lpstr>Lesson 1: Circumference</vt:lpstr>
      <vt:lpstr>How this works…</vt:lpstr>
      <vt:lpstr>is one revolution OF…</vt:lpstr>
      <vt:lpstr>is one revolution OF…</vt:lpstr>
      <vt:lpstr>is one revolution OF…</vt:lpstr>
      <vt:lpstr>is one revolution Of…</vt:lpstr>
      <vt:lpstr>is one revolution Of…</vt:lpstr>
      <vt:lpstr>is one revolution Of…</vt:lpstr>
      <vt:lpstr>Is one revolution of…</vt:lpstr>
      <vt:lpstr>Is one revolution of…</vt:lpstr>
      <vt:lpstr>Is one revolution of…</vt:lpstr>
      <vt:lpstr>Does the…</vt:lpstr>
      <vt:lpstr>Does the…</vt:lpstr>
      <vt:lpstr>Does the…</vt:lpstr>
      <vt:lpstr>Is the…</vt:lpstr>
      <vt:lpstr>Is the…</vt:lpstr>
      <vt:lpstr>Is the…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Circle Formula</dc:title>
  <dc:creator>Michael Klinkert</dc:creator>
  <cp:lastModifiedBy>Kaye Stacey</cp:lastModifiedBy>
  <cp:revision>45</cp:revision>
  <cp:lastPrinted>2016-04-27T03:37:03Z</cp:lastPrinted>
  <dcterms:created xsi:type="dcterms:W3CDTF">2016-04-17T23:29:38Z</dcterms:created>
  <dcterms:modified xsi:type="dcterms:W3CDTF">2017-02-27T02:47:44Z</dcterms:modified>
</cp:coreProperties>
</file>
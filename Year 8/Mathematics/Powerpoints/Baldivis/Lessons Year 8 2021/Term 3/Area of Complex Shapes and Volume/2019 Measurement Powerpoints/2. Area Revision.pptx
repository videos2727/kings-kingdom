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313" r:id="rId2"/>
    <p:sldId id="311" r:id="rId3"/>
    <p:sldId id="300" r:id="rId4"/>
    <p:sldId id="302" r:id="rId5"/>
    <p:sldId id="303" r:id="rId6"/>
    <p:sldId id="310" r:id="rId7"/>
    <p:sldId id="305" r:id="rId8"/>
    <p:sldId id="307" r:id="rId9"/>
    <p:sldId id="308" r:id="rId10"/>
    <p:sldId id="309" r:id="rId11"/>
    <p:sldId id="312" r:id="rId12"/>
    <p:sldId id="304" r:id="rId13"/>
  </p:sldIdLst>
  <p:sldSz cx="9144000" cy="5715000" type="screen16x10"/>
  <p:notesSz cx="6858000" cy="9144000"/>
  <p:defaultTextStyle>
    <a:defPPr>
      <a:defRPr lang="en-US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089" autoAdjust="0"/>
    <p:restoredTop sz="94309" autoAdjust="0"/>
  </p:normalViewPr>
  <p:slideViewPr>
    <p:cSldViewPr>
      <p:cViewPr varScale="1">
        <p:scale>
          <a:sx n="128" d="100"/>
          <a:sy n="128" d="100"/>
        </p:scale>
        <p:origin x="1566" y="120"/>
      </p:cViewPr>
      <p:guideLst>
        <p:guide orient="horz" pos="18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13864B-518A-E047-B9E7-AC624790CCF6}" type="datetimeFigureOut">
              <a:rPr lang="en-US" smtClean="0"/>
              <a:t>2/25/2018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291D11-A9C5-2543-A4BE-6297951E8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007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291D11-A9C5-2543-A4BE-6297951E806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698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33501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33501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279261"/>
            <a:ext cx="4041775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27542"/>
            <a:ext cx="3008313" cy="9683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27543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195918"/>
            <a:ext cx="3008313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866"/>
            <a:ext cx="2057400" cy="487627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866"/>
            <a:ext cx="6019800" cy="48762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25/02/2018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ctrTitle"/>
          </p:nvPr>
        </p:nvSpPr>
        <p:spPr>
          <a:xfrm>
            <a:off x="1271323" y="277813"/>
            <a:ext cx="6477000" cy="1225021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AU" dirty="0"/>
              <a:t>My Measurement</a:t>
            </a:r>
            <a:br>
              <a:rPr lang="en-AU" dirty="0"/>
            </a:br>
            <a:r>
              <a:rPr lang="en-AU" dirty="0"/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70000" lnSpcReduction="20000"/>
          </a:bodyPr>
          <a:lstStyle/>
          <a:p>
            <a:pPr algn="l">
              <a:defRPr/>
            </a:pPr>
            <a:r>
              <a:rPr lang="en-AU" dirty="0"/>
              <a:t>Name </a:t>
            </a:r>
          </a:p>
          <a:p>
            <a:pPr algn="l">
              <a:defRPr/>
            </a:pPr>
            <a:r>
              <a:rPr lang="en-AU" dirty="0"/>
              <a:t>Class: 8-</a:t>
            </a:r>
          </a:p>
          <a:p>
            <a:pPr algn="l">
              <a:defRPr/>
            </a:pPr>
            <a:r>
              <a:rPr lang="en-AU" dirty="0"/>
              <a:t>Teacher: Mr Evans</a:t>
            </a:r>
          </a:p>
          <a:p>
            <a:pPr algn="l">
              <a:defRPr/>
            </a:pPr>
            <a:r>
              <a:rPr lang="en-AU" dirty="0"/>
              <a:t>Term 1 Semester 1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DC38E07-BA7A-4902-95BA-09BA78FE9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9086" y="3493240"/>
            <a:ext cx="2269238" cy="189103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34D5330-4D57-44F7-AC79-9DB932408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694" y="1695979"/>
            <a:ext cx="1566612" cy="992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834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8901" y="40624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8901" y="84973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8661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827584" y="849734"/>
            <a:ext cx="0" cy="486526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3568" y="-55415"/>
            <a:ext cx="7673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72035" y="-2641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816" y="388071"/>
            <a:ext cx="8489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we can use formulas to find areas of different shapes?</a:t>
            </a:r>
          </a:p>
        </p:txBody>
      </p:sp>
    </p:spTree>
    <p:extLst>
      <p:ext uri="{BB962C8B-B14F-4D97-AF65-F5344CB8AC3E}">
        <p14:creationId xmlns:p14="http://schemas.microsoft.com/office/powerpoint/2010/main" val="2635242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1560" y="193205"/>
            <a:ext cx="7848872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 err="1"/>
              <a:t>Quickwrite</a:t>
            </a:r>
            <a:endParaRPr lang="en-AU" sz="3200" dirty="0"/>
          </a:p>
          <a:p>
            <a:r>
              <a:rPr lang="en-AU" sz="3200" dirty="0"/>
              <a:t>On the LHS of your INB, spend the next 3 minutes writing everything you know about </a:t>
            </a:r>
            <a:r>
              <a:rPr lang="en-AU" sz="3200" b="1" dirty="0">
                <a:solidFill>
                  <a:srgbClr val="FF0000"/>
                </a:solidFill>
              </a:rPr>
              <a:t>area.</a:t>
            </a:r>
          </a:p>
          <a:p>
            <a:pPr marL="457200" indent="-457200">
              <a:buFont typeface="Arial" charset="0"/>
              <a:buChar char="•"/>
            </a:pPr>
            <a:r>
              <a:rPr lang="en-AU" sz="3200" dirty="0"/>
              <a:t>What is it?</a:t>
            </a:r>
          </a:p>
          <a:p>
            <a:pPr marL="457200" indent="-457200">
              <a:buFont typeface="Arial" charset="0"/>
              <a:buChar char="•"/>
            </a:pPr>
            <a:r>
              <a:rPr lang="en-AU" sz="3200" dirty="0"/>
              <a:t>How is it different from perimeter?</a:t>
            </a:r>
          </a:p>
          <a:p>
            <a:pPr marL="457200" indent="-457200">
              <a:buFont typeface="Arial" charset="0"/>
              <a:buChar char="•"/>
            </a:pPr>
            <a:r>
              <a:rPr lang="en-AU" sz="3200" dirty="0"/>
              <a:t>Give an example of area</a:t>
            </a:r>
          </a:p>
          <a:p>
            <a:pPr marL="457200" indent="-457200">
              <a:buFont typeface="Arial" charset="0"/>
              <a:buChar char="•"/>
            </a:pPr>
            <a:r>
              <a:rPr lang="en-AU" sz="3200" dirty="0"/>
              <a:t>Etc...</a:t>
            </a:r>
          </a:p>
          <a:p>
            <a:r>
              <a:rPr lang="en-AU" sz="3200" dirty="0"/>
              <a:t>	</a:t>
            </a:r>
          </a:p>
          <a:p>
            <a:endParaRPr lang="en-AU" sz="3200" dirty="0"/>
          </a:p>
          <a:p>
            <a:endParaRPr lang="en-AU" sz="3200" dirty="0"/>
          </a:p>
          <a:p>
            <a:endParaRPr lang="en-AU" sz="3200" dirty="0"/>
          </a:p>
          <a:p>
            <a:r>
              <a:rPr lang="en-AU" sz="32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928241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/>
          <p:nvPr/>
        </p:nvPicPr>
        <p:blipFill>
          <a:blip r:embed="rId2"/>
          <a:stretch>
            <a:fillRect/>
          </a:stretch>
        </p:blipFill>
        <p:spPr>
          <a:xfrm>
            <a:off x="2567391" y="1408206"/>
            <a:ext cx="2249207" cy="1260588"/>
          </a:xfrm>
          <a:prstGeom prst="rect">
            <a:avLst/>
          </a:prstGeom>
        </p:spPr>
      </p:pic>
      <p:cxnSp>
        <p:nvCxnSpPr>
          <p:cNvPr id="4" name="Straight Connector 3"/>
          <p:cNvCxnSpPr/>
          <p:nvPr/>
        </p:nvCxnSpPr>
        <p:spPr>
          <a:xfrm>
            <a:off x="26996" y="45252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6996" y="89601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29290" y="-8985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888461" y="885865"/>
            <a:ext cx="26272" cy="482913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99592" y="-36405"/>
            <a:ext cx="7673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0957" y="-30281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911" y="434349"/>
            <a:ext cx="8489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we can use formulas to find areas of different shapes?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14"/>
              <p:cNvSpPr txBox="1"/>
              <p:nvPr/>
            </p:nvSpPr>
            <p:spPr>
              <a:xfrm>
                <a:off x="5202567" y="1589962"/>
                <a:ext cx="1610768" cy="539270"/>
              </a:xfrm>
              <a:prstGeom prst="rect">
                <a:avLst/>
              </a:prstGeom>
              <a:solidFill>
                <a:sysClr val="window" lastClr="FFFFFF"/>
              </a:solidFill>
              <a:ln w="6350">
                <a:noFill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AU" sz="2000" dirty="0">
                    <a:latin typeface="Calibri"/>
                    <a:ea typeface="Calibri"/>
                    <a:cs typeface="Times New Roman"/>
                  </a:rPr>
                  <a:t>Formula:</a:t>
                </a: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>
                          <a:solidFill>
                            <a:srgbClr val="E36C0A"/>
                          </a:solidFill>
                          <a:latin typeface="Cambria Math"/>
                          <a:ea typeface="Calibri"/>
                          <a:cs typeface="Times New Roman"/>
                        </a:rPr>
                        <m:t>𝐴𝑟𝑒𝑎</m:t>
                      </m:r>
                      <m:r>
                        <a:rPr lang="en-AU" sz="2000" i="1">
                          <a:solidFill>
                            <a:srgbClr val="E36C0A"/>
                          </a:solidFill>
                          <a:latin typeface="Cambria Math"/>
                          <a:ea typeface="Calibri"/>
                          <a:cs typeface="Times New Roman"/>
                        </a:rPr>
                        <m:t>=</m:t>
                      </m:r>
                      <m:r>
                        <a:rPr lang="en-AU" sz="2000" i="1">
                          <a:solidFill>
                            <a:srgbClr val="E36C0A"/>
                          </a:solidFill>
                          <a:latin typeface="Cambria Math"/>
                          <a:ea typeface="Calibri"/>
                          <a:cs typeface="Times New Roman"/>
                        </a:rPr>
                        <m:t>𝑙𝑤</m:t>
                      </m:r>
                    </m:oMath>
                  </m:oMathPara>
                </a14:m>
                <a:endParaRPr lang="en-AU" sz="2000" dirty="0">
                  <a:latin typeface="Calibri"/>
                  <a:ea typeface="Calibri"/>
                  <a:cs typeface="Times New Roman"/>
                </a:endParaRP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AU" sz="2000" dirty="0">
                    <a:latin typeface="Calibri"/>
                    <a:ea typeface="Times New Roman"/>
                    <a:cs typeface="Times New Roman"/>
                  </a:rPr>
                  <a:t> </a:t>
                </a:r>
                <a:endParaRPr lang="en-AU" sz="2000" dirty="0">
                  <a:latin typeface="Calibri"/>
                  <a:ea typeface="Calibri"/>
                  <a:cs typeface="Times New Roman"/>
                </a:endParaRPr>
              </a:p>
            </p:txBody>
          </p:sp>
        </mc:Choice>
        <mc:Fallback xmlns="">
          <p:sp>
            <p:nvSpPr>
              <p:cNvPr id="13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2567" y="1589962"/>
                <a:ext cx="1610768" cy="539270"/>
              </a:xfrm>
              <a:prstGeom prst="rect">
                <a:avLst/>
              </a:prstGeom>
              <a:blipFill>
                <a:blip r:embed="rId3"/>
                <a:stretch>
                  <a:fillRect l="-3774" t="-2273" b="-46591"/>
                </a:stretch>
              </a:blipFill>
              <a:ln w="6350">
                <a:noFill/>
              </a:ln>
              <a:effectLst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15"/>
              <p:cNvSpPr txBox="1"/>
              <p:nvPr/>
            </p:nvSpPr>
            <p:spPr>
              <a:xfrm>
                <a:off x="5083104" y="2614976"/>
                <a:ext cx="2099432" cy="818515"/>
              </a:xfrm>
              <a:prstGeom prst="rect">
                <a:avLst/>
              </a:prstGeom>
              <a:solidFill>
                <a:sysClr val="window" lastClr="FFFFFF"/>
              </a:solidFill>
              <a:ln w="6350">
                <a:noFill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AU" sz="2000" dirty="0">
                    <a:latin typeface="Calibri"/>
                    <a:ea typeface="Calibri"/>
                    <a:cs typeface="Times New Roman"/>
                  </a:rPr>
                  <a:t>Formula:</a:t>
                </a: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>
                          <a:solidFill>
                            <a:srgbClr val="E36C0A"/>
                          </a:solidFill>
                          <a:latin typeface="Cambria Math"/>
                          <a:ea typeface="Calibri"/>
                          <a:cs typeface="Times New Roman"/>
                        </a:rPr>
                        <m:t>𝐴𝑟𝑒𝑎</m:t>
                      </m:r>
                      <m:r>
                        <a:rPr lang="en-AU" sz="2000" i="1">
                          <a:solidFill>
                            <a:srgbClr val="E36C0A"/>
                          </a:solidFill>
                          <a:latin typeface="Cambria Math"/>
                          <a:ea typeface="Calibri"/>
                          <a:cs typeface="Times New Roman"/>
                        </a:rPr>
                        <m:t>=</m:t>
                      </m:r>
                      <m:f>
                        <m:fPr>
                          <m:ctrlPr>
                            <a:rPr lang="en-AU" sz="2000" i="1">
                              <a:solidFill>
                                <a:srgbClr val="E36C0A"/>
                              </a:solidFill>
                              <a:latin typeface="Cambria Math" panose="02040503050406030204" pitchFamily="18" charset="0"/>
                              <a:ea typeface="Calibri"/>
                              <a:cs typeface="Times New Roman"/>
                            </a:rPr>
                          </m:ctrlPr>
                        </m:fPr>
                        <m:num>
                          <m:r>
                            <a:rPr lang="en-AU" sz="2000" i="1">
                              <a:solidFill>
                                <a:srgbClr val="E36C0A"/>
                              </a:solidFill>
                              <a:latin typeface="Cambria Math"/>
                              <a:ea typeface="Calibri"/>
                              <a:cs typeface="Times New Roman"/>
                            </a:rPr>
                            <m:t>1</m:t>
                          </m:r>
                        </m:num>
                        <m:den>
                          <m:r>
                            <a:rPr lang="en-AU" sz="2000" i="1">
                              <a:solidFill>
                                <a:srgbClr val="E36C0A"/>
                              </a:solidFill>
                              <a:latin typeface="Cambria Math"/>
                              <a:ea typeface="Calibri"/>
                              <a:cs typeface="Times New Roman"/>
                            </a:rPr>
                            <m:t>2</m:t>
                          </m:r>
                        </m:den>
                      </m:f>
                      <m:r>
                        <a:rPr lang="en-AU" sz="2000" i="1">
                          <a:solidFill>
                            <a:srgbClr val="E36C0A"/>
                          </a:solidFill>
                          <a:latin typeface="Cambria Math"/>
                          <a:ea typeface="Calibri"/>
                          <a:cs typeface="Times New Roman"/>
                        </a:rPr>
                        <m:t>𝑏h</m:t>
                      </m:r>
                    </m:oMath>
                  </m:oMathPara>
                </a14:m>
                <a:endParaRPr lang="en-AU" sz="2000" dirty="0">
                  <a:latin typeface="Calibri"/>
                  <a:ea typeface="Calibri"/>
                  <a:cs typeface="Times New Roman"/>
                </a:endParaRPr>
              </a:p>
            </p:txBody>
          </p:sp>
        </mc:Choice>
        <mc:Fallback xmlns="">
          <p:sp>
            <p:nvSpPr>
              <p:cNvPr id="15" name="Text 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104" y="2614976"/>
                <a:ext cx="2099432" cy="818515"/>
              </a:xfrm>
              <a:prstGeom prst="rect">
                <a:avLst/>
              </a:prstGeom>
              <a:blipFill>
                <a:blip r:embed="rId4"/>
                <a:stretch>
                  <a:fillRect l="-3198" t="-1493" b="-44776"/>
                </a:stretch>
              </a:blipFill>
              <a:ln w="6350">
                <a:noFill/>
              </a:ln>
              <a:effectLst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-15383" y="1653058"/>
            <a:ext cx="1956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dirty="0"/>
              <a:t>Area of a rectangle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52" y="2779435"/>
            <a:ext cx="1802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dirty="0"/>
              <a:t>Area of a triangle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A0E5B56-DD15-4E40-A967-0A1794E46EB3}"/>
              </a:ext>
            </a:extLst>
          </p:cNvPr>
          <p:cNvPicPr/>
          <p:nvPr/>
        </p:nvPicPr>
        <p:blipFill rotWithShape="1">
          <a:blip r:embed="rId5"/>
          <a:srcRect l="2187" t="19366"/>
          <a:stretch/>
        </p:blipFill>
        <p:spPr bwMode="auto">
          <a:xfrm>
            <a:off x="2592769" y="2647049"/>
            <a:ext cx="2298890" cy="130439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C94E622-2C12-4410-ADFB-FF8F9C5331FE}"/>
              </a:ext>
            </a:extLst>
          </p:cNvPr>
          <p:cNvSpPr txBox="1"/>
          <p:nvPr/>
        </p:nvSpPr>
        <p:spPr>
          <a:xfrm>
            <a:off x="2195737" y="849736"/>
            <a:ext cx="6827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The area of a shape is the amount of space exists inside a 2 dimensional space. The 3 basic shapes are;</a:t>
            </a:r>
          </a:p>
        </p:txBody>
      </p:sp>
    </p:spTree>
    <p:extLst>
      <p:ext uri="{BB962C8B-B14F-4D97-AF65-F5344CB8AC3E}">
        <p14:creationId xmlns:p14="http://schemas.microsoft.com/office/powerpoint/2010/main" val="288091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allAtOnce" animBg="1"/>
      <p:bldP spid="21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333" y="1298454"/>
            <a:ext cx="4910940" cy="13686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515" y="95440"/>
            <a:ext cx="2592288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Examples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3793604"/>
            <a:ext cx="4131124" cy="136537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851871-8573-4A03-A578-9203586AA853}"/>
              </a:ext>
            </a:extLst>
          </p:cNvPr>
          <p:cNvSpPr txBox="1"/>
          <p:nvPr/>
        </p:nvSpPr>
        <p:spPr>
          <a:xfrm>
            <a:off x="179512" y="479467"/>
            <a:ext cx="1584176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Let’s try together.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AE7293-C9BA-47A2-BD5F-26CDA10F8C65}"/>
              </a:ext>
            </a:extLst>
          </p:cNvPr>
          <p:cNvSpPr/>
          <p:nvPr/>
        </p:nvSpPr>
        <p:spPr>
          <a:xfrm>
            <a:off x="5531033" y="379335"/>
            <a:ext cx="2812249" cy="14675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9BBB4BF-93CD-47B4-82F0-3CC068E042FA}"/>
              </a:ext>
            </a:extLst>
          </p:cNvPr>
          <p:cNvSpPr/>
          <p:nvPr/>
        </p:nvSpPr>
        <p:spPr>
          <a:xfrm>
            <a:off x="4754209" y="2213943"/>
            <a:ext cx="2812249" cy="14675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6539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E028F89-0A9E-47E9-A8BB-6B84611F5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697260"/>
            <a:ext cx="6516777" cy="106183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C7902E-1B1E-4A55-9551-3D0E79377B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896" y="725187"/>
            <a:ext cx="2044605" cy="10618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2D58B7-13F1-402B-A0EF-01C3A37735EA}"/>
              </a:ext>
            </a:extLst>
          </p:cNvPr>
          <p:cNvSpPr txBox="1"/>
          <p:nvPr/>
        </p:nvSpPr>
        <p:spPr>
          <a:xfrm>
            <a:off x="179512" y="42754"/>
            <a:ext cx="1584176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Your turn.</a:t>
            </a:r>
          </a:p>
        </p:txBody>
      </p:sp>
    </p:spTree>
    <p:extLst>
      <p:ext uri="{BB962C8B-B14F-4D97-AF65-F5344CB8AC3E}">
        <p14:creationId xmlns:p14="http://schemas.microsoft.com/office/powerpoint/2010/main" val="2826519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26996" y="45252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6996" y="89601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29290" y="-8985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069152" y="896012"/>
            <a:ext cx="28531" cy="481898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99592" y="-36405"/>
            <a:ext cx="7673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0957" y="-30281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911" y="434349"/>
            <a:ext cx="8489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we can use formulas to find areas of different shapes?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221E1B-1695-4A5B-AD7C-03C182E07A40}"/>
              </a:ext>
            </a:extLst>
          </p:cNvPr>
          <p:cNvSpPr txBox="1"/>
          <p:nvPr/>
        </p:nvSpPr>
        <p:spPr>
          <a:xfrm>
            <a:off x="1331640" y="985290"/>
            <a:ext cx="74438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How do we find the area of  more complex shapes like the one below?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85B568-E467-48A8-BFEB-B2E4D0E5BD87}"/>
              </a:ext>
            </a:extLst>
          </p:cNvPr>
          <p:cNvSpPr/>
          <p:nvPr/>
        </p:nvSpPr>
        <p:spPr>
          <a:xfrm>
            <a:off x="2623440" y="2209428"/>
            <a:ext cx="2448272" cy="1440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6F5E0CEC-E972-45C4-BBA9-76DA72950FEF}"/>
              </a:ext>
            </a:extLst>
          </p:cNvPr>
          <p:cNvSpPr/>
          <p:nvPr/>
        </p:nvSpPr>
        <p:spPr>
          <a:xfrm>
            <a:off x="5071712" y="2209428"/>
            <a:ext cx="1944216" cy="144016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0DC8527-B959-44C7-A0C3-B41600CEB5BC}"/>
              </a:ext>
            </a:extLst>
          </p:cNvPr>
          <p:cNvCxnSpPr/>
          <p:nvPr/>
        </p:nvCxnSpPr>
        <p:spPr>
          <a:xfrm>
            <a:off x="2623440" y="3865612"/>
            <a:ext cx="439248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7935C21-3D54-4D26-A5BF-FE216419E3FE}"/>
              </a:ext>
            </a:extLst>
          </p:cNvPr>
          <p:cNvSpPr txBox="1"/>
          <p:nvPr/>
        </p:nvSpPr>
        <p:spPr>
          <a:xfrm>
            <a:off x="3514532" y="3639450"/>
            <a:ext cx="936104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20cm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73E33E4-3899-4B90-A0DB-5AD475B50842}"/>
              </a:ext>
            </a:extLst>
          </p:cNvPr>
          <p:cNvCxnSpPr>
            <a:cxnSpLocks/>
          </p:cNvCxnSpPr>
          <p:nvPr/>
        </p:nvCxnSpPr>
        <p:spPr>
          <a:xfrm flipV="1">
            <a:off x="2467111" y="2288817"/>
            <a:ext cx="0" cy="143204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0DB16DE-9BF3-4523-9654-A5B4C6DAB24C}"/>
              </a:ext>
            </a:extLst>
          </p:cNvPr>
          <p:cNvSpPr txBox="1"/>
          <p:nvPr/>
        </p:nvSpPr>
        <p:spPr>
          <a:xfrm rot="16200000">
            <a:off x="1844850" y="2602661"/>
            <a:ext cx="936104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7cm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6872FC9-FE35-4294-A5E2-ABF31F08237A}"/>
              </a:ext>
            </a:extLst>
          </p:cNvPr>
          <p:cNvCxnSpPr>
            <a:cxnSpLocks/>
          </p:cNvCxnSpPr>
          <p:nvPr/>
        </p:nvCxnSpPr>
        <p:spPr>
          <a:xfrm>
            <a:off x="5072911" y="3783356"/>
            <a:ext cx="194421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EA52A87-ACAA-49C1-B153-7C8079C72426}"/>
              </a:ext>
            </a:extLst>
          </p:cNvPr>
          <p:cNvSpPr txBox="1"/>
          <p:nvPr/>
        </p:nvSpPr>
        <p:spPr>
          <a:xfrm>
            <a:off x="5964003" y="3557194"/>
            <a:ext cx="936104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5cm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7286" y="4248613"/>
            <a:ext cx="81456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 break it into it’s composite shapes. What two shapes is the above shape made up of?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3841" y="2994089"/>
            <a:ext cx="14067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Rectangle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8661" y="2980096"/>
            <a:ext cx="11722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Triangle</a:t>
            </a:r>
          </a:p>
        </p:txBody>
      </p:sp>
    </p:spTree>
    <p:extLst>
      <p:ext uri="{BB962C8B-B14F-4D97-AF65-F5344CB8AC3E}">
        <p14:creationId xmlns:p14="http://schemas.microsoft.com/office/powerpoint/2010/main" val="1236389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6" grpId="0" animBg="1"/>
      <p:bldP spid="24" grpId="0"/>
      <p:bldP spid="27" grpId="0"/>
      <p:bldP spid="29" grpId="0"/>
      <p:bldP spid="3" grpId="0"/>
      <p:bldP spid="13" grpId="0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26996" y="45252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6996" y="89601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29290" y="-8985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592" y="-36405"/>
            <a:ext cx="7673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0957" y="-30281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911" y="434349"/>
            <a:ext cx="8489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we can use formulas to find areas of different shapes?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221E1B-1695-4A5B-AD7C-03C182E07A40}"/>
              </a:ext>
            </a:extLst>
          </p:cNvPr>
          <p:cNvSpPr txBox="1"/>
          <p:nvPr/>
        </p:nvSpPr>
        <p:spPr>
          <a:xfrm>
            <a:off x="312907" y="983299"/>
            <a:ext cx="88580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The shape below can be split into 2 pieces, a rectangle and a triangle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85B568-E467-48A8-BFEB-B2E4D0E5BD87}"/>
              </a:ext>
            </a:extLst>
          </p:cNvPr>
          <p:cNvSpPr/>
          <p:nvPr/>
        </p:nvSpPr>
        <p:spPr>
          <a:xfrm>
            <a:off x="2256387" y="1662104"/>
            <a:ext cx="2448272" cy="1440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6F5E0CEC-E972-45C4-BBA9-76DA72950FEF}"/>
              </a:ext>
            </a:extLst>
          </p:cNvPr>
          <p:cNvSpPr/>
          <p:nvPr/>
        </p:nvSpPr>
        <p:spPr>
          <a:xfrm>
            <a:off x="5364088" y="1641219"/>
            <a:ext cx="1944216" cy="144016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0DC8527-B959-44C7-A0C3-B41600CEB5BC}"/>
              </a:ext>
            </a:extLst>
          </p:cNvPr>
          <p:cNvCxnSpPr>
            <a:cxnSpLocks/>
          </p:cNvCxnSpPr>
          <p:nvPr/>
        </p:nvCxnSpPr>
        <p:spPr>
          <a:xfrm>
            <a:off x="2256387" y="3318288"/>
            <a:ext cx="244827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7935C21-3D54-4D26-A5BF-FE216419E3FE}"/>
              </a:ext>
            </a:extLst>
          </p:cNvPr>
          <p:cNvSpPr txBox="1"/>
          <p:nvPr/>
        </p:nvSpPr>
        <p:spPr>
          <a:xfrm>
            <a:off x="3147479" y="3092126"/>
            <a:ext cx="936104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15cm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73E33E4-3899-4B90-A0DB-5AD475B50842}"/>
              </a:ext>
            </a:extLst>
          </p:cNvPr>
          <p:cNvCxnSpPr>
            <a:cxnSpLocks/>
          </p:cNvCxnSpPr>
          <p:nvPr/>
        </p:nvCxnSpPr>
        <p:spPr>
          <a:xfrm flipV="1">
            <a:off x="2059332" y="1649330"/>
            <a:ext cx="0" cy="143204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0DB16DE-9BF3-4523-9654-A5B4C6DAB24C}"/>
              </a:ext>
            </a:extLst>
          </p:cNvPr>
          <p:cNvSpPr txBox="1"/>
          <p:nvPr/>
        </p:nvSpPr>
        <p:spPr>
          <a:xfrm rot="16200000">
            <a:off x="1477797" y="2055337"/>
            <a:ext cx="936104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7cm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2E49279-A589-4CF6-9C32-667D55724AF9}"/>
              </a:ext>
            </a:extLst>
          </p:cNvPr>
          <p:cNvCxnSpPr>
            <a:cxnSpLocks/>
          </p:cNvCxnSpPr>
          <p:nvPr/>
        </p:nvCxnSpPr>
        <p:spPr>
          <a:xfrm>
            <a:off x="5364088" y="3361446"/>
            <a:ext cx="194421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26F7DA5-F5A9-4D00-8FA6-287789656BEB}"/>
              </a:ext>
            </a:extLst>
          </p:cNvPr>
          <p:cNvSpPr txBox="1"/>
          <p:nvPr/>
        </p:nvSpPr>
        <p:spPr>
          <a:xfrm>
            <a:off x="6255180" y="3135284"/>
            <a:ext cx="936104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5cm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82E578A-37EA-45FF-ABF2-96DE34DF180A}"/>
              </a:ext>
            </a:extLst>
          </p:cNvPr>
          <p:cNvCxnSpPr>
            <a:cxnSpLocks/>
          </p:cNvCxnSpPr>
          <p:nvPr/>
        </p:nvCxnSpPr>
        <p:spPr>
          <a:xfrm flipV="1">
            <a:off x="5239997" y="1590096"/>
            <a:ext cx="0" cy="143204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479C082-6E3B-48A0-A6DF-9D96634CA75E}"/>
              </a:ext>
            </a:extLst>
          </p:cNvPr>
          <p:cNvSpPr txBox="1"/>
          <p:nvPr/>
        </p:nvSpPr>
        <p:spPr>
          <a:xfrm rot="16200000">
            <a:off x="4658462" y="1996103"/>
            <a:ext cx="936104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7cm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D750C0-195D-415B-A134-C58A46F93C59}"/>
              </a:ext>
            </a:extLst>
          </p:cNvPr>
          <p:cNvSpPr txBox="1"/>
          <p:nvPr/>
        </p:nvSpPr>
        <p:spPr>
          <a:xfrm>
            <a:off x="220226" y="3407841"/>
            <a:ext cx="88569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To find the area of the whole shape, we find the area of the 2 shapes and add them together.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26B32D-CECC-46E4-8A9A-F2FF75398612}"/>
              </a:ext>
            </a:extLst>
          </p:cNvPr>
          <p:cNvSpPr txBox="1"/>
          <p:nvPr/>
        </p:nvSpPr>
        <p:spPr>
          <a:xfrm>
            <a:off x="4676476" y="1911121"/>
            <a:ext cx="10081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800" dirty="0"/>
              <a:t>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43BBB4-7074-4A3F-9293-A575003C263A}"/>
              </a:ext>
            </a:extLst>
          </p:cNvPr>
          <p:cNvSpPr txBox="1"/>
          <p:nvPr/>
        </p:nvSpPr>
        <p:spPr>
          <a:xfrm>
            <a:off x="1972305" y="4168631"/>
            <a:ext cx="26722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A=length  x width</a:t>
            </a:r>
          </a:p>
          <a:p>
            <a:r>
              <a:rPr lang="en-AU" sz="1800" dirty="0"/>
              <a:t>  = 7 x 15 cm</a:t>
            </a:r>
          </a:p>
          <a:p>
            <a:r>
              <a:rPr lang="en-AU" sz="1800" dirty="0"/>
              <a:t>   = 105cm</a:t>
            </a:r>
            <a:r>
              <a:rPr lang="en-AU" sz="1800" baseline="30000" dirty="0"/>
              <a:t>2</a:t>
            </a:r>
            <a:endParaRPr lang="en-AU" sz="18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0920299-28FA-4CD7-90AB-A05DDE5EFDA3}"/>
              </a:ext>
            </a:extLst>
          </p:cNvPr>
          <p:cNvSpPr txBox="1"/>
          <p:nvPr/>
        </p:nvSpPr>
        <p:spPr>
          <a:xfrm>
            <a:off x="5387108" y="4016991"/>
            <a:ext cx="26722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A=1/2 x base  x height</a:t>
            </a:r>
          </a:p>
          <a:p>
            <a:r>
              <a:rPr lang="en-AU" sz="1800" dirty="0"/>
              <a:t>  = 0.5 x 7 x 5 cm</a:t>
            </a:r>
          </a:p>
          <a:p>
            <a:r>
              <a:rPr lang="en-AU" sz="1800" dirty="0"/>
              <a:t>   = 17.5 cm</a:t>
            </a:r>
            <a:r>
              <a:rPr lang="en-AU" sz="1800" baseline="30000" dirty="0"/>
              <a:t>2</a:t>
            </a:r>
            <a:endParaRPr lang="en-AU" sz="1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EA85A8-B67A-4D86-9397-E30E3EFD93A1}"/>
              </a:ext>
            </a:extLst>
          </p:cNvPr>
          <p:cNvSpPr txBox="1"/>
          <p:nvPr/>
        </p:nvSpPr>
        <p:spPr>
          <a:xfrm>
            <a:off x="3078473" y="5027939"/>
            <a:ext cx="42041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Total area = area of rect. + area of triangle</a:t>
            </a:r>
          </a:p>
          <a:p>
            <a:r>
              <a:rPr lang="en-AU" sz="1800" dirty="0"/>
              <a:t>	= 105 + 17.5 = 122.5cm</a:t>
            </a:r>
            <a:r>
              <a:rPr lang="en-AU" sz="1800" baseline="30000" dirty="0"/>
              <a:t>2</a:t>
            </a:r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3831843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  <p:bldP spid="16" grpId="0" animBg="1"/>
      <p:bldP spid="24" grpId="0"/>
      <p:bldP spid="27" grpId="0"/>
      <p:bldP spid="18" grpId="0"/>
      <p:bldP spid="21" grpId="0"/>
      <p:bldP spid="22" grpId="0"/>
      <p:bldP spid="13" grpId="0"/>
      <p:bldP spid="14" grpId="0"/>
      <p:bldP spid="26" grpId="0"/>
      <p:bldP spid="2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7A4D5C-A77D-4F8B-B628-211FDBE6F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1" y="962954"/>
            <a:ext cx="8954097" cy="19665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5322" y="481236"/>
            <a:ext cx="42109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Try these on the LHS of your INB</a:t>
            </a:r>
          </a:p>
        </p:txBody>
      </p:sp>
    </p:spTree>
    <p:extLst>
      <p:ext uri="{BB962C8B-B14F-4D97-AF65-F5344CB8AC3E}">
        <p14:creationId xmlns:p14="http://schemas.microsoft.com/office/powerpoint/2010/main" val="1617015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7A4D5C-A77D-4F8B-B628-211FDBE6F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93204"/>
            <a:ext cx="7647650" cy="16796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41DBC13-01A6-48FF-96B0-CDA8EC418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1872828"/>
            <a:ext cx="6953376" cy="60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952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705372"/>
            <a:ext cx="8877300" cy="3136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91680" y="769268"/>
            <a:ext cx="51297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Remember your Conversion Caterpillar!</a:t>
            </a:r>
          </a:p>
        </p:txBody>
      </p:sp>
    </p:spTree>
    <p:extLst>
      <p:ext uri="{BB962C8B-B14F-4D97-AF65-F5344CB8AC3E}">
        <p14:creationId xmlns:p14="http://schemas.microsoft.com/office/powerpoint/2010/main" val="1234861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660" r="5082"/>
          <a:stretch/>
        </p:blipFill>
        <p:spPr>
          <a:xfrm>
            <a:off x="1763688" y="0"/>
            <a:ext cx="7380312" cy="57179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504" y="193204"/>
            <a:ext cx="14401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Exercise 17.4 on </a:t>
            </a:r>
          </a:p>
          <a:p>
            <a:r>
              <a:rPr lang="en-US" sz="2400" dirty="0"/>
              <a:t>page 232 of Dwyer</a:t>
            </a:r>
          </a:p>
        </p:txBody>
      </p:sp>
    </p:spTree>
    <p:extLst>
      <p:ext uri="{BB962C8B-B14F-4D97-AF65-F5344CB8AC3E}">
        <p14:creationId xmlns:p14="http://schemas.microsoft.com/office/powerpoint/2010/main" val="1915911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</TotalTime>
  <Words>325</Words>
  <Application>Microsoft Office PowerPoint</Application>
  <PresentationFormat>On-screen Show (16:10)</PresentationFormat>
  <Paragraphs>78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 Math</vt:lpstr>
      <vt:lpstr>Times New Roman</vt:lpstr>
      <vt:lpstr>Office Theme</vt:lpstr>
      <vt:lpstr>My Measurement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Clem</cp:lastModifiedBy>
  <cp:revision>48</cp:revision>
  <dcterms:created xsi:type="dcterms:W3CDTF">2014-05-14T02:58:57Z</dcterms:created>
  <dcterms:modified xsi:type="dcterms:W3CDTF">2018-02-25T03:53:34Z</dcterms:modified>
</cp:coreProperties>
</file>
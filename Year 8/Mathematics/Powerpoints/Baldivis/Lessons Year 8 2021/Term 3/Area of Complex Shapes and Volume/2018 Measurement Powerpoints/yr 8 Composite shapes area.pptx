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65" r:id="rId5"/>
    <p:sldId id="259" r:id="rId6"/>
    <p:sldId id="261" r:id="rId7"/>
    <p:sldId id="305" r:id="rId8"/>
    <p:sldId id="308" r:id="rId9"/>
    <p:sldId id="30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LSON James [Baldivis Secondary College]" initials="WJ[SC" lastIdx="1" clrIdx="0">
    <p:extLst>
      <p:ext uri="{19B8F6BF-5375-455C-9EA6-DF929625EA0E}">
        <p15:presenceInfo xmlns:p15="http://schemas.microsoft.com/office/powerpoint/2012/main" userId="WILSON James [Baldivis Secondary College]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49CC-59AB-4B78-A1B6-5F3071536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EC1DD-7794-4A33-8725-297EB90C9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51E56-F71F-4D7C-9248-9C19765DA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D4AE-6257-46F6-8545-CAE5C21FBDF3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41B59-3864-412C-8D1F-97A95A60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4CCC1-FC87-415B-8A3E-C20BA9F54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A34B-CF53-4275-94D2-4E8B5A85E9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58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35AA2-15AB-402E-9BFE-9140B66DB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8B86B-F2D4-47D0-BC7C-8587AABCA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F1498-597E-4528-A456-B62AA2ED4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D4AE-6257-46F6-8545-CAE5C21FBDF3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8C8CF-AE9A-405D-8C52-697A17715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4319B-945C-44D2-B391-3704308A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A34B-CF53-4275-94D2-4E8B5A85E9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540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0D58-81E3-40B5-A7F9-ADC82B45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1A09D-D7A1-4F0F-A642-C6CD29345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E9FD3-1052-4DD4-ABE1-82EB8619F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D4AE-6257-46F6-8545-CAE5C21FBDF3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58F97-113B-4BDA-A46D-7C16FD371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BD8B2-7FC2-4E5D-9172-35BD14116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A34B-CF53-4275-94D2-4E8B5A85E9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4150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67FAB-D9FF-49B9-83A8-C3B5151BF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ACB6B-920B-4485-B15B-72D95A1A3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8B16A-2B09-4910-A77C-030A5E2F4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1ECD8-F9F7-48AC-A066-1A9417D7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D4AE-6257-46F6-8545-CAE5C21FBDF3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9FCBA-C0A9-46EF-97F7-E429C912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70F67-7219-4D9F-8537-5C6108181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A34B-CF53-4275-94D2-4E8B5A85E9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753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19B4-3B01-4093-8FE8-41E2AD797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E130F-D013-422D-8A60-7FBB20526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B0E8B-A8AC-4991-8AC2-248D22FDA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AE5C0D-1B36-403A-9605-9423DFCEF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BAC71-9432-4F9C-8497-3462A22773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C4B2EE-EBA9-47D9-84D4-DC10CA900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D4AE-6257-46F6-8545-CAE5C21FBDF3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4508E-044A-4640-91F7-0302502B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5319B-CDC7-48C0-9128-2A5DE764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A34B-CF53-4275-94D2-4E8B5A85E9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7839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FE05-0676-4DBD-922B-C91804086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C0A627-BA85-4751-8C14-D4A024558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D4AE-6257-46F6-8545-CAE5C21FBDF3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BD55D-2214-4EFF-B89C-7ACF2F8D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B3778-D0DC-4388-80B9-15FE3D16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A34B-CF53-4275-94D2-4E8B5A85E9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930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478C4-DBD7-4832-962A-680513866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D4AE-6257-46F6-8545-CAE5C21FBDF3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A646A4-D230-4F05-BCF7-C32FCBF96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420F4-C109-4816-84E7-91F8BD85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A34B-CF53-4275-94D2-4E8B5A85E9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577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A31A-8856-4B8A-A139-F3208B113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5794F-575F-4864-987E-A8F7950D6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81B3F-FEA1-42EF-A5A0-5021C67E7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D9C87-54BD-47D5-BD6B-819CBC258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D4AE-6257-46F6-8545-CAE5C21FBDF3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3AD6A-E631-4645-B00B-9DCB8C7E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95194-BDF7-4D19-8131-469DA9355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A34B-CF53-4275-94D2-4E8B5A85E9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238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5FEF-926F-4B37-BF85-F1413F989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3705C3-9E7C-41A4-9A20-1D75F74464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8D55F-4B2D-4E8C-8DED-6E50790BC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4CC0D-AB9B-440D-A93D-CCAE98318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D4AE-6257-46F6-8545-CAE5C21FBDF3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CB77B-967B-43AB-8172-6C63BB118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3AAC1-E3CF-4ADE-9D5D-DD7B16383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A34B-CF53-4275-94D2-4E8B5A85E9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18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EFD0-EC9E-41E4-BDC1-6951351F1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61A8B-FBDA-4AEB-B704-107A062A8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BCC53-0C98-45F3-AB15-5EB679D0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D4AE-6257-46F6-8545-CAE5C21FBDF3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20C3-1715-4826-A26D-D6F24946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9CFED-F4D2-4153-A651-A30A655D8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A34B-CF53-4275-94D2-4E8B5A85E9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168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064429-C192-45D9-9CC3-6FA71E34B7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CA0A69-C8C2-419F-8807-F1BAD1034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F198F-2D34-455D-9F73-A1F25F5D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D4AE-6257-46F6-8545-CAE5C21FBDF3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4F575-151F-493F-BDF9-B378BD9CB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B362-A436-454C-B89F-C2B19BC7E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A34B-CF53-4275-94D2-4E8B5A85E9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065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6837BF-B06E-46F8-8AF5-496A6D19A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A0ABF-2E0D-456E-9211-9DC7AC67D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F5FFF-0480-4C21-A94D-A05A606200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2D4AE-6257-46F6-8545-CAE5C21FBDF3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6528E-7544-4967-B2A1-F907E4F3A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E10EF-4B4D-4D4B-BBC5-DE69C5ED1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7A34B-CF53-4275-94D2-4E8B5A85E9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6097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41F1E-63A0-4BC9-99DB-84D17A0312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Composite/compound </a:t>
            </a:r>
            <a:br>
              <a:rPr lang="en-AU" dirty="0"/>
            </a:br>
            <a:r>
              <a:rPr lang="en-AU" dirty="0"/>
              <a:t>area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B9581-A895-4D8A-B715-F0E240A884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Subtraction and addition of shapes</a:t>
            </a:r>
          </a:p>
        </p:txBody>
      </p:sp>
    </p:spTree>
    <p:extLst>
      <p:ext uri="{BB962C8B-B14F-4D97-AF65-F5344CB8AC3E}">
        <p14:creationId xmlns:p14="http://schemas.microsoft.com/office/powerpoint/2010/main" val="3480446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972B37-D7B3-464D-9D6F-B136259253A2}"/>
              </a:ext>
            </a:extLst>
          </p:cNvPr>
          <p:cNvSpPr txBox="1"/>
          <p:nvPr/>
        </p:nvSpPr>
        <p:spPr>
          <a:xfrm>
            <a:off x="927652" y="150527"/>
            <a:ext cx="102373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Finding the area of simple shapes is okay, but sometimes we need to find the areas of complex shapes. These are sometimes called compound or composite shapes.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03B689-B0FB-4985-95AC-070E99153D4D}"/>
              </a:ext>
            </a:extLst>
          </p:cNvPr>
          <p:cNvSpPr txBox="1"/>
          <p:nvPr/>
        </p:nvSpPr>
        <p:spPr>
          <a:xfrm>
            <a:off x="1345095" y="2619321"/>
            <a:ext cx="87464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 err="1"/>
              <a:t>eg</a:t>
            </a:r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616820-63BC-4A6C-B26E-8DFFAC29FD3A}"/>
              </a:ext>
            </a:extLst>
          </p:cNvPr>
          <p:cNvSpPr/>
          <p:nvPr/>
        </p:nvSpPr>
        <p:spPr>
          <a:xfrm>
            <a:off x="1384851" y="3429000"/>
            <a:ext cx="2372139" cy="1800999"/>
          </a:xfrm>
          <a:prstGeom prst="rect">
            <a:avLst/>
          </a:prstGeom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91ACB315-DDF1-484A-9958-EDE6AA06778E}"/>
              </a:ext>
            </a:extLst>
          </p:cNvPr>
          <p:cNvSpPr/>
          <p:nvPr/>
        </p:nvSpPr>
        <p:spPr>
          <a:xfrm>
            <a:off x="1384851" y="2130287"/>
            <a:ext cx="2372139" cy="1298713"/>
          </a:xfrm>
          <a:prstGeom prst="triangle">
            <a:avLst/>
          </a:prstGeom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94F623-75A2-4A7B-8532-95BD99F205B4}"/>
              </a:ext>
            </a:extLst>
          </p:cNvPr>
          <p:cNvSpPr/>
          <p:nvPr/>
        </p:nvSpPr>
        <p:spPr>
          <a:xfrm>
            <a:off x="6546574" y="3275016"/>
            <a:ext cx="3114261" cy="1934817"/>
          </a:xfrm>
          <a:prstGeom prst="rect">
            <a:avLst/>
          </a:prstGeom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Flowchart: Data 1">
            <a:extLst>
              <a:ext uri="{FF2B5EF4-FFF2-40B4-BE49-F238E27FC236}">
                <a16:creationId xmlns:a16="http://schemas.microsoft.com/office/drawing/2014/main" id="{C1DBB498-6A39-4FBC-B076-C433D1441C6E}"/>
              </a:ext>
            </a:extLst>
          </p:cNvPr>
          <p:cNvSpPr/>
          <p:nvPr/>
        </p:nvSpPr>
        <p:spPr>
          <a:xfrm>
            <a:off x="6539945" y="1340197"/>
            <a:ext cx="1119811" cy="1934817"/>
          </a:xfrm>
          <a:prstGeom prst="flowChartInputOutput">
            <a:avLst/>
          </a:prstGeom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ED8C0CA9-7379-4B81-A07C-DE9FC3EBE1B2}"/>
              </a:ext>
            </a:extLst>
          </p:cNvPr>
          <p:cNvSpPr/>
          <p:nvPr/>
        </p:nvSpPr>
        <p:spPr>
          <a:xfrm rot="10800000">
            <a:off x="4976190" y="3275015"/>
            <a:ext cx="1577008" cy="1934817"/>
          </a:xfrm>
          <a:prstGeom prst="rtTriangle">
            <a:avLst/>
          </a:prstGeom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9C9C5E4-B3D6-45E6-BE05-9E0C62A07AC5}"/>
              </a:ext>
            </a:extLst>
          </p:cNvPr>
          <p:cNvSpPr/>
          <p:nvPr/>
        </p:nvSpPr>
        <p:spPr>
          <a:xfrm rot="10800000" flipH="1">
            <a:off x="9654211" y="3275015"/>
            <a:ext cx="1722785" cy="1934817"/>
          </a:xfrm>
          <a:prstGeom prst="rtTriangle">
            <a:avLst/>
          </a:prstGeom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487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03B689-B0FB-4985-95AC-070E99153D4D}"/>
              </a:ext>
            </a:extLst>
          </p:cNvPr>
          <p:cNvSpPr txBox="1"/>
          <p:nvPr/>
        </p:nvSpPr>
        <p:spPr>
          <a:xfrm>
            <a:off x="1414666" y="2599155"/>
            <a:ext cx="87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/>
              <a:t>eg</a:t>
            </a:r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616820-63BC-4A6C-B26E-8DFFAC29FD3A}"/>
              </a:ext>
            </a:extLst>
          </p:cNvPr>
          <p:cNvSpPr/>
          <p:nvPr/>
        </p:nvSpPr>
        <p:spPr>
          <a:xfrm>
            <a:off x="1414666" y="3408834"/>
            <a:ext cx="2372139" cy="1800999"/>
          </a:xfrm>
          <a:prstGeom prst="rect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91ACB315-DDF1-484A-9958-EDE6AA06778E}"/>
              </a:ext>
            </a:extLst>
          </p:cNvPr>
          <p:cNvSpPr/>
          <p:nvPr/>
        </p:nvSpPr>
        <p:spPr>
          <a:xfrm>
            <a:off x="1414666" y="2110121"/>
            <a:ext cx="2372139" cy="1298713"/>
          </a:xfrm>
          <a:prstGeom prst="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94F623-75A2-4A7B-8532-95BD99F205B4}"/>
              </a:ext>
            </a:extLst>
          </p:cNvPr>
          <p:cNvSpPr/>
          <p:nvPr/>
        </p:nvSpPr>
        <p:spPr>
          <a:xfrm>
            <a:off x="6546574" y="3275016"/>
            <a:ext cx="3114261" cy="1934817"/>
          </a:xfrm>
          <a:prstGeom prst="rect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Flowchart: Data 1">
            <a:extLst>
              <a:ext uri="{FF2B5EF4-FFF2-40B4-BE49-F238E27FC236}">
                <a16:creationId xmlns:a16="http://schemas.microsoft.com/office/drawing/2014/main" id="{C1DBB498-6A39-4FBC-B076-C433D1441C6E}"/>
              </a:ext>
            </a:extLst>
          </p:cNvPr>
          <p:cNvSpPr/>
          <p:nvPr/>
        </p:nvSpPr>
        <p:spPr>
          <a:xfrm>
            <a:off x="6539945" y="1340197"/>
            <a:ext cx="1119811" cy="1934817"/>
          </a:xfrm>
          <a:prstGeom prst="flowChartInputOutput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ED8C0CA9-7379-4B81-A07C-DE9FC3EBE1B2}"/>
              </a:ext>
            </a:extLst>
          </p:cNvPr>
          <p:cNvSpPr/>
          <p:nvPr/>
        </p:nvSpPr>
        <p:spPr>
          <a:xfrm rot="10800000">
            <a:off x="4976190" y="3275015"/>
            <a:ext cx="1577008" cy="1934817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9C9C5E4-B3D6-45E6-BE05-9E0C62A07AC5}"/>
              </a:ext>
            </a:extLst>
          </p:cNvPr>
          <p:cNvSpPr/>
          <p:nvPr/>
        </p:nvSpPr>
        <p:spPr>
          <a:xfrm rot="10800000" flipH="1">
            <a:off x="9667463" y="3275015"/>
            <a:ext cx="1722785" cy="1934817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1BC027-F4EB-4539-B587-03278216E0AC}"/>
              </a:ext>
            </a:extLst>
          </p:cNvPr>
          <p:cNvSpPr txBox="1"/>
          <p:nvPr/>
        </p:nvSpPr>
        <p:spPr>
          <a:xfrm>
            <a:off x="977349" y="213787"/>
            <a:ext cx="102373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This is because they are made from adding simpler shapes together to form a composite.</a:t>
            </a:r>
          </a:p>
        </p:txBody>
      </p:sp>
    </p:spTree>
    <p:extLst>
      <p:ext uri="{BB962C8B-B14F-4D97-AF65-F5344CB8AC3E}">
        <p14:creationId xmlns:p14="http://schemas.microsoft.com/office/powerpoint/2010/main" val="2144924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82B0EF-7A04-4D07-A47E-071CC5ED5C91}"/>
              </a:ext>
            </a:extLst>
          </p:cNvPr>
          <p:cNvSpPr/>
          <p:nvPr/>
        </p:nvSpPr>
        <p:spPr>
          <a:xfrm>
            <a:off x="980661" y="1828800"/>
            <a:ext cx="5221356" cy="25046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6510D79F-BC87-458A-A19F-905F476E0056}"/>
              </a:ext>
            </a:extLst>
          </p:cNvPr>
          <p:cNvSpPr/>
          <p:nvPr/>
        </p:nvSpPr>
        <p:spPr>
          <a:xfrm rot="5400000">
            <a:off x="722243" y="2087219"/>
            <a:ext cx="1762539" cy="124570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D204056A-A579-4E20-8B76-798FFB3DE317}"/>
              </a:ext>
            </a:extLst>
          </p:cNvPr>
          <p:cNvSpPr/>
          <p:nvPr/>
        </p:nvSpPr>
        <p:spPr>
          <a:xfrm rot="5400000" flipV="1">
            <a:off x="4757530" y="2034207"/>
            <a:ext cx="1762539" cy="1245705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96D589-7D20-4ADB-BCA0-8F634468C444}"/>
              </a:ext>
            </a:extLst>
          </p:cNvPr>
          <p:cNvSpPr/>
          <p:nvPr/>
        </p:nvSpPr>
        <p:spPr>
          <a:xfrm>
            <a:off x="6520070" y="1537252"/>
            <a:ext cx="4558747" cy="4505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BE60C2C-1B2A-4BDA-A327-444BDEBA0698}"/>
              </a:ext>
            </a:extLst>
          </p:cNvPr>
          <p:cNvSpPr/>
          <p:nvPr/>
        </p:nvSpPr>
        <p:spPr>
          <a:xfrm>
            <a:off x="7189306" y="2425148"/>
            <a:ext cx="1570381" cy="160351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65EF489-2601-4E1F-9B5F-C78143265D5A}"/>
              </a:ext>
            </a:extLst>
          </p:cNvPr>
          <p:cNvSpPr/>
          <p:nvPr/>
        </p:nvSpPr>
        <p:spPr>
          <a:xfrm>
            <a:off x="9077740" y="2425148"/>
            <a:ext cx="1570381" cy="160351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0D1C4B-54D6-4514-8577-E841C5EF9427}"/>
              </a:ext>
            </a:extLst>
          </p:cNvPr>
          <p:cNvSpPr/>
          <p:nvPr/>
        </p:nvSpPr>
        <p:spPr>
          <a:xfrm>
            <a:off x="7368209" y="4594578"/>
            <a:ext cx="2938547" cy="575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704E8DDE-F2DB-465B-971E-2CA64412DBCB}"/>
              </a:ext>
            </a:extLst>
          </p:cNvPr>
          <p:cNvSpPr/>
          <p:nvPr/>
        </p:nvSpPr>
        <p:spPr>
          <a:xfrm rot="10800000">
            <a:off x="2232992" y="1802294"/>
            <a:ext cx="2789582" cy="1245706"/>
          </a:xfrm>
          <a:prstGeom prst="triangle">
            <a:avLst>
              <a:gd name="adj" fmla="val 504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EC4EB8-A119-4C7A-BBD5-51CA86596349}"/>
              </a:ext>
            </a:extLst>
          </p:cNvPr>
          <p:cNvSpPr txBox="1"/>
          <p:nvPr/>
        </p:nvSpPr>
        <p:spPr>
          <a:xfrm>
            <a:off x="977349" y="213787"/>
            <a:ext cx="102373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However they aren’t always just made by adding shapes together</a:t>
            </a:r>
          </a:p>
        </p:txBody>
      </p:sp>
    </p:spTree>
    <p:extLst>
      <p:ext uri="{BB962C8B-B14F-4D97-AF65-F5344CB8AC3E}">
        <p14:creationId xmlns:p14="http://schemas.microsoft.com/office/powerpoint/2010/main" val="3532491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82B0EF-7A04-4D07-A47E-071CC5ED5C91}"/>
              </a:ext>
            </a:extLst>
          </p:cNvPr>
          <p:cNvSpPr/>
          <p:nvPr/>
        </p:nvSpPr>
        <p:spPr>
          <a:xfrm>
            <a:off x="980661" y="1828800"/>
            <a:ext cx="5221356" cy="25046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6510D79F-BC87-458A-A19F-905F476E0056}"/>
              </a:ext>
            </a:extLst>
          </p:cNvPr>
          <p:cNvSpPr/>
          <p:nvPr/>
        </p:nvSpPr>
        <p:spPr>
          <a:xfrm rot="5400000">
            <a:off x="722243" y="2087219"/>
            <a:ext cx="1762539" cy="124570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D204056A-A579-4E20-8B76-798FFB3DE317}"/>
              </a:ext>
            </a:extLst>
          </p:cNvPr>
          <p:cNvSpPr/>
          <p:nvPr/>
        </p:nvSpPr>
        <p:spPr>
          <a:xfrm rot="5400000" flipV="1">
            <a:off x="4757530" y="2034207"/>
            <a:ext cx="1762539" cy="1245705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96D589-7D20-4ADB-BCA0-8F634468C444}"/>
              </a:ext>
            </a:extLst>
          </p:cNvPr>
          <p:cNvSpPr/>
          <p:nvPr/>
        </p:nvSpPr>
        <p:spPr>
          <a:xfrm>
            <a:off x="6520070" y="1537252"/>
            <a:ext cx="4558747" cy="4505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BE60C2C-1B2A-4BDA-A327-444BDEBA0698}"/>
              </a:ext>
            </a:extLst>
          </p:cNvPr>
          <p:cNvSpPr/>
          <p:nvPr/>
        </p:nvSpPr>
        <p:spPr>
          <a:xfrm>
            <a:off x="7189306" y="2425148"/>
            <a:ext cx="1570381" cy="1603513"/>
          </a:xfrm>
          <a:prstGeom prst="triangle">
            <a:avLst/>
          </a:prstGeom>
          <a:solidFill>
            <a:schemeClr val="bg1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65EF489-2601-4E1F-9B5F-C78143265D5A}"/>
              </a:ext>
            </a:extLst>
          </p:cNvPr>
          <p:cNvSpPr/>
          <p:nvPr/>
        </p:nvSpPr>
        <p:spPr>
          <a:xfrm>
            <a:off x="9077740" y="2425148"/>
            <a:ext cx="1570381" cy="1603513"/>
          </a:xfrm>
          <a:prstGeom prst="triangle">
            <a:avLst/>
          </a:prstGeom>
          <a:solidFill>
            <a:schemeClr val="bg1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0D1C4B-54D6-4514-8577-E841C5EF9427}"/>
              </a:ext>
            </a:extLst>
          </p:cNvPr>
          <p:cNvSpPr/>
          <p:nvPr/>
        </p:nvSpPr>
        <p:spPr>
          <a:xfrm>
            <a:off x="7368209" y="4594578"/>
            <a:ext cx="2938547" cy="575733"/>
          </a:xfrm>
          <a:prstGeom prst="rect">
            <a:avLst/>
          </a:prstGeom>
          <a:solidFill>
            <a:schemeClr val="bg1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704E8DDE-F2DB-465B-971E-2CA64412DBCB}"/>
              </a:ext>
            </a:extLst>
          </p:cNvPr>
          <p:cNvSpPr/>
          <p:nvPr/>
        </p:nvSpPr>
        <p:spPr>
          <a:xfrm rot="10800000">
            <a:off x="2232992" y="1802294"/>
            <a:ext cx="2789582" cy="1245706"/>
          </a:xfrm>
          <a:prstGeom prst="triangle">
            <a:avLst>
              <a:gd name="adj" fmla="val 50475"/>
            </a:avLst>
          </a:prstGeom>
          <a:solidFill>
            <a:schemeClr val="bg1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010836-1741-4BC8-B7A5-F0788BADDE58}"/>
              </a:ext>
            </a:extLst>
          </p:cNvPr>
          <p:cNvSpPr txBox="1"/>
          <p:nvPr/>
        </p:nvSpPr>
        <p:spPr>
          <a:xfrm>
            <a:off x="977349" y="213787"/>
            <a:ext cx="102373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They can also be made by subtracting 1 shape from another.</a:t>
            </a:r>
          </a:p>
        </p:txBody>
      </p:sp>
    </p:spTree>
    <p:extLst>
      <p:ext uri="{BB962C8B-B14F-4D97-AF65-F5344CB8AC3E}">
        <p14:creationId xmlns:p14="http://schemas.microsoft.com/office/powerpoint/2010/main" val="3105167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430830-E4B6-4557-B48A-12D055D8D405}"/>
              </a:ext>
            </a:extLst>
          </p:cNvPr>
          <p:cNvSpPr/>
          <p:nvPr/>
        </p:nvSpPr>
        <p:spPr>
          <a:xfrm>
            <a:off x="1199444" y="1741310"/>
            <a:ext cx="4007556" cy="1941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B7D220-018F-4075-9A33-1D35E92F8B82}"/>
              </a:ext>
            </a:extLst>
          </p:cNvPr>
          <p:cNvSpPr/>
          <p:nvPr/>
        </p:nvSpPr>
        <p:spPr>
          <a:xfrm>
            <a:off x="694265" y="4351866"/>
            <a:ext cx="4859867" cy="1941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17D83-44DE-4FB2-AA2B-D61C4866EF89}"/>
              </a:ext>
            </a:extLst>
          </p:cNvPr>
          <p:cNvSpPr txBox="1"/>
          <p:nvPr/>
        </p:nvSpPr>
        <p:spPr>
          <a:xfrm>
            <a:off x="1958621" y="86746"/>
            <a:ext cx="10840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Sometimes it can be both addition and subtraction.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E131EE-0B59-441C-AC98-B22E6E94C2EE}"/>
              </a:ext>
            </a:extLst>
          </p:cNvPr>
          <p:cNvSpPr/>
          <p:nvPr/>
        </p:nvSpPr>
        <p:spPr>
          <a:xfrm>
            <a:off x="6626577" y="1711488"/>
            <a:ext cx="4007556" cy="1941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B1C601-93EC-4887-AFBC-3B6BA5B10663}"/>
              </a:ext>
            </a:extLst>
          </p:cNvPr>
          <p:cNvSpPr/>
          <p:nvPr/>
        </p:nvSpPr>
        <p:spPr>
          <a:xfrm>
            <a:off x="6637870" y="4351866"/>
            <a:ext cx="4859867" cy="19416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68DAEB-50D5-421D-B743-9671890038F9}"/>
              </a:ext>
            </a:extLst>
          </p:cNvPr>
          <p:cNvSpPr/>
          <p:nvPr/>
        </p:nvSpPr>
        <p:spPr>
          <a:xfrm>
            <a:off x="2108199" y="2001078"/>
            <a:ext cx="914400" cy="1681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4900C8-343B-40FA-87F3-DC813A05493B}"/>
              </a:ext>
            </a:extLst>
          </p:cNvPr>
          <p:cNvSpPr/>
          <p:nvPr/>
        </p:nvSpPr>
        <p:spPr>
          <a:xfrm>
            <a:off x="3733800" y="2328333"/>
            <a:ext cx="914400" cy="7337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3D1A6A-B675-4BF3-8A31-374BA17483C4}"/>
              </a:ext>
            </a:extLst>
          </p:cNvPr>
          <p:cNvSpPr/>
          <p:nvPr/>
        </p:nvSpPr>
        <p:spPr>
          <a:xfrm>
            <a:off x="7024511" y="2168687"/>
            <a:ext cx="914400" cy="7337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7F32A8-7FAF-4325-8622-F0FB0470A52B}"/>
              </a:ext>
            </a:extLst>
          </p:cNvPr>
          <p:cNvSpPr/>
          <p:nvPr/>
        </p:nvSpPr>
        <p:spPr>
          <a:xfrm>
            <a:off x="9262533" y="2191266"/>
            <a:ext cx="914400" cy="7337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FD4F4F-6726-48B6-824D-5E50605A102B}"/>
              </a:ext>
            </a:extLst>
          </p:cNvPr>
          <p:cNvSpPr/>
          <p:nvPr/>
        </p:nvSpPr>
        <p:spPr>
          <a:xfrm>
            <a:off x="1044221" y="4955821"/>
            <a:ext cx="914400" cy="7337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F6EFB1-257D-4C00-8704-91FBAFE6511A}"/>
              </a:ext>
            </a:extLst>
          </p:cNvPr>
          <p:cNvSpPr/>
          <p:nvPr/>
        </p:nvSpPr>
        <p:spPr>
          <a:xfrm>
            <a:off x="4272844" y="4786490"/>
            <a:ext cx="914400" cy="1540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18F225-086F-46AC-A516-C6E5CFC8D76F}"/>
              </a:ext>
            </a:extLst>
          </p:cNvPr>
          <p:cNvSpPr/>
          <p:nvPr/>
        </p:nvSpPr>
        <p:spPr>
          <a:xfrm>
            <a:off x="2607733" y="4955822"/>
            <a:ext cx="914400" cy="7337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8959D2-FE44-40EF-A511-605C662EB826}"/>
              </a:ext>
            </a:extLst>
          </p:cNvPr>
          <p:cNvSpPr/>
          <p:nvPr/>
        </p:nvSpPr>
        <p:spPr>
          <a:xfrm>
            <a:off x="7123292" y="4780845"/>
            <a:ext cx="914400" cy="7337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EB84A0-FD45-480E-B53F-C7350EF5C48E}"/>
              </a:ext>
            </a:extLst>
          </p:cNvPr>
          <p:cNvSpPr/>
          <p:nvPr/>
        </p:nvSpPr>
        <p:spPr>
          <a:xfrm>
            <a:off x="8669869" y="4780845"/>
            <a:ext cx="914400" cy="7337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B7E9C8-D4D5-4812-94B1-EEC96C4AF4DF}"/>
              </a:ext>
            </a:extLst>
          </p:cNvPr>
          <p:cNvSpPr/>
          <p:nvPr/>
        </p:nvSpPr>
        <p:spPr>
          <a:xfrm>
            <a:off x="10049937" y="4803423"/>
            <a:ext cx="914400" cy="7337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0C729A47-2665-43F9-B416-8DCA7658B569}"/>
              </a:ext>
            </a:extLst>
          </p:cNvPr>
          <p:cNvSpPr/>
          <p:nvPr/>
        </p:nvSpPr>
        <p:spPr>
          <a:xfrm>
            <a:off x="6612467" y="622111"/>
            <a:ext cx="4021666" cy="108937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B5DF917-1E61-4028-B3A0-1E0180395467}"/>
              </a:ext>
            </a:extLst>
          </p:cNvPr>
          <p:cNvSpPr/>
          <p:nvPr/>
        </p:nvSpPr>
        <p:spPr>
          <a:xfrm>
            <a:off x="1199444" y="588245"/>
            <a:ext cx="4021666" cy="115306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813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41995" y="543032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41995" y="1075214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4452" y="-107828"/>
            <a:ext cx="691277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920" dirty="0"/>
              <a:t>24</a:t>
            </a:r>
          </a:p>
          <a:p>
            <a:r>
              <a:rPr lang="en-AU" sz="1920" dirty="0"/>
              <a:t>7</a:t>
            </a:r>
          </a:p>
          <a:p>
            <a:r>
              <a:rPr lang="en-AU" sz="192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892583" y="1075214"/>
            <a:ext cx="34237" cy="578278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89110" y="-43685"/>
            <a:ext cx="881908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8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62749" y="-36337"/>
            <a:ext cx="190101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694" y="521219"/>
            <a:ext cx="1018746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EQ – How we can use formulas to find areas of different shapes?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21E1B-1695-4A5B-AD7C-03C182E07A40}"/>
              </a:ext>
            </a:extLst>
          </p:cNvPr>
          <p:cNvSpPr txBox="1"/>
          <p:nvPr/>
        </p:nvSpPr>
        <p:spPr>
          <a:xfrm>
            <a:off x="2207568" y="1182349"/>
            <a:ext cx="8932586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In order to find the area of composite or compound shapes we break it into the pieces it is made from.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DA60F9-340A-4C21-B252-6D8438E4B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3" y="2242585"/>
            <a:ext cx="4151962" cy="15369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6E6EEC-9DAD-46FC-9A74-350955E41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2190684"/>
            <a:ext cx="4548809" cy="155237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28309C2-8211-4310-9595-0D207964746E}"/>
              </a:ext>
            </a:extLst>
          </p:cNvPr>
          <p:cNvSpPr txBox="1"/>
          <p:nvPr/>
        </p:nvSpPr>
        <p:spPr>
          <a:xfrm>
            <a:off x="6176169" y="2389918"/>
            <a:ext cx="10336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/>
              <a:t>=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C450E6-B491-4A75-B54D-42E4E1EEC2EF}"/>
              </a:ext>
            </a:extLst>
          </p:cNvPr>
          <p:cNvSpPr txBox="1"/>
          <p:nvPr/>
        </p:nvSpPr>
        <p:spPr>
          <a:xfrm>
            <a:off x="2217623" y="3662247"/>
            <a:ext cx="9984432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To find the area of the whole shape, we find the area of the 2 shapes and add them together.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7F5378-BAA8-462F-8621-D8EB23D85A43}"/>
              </a:ext>
            </a:extLst>
          </p:cNvPr>
          <p:cNvSpPr txBox="1"/>
          <p:nvPr/>
        </p:nvSpPr>
        <p:spPr>
          <a:xfrm>
            <a:off x="3177408" y="4663317"/>
            <a:ext cx="3599525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A of Rectangle=length  x width</a:t>
            </a:r>
          </a:p>
          <a:p>
            <a:r>
              <a:rPr lang="en-AU" sz="2160" dirty="0"/>
              <a:t>  = 7 x 15 cm</a:t>
            </a:r>
          </a:p>
          <a:p>
            <a:r>
              <a:rPr lang="en-AU" sz="2160" dirty="0"/>
              <a:t>   = 105cm</a:t>
            </a:r>
            <a:r>
              <a:rPr lang="en-AU" sz="2160" baseline="30000" dirty="0"/>
              <a:t>2</a:t>
            </a:r>
            <a:endParaRPr lang="en-AU" sz="216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548A22-1AAB-4F11-ACA9-1A1DF0EAA264}"/>
              </a:ext>
            </a:extLst>
          </p:cNvPr>
          <p:cNvSpPr txBox="1"/>
          <p:nvPr/>
        </p:nvSpPr>
        <p:spPr>
          <a:xfrm>
            <a:off x="8268920" y="4437569"/>
            <a:ext cx="3760736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A of triangle=1/2 x base  x height</a:t>
            </a:r>
          </a:p>
          <a:p>
            <a:r>
              <a:rPr lang="en-AU" sz="2160" dirty="0"/>
              <a:t>  = 0.5 x 7 x 5 cm</a:t>
            </a:r>
          </a:p>
          <a:p>
            <a:r>
              <a:rPr lang="en-AU" sz="2160" dirty="0"/>
              <a:t>   = 17.5 cm</a:t>
            </a:r>
            <a:r>
              <a:rPr lang="en-AU" sz="2160" baseline="30000" dirty="0"/>
              <a:t>2</a:t>
            </a:r>
            <a:endParaRPr lang="en-AU" sz="216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51C219-B50E-4AF5-BB1D-64B490891FA6}"/>
              </a:ext>
            </a:extLst>
          </p:cNvPr>
          <p:cNvSpPr txBox="1"/>
          <p:nvPr/>
        </p:nvSpPr>
        <p:spPr>
          <a:xfrm>
            <a:off x="4341195" y="5936403"/>
            <a:ext cx="553823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Total area = area of rect. + area of triangle</a:t>
            </a:r>
          </a:p>
          <a:p>
            <a:r>
              <a:rPr lang="en-AU" sz="2160" dirty="0"/>
              <a:t>	= 105 + 17.5 = 122.5cm</a:t>
            </a:r>
            <a:r>
              <a:rPr lang="en-AU" sz="2160" baseline="30000" dirty="0"/>
              <a:t>2</a:t>
            </a:r>
            <a:endParaRPr lang="en-AU" sz="2160" dirty="0"/>
          </a:p>
        </p:txBody>
      </p:sp>
    </p:spTree>
    <p:extLst>
      <p:ext uri="{BB962C8B-B14F-4D97-AF65-F5344CB8AC3E}">
        <p14:creationId xmlns:p14="http://schemas.microsoft.com/office/powerpoint/2010/main" val="123638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7A4D5C-A77D-4F8B-B628-211FDBE6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14" y="1155545"/>
            <a:ext cx="10744916" cy="23598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7987" y="577484"/>
            <a:ext cx="5019516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80" dirty="0"/>
              <a:t>Try these on the LHS of your INB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B62B62-6EBF-404A-960D-0CE58749274C}"/>
              </a:ext>
            </a:extLst>
          </p:cNvPr>
          <p:cNvSpPr/>
          <p:nvPr/>
        </p:nvSpPr>
        <p:spPr>
          <a:xfrm>
            <a:off x="4454218" y="1099872"/>
            <a:ext cx="2765107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</p:spTree>
    <p:extLst>
      <p:ext uri="{BB962C8B-B14F-4D97-AF65-F5344CB8AC3E}">
        <p14:creationId xmlns:p14="http://schemas.microsoft.com/office/powerpoint/2010/main" val="1617015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7A4D5C-A77D-4F8B-B628-211FDBE6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701" y="231845"/>
            <a:ext cx="9177180" cy="20155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1DBC13-01A6-48FF-96B0-CDA8EC418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2247394"/>
            <a:ext cx="8344051" cy="72922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3C1874E-09CD-4C5E-ACDA-475106735F68}"/>
              </a:ext>
            </a:extLst>
          </p:cNvPr>
          <p:cNvSpPr/>
          <p:nvPr/>
        </p:nvSpPr>
        <p:spPr>
          <a:xfrm>
            <a:off x="4631001" y="14645"/>
            <a:ext cx="2765107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</p:spTree>
    <p:extLst>
      <p:ext uri="{BB962C8B-B14F-4D97-AF65-F5344CB8AC3E}">
        <p14:creationId xmlns:p14="http://schemas.microsoft.com/office/powerpoint/2010/main" val="1528952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60" r="5082"/>
          <a:stretch/>
        </p:blipFill>
        <p:spPr>
          <a:xfrm>
            <a:off x="2726026" y="0"/>
            <a:ext cx="8856374" cy="68615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8605" y="231845"/>
            <a:ext cx="1728192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80" dirty="0"/>
              <a:t>Exercise 17.4 on </a:t>
            </a:r>
          </a:p>
          <a:p>
            <a:r>
              <a:rPr lang="en-US" sz="2880" dirty="0"/>
              <a:t>page 232 of Dwyer</a:t>
            </a:r>
          </a:p>
        </p:txBody>
      </p:sp>
    </p:spTree>
    <p:extLst>
      <p:ext uri="{BB962C8B-B14F-4D97-AF65-F5344CB8AC3E}">
        <p14:creationId xmlns:p14="http://schemas.microsoft.com/office/powerpoint/2010/main" val="1915911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215</Words>
  <Application>Microsoft Office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Composite/compound  area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Composite/compound  area – part II</dc:title>
  <dc:creator>WILSON James [Baldivis Secondary College]</dc:creator>
  <cp:lastModifiedBy>WILSON James [Baldivis Secondary College]</cp:lastModifiedBy>
  <cp:revision>10</cp:revision>
  <dcterms:created xsi:type="dcterms:W3CDTF">2019-02-11T14:04:34Z</dcterms:created>
  <dcterms:modified xsi:type="dcterms:W3CDTF">2019-03-05T14:58:17Z</dcterms:modified>
</cp:coreProperties>
</file>
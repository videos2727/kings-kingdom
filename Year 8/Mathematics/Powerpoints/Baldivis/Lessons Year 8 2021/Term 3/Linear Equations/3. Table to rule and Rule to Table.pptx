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1" r:id="rId2"/>
    <p:sldId id="319" r:id="rId3"/>
    <p:sldId id="314" r:id="rId4"/>
    <p:sldId id="315" r:id="rId5"/>
    <p:sldId id="318" r:id="rId6"/>
    <p:sldId id="320" r:id="rId7"/>
    <p:sldId id="284" r:id="rId8"/>
    <p:sldId id="283" r:id="rId9"/>
    <p:sldId id="311" r:id="rId10"/>
    <p:sldId id="312" r:id="rId11"/>
    <p:sldId id="313" r:id="rId12"/>
  </p:sldIdLst>
  <p:sldSz cx="9144000" cy="5715000" type="screen16x1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93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4/08/2021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36863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7E344-9642-44FB-BEDC-411AD8BF88BE}"/>
              </a:ext>
            </a:extLst>
          </p:cNvPr>
          <p:cNvSpPr txBox="1"/>
          <p:nvPr/>
        </p:nvSpPr>
        <p:spPr>
          <a:xfrm>
            <a:off x="203942" y="0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B203B-7816-468F-BF1E-39D9D2F2291B}"/>
              </a:ext>
            </a:extLst>
          </p:cNvPr>
          <p:cNvSpPr txBox="1"/>
          <p:nvPr/>
        </p:nvSpPr>
        <p:spPr>
          <a:xfrm>
            <a:off x="203942" y="45695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and use the rule for a linear relationship?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5A40F-4568-4D0E-B3E2-117C604785D0}"/>
                  </a:ext>
                </a:extLst>
              </p:cNvPr>
              <p:cNvSpPr txBox="1"/>
              <p:nvPr/>
            </p:nvSpPr>
            <p:spPr>
              <a:xfrm>
                <a:off x="719757" y="914400"/>
                <a:ext cx="8112370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u="sng" dirty="0"/>
                  <a:t>5 Questions</a:t>
                </a:r>
                <a:r>
                  <a:rPr lang="en-US" sz="2000" dirty="0"/>
                  <a:t> – Complete on your LHS</a:t>
                </a:r>
                <a:endParaRPr lang="en-US" sz="2000" u="sng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Complete your summary, highlight important information and update your contents page.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Use BIMDAS to solve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÷2+(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×4)</m:t>
                    </m:r>
                  </m:oMath>
                </a14:m>
                <a:endParaRPr lang="en-US" sz="20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Write 0.4 as a fraction.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How can I identify if a table or graph is linear?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b="0" i="0" dirty="0">
                    <a:solidFill>
                      <a:srgbClr val="333333"/>
                    </a:solidFill>
                    <a:effectLst/>
                  </a:rPr>
                  <a:t>Write three equations whose solution is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>
                    <a:solidFill>
                      <a:srgbClr val="333333"/>
                    </a:solidFill>
                    <a:effectLst/>
                    <a:latin typeface="Droid Sans"/>
                  </a:rPr>
                  <a:t>= 3.</a:t>
                </a:r>
                <a:endParaRPr lang="en-US" sz="20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5A40F-4568-4D0E-B3E2-117C60478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7" y="914400"/>
                <a:ext cx="8112370" cy="3600986"/>
              </a:xfrm>
              <a:prstGeom prst="rect">
                <a:avLst/>
              </a:prstGeom>
              <a:blipFill>
                <a:blip r:embed="rId2"/>
                <a:stretch>
                  <a:fillRect l="-8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asyTimer">
                <a:extLst>
                  <a:ext uri="{FF2B5EF4-FFF2-40B4-BE49-F238E27FC236}">
                    <a16:creationId xmlns:a16="http://schemas.microsoft.com/office/drawing/2014/main" id="{09B4BF49-7E2B-4615-A211-20CE987795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104614"/>
                  </p:ext>
                </p:extLst>
              </p:nvPr>
            </p:nvGraphicFramePr>
            <p:xfrm>
              <a:off x="6893169" y="3634154"/>
              <a:ext cx="2441899" cy="208255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 4" title="EasyTimer">
                <a:extLst>
                  <a:ext uri="{FF2B5EF4-FFF2-40B4-BE49-F238E27FC236}">
                    <a16:creationId xmlns:a16="http://schemas.microsoft.com/office/drawing/2014/main" id="{09B4BF49-7E2B-4615-A211-20CE987795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3169" y="3634154"/>
                <a:ext cx="2441899" cy="2082552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1200BC-CF14-443A-9061-AACB2197131F}"/>
              </a:ext>
            </a:extLst>
          </p:cNvPr>
          <p:cNvCxnSpPr/>
          <p:nvPr/>
        </p:nvCxnSpPr>
        <p:spPr>
          <a:xfrm>
            <a:off x="-47756" y="914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FBA349-0233-4365-AFFF-002D9D35F8AA}"/>
              </a:ext>
            </a:extLst>
          </p:cNvPr>
          <p:cNvSpPr txBox="1"/>
          <p:nvPr/>
        </p:nvSpPr>
        <p:spPr>
          <a:xfrm>
            <a:off x="6955692" y="0"/>
            <a:ext cx="2608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345704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and use the rule for a linear relationship?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158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and use the rule for a linear relationship?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Linear equations can be written in the form;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/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6F6BB-BB71-4892-97DA-ABAD60F25B39}"/>
              </a:ext>
            </a:extLst>
          </p:cNvPr>
          <p:cNvSpPr txBox="1"/>
          <p:nvPr/>
        </p:nvSpPr>
        <p:spPr>
          <a:xfrm>
            <a:off x="2776027" y="1821673"/>
            <a:ext cx="404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=is the gradient</a:t>
            </a:r>
          </a:p>
          <a:p>
            <a:r>
              <a:rPr lang="en-AU" dirty="0"/>
              <a:t>C = the y-intercept (x value at time 0)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DC1C2C-D23A-4AFF-AAB7-95B3FD82D59D}"/>
              </a:ext>
            </a:extLst>
          </p:cNvPr>
          <p:cNvGraphicFramePr>
            <a:graphicFrameLocks noGrp="1"/>
          </p:cNvGraphicFramePr>
          <p:nvPr/>
        </p:nvGraphicFramePr>
        <p:xfrm>
          <a:off x="2407598" y="2530936"/>
          <a:ext cx="6096000" cy="797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3206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39839">
                <a:tc>
                  <a:txBody>
                    <a:bodyPr/>
                    <a:lstStyle/>
                    <a:p>
                      <a:r>
                        <a:rPr lang="en-AU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173DB-F00A-402A-9DE1-79D283B515E7}"/>
              </a:ext>
            </a:extLst>
          </p:cNvPr>
          <p:cNvSpPr txBox="1"/>
          <p:nvPr/>
        </p:nvSpPr>
        <p:spPr>
          <a:xfrm>
            <a:off x="3181707" y="3798501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2    as the y values increase by 2 each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55E52-7C56-4B9A-B09C-972EFA3DAC5B}"/>
              </a:ext>
            </a:extLst>
          </p:cNvPr>
          <p:cNvSpPr txBox="1"/>
          <p:nvPr/>
        </p:nvSpPr>
        <p:spPr>
          <a:xfrm>
            <a:off x="3193053" y="4136352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-5   as the y value when x is 0 is 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/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𝑏𝑒𝑐𝑜𝑚𝑒𝑠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−5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DDB1CFC-FD63-4583-A3E9-A6CCAA05863E}"/>
              </a:ext>
            </a:extLst>
          </p:cNvPr>
          <p:cNvSpPr/>
          <p:nvPr/>
        </p:nvSpPr>
        <p:spPr>
          <a:xfrm>
            <a:off x="3616469" y="3763332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BABD022A-E51C-4762-B1C0-9E8DF6BE43EB}"/>
              </a:ext>
            </a:extLst>
          </p:cNvPr>
          <p:cNvSpPr/>
          <p:nvPr/>
        </p:nvSpPr>
        <p:spPr>
          <a:xfrm>
            <a:off x="4097102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F8D2763-8CDF-46EC-B75F-F040B7DDD910}"/>
              </a:ext>
            </a:extLst>
          </p:cNvPr>
          <p:cNvSpPr/>
          <p:nvPr/>
        </p:nvSpPr>
        <p:spPr>
          <a:xfrm>
            <a:off x="4806348" y="3319642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309F645D-9E18-4C15-984C-8B2A24BDC968}"/>
              </a:ext>
            </a:extLst>
          </p:cNvPr>
          <p:cNvSpPr/>
          <p:nvPr/>
        </p:nvSpPr>
        <p:spPr>
          <a:xfrm>
            <a:off x="5515594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6F7DBE08-F849-47D1-837C-E98F99C2DBFA}"/>
              </a:ext>
            </a:extLst>
          </p:cNvPr>
          <p:cNvSpPr/>
          <p:nvPr/>
        </p:nvSpPr>
        <p:spPr>
          <a:xfrm>
            <a:off x="6224839" y="3302506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B2BF5D72-C2E8-4252-8A94-E12DB435B8B2}"/>
              </a:ext>
            </a:extLst>
          </p:cNvPr>
          <p:cNvSpPr/>
          <p:nvPr/>
        </p:nvSpPr>
        <p:spPr>
          <a:xfrm>
            <a:off x="6928221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1B4D7E02-11EC-4E3A-8DE3-AF6E28CDB1D0}"/>
              </a:ext>
            </a:extLst>
          </p:cNvPr>
          <p:cNvSpPr/>
          <p:nvPr/>
        </p:nvSpPr>
        <p:spPr>
          <a:xfrm>
            <a:off x="7643330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20939-A1A6-45E9-9844-8A1CB11FD579}"/>
              </a:ext>
            </a:extLst>
          </p:cNvPr>
          <p:cNvSpPr txBox="1"/>
          <p:nvPr/>
        </p:nvSpPr>
        <p:spPr>
          <a:xfrm>
            <a:off x="4234849" y="347734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9270-5467-4021-9CF3-5F4B0062C6FE}"/>
              </a:ext>
            </a:extLst>
          </p:cNvPr>
          <p:cNvSpPr txBox="1"/>
          <p:nvPr/>
        </p:nvSpPr>
        <p:spPr>
          <a:xfrm>
            <a:off x="5002709" y="346854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4AD5A-996B-41C8-AD05-702ABBCCA664}"/>
              </a:ext>
            </a:extLst>
          </p:cNvPr>
          <p:cNvSpPr txBox="1"/>
          <p:nvPr/>
        </p:nvSpPr>
        <p:spPr>
          <a:xfrm>
            <a:off x="5755918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89C1A-47C3-4059-954B-BACDAADCA4E7}"/>
              </a:ext>
            </a:extLst>
          </p:cNvPr>
          <p:cNvSpPr txBox="1"/>
          <p:nvPr/>
        </p:nvSpPr>
        <p:spPr>
          <a:xfrm>
            <a:off x="6388960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9E007-2947-47CD-BAD3-7C109CFD2DD4}"/>
              </a:ext>
            </a:extLst>
          </p:cNvPr>
          <p:cNvSpPr txBox="1"/>
          <p:nvPr/>
        </p:nvSpPr>
        <p:spPr>
          <a:xfrm>
            <a:off x="7098206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D1FE-74EB-46A8-BE86-D9C6034DE26F}"/>
              </a:ext>
            </a:extLst>
          </p:cNvPr>
          <p:cNvSpPr txBox="1"/>
          <p:nvPr/>
        </p:nvSpPr>
        <p:spPr>
          <a:xfrm>
            <a:off x="7757624" y="351228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BB612-6B86-46F2-8F4F-9C880CD66605}"/>
              </a:ext>
            </a:extLst>
          </p:cNvPr>
          <p:cNvSpPr/>
          <p:nvPr/>
        </p:nvSpPr>
        <p:spPr>
          <a:xfrm>
            <a:off x="4192259" y="3470120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64F903-628B-48EF-997D-B5737CAF23F3}"/>
              </a:ext>
            </a:extLst>
          </p:cNvPr>
          <p:cNvSpPr/>
          <p:nvPr/>
        </p:nvSpPr>
        <p:spPr>
          <a:xfrm>
            <a:off x="6865008" y="4701993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6F55-5E4C-4C65-9329-7401AF871D1F}"/>
              </a:ext>
            </a:extLst>
          </p:cNvPr>
          <p:cNvSpPr/>
          <p:nvPr/>
        </p:nvSpPr>
        <p:spPr>
          <a:xfrm>
            <a:off x="3593602" y="4178868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4C9DBD-F19E-4F09-95DC-4377BED529AB}"/>
              </a:ext>
            </a:extLst>
          </p:cNvPr>
          <p:cNvSpPr/>
          <p:nvPr/>
        </p:nvSpPr>
        <p:spPr>
          <a:xfrm>
            <a:off x="7540134" y="4701993"/>
            <a:ext cx="709243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8F9419-A573-4BFD-952C-34CA2116BF28}"/>
              </a:ext>
            </a:extLst>
          </p:cNvPr>
          <p:cNvSpPr/>
          <p:nvPr/>
        </p:nvSpPr>
        <p:spPr>
          <a:xfrm>
            <a:off x="3647210" y="2944793"/>
            <a:ext cx="449887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54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210F5-9F53-4F44-9FCE-F9B0C1173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27488"/>
              </p:ext>
            </p:extLst>
          </p:nvPr>
        </p:nvGraphicFramePr>
        <p:xfrm>
          <a:off x="363415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1BE484-D667-4DDF-B13F-835A9A44BF8A}"/>
              </a:ext>
            </a:extLst>
          </p:cNvPr>
          <p:cNvSpPr txBox="1"/>
          <p:nvPr/>
        </p:nvSpPr>
        <p:spPr>
          <a:xfrm>
            <a:off x="595363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1AB64-FEF6-4547-9793-F732F75F224D}"/>
              </a:ext>
            </a:extLst>
          </p:cNvPr>
          <p:cNvSpPr txBox="1"/>
          <p:nvPr/>
        </p:nvSpPr>
        <p:spPr>
          <a:xfrm>
            <a:off x="363415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CE45C-71F6-49C5-A6F9-0F51561F7977}"/>
              </a:ext>
            </a:extLst>
          </p:cNvPr>
          <p:cNvSpPr txBox="1"/>
          <p:nvPr/>
        </p:nvSpPr>
        <p:spPr>
          <a:xfrm>
            <a:off x="6353908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 to try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A004B3-4687-4BB1-88E1-70432171E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17557"/>
              </p:ext>
            </p:extLst>
          </p:nvPr>
        </p:nvGraphicFramePr>
        <p:xfrm>
          <a:off x="363415" y="233445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13EC8D-AED8-4DB0-9D05-F99144051F6F}"/>
              </a:ext>
            </a:extLst>
          </p:cNvPr>
          <p:cNvSpPr txBox="1"/>
          <p:nvPr/>
        </p:nvSpPr>
        <p:spPr>
          <a:xfrm>
            <a:off x="595363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0C5A50-A572-44B7-B37C-33B6AFED4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40914"/>
              </p:ext>
            </p:extLst>
          </p:nvPr>
        </p:nvGraphicFramePr>
        <p:xfrm>
          <a:off x="363413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F61BDC-770B-43DD-ADF6-4EBAA81778AA}"/>
              </a:ext>
            </a:extLst>
          </p:cNvPr>
          <p:cNvSpPr txBox="1"/>
          <p:nvPr/>
        </p:nvSpPr>
        <p:spPr>
          <a:xfrm>
            <a:off x="595364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t  =  ___p + ____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BF2BD1-5DD3-41D6-9C08-79A3F8BF7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098385"/>
              </p:ext>
            </p:extLst>
          </p:nvPr>
        </p:nvGraphicFramePr>
        <p:xfrm>
          <a:off x="5479701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0775076-FB97-4534-8442-2D1DF5F3399B}"/>
              </a:ext>
            </a:extLst>
          </p:cNvPr>
          <p:cNvSpPr txBox="1"/>
          <p:nvPr/>
        </p:nvSpPr>
        <p:spPr>
          <a:xfrm>
            <a:off x="5711649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182102-D72A-47AD-80FE-19690CE34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68666"/>
              </p:ext>
            </p:extLst>
          </p:nvPr>
        </p:nvGraphicFramePr>
        <p:xfrm>
          <a:off x="4982308" y="2334454"/>
          <a:ext cx="3974118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061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6270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7AD11D-7A77-4CDD-A3AA-ED807C3029C2}"/>
              </a:ext>
            </a:extLst>
          </p:cNvPr>
          <p:cNvSpPr txBox="1"/>
          <p:nvPr/>
        </p:nvSpPr>
        <p:spPr>
          <a:xfrm>
            <a:off x="5711649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Cost  =  ___items + ____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0F9E66A-9268-4429-92A9-7D77E197A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06471"/>
              </p:ext>
            </p:extLst>
          </p:nvPr>
        </p:nvGraphicFramePr>
        <p:xfrm>
          <a:off x="5479699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6D8DFE-94B4-4449-8452-F840A073876F}"/>
              </a:ext>
            </a:extLst>
          </p:cNvPr>
          <p:cNvSpPr txBox="1"/>
          <p:nvPr/>
        </p:nvSpPr>
        <p:spPr>
          <a:xfrm>
            <a:off x="5711650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g  =  ___k + ____ </a:t>
            </a:r>
          </a:p>
        </p:txBody>
      </p:sp>
    </p:spTree>
    <p:extLst>
      <p:ext uri="{BB962C8B-B14F-4D97-AF65-F5344CB8AC3E}">
        <p14:creationId xmlns:p14="http://schemas.microsoft.com/office/powerpoint/2010/main" val="282283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338015" y="534476"/>
            <a:ext cx="956603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32862" y="953644"/>
            <a:ext cx="936087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244811" y="944968"/>
            <a:ext cx="31663" cy="47700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62441" y="64576"/>
            <a:ext cx="990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377" y="43553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915079" y="931451"/>
            <a:ext cx="31663" cy="47700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873827" y="1044804"/>
            <a:ext cx="13709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How do I turn an equation into a graph?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571864" y="1025101"/>
                <a:ext cx="289064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/>
                  <a:t>Example:</a:t>
                </a:r>
              </a:p>
              <a:p>
                <a:endParaRPr lang="en-AU" sz="15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5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1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64" y="1025101"/>
                <a:ext cx="2890646" cy="784830"/>
              </a:xfrm>
              <a:prstGeom prst="rect">
                <a:avLst/>
              </a:prstGeom>
              <a:blipFill>
                <a:blip r:embed="rId2"/>
                <a:stretch>
                  <a:fillRect l="-844" t="-1550" b="-7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144800" y="1004286"/>
                <a:ext cx="2081512" cy="447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/>
                  <a:t>Step 1:</a:t>
                </a:r>
              </a:p>
              <a:p>
                <a:r>
                  <a:rPr lang="en-AU" sz="1500" dirty="0"/>
                  <a:t>Create a table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2:</a:t>
                </a:r>
              </a:p>
              <a:p>
                <a:r>
                  <a:rPr lang="en-AU" sz="1500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5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sz="1500" dirty="0"/>
                  <a:t> row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3:</a:t>
                </a:r>
              </a:p>
              <a:p>
                <a:r>
                  <a:rPr lang="en-AU" sz="1500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15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sz="1500" dirty="0"/>
                  <a:t>  row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4:</a:t>
                </a:r>
              </a:p>
              <a:p>
                <a:r>
                  <a:rPr lang="en-AU" sz="1500" dirty="0"/>
                  <a:t>Use your table to graph</a:t>
                </a:r>
              </a:p>
              <a:p>
                <a:endParaRPr lang="en-AU" sz="1500" dirty="0"/>
              </a:p>
              <a:p>
                <a:r>
                  <a:rPr lang="en-AU" sz="1500" dirty="0"/>
                  <a:t>Step 5:</a:t>
                </a:r>
              </a:p>
              <a:p>
                <a:r>
                  <a:rPr lang="en-AU" sz="1500" dirty="0"/>
                  <a:t>Draw a line (with arrows)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800" y="1004286"/>
                <a:ext cx="2081512" cy="4478149"/>
              </a:xfrm>
              <a:prstGeom prst="rect">
                <a:avLst/>
              </a:prstGeom>
              <a:blipFill>
                <a:blip r:embed="rId3"/>
                <a:stretch>
                  <a:fillRect l="-1173" t="-409" b="-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4622" y="1889607"/>
              <a:ext cx="2858985" cy="769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797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3847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3847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4622" y="1889607"/>
              <a:ext cx="2858985" cy="769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797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3847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1563" r="-402128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3847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101563" r="-402128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2730500"/>
            <a:ext cx="2540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en-AU" sz="15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27" y="2873404"/>
            <a:ext cx="2984500" cy="25796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7D313E-D42A-491A-9963-AAE865CF2382}"/>
              </a:ext>
            </a:extLst>
          </p:cNvPr>
          <p:cNvSpPr txBox="1"/>
          <p:nvPr/>
        </p:nvSpPr>
        <p:spPr>
          <a:xfrm>
            <a:off x="124698" y="475961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and use the rule for a linear relationship?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FE949-BD15-44F6-AF54-73FE68960204}"/>
              </a:ext>
            </a:extLst>
          </p:cNvPr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27949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106711" y="493921"/>
            <a:ext cx="95582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-106711" y="924902"/>
            <a:ext cx="9422649" cy="65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244811" y="944968"/>
            <a:ext cx="31663" cy="47700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62441" y="64576"/>
            <a:ext cx="990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66" y="0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915079" y="931451"/>
            <a:ext cx="31663" cy="47700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873827" y="1044804"/>
            <a:ext cx="13709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How do I turn an equation into a graph?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571864" y="990256"/>
                <a:ext cx="289064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/>
                  <a:t>Example: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5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1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64" y="990256"/>
                <a:ext cx="2890646" cy="553998"/>
              </a:xfrm>
              <a:prstGeom prst="rect">
                <a:avLst/>
              </a:prstGeom>
              <a:blipFill>
                <a:blip r:embed="rId2"/>
                <a:stretch>
                  <a:fillRect l="-844" t="-2198" b="-21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144800" y="1004286"/>
                <a:ext cx="208151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/>
                  <a:t>Step 1:</a:t>
                </a:r>
              </a:p>
              <a:p>
                <a:r>
                  <a:rPr lang="en-AU" sz="1500" dirty="0"/>
                  <a:t>Create a table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2:</a:t>
                </a:r>
              </a:p>
              <a:p>
                <a:r>
                  <a:rPr lang="en-AU" sz="1500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5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sz="1500" dirty="0"/>
                  <a:t> row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3:</a:t>
                </a:r>
              </a:p>
              <a:p>
                <a:r>
                  <a:rPr lang="en-AU" sz="1500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15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sz="1500" dirty="0"/>
                  <a:t>  row</a:t>
                </a:r>
              </a:p>
              <a:p>
                <a:endParaRPr lang="en-AU" sz="1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800" y="1004286"/>
                <a:ext cx="2081512" cy="2862322"/>
              </a:xfrm>
              <a:prstGeom prst="rect">
                <a:avLst/>
              </a:prstGeom>
              <a:blipFill>
                <a:blip r:embed="rId3"/>
                <a:stretch>
                  <a:fillRect l="-1173" t="-6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6519207"/>
                  </p:ext>
                </p:extLst>
              </p:nvPr>
            </p:nvGraphicFramePr>
            <p:xfrm>
              <a:off x="2643496" y="1589541"/>
              <a:ext cx="2858985" cy="769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797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3847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3847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6519207"/>
                  </p:ext>
                </p:extLst>
              </p:nvPr>
            </p:nvGraphicFramePr>
            <p:xfrm>
              <a:off x="2643496" y="1589541"/>
              <a:ext cx="2858985" cy="769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797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3847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4688" r="-402128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3847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106349" r="-402128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2730500"/>
            <a:ext cx="2540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en-AU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7B9D28-F223-4047-8338-96973BCEB09F}"/>
                  </a:ext>
                </a:extLst>
              </p:cNvPr>
              <p:cNvSpPr txBox="1"/>
              <p:nvPr/>
            </p:nvSpPr>
            <p:spPr>
              <a:xfrm>
                <a:off x="2706255" y="2454093"/>
                <a:ext cx="2779042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 −2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 −2×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AU" sz="1400" i="1" dirty="0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 −2×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140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7B9D28-F223-4047-8338-96973BCE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255" y="2454093"/>
                <a:ext cx="2779042" cy="36625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0C00069-925B-49F1-85C6-9ECBAE98FBE4}"/>
              </a:ext>
            </a:extLst>
          </p:cNvPr>
          <p:cNvSpPr txBox="1"/>
          <p:nvPr/>
        </p:nvSpPr>
        <p:spPr>
          <a:xfrm>
            <a:off x="74128" y="-2773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31D87F-C8E7-41B7-8AE5-1C1FCC675187}"/>
              </a:ext>
            </a:extLst>
          </p:cNvPr>
          <p:cNvSpPr txBox="1"/>
          <p:nvPr/>
        </p:nvSpPr>
        <p:spPr>
          <a:xfrm>
            <a:off x="124698" y="475961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and use the rule for a linear relationship?</a:t>
            </a:r>
          </a:p>
        </p:txBody>
      </p:sp>
    </p:spTree>
    <p:extLst>
      <p:ext uri="{BB962C8B-B14F-4D97-AF65-F5344CB8AC3E}">
        <p14:creationId xmlns:p14="http://schemas.microsoft.com/office/powerpoint/2010/main" val="395938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757" y="633046"/>
            <a:ext cx="67595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higher an electrician to install new cables ring around to get some quotes.</a:t>
            </a:r>
          </a:p>
          <a:p>
            <a:endParaRPr lang="en-AU" dirty="0"/>
          </a:p>
          <a:p>
            <a:r>
              <a:rPr lang="en-AU" dirty="0"/>
              <a:t>	quote 1 = $100 call out fee + $40 per hour</a:t>
            </a:r>
          </a:p>
          <a:p>
            <a:endParaRPr lang="en-AU" dirty="0"/>
          </a:p>
          <a:p>
            <a:r>
              <a:rPr lang="en-AU" dirty="0"/>
              <a:t>	quote 2 = $150 call out fee and $35 per hour</a:t>
            </a:r>
          </a:p>
          <a:p>
            <a:endParaRPr lang="en-AU" dirty="0"/>
          </a:p>
          <a:p>
            <a:r>
              <a:rPr lang="en-AU" dirty="0"/>
              <a:t>	quote 3 = $50 call out fee and $50 per hour</a:t>
            </a:r>
          </a:p>
          <a:p>
            <a:endParaRPr lang="en-AU" sz="2400" b="1" dirty="0">
              <a:solidFill>
                <a:srgbClr val="FF0000"/>
              </a:solidFill>
            </a:endParaRPr>
          </a:p>
          <a:p>
            <a:r>
              <a:rPr lang="en-AU" sz="2400" b="1" dirty="0">
                <a:solidFill>
                  <a:srgbClr val="FF0000"/>
                </a:solidFill>
              </a:rPr>
              <a:t>So which is cheapest? 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	Well that depends on how long it takes.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342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788" y="433754"/>
            <a:ext cx="67595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hire an electrician to install new cables .  The quote comes back as;</a:t>
            </a:r>
          </a:p>
          <a:p>
            <a:endParaRPr lang="en-AU" dirty="0"/>
          </a:p>
          <a:p>
            <a:r>
              <a:rPr lang="en-AU" dirty="0"/>
              <a:t>	Cost = $40 per hour + $100 call out fee</a:t>
            </a:r>
          </a:p>
          <a:p>
            <a:endParaRPr lang="en-AU" dirty="0"/>
          </a:p>
          <a:p>
            <a:r>
              <a:rPr lang="en-AU" dirty="0"/>
              <a:t>So how much will it cost?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04928-254E-460E-8D72-B119D299676A}"/>
              </a:ext>
            </a:extLst>
          </p:cNvPr>
          <p:cNvSpPr/>
          <p:nvPr/>
        </p:nvSpPr>
        <p:spPr>
          <a:xfrm>
            <a:off x="1242644" y="2857500"/>
            <a:ext cx="5732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We can use our quote to create a table.</a:t>
            </a:r>
          </a:p>
          <a:p>
            <a:r>
              <a:rPr lang="en-AU" dirty="0"/>
              <a:t>	</a:t>
            </a:r>
            <a:r>
              <a:rPr lang="en-AU" dirty="0" err="1"/>
              <a:t>eg.</a:t>
            </a:r>
            <a:r>
              <a:rPr lang="en-AU" dirty="0"/>
              <a:t>  Cost = $40 per hour + $100 call out fee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ED0EF7-7D17-48EA-88E7-64E65B53C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42792"/>
              </p:ext>
            </p:extLst>
          </p:nvPr>
        </p:nvGraphicFramePr>
        <p:xfrm>
          <a:off x="1524000" y="380241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  (cost)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D32944-D2B4-4586-9A7A-DA86AE7FF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5465"/>
              </p:ext>
            </p:extLst>
          </p:nvPr>
        </p:nvGraphicFramePr>
        <p:xfrm>
          <a:off x="2733179" y="4168429"/>
          <a:ext cx="488682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283">
                  <a:extLst>
                    <a:ext uri="{9D8B030D-6E8A-4147-A177-3AD203B41FA5}">
                      <a16:colId xmlns:a16="http://schemas.microsoft.com/office/drawing/2014/main" val="135837576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07135201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4181630751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717364913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1752599082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3546075338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3775002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6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AE54B8F-6594-4FBD-8B7D-A55B29DFF272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$40 per hour + $100 call out fee</a:t>
            </a: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778370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$40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548052" y="245992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14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945423" y="420181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$100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930770" y="37795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52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186350" y="4203905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</a:t>
            </a:r>
            <a:r>
              <a:rPr lang="en-AU" dirty="0">
                <a:highlight>
                  <a:srgbClr val="00FF00"/>
                </a:highlight>
              </a:rPr>
              <a:t>$100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157046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A4BCB22-CEC6-4E59-B488-7B226291D3AC}"/>
              </a:ext>
            </a:extLst>
          </p:cNvPr>
          <p:cNvSpPr txBox="1"/>
          <p:nvPr/>
        </p:nvSpPr>
        <p:spPr>
          <a:xfrm>
            <a:off x="269631" y="4937350"/>
            <a:ext cx="861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the same method to find a rule for any linear equation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562DB45B-031C-4774-A56E-C5DB626C8F9C}"/>
              </a:ext>
            </a:extLst>
          </p:cNvPr>
          <p:cNvSpPr/>
          <p:nvPr/>
        </p:nvSpPr>
        <p:spPr>
          <a:xfrm>
            <a:off x="6740765" y="3264298"/>
            <a:ext cx="1969482" cy="797314"/>
          </a:xfrm>
          <a:prstGeom prst="wedgeRectCallout">
            <a:avLst>
              <a:gd name="adj1" fmla="val -65335"/>
              <a:gd name="adj2" fmla="val 1524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This increase is called the </a:t>
            </a:r>
            <a:r>
              <a:rPr lang="en-AU" b="1" u="sng" dirty="0"/>
              <a:t>gradient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37A5AEBE-AF58-4D5A-A446-BF3645E7F93A}"/>
              </a:ext>
            </a:extLst>
          </p:cNvPr>
          <p:cNvSpPr/>
          <p:nvPr/>
        </p:nvSpPr>
        <p:spPr>
          <a:xfrm>
            <a:off x="6295287" y="4151207"/>
            <a:ext cx="1969482" cy="797314"/>
          </a:xfrm>
          <a:prstGeom prst="wedgeRectCallout">
            <a:avLst>
              <a:gd name="adj1" fmla="val -77835"/>
              <a:gd name="adj2" fmla="val -2151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The start position is the </a:t>
            </a:r>
            <a:r>
              <a:rPr lang="en-AU" b="1" u="sng" dirty="0"/>
              <a:t>y-intercept</a:t>
            </a:r>
          </a:p>
        </p:txBody>
      </p:sp>
    </p:spTree>
    <p:extLst>
      <p:ext uri="{BB962C8B-B14F-4D97-AF65-F5344CB8AC3E}">
        <p14:creationId xmlns:p14="http://schemas.microsoft.com/office/powerpoint/2010/main" val="355690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9AB9A7F7-781C-4101-9F94-6A03702C1259}">
  <we:reference id="wa104382064" version="1.0.0.2" store="en-US" storeType="OMEX"/>
  <we:alternateReferences>
    <we:reference id="wa104382064" version="1.0.0.2" store="wa104382064" storeType="OMEX"/>
  </we:alternateReferences>
  <we:properties>
    <we:property name="HH" value="0"/>
    <we:property name="HH-reminder" value="&quot;--&quot;"/>
    <we:property name="MM" value="8"/>
    <we:property name="MM-reminder" value="&quot;--&quot;"/>
    <we:property name="SS" value="0"/>
    <we:property name="SS-reminder" value="&quot;--&quot;"/>
    <we:property name="canvash" value="126"/>
    <we:property name="canvasw" value="126"/>
    <we:property name="clocktype" value="&quot;digital&quot;"/>
    <we:property name="interval" value="5"/>
    <we:property name="radius" value="56.7"/>
    <we:property name="tickType" value="&quot;tick&quot;"/>
    <we:property name="timeupType" value="&quot;alarm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3110</TotalTime>
  <Words>1080</Words>
  <Application>Microsoft Office PowerPoint</Application>
  <PresentationFormat>On-screen Show (16:10)</PresentationFormat>
  <Paragraphs>327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Droid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Jade Gregory</cp:lastModifiedBy>
  <cp:revision>18</cp:revision>
  <cp:lastPrinted>2018-10-29T00:08:48Z</cp:lastPrinted>
  <dcterms:created xsi:type="dcterms:W3CDTF">2017-03-28T15:14:10Z</dcterms:created>
  <dcterms:modified xsi:type="dcterms:W3CDTF">2021-08-06T05:51:32Z</dcterms:modified>
</cp:coreProperties>
</file>
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67" r:id="rId4"/>
    <p:sldId id="268" r:id="rId5"/>
    <p:sldId id="270" r:id="rId6"/>
    <p:sldId id="269" r:id="rId7"/>
    <p:sldId id="272" r:id="rId8"/>
    <p:sldId id="280" r:id="rId9"/>
    <p:sldId id="271" r:id="rId10"/>
    <p:sldId id="273" r:id="rId11"/>
    <p:sldId id="274" r:id="rId12"/>
    <p:sldId id="277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2" y="1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2D71-6729-4CCD-BADF-87DC1E383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1FACF-5B42-40E2-A64A-02CDF8BA7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FCB18-2F3E-4870-A497-43328107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E6C4-8346-4DBD-9C73-75D14776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F503-359A-46D4-82EE-04626C2B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7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5C2D-E7ED-47F6-9A96-BC8520EF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3BAEC-F49B-4913-9170-26BAE557E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B2ED2-3181-4494-8970-62F37D71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294B6-6BE4-4489-B337-197FCCAF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74E2-383C-45EF-9CF3-73C7F25D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42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398E-6AE4-4E12-AA3B-B72742EC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74981-F1BA-44B3-A6EC-0C5F2A177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6D9A-242A-400C-9048-6CD581F4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8577-68D2-444A-9130-26F16BD7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FA1F-5579-4441-93CF-7B39FF2C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66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6F32-09B5-49CA-994D-8579D731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EFCE-08E5-4640-89B6-E2B8D81FC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DA4CB-7F19-4920-A5C4-3568DE444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8D243-5D97-43C9-AFAC-2EC3A7E0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8B839-6175-41A4-98CE-552361BB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2223-E1A8-493A-93FB-21B95CC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24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C6ED-D791-474C-AB25-AC35F754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F691E-F1FF-4C03-9F49-7B820A0B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049C7-B5D3-40D2-9B13-97A403FB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76551-BDF1-43C2-AC27-38F9E4F64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8C73E-F33E-4430-985D-7D071CB58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5A1E3-169C-4010-95F9-76A9930C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42F44-1540-4B9C-90B1-782AEF22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69E6C-13EE-4EF1-8511-303A8DA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62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1EAC-44F4-4629-90C6-988B1307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4149E-DF2A-4CB2-9A87-9BD4C183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B6192-1DB3-44E7-AB99-C18894BD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74B79-414D-47A3-A6F8-469BA439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3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FD370-FFA1-4DB1-A306-2580BAAC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13565-B2B5-48E3-A955-D0F810CF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8633B-885C-43EA-B775-06ED46AC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79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4FFD-2233-4CE7-A45B-3256F3F0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4084-41C2-4107-8743-AFBDCAAF8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744D8-9AC7-408B-B072-FD471C9F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E0963-A28C-429E-9813-86043AE6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31202-8BEE-4142-910B-F5D04882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5081A-1BF8-497F-A04C-C4230F5A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4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6DB6-2D8B-46D5-A22E-E8312102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9B2AA-949F-400A-93F8-87747D55F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C2AB3-D838-4AA0-89A8-24E9FACE1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FB83D-5019-4B82-8E6E-BF141A10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8E253-EF1B-40C5-B661-24A6772F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58CBE-3C44-464A-861F-93D17728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99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B954-3D98-4466-8DBC-8E5F6B19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5F3C9-D9A6-43B0-9824-AA49BA42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E78C3-ACF9-4734-9011-6828BF0C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2D80B-23F5-4F06-8A95-5F6F6DAB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6709-9396-4317-B713-8FB7E17D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937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80BB9-2652-4F73-96C6-810AA695B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867F1-C131-4EC4-983A-0CB1AC80C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47B34-8E78-4A0B-8EC4-6140CB09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432D-7E2A-49BD-A627-F0D0CCA8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FDBF5-4082-4F3F-AA83-04DEBF74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351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3415C-42DD-4500-9C24-1A668BFD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880A-0391-4A1D-AA84-92052E4F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FEA1D-18FD-44E5-A9FD-1594F3692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53E36-036A-4246-BE9D-13A25C42314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EEB75-8DEE-446C-8A06-477BE65C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6EAB-2945-457E-A422-37675E6D3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66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vS6C6_kvXM?feature=oembe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EDA8-4D2E-4338-A2E7-BAA25CE3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37" y="439015"/>
            <a:ext cx="10515600" cy="1325563"/>
          </a:xfrm>
        </p:spPr>
        <p:txBody>
          <a:bodyPr/>
          <a:lstStyle/>
          <a:p>
            <a:r>
              <a:rPr lang="en-US" b="1" dirty="0"/>
              <a:t>Gradient and Intercept</a:t>
            </a:r>
            <a:endParaRPr lang="en-A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B4C73-9D2B-4D81-BC20-6D7A98138C88}"/>
              </a:ext>
            </a:extLst>
          </p:cNvPr>
          <p:cNvSpPr txBox="1"/>
          <p:nvPr/>
        </p:nvSpPr>
        <p:spPr>
          <a:xfrm>
            <a:off x="441037" y="161679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EQ : How are linear graphs, linear tables and linear rules similar?</a:t>
            </a:r>
          </a:p>
        </p:txBody>
      </p:sp>
      <p:pic>
        <p:nvPicPr>
          <p:cNvPr id="1028" name="Picture 4" descr="Motivational Math Posters &amp;amp; Worksheets | Teachers Pay Teachers">
            <a:extLst>
              <a:ext uri="{FF2B5EF4-FFF2-40B4-BE49-F238E27FC236}">
                <a16:creationId xmlns:a16="http://schemas.microsoft.com/office/drawing/2014/main" id="{8A9078E4-3290-496B-92C9-2710A9BC5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351796"/>
            <a:ext cx="4496810" cy="598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23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>
            <a:alpha val="4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EB86-DC29-4F50-BCD5-56425AF0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75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sz="3100" dirty="0"/>
              <a:t>Topic: Gradient and Intercept</a:t>
            </a:r>
            <a:br>
              <a:rPr lang="en-AU" sz="3100" dirty="0"/>
            </a:br>
            <a:r>
              <a:rPr lang="en-AU" sz="3100" dirty="0"/>
              <a:t>EQ : How are linear graphs, linear tables and linear rules similar?</a:t>
            </a:r>
            <a:br>
              <a:rPr lang="en-AU" sz="3100" dirty="0"/>
            </a:br>
            <a:br>
              <a:rPr lang="en-US" dirty="0"/>
            </a:br>
            <a:r>
              <a:rPr lang="en-US" sz="4000" dirty="0"/>
              <a:t>LHS Questions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B33FA-B68F-4227-A8F3-8E7933DFA3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58134"/>
                <a:ext cx="9210261" cy="43513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/>
                  <a:t>Complete your summary from last lesson – update your contents page and rule up in Cornell notes.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/>
                  <a:t>Collect like terms: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sz="24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b="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=6 </m:t>
                    </m:r>
                  </m:oMath>
                </a14:m>
                <a:r>
                  <a:rPr lang="en-US" sz="2400" b="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b="0" dirty="0"/>
                  <a:t>, solve: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+4−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sz="24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/>
                  <a:t>Write the sample space of throwing two coins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b="0" dirty="0"/>
                  <a:t>What is the probability of throwing two tails?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B33FA-B68F-4227-A8F3-8E7933DFA3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58134"/>
                <a:ext cx="9210261" cy="4351338"/>
              </a:xfrm>
              <a:blipFill>
                <a:blip r:embed="rId2"/>
                <a:stretch>
                  <a:fillRect l="-10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EasyTimer">
                <a:extLst>
                  <a:ext uri="{FF2B5EF4-FFF2-40B4-BE49-F238E27FC236}">
                    <a16:creationId xmlns:a16="http://schemas.microsoft.com/office/drawing/2014/main" id="{4FF6BA3A-1D4F-4F60-AA41-85C780166C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514362"/>
                  </p:ext>
                </p:extLst>
              </p:nvPr>
            </p:nvGraphicFramePr>
            <p:xfrm>
              <a:off x="8943695" y="4239491"/>
              <a:ext cx="4347433" cy="361187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EasyTimer">
                <a:extLst>
                  <a:ext uri="{FF2B5EF4-FFF2-40B4-BE49-F238E27FC236}">
                    <a16:creationId xmlns:a16="http://schemas.microsoft.com/office/drawing/2014/main" id="{4FF6BA3A-1D4F-4F60-AA41-85C780166C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43695" y="4239491"/>
                <a:ext cx="4347433" cy="3611876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8CFDB38-E126-43BA-BEAA-C31044B6828B}"/>
              </a:ext>
            </a:extLst>
          </p:cNvPr>
          <p:cNvSpPr txBox="1"/>
          <p:nvPr/>
        </p:nvSpPr>
        <p:spPr>
          <a:xfrm>
            <a:off x="10048461" y="1413162"/>
            <a:ext cx="174637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Get your VIVOS!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67747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9799" y="274127"/>
            <a:ext cx="2660202" cy="424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160" dirty="0"/>
              <a:t>If we start with a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25378"/>
                  </p:ext>
                </p:extLst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25378"/>
                  </p:ext>
                </p:extLst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0980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0980" b="-6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76998" y="1034358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We can create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9156" y="2686802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5074" y="513848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9754" y="4357896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358" y="361594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349" y="284939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030" y="208283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2944" y="130921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154233" y="3030182"/>
            <a:ext cx="4811150" cy="2338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3086627" y="3030415"/>
            <a:ext cx="4247947" cy="1557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3569374" y="2997335"/>
            <a:ext cx="4110648" cy="84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4269877" y="2990295"/>
            <a:ext cx="3742453" cy="75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 flipV="1">
            <a:off x="4559809" y="2283341"/>
            <a:ext cx="3886871" cy="49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5248023" y="1540038"/>
            <a:ext cx="3575570" cy="124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2050900" y="230443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2780149" y="2318293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3416782" y="231560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4059900" y="2323541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4580113" y="2295757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176984" y="2313349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59D332D-0D9C-4C17-97FE-BB958BD499FB}"/>
              </a:ext>
            </a:extLst>
          </p:cNvPr>
          <p:cNvSpPr txBox="1"/>
          <p:nvPr/>
        </p:nvSpPr>
        <p:spPr>
          <a:xfrm>
            <a:off x="881586" y="3831099"/>
            <a:ext cx="465626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From the table we can get coordinates and create a graph</a:t>
            </a:r>
          </a:p>
        </p:txBody>
      </p:sp>
    </p:spTree>
    <p:extLst>
      <p:ext uri="{BB962C8B-B14F-4D97-AF65-F5344CB8AC3E}">
        <p14:creationId xmlns:p14="http://schemas.microsoft.com/office/powerpoint/2010/main" val="6346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5" grpId="0"/>
      <p:bldP spid="20" grpId="0"/>
      <p:bldP spid="21" grpId="0"/>
      <p:bldP spid="22" grpId="0"/>
      <p:bldP spid="24" grpId="0"/>
      <p:bldP spid="25" grpId="0"/>
      <p:bldP spid="29" grpId="0" animBg="1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How do we find it on our graph?</a:t>
            </a:r>
          </a:p>
        </p:txBody>
      </p:sp>
    </p:spTree>
    <p:extLst>
      <p:ext uri="{BB962C8B-B14F-4D97-AF65-F5344CB8AC3E}">
        <p14:creationId xmlns:p14="http://schemas.microsoft.com/office/powerpoint/2010/main" val="304978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8" grpId="0"/>
      <p:bldP spid="36" grpId="0"/>
      <p:bldP spid="38" grpId="0"/>
      <p:bldP spid="40" grpId="0"/>
      <p:bldP spid="42" grpId="0"/>
      <p:bldP spid="19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673614" y="1495349"/>
            <a:ext cx="3183303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y intercept is the number without a variable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y intercept is y value when x is 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758778" y="1494407"/>
            <a:ext cx="526327" cy="46897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1477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graph it is the number where our line “cuts” (intercepts) the y axis.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A91DB-D43D-4F33-9F96-842D7CF27936}"/>
              </a:ext>
            </a:extLst>
          </p:cNvPr>
          <p:cNvSpPr/>
          <p:nvPr/>
        </p:nvSpPr>
        <p:spPr>
          <a:xfrm>
            <a:off x="2894665" y="3725883"/>
            <a:ext cx="250318" cy="36131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C3AC48-E23D-4A56-A85B-186343B98A93}"/>
              </a:ext>
            </a:extLst>
          </p:cNvPr>
          <p:cNvCxnSpPr>
            <a:cxnSpLocks/>
          </p:cNvCxnSpPr>
          <p:nvPr/>
        </p:nvCxnSpPr>
        <p:spPr>
          <a:xfrm flipH="1">
            <a:off x="7661829" y="3879273"/>
            <a:ext cx="1887271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E3095A-980A-4054-B1A1-9173D5F327AE}"/>
              </a:ext>
            </a:extLst>
          </p:cNvPr>
          <p:cNvSpPr txBox="1"/>
          <p:nvPr/>
        </p:nvSpPr>
        <p:spPr>
          <a:xfrm>
            <a:off x="652654" y="5240898"/>
            <a:ext cx="5204263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On this graph, we can see the line “intercepts” the y axis at the value 1.</a:t>
            </a:r>
          </a:p>
          <a:p>
            <a:r>
              <a:rPr lang="en-AU" dirty="0"/>
              <a:t>So our y intercept is the same for our table, graph and rule.</a:t>
            </a:r>
          </a:p>
        </p:txBody>
      </p:sp>
    </p:spTree>
    <p:extLst>
      <p:ext uri="{BB962C8B-B14F-4D97-AF65-F5344CB8AC3E}">
        <p14:creationId xmlns:p14="http://schemas.microsoft.com/office/powerpoint/2010/main" val="427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19" grpId="0" animBg="1"/>
      <p:bldP spid="51" grpId="0" animBg="1"/>
      <p:bldP spid="24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CD0C4D-01E1-4960-B6CF-4F9E74AF29E8}"/>
              </a:ext>
            </a:extLst>
          </p:cNvPr>
          <p:cNvSpPr txBox="1"/>
          <p:nvPr/>
        </p:nvSpPr>
        <p:spPr>
          <a:xfrm>
            <a:off x="9548389" y="1946310"/>
            <a:ext cx="218292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Gradient = rise ÷ run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7A40C5-D372-4198-A30E-C0CB64C7AF24}"/>
              </a:ext>
            </a:extLst>
          </p:cNvPr>
          <p:cNvCxnSpPr/>
          <p:nvPr/>
        </p:nvCxnSpPr>
        <p:spPr>
          <a:xfrm>
            <a:off x="7661828" y="2315642"/>
            <a:ext cx="80329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37E84F-FD50-4B71-A5AF-BA0AA7F5C346}"/>
              </a:ext>
            </a:extLst>
          </p:cNvPr>
          <p:cNvSpPr txBox="1"/>
          <p:nvPr/>
        </p:nvSpPr>
        <p:spPr>
          <a:xfrm>
            <a:off x="7795615" y="4601879"/>
            <a:ext cx="244288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Run is how far we travel along the ground. In this example we have “run” a distance of 2 places.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696C67-E66A-42B1-82DB-35894BA5CCFC}"/>
              </a:ext>
            </a:extLst>
          </p:cNvPr>
          <p:cNvCxnSpPr>
            <a:cxnSpLocks/>
          </p:cNvCxnSpPr>
          <p:nvPr/>
        </p:nvCxnSpPr>
        <p:spPr>
          <a:xfrm flipV="1">
            <a:off x="7661828" y="2315642"/>
            <a:ext cx="0" cy="15515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19FC451-D601-4C7B-9C15-782C27C05CC1}"/>
              </a:ext>
            </a:extLst>
          </p:cNvPr>
          <p:cNvSpPr txBox="1"/>
          <p:nvPr/>
        </p:nvSpPr>
        <p:spPr>
          <a:xfrm>
            <a:off x="8957872" y="2551837"/>
            <a:ext cx="2182926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Rise is how far we “climb up” after the run.  In this case we have risen 4 places.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E12D16-66A9-4B4B-AC65-5F584742AAC2}"/>
              </a:ext>
            </a:extLst>
          </p:cNvPr>
          <p:cNvSpPr txBox="1"/>
          <p:nvPr/>
        </p:nvSpPr>
        <p:spPr>
          <a:xfrm>
            <a:off x="592115" y="5286384"/>
            <a:ext cx="5920944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Gradient = rise ÷ run</a:t>
            </a:r>
          </a:p>
          <a:p>
            <a:r>
              <a:rPr lang="en-AU" b="1" dirty="0"/>
              <a:t>	= 4 ÷ 2</a:t>
            </a:r>
          </a:p>
          <a:p>
            <a:r>
              <a:rPr lang="en-AU" b="1" dirty="0"/>
              <a:t>	= 2</a:t>
            </a:r>
          </a:p>
          <a:p>
            <a:r>
              <a:rPr lang="en-AU" dirty="0"/>
              <a:t>Which is the same value we had in the rule and the table</a:t>
            </a:r>
          </a:p>
        </p:txBody>
      </p:sp>
    </p:spTree>
    <p:extLst>
      <p:ext uri="{BB962C8B-B14F-4D97-AF65-F5344CB8AC3E}">
        <p14:creationId xmlns:p14="http://schemas.microsoft.com/office/powerpoint/2010/main" val="150998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EA7AF7D-A262-416A-A990-8A3F24D0C61B}"/>
              </a:ext>
            </a:extLst>
          </p:cNvPr>
          <p:cNvGrpSpPr/>
          <p:nvPr/>
        </p:nvGrpSpPr>
        <p:grpSpPr>
          <a:xfrm>
            <a:off x="6932211" y="2390158"/>
            <a:ext cx="4396621" cy="4391642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4F34451-4A62-4645-AA63-7F0265EDE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28205" b="-375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 r="-15385" b="-10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9DB248E-41C5-47FE-8A6E-26B7558259E1}"/>
              </a:ext>
            </a:extLst>
          </p:cNvPr>
          <p:cNvSpPr/>
          <p:nvPr/>
        </p:nvSpPr>
        <p:spPr>
          <a:xfrm>
            <a:off x="6729417" y="2260217"/>
            <a:ext cx="1774241" cy="4729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21D4B-B2A7-4EAB-AFBB-942C2D289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79" y="2751391"/>
            <a:ext cx="2777198" cy="1992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21B09B-7D03-44FD-888F-6D7CBC50A755}"/>
              </a:ext>
            </a:extLst>
          </p:cNvPr>
          <p:cNvSpPr txBox="1"/>
          <p:nvPr/>
        </p:nvSpPr>
        <p:spPr>
          <a:xfrm>
            <a:off x="8232496" y="6166989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6A07E-DADF-4525-8039-D46996B52D70}"/>
              </a:ext>
            </a:extLst>
          </p:cNvPr>
          <p:cNvSpPr txBox="1"/>
          <p:nvPr/>
        </p:nvSpPr>
        <p:spPr>
          <a:xfrm>
            <a:off x="2096200" y="1027962"/>
            <a:ext cx="5516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gradient (m) is how steep the slope is.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C1584-67B7-4602-8DA8-F45FC4D14E6A}"/>
              </a:ext>
            </a:extLst>
          </p:cNvPr>
          <p:cNvSpPr txBox="1"/>
          <p:nvPr/>
        </p:nvSpPr>
        <p:spPr>
          <a:xfrm>
            <a:off x="3318434" y="2066993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E28-AB6B-4027-A17D-85B2A4870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311" y="1798494"/>
            <a:ext cx="5453371" cy="1040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92DD6B-7AC9-4CE4-BA16-A54B020F0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140" y="4881114"/>
            <a:ext cx="2427858" cy="701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F5FFC7-1116-4CF8-930E-F619C1C05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02" y="2782310"/>
            <a:ext cx="2656785" cy="2119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1311B6-88C0-433D-AD66-7AF5326BF1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288" y="4846999"/>
            <a:ext cx="2656785" cy="83293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379FFC-E934-4148-B02C-6FBE16775C65}"/>
              </a:ext>
            </a:extLst>
          </p:cNvPr>
          <p:cNvCxnSpPr/>
          <p:nvPr/>
        </p:nvCxnSpPr>
        <p:spPr>
          <a:xfrm>
            <a:off x="0" y="55418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1122CB-A714-4CDB-A460-7B37D8D67789}"/>
              </a:ext>
            </a:extLst>
          </p:cNvPr>
          <p:cNvCxnSpPr/>
          <p:nvPr/>
        </p:nvCxnSpPr>
        <p:spPr>
          <a:xfrm>
            <a:off x="0" y="10279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5ECECB-BDDC-4983-9F91-EB02300F6473}"/>
              </a:ext>
            </a:extLst>
          </p:cNvPr>
          <p:cNvCxnSpPr>
            <a:cxnSpLocks/>
          </p:cNvCxnSpPr>
          <p:nvPr/>
        </p:nvCxnSpPr>
        <p:spPr>
          <a:xfrm flipV="1">
            <a:off x="1977887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/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𝑟𝑖𝑠𝑒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𝑟𝑢𝑛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F8FFF-D432-4306-A212-33FC9A713CF3}"/>
              </a:ext>
            </a:extLst>
          </p:cNvPr>
          <p:cNvCxnSpPr>
            <a:cxnSpLocks/>
          </p:cNvCxnSpPr>
          <p:nvPr/>
        </p:nvCxnSpPr>
        <p:spPr>
          <a:xfrm flipV="1">
            <a:off x="7919682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AEB804-D45C-4934-94FC-C00604207019}"/>
              </a:ext>
            </a:extLst>
          </p:cNvPr>
          <p:cNvSpPr txBox="1"/>
          <p:nvPr/>
        </p:nvSpPr>
        <p:spPr>
          <a:xfrm>
            <a:off x="8044629" y="1159565"/>
            <a:ext cx="4102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y-intercept (c) is where the graph meets the y axis.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A4C96C-E955-4BB2-A877-891BA6BC7D3F}"/>
              </a:ext>
            </a:extLst>
          </p:cNvPr>
          <p:cNvCxnSpPr>
            <a:cxnSpLocks/>
          </p:cNvCxnSpPr>
          <p:nvPr/>
        </p:nvCxnSpPr>
        <p:spPr>
          <a:xfrm flipV="1">
            <a:off x="8629143" y="2290335"/>
            <a:ext cx="1787200" cy="2037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F396A79-0DAA-4D66-A14B-CA3B35BAC224}"/>
              </a:ext>
            </a:extLst>
          </p:cNvPr>
          <p:cNvSpPr/>
          <p:nvPr/>
        </p:nvSpPr>
        <p:spPr>
          <a:xfrm>
            <a:off x="8802204" y="3700111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51099015-92EB-4848-8D2F-0FC147EC7FB7}"/>
              </a:ext>
            </a:extLst>
          </p:cNvPr>
          <p:cNvSpPr/>
          <p:nvPr/>
        </p:nvSpPr>
        <p:spPr>
          <a:xfrm>
            <a:off x="9369516" y="3647240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0D7C05-B1E1-4E65-8B18-DC2D8C9C816E}"/>
              </a:ext>
            </a:extLst>
          </p:cNvPr>
          <p:cNvCxnSpPr>
            <a:cxnSpLocks/>
          </p:cNvCxnSpPr>
          <p:nvPr/>
        </p:nvCxnSpPr>
        <p:spPr>
          <a:xfrm flipV="1">
            <a:off x="8406173" y="4696657"/>
            <a:ext cx="2748982" cy="1507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7B51FFD-8FAE-4892-B4C7-67B0806BDE63}"/>
              </a:ext>
            </a:extLst>
          </p:cNvPr>
          <p:cNvSpPr/>
          <p:nvPr/>
        </p:nvSpPr>
        <p:spPr>
          <a:xfrm>
            <a:off x="8842103" y="5679937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CE8C85FC-D814-4F7A-A1C5-F3C4B8481D65}"/>
              </a:ext>
            </a:extLst>
          </p:cNvPr>
          <p:cNvSpPr/>
          <p:nvPr/>
        </p:nvSpPr>
        <p:spPr>
          <a:xfrm>
            <a:off x="9391778" y="5679937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6239F4-98EF-4786-B111-A969069958B9}"/>
              </a:ext>
            </a:extLst>
          </p:cNvPr>
          <p:cNvSpPr txBox="1"/>
          <p:nvPr/>
        </p:nvSpPr>
        <p:spPr>
          <a:xfrm>
            <a:off x="342899" y="554182"/>
            <a:ext cx="8499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: How are linear graphs, linear tables and linear rules similar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8D1A59-6DBF-47A1-BF72-8D6485F12D35}"/>
              </a:ext>
            </a:extLst>
          </p:cNvPr>
          <p:cNvSpPr txBox="1"/>
          <p:nvPr/>
        </p:nvSpPr>
        <p:spPr>
          <a:xfrm>
            <a:off x="442913" y="104395"/>
            <a:ext cx="658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Gradient and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/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is called the gradient and intercept form of a linear equation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  <a:blipFill>
                <a:blip r:embed="rId11"/>
                <a:stretch>
                  <a:fillRect l="-1620" t="-5000" b="-1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09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80BE-691D-4D98-9712-B7E170895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345246"/>
            <a:ext cx="2163417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Slope Dude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Online Media 3" title="Slope Dude">
            <a:hlinkClick r:id="" action="ppaction://media"/>
            <a:extLst>
              <a:ext uri="{FF2B5EF4-FFF2-40B4-BE49-F238E27FC236}">
                <a16:creationId xmlns:a16="http://schemas.microsoft.com/office/drawing/2014/main" id="{91EA7613-9831-4E21-9B5E-14EB80FC3E0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32722" y="39757"/>
            <a:ext cx="9090991" cy="681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F47D4C-1022-4C57-BDA8-04139A1CA83C}"/>
              </a:ext>
            </a:extLst>
          </p:cNvPr>
          <p:cNvPicPr/>
          <p:nvPr/>
        </p:nvPicPr>
        <p:blipFill rotWithShape="1">
          <a:blip r:embed="rId2"/>
          <a:srcRect l="4817" t="5294" r="52160" b="25436"/>
          <a:stretch/>
        </p:blipFill>
        <p:spPr bwMode="auto">
          <a:xfrm>
            <a:off x="1052945" y="124690"/>
            <a:ext cx="9836728" cy="65393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21FBD4-8AF0-4905-B943-954D165BCBD8}"/>
              </a:ext>
            </a:extLst>
          </p:cNvPr>
          <p:cNvSpPr/>
          <p:nvPr/>
        </p:nvSpPr>
        <p:spPr>
          <a:xfrm>
            <a:off x="2618509" y="1454727"/>
            <a:ext cx="1551709" cy="1011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DC8FA-FA26-48B1-9ED6-7CCF4F3613A9}"/>
              </a:ext>
            </a:extLst>
          </p:cNvPr>
          <p:cNvSpPr/>
          <p:nvPr/>
        </p:nvSpPr>
        <p:spPr>
          <a:xfrm>
            <a:off x="5444836" y="3127663"/>
            <a:ext cx="1551709" cy="834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42E82-DB16-46C8-8C6B-907C76CF9464}"/>
              </a:ext>
            </a:extLst>
          </p:cNvPr>
          <p:cNvSpPr/>
          <p:nvPr/>
        </p:nvSpPr>
        <p:spPr>
          <a:xfrm>
            <a:off x="8922327" y="1960418"/>
            <a:ext cx="1551709" cy="768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354EC-1AFA-4377-BB65-704DE9DFFFE0}"/>
              </a:ext>
            </a:extLst>
          </p:cNvPr>
          <p:cNvSpPr/>
          <p:nvPr/>
        </p:nvSpPr>
        <p:spPr>
          <a:xfrm>
            <a:off x="9157854" y="3127663"/>
            <a:ext cx="1551709" cy="60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D0822-891B-4127-920F-FE5C2F9188DB}"/>
              </a:ext>
            </a:extLst>
          </p:cNvPr>
          <p:cNvSpPr/>
          <p:nvPr/>
        </p:nvSpPr>
        <p:spPr>
          <a:xfrm>
            <a:off x="1066800" y="5153891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842E3-6994-484D-BC42-A75A908E1F70}"/>
              </a:ext>
            </a:extLst>
          </p:cNvPr>
          <p:cNvSpPr/>
          <p:nvPr/>
        </p:nvSpPr>
        <p:spPr>
          <a:xfrm>
            <a:off x="6830291" y="5507182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28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4072A09-8BFB-4F60-801D-9A257F111C9B}"/>
              </a:ext>
            </a:extLst>
          </p:cNvPr>
          <p:cNvGrpSpPr/>
          <p:nvPr/>
        </p:nvGrpSpPr>
        <p:grpSpPr>
          <a:xfrm>
            <a:off x="448282" y="837575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40C533-8444-45C3-81A0-717B563EE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6383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9654CD-B7E4-45D7-BD61-3A70678FB68E}"/>
              </a:ext>
            </a:extLst>
          </p:cNvPr>
          <p:cNvGrpSpPr/>
          <p:nvPr/>
        </p:nvGrpSpPr>
        <p:grpSpPr>
          <a:xfrm>
            <a:off x="6539347" y="796885"/>
            <a:ext cx="5204371" cy="5770170"/>
            <a:chOff x="728986" y="-61556"/>
            <a:chExt cx="5704031" cy="542426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2D09AA-B8BD-44B9-BD76-E4A63489D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483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325D78-D4A1-4572-A0A8-1A36AF4AA1D6}"/>
              </a:ext>
            </a:extLst>
          </p:cNvPr>
          <p:cNvSpPr txBox="1"/>
          <p:nvPr/>
        </p:nvSpPr>
        <p:spPr>
          <a:xfrm>
            <a:off x="4782236" y="65589"/>
            <a:ext cx="432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y – intercept of these 4 lines?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EE2578-E11D-48B8-BA94-8CB9A3FA527B}"/>
              </a:ext>
            </a:extLst>
          </p:cNvPr>
          <p:cNvCxnSpPr/>
          <p:nvPr/>
        </p:nvCxnSpPr>
        <p:spPr>
          <a:xfrm flipV="1">
            <a:off x="1163782" y="632564"/>
            <a:ext cx="3560618" cy="21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6826CB-823A-4172-8720-DAC4D5949148}"/>
              </a:ext>
            </a:extLst>
          </p:cNvPr>
          <p:cNvCxnSpPr>
            <a:cxnSpLocks/>
          </p:cNvCxnSpPr>
          <p:nvPr/>
        </p:nvCxnSpPr>
        <p:spPr>
          <a:xfrm>
            <a:off x="1175204" y="1179215"/>
            <a:ext cx="3607032" cy="419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0A4BD-8BE8-4792-9907-96BA2E215231}"/>
              </a:ext>
            </a:extLst>
          </p:cNvPr>
          <p:cNvCxnSpPr>
            <a:cxnSpLocks/>
          </p:cNvCxnSpPr>
          <p:nvPr/>
        </p:nvCxnSpPr>
        <p:spPr>
          <a:xfrm>
            <a:off x="6802582" y="4294908"/>
            <a:ext cx="4656663" cy="214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49B36-44E5-4F52-8AA1-8A05FEB33AD4}"/>
              </a:ext>
            </a:extLst>
          </p:cNvPr>
          <p:cNvCxnSpPr>
            <a:cxnSpLocks/>
          </p:cNvCxnSpPr>
          <p:nvPr/>
        </p:nvCxnSpPr>
        <p:spPr>
          <a:xfrm flipV="1">
            <a:off x="8628731" y="1140069"/>
            <a:ext cx="842385" cy="528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95AFAEA-180E-4E19-A17E-A832CE9C6331}"/>
              </a:ext>
            </a:extLst>
          </p:cNvPr>
          <p:cNvSpPr/>
          <p:nvPr/>
        </p:nvSpPr>
        <p:spPr>
          <a:xfrm>
            <a:off x="2720884" y="157372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B9FA8E9C-E49D-43A3-BFA4-AD85255492AC}"/>
              </a:ext>
            </a:extLst>
          </p:cNvPr>
          <p:cNvSpPr/>
          <p:nvPr/>
        </p:nvSpPr>
        <p:spPr>
          <a:xfrm>
            <a:off x="3288196" y="152085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E62781-0C87-4D17-BC8B-9C598650A493}"/>
              </a:ext>
            </a:extLst>
          </p:cNvPr>
          <p:cNvSpPr/>
          <p:nvPr/>
        </p:nvSpPr>
        <p:spPr>
          <a:xfrm>
            <a:off x="2772563" y="310171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ABEA1835-DDC9-42FE-98FC-2C81AD9BFBDE}"/>
              </a:ext>
            </a:extLst>
          </p:cNvPr>
          <p:cNvSpPr/>
          <p:nvPr/>
        </p:nvSpPr>
        <p:spPr>
          <a:xfrm>
            <a:off x="3339875" y="304884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4EEDD4-5AA4-4ADE-B38C-0F185A5D190C}"/>
              </a:ext>
            </a:extLst>
          </p:cNvPr>
          <p:cNvSpPr/>
          <p:nvPr/>
        </p:nvSpPr>
        <p:spPr>
          <a:xfrm>
            <a:off x="8928294" y="362333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B2A73343-265C-4A65-90A3-B782243D1CDE}"/>
              </a:ext>
            </a:extLst>
          </p:cNvPr>
          <p:cNvSpPr/>
          <p:nvPr/>
        </p:nvSpPr>
        <p:spPr>
          <a:xfrm>
            <a:off x="9495606" y="357045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33320A-5890-4193-8BD7-EADAB99C9D35}"/>
              </a:ext>
            </a:extLst>
          </p:cNvPr>
          <p:cNvSpPr/>
          <p:nvPr/>
        </p:nvSpPr>
        <p:spPr>
          <a:xfrm>
            <a:off x="8903804" y="523007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D29CCA73-8E0B-4537-8D9C-9DE07327C5FE}"/>
              </a:ext>
            </a:extLst>
          </p:cNvPr>
          <p:cNvSpPr/>
          <p:nvPr/>
        </p:nvSpPr>
        <p:spPr>
          <a:xfrm>
            <a:off x="9471116" y="517719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</p:spTree>
    <p:extLst>
      <p:ext uri="{BB962C8B-B14F-4D97-AF65-F5344CB8AC3E}">
        <p14:creationId xmlns:p14="http://schemas.microsoft.com/office/powerpoint/2010/main" val="330558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8A8B25-5613-4422-A624-8413C23B18D1}"/>
              </a:ext>
            </a:extLst>
          </p:cNvPr>
          <p:cNvGrpSpPr/>
          <p:nvPr/>
        </p:nvGrpSpPr>
        <p:grpSpPr>
          <a:xfrm>
            <a:off x="475992" y="934557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EBA84-52C5-4328-8013-54B7667AC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4167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0C3CD7-33B5-4F04-B2E5-42F6A9F371F7}"/>
              </a:ext>
            </a:extLst>
          </p:cNvPr>
          <p:cNvSpPr txBox="1"/>
          <p:nvPr/>
        </p:nvSpPr>
        <p:spPr>
          <a:xfrm>
            <a:off x="298298" y="176149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find the equation of these 3 lines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A4275B-3097-4171-A760-0984EBED56A5}"/>
              </a:ext>
            </a:extLst>
          </p:cNvPr>
          <p:cNvCxnSpPr>
            <a:cxnSpLocks/>
          </p:cNvCxnSpPr>
          <p:nvPr/>
        </p:nvCxnSpPr>
        <p:spPr>
          <a:xfrm flipV="1">
            <a:off x="734291" y="1125723"/>
            <a:ext cx="3713018" cy="43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1BEDCF-CA4D-409C-9E22-1B96F9DF46D7}"/>
              </a:ext>
            </a:extLst>
          </p:cNvPr>
          <p:cNvSpPr txBox="1"/>
          <p:nvPr/>
        </p:nvSpPr>
        <p:spPr>
          <a:xfrm>
            <a:off x="3982726" y="151034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99CBBA-6F6E-4C76-90A3-5F86DE4B9452}"/>
              </a:ext>
            </a:extLst>
          </p:cNvPr>
          <p:cNvCxnSpPr>
            <a:cxnSpLocks/>
          </p:cNvCxnSpPr>
          <p:nvPr/>
        </p:nvCxnSpPr>
        <p:spPr>
          <a:xfrm flipV="1">
            <a:off x="845552" y="3018249"/>
            <a:ext cx="4391891" cy="2714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FC3FDF-051A-4D2C-9996-FFFE50B7A01F}"/>
              </a:ext>
            </a:extLst>
          </p:cNvPr>
          <p:cNvSpPr txBox="1"/>
          <p:nvPr/>
        </p:nvSpPr>
        <p:spPr>
          <a:xfrm>
            <a:off x="3852660" y="269372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AB1ED3-CA5C-4610-93B3-DF706C27D982}"/>
              </a:ext>
            </a:extLst>
          </p:cNvPr>
          <p:cNvCxnSpPr>
            <a:cxnSpLocks/>
          </p:cNvCxnSpPr>
          <p:nvPr/>
        </p:nvCxnSpPr>
        <p:spPr>
          <a:xfrm>
            <a:off x="2687345" y="1147005"/>
            <a:ext cx="1341757" cy="4776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80BE37-FBDA-46EC-B615-358FA65A5868}"/>
              </a:ext>
            </a:extLst>
          </p:cNvPr>
          <p:cNvSpPr txBox="1"/>
          <p:nvPr/>
        </p:nvSpPr>
        <p:spPr>
          <a:xfrm>
            <a:off x="3569629" y="5882753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E09C64-EB6A-402D-9B8F-078574AAA539}"/>
              </a:ext>
            </a:extLst>
          </p:cNvPr>
          <p:cNvGrpSpPr/>
          <p:nvPr/>
        </p:nvGrpSpPr>
        <p:grpSpPr>
          <a:xfrm>
            <a:off x="6678987" y="883894"/>
            <a:ext cx="5204371" cy="5770170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B20EF01-BA7D-462B-9F2D-2E8F5B7A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317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12626AF-34F7-466C-9DEE-43F5CB785264}"/>
              </a:ext>
            </a:extLst>
          </p:cNvPr>
          <p:cNvSpPr txBox="1"/>
          <p:nvPr/>
        </p:nvSpPr>
        <p:spPr>
          <a:xfrm>
            <a:off x="6809053" y="49965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draw these 3 rules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1D77C-3387-4AA0-978D-5DCEF079F959}"/>
              </a:ext>
            </a:extLst>
          </p:cNvPr>
          <p:cNvSpPr txBox="1"/>
          <p:nvPr/>
        </p:nvSpPr>
        <p:spPr>
          <a:xfrm>
            <a:off x="6772320" y="138341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2x  - 3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E36C59-F2D6-4E7F-8503-369F4D511FAB}"/>
              </a:ext>
            </a:extLst>
          </p:cNvPr>
          <p:cNvSpPr txBox="1"/>
          <p:nvPr/>
        </p:nvSpPr>
        <p:spPr>
          <a:xfrm>
            <a:off x="6828829" y="1978731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-x  + 4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087223-D9CA-455F-9C1B-ECCE6F4928C6}"/>
              </a:ext>
            </a:extLst>
          </p:cNvPr>
          <p:cNvSpPr txBox="1"/>
          <p:nvPr/>
        </p:nvSpPr>
        <p:spPr>
          <a:xfrm>
            <a:off x="6828828" y="259295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3x  </a:t>
            </a:r>
          </a:p>
        </p:txBody>
      </p:sp>
    </p:spTree>
    <p:extLst>
      <p:ext uri="{BB962C8B-B14F-4D97-AF65-F5344CB8AC3E}">
        <p14:creationId xmlns:p14="http://schemas.microsoft.com/office/powerpoint/2010/main" val="1867785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3D13-C781-4CC3-B6E8-FF026B55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7" name="Content Placeholder 6" title="PhET Sims - Science / Math">
                <a:extLst>
                  <a:ext uri="{FF2B5EF4-FFF2-40B4-BE49-F238E27FC236}">
                    <a16:creationId xmlns:a16="http://schemas.microsoft.com/office/drawing/2014/main" id="{E6D4DBA9-2152-4928-A8E8-C396CDB119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78618101"/>
                  </p:ext>
                </p:extLst>
              </p:nvPr>
            </p:nvGraphicFramePr>
            <p:xfrm>
              <a:off x="378691" y="365125"/>
              <a:ext cx="10975109" cy="58118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ontent Placeholder 6" title="PhET Sims - Science / Math">
                <a:extLst>
                  <a:ext uri="{FF2B5EF4-FFF2-40B4-BE49-F238E27FC236}">
                    <a16:creationId xmlns:a16="http://schemas.microsoft.com/office/drawing/2014/main" id="{E6D4DBA9-2152-4928-A8E8-C396CDB119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691" y="365125"/>
                <a:ext cx="10975109" cy="581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616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F54-B0E4-4C94-8DC8-E62FC6EF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the worksheet</a:t>
            </a:r>
          </a:p>
        </p:txBody>
      </p:sp>
    </p:spTree>
    <p:extLst>
      <p:ext uri="{BB962C8B-B14F-4D97-AF65-F5344CB8AC3E}">
        <p14:creationId xmlns:p14="http://schemas.microsoft.com/office/powerpoint/2010/main" val="51506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webextensions/taskpanes.xml><?xml version="1.0" encoding="utf-8"?>
<wetp:taskpanes xmlns:wetp="http://schemas.microsoft.com/office/webextensions/taskpanes/2010/11">
  <wetp:taskpane dockstate="right" visibility="0" width="489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7DE551-159D-4367-AA52-C0BA07D29CD5}">
  <we:reference id="wa104380121" version="2.0.0.0" store="en-US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D403C9F-2BE5-4DC2-A129-86B5F5C63CCC}">
  <we:reference id="wa104382064" version="1.0.0.2" store="en-US" storeType="OMEX"/>
  <we:alternateReferences>
    <we:reference id="wa104382064" version="1.0.0.2" store="wa104382064" storeType="OMEX"/>
  </we:alternateReferences>
  <we:properties>
    <we:property name="clocktype" value="&quot;digital&quot;"/>
    <we:property name="HH" value="0"/>
    <we:property name="MM" value="8"/>
    <we:property name="SS" value="20"/>
    <we:property name="HH-reminder" value="&quot;--&quot;"/>
    <we:property name="MM-reminder" value="&quot;--&quot;"/>
    <we:property name="SS-reminder" value="&quot;--&quot;"/>
    <we:property name="interval" value="5"/>
    <we:property name="tickType" value="&quot;tick&quot;"/>
    <we:property name="timeupType" value="&quot;alarm&quot;"/>
    <we:property name="canvasw" value="239"/>
    <we:property name="canvash" value="239"/>
    <we:property name="radius" value="107.55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796DD960-0517-4B94-8011-17E2047BC5AC}">
  <we:reference id="wa104323558" version="1.0.1.0" store="en-US" storeType="OMEX"/>
  <we:alternateReferences>
    <we:reference id="wa104323558" version="1.0.1.0" store="wa104323558" storeType="OMEX"/>
  </we:alternateReferences>
  <we:properties>
    <we:property name="__labs__" value="{&quot;configuration&quot;:{&quot;appVersion&quot;:{&quot;major&quot;:1,&quot;minor&quot;:1},&quot;components&quot;:[{&quot;type&quot;:&quot;Labs.Components.ActivityComponent&quot;,&quot;name&quot;:&quot;Graphing Slope-Intercept&quot;,&quot;values&quot;:{},&quot;data&quot;:{&quot;id&quot;:&quot;phet-https://phet.colorado.edu/sims/html/graphing-slope-intercept/latest/graphing-slope-intercept_en.html&quot;},&quot;secure&quot;:false}],&quot;name&quot;:&quot;Graphing Slope-Intercept&quot;,&quot;timeline&quot;:null,&quot;analytics&quot;:null},&quot;hostVersion&quot;:{&quot;major&quot;:0,&quot;minor&quot;:1}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7813</TotalTime>
  <Words>798</Words>
  <Application>Microsoft Office PowerPoint</Application>
  <PresentationFormat>Widescreen</PresentationFormat>
  <Paragraphs>158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Gradient and Intercept</vt:lpstr>
      <vt:lpstr>Topic: Gradient and Intercept EQ : How are linear graphs, linear tables and linear rules similar?  LHS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Slope Dude</vt:lpstr>
      <vt:lpstr>PowerPoint Presentation</vt:lpstr>
      <vt:lpstr>PowerPoint Presentation</vt:lpstr>
      <vt:lpstr>PowerPoint Presentation</vt:lpstr>
      <vt:lpstr>PowerPoint Presentation</vt:lpstr>
      <vt:lpstr>Complete the worksheet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Jade Gregory</cp:lastModifiedBy>
  <cp:revision>25</cp:revision>
  <dcterms:created xsi:type="dcterms:W3CDTF">2018-10-23T03:39:11Z</dcterms:created>
  <dcterms:modified xsi:type="dcterms:W3CDTF">2021-08-08T08:42:18Z</dcterms:modified>
</cp:coreProperties>
</file>
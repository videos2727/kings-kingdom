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3.xml" ContentType="application/vnd.ms-office.webextension+xml"/>
  <Override PartName="/ppt/webextensions/webextension4.xml" ContentType="application/vnd.ms-office.webextension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80" r:id="rId2"/>
    <p:sldId id="321" r:id="rId3"/>
    <p:sldId id="263" r:id="rId4"/>
    <p:sldId id="287" r:id="rId5"/>
    <p:sldId id="279" r:id="rId6"/>
    <p:sldId id="288" r:id="rId7"/>
    <p:sldId id="289" r:id="rId8"/>
    <p:sldId id="286" r:id="rId9"/>
    <p:sldId id="273" r:id="rId10"/>
    <p:sldId id="290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D05C-28F6-4E5E-8B6B-4807B7845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D73DA-0721-4EFA-B784-965056200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F42B-3B02-464F-962D-A0D4D594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5C675-7594-48A5-82B8-09456B9D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D096B-18AA-4A2D-96C2-26E67FF1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416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9CA2-0286-4B52-8E2B-F27F8DF4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1C3FD-10EC-4409-8677-9430031EC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C36AF-8B01-4B3F-A8FE-C0A19276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F56D-24AA-4370-BF62-DD5CE57E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C0179-D9E6-46AE-94B9-FF54F58C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846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9865-CEA3-4FB7-8B5C-2957AF1B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EDABF-6A9E-4D99-9B07-70B154CA6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24851-B1D9-4C57-B042-247530B2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D532F-3EF3-49B3-9149-D7B82EDC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3C942-7E97-4A04-86C9-705C5D63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396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64F9-AD55-4BD8-B576-C8C50788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B2B4A-F3CC-49B5-AFC9-682A3FCBE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EA2D5-32F9-4DA0-9AD8-7EDFE91F6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53568-772F-4179-A87F-1C3D6C84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FFEC1-81BB-41AF-A7FE-7347736A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E818D-F158-450F-8A96-AD6A28EA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33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715E0-2A20-4873-9C9B-F7116E87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EF7D5-ED48-42DD-AF96-9FA4D7AF8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8AB47-6C0A-4974-B319-CC0039B52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78C8C-F5B0-4346-85F6-D7D941EA7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AB6E3-909B-468A-9860-006CD9867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8A9921-619F-4D91-BF0E-22ACDB17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ABFFB-1998-45B2-98DC-1CC8A8BF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75E74-CA87-4DD7-9743-28ABA9E9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252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7A40-C30E-4A21-BC55-B4B3E52D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527B0-F7D2-47DC-80A5-717D8353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76AF5-ACE8-4A34-8903-490E369A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845DB-9B89-453D-8832-1777CFE6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00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29C1B-0078-4425-9044-39F506BE9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FE128-680D-4994-AB5D-44931F98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E061-55F2-4A8F-AD0C-0FB94FF9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35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4C3C-82D4-499B-B7E9-6E7B12019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AF29-59C4-43A5-970C-76D8D871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9A905-31A5-45D0-B235-F56DE0DE1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F97AC-7771-49AE-AED5-7D33A6B4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02092-4948-40FA-919A-23D5007B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2E69F-C175-4EC7-A6A9-0AD4A369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14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0B87-E45C-41E0-B988-32477708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E7875-0359-4E6A-ABFC-78923C799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99515-EBEA-433B-B43E-E76EAEDDA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EBC58-539D-4986-A4B0-659DC9BA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895A8-BFDD-489E-9833-69BCA44D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50751-2408-4AB6-8976-488418CD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34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A31B-CF0D-47D8-B1EA-67038CFA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75BCC-2114-4619-A2F7-5544C3ADD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F451-3C89-4D27-A8FC-D530DF6A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E535D-B5FD-4C38-884B-13FAA45D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3CE14-1613-4B0B-B350-31B1B05C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6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A52DD-F42F-4843-AAA1-0213E9357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64ECD-2AAF-4DED-B52E-760FC9EC7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081B3-6D3C-412A-AF6B-462E567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7EA21-C967-4BEC-A731-D56CACF3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37119-2454-49E7-9794-1557B5AB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1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2355D-4832-4553-B3C1-2F9774E3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7F78-AF6A-4D36-9ABE-AF8DE65C5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A9DBA-3516-40C5-AB5A-B0A3B35C2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CCCD2-7ACC-4004-8A41-3EBD81D2B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1919-AE3F-43F0-A434-5172612B5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651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11/relationships/webextension" Target="../webextensions/webextension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0" y="-202475"/>
            <a:ext cx="7680960" cy="1371600"/>
          </a:xfrm>
        </p:spPr>
        <p:txBody>
          <a:bodyPr/>
          <a:lstStyle/>
          <a:p>
            <a:r>
              <a:rPr lang="en-AU" dirty="0">
                <a:latin typeface="Algerian" panose="04020705040A02060702" pitchFamily="82" charset="0"/>
              </a:rPr>
              <a:t>Starting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3147" y="285543"/>
            <a:ext cx="3133470" cy="53924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2400" dirty="0"/>
              <a:t>Write the coordinates: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A:		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C: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E: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H: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I: 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K: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M: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EA0B03B-F5AE-43B0-B398-89B58DD268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02" r="13937"/>
          <a:stretch/>
        </p:blipFill>
        <p:spPr>
          <a:xfrm>
            <a:off x="468939" y="819505"/>
            <a:ext cx="4609364" cy="45910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18622" y="5859083"/>
            <a:ext cx="3940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Write your summary for last lesson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EasyTimer">
                <a:extLst>
                  <a:ext uri="{FF2B5EF4-FFF2-40B4-BE49-F238E27FC236}">
                    <a16:creationId xmlns:a16="http://schemas.microsoft.com/office/drawing/2014/main" id="{D3D81028-9153-446C-8403-D936156594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7805401"/>
                  </p:ext>
                </p:extLst>
              </p:nvPr>
            </p:nvGraphicFramePr>
            <p:xfrm>
              <a:off x="6320568" y="3807139"/>
              <a:ext cx="2980449" cy="30508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4" name="Add-in 3" title="EasyTimer">
                <a:extLst>
                  <a:ext uri="{FF2B5EF4-FFF2-40B4-BE49-F238E27FC236}">
                    <a16:creationId xmlns:a16="http://schemas.microsoft.com/office/drawing/2014/main" id="{D3D81028-9153-446C-8403-D936156594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0568" y="3807139"/>
                <a:ext cx="2980449" cy="30508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>
            <a:alpha val="2392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7E344-9642-44FB-BEDC-411AD8BF88BE}"/>
              </a:ext>
            </a:extLst>
          </p:cNvPr>
          <p:cNvSpPr txBox="1"/>
          <p:nvPr/>
        </p:nvSpPr>
        <p:spPr>
          <a:xfrm>
            <a:off x="120814" y="178855"/>
            <a:ext cx="363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5A40F-4568-4D0E-B3E2-117C604785D0}"/>
                  </a:ext>
                </a:extLst>
              </p:cNvPr>
              <p:cNvSpPr txBox="1"/>
              <p:nvPr/>
            </p:nvSpPr>
            <p:spPr>
              <a:xfrm>
                <a:off x="719757" y="1485900"/>
                <a:ext cx="8112370" cy="3276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u="sng" dirty="0"/>
                  <a:t>5 Questions</a:t>
                </a:r>
                <a:r>
                  <a:rPr lang="en-US" sz="2000" dirty="0"/>
                  <a:t> – Complete on your LHS</a:t>
                </a:r>
                <a:endParaRPr lang="en-US" sz="2000" u="sng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Complete your summary, highlight important information and update your contents page.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sz="2000" dirty="0"/>
                  <a:t>If I have $100 and spent 25% how much money do I have left?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Collect like terms: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−4+4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Find the median of the following data: 4, 6, 8, 2, 1, 9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Find the area of the triangle below:</a:t>
                </a:r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5A40F-4568-4D0E-B3E2-117C60478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7" y="1485900"/>
                <a:ext cx="8112370" cy="3276282"/>
              </a:xfrm>
              <a:prstGeom prst="rect">
                <a:avLst/>
              </a:prstGeom>
              <a:blipFill>
                <a:blip r:embed="rId2"/>
                <a:stretch>
                  <a:fillRect l="-826" b="-24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asyTimer">
                <a:extLst>
                  <a:ext uri="{FF2B5EF4-FFF2-40B4-BE49-F238E27FC236}">
                    <a16:creationId xmlns:a16="http://schemas.microsoft.com/office/drawing/2014/main" id="{09B4BF49-7E2B-4615-A211-20CE987795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055348"/>
                  </p:ext>
                </p:extLst>
              </p:nvPr>
            </p:nvGraphicFramePr>
            <p:xfrm>
              <a:off x="6460552" y="4405656"/>
              <a:ext cx="2829072" cy="213193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 4" title="EasyTimer">
                <a:extLst>
                  <a:ext uri="{FF2B5EF4-FFF2-40B4-BE49-F238E27FC236}">
                    <a16:creationId xmlns:a16="http://schemas.microsoft.com/office/drawing/2014/main" id="{09B4BF49-7E2B-4615-A211-20CE987795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0552" y="4405656"/>
                <a:ext cx="2829072" cy="2131933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1200BC-CF14-443A-9061-AACB2197131F}"/>
              </a:ext>
            </a:extLst>
          </p:cNvPr>
          <p:cNvCxnSpPr/>
          <p:nvPr/>
        </p:nvCxnSpPr>
        <p:spPr>
          <a:xfrm>
            <a:off x="-83959" y="123651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FBA349-0233-4365-AFFF-002D9D35F8AA}"/>
              </a:ext>
            </a:extLst>
          </p:cNvPr>
          <p:cNvSpPr txBox="1"/>
          <p:nvPr/>
        </p:nvSpPr>
        <p:spPr>
          <a:xfrm>
            <a:off x="6955693" y="571500"/>
            <a:ext cx="2608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Date: XX/XX/2021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060E13C-0BAF-4719-A7C3-A3D6B8CB6EA5}"/>
              </a:ext>
            </a:extLst>
          </p:cNvPr>
          <p:cNvSpPr/>
          <p:nvPr/>
        </p:nvSpPr>
        <p:spPr>
          <a:xfrm>
            <a:off x="1607127" y="5006109"/>
            <a:ext cx="1551709" cy="1357744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A6D854-A803-445A-AA3F-D918F120D34F}"/>
              </a:ext>
            </a:extLst>
          </p:cNvPr>
          <p:cNvCxnSpPr>
            <a:stCxn id="8" idx="0"/>
            <a:endCxn id="8" idx="3"/>
          </p:cNvCxnSpPr>
          <p:nvPr/>
        </p:nvCxnSpPr>
        <p:spPr>
          <a:xfrm>
            <a:off x="2382982" y="5006109"/>
            <a:ext cx="0" cy="13577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E88FD9-2A9A-4D3F-BF6B-53707DC95DAF}"/>
              </a:ext>
            </a:extLst>
          </p:cNvPr>
          <p:cNvCxnSpPr/>
          <p:nvPr/>
        </p:nvCxnSpPr>
        <p:spPr>
          <a:xfrm>
            <a:off x="1607127" y="6465455"/>
            <a:ext cx="1551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393309-7E2D-4EE1-B329-9967520D04D7}"/>
              </a:ext>
            </a:extLst>
          </p:cNvPr>
          <p:cNvSpPr txBox="1"/>
          <p:nvPr/>
        </p:nvSpPr>
        <p:spPr>
          <a:xfrm>
            <a:off x="2064624" y="6423114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cm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CBA265-2467-445B-9569-6A9DBA4D2883}"/>
              </a:ext>
            </a:extLst>
          </p:cNvPr>
          <p:cNvSpPr txBox="1"/>
          <p:nvPr/>
        </p:nvSpPr>
        <p:spPr>
          <a:xfrm>
            <a:off x="2368826" y="5769133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cm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EF4D72-7FD6-462D-8DA2-54D69758D135}"/>
              </a:ext>
            </a:extLst>
          </p:cNvPr>
          <p:cNvSpPr txBox="1"/>
          <p:nvPr/>
        </p:nvSpPr>
        <p:spPr>
          <a:xfrm>
            <a:off x="120814" y="61154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</p:spTree>
    <p:extLst>
      <p:ext uri="{BB962C8B-B14F-4D97-AF65-F5344CB8AC3E}">
        <p14:creationId xmlns:p14="http://schemas.microsoft.com/office/powerpoint/2010/main" val="345704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1816913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3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41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673889" y="1147098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CE7C47-DC6B-4B42-B215-03A133F6A120}"/>
              </a:ext>
            </a:extLst>
          </p:cNvPr>
          <p:cNvSpPr txBox="1"/>
          <p:nvPr/>
        </p:nvSpPr>
        <p:spPr>
          <a:xfrm>
            <a:off x="134192" y="1347283"/>
            <a:ext cx="1742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put coordinates in a table?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D5DD6-43A7-459F-9849-FAFF86DBBE60}"/>
              </a:ext>
            </a:extLst>
          </p:cNvPr>
          <p:cNvSpPr/>
          <p:nvPr/>
        </p:nvSpPr>
        <p:spPr>
          <a:xfrm>
            <a:off x="1993770" y="1264777"/>
            <a:ext cx="34266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Coordinates can also be </a:t>
            </a:r>
            <a:r>
              <a:rPr lang="en-AU" b="1" u="sng" dirty="0"/>
              <a:t>written in a table </a:t>
            </a:r>
            <a:r>
              <a:rPr lang="en-AU" dirty="0"/>
              <a:t>to </a:t>
            </a:r>
            <a:r>
              <a:rPr lang="en-AU" b="1" u="sng" dirty="0"/>
              <a:t>organise them</a:t>
            </a:r>
            <a:r>
              <a:rPr lang="en-AU" dirty="0"/>
              <a:t> and make them easier to graph.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54803-B626-4558-848C-0D122DE1F239}"/>
              </a:ext>
            </a:extLst>
          </p:cNvPr>
          <p:cNvSpPr/>
          <p:nvPr/>
        </p:nvSpPr>
        <p:spPr>
          <a:xfrm>
            <a:off x="1877110" y="2965990"/>
            <a:ext cx="4796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Consider the following set of coordinates:</a:t>
            </a:r>
          </a:p>
          <a:p>
            <a:r>
              <a:rPr lang="en-US" dirty="0"/>
              <a:t>(0, -2) 	(3, 1) 	(-1, -3)	</a:t>
            </a:r>
          </a:p>
          <a:p>
            <a:r>
              <a:rPr lang="en-US" dirty="0"/>
              <a:t>(1, -1)	(-2, -4)	(2, 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570D-778E-4AB3-9087-E74025E07F0D}"/>
                  </a:ext>
                </a:extLst>
              </p:cNvPr>
              <p:cNvSpPr txBox="1"/>
              <p:nvPr/>
            </p:nvSpPr>
            <p:spPr>
              <a:xfrm>
                <a:off x="6790549" y="1347283"/>
                <a:ext cx="195811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 put them in order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570D-778E-4AB3-9087-E74025E07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549" y="1347283"/>
                <a:ext cx="1958112" cy="923330"/>
              </a:xfrm>
              <a:prstGeom prst="rect">
                <a:avLst/>
              </a:prstGeom>
              <a:blipFill>
                <a:blip r:embed="rId2"/>
                <a:stretch>
                  <a:fillRect l="-2804" t="-3311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CCB0451-DA67-4887-AEF0-8992D31F52C2}"/>
              </a:ext>
            </a:extLst>
          </p:cNvPr>
          <p:cNvSpPr/>
          <p:nvPr/>
        </p:nvSpPr>
        <p:spPr>
          <a:xfrm>
            <a:off x="1877109" y="2965990"/>
            <a:ext cx="4796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Consider the following set of coordinates: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, -2) 	(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, 1) 	 </a:t>
            </a:r>
            <a:r>
              <a:rPr lang="en-US" b="1" dirty="0">
                <a:solidFill>
                  <a:srgbClr val="FF0000"/>
                </a:solidFill>
              </a:rPr>
              <a:t>-1</a:t>
            </a:r>
            <a:r>
              <a:rPr lang="en-US" dirty="0"/>
              <a:t>, -3)	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, -1)	 </a:t>
            </a:r>
            <a:r>
              <a:rPr lang="en-US" b="1" dirty="0">
                <a:solidFill>
                  <a:srgbClr val="FF0000"/>
                </a:solidFill>
              </a:rPr>
              <a:t>-2</a:t>
            </a:r>
            <a:r>
              <a:rPr lang="en-US" dirty="0"/>
              <a:t>, -4)	(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, 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E70A7-6506-43B5-980D-6FDEE308CE0F}"/>
              </a:ext>
            </a:extLst>
          </p:cNvPr>
          <p:cNvSpPr/>
          <p:nvPr/>
        </p:nvSpPr>
        <p:spPr>
          <a:xfrm>
            <a:off x="2026445" y="4305869"/>
            <a:ext cx="4374355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>
                <a:solidFill>
                  <a:srgbClr val="FF0000"/>
                </a:solidFill>
              </a:rPr>
              <a:t>-2</a:t>
            </a:r>
            <a:r>
              <a:rPr lang="en-US" i="1" dirty="0"/>
              <a:t>, -4) (</a:t>
            </a:r>
            <a:r>
              <a:rPr lang="en-US" b="1" i="1" dirty="0">
                <a:solidFill>
                  <a:srgbClr val="FF0000"/>
                </a:solidFill>
              </a:rPr>
              <a:t>-1</a:t>
            </a:r>
            <a:r>
              <a:rPr lang="en-US" i="1" dirty="0"/>
              <a:t>, -3) (</a:t>
            </a:r>
            <a:r>
              <a:rPr lang="en-US" b="1" i="1" dirty="0">
                <a:solidFill>
                  <a:srgbClr val="FF0000"/>
                </a:solidFill>
              </a:rPr>
              <a:t>0</a:t>
            </a:r>
            <a:r>
              <a:rPr lang="en-US" i="1" dirty="0"/>
              <a:t>, -2) (</a:t>
            </a:r>
            <a:r>
              <a:rPr lang="en-US" b="1" i="1" dirty="0">
                <a:solidFill>
                  <a:srgbClr val="FF0000"/>
                </a:solidFill>
              </a:rPr>
              <a:t>1</a:t>
            </a:r>
            <a:r>
              <a:rPr lang="en-US" i="1" dirty="0"/>
              <a:t>, -1) (</a:t>
            </a:r>
            <a:r>
              <a:rPr lang="en-US" b="1" i="1" dirty="0">
                <a:solidFill>
                  <a:srgbClr val="FF0000"/>
                </a:solidFill>
              </a:rPr>
              <a:t>2</a:t>
            </a:r>
            <a:r>
              <a:rPr lang="en-US" i="1" dirty="0"/>
              <a:t>, 0) (</a:t>
            </a:r>
            <a:r>
              <a:rPr lang="en-US" b="1" i="1" dirty="0">
                <a:solidFill>
                  <a:srgbClr val="FF0000"/>
                </a:solidFill>
              </a:rPr>
              <a:t>3</a:t>
            </a:r>
            <a:r>
              <a:rPr lang="en-US" i="1" dirty="0"/>
              <a:t>, 1)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99DD8B-719B-410F-9A03-EB313522A229}"/>
                  </a:ext>
                </a:extLst>
              </p:cNvPr>
              <p:cNvSpPr txBox="1"/>
              <p:nvPr/>
            </p:nvSpPr>
            <p:spPr>
              <a:xfrm>
                <a:off x="6858108" y="2715740"/>
                <a:ext cx="19581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2: put the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</m:oMath>
                </a14:m>
                <a:r>
                  <a:rPr lang="en-AU" dirty="0"/>
                  <a:t> into the table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99DD8B-719B-410F-9A03-EB313522A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108" y="2715740"/>
                <a:ext cx="1958112" cy="1200329"/>
              </a:xfrm>
              <a:prstGeom prst="rect">
                <a:avLst/>
              </a:prstGeom>
              <a:blipFill>
                <a:blip r:embed="rId3"/>
                <a:stretch>
                  <a:fillRect l="-2492" t="-2538" r="-5296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9733155"/>
                  </p:ext>
                </p:extLst>
              </p:nvPr>
            </p:nvGraphicFramePr>
            <p:xfrm>
              <a:off x="1877109" y="5022872"/>
              <a:ext cx="4864335" cy="935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905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79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79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9733155"/>
                  </p:ext>
                </p:extLst>
              </p:nvPr>
            </p:nvGraphicFramePr>
            <p:xfrm>
              <a:off x="1877109" y="5022872"/>
              <a:ext cx="4864335" cy="935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905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79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7" t="-6410" r="-602632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79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7" t="-107792" r="-602632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0F91206-301D-45E6-9E6B-7C1C51AD5EC2}"/>
              </a:ext>
            </a:extLst>
          </p:cNvPr>
          <p:cNvSpPr txBox="1"/>
          <p:nvPr/>
        </p:nvSpPr>
        <p:spPr>
          <a:xfrm>
            <a:off x="3346515" y="4996206"/>
            <a:ext cx="52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</a:t>
            </a:r>
          </a:p>
          <a:p>
            <a:endParaRPr lang="en-AU" dirty="0"/>
          </a:p>
          <a:p>
            <a:r>
              <a:rPr lang="en-AU" dirty="0"/>
              <a:t>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5D32A-0F12-43DC-B29A-8FBE188686C2}"/>
              </a:ext>
            </a:extLst>
          </p:cNvPr>
          <p:cNvSpPr txBox="1"/>
          <p:nvPr/>
        </p:nvSpPr>
        <p:spPr>
          <a:xfrm>
            <a:off x="4140801" y="4978756"/>
            <a:ext cx="52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 animBg="1"/>
      <p:bldP spid="16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673889" y="1147098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CE7C47-DC6B-4B42-B215-03A133F6A120}"/>
              </a:ext>
            </a:extLst>
          </p:cNvPr>
          <p:cNvSpPr txBox="1"/>
          <p:nvPr/>
        </p:nvSpPr>
        <p:spPr>
          <a:xfrm>
            <a:off x="134192" y="1347283"/>
            <a:ext cx="174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know if this is linear?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250959"/>
                  </p:ext>
                </p:extLst>
              </p:nvPr>
            </p:nvGraphicFramePr>
            <p:xfrm>
              <a:off x="1847551" y="1393808"/>
              <a:ext cx="4599434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7062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-1 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250959"/>
                  </p:ext>
                </p:extLst>
              </p:nvPr>
            </p:nvGraphicFramePr>
            <p:xfrm>
              <a:off x="1847551" y="1393808"/>
              <a:ext cx="4599434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7062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57062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26" t="-1299" r="-600926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-1 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26" t="-102632" r="-60092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Arrow: Curved Up 1">
            <a:extLst>
              <a:ext uri="{FF2B5EF4-FFF2-40B4-BE49-F238E27FC236}">
                <a16:creationId xmlns:a16="http://schemas.microsoft.com/office/drawing/2014/main" id="{1320A797-C9F8-4C48-94E8-008BCB976D10}"/>
              </a:ext>
            </a:extLst>
          </p:cNvPr>
          <p:cNvSpPr/>
          <p:nvPr/>
        </p:nvSpPr>
        <p:spPr>
          <a:xfrm>
            <a:off x="2974109" y="2419927"/>
            <a:ext cx="488441" cy="240146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0F615A39-A901-47F2-A02E-059A1E54E496}"/>
              </a:ext>
            </a:extLst>
          </p:cNvPr>
          <p:cNvSpPr/>
          <p:nvPr/>
        </p:nvSpPr>
        <p:spPr>
          <a:xfrm>
            <a:off x="3606230" y="2419927"/>
            <a:ext cx="488441" cy="240146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5A371465-94BF-4D8D-B024-B12330874942}"/>
              </a:ext>
            </a:extLst>
          </p:cNvPr>
          <p:cNvSpPr/>
          <p:nvPr/>
        </p:nvSpPr>
        <p:spPr>
          <a:xfrm>
            <a:off x="4889286" y="2409500"/>
            <a:ext cx="488441" cy="240146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738D1B6B-5D86-425C-983C-B09D215C2E06}"/>
              </a:ext>
            </a:extLst>
          </p:cNvPr>
          <p:cNvSpPr/>
          <p:nvPr/>
        </p:nvSpPr>
        <p:spPr>
          <a:xfrm>
            <a:off x="5601854" y="2400859"/>
            <a:ext cx="488441" cy="240146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D8C3C737-AB9A-4B0E-BF69-E88CF2ED8DD3}"/>
              </a:ext>
            </a:extLst>
          </p:cNvPr>
          <p:cNvSpPr/>
          <p:nvPr/>
        </p:nvSpPr>
        <p:spPr>
          <a:xfrm>
            <a:off x="4211781" y="2419927"/>
            <a:ext cx="488441" cy="240146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1CDDDA-1674-46E5-A1B8-9BE9AFD03A68}"/>
              </a:ext>
            </a:extLst>
          </p:cNvPr>
          <p:cNvSpPr txBox="1"/>
          <p:nvPr/>
        </p:nvSpPr>
        <p:spPr>
          <a:xfrm>
            <a:off x="3049788" y="2660073"/>
            <a:ext cx="2991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1          1          1          1           1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9F0A1E-1A53-4F68-A8A2-2D79BDC39605}"/>
                  </a:ext>
                </a:extLst>
              </p:cNvPr>
              <p:cNvSpPr txBox="1"/>
              <p:nvPr/>
            </p:nvSpPr>
            <p:spPr>
              <a:xfrm>
                <a:off x="1945912" y="3372340"/>
                <a:ext cx="459943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can see that we have an increase of 1 in our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-values as our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values increase.</a:t>
                </a:r>
              </a:p>
              <a:p>
                <a:r>
                  <a:rPr lang="en-US" dirty="0"/>
                  <a:t>If is changing by the same amount, we say that the equation is linear.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graphs, if it is straight line we identify it as linear.</a:t>
                </a:r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9F0A1E-1A53-4F68-A8A2-2D79BDC39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912" y="3372340"/>
                <a:ext cx="4599434" cy="2308324"/>
              </a:xfrm>
              <a:prstGeom prst="rect">
                <a:avLst/>
              </a:prstGeom>
              <a:blipFill>
                <a:blip r:embed="rId3"/>
                <a:stretch>
                  <a:fillRect l="-1060" t="-1319" r="-662" b="-3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>
            <a:extLst>
              <a:ext uri="{FF2B5EF4-FFF2-40B4-BE49-F238E27FC236}">
                <a16:creationId xmlns:a16="http://schemas.microsoft.com/office/drawing/2014/main" id="{A51A0942-683F-4C49-BD84-69B832275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503" y="5362315"/>
            <a:ext cx="1823934" cy="1508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59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3" grpId="0" animBg="1"/>
      <p:bldP spid="25" grpId="0" animBg="1"/>
      <p:bldP spid="1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853E-9FC0-428C-82BE-6E60EBD1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on your LHS</a:t>
            </a:r>
            <a:br>
              <a:rPr lang="en-US" dirty="0"/>
            </a:br>
            <a:r>
              <a:rPr lang="en-US" dirty="0"/>
              <a:t>Identify which of these are linear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4674DB6-BB73-4155-B3D6-E80FA1DD0D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4228511"/>
                  </p:ext>
                </p:extLst>
              </p:nvPr>
            </p:nvGraphicFramePr>
            <p:xfrm>
              <a:off x="831272" y="2089728"/>
              <a:ext cx="2503056" cy="86590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417176">
                      <a:extLst>
                        <a:ext uri="{9D8B030D-6E8A-4147-A177-3AD203B41FA5}">
                          <a16:colId xmlns:a16="http://schemas.microsoft.com/office/drawing/2014/main" val="1555499365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6868184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4059843679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68893038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779866568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49725917"/>
                        </a:ext>
                      </a:extLst>
                    </a:gridCol>
                  </a:tblGrid>
                  <a:tr h="4329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0725"/>
                      </a:ext>
                    </a:extLst>
                  </a:tr>
                  <a:tr h="43295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935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4674DB6-BB73-4155-B3D6-E80FA1DD0D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4228511"/>
                  </p:ext>
                </p:extLst>
              </p:nvPr>
            </p:nvGraphicFramePr>
            <p:xfrm>
              <a:off x="831272" y="2089728"/>
              <a:ext cx="2503056" cy="86590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417176">
                      <a:extLst>
                        <a:ext uri="{9D8B030D-6E8A-4147-A177-3AD203B41FA5}">
                          <a16:colId xmlns:a16="http://schemas.microsoft.com/office/drawing/2014/main" val="1555499365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6868184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4059843679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68893038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779866568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49725917"/>
                        </a:ext>
                      </a:extLst>
                    </a:gridCol>
                  </a:tblGrid>
                  <a:tr h="432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9" t="-1389" r="-502899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0725"/>
                      </a:ext>
                    </a:extLst>
                  </a:tr>
                  <a:tr h="432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9" t="-102817" r="-502899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935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DFE114D-DAEA-4388-9AE2-0F6F2969C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300251"/>
                  </p:ext>
                </p:extLst>
              </p:nvPr>
            </p:nvGraphicFramePr>
            <p:xfrm>
              <a:off x="831272" y="3429000"/>
              <a:ext cx="2503056" cy="86590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417176">
                      <a:extLst>
                        <a:ext uri="{9D8B030D-6E8A-4147-A177-3AD203B41FA5}">
                          <a16:colId xmlns:a16="http://schemas.microsoft.com/office/drawing/2014/main" val="1555499365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6868184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4059843679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68893038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779866568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49725917"/>
                        </a:ext>
                      </a:extLst>
                    </a:gridCol>
                  </a:tblGrid>
                  <a:tr h="4329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0725"/>
                      </a:ext>
                    </a:extLst>
                  </a:tr>
                  <a:tr h="43295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-7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935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DFE114D-DAEA-4388-9AE2-0F6F2969C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300251"/>
                  </p:ext>
                </p:extLst>
              </p:nvPr>
            </p:nvGraphicFramePr>
            <p:xfrm>
              <a:off x="831272" y="3429000"/>
              <a:ext cx="2503056" cy="86590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417176">
                      <a:extLst>
                        <a:ext uri="{9D8B030D-6E8A-4147-A177-3AD203B41FA5}">
                          <a16:colId xmlns:a16="http://schemas.microsoft.com/office/drawing/2014/main" val="1555499365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6868184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4059843679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68893038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779866568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49725917"/>
                        </a:ext>
                      </a:extLst>
                    </a:gridCol>
                  </a:tblGrid>
                  <a:tr h="432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1389" r="-502899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0725"/>
                      </a:ext>
                    </a:extLst>
                  </a:tr>
                  <a:tr h="432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102817" r="-502899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-7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935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E354DE7-68AE-49F7-B529-7E4ACB364D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4933262"/>
                  </p:ext>
                </p:extLst>
              </p:nvPr>
            </p:nvGraphicFramePr>
            <p:xfrm>
              <a:off x="831272" y="4837545"/>
              <a:ext cx="2503056" cy="86590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417176">
                      <a:extLst>
                        <a:ext uri="{9D8B030D-6E8A-4147-A177-3AD203B41FA5}">
                          <a16:colId xmlns:a16="http://schemas.microsoft.com/office/drawing/2014/main" val="1555499365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6868184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4059843679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68893038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779866568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49725917"/>
                        </a:ext>
                      </a:extLst>
                    </a:gridCol>
                  </a:tblGrid>
                  <a:tr h="4329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0725"/>
                      </a:ext>
                    </a:extLst>
                  </a:tr>
                  <a:tr h="43295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-8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935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E354DE7-68AE-49F7-B529-7E4ACB364D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4933262"/>
                  </p:ext>
                </p:extLst>
              </p:nvPr>
            </p:nvGraphicFramePr>
            <p:xfrm>
              <a:off x="831272" y="4837545"/>
              <a:ext cx="2503056" cy="86590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417176">
                      <a:extLst>
                        <a:ext uri="{9D8B030D-6E8A-4147-A177-3AD203B41FA5}">
                          <a16:colId xmlns:a16="http://schemas.microsoft.com/office/drawing/2014/main" val="1555499365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6868184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4059843679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688930381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2779866568"/>
                        </a:ext>
                      </a:extLst>
                    </a:gridCol>
                    <a:gridCol w="417176">
                      <a:extLst>
                        <a:ext uri="{9D8B030D-6E8A-4147-A177-3AD203B41FA5}">
                          <a16:colId xmlns:a16="http://schemas.microsoft.com/office/drawing/2014/main" val="3249725917"/>
                        </a:ext>
                      </a:extLst>
                    </a:gridCol>
                  </a:tblGrid>
                  <a:tr h="432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1389" r="-502899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730725"/>
                      </a:ext>
                    </a:extLst>
                  </a:tr>
                  <a:tr h="432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102817" r="-502899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-8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93514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183A4BD-5D71-4AE9-BDCD-5EE19F509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263" y="1641836"/>
            <a:ext cx="1983876" cy="1461582"/>
          </a:xfrm>
          <a:prstGeom prst="rect">
            <a:avLst/>
          </a:prstGeom>
        </p:spPr>
      </p:pic>
      <p:pic>
        <p:nvPicPr>
          <p:cNvPr id="1028" name="Picture 4" descr="Linear Graph | What is Linear Graph?">
            <a:extLst>
              <a:ext uri="{FF2B5EF4-FFF2-40B4-BE49-F238E27FC236}">
                <a16:creationId xmlns:a16="http://schemas.microsoft.com/office/drawing/2014/main" id="{41CD8BF6-6200-44D0-B14B-23179DAFC8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6" r="17677"/>
          <a:stretch/>
        </p:blipFill>
        <p:spPr bwMode="auto">
          <a:xfrm>
            <a:off x="4768581" y="3167413"/>
            <a:ext cx="1981239" cy="179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aphing Parabolas">
            <a:extLst>
              <a:ext uri="{FF2B5EF4-FFF2-40B4-BE49-F238E27FC236}">
                <a16:creationId xmlns:a16="http://schemas.microsoft.com/office/drawing/2014/main" id="{7550A550-0C11-40F4-BC9C-FCB64942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6" t="7677" r="19876"/>
          <a:stretch/>
        </p:blipFill>
        <p:spPr bwMode="auto">
          <a:xfrm>
            <a:off x="5070763" y="5028891"/>
            <a:ext cx="1560946" cy="182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EF1B45-B211-4DA6-8B3E-A9E56787C9AF}"/>
              </a:ext>
            </a:extLst>
          </p:cNvPr>
          <p:cNvSpPr txBox="1"/>
          <p:nvPr/>
        </p:nvSpPr>
        <p:spPr>
          <a:xfrm>
            <a:off x="477807" y="1966349"/>
            <a:ext cx="3786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AU" sz="2000" dirty="0"/>
              <a:t>2.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3.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64782A-70E1-4FC4-992C-3482F255F796}"/>
              </a:ext>
            </a:extLst>
          </p:cNvPr>
          <p:cNvSpPr txBox="1"/>
          <p:nvPr/>
        </p:nvSpPr>
        <p:spPr>
          <a:xfrm>
            <a:off x="4366184" y="1536174"/>
            <a:ext cx="37863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AU" sz="2000" dirty="0"/>
              <a:t>5.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6.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37E1C-FB52-49E4-BE7C-1D474727AAF3}"/>
              </a:ext>
            </a:extLst>
          </p:cNvPr>
          <p:cNvSpPr txBox="1"/>
          <p:nvPr/>
        </p:nvSpPr>
        <p:spPr>
          <a:xfrm>
            <a:off x="2825378" y="2861737"/>
            <a:ext cx="151515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Linear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Not Linear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Linear</a:t>
            </a:r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C0ACF-0820-4100-95B8-947A3F4CB159}"/>
              </a:ext>
            </a:extLst>
          </p:cNvPr>
          <p:cNvSpPr txBox="1"/>
          <p:nvPr/>
        </p:nvSpPr>
        <p:spPr>
          <a:xfrm>
            <a:off x="6923071" y="2194707"/>
            <a:ext cx="217239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Not Linear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Linear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Not Linear</a:t>
            </a:r>
          </a:p>
          <a:p>
            <a:r>
              <a:rPr lang="en-US" b="1" dirty="0">
                <a:solidFill>
                  <a:srgbClr val="C00000"/>
                </a:solidFill>
              </a:rPr>
              <a:t>Known as a parabola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841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428358" y="110298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9016E0A-F7F9-4587-9F6B-158F054A9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99655"/>
                  </p:ext>
                </p:extLst>
              </p:nvPr>
            </p:nvGraphicFramePr>
            <p:xfrm>
              <a:off x="1972441" y="1519770"/>
              <a:ext cx="4182976" cy="750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68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3754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3754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9016E0A-F7F9-4587-9F6B-158F054A9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99655"/>
                  </p:ext>
                </p:extLst>
              </p:nvPr>
            </p:nvGraphicFramePr>
            <p:xfrm>
              <a:off x="1972441" y="1519770"/>
              <a:ext cx="4182976" cy="750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68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375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8065" r="-603061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375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08065" r="-603061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989EE2-95E9-4611-BA6B-D562F74A681F}"/>
              </a:ext>
            </a:extLst>
          </p:cNvPr>
          <p:cNvSpPr txBox="1"/>
          <p:nvPr/>
        </p:nvSpPr>
        <p:spPr>
          <a:xfrm>
            <a:off x="134192" y="1347283"/>
            <a:ext cx="174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graph points from a table?</a:t>
            </a:r>
            <a:endParaRPr lang="en-AU" dirty="0"/>
          </a:p>
        </p:txBody>
      </p:sp>
      <p:pic>
        <p:nvPicPr>
          <p:cNvPr id="1026" name="Picture 2" descr="Image result for cartesian plane">
            <a:extLst>
              <a:ext uri="{FF2B5EF4-FFF2-40B4-BE49-F238E27FC236}">
                <a16:creationId xmlns:a16="http://schemas.microsoft.com/office/drawing/2014/main" id="{5A5BB1F1-10D1-4868-88E4-804D9702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873" y="2685799"/>
            <a:ext cx="4399981" cy="380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AB13A46-5DBF-462C-A142-D22C886D7DC7}"/>
              </a:ext>
            </a:extLst>
          </p:cNvPr>
          <p:cNvSpPr/>
          <p:nvPr/>
        </p:nvSpPr>
        <p:spPr>
          <a:xfrm>
            <a:off x="3035431" y="5825764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F7A506-68DF-4E42-8436-3D97DEF55EBA}"/>
              </a:ext>
            </a:extLst>
          </p:cNvPr>
          <p:cNvSpPr/>
          <p:nvPr/>
        </p:nvSpPr>
        <p:spPr>
          <a:xfrm>
            <a:off x="3311721" y="5528373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8275DF-7925-4763-A28B-8BF39155D060}"/>
              </a:ext>
            </a:extLst>
          </p:cNvPr>
          <p:cNvSpPr/>
          <p:nvPr/>
        </p:nvSpPr>
        <p:spPr>
          <a:xfrm>
            <a:off x="3609371" y="5235212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869E04-F9D6-4CAB-9C52-BD3BE1FA37A8}"/>
              </a:ext>
            </a:extLst>
          </p:cNvPr>
          <p:cNvSpPr/>
          <p:nvPr/>
        </p:nvSpPr>
        <p:spPr>
          <a:xfrm>
            <a:off x="3896620" y="4945229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9C7E27-137F-476A-9977-652ABEFB0FA5}"/>
              </a:ext>
            </a:extLst>
          </p:cNvPr>
          <p:cNvSpPr/>
          <p:nvPr/>
        </p:nvSpPr>
        <p:spPr>
          <a:xfrm>
            <a:off x="4198228" y="4670062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45FB4B-31A9-4AC8-92C6-111F36213595}"/>
              </a:ext>
            </a:extLst>
          </p:cNvPr>
          <p:cNvSpPr/>
          <p:nvPr/>
        </p:nvSpPr>
        <p:spPr>
          <a:xfrm>
            <a:off x="4487097" y="4374298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AFE14B-A3ED-42AC-BF7B-9ED588CD9F7B}"/>
              </a:ext>
            </a:extLst>
          </p:cNvPr>
          <p:cNvCxnSpPr/>
          <p:nvPr/>
        </p:nvCxnSpPr>
        <p:spPr>
          <a:xfrm flipH="1">
            <a:off x="2548163" y="3456757"/>
            <a:ext cx="2998572" cy="297694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39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885" y="973622"/>
            <a:ext cx="8577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Worksheet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Your Turn (LHS of course)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97990" y="1996360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97990" y="321688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97990" y="450081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 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97990" y="5601039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/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129232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20253" r="-406731" b="-1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120253" r="-406731" b="-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95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7044" y="330575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Do you understand? 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431" y="1825625"/>
            <a:ext cx="4396449" cy="40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humbs Check for Understanding by Unconquered Learning | TpT">
            <a:extLst>
              <a:ext uri="{FF2B5EF4-FFF2-40B4-BE49-F238E27FC236}">
                <a16:creationId xmlns:a16="http://schemas.microsoft.com/office/drawing/2014/main" id="{8671E9AC-0123-4476-98CF-8C29E9FBE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20" y="2207374"/>
            <a:ext cx="4057280" cy="304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36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/>
              <a:t>Dwyer 162 and 163</a:t>
            </a:r>
          </a:p>
          <a:p>
            <a:pPr marL="0" indent="0" algn="ctr">
              <a:buNone/>
            </a:pP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00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taskpanes.xml><?xml version="1.0" encoding="utf-8"?>
<wetp:taskpanes xmlns:wetp="http://schemas.microsoft.com/office/webextensions/taskpanes/2010/11">
  <wetp:taskpane dockstate="right" visibility="0" width="489" row="1">
    <wetp:webextensionref xmlns:r="http://schemas.openxmlformats.org/officeDocument/2006/relationships" r:id="rId1"/>
  </wetp:taskpane>
  <wetp:taskpane dockstate="right" visibility="0" width="489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A83555-588D-4BF5-9052-77D6658B72A9}">
  <we:reference id="wa104006972" version="1.0.0.0" store="en-US" storeType="OMEX"/>
  <we:alternateReferences>
    <we:reference id="WA104006972" version="1.0.0.0" store="WA104006972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9034E21-4B69-44C6-AAC4-27E6F456B036}">
  <we:reference id="wa104178772" version="1.0.0.0" store="en-US" storeType="OMEX"/>
  <we:alternateReferences>
    <we:reference id="WA104178772" version="1.0.0.0" store="WA104178772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7DD1288F-CEB0-4FC1-A411-8BCDF85142A6}">
  <we:reference id="wa104382064" version="1.0.0.2" store="en-US" storeType="OMEX"/>
  <we:alternateReferences>
    <we:reference id="wa104382064" version="1.0.0.2" store="wa104382064" storeType="OMEX"/>
  </we:alternateReferences>
  <we:properties>
    <we:property name="HH" value="0"/>
    <we:property name="HH-reminder" value="&quot;--&quot;"/>
    <we:property name="MM" value="7"/>
    <we:property name="MM-reminder" value="&quot;--&quot;"/>
    <we:property name="SS" value="0"/>
    <we:property name="SS-reminder" value="&quot;--&quot;"/>
    <we:property name="canvash" value="139"/>
    <we:property name="canvasw" value="139"/>
    <we:property name="clocktype" value="&quot;digital&quot;"/>
    <we:property name="interval" value="5"/>
    <we:property name="radius" value="62.550000000000004"/>
    <we:property name="showCombi" value="true"/>
    <we:property name="tickType" value="&quot;none&quot;"/>
    <we:property name="timeupType" value="&quot;alarm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9AB9A7F7-781C-4101-9F94-6A03702C1259}">
  <we:reference id="wa104382064" version="1.0.0.2" store="en-US" storeType="OMEX"/>
  <we:alternateReferences>
    <we:reference id="wa104382064" version="1.0.0.2" store="wa104382064" storeType="OMEX"/>
  </we:alternateReferences>
  <we:properties>
    <we:property name="HH" value="0"/>
    <we:property name="HH-reminder" value="&quot;--&quot;"/>
    <we:property name="MM" value="8"/>
    <we:property name="MM-reminder" value="&quot;--&quot;"/>
    <we:property name="SS" value="0"/>
    <we:property name="SS-reminder" value="&quot;--&quot;"/>
    <we:property name="canvash" value="148"/>
    <we:property name="canvasw" value="148"/>
    <we:property name="clocktype" value="&quot;digital&quot;"/>
    <we:property name="interval" value="5"/>
    <we:property name="radius" value="66.60000000000001"/>
    <we:property name="tickType" value="&quot;tick&quot;"/>
    <we:property name="timeupType" value="&quot;alarm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6468</TotalTime>
  <Words>743</Words>
  <Application>Microsoft Office PowerPoint</Application>
  <PresentationFormat>On-screen Show (4:3)</PresentationFormat>
  <Paragraphs>249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</vt:lpstr>
      <vt:lpstr>Calibri</vt:lpstr>
      <vt:lpstr>Calibri Light</vt:lpstr>
      <vt:lpstr>Cambria Math</vt:lpstr>
      <vt:lpstr>Impact</vt:lpstr>
      <vt:lpstr>Times New Roman</vt:lpstr>
      <vt:lpstr>Office Theme</vt:lpstr>
      <vt:lpstr>Starting Questions</vt:lpstr>
      <vt:lpstr>PowerPoint Presentation</vt:lpstr>
      <vt:lpstr>My Linear Relationships Interactive Notebook</vt:lpstr>
      <vt:lpstr>PowerPoint Presentation</vt:lpstr>
      <vt:lpstr>PowerPoint Presentation</vt:lpstr>
      <vt:lpstr>PowerPoint Presentation</vt:lpstr>
      <vt:lpstr>Complete on your LHS Identify which of these are linear </vt:lpstr>
      <vt:lpstr>PowerPoint Presentation</vt:lpstr>
      <vt:lpstr>PowerPoint Presentation</vt:lpstr>
      <vt:lpstr>Do you understand?  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Jade Gregory</cp:lastModifiedBy>
  <cp:revision>94</cp:revision>
  <dcterms:created xsi:type="dcterms:W3CDTF">2016-04-30T07:20:25Z</dcterms:created>
  <dcterms:modified xsi:type="dcterms:W3CDTF">2021-08-06T14:38:04Z</dcterms:modified>
</cp:coreProperties>
</file>
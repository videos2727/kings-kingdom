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webextensions/webextension1.xml" ContentType="application/vnd.ms-office.webextension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321" r:id="rId2"/>
    <p:sldId id="283" r:id="rId3"/>
    <p:sldId id="297" r:id="rId4"/>
    <p:sldId id="310" r:id="rId5"/>
    <p:sldId id="308" r:id="rId6"/>
    <p:sldId id="311" r:id="rId7"/>
    <p:sldId id="312" r:id="rId8"/>
    <p:sldId id="313" r:id="rId9"/>
    <p:sldId id="314" r:id="rId10"/>
    <p:sldId id="315" r:id="rId11"/>
    <p:sldId id="316" r:id="rId12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9554" autoAdjust="0"/>
  </p:normalViewPr>
  <p:slideViewPr>
    <p:cSldViewPr snapToGrid="0">
      <p:cViewPr varScale="1">
        <p:scale>
          <a:sx n="70" d="100"/>
          <a:sy n="70" d="100"/>
        </p:scale>
        <p:origin x="1449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428A70-13CC-45D9-A704-CABD6DCA164E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B7F66-4BDE-433B-B2CE-4C36F9DB88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164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this is done – move onto page 167 and 168 in Dwyer to further extend on the context based questions.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B7F66-4BDE-433B-B2CE-4C36F9DB88F5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9083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3"/>
            <a:ext cx="7886700" cy="237728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2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400969"/>
            <a:ext cx="3887391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6"/>
            <a:ext cx="4629150" cy="40613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6"/>
            <a:ext cx="4629150" cy="406135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2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CC">
            <a:alpha val="4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A7E344-9642-44FB-BEDC-411AD8BF88BE}"/>
              </a:ext>
            </a:extLst>
          </p:cNvPr>
          <p:cNvSpPr txBox="1"/>
          <p:nvPr/>
        </p:nvSpPr>
        <p:spPr>
          <a:xfrm>
            <a:off x="203942" y="11608"/>
            <a:ext cx="4999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 in Context 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B203B-7816-468F-BF1E-39D9D2F2291B}"/>
              </a:ext>
            </a:extLst>
          </p:cNvPr>
          <p:cNvSpPr txBox="1"/>
          <p:nvPr/>
        </p:nvSpPr>
        <p:spPr>
          <a:xfrm>
            <a:off x="203942" y="39118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use linear relationships in real life?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75A40F-4568-4D0E-B3E2-117C604785D0}"/>
                  </a:ext>
                </a:extLst>
              </p:cNvPr>
              <p:cNvSpPr txBox="1"/>
              <p:nvPr/>
            </p:nvSpPr>
            <p:spPr>
              <a:xfrm>
                <a:off x="719757" y="914400"/>
                <a:ext cx="8112370" cy="3498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u="sng" dirty="0"/>
                  <a:t>5 Questions</a:t>
                </a:r>
                <a:r>
                  <a:rPr lang="en-US" sz="2000" dirty="0"/>
                  <a:t> – Complete on your LHS</a:t>
                </a:r>
                <a:endParaRPr lang="en-US" sz="2000" u="sng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Complete your summary, highlight important information and update your contents page.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AU" sz="2000" dirty="0"/>
                  <a:t>Find the rule for this relationship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Collect like terms: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What is continuous data?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What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dirty="0"/>
                  <a:t> as a decimal and a percentage?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75A40F-4568-4D0E-B3E2-117C60478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57" y="914400"/>
                <a:ext cx="8112370" cy="3498330"/>
              </a:xfrm>
              <a:prstGeom prst="rect">
                <a:avLst/>
              </a:prstGeom>
              <a:blipFill>
                <a:blip r:embed="rId2"/>
                <a:stretch>
                  <a:fillRect l="-8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 title="EasyTimer">
                <a:extLst>
                  <a:ext uri="{FF2B5EF4-FFF2-40B4-BE49-F238E27FC236}">
                    <a16:creationId xmlns:a16="http://schemas.microsoft.com/office/drawing/2014/main" id="{09B4BF49-7E2B-4615-A211-20CE987795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2969448"/>
                  </p:ext>
                </p:extLst>
              </p:nvPr>
            </p:nvGraphicFramePr>
            <p:xfrm>
              <a:off x="6505997" y="3584773"/>
              <a:ext cx="2829072" cy="213193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5" name="Add-in 4" title="EasyTimer">
                <a:extLst>
                  <a:ext uri="{FF2B5EF4-FFF2-40B4-BE49-F238E27FC236}">
                    <a16:creationId xmlns:a16="http://schemas.microsoft.com/office/drawing/2014/main" id="{09B4BF49-7E2B-4615-A211-20CE987795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05997" y="3584773"/>
                <a:ext cx="2829072" cy="2131933"/>
              </a:xfrm>
              <a:prstGeom prst="rect">
                <a:avLst/>
              </a:prstGeom>
            </p:spPr>
          </p:pic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1200BC-CF14-443A-9061-AACB2197131F}"/>
              </a:ext>
            </a:extLst>
          </p:cNvPr>
          <p:cNvCxnSpPr/>
          <p:nvPr/>
        </p:nvCxnSpPr>
        <p:spPr>
          <a:xfrm>
            <a:off x="-47756" y="914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2FBA349-0233-4365-AFFF-002D9D35F8AA}"/>
              </a:ext>
            </a:extLst>
          </p:cNvPr>
          <p:cNvSpPr txBox="1"/>
          <p:nvPr/>
        </p:nvSpPr>
        <p:spPr>
          <a:xfrm>
            <a:off x="6955692" y="0"/>
            <a:ext cx="2608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Date: XX/XX/2021</a:t>
            </a:r>
          </a:p>
        </p:txBody>
      </p:sp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054854F4-1418-49AD-952D-B2E4729B0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328" y="2328514"/>
            <a:ext cx="4121799" cy="52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040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8956" y="179844"/>
            <a:ext cx="742344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Yesterday we looked at how we could use linear relationships to find the cost of an electrician.  Today we have 3 electrician quotes to compare.</a:t>
            </a:r>
          </a:p>
          <a:p>
            <a:endParaRPr lang="en-AU" dirty="0"/>
          </a:p>
          <a:p>
            <a:r>
              <a:rPr lang="en-AU" dirty="0"/>
              <a:t>	</a:t>
            </a:r>
            <a:r>
              <a:rPr lang="en-AU" b="1" dirty="0"/>
              <a:t>Quote 1= $40 per hour +  $100 call out fee</a:t>
            </a:r>
          </a:p>
          <a:p>
            <a:r>
              <a:rPr lang="en-AU" dirty="0"/>
              <a:t>			Starts at $100              </a:t>
            </a:r>
            <a:r>
              <a:rPr lang="en-AU" dirty="0">
                <a:highlight>
                  <a:srgbClr val="FFFF00"/>
                </a:highlight>
              </a:rPr>
              <a:t>this is the y-intercept (C)</a:t>
            </a:r>
          </a:p>
          <a:p>
            <a:r>
              <a:rPr lang="en-AU" dirty="0"/>
              <a:t>			goes up each hour $40    </a:t>
            </a:r>
            <a:r>
              <a:rPr lang="en-AU" dirty="0">
                <a:highlight>
                  <a:srgbClr val="00FF00"/>
                </a:highlight>
              </a:rPr>
              <a:t>This is the gradient</a:t>
            </a:r>
          </a:p>
          <a:p>
            <a:r>
              <a:rPr lang="en-AU" dirty="0"/>
              <a:t>	y=Mx + C   becomes   y= ____x + _____</a:t>
            </a:r>
          </a:p>
          <a:p>
            <a:endParaRPr lang="en-AU" dirty="0"/>
          </a:p>
          <a:p>
            <a:r>
              <a:rPr lang="en-AU" dirty="0"/>
              <a:t>	</a:t>
            </a:r>
            <a:r>
              <a:rPr lang="en-AU" b="1" dirty="0"/>
              <a:t>Quote 2 = $150 call out fee and $35 per hour</a:t>
            </a:r>
          </a:p>
          <a:p>
            <a:r>
              <a:rPr lang="en-AU" dirty="0"/>
              <a:t>			Starts at $150             </a:t>
            </a:r>
            <a:r>
              <a:rPr lang="en-AU" dirty="0">
                <a:highlight>
                  <a:srgbClr val="FFFF00"/>
                </a:highlight>
              </a:rPr>
              <a:t>this is the y-intercept (C)</a:t>
            </a:r>
          </a:p>
          <a:p>
            <a:r>
              <a:rPr lang="en-AU" dirty="0"/>
              <a:t>			goes up each hour $35    </a:t>
            </a:r>
            <a:r>
              <a:rPr lang="en-AU" dirty="0">
                <a:highlight>
                  <a:srgbClr val="00FF00"/>
                </a:highlight>
              </a:rPr>
              <a:t>This is the gradient</a:t>
            </a:r>
          </a:p>
          <a:p>
            <a:r>
              <a:rPr lang="en-AU" dirty="0"/>
              <a:t>	y=Mx + C   becomes   y= ____x + _____</a:t>
            </a:r>
          </a:p>
          <a:p>
            <a:endParaRPr lang="en-AU" dirty="0"/>
          </a:p>
          <a:p>
            <a:r>
              <a:rPr lang="en-AU" dirty="0"/>
              <a:t>	</a:t>
            </a:r>
            <a:r>
              <a:rPr lang="en-AU" b="1" dirty="0"/>
              <a:t>Quote 3 = $50 call out fee and $50 per hour</a:t>
            </a:r>
          </a:p>
          <a:p>
            <a:r>
              <a:rPr lang="en-AU" dirty="0"/>
              <a:t>			Starts at $50             </a:t>
            </a:r>
            <a:r>
              <a:rPr lang="en-AU" dirty="0">
                <a:highlight>
                  <a:srgbClr val="FFFF00"/>
                </a:highlight>
              </a:rPr>
              <a:t>this is the y-intercept (C)</a:t>
            </a:r>
            <a:r>
              <a:rPr lang="en-AU" dirty="0"/>
              <a:t>			goes up each hour $50    </a:t>
            </a:r>
            <a:r>
              <a:rPr lang="en-AU" dirty="0">
                <a:highlight>
                  <a:srgbClr val="00FF00"/>
                </a:highlight>
              </a:rPr>
              <a:t>This is the gradient</a:t>
            </a:r>
          </a:p>
          <a:p>
            <a:r>
              <a:rPr lang="en-AU" dirty="0"/>
              <a:t>	y=Mx + C   becomes   y= ____x + _____</a:t>
            </a:r>
          </a:p>
          <a:p>
            <a:endParaRPr lang="en-AU" dirty="0"/>
          </a:p>
          <a:p>
            <a:r>
              <a:rPr lang="en-AU" dirty="0"/>
              <a:t>We need to decide which is the cheapest quote.</a:t>
            </a:r>
          </a:p>
        </p:txBody>
      </p:sp>
    </p:spTree>
    <p:extLst>
      <p:ext uri="{BB962C8B-B14F-4D97-AF65-F5344CB8AC3E}">
        <p14:creationId xmlns:p14="http://schemas.microsoft.com/office/powerpoint/2010/main" val="181703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02931" y="675719"/>
            <a:ext cx="67454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Quote 1  	  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            </a:t>
            </a:r>
            <a:r>
              <a:rPr lang="en-AU" dirty="0"/>
              <a:t>or </a:t>
            </a:r>
            <a:r>
              <a:rPr lang="en-AU" b="1" i="1" dirty="0">
                <a:latin typeface="Calisto MT" panose="02040603050505030304" pitchFamily="18" charset="0"/>
              </a:rPr>
              <a:t>     y=40x +100</a:t>
            </a:r>
            <a:endParaRPr lang="en-AU" i="1" dirty="0">
              <a:latin typeface="Calisto MT" panose="02040603050505030304" pitchFamily="18" charset="0"/>
            </a:endParaRPr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Quote 2       cost = $150 + $35 per hour        or  ________________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        cost = $50 + $35 per hour        or  ________________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720726"/>
              </p:ext>
            </p:extLst>
          </p:nvPr>
        </p:nvGraphicFramePr>
        <p:xfrm>
          <a:off x="1392533" y="1022723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 (</a:t>
                      </a:r>
                      <a:r>
                        <a:rPr lang="en-AU" b="1" i="1" dirty="0">
                          <a:latin typeface="Calisto MT" panose="02040603050505030304" pitchFamily="18" charset="0"/>
                        </a:rPr>
                        <a:t>x</a:t>
                      </a:r>
                      <a:r>
                        <a:rPr lang="en-AU" b="0" i="0" dirty="0">
                          <a:latin typeface="+mn-lt"/>
                        </a:rPr>
                        <a:t>)</a:t>
                      </a:r>
                      <a:endParaRPr lang="en-AU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  (</a:t>
                      </a:r>
                      <a:r>
                        <a:rPr lang="en-AU" b="1" i="1" dirty="0">
                          <a:latin typeface="Calisto MT" panose="02040603050505030304" pitchFamily="18" charset="0"/>
                        </a:rPr>
                        <a:t>y</a:t>
                      </a:r>
                      <a:r>
                        <a:rPr lang="en-AU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022940"/>
              </p:ext>
            </p:extLst>
          </p:nvPr>
        </p:nvGraphicFramePr>
        <p:xfrm>
          <a:off x="1392533" y="2433507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778632"/>
              </p:ext>
            </p:extLst>
          </p:nvPr>
        </p:nvGraphicFramePr>
        <p:xfrm>
          <a:off x="1513950" y="4059213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4AD1BB3-B1CF-4220-BB86-0988C9AFF81C}"/>
              </a:ext>
            </a:extLst>
          </p:cNvPr>
          <p:cNvSpPr txBox="1"/>
          <p:nvPr/>
        </p:nvSpPr>
        <p:spPr>
          <a:xfrm>
            <a:off x="398585" y="0"/>
            <a:ext cx="769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could look at all 3 as tables.</a:t>
            </a:r>
          </a:p>
        </p:txBody>
      </p:sp>
    </p:spTree>
    <p:extLst>
      <p:ext uri="{BB962C8B-B14F-4D97-AF65-F5344CB8AC3E}">
        <p14:creationId xmlns:p14="http://schemas.microsoft.com/office/powerpoint/2010/main" val="1412559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02931" y="675719"/>
            <a:ext cx="67454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Quote 1  	  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            </a:t>
            </a:r>
            <a:r>
              <a:rPr lang="en-AU" dirty="0"/>
              <a:t>or </a:t>
            </a:r>
            <a:r>
              <a:rPr lang="en-AU" b="1" i="1" dirty="0">
                <a:latin typeface="Calisto MT" panose="02040603050505030304" pitchFamily="18" charset="0"/>
              </a:rPr>
              <a:t>     y=40x +100</a:t>
            </a:r>
            <a:endParaRPr lang="en-AU" i="1" dirty="0">
              <a:latin typeface="Calisto MT" panose="02040603050505030304" pitchFamily="18" charset="0"/>
            </a:endParaRPr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Quote 2       cost = $150 + $35 per hour       or  ________________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        cost = $50 per hour  + $50       or  ________________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AD1BB3-B1CF-4220-BB86-0988C9AFF81C}"/>
              </a:ext>
            </a:extLst>
          </p:cNvPr>
          <p:cNvSpPr txBox="1"/>
          <p:nvPr/>
        </p:nvSpPr>
        <p:spPr>
          <a:xfrm>
            <a:off x="398585" y="0"/>
            <a:ext cx="769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We can also use these tables to get the rules.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DC920A-7765-4ACA-AE3A-C9BC1F3E7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88830"/>
              </p:ext>
            </p:extLst>
          </p:nvPr>
        </p:nvGraphicFramePr>
        <p:xfrm>
          <a:off x="1402931" y="102858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C17586-B5F9-4759-8BEF-448B66726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906387"/>
              </p:ext>
            </p:extLst>
          </p:nvPr>
        </p:nvGraphicFramePr>
        <p:xfrm>
          <a:off x="1402931" y="2439368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EA7DCC0-2418-40EB-BD5E-06EB9640B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812362"/>
              </p:ext>
            </p:extLst>
          </p:nvPr>
        </p:nvGraphicFramePr>
        <p:xfrm>
          <a:off x="1524348" y="406507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493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69826" y="171743"/>
                <a:ext cx="874717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How does all of this help?</a:t>
                </a:r>
              </a:p>
              <a:p>
                <a:r>
                  <a:rPr lang="en-AU" dirty="0"/>
                  <a:t>	You have now been told that there is 12 hours of work to be completed (it’s a major re-wire of several apartments).  So which is cheapest?</a:t>
                </a:r>
              </a:p>
              <a:p>
                <a:endParaRPr lang="en-AU" dirty="0"/>
              </a:p>
              <a:p>
                <a:r>
                  <a:rPr lang="en-AU" dirty="0"/>
                  <a:t>Quote 1  	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$40 </a:t>
                </a:r>
                <a:r>
                  <a:rPr lang="en-AU" dirty="0"/>
                  <a:t>x hours </a:t>
                </a:r>
                <a:r>
                  <a:rPr lang="en-AU" b="1" dirty="0">
                    <a:solidFill>
                      <a:srgbClr val="0070C0"/>
                    </a:solidFill>
                  </a:rPr>
                  <a:t>+$100          </a:t>
                </a:r>
                <a:r>
                  <a:rPr lang="en-AU" b="1" dirty="0">
                    <a:solidFill>
                      <a:schemeClr val="tx1"/>
                    </a:solidFill>
                  </a:rPr>
                  <a:t>or  x = 12     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𝟒𝟎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AU" dirty="0">
                  <a:solidFill>
                    <a:schemeClr val="tx1"/>
                  </a:solidFill>
                </a:endParaRPr>
              </a:p>
              <a:p>
                <a:r>
                  <a:rPr lang="en-AU" dirty="0"/>
                  <a:t>If hours = 12 then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$40 </a:t>
                </a:r>
                <a:r>
                  <a:rPr lang="en-AU" dirty="0"/>
                  <a:t>x 12 </a:t>
                </a:r>
                <a:r>
                  <a:rPr lang="en-AU" b="1" dirty="0">
                    <a:solidFill>
                      <a:srgbClr val="0070C0"/>
                    </a:solidFill>
                  </a:rPr>
                  <a:t>+$100</a:t>
                </a:r>
              </a:p>
              <a:p>
                <a:r>
                  <a:rPr lang="en-AU" b="1" dirty="0">
                    <a:solidFill>
                      <a:srgbClr val="0070C0"/>
                    </a:solidFill>
                  </a:rPr>
                  <a:t>			</a:t>
                </a:r>
                <a:r>
                  <a:rPr lang="en-AU" dirty="0"/>
                  <a:t>cost = </a:t>
                </a:r>
                <a:r>
                  <a:rPr lang="en-AU" b="1" dirty="0"/>
                  <a:t>$580</a:t>
                </a:r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Quote 2  	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$35 </a:t>
                </a:r>
                <a:r>
                  <a:rPr lang="en-AU" dirty="0"/>
                  <a:t>x hours + </a:t>
                </a:r>
                <a:r>
                  <a:rPr lang="en-AU" b="1" dirty="0">
                    <a:solidFill>
                      <a:srgbClr val="0070C0"/>
                    </a:solidFill>
                  </a:rPr>
                  <a:t>$150	</a:t>
                </a:r>
                <a:r>
                  <a:rPr lang="en-AU" b="1" dirty="0">
                    <a:solidFill>
                      <a:schemeClr val="tx1"/>
                    </a:solidFill>
                  </a:rPr>
                  <a:t> or  x = 12      </a:t>
                </a:r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𝟑𝟓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𝟏𝟓𝟎</m:t>
                    </m:r>
                  </m:oMath>
                </a14:m>
                <a:endParaRPr lang="en-AU" b="1" dirty="0">
                  <a:solidFill>
                    <a:srgbClr val="0070C0"/>
                  </a:solidFill>
                </a:endParaRPr>
              </a:p>
              <a:p>
                <a:r>
                  <a:rPr lang="en-AU" dirty="0"/>
                  <a:t>If hours = 12 then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$35 </a:t>
                </a:r>
                <a:r>
                  <a:rPr lang="en-AU" dirty="0"/>
                  <a:t>x 12 </a:t>
                </a:r>
                <a:r>
                  <a:rPr lang="en-AU" b="1" dirty="0">
                    <a:solidFill>
                      <a:srgbClr val="0070C0"/>
                    </a:solidFill>
                  </a:rPr>
                  <a:t>+$150</a:t>
                </a:r>
              </a:p>
              <a:p>
                <a:r>
                  <a:rPr lang="en-AU" b="1" dirty="0">
                    <a:solidFill>
                      <a:srgbClr val="0070C0"/>
                    </a:solidFill>
                  </a:rPr>
                  <a:t>			</a:t>
                </a:r>
                <a:r>
                  <a:rPr lang="en-AU" dirty="0"/>
                  <a:t>cost = </a:t>
                </a:r>
                <a:r>
                  <a:rPr lang="en-AU" b="1" dirty="0"/>
                  <a:t>$570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Quote 3	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$50 </a:t>
                </a:r>
                <a:r>
                  <a:rPr lang="en-AU" dirty="0"/>
                  <a:t>x hours + </a:t>
                </a:r>
                <a:r>
                  <a:rPr lang="en-AU" b="1" dirty="0">
                    <a:solidFill>
                      <a:srgbClr val="0070C0"/>
                    </a:solidFill>
                  </a:rPr>
                  <a:t>$50	</a:t>
                </a:r>
                <a:r>
                  <a:rPr lang="en-AU" b="1" dirty="0"/>
                  <a:t> or  x = 12      </a:t>
                </a:r>
                <a14:m>
                  <m:oMath xmlns:m="http://schemas.openxmlformats.org/officeDocument/2006/math">
                    <m:r>
                      <a:rPr lang="en-AU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endParaRPr lang="en-AU" b="1" dirty="0">
                  <a:solidFill>
                    <a:srgbClr val="0070C0"/>
                  </a:solidFill>
                </a:endParaRPr>
              </a:p>
              <a:p>
                <a:r>
                  <a:rPr lang="en-AU" dirty="0"/>
                  <a:t>If hours = 12 then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$50 </a:t>
                </a:r>
                <a:r>
                  <a:rPr lang="en-AU" dirty="0"/>
                  <a:t>x 12 </a:t>
                </a:r>
                <a:r>
                  <a:rPr lang="en-AU" b="1" dirty="0">
                    <a:solidFill>
                      <a:srgbClr val="0070C0"/>
                    </a:solidFill>
                  </a:rPr>
                  <a:t>+$50</a:t>
                </a:r>
              </a:p>
              <a:p>
                <a:r>
                  <a:rPr lang="en-AU" b="1" dirty="0">
                    <a:solidFill>
                      <a:srgbClr val="0070C0"/>
                    </a:solidFill>
                  </a:rPr>
                  <a:t>			</a:t>
                </a:r>
                <a:r>
                  <a:rPr lang="en-AU" dirty="0"/>
                  <a:t>cost = </a:t>
                </a:r>
                <a:r>
                  <a:rPr lang="en-AU" b="1" dirty="0"/>
                  <a:t>$650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26" y="171743"/>
                <a:ext cx="8747174" cy="5632311"/>
              </a:xfrm>
              <a:prstGeom prst="rect">
                <a:avLst/>
              </a:prstGeom>
              <a:blipFill>
                <a:blip r:embed="rId2"/>
                <a:stretch>
                  <a:fillRect l="-557" t="-5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F58EDC6-F330-4A90-A37F-F9F926FF6AA4}"/>
              </a:ext>
            </a:extLst>
          </p:cNvPr>
          <p:cNvSpPr/>
          <p:nvPr/>
        </p:nvSpPr>
        <p:spPr>
          <a:xfrm>
            <a:off x="2844800" y="2953426"/>
            <a:ext cx="254000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1F4136-EB58-41C4-8805-D17ECD78D2E4}"/>
              </a:ext>
            </a:extLst>
          </p:cNvPr>
          <p:cNvSpPr/>
          <p:nvPr/>
        </p:nvSpPr>
        <p:spPr>
          <a:xfrm>
            <a:off x="2717800" y="1577560"/>
            <a:ext cx="254000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B41CD-D7EB-405F-BB95-2C09EBBD4892}"/>
              </a:ext>
            </a:extLst>
          </p:cNvPr>
          <p:cNvSpPr/>
          <p:nvPr/>
        </p:nvSpPr>
        <p:spPr>
          <a:xfrm>
            <a:off x="2844800" y="4378740"/>
            <a:ext cx="254000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27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F3209C-0A64-43C2-8AF6-8C637C871FCD}"/>
              </a:ext>
            </a:extLst>
          </p:cNvPr>
          <p:cNvSpPr txBox="1"/>
          <p:nvPr/>
        </p:nvSpPr>
        <p:spPr>
          <a:xfrm>
            <a:off x="812800" y="241300"/>
            <a:ext cx="725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Finally, What happens when we graph these equations?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11E135-7592-4C08-9E38-08EDB7A24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1" y="1651931"/>
            <a:ext cx="3851800" cy="2411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0F0D23-C6B0-48BC-8193-CE33A767F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05" y="595136"/>
            <a:ext cx="4970396" cy="487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96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F3209C-0A64-43C2-8AF6-8C637C871FCD}"/>
              </a:ext>
            </a:extLst>
          </p:cNvPr>
          <p:cNvSpPr txBox="1"/>
          <p:nvPr/>
        </p:nvSpPr>
        <p:spPr>
          <a:xfrm>
            <a:off x="812800" y="241300"/>
            <a:ext cx="725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Finally, What happens when we graph these equations?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5C08EE-430F-4337-AEB8-B1647209A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401" y="1764326"/>
            <a:ext cx="3851800" cy="2411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A39531-96F9-457E-9D2F-8DDB6B3EF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92" y="610632"/>
            <a:ext cx="4987309" cy="478115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21B3BD-9C71-4FA7-B7C3-1963BD98EEBB}"/>
              </a:ext>
            </a:extLst>
          </p:cNvPr>
          <p:cNvCxnSpPr>
            <a:cxnSpLocks/>
          </p:cNvCxnSpPr>
          <p:nvPr/>
        </p:nvCxnSpPr>
        <p:spPr>
          <a:xfrm flipH="1" flipV="1">
            <a:off x="1955803" y="3671332"/>
            <a:ext cx="3888048" cy="10022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71A22B-EA26-4067-9D6E-9259C9A8DFE0}"/>
              </a:ext>
            </a:extLst>
          </p:cNvPr>
          <p:cNvSpPr txBox="1"/>
          <p:nvPr/>
        </p:nvSpPr>
        <p:spPr>
          <a:xfrm>
            <a:off x="5843851" y="4580812"/>
            <a:ext cx="2628900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Which is the cheapest option at these three sections of the graph?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9AE188-CD63-4D3F-BF06-5643DE32ACAF}"/>
              </a:ext>
            </a:extLst>
          </p:cNvPr>
          <p:cNvCxnSpPr>
            <a:cxnSpLocks/>
          </p:cNvCxnSpPr>
          <p:nvPr/>
        </p:nvCxnSpPr>
        <p:spPr>
          <a:xfrm flipH="1" flipV="1">
            <a:off x="3022601" y="2910374"/>
            <a:ext cx="2821250" cy="17726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2A310F-D3CB-4902-BF73-951B6DBDFAB4}"/>
              </a:ext>
            </a:extLst>
          </p:cNvPr>
          <p:cNvCxnSpPr>
            <a:cxnSpLocks/>
          </p:cNvCxnSpPr>
          <p:nvPr/>
        </p:nvCxnSpPr>
        <p:spPr>
          <a:xfrm flipH="1" flipV="1">
            <a:off x="4433225" y="1917700"/>
            <a:ext cx="1410626" cy="27653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04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71D6B3-C8F1-4292-BB4E-CDA815AF5107}"/>
              </a:ext>
            </a:extLst>
          </p:cNvPr>
          <p:cNvCxnSpPr/>
          <p:nvPr/>
        </p:nvCxnSpPr>
        <p:spPr>
          <a:xfrm>
            <a:off x="0" y="36830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928E2E-BA73-48A3-82A2-01970CB62556}"/>
              </a:ext>
            </a:extLst>
          </p:cNvPr>
          <p:cNvCxnSpPr/>
          <p:nvPr/>
        </p:nvCxnSpPr>
        <p:spPr>
          <a:xfrm>
            <a:off x="0" y="90170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F76B14-9605-434F-8A95-E2C0E669A336}"/>
              </a:ext>
            </a:extLst>
          </p:cNvPr>
          <p:cNvCxnSpPr>
            <a:cxnSpLocks/>
          </p:cNvCxnSpPr>
          <p:nvPr/>
        </p:nvCxnSpPr>
        <p:spPr>
          <a:xfrm>
            <a:off x="1460500" y="901700"/>
            <a:ext cx="0" cy="4813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BB17567-01AB-481C-B1E3-38F11790579C}"/>
              </a:ext>
            </a:extLst>
          </p:cNvPr>
          <p:cNvSpPr txBox="1"/>
          <p:nvPr/>
        </p:nvSpPr>
        <p:spPr>
          <a:xfrm>
            <a:off x="99868" y="2132"/>
            <a:ext cx="4803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Topic : Linear relationships in context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CE50F8-BDDD-453C-9B0E-A688B97D7172}"/>
              </a:ext>
            </a:extLst>
          </p:cNvPr>
          <p:cNvSpPr txBox="1"/>
          <p:nvPr/>
        </p:nvSpPr>
        <p:spPr>
          <a:xfrm>
            <a:off x="1649267" y="945566"/>
            <a:ext cx="6796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Linear equations can be used to describe many real situations</a:t>
            </a:r>
            <a:r>
              <a:rPr lang="en-AU" dirty="0"/>
              <a:t>.</a:t>
            </a:r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899A87-AA2C-4CDA-90DB-BABEC5163D16}"/>
              </a:ext>
            </a:extLst>
          </p:cNvPr>
          <p:cNvSpPr txBox="1"/>
          <p:nvPr/>
        </p:nvSpPr>
        <p:spPr>
          <a:xfrm>
            <a:off x="330349" y="1311888"/>
            <a:ext cx="1271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3B136D-6027-48BE-A656-34D713733C27}"/>
              </a:ext>
            </a:extLst>
          </p:cNvPr>
          <p:cNvSpPr txBox="1"/>
          <p:nvPr/>
        </p:nvSpPr>
        <p:spPr>
          <a:xfrm>
            <a:off x="1649267" y="1307312"/>
            <a:ext cx="7284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manufacture a new product it costs $1000 to create the equipment and then $20 per item thereafter.</a:t>
            </a:r>
          </a:p>
          <a:p>
            <a:r>
              <a:rPr lang="en-AU" dirty="0"/>
              <a:t>	Starts at $1000     </a:t>
            </a:r>
            <a:r>
              <a:rPr lang="en-AU" dirty="0">
                <a:highlight>
                  <a:srgbClr val="FFFF00"/>
                </a:highlight>
              </a:rPr>
              <a:t>this is the y-intercept (C)		</a:t>
            </a:r>
          </a:p>
          <a:p>
            <a:r>
              <a:rPr lang="en-AU" dirty="0"/>
              <a:t>	goes up each time $20    </a:t>
            </a:r>
            <a:r>
              <a:rPr lang="en-AU" dirty="0">
                <a:highlight>
                  <a:srgbClr val="00FF00"/>
                </a:highlight>
              </a:rPr>
              <a:t>This is the gradient 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F90B339-F6CA-4BEF-90D8-BBEBFE6DD874}"/>
                  </a:ext>
                </a:extLst>
              </p:cNvPr>
              <p:cNvSpPr/>
              <p:nvPr/>
            </p:nvSpPr>
            <p:spPr>
              <a:xfrm>
                <a:off x="2590652" y="2603932"/>
                <a:ext cx="57233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So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becomes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+1000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F90B339-F6CA-4BEF-90D8-BBEBFE6DD8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652" y="2603932"/>
                <a:ext cx="5723362" cy="369332"/>
              </a:xfrm>
              <a:prstGeom prst="rect">
                <a:avLst/>
              </a:prstGeom>
              <a:blipFill>
                <a:blip r:embed="rId2"/>
                <a:stretch>
                  <a:fillRect l="-958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8BA0764A-00C0-4A44-B520-D28678F37965}"/>
              </a:ext>
            </a:extLst>
          </p:cNvPr>
          <p:cNvSpPr/>
          <p:nvPr/>
        </p:nvSpPr>
        <p:spPr>
          <a:xfrm>
            <a:off x="1460500" y="4218406"/>
            <a:ext cx="76363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 </a:t>
            </a:r>
            <a:endParaRPr lang="en-AU" dirty="0">
              <a:highlight>
                <a:srgbClr val="00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AE44EF-04DF-451E-BBBC-E88329C19531}"/>
              </a:ext>
            </a:extLst>
          </p:cNvPr>
          <p:cNvSpPr txBox="1"/>
          <p:nvPr/>
        </p:nvSpPr>
        <p:spPr>
          <a:xfrm>
            <a:off x="1809764" y="3069555"/>
            <a:ext cx="681987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What is the total cost to make 100 items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5864929-24A9-4E6C-83F8-7E60C4B2EF96}"/>
                  </a:ext>
                </a:extLst>
              </p:cNvPr>
              <p:cNvSpPr/>
              <p:nvPr/>
            </p:nvSpPr>
            <p:spPr>
              <a:xfrm>
                <a:off x="2455466" y="3410961"/>
                <a:ext cx="5228034" cy="92333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AU" dirty="0"/>
                  <a:t>x=100 	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+1000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		y = 20x100 + 1000</a:t>
                </a:r>
              </a:p>
              <a:p>
                <a:r>
                  <a:rPr lang="en-AU" dirty="0"/>
                  <a:t>		y = 3000               so it costs $3000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5864929-24A9-4E6C-83F8-7E60C4B2EF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466" y="3410961"/>
                <a:ext cx="5228034" cy="923330"/>
              </a:xfrm>
              <a:prstGeom prst="rect">
                <a:avLst/>
              </a:prstGeom>
              <a:blipFill>
                <a:blip r:embed="rId3"/>
                <a:stretch>
                  <a:fillRect l="-1050" t="-3974" b="-99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C4D62AB4-18BE-444B-9D87-DAE1AC5B2373}"/>
              </a:ext>
            </a:extLst>
          </p:cNvPr>
          <p:cNvSpPr/>
          <p:nvPr/>
        </p:nvSpPr>
        <p:spPr>
          <a:xfrm>
            <a:off x="1856506" y="4287984"/>
            <a:ext cx="4289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/>
              <a:t>How many items can  you make for $10000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8C5D5C8-1C69-4F2A-B049-9A1759634D7B}"/>
                  </a:ext>
                </a:extLst>
              </p:cNvPr>
              <p:cNvSpPr/>
              <p:nvPr/>
            </p:nvSpPr>
            <p:spPr>
              <a:xfrm>
                <a:off x="2428430" y="4562112"/>
                <a:ext cx="6668371" cy="120032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AU" dirty="0"/>
                  <a:t>y=10000 		10000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20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+1000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10000-1000 = 20</a:t>
                </a:r>
                <a:r>
                  <a:rPr lang="en-AU" i="1" dirty="0"/>
                  <a:t>x</a:t>
                </a:r>
                <a:r>
                  <a:rPr lang="en-AU" dirty="0"/>
                  <a:t>     </a:t>
                </a:r>
              </a:p>
              <a:p>
                <a:r>
                  <a:rPr lang="en-AU" dirty="0"/>
                  <a:t>		9000 ÷20  = x      </a:t>
                </a:r>
              </a:p>
              <a:p>
                <a:r>
                  <a:rPr lang="en-AU" dirty="0"/>
                  <a:t>		450 = x                     so we can make 450 items 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8C5D5C8-1C69-4F2A-B049-9A1759634D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430" y="4562112"/>
                <a:ext cx="6668371" cy="1200329"/>
              </a:xfrm>
              <a:prstGeom prst="rect">
                <a:avLst/>
              </a:prstGeom>
              <a:blipFill>
                <a:blip r:embed="rId4"/>
                <a:stretch>
                  <a:fillRect l="-731" t="-2538" b="-7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BC003C1E-C0B7-4761-B52D-F3C0B2528848}"/>
              </a:ext>
            </a:extLst>
          </p:cNvPr>
          <p:cNvSpPr txBox="1"/>
          <p:nvPr/>
        </p:nvSpPr>
        <p:spPr>
          <a:xfrm>
            <a:off x="99868" y="370457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use linear relationships in real life?</a:t>
            </a:r>
          </a:p>
        </p:txBody>
      </p:sp>
    </p:spTree>
    <p:extLst>
      <p:ext uri="{BB962C8B-B14F-4D97-AF65-F5344CB8AC3E}">
        <p14:creationId xmlns:p14="http://schemas.microsoft.com/office/powerpoint/2010/main" val="3225287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D4F70D-69CE-433E-B816-475DD19C0387}"/>
              </a:ext>
            </a:extLst>
          </p:cNvPr>
          <p:cNvSpPr txBox="1"/>
          <p:nvPr/>
        </p:nvSpPr>
        <p:spPr>
          <a:xfrm>
            <a:off x="95250" y="104907"/>
            <a:ext cx="1917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Have a go!</a:t>
            </a:r>
          </a:p>
          <a:p>
            <a:endParaRPr lang="en-US" sz="2000" b="1" dirty="0"/>
          </a:p>
          <a:p>
            <a:r>
              <a:rPr lang="en-US" sz="2000" dirty="0"/>
              <a:t>1.</a:t>
            </a:r>
            <a:endParaRPr lang="en-AU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84D05-3F74-46AA-AD01-1BDF0C7AE520}"/>
              </a:ext>
            </a:extLst>
          </p:cNvPr>
          <p:cNvSpPr/>
          <p:nvPr/>
        </p:nvSpPr>
        <p:spPr>
          <a:xfrm>
            <a:off x="373526" y="728322"/>
            <a:ext cx="869315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Cohen’s motorbike is 200m ahead of Darcy’s and is increasing its lead by 10m every minute.</a:t>
            </a:r>
          </a:p>
          <a:p>
            <a:r>
              <a:rPr lang="en-AU" dirty="0"/>
              <a:t>	Starts at 200     </a:t>
            </a:r>
            <a:r>
              <a:rPr lang="en-AU" dirty="0">
                <a:highlight>
                  <a:srgbClr val="FFFF00"/>
                </a:highlight>
              </a:rPr>
              <a:t>this is the y-intercept (C) </a:t>
            </a:r>
            <a:r>
              <a:rPr lang="en-AU" dirty="0"/>
              <a:t>	</a:t>
            </a:r>
          </a:p>
          <a:p>
            <a:r>
              <a:rPr lang="en-AU" dirty="0"/>
              <a:t>	Goes up each minute by  10    </a:t>
            </a:r>
            <a:r>
              <a:rPr lang="en-AU" dirty="0">
                <a:highlight>
                  <a:srgbClr val="00FF00"/>
                </a:highlight>
              </a:rPr>
              <a:t>This is the gradient</a:t>
            </a:r>
          </a:p>
          <a:p>
            <a:endParaRPr lang="en-AU" dirty="0">
              <a:highlight>
                <a:srgbClr val="00FF00"/>
              </a:highlight>
            </a:endParaRPr>
          </a:p>
          <a:p>
            <a:r>
              <a:rPr lang="en-AU" dirty="0"/>
              <a:t>What is the equation?	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far in front will Cohen be in 15 minutes?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far in front was Cohen 5 minutes ago?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A97B42-E7CA-4505-8861-DE2A924CD421}"/>
                  </a:ext>
                </a:extLst>
              </p:cNvPr>
              <p:cNvSpPr txBox="1"/>
              <p:nvPr/>
            </p:nvSpPr>
            <p:spPr>
              <a:xfrm>
                <a:off x="2012950" y="1880443"/>
                <a:ext cx="65168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+200   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which</m:t>
                      </m:r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means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𝑚𝑖𝑛𝑢𝑡𝑒𝑠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A97B42-E7CA-4505-8861-DE2A924CD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950" y="1880443"/>
                <a:ext cx="6516848" cy="276999"/>
              </a:xfrm>
              <a:prstGeom prst="rect">
                <a:avLst/>
              </a:prstGeom>
              <a:blipFill>
                <a:blip r:embed="rId2"/>
                <a:stretch>
                  <a:fillRect l="-94" r="-94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D5715C-9C5F-418F-B5D6-9C038BB07FE3}"/>
                  </a:ext>
                </a:extLst>
              </p:cNvPr>
              <p:cNvSpPr txBox="1"/>
              <p:nvPr/>
            </p:nvSpPr>
            <p:spPr>
              <a:xfrm>
                <a:off x="4290144" y="2839451"/>
                <a:ext cx="1962460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+200 </m:t>
                      </m:r>
                    </m:oMath>
                  </m:oMathPara>
                </a14:m>
                <a:endParaRPr lang="en-AU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=10×15+200</m:t>
                      </m:r>
                    </m:oMath>
                  </m:oMathPara>
                </a14:m>
                <a:endParaRPr lang="en-AU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b="0" i="0" dirty="0">
                    <a:latin typeface="Cambria Math" panose="02040503050406030204" pitchFamily="18" charset="0"/>
                  </a:rPr>
                  <a:t> y = 350m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D5715C-9C5F-418F-B5D6-9C038BB07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144" y="2839451"/>
                <a:ext cx="1962460" cy="830997"/>
              </a:xfrm>
              <a:prstGeom prst="rect">
                <a:avLst/>
              </a:prstGeom>
              <a:blipFill>
                <a:blip r:embed="rId3"/>
                <a:stretch>
                  <a:fillRect l="-4969" r="-1553" b="-154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2EF998-24F1-47C2-BB2B-76F2883FD22E}"/>
                  </a:ext>
                </a:extLst>
              </p:cNvPr>
              <p:cNvSpPr txBox="1"/>
              <p:nvPr/>
            </p:nvSpPr>
            <p:spPr>
              <a:xfrm>
                <a:off x="4306328" y="4741058"/>
                <a:ext cx="2022541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+200 </m:t>
                      </m:r>
                    </m:oMath>
                  </m:oMathPara>
                </a14:m>
                <a:endParaRPr lang="en-AU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=10×−5+200</m:t>
                      </m:r>
                    </m:oMath>
                  </m:oMathPara>
                </a14:m>
                <a:endParaRPr lang="en-AU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b="0" i="0" dirty="0">
                    <a:latin typeface="Cambria Math" panose="02040503050406030204" pitchFamily="18" charset="0"/>
                  </a:rPr>
                  <a:t> y = 150m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2EF998-24F1-47C2-BB2B-76F2883FD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6328" y="4741058"/>
                <a:ext cx="2022541" cy="830997"/>
              </a:xfrm>
              <a:prstGeom prst="rect">
                <a:avLst/>
              </a:prstGeom>
              <a:blipFill>
                <a:blip r:embed="rId4"/>
                <a:stretch>
                  <a:fillRect l="-4518" r="-1205" b="-154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158A4D-EE02-469A-9B92-CB7CD4E5B579}"/>
                  </a:ext>
                </a:extLst>
              </p:cNvPr>
              <p:cNvSpPr txBox="1"/>
              <p:nvPr/>
            </p:nvSpPr>
            <p:spPr>
              <a:xfrm>
                <a:off x="552449" y="4741058"/>
                <a:ext cx="32508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5 Minutes ago means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=−5 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158A4D-EE02-469A-9B92-CB7CD4E5B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49" y="4741058"/>
                <a:ext cx="3250807" cy="369332"/>
              </a:xfrm>
              <a:prstGeom prst="rect">
                <a:avLst/>
              </a:prstGeom>
              <a:blipFill>
                <a:blip r:embed="rId5"/>
                <a:stretch>
                  <a:fillRect l="-1689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38C3436-2DA8-402A-A69A-F7BE7E2E3C53}"/>
              </a:ext>
            </a:extLst>
          </p:cNvPr>
          <p:cNvSpPr txBox="1"/>
          <p:nvPr/>
        </p:nvSpPr>
        <p:spPr>
          <a:xfrm>
            <a:off x="654050" y="2851981"/>
            <a:ext cx="292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 Minutes ago means x =15 </a:t>
            </a:r>
          </a:p>
        </p:txBody>
      </p:sp>
    </p:spTree>
    <p:extLst>
      <p:ext uri="{BB962C8B-B14F-4D97-AF65-F5344CB8AC3E}">
        <p14:creationId xmlns:p14="http://schemas.microsoft.com/office/powerpoint/2010/main" val="226205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F47FA32-839F-4A0B-A86F-906903DE85E3}"/>
                  </a:ext>
                </a:extLst>
              </p:cNvPr>
              <p:cNvSpPr/>
              <p:nvPr/>
            </p:nvSpPr>
            <p:spPr>
              <a:xfrm>
                <a:off x="1097932" y="420505"/>
                <a:ext cx="8445500" cy="56323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/>
                  <a:t>A cyclone is 120 km away and is moving toward us at 30km per hour</a:t>
                </a:r>
                <a:endParaRPr lang="en-AU" dirty="0">
                  <a:highlight>
                    <a:srgbClr val="FFFF00"/>
                  </a:highlight>
                </a:endParaRPr>
              </a:p>
              <a:p>
                <a:r>
                  <a:rPr lang="en-AU" dirty="0"/>
                  <a:t>	Starts at 120     </a:t>
                </a:r>
                <a:r>
                  <a:rPr lang="en-AU" dirty="0">
                    <a:highlight>
                      <a:srgbClr val="FFFF00"/>
                    </a:highlight>
                  </a:rPr>
                  <a:t>this is the y-intercept (C) </a:t>
                </a:r>
                <a:r>
                  <a:rPr lang="en-AU" dirty="0"/>
                  <a:t>	</a:t>
                </a:r>
              </a:p>
              <a:p>
                <a:r>
                  <a:rPr lang="en-AU" dirty="0"/>
                  <a:t>	Goes up each time by  -30    </a:t>
                </a:r>
                <a:r>
                  <a:rPr lang="en-AU" dirty="0">
                    <a:highlight>
                      <a:srgbClr val="00FF00"/>
                    </a:highlight>
                  </a:rPr>
                  <a:t>This is the gradient</a:t>
                </a:r>
              </a:p>
              <a:p>
                <a:endParaRPr lang="en-AU" dirty="0">
                  <a:highlight>
                    <a:srgbClr val="00FF00"/>
                  </a:highlight>
                </a:endParaRPr>
              </a:p>
              <a:p>
                <a:r>
                  <a:rPr lang="en-AU" dirty="0"/>
                  <a:t>What is the equation ? 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How close will the cyclone be in 2.5 hours?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When will the cyclone reach our location?  </a:t>
                </a:r>
                <a:r>
                  <a:rPr lang="en-AU" i="1" dirty="0"/>
                  <a:t>Extension question</a:t>
                </a:r>
              </a:p>
              <a:p>
                <a:r>
                  <a:rPr lang="en-AU" dirty="0"/>
                  <a:t>y = 0		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0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−120 </m:t>
                    </m:r>
                  </m:oMath>
                </a14:m>
                <a:r>
                  <a:rPr lang="en-AU" dirty="0"/>
                  <a:t>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		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−120 ÷ −30 =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	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4 =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		the cyclone will arrive in 4 hours</a:t>
                </a:r>
              </a:p>
              <a:p>
                <a:r>
                  <a:rPr lang="en-AU" dirty="0"/>
                  <a:t>		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F47FA32-839F-4A0B-A86F-906903DE85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932" y="420505"/>
                <a:ext cx="8445500" cy="5632311"/>
              </a:xfrm>
              <a:prstGeom prst="rect">
                <a:avLst/>
              </a:prstGeom>
              <a:blipFill>
                <a:blip r:embed="rId2"/>
                <a:stretch>
                  <a:fillRect l="-577" t="-6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4E920FF-1ABA-4FC1-84C4-A1E91B3ADDA6}"/>
                  </a:ext>
                </a:extLst>
              </p:cNvPr>
              <p:cNvSpPr/>
              <p:nvPr/>
            </p:nvSpPr>
            <p:spPr>
              <a:xfrm>
                <a:off x="3059308" y="2007953"/>
                <a:ext cx="27636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So 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4E920FF-1ABA-4FC1-84C4-A1E91B3AD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308" y="2007953"/>
                <a:ext cx="2763642" cy="369332"/>
              </a:xfrm>
              <a:prstGeom prst="rect">
                <a:avLst/>
              </a:prstGeom>
              <a:blipFill>
                <a:blip r:embed="rId3"/>
                <a:stretch>
                  <a:fillRect l="-198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DDA419-892E-4901-8B0C-234256A47DDF}"/>
                  </a:ext>
                </a:extLst>
              </p:cNvPr>
              <p:cNvSpPr/>
              <p:nvPr/>
            </p:nvSpPr>
            <p:spPr>
              <a:xfrm>
                <a:off x="2261956" y="2746617"/>
                <a:ext cx="4181722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x</a:t>
                </a:r>
                <a:r>
                  <a:rPr lang="en-AU" b="0" dirty="0"/>
                  <a:t> = 2.5	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		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=−30×2.5+120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=−75+120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  45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DDA419-892E-4901-8B0C-234256A47D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956" y="2746617"/>
                <a:ext cx="4181722" cy="1200329"/>
              </a:xfrm>
              <a:prstGeom prst="rect">
                <a:avLst/>
              </a:prstGeom>
              <a:blipFill>
                <a:blip r:embed="rId4"/>
                <a:stretch>
                  <a:fillRect l="-1166" t="-3061" b="-15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4E5FC53-F903-454A-8EF1-3FFF4EA80A1B}"/>
              </a:ext>
            </a:extLst>
          </p:cNvPr>
          <p:cNvSpPr txBox="1"/>
          <p:nvPr/>
        </p:nvSpPr>
        <p:spPr>
          <a:xfrm>
            <a:off x="139082" y="66562"/>
            <a:ext cx="1917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Have a go!</a:t>
            </a:r>
          </a:p>
          <a:p>
            <a:r>
              <a:rPr lang="en-AU" sz="2000" b="1" dirty="0"/>
              <a:t>            </a:t>
            </a:r>
            <a:r>
              <a:rPr lang="en-AU" sz="2000" dirty="0"/>
              <a:t>2</a:t>
            </a:r>
            <a:r>
              <a:rPr lang="en-AU" dirty="0"/>
              <a:t>.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77447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6EB985-5CEC-4BB5-952A-F110246BB438}"/>
              </a:ext>
            </a:extLst>
          </p:cNvPr>
          <p:cNvSpPr txBox="1"/>
          <p:nvPr/>
        </p:nvSpPr>
        <p:spPr>
          <a:xfrm>
            <a:off x="304800" y="136525"/>
            <a:ext cx="6642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Dr Dwyer </a:t>
            </a:r>
          </a:p>
          <a:p>
            <a:r>
              <a:rPr lang="en-AU" b="1" dirty="0"/>
              <a:t>Exercise 16.4</a:t>
            </a:r>
          </a:p>
          <a:p>
            <a:r>
              <a:rPr lang="en-AU" b="1" dirty="0"/>
              <a:t>Page 216 and 217</a:t>
            </a:r>
          </a:p>
          <a:p>
            <a:endParaRPr lang="en-AU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D14B72-1744-4A8F-AC90-8E42BEFCB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100" y="814128"/>
            <a:ext cx="5765799" cy="458485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E54811-68E6-4E38-9FAA-7FDE0E8BA755}"/>
              </a:ext>
            </a:extLst>
          </p:cNvPr>
          <p:cNvSpPr/>
          <p:nvPr/>
        </p:nvSpPr>
        <p:spPr>
          <a:xfrm>
            <a:off x="3860800" y="15216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dirty="0"/>
              <a:t>The phrase “</a:t>
            </a:r>
            <a:r>
              <a:rPr lang="en-AU" dirty="0"/>
              <a:t>write a mathematical model.</a:t>
            </a:r>
            <a:r>
              <a:rPr lang="en-AU" b="1" dirty="0"/>
              <a:t>” means write an equation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F2CB3-CECE-4DBB-AF18-0610BBFE2A8D}"/>
              </a:ext>
            </a:extLst>
          </p:cNvPr>
          <p:cNvSpPr txBox="1"/>
          <p:nvPr/>
        </p:nvSpPr>
        <p:spPr>
          <a:xfrm>
            <a:off x="88489" y="2128668"/>
            <a:ext cx="2108611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After this is done – move onto page 167 and 168 in Dwyer to further extend on the context-based questions.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3541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r11 Volume" id="{31B8F3D4-F877-43C4-9C4A-9FCD3D51D15A}" vid="{034B1D92-D033-4B76-9991-AC52F76833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webextension1.xml><?xml version="1.0" encoding="utf-8"?>
<we:webextension xmlns:we="http://schemas.microsoft.com/office/webextensions/webextension/2010/11" id="{9AB9A7F7-781C-4101-9F94-6A03702C1259}">
  <we:reference id="wa104382064" version="1.0.0.2" store="en-US" storeType="OMEX"/>
  <we:alternateReferences>
    <we:reference id="wa104382064" version="1.0.0.2" store="wa104382064" storeType="OMEX"/>
  </we:alternateReferences>
  <we:properties>
    <we:property name="HH" value="0"/>
    <we:property name="HH-reminder" value="&quot;--&quot;"/>
    <we:property name="MM" value="8"/>
    <we:property name="MM-reminder" value="&quot;--&quot;"/>
    <we:property name="SS" value="0"/>
    <we:property name="SS-reminder" value="&quot;--&quot;"/>
    <we:property name="canvash" value="148"/>
    <we:property name="canvasw" value="148"/>
    <we:property name="clocktype" value="&quot;digital&quot;"/>
    <we:property name="interval" value="5"/>
    <we:property name="radius" value="66.60000000000001"/>
    <we:property name="tickType" value="&quot;tick&quot;"/>
    <we:property name="timeupType" value="&quot;alarm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Yr11 Volume</Template>
  <TotalTime>6583</TotalTime>
  <Words>1220</Words>
  <Application>Microsoft Office PowerPoint</Application>
  <PresentationFormat>On-screen Show (16:10)</PresentationFormat>
  <Paragraphs>232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Calisto MT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Jade Gregory</cp:lastModifiedBy>
  <cp:revision>34</cp:revision>
  <dcterms:created xsi:type="dcterms:W3CDTF">2017-03-28T15:14:10Z</dcterms:created>
  <dcterms:modified xsi:type="dcterms:W3CDTF">2021-08-08T08:38:51Z</dcterms:modified>
</cp:coreProperties>
</file>
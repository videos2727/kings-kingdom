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260" r:id="rId4"/>
    <p:sldId id="264" r:id="rId5"/>
    <p:sldId id="266" r:id="rId6"/>
    <p:sldId id="263" r:id="rId7"/>
    <p:sldId id="265" r:id="rId8"/>
    <p:sldId id="267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>
        <p:scale>
          <a:sx n="105" d="100"/>
          <a:sy n="105" d="100"/>
        </p:scale>
        <p:origin x="880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84B9BC-912E-4F59-9DB7-E8609211CB7F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76688B8B-68E5-4385-868E-28508615E48E}">
      <dgm:prSet phldrT="[Text]"/>
      <dgm:spPr/>
      <dgm:t>
        <a:bodyPr/>
        <a:lstStyle/>
        <a:p>
          <a:r>
            <a:rPr lang="en-AU" dirty="0"/>
            <a:t>Data</a:t>
          </a:r>
        </a:p>
      </dgm:t>
    </dgm:pt>
    <dgm:pt modelId="{42575C75-D50F-4AA1-8973-1BC789E9EF02}" type="parTrans" cxnId="{4952DDC6-0387-468A-A874-F940CC01C77A}">
      <dgm:prSet/>
      <dgm:spPr/>
      <dgm:t>
        <a:bodyPr/>
        <a:lstStyle/>
        <a:p>
          <a:endParaRPr lang="en-AU"/>
        </a:p>
      </dgm:t>
    </dgm:pt>
    <dgm:pt modelId="{8E30DADB-857C-48B7-91D4-991BAC46C6E4}" type="sibTrans" cxnId="{4952DDC6-0387-468A-A874-F940CC01C77A}">
      <dgm:prSet/>
      <dgm:spPr/>
      <dgm:t>
        <a:bodyPr/>
        <a:lstStyle/>
        <a:p>
          <a:endParaRPr lang="en-AU"/>
        </a:p>
      </dgm:t>
    </dgm:pt>
    <dgm:pt modelId="{3F5DB620-A3A9-4962-A952-5D1A181B6A79}" type="asst">
      <dgm:prSet phldrT="[Text]"/>
      <dgm:spPr/>
      <dgm:t>
        <a:bodyPr/>
        <a:lstStyle/>
        <a:p>
          <a:r>
            <a:rPr lang="en-AU" dirty="0"/>
            <a:t>Quantitative (numerical)</a:t>
          </a:r>
        </a:p>
      </dgm:t>
    </dgm:pt>
    <dgm:pt modelId="{F1513FEF-523C-41FE-B40C-E73E3D172801}" type="parTrans" cxnId="{B9364545-5435-4C21-8326-472B6BA0A5A4}">
      <dgm:prSet/>
      <dgm:spPr/>
      <dgm:t>
        <a:bodyPr/>
        <a:lstStyle/>
        <a:p>
          <a:endParaRPr lang="en-AU"/>
        </a:p>
      </dgm:t>
    </dgm:pt>
    <dgm:pt modelId="{44F833C9-E6F4-4D1B-9525-EEC17B39730C}" type="sibTrans" cxnId="{B9364545-5435-4C21-8326-472B6BA0A5A4}">
      <dgm:prSet/>
      <dgm:spPr/>
      <dgm:t>
        <a:bodyPr/>
        <a:lstStyle/>
        <a:p>
          <a:endParaRPr lang="en-AU"/>
        </a:p>
      </dgm:t>
    </dgm:pt>
    <dgm:pt modelId="{24FCCED4-08C9-4A3E-8B7A-E498AD58FB2A}" type="asst">
      <dgm:prSet phldrT="[Text]"/>
      <dgm:spPr/>
      <dgm:t>
        <a:bodyPr/>
        <a:lstStyle/>
        <a:p>
          <a:r>
            <a:rPr lang="en-AU" dirty="0"/>
            <a:t>Qualitative (categorical)</a:t>
          </a:r>
        </a:p>
      </dgm:t>
    </dgm:pt>
    <dgm:pt modelId="{B5AF0F11-E1F6-439B-92FD-AB8DD4BBC00F}" type="parTrans" cxnId="{4F17587A-273B-4E5B-9730-9B3363335C59}">
      <dgm:prSet/>
      <dgm:spPr/>
      <dgm:t>
        <a:bodyPr/>
        <a:lstStyle/>
        <a:p>
          <a:endParaRPr lang="en-AU"/>
        </a:p>
      </dgm:t>
    </dgm:pt>
    <dgm:pt modelId="{FE713031-47D5-4933-ABF0-9B7514EF0250}" type="sibTrans" cxnId="{4F17587A-273B-4E5B-9730-9B3363335C59}">
      <dgm:prSet/>
      <dgm:spPr/>
      <dgm:t>
        <a:bodyPr/>
        <a:lstStyle/>
        <a:p>
          <a:endParaRPr lang="en-AU"/>
        </a:p>
      </dgm:t>
    </dgm:pt>
    <dgm:pt modelId="{43969BFF-AB40-4180-A9EF-0BDEA5F84861}" type="pres">
      <dgm:prSet presAssocID="{6084B9BC-912E-4F59-9DB7-E8609211CB7F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023BB8F-0BE4-4B78-AE28-8CDCF0FDDC95}" type="pres">
      <dgm:prSet presAssocID="{76688B8B-68E5-4385-868E-28508615E48E}" presName="hierRoot1" presStyleCnt="0">
        <dgm:presLayoutVars>
          <dgm:hierBranch val="init"/>
        </dgm:presLayoutVars>
      </dgm:prSet>
      <dgm:spPr/>
    </dgm:pt>
    <dgm:pt modelId="{00BC2909-8198-408A-9025-D69367661A4E}" type="pres">
      <dgm:prSet presAssocID="{76688B8B-68E5-4385-868E-28508615E48E}" presName="rootComposite1" presStyleCnt="0"/>
      <dgm:spPr/>
    </dgm:pt>
    <dgm:pt modelId="{A38B5067-EE79-49C1-858F-8B8E3FE0C76B}" type="pres">
      <dgm:prSet presAssocID="{76688B8B-68E5-4385-868E-28508615E48E}" presName="rootText1" presStyleLbl="alignAcc1" presStyleIdx="0" presStyleCnt="0">
        <dgm:presLayoutVars>
          <dgm:chPref val="3"/>
        </dgm:presLayoutVars>
      </dgm:prSet>
      <dgm:spPr/>
    </dgm:pt>
    <dgm:pt modelId="{FD15828F-3816-4502-9056-1442266EEB80}" type="pres">
      <dgm:prSet presAssocID="{76688B8B-68E5-4385-868E-28508615E48E}" presName="topArc1" presStyleLbl="parChTrans1D1" presStyleIdx="0" presStyleCnt="6"/>
      <dgm:spPr/>
    </dgm:pt>
    <dgm:pt modelId="{560B1919-2E2A-41D3-99E6-3A6AB6F58382}" type="pres">
      <dgm:prSet presAssocID="{76688B8B-68E5-4385-868E-28508615E48E}" presName="bottomArc1" presStyleLbl="parChTrans1D1" presStyleIdx="1" presStyleCnt="6"/>
      <dgm:spPr/>
    </dgm:pt>
    <dgm:pt modelId="{300FF361-F916-4E58-A577-30B3A579083C}" type="pres">
      <dgm:prSet presAssocID="{76688B8B-68E5-4385-868E-28508615E48E}" presName="topConnNode1" presStyleLbl="node1" presStyleIdx="0" presStyleCnt="0"/>
      <dgm:spPr/>
    </dgm:pt>
    <dgm:pt modelId="{039AC455-7B24-40B9-87B6-C147D3951BE9}" type="pres">
      <dgm:prSet presAssocID="{76688B8B-68E5-4385-868E-28508615E48E}" presName="hierChild2" presStyleCnt="0"/>
      <dgm:spPr/>
    </dgm:pt>
    <dgm:pt modelId="{33089E22-CDD7-4686-881B-86EAE910CE00}" type="pres">
      <dgm:prSet presAssocID="{76688B8B-68E5-4385-868E-28508615E48E}" presName="hierChild3" presStyleCnt="0"/>
      <dgm:spPr/>
    </dgm:pt>
    <dgm:pt modelId="{9A752FF6-C0BB-41DC-83F8-1B15EAEE438C}" type="pres">
      <dgm:prSet presAssocID="{F1513FEF-523C-41FE-B40C-E73E3D172801}" presName="Name101" presStyleLbl="parChTrans1D2" presStyleIdx="0" presStyleCnt="2"/>
      <dgm:spPr/>
    </dgm:pt>
    <dgm:pt modelId="{9BBECBC5-D4B8-4155-A491-A79FC320E903}" type="pres">
      <dgm:prSet presAssocID="{3F5DB620-A3A9-4962-A952-5D1A181B6A79}" presName="hierRoot3" presStyleCnt="0">
        <dgm:presLayoutVars>
          <dgm:hierBranch val="init"/>
        </dgm:presLayoutVars>
      </dgm:prSet>
      <dgm:spPr/>
    </dgm:pt>
    <dgm:pt modelId="{98CECA3E-9449-43BF-9DEF-C26F2990E6BD}" type="pres">
      <dgm:prSet presAssocID="{3F5DB620-A3A9-4962-A952-5D1A181B6A79}" presName="rootComposite3" presStyleCnt="0"/>
      <dgm:spPr/>
    </dgm:pt>
    <dgm:pt modelId="{AA1AECA8-5098-4FA5-87AE-1BF0ECB3E3B1}" type="pres">
      <dgm:prSet presAssocID="{3F5DB620-A3A9-4962-A952-5D1A181B6A79}" presName="rootText3" presStyleLbl="alignAcc1" presStyleIdx="0" presStyleCnt="0">
        <dgm:presLayoutVars>
          <dgm:chPref val="3"/>
        </dgm:presLayoutVars>
      </dgm:prSet>
      <dgm:spPr/>
    </dgm:pt>
    <dgm:pt modelId="{B4FC9ADB-3622-48B9-91D5-FCA86634B8E1}" type="pres">
      <dgm:prSet presAssocID="{3F5DB620-A3A9-4962-A952-5D1A181B6A79}" presName="topArc3" presStyleLbl="parChTrans1D1" presStyleIdx="2" presStyleCnt="6"/>
      <dgm:spPr/>
    </dgm:pt>
    <dgm:pt modelId="{1DA11C03-D98A-4381-A82F-258D6D867292}" type="pres">
      <dgm:prSet presAssocID="{3F5DB620-A3A9-4962-A952-5D1A181B6A79}" presName="bottomArc3" presStyleLbl="parChTrans1D1" presStyleIdx="3" presStyleCnt="6"/>
      <dgm:spPr/>
    </dgm:pt>
    <dgm:pt modelId="{5A8E4165-6B74-4607-A80F-880C589363D4}" type="pres">
      <dgm:prSet presAssocID="{3F5DB620-A3A9-4962-A952-5D1A181B6A79}" presName="topConnNode3" presStyleLbl="asst1" presStyleIdx="0" presStyleCnt="0"/>
      <dgm:spPr/>
    </dgm:pt>
    <dgm:pt modelId="{7253C284-4337-4A2C-8C27-EAA8A73BAC31}" type="pres">
      <dgm:prSet presAssocID="{3F5DB620-A3A9-4962-A952-5D1A181B6A79}" presName="hierChild6" presStyleCnt="0"/>
      <dgm:spPr/>
    </dgm:pt>
    <dgm:pt modelId="{AF52DB67-4E05-407A-84F6-A42E6F2B32BA}" type="pres">
      <dgm:prSet presAssocID="{3F5DB620-A3A9-4962-A952-5D1A181B6A79}" presName="hierChild7" presStyleCnt="0"/>
      <dgm:spPr/>
    </dgm:pt>
    <dgm:pt modelId="{3FEB07F9-EDE7-4232-B7BE-77CC49A36F34}" type="pres">
      <dgm:prSet presAssocID="{B5AF0F11-E1F6-439B-92FD-AB8DD4BBC00F}" presName="Name101" presStyleLbl="parChTrans1D2" presStyleIdx="1" presStyleCnt="2"/>
      <dgm:spPr/>
    </dgm:pt>
    <dgm:pt modelId="{E8AE789E-74A5-4547-A50A-7AD5FF3C3B64}" type="pres">
      <dgm:prSet presAssocID="{24FCCED4-08C9-4A3E-8B7A-E498AD58FB2A}" presName="hierRoot3" presStyleCnt="0">
        <dgm:presLayoutVars>
          <dgm:hierBranch val="init"/>
        </dgm:presLayoutVars>
      </dgm:prSet>
      <dgm:spPr/>
    </dgm:pt>
    <dgm:pt modelId="{4D5894F0-3577-4BEA-AC85-0F74EC46698D}" type="pres">
      <dgm:prSet presAssocID="{24FCCED4-08C9-4A3E-8B7A-E498AD58FB2A}" presName="rootComposite3" presStyleCnt="0"/>
      <dgm:spPr/>
    </dgm:pt>
    <dgm:pt modelId="{62E1C31B-E0B9-41FB-A592-5B42B3DE0189}" type="pres">
      <dgm:prSet presAssocID="{24FCCED4-08C9-4A3E-8B7A-E498AD58FB2A}" presName="rootText3" presStyleLbl="alignAcc1" presStyleIdx="0" presStyleCnt="0">
        <dgm:presLayoutVars>
          <dgm:chPref val="3"/>
        </dgm:presLayoutVars>
      </dgm:prSet>
      <dgm:spPr/>
    </dgm:pt>
    <dgm:pt modelId="{4273B181-6E5A-4B61-92C0-0FA41F4F128A}" type="pres">
      <dgm:prSet presAssocID="{24FCCED4-08C9-4A3E-8B7A-E498AD58FB2A}" presName="topArc3" presStyleLbl="parChTrans1D1" presStyleIdx="4" presStyleCnt="6"/>
      <dgm:spPr/>
    </dgm:pt>
    <dgm:pt modelId="{F6550BB7-7D71-4F9B-B57B-527E2270BD88}" type="pres">
      <dgm:prSet presAssocID="{24FCCED4-08C9-4A3E-8B7A-E498AD58FB2A}" presName="bottomArc3" presStyleLbl="parChTrans1D1" presStyleIdx="5" presStyleCnt="6"/>
      <dgm:spPr/>
    </dgm:pt>
    <dgm:pt modelId="{A5E089C2-9616-4777-9AA8-E4DF7FC15226}" type="pres">
      <dgm:prSet presAssocID="{24FCCED4-08C9-4A3E-8B7A-E498AD58FB2A}" presName="topConnNode3" presStyleLbl="asst1" presStyleIdx="0" presStyleCnt="0"/>
      <dgm:spPr/>
    </dgm:pt>
    <dgm:pt modelId="{7DE107A3-BFED-4ADB-9B26-127E6A4F0650}" type="pres">
      <dgm:prSet presAssocID="{24FCCED4-08C9-4A3E-8B7A-E498AD58FB2A}" presName="hierChild6" presStyleCnt="0"/>
      <dgm:spPr/>
    </dgm:pt>
    <dgm:pt modelId="{1C110FCC-8AFA-420C-8220-210B4D5C2785}" type="pres">
      <dgm:prSet presAssocID="{24FCCED4-08C9-4A3E-8B7A-E498AD58FB2A}" presName="hierChild7" presStyleCnt="0"/>
      <dgm:spPr/>
    </dgm:pt>
  </dgm:ptLst>
  <dgm:cxnLst>
    <dgm:cxn modelId="{57CCB702-5A56-456E-9A27-2B6F3333F0B8}" type="presOf" srcId="{24FCCED4-08C9-4A3E-8B7A-E498AD58FB2A}" destId="{62E1C31B-E0B9-41FB-A592-5B42B3DE0189}" srcOrd="0" destOrd="0" presId="urn:microsoft.com/office/officeart/2008/layout/HalfCircleOrganizationChart"/>
    <dgm:cxn modelId="{5278331D-B449-4AB8-88BB-FBBB5FFBE24E}" type="presOf" srcId="{3F5DB620-A3A9-4962-A952-5D1A181B6A79}" destId="{5A8E4165-6B74-4607-A80F-880C589363D4}" srcOrd="1" destOrd="0" presId="urn:microsoft.com/office/officeart/2008/layout/HalfCircleOrganizationChart"/>
    <dgm:cxn modelId="{B9364545-5435-4C21-8326-472B6BA0A5A4}" srcId="{76688B8B-68E5-4385-868E-28508615E48E}" destId="{3F5DB620-A3A9-4962-A952-5D1A181B6A79}" srcOrd="0" destOrd="0" parTransId="{F1513FEF-523C-41FE-B40C-E73E3D172801}" sibTransId="{44F833C9-E6F4-4D1B-9525-EEC17B39730C}"/>
    <dgm:cxn modelId="{1F551766-577E-48D4-9295-349121328CE5}" type="presOf" srcId="{76688B8B-68E5-4385-868E-28508615E48E}" destId="{300FF361-F916-4E58-A577-30B3A579083C}" srcOrd="1" destOrd="0" presId="urn:microsoft.com/office/officeart/2008/layout/HalfCircleOrganizationChart"/>
    <dgm:cxn modelId="{4F17587A-273B-4E5B-9730-9B3363335C59}" srcId="{76688B8B-68E5-4385-868E-28508615E48E}" destId="{24FCCED4-08C9-4A3E-8B7A-E498AD58FB2A}" srcOrd="1" destOrd="0" parTransId="{B5AF0F11-E1F6-439B-92FD-AB8DD4BBC00F}" sibTransId="{FE713031-47D5-4933-ABF0-9B7514EF0250}"/>
    <dgm:cxn modelId="{D1F9767C-F20F-43B6-AF63-B39C145337EB}" type="presOf" srcId="{3F5DB620-A3A9-4962-A952-5D1A181B6A79}" destId="{AA1AECA8-5098-4FA5-87AE-1BF0ECB3E3B1}" srcOrd="0" destOrd="0" presId="urn:microsoft.com/office/officeart/2008/layout/HalfCircleOrganizationChart"/>
    <dgm:cxn modelId="{1C7F9D8E-0E3E-4789-958F-D46A149AC654}" type="presOf" srcId="{76688B8B-68E5-4385-868E-28508615E48E}" destId="{A38B5067-EE79-49C1-858F-8B8E3FE0C76B}" srcOrd="0" destOrd="0" presId="urn:microsoft.com/office/officeart/2008/layout/HalfCircleOrganizationChart"/>
    <dgm:cxn modelId="{42209695-041F-4E89-8D99-376A7F78992F}" type="presOf" srcId="{24FCCED4-08C9-4A3E-8B7A-E498AD58FB2A}" destId="{A5E089C2-9616-4777-9AA8-E4DF7FC15226}" srcOrd="1" destOrd="0" presId="urn:microsoft.com/office/officeart/2008/layout/HalfCircleOrganizationChart"/>
    <dgm:cxn modelId="{41ABC7C0-E59B-447D-A7F1-314DAB50EA12}" type="presOf" srcId="{6084B9BC-912E-4F59-9DB7-E8609211CB7F}" destId="{43969BFF-AB40-4180-A9EF-0BDEA5F84861}" srcOrd="0" destOrd="0" presId="urn:microsoft.com/office/officeart/2008/layout/HalfCircleOrganizationChart"/>
    <dgm:cxn modelId="{4952DDC6-0387-468A-A874-F940CC01C77A}" srcId="{6084B9BC-912E-4F59-9DB7-E8609211CB7F}" destId="{76688B8B-68E5-4385-868E-28508615E48E}" srcOrd="0" destOrd="0" parTransId="{42575C75-D50F-4AA1-8973-1BC789E9EF02}" sibTransId="{8E30DADB-857C-48B7-91D4-991BAC46C6E4}"/>
    <dgm:cxn modelId="{1CAE5DD1-36D6-4844-9984-52FEB7DD0188}" type="presOf" srcId="{B5AF0F11-E1F6-439B-92FD-AB8DD4BBC00F}" destId="{3FEB07F9-EDE7-4232-B7BE-77CC49A36F34}" srcOrd="0" destOrd="0" presId="urn:microsoft.com/office/officeart/2008/layout/HalfCircleOrganizationChart"/>
    <dgm:cxn modelId="{A1FD5FDC-5EF1-40C3-8356-7C5D4B4B56A2}" type="presOf" srcId="{F1513FEF-523C-41FE-B40C-E73E3D172801}" destId="{9A752FF6-C0BB-41DC-83F8-1B15EAEE438C}" srcOrd="0" destOrd="0" presId="urn:microsoft.com/office/officeart/2008/layout/HalfCircleOrganizationChart"/>
    <dgm:cxn modelId="{1EA89A19-59B9-4074-84A9-2A3AA64B03ED}" type="presParOf" srcId="{43969BFF-AB40-4180-A9EF-0BDEA5F84861}" destId="{8023BB8F-0BE4-4B78-AE28-8CDCF0FDDC95}" srcOrd="0" destOrd="0" presId="urn:microsoft.com/office/officeart/2008/layout/HalfCircleOrganizationChart"/>
    <dgm:cxn modelId="{9675E92C-1680-4A5B-A362-7D6FD324438A}" type="presParOf" srcId="{8023BB8F-0BE4-4B78-AE28-8CDCF0FDDC95}" destId="{00BC2909-8198-408A-9025-D69367661A4E}" srcOrd="0" destOrd="0" presId="urn:microsoft.com/office/officeart/2008/layout/HalfCircleOrganizationChart"/>
    <dgm:cxn modelId="{53EC43CC-E26E-40AB-9908-10E4474F36DA}" type="presParOf" srcId="{00BC2909-8198-408A-9025-D69367661A4E}" destId="{A38B5067-EE79-49C1-858F-8B8E3FE0C76B}" srcOrd="0" destOrd="0" presId="urn:microsoft.com/office/officeart/2008/layout/HalfCircleOrganizationChart"/>
    <dgm:cxn modelId="{DDB24008-F797-48FB-B216-40760E022D72}" type="presParOf" srcId="{00BC2909-8198-408A-9025-D69367661A4E}" destId="{FD15828F-3816-4502-9056-1442266EEB80}" srcOrd="1" destOrd="0" presId="urn:microsoft.com/office/officeart/2008/layout/HalfCircleOrganizationChart"/>
    <dgm:cxn modelId="{39FFBE02-C3EE-44E2-BD73-3E37544CD267}" type="presParOf" srcId="{00BC2909-8198-408A-9025-D69367661A4E}" destId="{560B1919-2E2A-41D3-99E6-3A6AB6F58382}" srcOrd="2" destOrd="0" presId="urn:microsoft.com/office/officeart/2008/layout/HalfCircleOrganizationChart"/>
    <dgm:cxn modelId="{FD54C488-B5D2-4D12-AFE1-F6B8EDF8AA07}" type="presParOf" srcId="{00BC2909-8198-408A-9025-D69367661A4E}" destId="{300FF361-F916-4E58-A577-30B3A579083C}" srcOrd="3" destOrd="0" presId="urn:microsoft.com/office/officeart/2008/layout/HalfCircleOrganizationChart"/>
    <dgm:cxn modelId="{AB448651-EDA2-404A-9091-3FADF8EB0EE1}" type="presParOf" srcId="{8023BB8F-0BE4-4B78-AE28-8CDCF0FDDC95}" destId="{039AC455-7B24-40B9-87B6-C147D3951BE9}" srcOrd="1" destOrd="0" presId="urn:microsoft.com/office/officeart/2008/layout/HalfCircleOrganizationChart"/>
    <dgm:cxn modelId="{2CFCADB1-BDE0-4673-9D04-F0016DD9E11F}" type="presParOf" srcId="{8023BB8F-0BE4-4B78-AE28-8CDCF0FDDC95}" destId="{33089E22-CDD7-4686-881B-86EAE910CE00}" srcOrd="2" destOrd="0" presId="urn:microsoft.com/office/officeart/2008/layout/HalfCircleOrganizationChart"/>
    <dgm:cxn modelId="{DF24BE08-8A1A-4118-BD63-A03CF6A6893F}" type="presParOf" srcId="{33089E22-CDD7-4686-881B-86EAE910CE00}" destId="{9A752FF6-C0BB-41DC-83F8-1B15EAEE438C}" srcOrd="0" destOrd="0" presId="urn:microsoft.com/office/officeart/2008/layout/HalfCircleOrganizationChart"/>
    <dgm:cxn modelId="{2F336263-2CAC-4189-9D85-8468CF533C5F}" type="presParOf" srcId="{33089E22-CDD7-4686-881B-86EAE910CE00}" destId="{9BBECBC5-D4B8-4155-A491-A79FC320E903}" srcOrd="1" destOrd="0" presId="urn:microsoft.com/office/officeart/2008/layout/HalfCircleOrganizationChart"/>
    <dgm:cxn modelId="{1CDDBC2A-C042-43C5-BC0C-4E354A67D2AA}" type="presParOf" srcId="{9BBECBC5-D4B8-4155-A491-A79FC320E903}" destId="{98CECA3E-9449-43BF-9DEF-C26F2990E6BD}" srcOrd="0" destOrd="0" presId="urn:microsoft.com/office/officeart/2008/layout/HalfCircleOrganizationChart"/>
    <dgm:cxn modelId="{AE91E1C0-D2D3-418C-9945-C158BB03FB2E}" type="presParOf" srcId="{98CECA3E-9449-43BF-9DEF-C26F2990E6BD}" destId="{AA1AECA8-5098-4FA5-87AE-1BF0ECB3E3B1}" srcOrd="0" destOrd="0" presId="urn:microsoft.com/office/officeart/2008/layout/HalfCircleOrganizationChart"/>
    <dgm:cxn modelId="{8CE9EB1E-994F-47CB-8FA0-AE93793CD511}" type="presParOf" srcId="{98CECA3E-9449-43BF-9DEF-C26F2990E6BD}" destId="{B4FC9ADB-3622-48B9-91D5-FCA86634B8E1}" srcOrd="1" destOrd="0" presId="urn:microsoft.com/office/officeart/2008/layout/HalfCircleOrganizationChart"/>
    <dgm:cxn modelId="{97CA374F-9F86-47D2-9761-B34DB391CA01}" type="presParOf" srcId="{98CECA3E-9449-43BF-9DEF-C26F2990E6BD}" destId="{1DA11C03-D98A-4381-A82F-258D6D867292}" srcOrd="2" destOrd="0" presId="urn:microsoft.com/office/officeart/2008/layout/HalfCircleOrganizationChart"/>
    <dgm:cxn modelId="{515AEB39-3FDD-4766-9DBF-54A3442BAA63}" type="presParOf" srcId="{98CECA3E-9449-43BF-9DEF-C26F2990E6BD}" destId="{5A8E4165-6B74-4607-A80F-880C589363D4}" srcOrd="3" destOrd="0" presId="urn:microsoft.com/office/officeart/2008/layout/HalfCircleOrganizationChart"/>
    <dgm:cxn modelId="{7F42E58D-CE5F-41D7-B6E8-38C9DF5A3806}" type="presParOf" srcId="{9BBECBC5-D4B8-4155-A491-A79FC320E903}" destId="{7253C284-4337-4A2C-8C27-EAA8A73BAC31}" srcOrd="1" destOrd="0" presId="urn:microsoft.com/office/officeart/2008/layout/HalfCircleOrganizationChart"/>
    <dgm:cxn modelId="{F96A30C1-4226-45D6-B69D-99FE5E6B9C7E}" type="presParOf" srcId="{9BBECBC5-D4B8-4155-A491-A79FC320E903}" destId="{AF52DB67-4E05-407A-84F6-A42E6F2B32BA}" srcOrd="2" destOrd="0" presId="urn:microsoft.com/office/officeart/2008/layout/HalfCircleOrganizationChart"/>
    <dgm:cxn modelId="{AB9C8B55-A247-497F-B299-5FB494FAA4FA}" type="presParOf" srcId="{33089E22-CDD7-4686-881B-86EAE910CE00}" destId="{3FEB07F9-EDE7-4232-B7BE-77CC49A36F34}" srcOrd="2" destOrd="0" presId="urn:microsoft.com/office/officeart/2008/layout/HalfCircleOrganizationChart"/>
    <dgm:cxn modelId="{1B636687-E843-4B76-AFAB-D6CDC66AA2E5}" type="presParOf" srcId="{33089E22-CDD7-4686-881B-86EAE910CE00}" destId="{E8AE789E-74A5-4547-A50A-7AD5FF3C3B64}" srcOrd="3" destOrd="0" presId="urn:microsoft.com/office/officeart/2008/layout/HalfCircleOrganizationChart"/>
    <dgm:cxn modelId="{30491732-DE2E-407B-BB27-BB878000A67E}" type="presParOf" srcId="{E8AE789E-74A5-4547-A50A-7AD5FF3C3B64}" destId="{4D5894F0-3577-4BEA-AC85-0F74EC46698D}" srcOrd="0" destOrd="0" presId="urn:microsoft.com/office/officeart/2008/layout/HalfCircleOrganizationChart"/>
    <dgm:cxn modelId="{822E65D4-AD50-48DB-A137-A91DB1CDD80A}" type="presParOf" srcId="{4D5894F0-3577-4BEA-AC85-0F74EC46698D}" destId="{62E1C31B-E0B9-41FB-A592-5B42B3DE0189}" srcOrd="0" destOrd="0" presId="urn:microsoft.com/office/officeart/2008/layout/HalfCircleOrganizationChart"/>
    <dgm:cxn modelId="{708DC214-1022-4735-B6C0-B69DE0B5D116}" type="presParOf" srcId="{4D5894F0-3577-4BEA-AC85-0F74EC46698D}" destId="{4273B181-6E5A-4B61-92C0-0FA41F4F128A}" srcOrd="1" destOrd="0" presId="urn:microsoft.com/office/officeart/2008/layout/HalfCircleOrganizationChart"/>
    <dgm:cxn modelId="{78BFE148-122F-4002-9A1D-E2214B333B1E}" type="presParOf" srcId="{4D5894F0-3577-4BEA-AC85-0F74EC46698D}" destId="{F6550BB7-7D71-4F9B-B57B-527E2270BD88}" srcOrd="2" destOrd="0" presId="urn:microsoft.com/office/officeart/2008/layout/HalfCircleOrganizationChart"/>
    <dgm:cxn modelId="{2703F56F-74FA-4284-BDF5-BDF6883C321B}" type="presParOf" srcId="{4D5894F0-3577-4BEA-AC85-0F74EC46698D}" destId="{A5E089C2-9616-4777-9AA8-E4DF7FC15226}" srcOrd="3" destOrd="0" presId="urn:microsoft.com/office/officeart/2008/layout/HalfCircleOrganizationChart"/>
    <dgm:cxn modelId="{0E9AF5F0-5554-4749-A630-776809FA5B0C}" type="presParOf" srcId="{E8AE789E-74A5-4547-A50A-7AD5FF3C3B64}" destId="{7DE107A3-BFED-4ADB-9B26-127E6A4F0650}" srcOrd="1" destOrd="0" presId="urn:microsoft.com/office/officeart/2008/layout/HalfCircleOrganizationChart"/>
    <dgm:cxn modelId="{CF95B4F0-0C4A-4CBE-AA67-A63927744749}" type="presParOf" srcId="{E8AE789E-74A5-4547-A50A-7AD5FF3C3B64}" destId="{1C110FCC-8AFA-420C-8220-210B4D5C2785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EB07F9-EDE7-4232-B7BE-77CC49A36F34}">
      <dsp:nvSpPr>
        <dsp:cNvPr id="0" name=""/>
        <dsp:cNvSpPr/>
      </dsp:nvSpPr>
      <dsp:spPr>
        <a:xfrm>
          <a:off x="2556282" y="1233376"/>
          <a:ext cx="959588" cy="6936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3678"/>
              </a:lnTo>
              <a:lnTo>
                <a:pt x="959588" y="69367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752FF6-C0BB-41DC-83F8-1B15EAEE438C}">
      <dsp:nvSpPr>
        <dsp:cNvPr id="0" name=""/>
        <dsp:cNvSpPr/>
      </dsp:nvSpPr>
      <dsp:spPr>
        <a:xfrm>
          <a:off x="1596693" y="1233376"/>
          <a:ext cx="959588" cy="693678"/>
        </a:xfrm>
        <a:custGeom>
          <a:avLst/>
          <a:gdLst/>
          <a:ahLst/>
          <a:cxnLst/>
          <a:rect l="0" t="0" r="0" b="0"/>
          <a:pathLst>
            <a:path>
              <a:moveTo>
                <a:pt x="959588" y="0"/>
              </a:moveTo>
              <a:lnTo>
                <a:pt x="959588" y="693678"/>
              </a:lnTo>
              <a:lnTo>
                <a:pt x="0" y="69367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15828F-3816-4502-9056-1442266EEB80}">
      <dsp:nvSpPr>
        <dsp:cNvPr id="0" name=""/>
        <dsp:cNvSpPr/>
      </dsp:nvSpPr>
      <dsp:spPr>
        <a:xfrm>
          <a:off x="1978216" y="77245"/>
          <a:ext cx="1156130" cy="1156130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0B1919-2E2A-41D3-99E6-3A6AB6F58382}">
      <dsp:nvSpPr>
        <dsp:cNvPr id="0" name=""/>
        <dsp:cNvSpPr/>
      </dsp:nvSpPr>
      <dsp:spPr>
        <a:xfrm>
          <a:off x="1978216" y="77245"/>
          <a:ext cx="1156130" cy="1156130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8B5067-EE79-49C1-858F-8B8E3FE0C76B}">
      <dsp:nvSpPr>
        <dsp:cNvPr id="0" name=""/>
        <dsp:cNvSpPr/>
      </dsp:nvSpPr>
      <dsp:spPr>
        <a:xfrm>
          <a:off x="1400151" y="285349"/>
          <a:ext cx="2312261" cy="739923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500" kern="1200" dirty="0"/>
            <a:t>Data</a:t>
          </a:r>
        </a:p>
      </dsp:txBody>
      <dsp:txXfrm>
        <a:off x="1400151" y="285349"/>
        <a:ext cx="2312261" cy="739923"/>
      </dsp:txXfrm>
    </dsp:sp>
    <dsp:sp modelId="{B4FC9ADB-3622-48B9-91D5-FCA86634B8E1}">
      <dsp:nvSpPr>
        <dsp:cNvPr id="0" name=""/>
        <dsp:cNvSpPr/>
      </dsp:nvSpPr>
      <dsp:spPr>
        <a:xfrm>
          <a:off x="579298" y="1718951"/>
          <a:ext cx="1156130" cy="1156130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A11C03-D98A-4381-A82F-258D6D867292}">
      <dsp:nvSpPr>
        <dsp:cNvPr id="0" name=""/>
        <dsp:cNvSpPr/>
      </dsp:nvSpPr>
      <dsp:spPr>
        <a:xfrm>
          <a:off x="579298" y="1718951"/>
          <a:ext cx="1156130" cy="1156130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1AECA8-5098-4FA5-87AE-1BF0ECB3E3B1}">
      <dsp:nvSpPr>
        <dsp:cNvPr id="0" name=""/>
        <dsp:cNvSpPr/>
      </dsp:nvSpPr>
      <dsp:spPr>
        <a:xfrm>
          <a:off x="1232" y="1927055"/>
          <a:ext cx="2312261" cy="739923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500" kern="1200" dirty="0"/>
            <a:t>Quantitative (numerical)</a:t>
          </a:r>
        </a:p>
      </dsp:txBody>
      <dsp:txXfrm>
        <a:off x="1232" y="1927055"/>
        <a:ext cx="2312261" cy="739923"/>
      </dsp:txXfrm>
    </dsp:sp>
    <dsp:sp modelId="{4273B181-6E5A-4B61-92C0-0FA41F4F128A}">
      <dsp:nvSpPr>
        <dsp:cNvPr id="0" name=""/>
        <dsp:cNvSpPr/>
      </dsp:nvSpPr>
      <dsp:spPr>
        <a:xfrm>
          <a:off x="3377134" y="1718951"/>
          <a:ext cx="1156130" cy="1156130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550BB7-7D71-4F9B-B57B-527E2270BD88}">
      <dsp:nvSpPr>
        <dsp:cNvPr id="0" name=""/>
        <dsp:cNvSpPr/>
      </dsp:nvSpPr>
      <dsp:spPr>
        <a:xfrm>
          <a:off x="3377134" y="1718951"/>
          <a:ext cx="1156130" cy="1156130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E1C31B-E0B9-41FB-A592-5B42B3DE0189}">
      <dsp:nvSpPr>
        <dsp:cNvPr id="0" name=""/>
        <dsp:cNvSpPr/>
      </dsp:nvSpPr>
      <dsp:spPr>
        <a:xfrm>
          <a:off x="2799069" y="1927055"/>
          <a:ext cx="2312261" cy="739923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500" kern="1200" dirty="0"/>
            <a:t>Qualitative (categorical)</a:t>
          </a:r>
        </a:p>
      </dsp:txBody>
      <dsp:txXfrm>
        <a:off x="2799069" y="1927055"/>
        <a:ext cx="2312261" cy="7399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383F-CADB-4757-9F7A-4A57A73E6546}" type="datetimeFigureOut">
              <a:rPr lang="en-AU" smtClean="0"/>
              <a:t>19/5/21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7CDC-5D46-4AD4-A6C4-570F7F566B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6092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383F-CADB-4757-9F7A-4A57A73E6546}" type="datetimeFigureOut">
              <a:rPr lang="en-AU" smtClean="0"/>
              <a:t>19/5/21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7CDC-5D46-4AD4-A6C4-570F7F566B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6763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383F-CADB-4757-9F7A-4A57A73E6546}" type="datetimeFigureOut">
              <a:rPr lang="en-AU" smtClean="0"/>
              <a:t>19/5/21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7CDC-5D46-4AD4-A6C4-570F7F566B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7695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383F-CADB-4757-9F7A-4A57A73E6546}" type="datetimeFigureOut">
              <a:rPr lang="en-AU" smtClean="0"/>
              <a:t>19/5/21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7CDC-5D46-4AD4-A6C4-570F7F566B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6662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383F-CADB-4757-9F7A-4A57A73E6546}" type="datetimeFigureOut">
              <a:rPr lang="en-AU" smtClean="0"/>
              <a:t>19/5/21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7CDC-5D46-4AD4-A6C4-570F7F566B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6248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383F-CADB-4757-9F7A-4A57A73E6546}" type="datetimeFigureOut">
              <a:rPr lang="en-AU" smtClean="0"/>
              <a:t>19/5/21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7CDC-5D46-4AD4-A6C4-570F7F566B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4155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383F-CADB-4757-9F7A-4A57A73E6546}" type="datetimeFigureOut">
              <a:rPr lang="en-AU" smtClean="0"/>
              <a:t>19/5/21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7CDC-5D46-4AD4-A6C4-570F7F566B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5532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383F-CADB-4757-9F7A-4A57A73E6546}" type="datetimeFigureOut">
              <a:rPr lang="en-AU" smtClean="0"/>
              <a:t>19/5/21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7CDC-5D46-4AD4-A6C4-570F7F566B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5648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383F-CADB-4757-9F7A-4A57A73E6546}" type="datetimeFigureOut">
              <a:rPr lang="en-AU" smtClean="0"/>
              <a:t>19/5/21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7CDC-5D46-4AD4-A6C4-570F7F566B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8182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383F-CADB-4757-9F7A-4A57A73E6546}" type="datetimeFigureOut">
              <a:rPr lang="en-AU" smtClean="0"/>
              <a:t>19/5/21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7CDC-5D46-4AD4-A6C4-570F7F566B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857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383F-CADB-4757-9F7A-4A57A73E6546}" type="datetimeFigureOut">
              <a:rPr lang="en-AU" smtClean="0"/>
              <a:t>19/5/21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7CDC-5D46-4AD4-A6C4-570F7F566B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7812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A383F-CADB-4757-9F7A-4A57A73E6546}" type="datetimeFigureOut">
              <a:rPr lang="en-AU" smtClean="0"/>
              <a:t>19/5/21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6C7CDC-5D46-4AD4-A6C4-570F7F566B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5003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5.xml"/><Relationship Id="rId1" Type="http://schemas.openxmlformats.org/officeDocument/2006/relationships/video" Target="https://www.youtube.com/embed/dwFsRZv4oHA?feature=oembed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88640"/>
            <a:ext cx="9709722" cy="551656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Data types and Collection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392" y="808667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What are the different types of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2566409" y="1168678"/>
                <a:ext cx="6292535" cy="531629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dirty="0"/>
                  <a:t>Warm up: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2400" dirty="0"/>
                  <a:t> = </a:t>
                </a:r>
              </a:p>
              <a:p>
                <a:pPr marL="457200" indent="-457200">
                  <a:buAutoNum type="arabicPeriod"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2. What is the formula for a parallelogram? 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3.  Solve: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+9 −2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×5=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4. What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400" dirty="0"/>
                  <a:t> as a decimal? 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5. Define data?</a:t>
                </a: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2566409" y="1168678"/>
                <a:ext cx="6292535" cy="5316293"/>
              </a:xfrm>
              <a:blipFill>
                <a:blip r:embed="rId2"/>
                <a:stretch>
                  <a:fillRect l="-1613" t="-1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91344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8494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FF9AD1-E08A-4E91-B9CB-5F35BEB99E0D}"/>
              </a:ext>
            </a:extLst>
          </p:cNvPr>
          <p:cNvCxnSpPr>
            <a:cxnSpLocks/>
          </p:cNvCxnSpPr>
          <p:nvPr/>
        </p:nvCxnSpPr>
        <p:spPr>
          <a:xfrm flipH="1">
            <a:off x="2207552" y="1124716"/>
            <a:ext cx="16" cy="3960469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C732A08-A1D4-DB41-8036-07F17B54C4CA}"/>
                  </a:ext>
                </a:extLst>
              </p:cNvPr>
              <p:cNvSpPr txBox="1"/>
              <p:nvPr/>
            </p:nvSpPr>
            <p:spPr>
              <a:xfrm>
                <a:off x="8989621" y="1864426"/>
                <a:ext cx="2683823" cy="27245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2) A = </a:t>
                </a:r>
                <a:r>
                  <a:rPr lang="en-US" dirty="0" err="1"/>
                  <a:t>bh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3) 8</a:t>
                </a:r>
              </a:p>
              <a:p>
                <a:endParaRPr lang="en-US" dirty="0"/>
              </a:p>
              <a:p>
                <a:r>
                  <a:rPr lang="en-US" dirty="0"/>
                  <a:t>4) 0.875</a:t>
                </a:r>
              </a:p>
              <a:p>
                <a:endParaRPr lang="en-US" dirty="0"/>
              </a:p>
              <a:p>
                <a:r>
                  <a:rPr lang="en-US" dirty="0"/>
                  <a:t>5) See next slide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C732A08-A1D4-DB41-8036-07F17B54C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9621" y="1864426"/>
                <a:ext cx="2683823" cy="2724528"/>
              </a:xfrm>
              <a:prstGeom prst="rect">
                <a:avLst/>
              </a:prstGeom>
              <a:blipFill>
                <a:blip r:embed="rId3"/>
                <a:stretch>
                  <a:fillRect l="-2358" b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9249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88640"/>
            <a:ext cx="9709722" cy="551656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Data types and Collection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392" y="808667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What are the different types of 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1344" y="1484726"/>
            <a:ext cx="2016209" cy="7921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Definition of Data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23592" y="1264311"/>
            <a:ext cx="8928987" cy="762000"/>
          </a:xfrm>
        </p:spPr>
        <p:txBody>
          <a:bodyPr>
            <a:normAutofit fontScale="77500" lnSpcReduction="20000"/>
          </a:bodyPr>
          <a:lstStyle/>
          <a:p>
            <a:r>
              <a:rPr lang="en-AU" b="0" dirty="0"/>
              <a:t>Data is a collection of facts, such as numbers, words, measurements, observations or just descriptions of things.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91344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8494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FF9AD1-E08A-4E91-B9CB-5F35BEB99E0D}"/>
              </a:ext>
            </a:extLst>
          </p:cNvPr>
          <p:cNvCxnSpPr>
            <a:cxnSpLocks/>
          </p:cNvCxnSpPr>
          <p:nvPr/>
        </p:nvCxnSpPr>
        <p:spPr>
          <a:xfrm flipH="1">
            <a:off x="2207552" y="1124716"/>
            <a:ext cx="16" cy="3960469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858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88640"/>
            <a:ext cx="9709722" cy="551656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Data types and Collection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392" y="808667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What are the different types of 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1344" y="1484726"/>
            <a:ext cx="2016209" cy="7921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/>
              <a:t>What are the different sources of data?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23592" y="1264311"/>
            <a:ext cx="8928987" cy="7620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Data collection can either be primary (collected by you) or secondary (collected by someone else)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91344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8494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FF9AD1-E08A-4E91-B9CB-5F35BEB99E0D}"/>
              </a:ext>
            </a:extLst>
          </p:cNvPr>
          <p:cNvCxnSpPr>
            <a:cxnSpLocks/>
          </p:cNvCxnSpPr>
          <p:nvPr/>
        </p:nvCxnSpPr>
        <p:spPr>
          <a:xfrm flipH="1">
            <a:off x="2207552" y="1124716"/>
            <a:ext cx="16" cy="3960469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0750AC-E0DE-4630-B3E9-68C07B1D9743}"/>
              </a:ext>
            </a:extLst>
          </p:cNvPr>
          <p:cNvSpPr txBox="1"/>
          <p:nvPr/>
        </p:nvSpPr>
        <p:spPr>
          <a:xfrm>
            <a:off x="3143664" y="2240149"/>
            <a:ext cx="77048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rgbClr val="FF0000"/>
                </a:solidFill>
              </a:rPr>
              <a:t>Examples: primary – survey, questionnaire, conducting trials</a:t>
            </a:r>
          </a:p>
          <a:p>
            <a:r>
              <a:rPr lang="en-AU" sz="1600" dirty="0">
                <a:solidFill>
                  <a:srgbClr val="FF0000"/>
                </a:solidFill>
              </a:rPr>
              <a:t>Secondary – Australian census, bureau of meteorology (weather data), AFL website (player and team statistics)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ADB8C8B6-2630-4D9C-B091-983EC55B8483}"/>
              </a:ext>
            </a:extLst>
          </p:cNvPr>
          <p:cNvGraphicFramePr/>
          <p:nvPr/>
        </p:nvGraphicFramePr>
        <p:xfrm>
          <a:off x="5735960" y="3284984"/>
          <a:ext cx="5112564" cy="2952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D53BE2FC-00DA-4A77-A6F3-C39404162DD7}"/>
              </a:ext>
            </a:extLst>
          </p:cNvPr>
          <p:cNvSpPr txBox="1">
            <a:spLocks/>
          </p:cNvSpPr>
          <p:nvPr/>
        </p:nvSpPr>
        <p:spPr>
          <a:xfrm>
            <a:off x="191344" y="3640774"/>
            <a:ext cx="2016209" cy="79214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383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1363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67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80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4752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82496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57984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What are the different types of data?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6C6A2C-10DC-4B98-AC4C-ECBCCBACE96B}"/>
              </a:ext>
            </a:extLst>
          </p:cNvPr>
          <p:cNvSpPr txBox="1"/>
          <p:nvPr/>
        </p:nvSpPr>
        <p:spPr>
          <a:xfrm>
            <a:off x="2423592" y="3376627"/>
            <a:ext cx="54006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rgbClr val="FF0000"/>
                </a:solidFill>
              </a:rPr>
              <a:t>Data can be classified into two categories</a:t>
            </a:r>
          </a:p>
          <a:p>
            <a:endParaRPr lang="en-AU" sz="1600" dirty="0">
              <a:solidFill>
                <a:srgbClr val="FF0000"/>
              </a:solidFill>
            </a:endParaRPr>
          </a:p>
          <a:p>
            <a:r>
              <a:rPr lang="en-AU" sz="1600" dirty="0">
                <a:solidFill>
                  <a:srgbClr val="FF0000"/>
                </a:solidFill>
              </a:rPr>
              <a:t>Quantitative (numerical): the answer should be a number</a:t>
            </a:r>
          </a:p>
          <a:p>
            <a:endParaRPr lang="en-AU" sz="1600" dirty="0">
              <a:solidFill>
                <a:srgbClr val="FF0000"/>
              </a:solidFill>
            </a:endParaRPr>
          </a:p>
          <a:p>
            <a:r>
              <a:rPr lang="en-AU" sz="1600" dirty="0">
                <a:solidFill>
                  <a:srgbClr val="FF0000"/>
                </a:solidFill>
              </a:rPr>
              <a:t>Qualitative (categorical): the answer should be a word</a:t>
            </a:r>
          </a:p>
        </p:txBody>
      </p:sp>
    </p:spTree>
    <p:extLst>
      <p:ext uri="{BB962C8B-B14F-4D97-AF65-F5344CB8AC3E}">
        <p14:creationId xmlns:p14="http://schemas.microsoft.com/office/powerpoint/2010/main" val="2108578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3" grpId="0"/>
      <p:bldGraphic spid="14" grpId="0">
        <p:bldAsOne/>
      </p:bldGraphic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88640"/>
            <a:ext cx="9709722" cy="551656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Data types and Collection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392" y="808667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What are the different types of data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91344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8494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FF9AD1-E08A-4E91-B9CB-5F35BEB99E0D}"/>
              </a:ext>
            </a:extLst>
          </p:cNvPr>
          <p:cNvCxnSpPr>
            <a:cxnSpLocks/>
          </p:cNvCxnSpPr>
          <p:nvPr/>
        </p:nvCxnSpPr>
        <p:spPr>
          <a:xfrm flipH="1">
            <a:off x="2207552" y="1124716"/>
            <a:ext cx="16" cy="3960469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541319" y="1704868"/>
            <a:ext cx="596134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Examples: </a:t>
            </a:r>
          </a:p>
          <a:p>
            <a:r>
              <a:rPr lang="en-AU" dirty="0"/>
              <a:t>1. The number of goals scored by each team in the FIFA World Cup. </a:t>
            </a:r>
          </a:p>
          <a:p>
            <a:r>
              <a:rPr lang="en-AU" dirty="0"/>
              <a:t>2. The height of each player at an AFL game. </a:t>
            </a:r>
          </a:p>
          <a:p>
            <a:r>
              <a:rPr lang="en-AU" dirty="0"/>
              <a:t>3. The fitness level of everyone in the room (low, medium, high)</a:t>
            </a:r>
          </a:p>
          <a:p>
            <a:r>
              <a:rPr lang="en-AU" dirty="0"/>
              <a:t>4. The city that each person in the room was born.</a:t>
            </a:r>
          </a:p>
        </p:txBody>
      </p:sp>
    </p:spTree>
    <p:extLst>
      <p:ext uri="{BB962C8B-B14F-4D97-AF65-F5344CB8AC3E}">
        <p14:creationId xmlns:p14="http://schemas.microsoft.com/office/powerpoint/2010/main" val="1805417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88640"/>
            <a:ext cx="9709722" cy="551656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Data types and Collection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392" y="808667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What are the different types of data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91344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8494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FF9AD1-E08A-4E91-B9CB-5F35BEB99E0D}"/>
              </a:ext>
            </a:extLst>
          </p:cNvPr>
          <p:cNvCxnSpPr>
            <a:cxnSpLocks/>
          </p:cNvCxnSpPr>
          <p:nvPr/>
        </p:nvCxnSpPr>
        <p:spPr>
          <a:xfrm flipH="1">
            <a:off x="2207552" y="1124716"/>
            <a:ext cx="16" cy="3960469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Online Media 3" descr="Qualitative and Quantitative Data">
            <a:hlinkClick r:id="" action="ppaction://media"/>
            <a:extLst>
              <a:ext uri="{FF2B5EF4-FFF2-40B4-BE49-F238E27FC236}">
                <a16:creationId xmlns:a16="http://schemas.microsoft.com/office/drawing/2014/main" id="{BB80F47A-08F5-5844-A324-DE9EACC5F6E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71364" y="200522"/>
            <a:ext cx="11449272" cy="646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996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88640"/>
            <a:ext cx="9709722" cy="551656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Data types and Collection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392" y="808667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What are the different types of data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91344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8494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FF9AD1-E08A-4E91-B9CB-5F35BEB99E0D}"/>
              </a:ext>
            </a:extLst>
          </p:cNvPr>
          <p:cNvCxnSpPr>
            <a:cxnSpLocks/>
          </p:cNvCxnSpPr>
          <p:nvPr/>
        </p:nvCxnSpPr>
        <p:spPr>
          <a:xfrm flipH="1">
            <a:off x="2207552" y="1124716"/>
            <a:ext cx="16" cy="3960469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Cloud 3">
            <a:extLst>
              <a:ext uri="{FF2B5EF4-FFF2-40B4-BE49-F238E27FC236}">
                <a16:creationId xmlns:a16="http://schemas.microsoft.com/office/drawing/2014/main" id="{0E9F5A58-CF2D-CF47-A141-CBE7961A840E}"/>
              </a:ext>
            </a:extLst>
          </p:cNvPr>
          <p:cNvSpPr/>
          <p:nvPr/>
        </p:nvSpPr>
        <p:spPr>
          <a:xfrm>
            <a:off x="1926336" y="1100306"/>
            <a:ext cx="8997696" cy="536447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Quick Write:  In your own words explain what </a:t>
            </a:r>
            <a:r>
              <a:rPr lang="en-US" sz="3200" b="1" dirty="0" err="1"/>
              <a:t>Quantitive</a:t>
            </a:r>
            <a:r>
              <a:rPr lang="en-US" sz="3200" b="1" dirty="0"/>
              <a:t> and Qualitive Data is with examples. </a:t>
            </a:r>
          </a:p>
          <a:p>
            <a:pPr algn="ctr"/>
            <a:endParaRPr lang="en-US" sz="3200" b="1" dirty="0"/>
          </a:p>
          <a:p>
            <a:pPr algn="ctr"/>
            <a:r>
              <a:rPr lang="en-US" sz="3200" b="1" dirty="0"/>
              <a:t>You have 2 minutes.  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651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88640"/>
            <a:ext cx="9709722" cy="551656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Data types and Collection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392" y="808667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What are the different types of data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91344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8494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FF9AD1-E08A-4E91-B9CB-5F35BEB99E0D}"/>
              </a:ext>
            </a:extLst>
          </p:cNvPr>
          <p:cNvCxnSpPr>
            <a:cxnSpLocks/>
          </p:cNvCxnSpPr>
          <p:nvPr/>
        </p:nvCxnSpPr>
        <p:spPr>
          <a:xfrm flipH="1">
            <a:off x="2207552" y="1124716"/>
            <a:ext cx="16" cy="3960469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0535AB3-DA5D-4240-B419-8FBD1F3995E1}"/>
              </a:ext>
            </a:extLst>
          </p:cNvPr>
          <p:cNvSpPr txBox="1"/>
          <p:nvPr/>
        </p:nvSpPr>
        <p:spPr>
          <a:xfrm>
            <a:off x="2474976" y="1267968"/>
            <a:ext cx="34381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Task: Data Sort</a:t>
            </a:r>
          </a:p>
          <a:p>
            <a:br>
              <a:rPr lang="en-US" b="1" u="sng" dirty="0"/>
            </a:br>
            <a:r>
              <a:rPr lang="en-US" dirty="0"/>
              <a:t>Copy the two columns below….</a:t>
            </a:r>
            <a:endParaRPr lang="en-US" b="1" u="sng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3A8C9DE-F499-0640-AC17-8545A797C2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315109"/>
              </p:ext>
            </p:extLst>
          </p:nvPr>
        </p:nvGraphicFramePr>
        <p:xfrm>
          <a:off x="2605024" y="2548465"/>
          <a:ext cx="8128000" cy="35336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5463873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47864298"/>
                    </a:ext>
                  </a:extLst>
                </a:gridCol>
              </a:tblGrid>
              <a:tr h="645839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Qualitive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/>
                        <a:t>Quantitive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123837"/>
                  </a:ext>
                </a:extLst>
              </a:tr>
              <a:tr h="28878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051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0881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88640"/>
            <a:ext cx="9709722" cy="551656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Data types and Collection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392" y="808667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What are the different types of data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91344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8494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FF9AD1-E08A-4E91-B9CB-5F35BEB99E0D}"/>
              </a:ext>
            </a:extLst>
          </p:cNvPr>
          <p:cNvCxnSpPr>
            <a:cxnSpLocks/>
          </p:cNvCxnSpPr>
          <p:nvPr/>
        </p:nvCxnSpPr>
        <p:spPr>
          <a:xfrm flipH="1">
            <a:off x="2207552" y="1124716"/>
            <a:ext cx="16" cy="3960469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0535AB3-DA5D-4240-B419-8FBD1F3995E1}"/>
              </a:ext>
            </a:extLst>
          </p:cNvPr>
          <p:cNvSpPr txBox="1"/>
          <p:nvPr/>
        </p:nvSpPr>
        <p:spPr>
          <a:xfrm>
            <a:off x="179104" y="1457387"/>
            <a:ext cx="19628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Task: Data Sort</a:t>
            </a:r>
          </a:p>
          <a:p>
            <a:r>
              <a:rPr lang="en-US" dirty="0"/>
              <a:t>Sort the data below into their type of data, </a:t>
            </a:r>
            <a:r>
              <a:rPr lang="en-US" dirty="0" err="1"/>
              <a:t>quantitive</a:t>
            </a:r>
            <a:r>
              <a:rPr lang="en-US" dirty="0"/>
              <a:t> or qualitive.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82F287-A2F7-3B4E-8350-2917C92F5514}"/>
              </a:ext>
            </a:extLst>
          </p:cNvPr>
          <p:cNvSpPr txBox="1"/>
          <p:nvPr/>
        </p:nvSpPr>
        <p:spPr>
          <a:xfrm>
            <a:off x="2450592" y="1286038"/>
            <a:ext cx="4303712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gummy worm increased by 2 inches.</a:t>
            </a:r>
            <a:endParaRPr lang="en-AU" dirty="0"/>
          </a:p>
          <a:p>
            <a:r>
              <a:rPr lang="en-US" dirty="0"/>
              <a:t> </a:t>
            </a:r>
            <a:endParaRPr lang="en-AU" dirty="0"/>
          </a:p>
          <a:p>
            <a:r>
              <a:rPr lang="en-US" dirty="0"/>
              <a:t>There were four dogs in the group.</a:t>
            </a:r>
            <a:endParaRPr lang="en-AU" dirty="0"/>
          </a:p>
          <a:p>
            <a:r>
              <a:rPr lang="en-US" dirty="0"/>
              <a:t> </a:t>
            </a:r>
            <a:endParaRPr lang="en-AU" dirty="0"/>
          </a:p>
          <a:p>
            <a:r>
              <a:rPr lang="en-US" dirty="0"/>
              <a:t>The dogs were small.</a:t>
            </a:r>
            <a:endParaRPr lang="en-AU" dirty="0"/>
          </a:p>
          <a:p>
            <a:r>
              <a:rPr lang="en-US" dirty="0"/>
              <a:t> </a:t>
            </a:r>
            <a:endParaRPr lang="en-AU" dirty="0"/>
          </a:p>
          <a:p>
            <a:r>
              <a:rPr lang="en-US" dirty="0"/>
              <a:t>The sample contained 3 different types of bacteria.</a:t>
            </a:r>
            <a:endParaRPr lang="en-AU" dirty="0"/>
          </a:p>
          <a:p>
            <a:r>
              <a:rPr lang="en-US" dirty="0"/>
              <a:t> </a:t>
            </a:r>
            <a:endParaRPr lang="en-AU" dirty="0"/>
          </a:p>
          <a:p>
            <a:r>
              <a:rPr lang="en-US" dirty="0"/>
              <a:t>The patient complained of aches and pains.</a:t>
            </a:r>
            <a:endParaRPr lang="en-AU" dirty="0"/>
          </a:p>
          <a:p>
            <a:r>
              <a:rPr lang="en-US" dirty="0"/>
              <a:t> </a:t>
            </a:r>
            <a:endParaRPr lang="en-AU" dirty="0"/>
          </a:p>
          <a:p>
            <a:r>
              <a:rPr lang="en-US" dirty="0"/>
              <a:t>The patient had a temperature 102 degrees.</a:t>
            </a:r>
            <a:endParaRPr lang="en-AU" dirty="0"/>
          </a:p>
          <a:p>
            <a:r>
              <a:rPr lang="en-US" dirty="0"/>
              <a:t> </a:t>
            </a:r>
            <a:endParaRPr lang="en-AU" dirty="0"/>
          </a:p>
          <a:p>
            <a:r>
              <a:rPr lang="en-US" dirty="0"/>
              <a:t>The chimp identified 12 pictures correctly.</a:t>
            </a:r>
            <a:endParaRPr lang="en-AU" dirty="0"/>
          </a:p>
          <a:p>
            <a:r>
              <a:rPr lang="en-US" dirty="0"/>
              <a:t> </a:t>
            </a:r>
            <a:endParaRPr lang="en-AU" dirty="0"/>
          </a:p>
          <a:p>
            <a:r>
              <a:rPr lang="en-US" dirty="0"/>
              <a:t>The parrots range from bright green to dark red.</a:t>
            </a:r>
            <a:endParaRPr lang="en-AU" dirty="0"/>
          </a:p>
          <a:p>
            <a:r>
              <a:rPr lang="en-US" dirty="0"/>
              <a:t> </a:t>
            </a:r>
            <a:endParaRPr lang="en-AU" dirty="0"/>
          </a:p>
          <a:p>
            <a:r>
              <a:rPr lang="en-US" dirty="0"/>
              <a:t>The balloon increased in size from 5 inches to 8 inches around.</a:t>
            </a:r>
            <a:endParaRPr lang="en-AU" dirty="0"/>
          </a:p>
          <a:p>
            <a:r>
              <a:rPr lang="en-US" sz="1600" dirty="0"/>
              <a:t> 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E92890-24CB-CA43-84DC-1A710AC66A32}"/>
              </a:ext>
            </a:extLst>
          </p:cNvPr>
          <p:cNvSpPr txBox="1"/>
          <p:nvPr/>
        </p:nvSpPr>
        <p:spPr>
          <a:xfrm>
            <a:off x="7436240" y="1286038"/>
            <a:ext cx="430371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 </a:t>
            </a:r>
            <a:r>
              <a:rPr lang="en-US" dirty="0"/>
              <a:t>The birds were young.</a:t>
            </a:r>
            <a:endParaRPr lang="en-AU" dirty="0"/>
          </a:p>
          <a:p>
            <a:r>
              <a:rPr lang="en-US" dirty="0"/>
              <a:t> </a:t>
            </a:r>
            <a:endParaRPr lang="en-AU" dirty="0"/>
          </a:p>
          <a:p>
            <a:r>
              <a:rPr lang="en-US" dirty="0"/>
              <a:t>The rock sample consisted of 25 grams of quartz</a:t>
            </a:r>
            <a:endParaRPr lang="en-AU" dirty="0"/>
          </a:p>
          <a:p>
            <a:r>
              <a:rPr lang="en-US" dirty="0"/>
              <a:t> </a:t>
            </a:r>
            <a:endParaRPr lang="en-AU" dirty="0"/>
          </a:p>
          <a:p>
            <a:r>
              <a:rPr lang="en-US" dirty="0"/>
              <a:t>The rock sample was reddish brownish.</a:t>
            </a:r>
            <a:endParaRPr lang="en-AU" dirty="0"/>
          </a:p>
          <a:p>
            <a:r>
              <a:rPr lang="en-US" dirty="0"/>
              <a:t> </a:t>
            </a:r>
            <a:endParaRPr lang="en-AU" dirty="0"/>
          </a:p>
          <a:p>
            <a:r>
              <a:rPr lang="en-US" dirty="0"/>
              <a:t>The sample with the baking soda appeared bubbly </a:t>
            </a:r>
            <a:endParaRPr lang="en-AU" dirty="0"/>
          </a:p>
          <a:p>
            <a:r>
              <a:rPr lang="en-US" dirty="0"/>
              <a:t> </a:t>
            </a:r>
            <a:endParaRPr lang="en-AU" dirty="0"/>
          </a:p>
          <a:p>
            <a:r>
              <a:rPr lang="en-US" dirty="0"/>
              <a:t>The leaves on the first plant specimen appeared healthier.</a:t>
            </a:r>
            <a:endParaRPr lang="en-AU" dirty="0"/>
          </a:p>
          <a:p>
            <a:r>
              <a:rPr lang="en-US" dirty="0"/>
              <a:t> </a:t>
            </a:r>
            <a:endParaRPr lang="en-AU" dirty="0"/>
          </a:p>
          <a:p>
            <a:r>
              <a:rPr lang="en-US" dirty="0"/>
              <a:t>The first plant specimen had 3 more leaves than the second specimen.</a:t>
            </a:r>
            <a:endParaRPr lang="en-AU" dirty="0"/>
          </a:p>
          <a:p>
            <a:r>
              <a:rPr lang="en-US" dirty="0"/>
              <a:t> </a:t>
            </a:r>
            <a:endParaRPr lang="en-AU" dirty="0"/>
          </a:p>
          <a:p>
            <a:r>
              <a:rPr lang="en-US" dirty="0"/>
              <a:t>The leaves on the second plant specimen were green, while the leaves on the first plant specimen were turning brown.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66860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88640"/>
            <a:ext cx="9709722" cy="551656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Data types and Collection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392" y="808667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What are the different types of data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91344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8494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FF9AD1-E08A-4E91-B9CB-5F35BEB99E0D}"/>
              </a:ext>
            </a:extLst>
          </p:cNvPr>
          <p:cNvCxnSpPr>
            <a:cxnSpLocks/>
          </p:cNvCxnSpPr>
          <p:nvPr/>
        </p:nvCxnSpPr>
        <p:spPr>
          <a:xfrm flipH="1">
            <a:off x="2207552" y="1124716"/>
            <a:ext cx="16" cy="3960469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0535AB3-DA5D-4240-B419-8FBD1F3995E1}"/>
              </a:ext>
            </a:extLst>
          </p:cNvPr>
          <p:cNvSpPr txBox="1"/>
          <p:nvPr/>
        </p:nvSpPr>
        <p:spPr>
          <a:xfrm>
            <a:off x="179104" y="1457387"/>
            <a:ext cx="1962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Task: Data Sort</a:t>
            </a:r>
          </a:p>
          <a:p>
            <a:r>
              <a:rPr lang="en-US" dirty="0"/>
              <a:t>Answers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82F287-A2F7-3B4E-8350-2917C92F5514}"/>
              </a:ext>
            </a:extLst>
          </p:cNvPr>
          <p:cNvSpPr txBox="1"/>
          <p:nvPr/>
        </p:nvSpPr>
        <p:spPr>
          <a:xfrm>
            <a:off x="2438400" y="1186748"/>
            <a:ext cx="4303712" cy="7325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 </a:t>
            </a:r>
            <a:r>
              <a:rPr lang="en-US" b="1" dirty="0"/>
              <a:t>Qualitive: </a:t>
            </a:r>
            <a:endParaRPr lang="en-US" sz="2000" b="1" dirty="0"/>
          </a:p>
          <a:p>
            <a:r>
              <a:rPr lang="en-US" sz="2000" dirty="0"/>
              <a:t>1</a:t>
            </a:r>
            <a:r>
              <a:rPr lang="en-US" dirty="0"/>
              <a:t>. </a:t>
            </a:r>
            <a:r>
              <a:rPr lang="en-US" sz="2000" dirty="0"/>
              <a:t>The dogs were </a:t>
            </a:r>
            <a:r>
              <a:rPr lang="en-US" sz="2000" u="sng" dirty="0"/>
              <a:t>small</a:t>
            </a:r>
            <a:r>
              <a:rPr lang="en-US" sz="2400" dirty="0"/>
              <a:t>.</a:t>
            </a:r>
            <a:endParaRPr lang="en-AU" sz="2400" dirty="0"/>
          </a:p>
          <a:p>
            <a:r>
              <a:rPr lang="en-US" sz="2000" dirty="0"/>
              <a:t>2. The patient complained of </a:t>
            </a:r>
            <a:r>
              <a:rPr lang="en-US" sz="2000" u="sng" dirty="0"/>
              <a:t>aches and pains.</a:t>
            </a:r>
          </a:p>
          <a:p>
            <a:r>
              <a:rPr lang="en-US" sz="2000" dirty="0"/>
              <a:t>3. The parrots range from bright </a:t>
            </a:r>
            <a:r>
              <a:rPr lang="en-US" sz="2000" u="sng" dirty="0"/>
              <a:t>green to dark red</a:t>
            </a:r>
            <a:r>
              <a:rPr lang="en-US" sz="2000" dirty="0"/>
              <a:t>.</a:t>
            </a:r>
          </a:p>
          <a:p>
            <a:r>
              <a:rPr lang="en-US" sz="2000" dirty="0"/>
              <a:t>4. The birds were </a:t>
            </a:r>
            <a:r>
              <a:rPr lang="en-US" sz="2000" u="sng" dirty="0"/>
              <a:t>young</a:t>
            </a:r>
            <a:r>
              <a:rPr lang="en-US" sz="2000" dirty="0"/>
              <a:t>.</a:t>
            </a:r>
          </a:p>
          <a:p>
            <a:r>
              <a:rPr lang="en-US" sz="2000" dirty="0"/>
              <a:t>5. The rock sample was </a:t>
            </a:r>
            <a:r>
              <a:rPr lang="en-US" sz="2000" u="sng" dirty="0"/>
              <a:t>reddish brownish</a:t>
            </a:r>
            <a:r>
              <a:rPr lang="en-US" sz="2000" dirty="0"/>
              <a:t>.</a:t>
            </a:r>
          </a:p>
          <a:p>
            <a:r>
              <a:rPr lang="en-US" sz="2000" dirty="0"/>
              <a:t>6. The sample with the baking soda appeared </a:t>
            </a:r>
            <a:r>
              <a:rPr lang="en-US" sz="2000" u="sng" dirty="0"/>
              <a:t>bubbly</a:t>
            </a:r>
            <a:r>
              <a:rPr lang="en-US" sz="2000" dirty="0"/>
              <a:t> </a:t>
            </a:r>
          </a:p>
          <a:p>
            <a:r>
              <a:rPr lang="en-US" sz="2000" dirty="0"/>
              <a:t>7. The leaves on the first plant specimen appeared </a:t>
            </a:r>
            <a:r>
              <a:rPr lang="en-US" sz="2000" u="sng" dirty="0"/>
              <a:t>healthier</a:t>
            </a:r>
            <a:r>
              <a:rPr lang="en-US" sz="2000" dirty="0"/>
              <a:t>.</a:t>
            </a:r>
          </a:p>
          <a:p>
            <a:r>
              <a:rPr lang="en-US" sz="2000" dirty="0"/>
              <a:t>8. The leaves on the second plant specimen were </a:t>
            </a:r>
            <a:r>
              <a:rPr lang="en-US" sz="2000" u="sng" dirty="0"/>
              <a:t>green</a:t>
            </a:r>
            <a:r>
              <a:rPr lang="en-US" sz="2000" dirty="0"/>
              <a:t>, while the leaves on the first plant specimen were turning </a:t>
            </a:r>
            <a:r>
              <a:rPr lang="en-US" sz="2000" u="sng" dirty="0"/>
              <a:t>brown</a:t>
            </a:r>
            <a:r>
              <a:rPr lang="en-US" sz="2000" dirty="0"/>
              <a:t>.</a:t>
            </a:r>
            <a:endParaRPr lang="en-AU" sz="2000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E92890-24CB-CA43-84DC-1A710AC66A32}"/>
              </a:ext>
            </a:extLst>
          </p:cNvPr>
          <p:cNvSpPr txBox="1"/>
          <p:nvPr/>
        </p:nvSpPr>
        <p:spPr>
          <a:xfrm>
            <a:off x="7436240" y="1286038"/>
            <a:ext cx="4303712" cy="658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err="1"/>
              <a:t>Quantitive</a:t>
            </a:r>
            <a:r>
              <a:rPr lang="en-AU" b="1" dirty="0"/>
              <a:t>:</a:t>
            </a:r>
          </a:p>
          <a:p>
            <a:r>
              <a:rPr lang="en-AU" sz="2000" dirty="0"/>
              <a:t>1.</a:t>
            </a:r>
            <a:r>
              <a:rPr lang="en-US" sz="2000" dirty="0"/>
              <a:t> The gummy worm increased by </a:t>
            </a:r>
            <a:r>
              <a:rPr lang="en-US" sz="2000" u="sng" dirty="0"/>
              <a:t>2 inches</a:t>
            </a:r>
            <a:r>
              <a:rPr lang="en-US" sz="2000" dirty="0"/>
              <a:t>.</a:t>
            </a:r>
            <a:endParaRPr lang="en-AU" sz="2000" dirty="0"/>
          </a:p>
          <a:p>
            <a:r>
              <a:rPr lang="en-AU" sz="2000" dirty="0"/>
              <a:t>2. </a:t>
            </a:r>
            <a:r>
              <a:rPr lang="en-US" sz="2000" dirty="0"/>
              <a:t>There were </a:t>
            </a:r>
            <a:r>
              <a:rPr lang="en-US" sz="2000" u="sng" dirty="0"/>
              <a:t>four</a:t>
            </a:r>
            <a:r>
              <a:rPr lang="en-US" sz="2000" dirty="0"/>
              <a:t> dogs in the group.</a:t>
            </a:r>
          </a:p>
          <a:p>
            <a:r>
              <a:rPr lang="en-US" sz="2000" dirty="0"/>
              <a:t>3. The sample contained </a:t>
            </a:r>
            <a:r>
              <a:rPr lang="en-US" sz="2000" u="sng" dirty="0"/>
              <a:t>3</a:t>
            </a:r>
            <a:r>
              <a:rPr lang="en-US" sz="2000" dirty="0"/>
              <a:t> different types of bacteria.</a:t>
            </a:r>
            <a:endParaRPr lang="en-AU" sz="2000" dirty="0"/>
          </a:p>
          <a:p>
            <a:r>
              <a:rPr lang="en-AU" sz="2000" dirty="0"/>
              <a:t>4. </a:t>
            </a:r>
            <a:r>
              <a:rPr lang="en-US" sz="2000" dirty="0"/>
              <a:t>The patient had a temperature </a:t>
            </a:r>
            <a:r>
              <a:rPr lang="en-US" sz="2000" u="sng" dirty="0"/>
              <a:t>102 degrees</a:t>
            </a:r>
          </a:p>
          <a:p>
            <a:r>
              <a:rPr lang="en-US" sz="2000" dirty="0"/>
              <a:t>5. The chimp identified </a:t>
            </a:r>
            <a:r>
              <a:rPr lang="en-US" sz="2000" u="sng" dirty="0"/>
              <a:t>12 pictures</a:t>
            </a:r>
            <a:r>
              <a:rPr lang="en-US" sz="2000" dirty="0"/>
              <a:t> correctly.</a:t>
            </a:r>
          </a:p>
          <a:p>
            <a:r>
              <a:rPr lang="en-US" sz="2000" dirty="0"/>
              <a:t>6. The balloon increased in size from </a:t>
            </a:r>
            <a:r>
              <a:rPr lang="en-US" sz="2000" u="sng" dirty="0"/>
              <a:t>5 inches</a:t>
            </a:r>
            <a:r>
              <a:rPr lang="en-US" sz="2000" dirty="0"/>
              <a:t> to </a:t>
            </a:r>
            <a:r>
              <a:rPr lang="en-US" sz="2000" u="sng" dirty="0"/>
              <a:t>8 inches</a:t>
            </a:r>
            <a:r>
              <a:rPr lang="en-US" sz="2000" dirty="0"/>
              <a:t> around.</a:t>
            </a:r>
          </a:p>
          <a:p>
            <a:r>
              <a:rPr lang="en-US" sz="2000" dirty="0"/>
              <a:t>7. The rock sample consisted of </a:t>
            </a:r>
            <a:r>
              <a:rPr lang="en-US" sz="2000" u="sng" dirty="0"/>
              <a:t>25 grams</a:t>
            </a:r>
            <a:r>
              <a:rPr lang="en-US" sz="2000" dirty="0"/>
              <a:t> of quartz.</a:t>
            </a:r>
          </a:p>
          <a:p>
            <a:r>
              <a:rPr lang="en-US" sz="2000" dirty="0"/>
              <a:t>8. The first plant specimen had </a:t>
            </a:r>
            <a:r>
              <a:rPr lang="en-US" sz="2000" u="sng" dirty="0"/>
              <a:t>3 more leaves</a:t>
            </a:r>
            <a:r>
              <a:rPr lang="en-US" sz="2000" dirty="0"/>
              <a:t> than the second specimen.</a:t>
            </a:r>
            <a:endParaRPr lang="en-AU" sz="2000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32241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</TotalTime>
  <Words>794</Words>
  <Application>Microsoft Macintosh PowerPoint</Application>
  <PresentationFormat>Widescreen</PresentationFormat>
  <Paragraphs>126</Paragraphs>
  <Slides>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Office Theme</vt:lpstr>
      <vt:lpstr>Topic: Data types and Collection</vt:lpstr>
      <vt:lpstr>Topic: Data types and Collection</vt:lpstr>
      <vt:lpstr>Topic: Data types and Collection</vt:lpstr>
      <vt:lpstr>Topic: Data types and Collection</vt:lpstr>
      <vt:lpstr>Topic: Data types and Collection</vt:lpstr>
      <vt:lpstr>Topic: Data types and Collection</vt:lpstr>
      <vt:lpstr>Topic: Data types and Collection</vt:lpstr>
      <vt:lpstr>Topic: Data types and Collection</vt:lpstr>
      <vt:lpstr>Topic: Data types and Collection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MCLEOD Alexandria [Baldivis Secondary College]</dc:creator>
  <cp:lastModifiedBy>DIXON Emily [Baldivis Secondary College]</cp:lastModifiedBy>
  <cp:revision>16</cp:revision>
  <dcterms:created xsi:type="dcterms:W3CDTF">2021-05-19T00:24:05Z</dcterms:created>
  <dcterms:modified xsi:type="dcterms:W3CDTF">2021-05-20T00:21:46Z</dcterms:modified>
</cp:coreProperties>
</file>
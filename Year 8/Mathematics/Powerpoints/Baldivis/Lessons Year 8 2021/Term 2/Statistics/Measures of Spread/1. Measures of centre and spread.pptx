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21"/>
  </p:notesMasterIdLst>
  <p:handoutMasterIdLst>
    <p:handoutMasterId r:id="rId22"/>
  </p:handoutMasterIdLst>
  <p:sldIdLst>
    <p:sldId id="258" r:id="rId2"/>
    <p:sldId id="260" r:id="rId3"/>
    <p:sldId id="272" r:id="rId4"/>
    <p:sldId id="273" r:id="rId5"/>
    <p:sldId id="281" r:id="rId6"/>
    <p:sldId id="283" r:id="rId7"/>
    <p:sldId id="284" r:id="rId8"/>
    <p:sldId id="286" r:id="rId9"/>
    <p:sldId id="288" r:id="rId10"/>
    <p:sldId id="285" r:id="rId11"/>
    <p:sldId id="287" r:id="rId12"/>
    <p:sldId id="289" r:id="rId13"/>
    <p:sldId id="290" r:id="rId14"/>
    <p:sldId id="291" r:id="rId15"/>
    <p:sldId id="282" r:id="rId16"/>
    <p:sldId id="293" r:id="rId17"/>
    <p:sldId id="292" r:id="rId18"/>
    <p:sldId id="294" r:id="rId19"/>
    <p:sldId id="28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HginNwss5c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/>
              <a:t>Measures of Centre and Spread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</a:t>
            </a:r>
            <a:r>
              <a:rPr lang="en-US" dirty="0"/>
              <a:t>Describe the different methods for finding a measure of </a:t>
            </a:r>
            <a:r>
              <a:rPr lang="en-US" dirty="0" err="1"/>
              <a:t>centre</a:t>
            </a:r>
            <a:r>
              <a:rPr lang="en-US" dirty="0"/>
              <a:t> for a data set?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80321" y="2220686"/>
            <a:ext cx="73934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To describe the different methods for finding a measure of centre.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Understand that the range is a measure of spread for a data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To be able to calculate the mean, median, mode and range.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Measures of Centre and Spread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 smtClean="0"/>
              <a:t>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</a:t>
            </a:r>
            <a:r>
              <a:rPr lang="en-US" sz="2800" dirty="0" smtClean="0"/>
              <a:t>?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65463" y="1508870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047859" y="2016199"/>
            <a:ext cx="7863840" cy="343376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 smtClean="0"/>
              <a:t>Write a summary for last lesson </a:t>
            </a:r>
          </a:p>
          <a:p>
            <a:pPr marL="457200" indent="-457200">
              <a:buAutoNum type="arabicPeriod"/>
            </a:pPr>
            <a:r>
              <a:rPr lang="en-AU" dirty="0" smtClean="0"/>
              <a:t>Describe the different ways to take a sample from a population.</a:t>
            </a:r>
          </a:p>
          <a:p>
            <a:pPr marL="457200" indent="-457200">
              <a:buAutoNum type="arabicPeriod"/>
            </a:pPr>
            <a:r>
              <a:rPr lang="en-AU" dirty="0" smtClean="0"/>
              <a:t>What is the difference between a census and a sample? </a:t>
            </a:r>
          </a:p>
          <a:p>
            <a:pPr marL="457200" indent="-457200">
              <a:buAutoNum type="arabicPeriod"/>
            </a:pPr>
            <a:r>
              <a:rPr lang="en-AU" dirty="0" smtClean="0"/>
              <a:t>How can I find the average of a data set?</a:t>
            </a:r>
          </a:p>
          <a:p>
            <a:pPr marL="457200" indent="-457200">
              <a:buAutoNum type="arabicPeriod"/>
            </a:pPr>
            <a:r>
              <a:rPr lang="en-AU" dirty="0" smtClean="0"/>
              <a:t> </a:t>
            </a:r>
            <a:endParaRPr lang="en-AU" dirty="0" smtClean="0"/>
          </a:p>
          <a:p>
            <a:pPr marL="457200" indent="-457200">
              <a:buFont typeface="+mj-lt"/>
              <a:buAutoNum type="arabicPeriod" startAt="2"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38" y="4581139"/>
            <a:ext cx="7282426" cy="22768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67131" y="121921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Inquiry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3" y="1950720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Mean, median and mode</a:t>
            </a:r>
          </a:p>
          <a:p>
            <a:endParaRPr lang="en-AU" dirty="0"/>
          </a:p>
          <a:p>
            <a:r>
              <a:rPr lang="en-AU" dirty="0"/>
              <a:t>R</a:t>
            </a:r>
            <a:r>
              <a:rPr lang="en-AU" dirty="0" smtClean="0"/>
              <a:t>ange</a:t>
            </a:r>
            <a:endParaRPr lang="en-AU" dirty="0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95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2975158" y="2232371"/>
            <a:ext cx="4698358" cy="3599316"/>
          </a:xfrm>
        </p:spPr>
        <p:txBody>
          <a:bodyPr/>
          <a:lstStyle/>
          <a:p>
            <a:r>
              <a:rPr lang="en-AU" dirty="0" smtClean="0">
                <a:hlinkClick r:id="rId2"/>
              </a:rPr>
              <a:t>Video clip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669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Mean, median and mode</a:t>
            </a:r>
          </a:p>
          <a:p>
            <a:endParaRPr lang="en-AU" dirty="0"/>
          </a:p>
          <a:p>
            <a:r>
              <a:rPr lang="en-AU" dirty="0" smtClean="0"/>
              <a:t>Range</a:t>
            </a:r>
          </a:p>
          <a:p>
            <a:endParaRPr lang="en-AU" dirty="0"/>
          </a:p>
          <a:p>
            <a:r>
              <a:rPr lang="en-AU" dirty="0" smtClean="0"/>
              <a:t>The median is the middle number of an </a:t>
            </a:r>
            <a:r>
              <a:rPr lang="en-AU" b="1" u="sng" dirty="0" smtClean="0"/>
              <a:t>ordered</a:t>
            </a:r>
            <a:r>
              <a:rPr lang="en-AU" dirty="0" smtClean="0"/>
              <a:t> data set. If there are two middle numbers – add them and divide by 2. </a:t>
            </a:r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3389" y="2193109"/>
            <a:ext cx="29081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Example: Use the data set</a:t>
            </a:r>
          </a:p>
          <a:p>
            <a:endParaRPr lang="en-AU" dirty="0"/>
          </a:p>
          <a:p>
            <a:r>
              <a:rPr lang="en-AU" dirty="0" smtClean="0"/>
              <a:t>1, 2 ,2 ,4 ,5 ,5, 6, 7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468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Mean, median and mode</a:t>
            </a:r>
          </a:p>
          <a:p>
            <a:endParaRPr lang="en-AU" dirty="0"/>
          </a:p>
          <a:p>
            <a:r>
              <a:rPr lang="en-AU" dirty="0" smtClean="0"/>
              <a:t>Range</a:t>
            </a:r>
          </a:p>
          <a:p>
            <a:endParaRPr lang="en-AU" dirty="0"/>
          </a:p>
          <a:p>
            <a:r>
              <a:rPr lang="en-AU" dirty="0" smtClean="0"/>
              <a:t>The median is the middle number of an </a:t>
            </a:r>
            <a:r>
              <a:rPr lang="en-AU" b="1" u="sng" dirty="0" smtClean="0"/>
              <a:t>ordered</a:t>
            </a:r>
            <a:r>
              <a:rPr lang="en-AU" dirty="0" smtClean="0"/>
              <a:t> data set. If there are two middle numbers – add them and divide by 2. </a:t>
            </a:r>
          </a:p>
          <a:p>
            <a:endParaRPr lang="en-AU" dirty="0"/>
          </a:p>
          <a:p>
            <a:endParaRPr lang="en-AU" sz="2400" dirty="0" smtClean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Example: Use the data set</a:t>
                </a:r>
              </a:p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blipFill>
                <a:blip r:embed="rId2"/>
                <a:stretch>
                  <a:fillRect l="-1887" t="-2642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516983" y="2719530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69829" y="3143795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3423" y="3125573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38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Mean, median and mode</a:t>
            </a:r>
          </a:p>
          <a:p>
            <a:endParaRPr lang="en-AU" dirty="0"/>
          </a:p>
          <a:p>
            <a:r>
              <a:rPr lang="en-AU" dirty="0" smtClean="0"/>
              <a:t>Range</a:t>
            </a:r>
          </a:p>
          <a:p>
            <a:endParaRPr lang="en-AU" dirty="0"/>
          </a:p>
          <a:p>
            <a:r>
              <a:rPr lang="en-AU" dirty="0" smtClean="0"/>
              <a:t>The median is the middle number of an </a:t>
            </a:r>
            <a:r>
              <a:rPr lang="en-AU" b="1" u="sng" dirty="0" smtClean="0"/>
              <a:t>ordered</a:t>
            </a:r>
            <a:r>
              <a:rPr lang="en-AU" dirty="0" smtClean="0"/>
              <a:t> data set. If there are two middle numbers – add them and divide by 2. </a:t>
            </a:r>
          </a:p>
          <a:p>
            <a:endParaRPr lang="en-AU" dirty="0"/>
          </a:p>
          <a:p>
            <a:r>
              <a:rPr lang="en-AU" dirty="0" smtClean="0"/>
              <a:t>The most common value. If there are two modes then the data id bimodal.</a:t>
            </a:r>
          </a:p>
          <a:p>
            <a:endParaRPr lang="en-AU" dirty="0" smtClean="0"/>
          </a:p>
          <a:p>
            <a:endParaRPr lang="en-AU" sz="2400" dirty="0" smtClean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Example: Use the data set</a:t>
                </a:r>
              </a:p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blipFill>
                <a:blip r:embed="rId2"/>
                <a:stretch>
                  <a:fillRect l="-1887" t="-2642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516983" y="2719530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69829" y="3143795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3423" y="3125573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628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Mean, median and mode</a:t>
            </a:r>
          </a:p>
          <a:p>
            <a:endParaRPr lang="en-AU" dirty="0"/>
          </a:p>
          <a:p>
            <a:r>
              <a:rPr lang="en-AU" dirty="0" smtClean="0"/>
              <a:t>Range</a:t>
            </a:r>
          </a:p>
          <a:p>
            <a:endParaRPr lang="en-AU" dirty="0"/>
          </a:p>
          <a:p>
            <a:r>
              <a:rPr lang="en-AU" dirty="0" smtClean="0"/>
              <a:t>The median is the middle number of an </a:t>
            </a:r>
            <a:r>
              <a:rPr lang="en-AU" b="1" u="sng" dirty="0" smtClean="0"/>
              <a:t>ordered</a:t>
            </a:r>
            <a:r>
              <a:rPr lang="en-AU" dirty="0" smtClean="0"/>
              <a:t> data set. If there are two middle numbers – add them and divide by 2. </a:t>
            </a:r>
          </a:p>
          <a:p>
            <a:endParaRPr lang="en-AU" dirty="0"/>
          </a:p>
          <a:p>
            <a:r>
              <a:rPr lang="en-AU" dirty="0" smtClean="0"/>
              <a:t>The most common value. If there are two modes then the data id bimodal.</a:t>
            </a:r>
          </a:p>
          <a:p>
            <a:endParaRPr lang="en-AU" dirty="0" smtClean="0"/>
          </a:p>
          <a:p>
            <a:endParaRPr lang="en-AU" sz="2400" dirty="0" smtClean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Example: Use the data set</a:t>
                </a:r>
              </a:p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blipFill>
                <a:blip r:embed="rId2"/>
                <a:stretch>
                  <a:fillRect l="-1887" t="-2642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516983" y="2719530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69829" y="3143795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3423" y="3125573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7557585" y="4143193"/>
            <a:ext cx="22365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1, 2 ,2 ,4 ,5 ,5, 6, </a:t>
            </a:r>
            <a:r>
              <a:rPr lang="en-AU" dirty="0" smtClean="0"/>
              <a:t>7</a:t>
            </a:r>
          </a:p>
          <a:p>
            <a:endParaRPr lang="en-AU" dirty="0"/>
          </a:p>
          <a:p>
            <a:r>
              <a:rPr lang="en-AU" dirty="0" smtClean="0"/>
              <a:t>Mode – 2 and 5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7893761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8743406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53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r>
              <a:rPr lang="en-US" sz="1800" dirty="0" smtClean="0"/>
              <a:t>How do you find the mean?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664824" y="1950720"/>
                <a:ext cx="4786324" cy="399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Mean, median and mode</a:t>
                </a:r>
              </a:p>
              <a:p>
                <a:endParaRPr lang="en-AU" dirty="0"/>
              </a:p>
              <a:p>
                <a:r>
                  <a:rPr lang="en-AU" dirty="0" smtClean="0"/>
                  <a:t>Range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median is the middle number of an </a:t>
                </a:r>
                <a:r>
                  <a:rPr lang="en-AU" b="1" u="sng" dirty="0" smtClean="0"/>
                  <a:t>ordered</a:t>
                </a:r>
                <a:r>
                  <a:rPr lang="en-AU" dirty="0" smtClean="0"/>
                  <a:t> data set. If there are two middle numbers – add them and divide by 2. 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most common value. If there are two modes then the data id bimodal.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824" y="1950720"/>
                <a:ext cx="4786324" cy="3993594"/>
              </a:xfrm>
              <a:prstGeom prst="rect">
                <a:avLst/>
              </a:prstGeom>
              <a:blipFill>
                <a:blip r:embed="rId2"/>
                <a:stretch>
                  <a:fillRect l="-1019" t="-9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Example: Use the data set</a:t>
                </a:r>
              </a:p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blipFill>
                <a:blip r:embed="rId3"/>
                <a:stretch>
                  <a:fillRect l="-1887" t="-2642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516983" y="2719530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69829" y="3143795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3423" y="3125573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7557585" y="4143193"/>
            <a:ext cx="22365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1, 2 ,2 ,4 ,5 ,5, 6, </a:t>
            </a:r>
            <a:r>
              <a:rPr lang="en-AU" dirty="0" smtClean="0"/>
              <a:t>7</a:t>
            </a:r>
          </a:p>
          <a:p>
            <a:endParaRPr lang="en-AU" dirty="0"/>
          </a:p>
          <a:p>
            <a:r>
              <a:rPr lang="en-AU" dirty="0" smtClean="0"/>
              <a:t>Mode – 2 and 5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7893761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8743406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82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are the measures of </a:t>
            </a:r>
            <a:r>
              <a:rPr lang="en-US" sz="1800" dirty="0" err="1" smtClean="0"/>
              <a:t>centre</a:t>
            </a:r>
            <a:r>
              <a:rPr lang="en-US" sz="1800" dirty="0" smtClean="0"/>
              <a:t>?</a:t>
            </a:r>
          </a:p>
          <a:p>
            <a:pPr marL="0" indent="0">
              <a:buNone/>
            </a:pPr>
            <a:r>
              <a:rPr lang="en-US" sz="1800" dirty="0" smtClean="0"/>
              <a:t>What is the measure for spread?</a:t>
            </a:r>
          </a:p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r>
              <a:rPr lang="en-US" sz="1800" dirty="0" smtClean="0"/>
              <a:t>How do you find the mean?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664824" y="1950720"/>
                <a:ext cx="4786324" cy="399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Mean, median and mode</a:t>
                </a:r>
              </a:p>
              <a:p>
                <a:endParaRPr lang="en-AU" dirty="0"/>
              </a:p>
              <a:p>
                <a:r>
                  <a:rPr lang="en-AU" dirty="0" smtClean="0"/>
                  <a:t>Range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median is the middle number of an </a:t>
                </a:r>
                <a:r>
                  <a:rPr lang="en-AU" b="1" u="sng" dirty="0" smtClean="0"/>
                  <a:t>ordered</a:t>
                </a:r>
                <a:r>
                  <a:rPr lang="en-AU" dirty="0" smtClean="0"/>
                  <a:t> data set. If there are two middle numbers – add them and divide by 2. 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most common value. If there are two modes then the data id bimodal.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824" y="1950720"/>
                <a:ext cx="4786324" cy="3993594"/>
              </a:xfrm>
              <a:prstGeom prst="rect">
                <a:avLst/>
              </a:prstGeom>
              <a:blipFill>
                <a:blip r:embed="rId2"/>
                <a:stretch>
                  <a:fillRect l="-1019" t="-9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Example: Use the data set</a:t>
                </a:r>
              </a:p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2193109"/>
                <a:ext cx="2908168" cy="1616533"/>
              </a:xfrm>
              <a:prstGeom prst="rect">
                <a:avLst/>
              </a:prstGeom>
              <a:blipFill>
                <a:blip r:embed="rId3"/>
                <a:stretch>
                  <a:fillRect l="-1887" t="-2642" r="-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516983" y="2719530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69829" y="3143795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3423" y="3125573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7557585" y="4143193"/>
            <a:ext cx="22365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1, 2 ,2 ,4 ,5 ,5, 6, </a:t>
            </a:r>
            <a:r>
              <a:rPr lang="en-AU" dirty="0" smtClean="0"/>
              <a:t>7</a:t>
            </a:r>
          </a:p>
          <a:p>
            <a:endParaRPr lang="en-AU" dirty="0"/>
          </a:p>
          <a:p>
            <a:r>
              <a:rPr lang="en-AU" dirty="0" smtClean="0"/>
              <a:t>Mode – 2 and 5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7893761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8743406" y="412404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623389" y="5230223"/>
                <a:ext cx="4007059" cy="802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1+2+2+4+5+5+6+7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389" y="5230223"/>
                <a:ext cx="4007059" cy="8029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355316" y="5855681"/>
                <a:ext cx="56265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316" y="5855681"/>
                <a:ext cx="562654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407974" y="6372561"/>
                <a:ext cx="434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974" y="6372561"/>
                <a:ext cx="434414" cy="276999"/>
              </a:xfrm>
              <a:prstGeom prst="rect">
                <a:avLst/>
              </a:prstGeom>
              <a:blipFill>
                <a:blip r:embed="rId6"/>
                <a:stretch>
                  <a:fillRect l="-2778" r="-9722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1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4965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r>
              <a:rPr lang="en-US" sz="1800" dirty="0" smtClean="0"/>
              <a:t>How do you find the mean?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range?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650168" y="2034334"/>
                <a:ext cx="4786324" cy="4547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median is the middle number of an </a:t>
                </a:r>
                <a:r>
                  <a:rPr lang="en-AU" b="1" u="sng" dirty="0" smtClean="0"/>
                  <a:t>ordered</a:t>
                </a:r>
                <a:r>
                  <a:rPr lang="en-AU" dirty="0" smtClean="0"/>
                  <a:t> data set. If there are two middle numbers – add them and divide by 2. 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most common value. If there are two modes then the data id bimodal.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endParaRPr lang="en-AU" sz="2400" dirty="0"/>
              </a:p>
              <a:p>
                <a:endParaRPr lang="en-AU" sz="2400" dirty="0" smtClean="0"/>
              </a:p>
              <a:p>
                <a:endParaRPr lang="en-AU" sz="2400" dirty="0"/>
              </a:p>
              <a:p>
                <a:r>
                  <a:rPr lang="en-AU" dirty="0" smtClean="0"/>
                  <a:t>The difference between the largest and smallest values. 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168" y="2034334"/>
                <a:ext cx="4786324" cy="4547592"/>
              </a:xfrm>
              <a:prstGeom prst="rect">
                <a:avLst/>
              </a:prstGeom>
              <a:blipFill>
                <a:blip r:embed="rId2"/>
                <a:stretch>
                  <a:fillRect l="-1146" t="-9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585165" y="1846596"/>
                <a:ext cx="2236510" cy="1318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165" y="1846596"/>
                <a:ext cx="2236510" cy="1318951"/>
              </a:xfrm>
              <a:prstGeom prst="rect">
                <a:avLst/>
              </a:prstGeom>
              <a:blipFill>
                <a:blip r:embed="rId3"/>
                <a:stretch>
                  <a:fillRect l="-2180" r="-1635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476997" y="2131526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07419" y="2439551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92793" y="2388540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7524206" y="3183333"/>
            <a:ext cx="22365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1, 2 ,2 ,4 ,5 ,5, 6, </a:t>
            </a:r>
            <a:r>
              <a:rPr lang="en-AU" dirty="0" smtClean="0"/>
              <a:t>7</a:t>
            </a:r>
          </a:p>
          <a:p>
            <a:endParaRPr lang="en-AU" dirty="0"/>
          </a:p>
          <a:p>
            <a:r>
              <a:rPr lang="en-AU" dirty="0" smtClean="0"/>
              <a:t>Mode – 2 and 5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7860382" y="316418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8710027" y="316418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590010" y="4270363"/>
                <a:ext cx="4007059" cy="802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1+2+2+4+5+5+6+7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010" y="4270363"/>
                <a:ext cx="4007059" cy="8029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321937" y="4895821"/>
                <a:ext cx="56265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37" y="4895821"/>
                <a:ext cx="562654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374595" y="5412701"/>
                <a:ext cx="434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595" y="5412701"/>
                <a:ext cx="434414" cy="276999"/>
              </a:xfrm>
              <a:prstGeom prst="rect">
                <a:avLst/>
              </a:prstGeom>
              <a:blipFill>
                <a:blip r:embed="rId6"/>
                <a:stretch>
                  <a:fillRect l="-4225" r="-9859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70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4965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How do you find the median?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mode? </a:t>
            </a:r>
          </a:p>
          <a:p>
            <a:pPr marL="0" indent="0">
              <a:buNone/>
            </a:pPr>
            <a:r>
              <a:rPr lang="en-US" sz="1800" dirty="0" smtClean="0"/>
              <a:t>How do you find the mean?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How do you find the range?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 smtClean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824967" y="2073199"/>
                <a:ext cx="4786324" cy="4547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median is the middle number of an </a:t>
                </a:r>
                <a:r>
                  <a:rPr lang="en-AU" b="1" u="sng" dirty="0" smtClean="0"/>
                  <a:t>ordered</a:t>
                </a:r>
                <a:r>
                  <a:rPr lang="en-AU" dirty="0" smtClean="0"/>
                  <a:t> data set. If there are two middle numbers – add them and divide by 2. </a:t>
                </a:r>
              </a:p>
              <a:p>
                <a:endParaRPr lang="en-AU" dirty="0"/>
              </a:p>
              <a:p>
                <a:r>
                  <a:rPr lang="en-AU" dirty="0" smtClean="0"/>
                  <a:t>The most common value. If there are two modes then the data id bimodal.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endParaRPr lang="en-AU" sz="2400" dirty="0"/>
              </a:p>
              <a:p>
                <a:endParaRPr lang="en-AU" sz="2400" dirty="0" smtClean="0"/>
              </a:p>
              <a:p>
                <a:endParaRPr lang="en-AU" sz="2400" dirty="0"/>
              </a:p>
              <a:p>
                <a:r>
                  <a:rPr lang="en-AU" dirty="0" smtClean="0"/>
                  <a:t>The difference between the largest and smallest values. 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967" y="2073199"/>
                <a:ext cx="4786324" cy="4547592"/>
              </a:xfrm>
              <a:prstGeom prst="rect">
                <a:avLst/>
              </a:prstGeom>
              <a:blipFill>
                <a:blip r:embed="rId2"/>
                <a:stretch>
                  <a:fillRect l="-1018" t="-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585165" y="1846596"/>
                <a:ext cx="2236510" cy="1318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/>
              </a:p>
              <a:p>
                <a:r>
                  <a:rPr lang="en-AU" dirty="0" smtClean="0"/>
                  <a:t>1, 2 ,2 ,4 ,5 ,5, 6, 7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Median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165" y="1846596"/>
                <a:ext cx="2236510" cy="1318951"/>
              </a:xfrm>
              <a:prstGeom prst="rect">
                <a:avLst/>
              </a:prstGeom>
              <a:blipFill>
                <a:blip r:embed="rId3"/>
                <a:stretch>
                  <a:fillRect l="-2180" r="-1635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476997" y="2131526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907419" y="2439551"/>
            <a:ext cx="976666" cy="13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92793" y="2388540"/>
            <a:ext cx="23120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Two middle numbers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7524206" y="3183333"/>
            <a:ext cx="22365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1, 2 ,2 ,4 ,5 ,5, 6, </a:t>
            </a:r>
            <a:r>
              <a:rPr lang="en-AU" dirty="0" smtClean="0"/>
              <a:t>7</a:t>
            </a:r>
          </a:p>
          <a:p>
            <a:endParaRPr lang="en-AU" dirty="0"/>
          </a:p>
          <a:p>
            <a:r>
              <a:rPr lang="en-AU" dirty="0" smtClean="0"/>
              <a:t>Mode – 2 and 5</a:t>
            </a:r>
            <a:endParaRPr lang="en-AU" dirty="0"/>
          </a:p>
        </p:txBody>
      </p:sp>
      <p:sp>
        <p:nvSpPr>
          <p:cNvPr id="19" name="Rectangle 18"/>
          <p:cNvSpPr/>
          <p:nvPr/>
        </p:nvSpPr>
        <p:spPr>
          <a:xfrm>
            <a:off x="7860382" y="316418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8710027" y="3164187"/>
            <a:ext cx="452846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590010" y="4270363"/>
                <a:ext cx="4007059" cy="802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1+2+2+4+5+5+6+7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010" y="4270363"/>
                <a:ext cx="4007059" cy="8029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321937" y="4895821"/>
                <a:ext cx="56265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37" y="4895821"/>
                <a:ext cx="562654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374595" y="5412701"/>
                <a:ext cx="434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595" y="5412701"/>
                <a:ext cx="434414" cy="276999"/>
              </a:xfrm>
              <a:prstGeom prst="rect">
                <a:avLst/>
              </a:prstGeom>
              <a:blipFill>
                <a:blip r:embed="rId6"/>
                <a:stretch>
                  <a:fillRect l="-4225" r="-9859" b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7562666" y="5647566"/>
                <a:ext cx="223651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1, 2 ,2 ,4 ,5 ,5, 6, 7</a:t>
                </a:r>
              </a:p>
              <a:p>
                <a:endParaRPr lang="en-AU" dirty="0"/>
              </a:p>
              <a:p>
                <a:r>
                  <a:rPr lang="en-AU" dirty="0" smtClean="0"/>
                  <a:t>Range 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7−1=6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666" y="5647566"/>
                <a:ext cx="2236510" cy="923330"/>
              </a:xfrm>
              <a:prstGeom prst="rect">
                <a:avLst/>
              </a:prstGeom>
              <a:blipFill>
                <a:blip r:embed="rId7"/>
                <a:stretch>
                  <a:fillRect l="-2459" t="-3947" r="-1639" b="-85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7585164" y="5619154"/>
            <a:ext cx="313567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9534293" y="5620100"/>
            <a:ext cx="259802" cy="4242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7898732" y="6043419"/>
            <a:ext cx="720955" cy="233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8879433" y="6024627"/>
            <a:ext cx="659997" cy="252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58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" y="2713881"/>
            <a:ext cx="8748767" cy="32950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9634" y="2068597"/>
            <a:ext cx="81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We do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0294182" y="8708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Collaboration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64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" y="2713881"/>
            <a:ext cx="8748767" cy="32950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9634" y="2068597"/>
            <a:ext cx="81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We do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0294182" y="8708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Collaboration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74021"/>
          <a:stretch/>
        </p:blipFill>
        <p:spPr>
          <a:xfrm>
            <a:off x="339634" y="6008915"/>
            <a:ext cx="7311592" cy="7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39634" y="2068597"/>
            <a:ext cx="860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You do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0294182" y="8708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</a:t>
            </a:r>
            <a:r>
              <a:rPr lang="en-AU" dirty="0" smtClean="0"/>
              <a:t> I C O </a:t>
            </a:r>
            <a:r>
              <a:rPr lang="en-AU" u="sng" dirty="0" smtClean="0">
                <a:solidFill>
                  <a:srgbClr val="FFFF00"/>
                </a:solidFill>
              </a:rPr>
              <a:t>R</a:t>
            </a:r>
            <a:endParaRPr lang="en-AU" u="sng" dirty="0">
              <a:solidFill>
                <a:srgbClr val="FFFF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9" y="2575876"/>
            <a:ext cx="9152580" cy="1935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0321" y="4648987"/>
            <a:ext cx="3069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Dwyer Textbook – 109 – 110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567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Measures of Centre and Spread</a:t>
            </a:r>
            <a:br>
              <a:rPr lang="en-AU" sz="2800" dirty="0" smtClean="0"/>
            </a:br>
            <a:r>
              <a:rPr lang="en-US" sz="2800" dirty="0" smtClean="0"/>
              <a:t>EQ –  Describe the different methods for finding a measure of </a:t>
            </a:r>
            <a:r>
              <a:rPr lang="en-US" sz="2800" dirty="0" err="1" smtClean="0"/>
              <a:t>centre</a:t>
            </a:r>
            <a:r>
              <a:rPr lang="en-US" sz="2800" dirty="0" smtClean="0"/>
              <a:t> for a data set?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39634" y="2068597"/>
            <a:ext cx="860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You do</a:t>
            </a: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9" y="2575876"/>
            <a:ext cx="9152580" cy="19351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5559"/>
          <a:stretch/>
        </p:blipFill>
        <p:spPr>
          <a:xfrm>
            <a:off x="492538" y="4511040"/>
            <a:ext cx="7196337" cy="2185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6399" y="10450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</a:t>
            </a:r>
            <a:r>
              <a:rPr lang="en-AU" dirty="0" smtClean="0"/>
              <a:t> I C O </a:t>
            </a:r>
            <a:r>
              <a:rPr lang="en-AU" u="sng" dirty="0" smtClean="0">
                <a:solidFill>
                  <a:srgbClr val="FFFF00"/>
                </a:solidFill>
              </a:rPr>
              <a:t>R</a:t>
            </a:r>
            <a:endParaRPr lang="en-AU" u="sng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83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Exit Pass 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23566" y="2249787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Fill in the sheet – calculating the measures of centre and spread.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0294182" y="8708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</a:t>
            </a:r>
            <a:r>
              <a:rPr lang="en-AU" dirty="0" smtClean="0"/>
              <a:t> I C O </a:t>
            </a:r>
            <a:r>
              <a:rPr lang="en-AU" u="sng" dirty="0" smtClean="0">
                <a:solidFill>
                  <a:srgbClr val="FFFF00"/>
                </a:solidFill>
              </a:rPr>
              <a:t>R</a:t>
            </a:r>
            <a:endParaRPr lang="en-AU" u="sng" dirty="0">
              <a:solidFill>
                <a:srgbClr val="FFFF0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41830"/>
              </p:ext>
            </p:extLst>
          </p:nvPr>
        </p:nvGraphicFramePr>
        <p:xfrm>
          <a:off x="679686" y="2888133"/>
          <a:ext cx="3186430" cy="26092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30860">
                  <a:extLst>
                    <a:ext uri="{9D8B030D-6E8A-4147-A177-3AD203B41FA5}">
                      <a16:colId xmlns:a16="http://schemas.microsoft.com/office/drawing/2014/main" val="1290062392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1599863168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1423176428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3373335261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3624960483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7576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effectLst/>
                        </a:rPr>
                        <a:t>10</a:t>
                      </a:r>
                      <a:endParaRPr lang="en-A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effectLst/>
                        </a:rPr>
                        <a:t>12</a:t>
                      </a:r>
                      <a:endParaRPr lang="en-A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effectLst/>
                        </a:rPr>
                        <a:t>9</a:t>
                      </a:r>
                      <a:endParaRPr lang="en-A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effectLst/>
                        </a:rPr>
                        <a:t>8</a:t>
                      </a:r>
                      <a:endParaRPr lang="en-A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effectLst/>
                        </a:rPr>
                        <a:t>11</a:t>
                      </a:r>
                      <a:endParaRPr lang="en-A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effectLst/>
                        </a:rPr>
                        <a:t>10</a:t>
                      </a:r>
                      <a:endParaRPr lang="en-A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90581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79686" y="2710617"/>
            <a:ext cx="13981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Range: </a:t>
            </a: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Median:</a:t>
            </a: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Mode:</a:t>
            </a: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Mean: </a:t>
            </a: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17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1088</TotalTime>
  <Words>1198</Words>
  <Application>Microsoft Office PowerPoint</Application>
  <PresentationFormat>Widescreen</PresentationFormat>
  <Paragraphs>261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Trebuchet MS</vt:lpstr>
      <vt:lpstr>Berlin</vt:lpstr>
      <vt:lpstr>Measures of Centre and Spread</vt:lpstr>
      <vt:lpstr>Learning Objectives </vt:lpstr>
      <vt:lpstr>Measures of Centre and Spread EQ –  Describe the different methods for finding a measure of centre for a data set? 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Measures of Centre and Spread EQ –  Describe the different methods for finding a measure of centre for a data set?   </vt:lpstr>
      <vt:lpstr>Measures of Centre and Spread EQ –  Describe the different methods for finding a measure of centre for a data set?   </vt:lpstr>
      <vt:lpstr>Measures of Centre and Spread EQ –  Describe the different methods for finding a measure of centre for a data set?   </vt:lpstr>
      <vt:lpstr>Measures of Centre and Spread EQ –  Describe the different methods for finding a measure of centre for a data set?   </vt:lpstr>
      <vt:lpstr>Exit Pass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58</cp:revision>
  <dcterms:created xsi:type="dcterms:W3CDTF">2019-03-18T23:45:29Z</dcterms:created>
  <dcterms:modified xsi:type="dcterms:W3CDTF">2019-07-28T03:59:02Z</dcterms:modified>
</cp:coreProperties>
</file>
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4"/>
  </p:notesMasterIdLst>
  <p:sldIdLst>
    <p:sldId id="284" r:id="rId2"/>
    <p:sldId id="285" r:id="rId3"/>
    <p:sldId id="286" r:id="rId4"/>
    <p:sldId id="294" r:id="rId5"/>
    <p:sldId id="287" r:id="rId6"/>
    <p:sldId id="257" r:id="rId7"/>
    <p:sldId id="288" r:id="rId8"/>
    <p:sldId id="290" r:id="rId9"/>
    <p:sldId id="292" r:id="rId10"/>
    <p:sldId id="293" r:id="rId11"/>
    <p:sldId id="291" r:id="rId12"/>
    <p:sldId id="28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18"/>
    <p:restoredTop sz="94599"/>
  </p:normalViewPr>
  <p:slideViewPr>
    <p:cSldViewPr>
      <p:cViewPr>
        <p:scale>
          <a:sx n="70" d="100"/>
          <a:sy n="70" d="100"/>
        </p:scale>
        <p:origin x="1225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31/05/2021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Fill</a:t>
            </a:r>
            <a:r>
              <a:rPr lang="en-US" baseline="0" dirty="0">
                <a:latin typeface="Arial" charset="0"/>
                <a:cs typeface="Arial" charset="0"/>
              </a:rPr>
              <a:t> in the Venn diagram with the class explaining where each of the numbers go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711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31/05/2021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31/05/2021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31/05/2021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31/05/2021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31/05/2021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31/05/2021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31/05/2021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31/05/2021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31/05/2021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31/05/2021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31/05/2021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31/05/2021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/>
              <a:t>-</a:t>
            </a:r>
            <a:r>
              <a:rPr lang="en-AU" dirty="0">
                <a:latin typeface="Comic Sans MS" charset="0"/>
                <a:ea typeface="Comic Sans MS" charset="0"/>
                <a:cs typeface="Comic Sans MS" charset="0"/>
              </a:rPr>
              <a:t>PROBABILITY-</a:t>
            </a:r>
            <a:br>
              <a:rPr lang="en-AU" dirty="0"/>
            </a:br>
            <a:r>
              <a:rPr lang="en-AU" dirty="0">
                <a:latin typeface="Comic Sans MS" charset="0"/>
                <a:ea typeface="Comic Sans MS" charset="0"/>
                <a:cs typeface="Comic Sans MS" charset="0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14096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>
                <a:latin typeface="Arial" charset="0"/>
                <a:ea typeface="Arial" charset="0"/>
                <a:cs typeface="Arial" charset="0"/>
              </a:rPr>
              <a:t>Name </a:t>
            </a:r>
          </a:p>
          <a:p>
            <a:pPr algn="l"/>
            <a:r>
              <a:rPr lang="en-AU" dirty="0">
                <a:latin typeface="Arial" charset="0"/>
                <a:ea typeface="Arial" charset="0"/>
                <a:cs typeface="Arial" charset="0"/>
              </a:rPr>
              <a:t>Class </a:t>
            </a:r>
          </a:p>
          <a:p>
            <a:pPr algn="l"/>
            <a:r>
              <a:rPr lang="en-AU" dirty="0">
                <a:latin typeface="Arial" charset="0"/>
                <a:ea typeface="Arial" charset="0"/>
                <a:cs typeface="Arial" charset="0"/>
              </a:rPr>
              <a:t>Teacher </a:t>
            </a:r>
          </a:p>
          <a:p>
            <a:pPr algn="l"/>
            <a:r>
              <a:rPr lang="en-AU" dirty="0">
                <a:latin typeface="Arial" charset="0"/>
                <a:ea typeface="Arial" charset="0"/>
                <a:cs typeface="Arial" charset="0"/>
              </a:rPr>
              <a:t>Term 2  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76672"/>
            <a:ext cx="1336148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261FBB-E10D-41A9-820D-265ABD5C2A75}"/>
              </a:ext>
            </a:extLst>
          </p:cNvPr>
          <p:cNvSpPr txBox="1"/>
          <p:nvPr/>
        </p:nvSpPr>
        <p:spPr>
          <a:xfrm>
            <a:off x="827584" y="0"/>
            <a:ext cx="5760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         </a:t>
            </a:r>
            <a:r>
              <a:rPr lang="en-AU" sz="2400" b="1" dirty="0">
                <a:latin typeface="Arial" charset="0"/>
                <a:ea typeface="Arial" charset="0"/>
                <a:cs typeface="Arial" charset="0"/>
              </a:rPr>
              <a:t>Venn Diagrams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86726-FD97-4468-B302-197FAB432619}"/>
              </a:ext>
            </a:extLst>
          </p:cNvPr>
          <p:cNvSpPr txBox="1"/>
          <p:nvPr/>
        </p:nvSpPr>
        <p:spPr>
          <a:xfrm>
            <a:off x="395536" y="88757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Arial" charset="0"/>
                <a:ea typeface="Arial" charset="0"/>
                <a:cs typeface="Arial" charset="0"/>
              </a:rPr>
              <a:t>EQ – What does a </a:t>
            </a:r>
            <a:r>
              <a:rPr lang="en-AU" sz="2400" b="1" dirty="0">
                <a:latin typeface="Arial" charset="0"/>
                <a:ea typeface="Arial" charset="0"/>
                <a:cs typeface="Arial" charset="0"/>
              </a:rPr>
              <a:t>Venn diagram </a:t>
            </a:r>
            <a:r>
              <a:rPr lang="en-AU" sz="2400" dirty="0">
                <a:latin typeface="Arial" charset="0"/>
                <a:ea typeface="Arial" charset="0"/>
                <a:cs typeface="Arial" charset="0"/>
              </a:rPr>
              <a:t>look like?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EBBD40-1B9E-48E3-BFB9-8BE1A2D96765}"/>
                  </a:ext>
                </a:extLst>
              </p:cNvPr>
              <p:cNvSpPr txBox="1"/>
              <p:nvPr/>
            </p:nvSpPr>
            <p:spPr>
              <a:xfrm>
                <a:off x="971600" y="1484784"/>
                <a:ext cx="4844660" cy="42123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/>
                  <a:t>1. 48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/>
                  <a:t> 36 =</a:t>
                </a:r>
              </a:p>
              <a:p>
                <a:pPr>
                  <a:lnSpc>
                    <a:spcPct val="200000"/>
                  </a:lnSpc>
                </a:pPr>
                <a:r>
                  <a:rPr lang="en-AU" dirty="0"/>
                  <a:t>2.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AU" dirty="0"/>
                  <a:t>3. List out the sample space of the spinner below.</a:t>
                </a:r>
              </a:p>
              <a:p>
                <a:pPr>
                  <a:lnSpc>
                    <a:spcPct val="200000"/>
                  </a:lnSpc>
                </a:pPr>
                <a:endParaRPr lang="en-AU" dirty="0"/>
              </a:p>
              <a:p>
                <a:pPr>
                  <a:lnSpc>
                    <a:spcPct val="200000"/>
                  </a:lnSpc>
                </a:pPr>
                <a:r>
                  <a:rPr lang="en-AU" dirty="0"/>
                  <a:t>4. What is the probability of spinning a light blue?</a:t>
                </a:r>
              </a:p>
              <a:p>
                <a:pPr>
                  <a:lnSpc>
                    <a:spcPct val="200000"/>
                  </a:lnSpc>
                </a:pPr>
                <a:endParaRPr lang="en-AU" dirty="0"/>
              </a:p>
              <a:p>
                <a:pPr>
                  <a:lnSpc>
                    <a:spcPct val="200000"/>
                  </a:lnSpc>
                </a:pPr>
                <a:r>
                  <a:rPr lang="en-AU" dirty="0"/>
                  <a:t>5.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−5=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EBBD40-1B9E-48E3-BFB9-8BE1A2D96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484784"/>
                <a:ext cx="4844660" cy="4212372"/>
              </a:xfrm>
              <a:prstGeom prst="rect">
                <a:avLst/>
              </a:prstGeom>
              <a:blipFill>
                <a:blip r:embed="rId2"/>
                <a:stretch>
                  <a:fillRect l="-1006" r="-377" b="-14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0-10 spinner - Random wheel">
            <a:extLst>
              <a:ext uri="{FF2B5EF4-FFF2-40B4-BE49-F238E27FC236}">
                <a16:creationId xmlns:a16="http://schemas.microsoft.com/office/drawing/2014/main" id="{2C7E4561-6C82-4731-9DB6-33C3F6DEE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948" y="2708269"/>
            <a:ext cx="3906011" cy="2929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74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4220" y="-73867"/>
            <a:ext cx="5760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         </a:t>
            </a:r>
            <a:r>
              <a:rPr lang="en-AU" sz="2400" b="1" dirty="0">
                <a:latin typeface="Arial" charset="0"/>
                <a:ea typeface="Arial" charset="0"/>
                <a:cs typeface="Arial" charset="0"/>
              </a:rPr>
              <a:t>Venn Diagrams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44208" y="260649"/>
            <a:ext cx="2579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64" y="966232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Arial" charset="0"/>
                <a:ea typeface="Arial" charset="0"/>
                <a:cs typeface="Arial" charset="0"/>
              </a:rPr>
              <a:t>EQ – What does a </a:t>
            </a:r>
            <a:r>
              <a:rPr lang="en-AU" sz="2400" b="1" dirty="0">
                <a:latin typeface="Arial" charset="0"/>
                <a:ea typeface="Arial" charset="0"/>
                <a:cs typeface="Arial" charset="0"/>
              </a:rPr>
              <a:t>Venn diagram </a:t>
            </a:r>
            <a:r>
              <a:rPr lang="en-AU" sz="2400" dirty="0">
                <a:latin typeface="Arial" charset="0"/>
                <a:ea typeface="Arial" charset="0"/>
                <a:cs typeface="Arial" charset="0"/>
              </a:rPr>
              <a:t>look like?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627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05609" y="5248894"/>
            <a:ext cx="181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2508" y="2258001"/>
            <a:ext cx="608796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charset="0"/>
                <a:ea typeface="Arial" charset="0"/>
                <a:cs typeface="Arial" charset="0"/>
              </a:rPr>
              <a:t>A </a:t>
            </a:r>
            <a:r>
              <a:rPr lang="en-US" sz="2800" u="sng" dirty="0">
                <a:latin typeface="Arial" charset="0"/>
                <a:ea typeface="Arial" charset="0"/>
                <a:cs typeface="Arial" charset="0"/>
              </a:rPr>
              <a:t>Venn diagram 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is </a:t>
            </a:r>
          </a:p>
          <a:p>
            <a:r>
              <a:rPr lang="en-US" sz="2800" dirty="0">
                <a:latin typeface="Arial" charset="0"/>
                <a:ea typeface="Arial" charset="0"/>
                <a:cs typeface="Arial" charset="0"/>
              </a:rPr>
              <a:t>a pictorial representation of </a:t>
            </a:r>
          </a:p>
          <a:p>
            <a:r>
              <a:rPr lang="en-US" sz="2800" dirty="0">
                <a:latin typeface="Arial" charset="0"/>
                <a:ea typeface="Arial" charset="0"/>
                <a:cs typeface="Arial" charset="0"/>
              </a:rPr>
              <a:t>a two-way table without </a:t>
            </a:r>
          </a:p>
          <a:p>
            <a:r>
              <a:rPr lang="en-US" sz="2800" dirty="0">
                <a:latin typeface="Arial" charset="0"/>
                <a:ea typeface="Arial" charset="0"/>
                <a:cs typeface="Arial" charset="0"/>
              </a:rPr>
              <a:t>the total row and total column.  </a:t>
            </a:r>
          </a:p>
          <a:p>
            <a:endParaRPr lang="en-US" sz="28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800" dirty="0">
                <a:latin typeface="Arial" charset="0"/>
                <a:ea typeface="Arial" charset="0"/>
                <a:cs typeface="Arial" charset="0"/>
              </a:rPr>
              <a:t>A two way table can be written as a Venn diagram as</a:t>
            </a:r>
          </a:p>
        </p:txBody>
      </p:sp>
    </p:spTree>
    <p:extLst>
      <p:ext uri="{BB962C8B-B14F-4D97-AF65-F5344CB8AC3E}">
        <p14:creationId xmlns:p14="http://schemas.microsoft.com/office/powerpoint/2010/main" val="130308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362669"/>
            <a:ext cx="8229600" cy="4525963"/>
          </a:xfrm>
        </p:spPr>
        <p:txBody>
          <a:bodyPr>
            <a:normAutofit/>
          </a:bodyPr>
          <a:lstStyle/>
          <a:p>
            <a:pPr lvl="1"/>
            <a:endParaRPr lang="en-AU" sz="6800" dirty="0">
              <a:latin typeface="Comic Sans MS" charset="0"/>
              <a:ea typeface="Comic Sans MS" charset="0"/>
              <a:cs typeface="Comic Sans MS" charset="0"/>
            </a:endParaRPr>
          </a:p>
          <a:p>
            <a:pPr algn="ctr"/>
            <a:endParaRPr lang="en-GB" sz="7200" dirty="0"/>
          </a:p>
          <a:p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936982"/>
              </p:ext>
            </p:extLst>
          </p:nvPr>
        </p:nvGraphicFramePr>
        <p:xfrm>
          <a:off x="1691853" y="1129288"/>
          <a:ext cx="5721350" cy="2011680"/>
        </p:xfrm>
        <a:graphic>
          <a:graphicData uri="http://schemas.openxmlformats.org/drawingml/2006/table">
            <a:tbl>
              <a:tblPr firstRow="1" firstCol="1" bandRow="1"/>
              <a:tblGrid>
                <a:gridCol w="1430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0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Like </a:t>
                      </a: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Science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Do not like </a:t>
                      </a: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Science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Total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Like </a:t>
                      </a: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HASS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28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33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61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Do not like </a:t>
                      </a: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HASS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34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39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Total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33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67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100</a:t>
                      </a:r>
                      <a:endParaRPr lang="en-GB" sz="12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0689" y="2484"/>
            <a:ext cx="8238728" cy="895497"/>
          </a:xfrm>
        </p:spPr>
        <p:txBody>
          <a:bodyPr>
            <a:normAutofit fontScale="90000"/>
          </a:bodyPr>
          <a:lstStyle/>
          <a:p>
            <a:r>
              <a:rPr lang="en-AU" dirty="0"/>
              <a:t>2way to Venn</a:t>
            </a:r>
            <a:br>
              <a:rPr lang="en-AU" dirty="0"/>
            </a:br>
            <a:r>
              <a:rPr lang="en-AU" dirty="0"/>
              <a:t>(copy into your notes)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3140968"/>
            <a:ext cx="6714379" cy="33919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What does the overlap represent?</a:t>
            </a:r>
            <a:br>
              <a:rPr lang="en-US" dirty="0">
                <a:latin typeface="Arial" charset="0"/>
                <a:ea typeface="Arial" charset="0"/>
                <a:cs typeface="Arial" charset="0"/>
              </a:rPr>
            </a:b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Those who enjoy both. </a:t>
            </a:r>
            <a:r>
              <a:rPr lang="en-US" b="1" dirty="0">
                <a:latin typeface="Arial" charset="0"/>
                <a:ea typeface="Arial" charset="0"/>
                <a:cs typeface="Arial" charset="0"/>
              </a:rPr>
              <a:t>28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What does the outside area mean?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Those who enjoy </a:t>
            </a:r>
            <a:r>
              <a:rPr lang="en-US" b="1" dirty="0">
                <a:latin typeface="Arial" charset="0"/>
                <a:ea typeface="Arial" charset="0"/>
                <a:cs typeface="Arial" charset="0"/>
              </a:rPr>
              <a:t>Neither.    34</a:t>
            </a: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There are only </a:t>
            </a:r>
            <a:r>
              <a:rPr lang="en-US" b="1" dirty="0">
                <a:latin typeface="Arial" charset="0"/>
                <a:ea typeface="Arial" charset="0"/>
                <a:cs typeface="Arial" charset="0"/>
              </a:rPr>
              <a:t>4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numbers needed in a 2-circle Venn diagram = 4 Probabilities</a:t>
            </a:r>
          </a:p>
        </p:txBody>
      </p:sp>
    </p:spTree>
    <p:extLst>
      <p:ext uri="{BB962C8B-B14F-4D97-AF65-F5344CB8AC3E}">
        <p14:creationId xmlns:p14="http://schemas.microsoft.com/office/powerpoint/2010/main" val="182883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Draw the VENN diagram for…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In a class of 30 students there are 20 students who like Maths, 15 who like English and 12 who like both.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996952"/>
            <a:ext cx="6229126" cy="340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07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925" y="2010569"/>
            <a:ext cx="729615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274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3A0AE-C4BE-4FE0-849F-9C73257D6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you own question to create your own Venn diagram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AE5F6-7882-4294-824D-D38CF6165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7680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Use you VENN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How many only like Math?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many only like English?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many don’t like either?</a:t>
            </a:r>
          </a:p>
        </p:txBody>
      </p:sp>
    </p:spTree>
    <p:extLst>
      <p:ext uri="{BB962C8B-B14F-4D97-AF65-F5344CB8AC3E}">
        <p14:creationId xmlns:p14="http://schemas.microsoft.com/office/powerpoint/2010/main" val="4167898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LHS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EASY        Dwyer p.247 Ex, 18.2 </a:t>
            </a:r>
            <a:r>
              <a:rPr lang="en-US" dirty="0" err="1">
                <a:latin typeface="Arial" charset="0"/>
                <a:ea typeface="Arial" charset="0"/>
                <a:cs typeface="Arial" charset="0"/>
              </a:rPr>
              <a:t>Qns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1-3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MEDIUM.  </a:t>
            </a:r>
            <a:r>
              <a:rPr lang="en-US">
                <a:latin typeface="Arial" charset="0"/>
                <a:ea typeface="Arial" charset="0"/>
                <a:cs typeface="Arial" charset="0"/>
              </a:rPr>
              <a:t>Dwyer p.252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Ex. 18.9 </a:t>
            </a:r>
            <a:r>
              <a:rPr lang="en-US" dirty="0" err="1">
                <a:latin typeface="Arial" charset="0"/>
                <a:ea typeface="Arial" charset="0"/>
                <a:cs typeface="Arial" charset="0"/>
              </a:rPr>
              <a:t>Qns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1-8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HARD.  P. 500, q 12-13. </a:t>
            </a:r>
            <a:r>
              <a:rPr lang="en-US" b="1" i="1" dirty="0">
                <a:latin typeface="Arial" charset="0"/>
                <a:ea typeface="Arial" charset="0"/>
                <a:cs typeface="Arial" charset="0"/>
              </a:rPr>
              <a:t>Algebraic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ea typeface="Arial" charset="0"/>
                <a:cs typeface="Arial" charset="0"/>
              </a:rPr>
              <a:t>Venns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&amp; 2-way tables.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ENRICHMENT- Triple </a:t>
            </a:r>
            <a:r>
              <a:rPr lang="en-US" dirty="0" err="1">
                <a:latin typeface="Arial" charset="0"/>
                <a:ea typeface="Arial" charset="0"/>
                <a:cs typeface="Arial" charset="0"/>
              </a:rPr>
              <a:t>Venns</a:t>
            </a:r>
            <a:r>
              <a:rPr lang="mr-IN" dirty="0">
                <a:latin typeface="Arial" charset="0"/>
                <a:ea typeface="Arial" charset="0"/>
                <a:cs typeface="Arial" charset="0"/>
              </a:rPr>
              <a:t>…</a:t>
            </a:r>
            <a:r>
              <a:rPr lang="en-AU" dirty="0">
                <a:latin typeface="Arial" charset="0"/>
                <a:ea typeface="Arial" charset="0"/>
                <a:cs typeface="Arial" charset="0"/>
              </a:rPr>
              <a:t>p. 501 Cambridge Essentials.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90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ro to Time" id="{44290B67-6DC5-2146-B370-5D37082B0A7C}" vid="{BC3CC409-C3EB-3A43-86E6-347A04B740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 &amp; 24 hour time</Template>
  <TotalTime>248</TotalTime>
  <Words>355</Words>
  <Application>Microsoft Office PowerPoint</Application>
  <PresentationFormat>On-screen Show (4:3)</PresentationFormat>
  <Paragraphs>101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Comic Sans MS</vt:lpstr>
      <vt:lpstr>Office Theme</vt:lpstr>
      <vt:lpstr>-PROBABILITY- Interactive Notebook</vt:lpstr>
      <vt:lpstr>PowerPoint Presentation</vt:lpstr>
      <vt:lpstr>PowerPoint Presentation</vt:lpstr>
      <vt:lpstr>PowerPoint Presentation</vt:lpstr>
      <vt:lpstr>PowerPoint Presentation</vt:lpstr>
      <vt:lpstr>2way to Venn (copy into your notes)</vt:lpstr>
      <vt:lpstr>What does the overlap represent? </vt:lpstr>
      <vt:lpstr>Draw the VENN diagram for…</vt:lpstr>
      <vt:lpstr>Answer</vt:lpstr>
      <vt:lpstr>Create you own question to create your own Venn diagram</vt:lpstr>
      <vt:lpstr>Use you VENN diagram</vt:lpstr>
      <vt:lpstr>LHS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Interactive Notebook</dc:title>
  <dc:creator>PATERSON Anne [Baldivis Secondary College]</dc:creator>
  <cp:lastModifiedBy>Jade Gregory</cp:lastModifiedBy>
  <cp:revision>24</cp:revision>
  <dcterms:created xsi:type="dcterms:W3CDTF">2017-08-30T11:53:26Z</dcterms:created>
  <dcterms:modified xsi:type="dcterms:W3CDTF">2021-05-31T13:24:58Z</dcterms:modified>
</cp:coreProperties>
</file>
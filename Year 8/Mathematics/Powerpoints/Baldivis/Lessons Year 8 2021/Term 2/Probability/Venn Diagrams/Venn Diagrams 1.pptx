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sldIdLst>
    <p:sldId id="284" r:id="rId2"/>
    <p:sldId id="285" r:id="rId3"/>
    <p:sldId id="286" r:id="rId4"/>
    <p:sldId id="283" r:id="rId5"/>
    <p:sldId id="287" r:id="rId6"/>
    <p:sldId id="257" r:id="rId7"/>
    <p:sldId id="259" r:id="rId8"/>
    <p:sldId id="288" r:id="rId9"/>
    <p:sldId id="28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8"/>
    <p:restoredTop sz="94599"/>
  </p:normalViewPr>
  <p:slideViewPr>
    <p:cSldViewPr>
      <p:cViewPr>
        <p:scale>
          <a:sx n="152" d="100"/>
          <a:sy n="152" d="100"/>
        </p:scale>
        <p:origin x="208" y="-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00E08-A741-A741-864D-6C683DBA5ADA}" type="doc">
      <dgm:prSet loTypeId="urn:microsoft.com/office/officeart/2005/8/layout/venn1" loCatId="" qsTypeId="urn:microsoft.com/office/officeart/2005/8/quickstyle/simple4" qsCatId="simple" csTypeId="urn:microsoft.com/office/officeart/2005/8/colors/accent1_2" csCatId="accent1" phldr="1"/>
      <dgm:spPr/>
    </dgm:pt>
    <dgm:pt modelId="{3419B49A-AE86-344F-8C1B-E086A9BFF9B2}">
      <dgm:prSet phldrT="[Text]"/>
      <dgm:spPr/>
      <dgm:t>
        <a:bodyPr/>
        <a:lstStyle/>
        <a:p>
          <a:r>
            <a:rPr lang="en-GB"/>
            <a:t>5</a:t>
          </a:r>
        </a:p>
      </dgm:t>
    </dgm:pt>
    <dgm:pt modelId="{45576F44-D557-F945-8C92-2C2D045F4003}" type="parTrans" cxnId="{414C9B8B-3581-FD46-B4E3-C875923A6A03}">
      <dgm:prSet/>
      <dgm:spPr/>
      <dgm:t>
        <a:bodyPr/>
        <a:lstStyle/>
        <a:p>
          <a:endParaRPr lang="en-GB"/>
        </a:p>
      </dgm:t>
    </dgm:pt>
    <dgm:pt modelId="{35E6CF8B-2C9A-9F47-938A-7AB4279CEF0B}" type="sibTrans" cxnId="{414C9B8B-3581-FD46-B4E3-C875923A6A03}">
      <dgm:prSet/>
      <dgm:spPr/>
      <dgm:t>
        <a:bodyPr/>
        <a:lstStyle/>
        <a:p>
          <a:endParaRPr lang="en-GB"/>
        </a:p>
      </dgm:t>
    </dgm:pt>
    <dgm:pt modelId="{0C1C90C4-8216-F84B-97BC-3B5471E3256E}">
      <dgm:prSet phldrT="[Text]"/>
      <dgm:spPr/>
      <dgm:t>
        <a:bodyPr/>
        <a:lstStyle/>
        <a:p>
          <a:r>
            <a:rPr lang="en-GB"/>
            <a:t>33</a:t>
          </a:r>
        </a:p>
      </dgm:t>
    </dgm:pt>
    <dgm:pt modelId="{05735F9D-F919-E64F-82C3-4B95F6F1E409}" type="parTrans" cxnId="{8F40D999-B507-C145-92D4-604741999421}">
      <dgm:prSet/>
      <dgm:spPr/>
      <dgm:t>
        <a:bodyPr/>
        <a:lstStyle/>
        <a:p>
          <a:endParaRPr lang="en-GB"/>
        </a:p>
      </dgm:t>
    </dgm:pt>
    <dgm:pt modelId="{C649DB04-6C6C-634C-921C-1182B8A1B5E7}" type="sibTrans" cxnId="{8F40D999-B507-C145-92D4-604741999421}">
      <dgm:prSet/>
      <dgm:spPr/>
      <dgm:t>
        <a:bodyPr/>
        <a:lstStyle/>
        <a:p>
          <a:endParaRPr lang="en-GB"/>
        </a:p>
      </dgm:t>
    </dgm:pt>
    <dgm:pt modelId="{6EE79C90-6CD5-0C48-BBAD-5FA2880AF940}" type="pres">
      <dgm:prSet presAssocID="{08C00E08-A741-A741-864D-6C683DBA5ADA}" presName="compositeShape" presStyleCnt="0">
        <dgm:presLayoutVars>
          <dgm:chMax val="7"/>
          <dgm:dir/>
          <dgm:resizeHandles val="exact"/>
        </dgm:presLayoutVars>
      </dgm:prSet>
      <dgm:spPr/>
    </dgm:pt>
    <dgm:pt modelId="{4C35BE41-434C-DA4C-88BD-7C0803BEACF4}" type="pres">
      <dgm:prSet presAssocID="{3419B49A-AE86-344F-8C1B-E086A9BFF9B2}" presName="circ1" presStyleLbl="vennNode1" presStyleIdx="0" presStyleCnt="2" custScaleX="107508" custScaleY="105105" custLinFactNeighborX="507" custLinFactNeighborY="-2469"/>
      <dgm:spPr/>
      <dgm:t>
        <a:bodyPr/>
        <a:lstStyle/>
        <a:p>
          <a:endParaRPr lang="en-GB"/>
        </a:p>
      </dgm:t>
    </dgm:pt>
    <dgm:pt modelId="{D90AB2C5-CC8E-694B-86B7-6234DB3D2710}" type="pres">
      <dgm:prSet presAssocID="{3419B49A-AE86-344F-8C1B-E086A9BFF9B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80E1BCB-C509-5242-9B4D-852D2E61D286}" type="pres">
      <dgm:prSet presAssocID="{0C1C90C4-8216-F84B-97BC-3B5471E3256E}" presName="circ2" presStyleLbl="vennNode1" presStyleIdx="1" presStyleCnt="2" custScaleX="111486" custScaleY="104938" custLinFactNeighborX="-132" custLinFactNeighborY="0"/>
      <dgm:spPr/>
      <dgm:t>
        <a:bodyPr/>
        <a:lstStyle/>
        <a:p>
          <a:endParaRPr lang="en-GB"/>
        </a:p>
      </dgm:t>
    </dgm:pt>
    <dgm:pt modelId="{D4927D96-BB03-5745-81D8-8082F5828564}" type="pres">
      <dgm:prSet presAssocID="{0C1C90C4-8216-F84B-97BC-3B5471E3256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14C9B8B-3581-FD46-B4E3-C875923A6A03}" srcId="{08C00E08-A741-A741-864D-6C683DBA5ADA}" destId="{3419B49A-AE86-344F-8C1B-E086A9BFF9B2}" srcOrd="0" destOrd="0" parTransId="{45576F44-D557-F945-8C92-2C2D045F4003}" sibTransId="{35E6CF8B-2C9A-9F47-938A-7AB4279CEF0B}"/>
    <dgm:cxn modelId="{7C771A5A-945E-9C49-9985-EE35A38A3FF2}" type="presOf" srcId="{0C1C90C4-8216-F84B-97BC-3B5471E3256E}" destId="{880E1BCB-C509-5242-9B4D-852D2E61D286}" srcOrd="0" destOrd="0" presId="urn:microsoft.com/office/officeart/2005/8/layout/venn1"/>
    <dgm:cxn modelId="{8F40D999-B507-C145-92D4-604741999421}" srcId="{08C00E08-A741-A741-864D-6C683DBA5ADA}" destId="{0C1C90C4-8216-F84B-97BC-3B5471E3256E}" srcOrd="1" destOrd="0" parTransId="{05735F9D-F919-E64F-82C3-4B95F6F1E409}" sibTransId="{C649DB04-6C6C-634C-921C-1182B8A1B5E7}"/>
    <dgm:cxn modelId="{C7F82A09-6DBA-2F46-B746-8337EFBB9EA5}" type="presOf" srcId="{08C00E08-A741-A741-864D-6C683DBA5ADA}" destId="{6EE79C90-6CD5-0C48-BBAD-5FA2880AF940}" srcOrd="0" destOrd="0" presId="urn:microsoft.com/office/officeart/2005/8/layout/venn1"/>
    <dgm:cxn modelId="{426DB6AF-2C77-FD4F-9DC7-E4DEE27D1056}" type="presOf" srcId="{3419B49A-AE86-344F-8C1B-E086A9BFF9B2}" destId="{4C35BE41-434C-DA4C-88BD-7C0803BEACF4}" srcOrd="0" destOrd="0" presId="urn:microsoft.com/office/officeart/2005/8/layout/venn1"/>
    <dgm:cxn modelId="{C2719E11-AABA-084D-879D-255A04B0389E}" type="presOf" srcId="{0C1C90C4-8216-F84B-97BC-3B5471E3256E}" destId="{D4927D96-BB03-5745-81D8-8082F5828564}" srcOrd="1" destOrd="0" presId="urn:microsoft.com/office/officeart/2005/8/layout/venn1"/>
    <dgm:cxn modelId="{24736AA3-ECCA-5E48-816A-E1943BC1A8FA}" type="presOf" srcId="{3419B49A-AE86-344F-8C1B-E086A9BFF9B2}" destId="{D90AB2C5-CC8E-694B-86B7-6234DB3D2710}" srcOrd="1" destOrd="0" presId="urn:microsoft.com/office/officeart/2005/8/layout/venn1"/>
    <dgm:cxn modelId="{54FFACE8-7511-2E4F-9CD8-0071BC7142AF}" type="presParOf" srcId="{6EE79C90-6CD5-0C48-BBAD-5FA2880AF940}" destId="{4C35BE41-434C-DA4C-88BD-7C0803BEACF4}" srcOrd="0" destOrd="0" presId="urn:microsoft.com/office/officeart/2005/8/layout/venn1"/>
    <dgm:cxn modelId="{5F3229B6-A03D-F144-B278-8615FACF10FF}" type="presParOf" srcId="{6EE79C90-6CD5-0C48-BBAD-5FA2880AF940}" destId="{D90AB2C5-CC8E-694B-86B7-6234DB3D2710}" srcOrd="1" destOrd="0" presId="urn:microsoft.com/office/officeart/2005/8/layout/venn1"/>
    <dgm:cxn modelId="{1627C55C-4A6A-2C40-98DA-1CBCDF6BE433}" type="presParOf" srcId="{6EE79C90-6CD5-0C48-BBAD-5FA2880AF940}" destId="{880E1BCB-C509-5242-9B4D-852D2E61D286}" srcOrd="2" destOrd="0" presId="urn:microsoft.com/office/officeart/2005/8/layout/venn1"/>
    <dgm:cxn modelId="{F00413E5-A136-E54A-9294-4CD8298F1962}" type="presParOf" srcId="{6EE79C90-6CD5-0C48-BBAD-5FA2880AF940}" destId="{D4927D96-BB03-5745-81D8-8082F5828564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5BE41-434C-DA4C-88BD-7C0803BEACF4}">
      <dsp:nvSpPr>
        <dsp:cNvPr id="0" name=""/>
        <dsp:cNvSpPr/>
      </dsp:nvSpPr>
      <dsp:spPr>
        <a:xfrm>
          <a:off x="-5707" y="0"/>
          <a:ext cx="3273566" cy="320039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500" kern="1200"/>
            <a:t>5</a:t>
          </a:r>
        </a:p>
      </dsp:txBody>
      <dsp:txXfrm>
        <a:off x="451412" y="377395"/>
        <a:ext cx="1887462" cy="2445605"/>
      </dsp:txXfrm>
    </dsp:sp>
    <dsp:sp modelId="{880E1BCB-C509-5242-9B4D-852D2E61D286}">
      <dsp:nvSpPr>
        <dsp:cNvPr id="0" name=""/>
        <dsp:cNvSpPr/>
      </dsp:nvSpPr>
      <dsp:spPr>
        <a:xfrm>
          <a:off x="2108831" y="2544"/>
          <a:ext cx="3394695" cy="3195311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500" kern="1200"/>
            <a:t>33</a:t>
          </a:r>
        </a:p>
      </dsp:txBody>
      <dsp:txXfrm>
        <a:off x="3072190" y="379340"/>
        <a:ext cx="1957301" cy="2441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16/10/2017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Two way tables also include Totals as well as the 4</a:t>
            </a:r>
            <a:r>
              <a:rPr lang="en-US" baseline="0" dirty="0" smtClean="0">
                <a:latin typeface="Arial" charset="0"/>
                <a:ea typeface="Arial" charset="0"/>
                <a:cs typeface="Arial" charset="0"/>
              </a:rPr>
              <a:t> probabilities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1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98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hyperlink" Target="#_msocom_1"/><Relationship Id="rId9" Type="http://schemas.openxmlformats.org/officeDocument/2006/relationships/hyperlink" Target="file:///Users/E2059591/Desktop/_anchor_1','_com_1" TargetMode="External"/><Relationship Id="rId10" Type="http://schemas.openxmlformats.org/officeDocument/2006/relationships/hyperlink" Target="#_msoanchor_1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-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PROBABILITY-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Interactive Notebook</a:t>
            </a:r>
            <a:endParaRPr lang="en-AU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Name </a:t>
            </a:r>
          </a:p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Class </a:t>
            </a:r>
          </a:p>
          <a:p>
            <a:pPr algn="l"/>
            <a:r>
              <a:rPr lang="en-AU" smtClean="0">
                <a:latin typeface="Arial" charset="0"/>
                <a:ea typeface="Arial" charset="0"/>
                <a:cs typeface="Arial" charset="0"/>
              </a:rPr>
              <a:t>Teacher </a:t>
            </a:r>
            <a:endParaRPr lang="en-AU" dirty="0" smtClean="0">
              <a:latin typeface="Arial" charset="0"/>
              <a:ea typeface="Arial" charset="0"/>
              <a:cs typeface="Arial" charset="0"/>
            </a:endParaRPr>
          </a:p>
          <a:p>
            <a:pPr algn="l"/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Term 4  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76672"/>
            <a:ext cx="133614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--Warm Up with </a:t>
            </a:r>
            <a:r>
              <a:rPr lang="en-GB" dirty="0" err="1" smtClean="0">
                <a:latin typeface="Comic Sans MS" pitchFamily="66" charset="0"/>
              </a:rPr>
              <a:t>Venns</a:t>
            </a:r>
            <a:r>
              <a:rPr lang="en-GB" dirty="0" smtClean="0">
                <a:latin typeface="Comic Sans MS" pitchFamily="66" charset="0"/>
              </a:rPr>
              <a:t>--</a:t>
            </a:r>
          </a:p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With your partner complete the empty Venn diagram to show 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>
                <a:latin typeface="Arial" charset="0"/>
                <a:ea typeface="Arial" charset="0"/>
                <a:cs typeface="Arial" charset="0"/>
              </a:rPr>
              <a:t>One Thing you both have in common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>
                <a:latin typeface="Arial" charset="0"/>
                <a:ea typeface="Arial" charset="0"/>
                <a:cs typeface="Arial" charset="0"/>
              </a:rPr>
              <a:t> One thing each you have as a difference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>
                <a:latin typeface="Arial" charset="0"/>
                <a:ea typeface="Arial" charset="0"/>
                <a:cs typeface="Arial" charset="0"/>
              </a:rPr>
              <a:t>And one thing that you both ARE NOT </a:t>
            </a:r>
            <a:r>
              <a:rPr lang="en-GB" dirty="0" err="1" smtClean="0">
                <a:latin typeface="Arial" charset="0"/>
                <a:ea typeface="Arial" charset="0"/>
                <a:cs typeface="Arial" charset="0"/>
              </a:rPr>
              <a:t>ie</a:t>
            </a:r>
            <a:r>
              <a:rPr lang="en-GB" dirty="0" smtClean="0">
                <a:latin typeface="Arial" charset="0"/>
                <a:ea typeface="Arial" charset="0"/>
                <a:cs typeface="Arial" charset="0"/>
              </a:rPr>
              <a:t>, not bald, do not live on MARS, etc.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4220" y="-73867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         </a:t>
            </a:r>
            <a:r>
              <a:rPr lang="en-AU" sz="2400" b="1" dirty="0" smtClean="0">
                <a:latin typeface="Arial" charset="0"/>
                <a:ea typeface="Arial" charset="0"/>
                <a:cs typeface="Arial" charset="0"/>
              </a:rPr>
              <a:t>Venn Diagrams</a:t>
            </a:r>
            <a:endParaRPr lang="en-AU" sz="2400" b="1" dirty="0"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4208" y="260649"/>
            <a:ext cx="257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73964" y="966232"/>
            <a:ext cx="8620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EQ – What does a </a:t>
            </a:r>
            <a:r>
              <a:rPr lang="en-AU" sz="2400" b="1" dirty="0" smtClean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look like?</a:t>
            </a:r>
          </a:p>
          <a:p>
            <a:endParaRPr lang="en-AU" sz="2400" dirty="0"/>
          </a:p>
          <a:p>
            <a:r>
              <a:rPr lang="en-AU" sz="2400" dirty="0" smtClean="0"/>
              <a:t>HOQ’s        </a:t>
            </a:r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When/How do we use a </a:t>
            </a:r>
            <a:r>
              <a:rPr lang="en-AU" sz="2400" b="1" dirty="0" smtClean="0">
                <a:latin typeface="Arial" charset="0"/>
                <a:ea typeface="Arial" charset="0"/>
                <a:cs typeface="Arial" charset="0"/>
              </a:rPr>
              <a:t>Venn diagram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81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732508" y="2258001"/>
            <a:ext cx="60879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 GLOSSARY:</a:t>
            </a:r>
          </a:p>
          <a:p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sz="2800" u="sng" dirty="0" smtClean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is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pictorial representation of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 two-way table without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the total row and total column.  </a:t>
            </a:r>
          </a:p>
          <a:p>
            <a:endParaRPr lang="en-US" sz="28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The two way table shown can be written as a Venn diagram as shown.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Comic Sans MS" charset="0"/>
                <a:ea typeface="Comic Sans MS" charset="0"/>
                <a:cs typeface="Comic Sans MS" charset="0"/>
              </a:rPr>
              <a:t>Two-Way table</a:t>
            </a:r>
            <a:r>
              <a:rPr lang="en-GB" sz="6600" dirty="0" smtClean="0">
                <a:latin typeface="Brandish" pitchFamily="2" charset="0"/>
              </a:rPr>
              <a:t/>
            </a:r>
            <a:br>
              <a:rPr lang="en-GB" sz="6600" dirty="0" smtClean="0">
                <a:latin typeface="Brandish" pitchFamily="2" charset="0"/>
              </a:rPr>
            </a:b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endParaRPr lang="en-AU" sz="72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11325" y="2857341"/>
          <a:ext cx="5721350" cy="2011680"/>
        </p:xfrm>
        <a:graphic>
          <a:graphicData uri="http://schemas.openxmlformats.org/drawingml/2006/table">
            <a:tbl>
              <a:tblPr firstRow="1" firstCol="1" bandRow="1"/>
              <a:tblGrid>
                <a:gridCol w="1430020"/>
                <a:gridCol w="1430020"/>
                <a:gridCol w="1430655"/>
                <a:gridCol w="1430655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28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100</a:t>
                      </a:r>
                      <a:endParaRPr lang="en-GB" sz="12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11325" y="1728639"/>
            <a:ext cx="890934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HASS and Science enemies?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HASS vs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Conduct a class survey…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For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One hundred students were surveyed…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i-phones vs Samsung   you might expect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polarisation…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West Coast Vs Fremantle?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you more likely to buy an i-phone if you support West Coast?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you more likely to have red hair if you attend Baldivis SC?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However, as seen above, ….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28/100 like both… That’s just under 1/3</a:t>
            </a:r>
            <a:r>
              <a:rPr kumimoji="0" lang="x-none" altLang="x-none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rd</a:t>
            </a:r>
            <a:r>
              <a:rPr kumimoji="0" lang="x-none" altLang="x-none" sz="1800" b="0" i="0" u="none" strike="noStrike" cap="none" normalizeH="0" baseline="-2147483648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(33.33r%)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34% do not like either…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43608" y="2362669"/>
            <a:ext cx="890934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HASS and Science enemies?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HASS vs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Conduct a class survey…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For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One hundred students were surveyed…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i-phones vs Samsung   you might expect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polarisation…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West Coast Vs Fremantle?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you more likely to buy an i-phone if you support West Coast?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Are you more likely to have red hair if you attend Baldivis SC?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However, as seen above, ….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28/100 like both… That’s just under 1/3</a:t>
            </a:r>
            <a:r>
              <a:rPr kumimoji="0" lang="x-none" altLang="x-none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rd</a:t>
            </a:r>
            <a:r>
              <a:rPr kumimoji="0" lang="x-none" altLang="x-none" sz="1800" b="0" i="0" u="none" strike="noStrike" cap="none" normalizeH="0" baseline="-2147483648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(33.33r%)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34% do not like either…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Brandish" pitchFamily="2" charset="0"/>
              </a:rPr>
              <a:t>HASS vs Science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83568" y="1636737"/>
            <a:ext cx="8460432" cy="416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 Box 2"/>
          <p:cNvSpPr txBox="1"/>
          <p:nvPr/>
        </p:nvSpPr>
        <p:spPr>
          <a:xfrm>
            <a:off x="3199299" y="3191272"/>
            <a:ext cx="14859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AU" sz="2000">
                <a:effectLst/>
                <a:latin typeface="Comic Sans MS" charset="0"/>
                <a:ea typeface="Calibri" charset="0"/>
                <a:cs typeface="Times New Roman" charset="0"/>
              </a:rPr>
              <a:t>HASS</a:t>
            </a:r>
            <a:endParaRPr lang="en-GB" sz="1200">
              <a:effectLst/>
              <a:ea typeface="Calibri" charset="0"/>
              <a:cs typeface="Times New Roman" charset="0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5942499" y="3191272"/>
            <a:ext cx="1600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AU" sz="2000">
                <a:effectLst/>
                <a:latin typeface="Comic Sans MS" charset="0"/>
                <a:ea typeface="Calibri" charset="0"/>
                <a:cs typeface="Times New Roman" charset="0"/>
              </a:rPr>
              <a:t>SCIENCE</a:t>
            </a:r>
            <a:endParaRPr lang="en-GB" sz="1200">
              <a:effectLst/>
              <a:ea typeface="Calibri" charset="0"/>
              <a:cs typeface="Times New Roman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47664" y="227687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547664" y="27340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712572003"/>
              </p:ext>
            </p:extLst>
          </p:nvPr>
        </p:nvGraphicFramePr>
        <p:xfrm>
          <a:off x="1547664" y="2276872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47664" y="59344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hlinkClick r:id="rId8"/>
              <a:hlinkMouseOver r:id="rId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bmk="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hlinkClick r:id="rId8"/>
                <a:hlinkMouseOver r:id="rId9"/>
              </a:rPr>
              <a:t>[PA[SC1]</a:t>
            </a:r>
            <a:r>
              <a:rPr kumimoji="0" lang="x-none" altLang="x-non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47664" y="5934472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970699" y="62373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 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hlinkClick r:id="rId10"/>
              </a:rPr>
              <a:t>[PA[SC1]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What does the overlap represent?</a:t>
            </a:r>
            <a:br>
              <a:rPr lang="en-US" dirty="0" smtClean="0">
                <a:latin typeface="Arial" charset="0"/>
                <a:ea typeface="Arial" charset="0"/>
                <a:cs typeface="Arial" charset="0"/>
              </a:rPr>
            </a:b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Those who enjoy both.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28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What does the outside area mean?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Those who enjoy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Neither.    34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There are only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4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numbers needed in a 2-circle Venn diagram = 4 Probabilities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3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LHS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EASY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      Dwyer p.247 Ex, 18.2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1-3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MEDIUM.  </a:t>
            </a:r>
            <a:r>
              <a:rPr lang="en-US" smtClean="0">
                <a:latin typeface="Arial" charset="0"/>
                <a:ea typeface="Arial" charset="0"/>
                <a:cs typeface="Arial" charset="0"/>
              </a:rPr>
              <a:t>Dwyer p.252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Ex. 18.9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1-8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HARD.  P. 500, q 12-13. </a:t>
            </a:r>
            <a:r>
              <a:rPr lang="en-US" b="1" i="1" dirty="0" smtClean="0">
                <a:latin typeface="Arial" charset="0"/>
                <a:ea typeface="Arial" charset="0"/>
                <a:cs typeface="Arial" charset="0"/>
              </a:rPr>
              <a:t>Algebraic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&amp; 2-way tables.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ENRICHMENT- Triple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mr-IN" dirty="0" smtClean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dirty="0" smtClean="0">
                <a:latin typeface="Arial" charset="0"/>
                <a:ea typeface="Arial" charset="0"/>
                <a:cs typeface="Arial" charset="0"/>
              </a:rPr>
              <a:t>p. 501 Cambridge Essentials.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66</TotalTime>
  <Words>461</Words>
  <Application>Microsoft Macintosh PowerPoint</Application>
  <PresentationFormat>On-screen Show (4:3)</PresentationFormat>
  <Paragraphs>128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Brandish</vt:lpstr>
      <vt:lpstr>Calibri</vt:lpstr>
      <vt:lpstr>Comic Sans MS</vt:lpstr>
      <vt:lpstr>Martina</vt:lpstr>
      <vt:lpstr>Times New Roman</vt:lpstr>
      <vt:lpstr>Arial</vt:lpstr>
      <vt:lpstr>Office Theme</vt:lpstr>
      <vt:lpstr>-PROBABILITY- Interactive Notebook</vt:lpstr>
      <vt:lpstr>PowerPoint Presentation</vt:lpstr>
      <vt:lpstr>PowerPoint Presentation</vt:lpstr>
      <vt:lpstr>Warm up</vt:lpstr>
      <vt:lpstr>PowerPoint Presentation</vt:lpstr>
      <vt:lpstr>Two-Way table </vt:lpstr>
      <vt:lpstr>HASS vs Science</vt:lpstr>
      <vt:lpstr>What does the overlap represent? </vt:lpstr>
      <vt:lpstr>LHS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PATERSON Anne [Baldivis Secondary College]</cp:lastModifiedBy>
  <cp:revision>17</cp:revision>
  <dcterms:created xsi:type="dcterms:W3CDTF">2017-08-30T11:53:26Z</dcterms:created>
  <dcterms:modified xsi:type="dcterms:W3CDTF">2017-10-15T23:46:00Z</dcterms:modified>
</cp:coreProperties>
</file>
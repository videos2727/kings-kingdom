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rels" ContentType="application/vnd.openxmlformats-package.relationships+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84" r:id="rId2"/>
    <p:sldId id="289" r:id="rId3"/>
    <p:sldId id="285" r:id="rId4"/>
    <p:sldId id="286" r:id="rId5"/>
    <p:sldId id="283" r:id="rId6"/>
    <p:sldId id="287" r:id="rId7"/>
    <p:sldId id="257" r:id="rId8"/>
    <p:sldId id="259" r:id="rId9"/>
    <p:sldId id="290" r:id="rId10"/>
    <p:sldId id="288" r:id="rId11"/>
    <p:sldId id="291" r:id="rId12"/>
    <p:sldId id="292" r:id="rId13"/>
    <p:sldId id="293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599"/>
  </p:normalViewPr>
  <p:slideViewPr>
    <p:cSldViewPr>
      <p:cViewPr>
        <p:scale>
          <a:sx n="57" d="100"/>
          <a:sy n="57" d="100"/>
        </p:scale>
        <p:origin x="3200" y="121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FC3922-5EB1-4A7A-9541-7BF1BE1740EC}" type="datetimeFigureOut">
              <a:rPr lang="en-GB" smtClean="0"/>
              <a:t>16/10/2017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369C9D-0B2A-4FA1-8511-1F1FCA5D7A80}" type="slidenum">
              <a:rPr lang="en-GB" smtClean="0"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>
                <a:latin typeface="Arial" charset="0"/>
                <a:ea typeface="Arial" charset="0"/>
                <a:cs typeface="Arial" charset="0"/>
              </a:rPr>
              <a:t>Summary: 4</a:t>
            </a:r>
            <a:endParaRPr lang="en-US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369C9D-0B2A-4FA1-8511-1F1FCA5D7A80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3052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16/10/2017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16/10/2017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16/10/2017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16/10/2017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16/10/2017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16/10/2017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16/10/2017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16/10/2017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Drag picture to placeholder or click icon to add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16/10/2017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16/10/2017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16/10/2017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2DA05D-E6B5-46FE-9D2D-1DC465FF46A5}" type="datetimeFigureOut">
              <a:rPr lang="en-GB" smtClean="0"/>
              <a:pPr/>
              <a:t>16/10/2017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gif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332658"/>
            <a:ext cx="7772400" cy="1470025"/>
          </a:xfrm>
        </p:spPr>
        <p:txBody>
          <a:bodyPr/>
          <a:lstStyle/>
          <a:p>
            <a:r>
              <a:rPr lang="en-AU" dirty="0" smtClean="0"/>
              <a:t>Probability</a:t>
            </a:r>
            <a:br>
              <a:rPr lang="en-AU" dirty="0" smtClean="0"/>
            </a:br>
            <a:r>
              <a:rPr lang="en-AU" dirty="0" smtClean="0"/>
              <a:t>Interactive Notebook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55576" y="3140968"/>
            <a:ext cx="6400800" cy="1752600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en-AU" dirty="0" smtClean="0"/>
              <a:t>Name </a:t>
            </a:r>
          </a:p>
          <a:p>
            <a:pPr algn="l"/>
            <a:r>
              <a:rPr lang="en-AU" dirty="0" smtClean="0"/>
              <a:t>Class </a:t>
            </a:r>
          </a:p>
          <a:p>
            <a:pPr algn="l"/>
            <a:r>
              <a:rPr lang="en-AU" smtClean="0"/>
              <a:t>Teacher </a:t>
            </a:r>
            <a:endParaRPr lang="en-AU" dirty="0" smtClean="0"/>
          </a:p>
          <a:p>
            <a:pPr algn="l"/>
            <a:r>
              <a:rPr lang="en-AU" dirty="0" smtClean="0"/>
              <a:t>Term 3   Semester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48467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7944" y="3183629"/>
            <a:ext cx="4038600" cy="269557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8" y="438126"/>
            <a:ext cx="1590675" cy="1857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62437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8935904" y="5854200"/>
            <a:ext cx="13467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61611" y="327720"/>
            <a:ext cx="22399636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61611" y="1263824"/>
            <a:ext cx="22399636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22943" y="26959"/>
            <a:ext cx="141115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2607247" y="2505662"/>
            <a:ext cx="0" cy="2349379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347070" y="-79839"/>
            <a:ext cx="15888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0" name="TextBox 9"/>
          <p:cNvSpPr txBox="1"/>
          <p:nvPr/>
        </p:nvSpPr>
        <p:spPr>
          <a:xfrm>
            <a:off x="122943" y="427842"/>
            <a:ext cx="212634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sz="2400" dirty="0" smtClean="0"/>
              <a:t>EQ – How do we construct a Venn diagram from scratch?</a:t>
            </a:r>
            <a:endParaRPr lang="en-AU" sz="2400" dirty="0"/>
          </a:p>
        </p:txBody>
      </p:sp>
      <p:sp>
        <p:nvSpPr>
          <p:cNvPr id="11" name="TextBox 10"/>
          <p:cNvSpPr txBox="1"/>
          <p:nvPr/>
        </p:nvSpPr>
        <p:spPr>
          <a:xfrm>
            <a:off x="2732602" y="3009717"/>
            <a:ext cx="15169943" cy="16971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2975158" y="4614426"/>
            <a:ext cx="43399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 </a:t>
            </a:r>
            <a:r>
              <a:rPr lang="en-US" dirty="0" smtClean="0"/>
              <a:t>                             </a:t>
            </a: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2699792" y="1700808"/>
            <a:ext cx="2065979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 smtClean="0"/>
              <a:t> </a:t>
            </a:r>
            <a:endParaRPr lang="en-US" sz="2800" dirty="0"/>
          </a:p>
          <a:p>
            <a:endParaRPr lang="en-US" sz="2800" dirty="0"/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502018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1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7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07504" y="620688"/>
            <a:ext cx="439257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Contents</a:t>
            </a:r>
            <a:endParaRPr lang="en-AU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223226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Page</a:t>
            </a:r>
            <a:endParaRPr lang="en-AU" sz="16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1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7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Date</a:t>
            </a:r>
            <a:endParaRPr lang="en-AU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9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Description</a:t>
            </a:r>
            <a:endParaRPr lang="en-AU" sz="1600" dirty="0"/>
          </a:p>
        </p:txBody>
      </p:sp>
      <p:sp>
        <p:nvSpPr>
          <p:cNvPr id="21" name="TextBox 20"/>
          <p:cNvSpPr txBox="1"/>
          <p:nvPr/>
        </p:nvSpPr>
        <p:spPr>
          <a:xfrm>
            <a:off x="5796136" y="66506"/>
            <a:ext cx="2592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Glossary or Formula Page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16510386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1"/>
            <a:ext cx="2" cy="684399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8466" y="652552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500083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3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91" y="5373216"/>
            <a:ext cx="4726151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3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24</a:t>
            </a:r>
          </a:p>
          <a:p>
            <a:r>
              <a:rPr lang="en-AU" sz="1000" dirty="0" smtClean="0"/>
              <a:t>7</a:t>
            </a:r>
          </a:p>
          <a:p>
            <a:r>
              <a:rPr lang="en-AU" sz="1000" dirty="0" smtClean="0"/>
              <a:t>30</a:t>
            </a:r>
            <a:endParaRPr lang="en-AU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90" y="601550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Essential Question</a:t>
            </a:r>
            <a:endParaRPr lang="en-AU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5867753" y="1196753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Notes</a:t>
            </a:r>
            <a:endParaRPr lang="en-AU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4521851" y="1196754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Questions</a:t>
            </a:r>
            <a:endParaRPr lang="en-AU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8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Summary</a:t>
            </a:r>
            <a:endParaRPr lang="en-AU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151249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Tasks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3705725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7177" y="-1535307"/>
            <a:ext cx="8229600" cy="1143000"/>
          </a:xfrm>
          <a:solidFill>
            <a:schemeClr val="accent5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txBody>
          <a:bodyPr>
            <a:noAutofit/>
          </a:bodyPr>
          <a:lstStyle/>
          <a:p>
            <a:r>
              <a:rPr lang="en-GB" sz="11500" dirty="0" smtClean="0">
                <a:latin typeface="Martina" pitchFamily="2" charset="0"/>
              </a:rPr>
              <a:t>Warm up</a:t>
            </a:r>
            <a:endParaRPr lang="en-GB" sz="11500" dirty="0">
              <a:latin typeface="Martina" pitchFamily="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3568" y="1437289"/>
            <a:ext cx="8229600" cy="5030275"/>
          </a:xfrm>
          <a:solidFill>
            <a:schemeClr val="accent1">
              <a:lumMod val="20000"/>
              <a:lumOff val="80000"/>
            </a:schemeClr>
          </a:solidFill>
          <a:ln w="76200">
            <a:solidFill>
              <a:schemeClr val="tx1"/>
            </a:solidFill>
          </a:ln>
        </p:spPr>
        <p:txBody>
          <a:bodyPr numCol="2">
            <a:normAutofit/>
          </a:bodyPr>
          <a:lstStyle/>
          <a:p>
            <a:pPr>
              <a:buNone/>
            </a:pPr>
            <a:r>
              <a:rPr lang="en-GB" dirty="0" smtClean="0">
                <a:latin typeface="Comic Sans MS" pitchFamily="66" charset="0"/>
              </a:rPr>
              <a:t>Revising last lesson.</a:t>
            </a:r>
            <a:r>
              <a:rPr lang="en-GB" dirty="0" smtClean="0"/>
              <a:t> </a:t>
            </a:r>
          </a:p>
          <a:p>
            <a:pPr marL="514350" indent="-514350">
              <a:buFont typeface="Arial" pitchFamily="34" charset="0"/>
              <a:buAutoNum type="arabicParenR"/>
            </a:pPr>
            <a:r>
              <a:rPr lang="en-GB" dirty="0" err="1" smtClean="0"/>
              <a:t>Tchr</a:t>
            </a:r>
            <a:r>
              <a:rPr lang="en-GB" dirty="0" smtClean="0"/>
              <a:t> Conducts a class </a:t>
            </a:r>
            <a:r>
              <a:rPr lang="en-GB" dirty="0" err="1" smtClean="0"/>
              <a:t>suvey</a:t>
            </a:r>
            <a:r>
              <a:rPr lang="en-GB" dirty="0" smtClean="0"/>
              <a:t> of cat/dog ownership to enter into a two way table and a </a:t>
            </a:r>
            <a:r>
              <a:rPr lang="en-GB" dirty="0" err="1" smtClean="0"/>
              <a:t>venn</a:t>
            </a:r>
            <a:r>
              <a:rPr lang="en-GB" dirty="0" smtClean="0"/>
              <a:t> diagram</a:t>
            </a:r>
          </a:p>
          <a:p>
            <a:pPr marL="514350" indent="-514350">
              <a:buFont typeface="Arial" pitchFamily="34" charset="0"/>
              <a:buAutoNum type="arabicParenR"/>
            </a:pPr>
            <a:r>
              <a:rPr lang="en-GB" dirty="0" smtClean="0"/>
              <a:t> Collect tallies</a:t>
            </a:r>
            <a:r>
              <a:rPr lang="mr-IN" dirty="0" smtClean="0"/>
              <a:t>…</a:t>
            </a:r>
            <a:endParaRPr lang="en-AU" dirty="0"/>
          </a:p>
          <a:p>
            <a:pPr marL="0" indent="0">
              <a:buNone/>
            </a:pPr>
            <a:r>
              <a:rPr lang="en-AU" dirty="0" smtClean="0"/>
              <a:t>Cats  III Dogs IIIII (?) Both III  None II  </a:t>
            </a:r>
            <a:endParaRPr lang="en-GB" dirty="0" smtClean="0"/>
          </a:p>
          <a:p>
            <a:pPr marL="514350" indent="-514350">
              <a:buAutoNum type="arabicParenR"/>
            </a:pPr>
            <a:endParaRPr lang="en-GB" dirty="0" smtClean="0"/>
          </a:p>
          <a:p>
            <a:pPr marL="514350" indent="-514350">
              <a:buFont typeface="Arial" pitchFamily="34" charset="0"/>
              <a:buAutoNum type="arabicParenR"/>
            </a:pPr>
            <a:endParaRPr lang="en-GB" dirty="0" smtClean="0"/>
          </a:p>
          <a:p>
            <a:pPr marL="514350" indent="-514350">
              <a:buAutoNum type="arabicParenR"/>
            </a:pPr>
            <a:endParaRPr lang="en-GB" dirty="0" smtClean="0"/>
          </a:p>
          <a:p>
            <a:pPr marL="514350" indent="-514350">
              <a:buFont typeface="Arial" pitchFamily="34" charset="0"/>
              <a:buAutoNum type="arabicParenR"/>
            </a:pPr>
            <a:endParaRPr lang="en-GB" dirty="0" smtClean="0"/>
          </a:p>
          <a:p>
            <a:pPr marL="514350" indent="-514350">
              <a:buAutoNum type="arabicParenR"/>
            </a:pPr>
            <a:endParaRPr lang="en-GB" dirty="0"/>
          </a:p>
        </p:txBody>
      </p:sp>
      <p:sp>
        <p:nvSpPr>
          <p:cNvPr id="4" name="TextBox 3"/>
          <p:cNvSpPr txBox="1"/>
          <p:nvPr/>
        </p:nvSpPr>
        <p:spPr>
          <a:xfrm>
            <a:off x="1691680" y="2852936"/>
            <a:ext cx="9361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sz="2400" u="sng" dirty="0" smtClean="0"/>
          </a:p>
          <a:p>
            <a:r>
              <a:rPr lang="en-GB" sz="2400" dirty="0" smtClean="0"/>
              <a:t> </a:t>
            </a:r>
            <a:endParaRPr lang="en-GB" sz="2400" dirty="0"/>
          </a:p>
        </p:txBody>
      </p:sp>
      <p:pic>
        <p:nvPicPr>
          <p:cNvPr id="1026" name="Picture 2" descr="C:\Users\Ben\AppData\Local\Microsoft\Windows\Temporary Internet Files\Content.IE5\W2NO9NUW\MM900236357[1].gif"/>
          <p:cNvPicPr>
            <a:picLocks noChangeAspect="1" noChangeArrowheads="1" noCrop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452320" y="197663"/>
            <a:ext cx="864096" cy="1176641"/>
          </a:xfrm>
          <a:prstGeom prst="rect">
            <a:avLst/>
          </a:prstGeom>
          <a:noFill/>
        </p:spPr>
      </p:pic>
      <p:pic>
        <p:nvPicPr>
          <p:cNvPr id="10" name="Picture 2" descr="C:\Users\Ben\AppData\Local\Microsoft\Windows\Temporary Internet Files\Content.IE5\W2NO9NUW\MM900236357[1].gif"/>
          <p:cNvPicPr>
            <a:picLocks noChangeAspect="1" noChangeArrowheads="1" noCrop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71600" y="260648"/>
            <a:ext cx="864096" cy="1176641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7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3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411760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6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200049" y="1057672"/>
            <a:ext cx="862042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</a:t>
            </a:r>
            <a:r>
              <a:rPr lang="en-AU" sz="2400" dirty="0" smtClean="0">
                <a:latin typeface="Arial" charset="0"/>
                <a:ea typeface="Arial" charset="0"/>
                <a:cs typeface="Arial" charset="0"/>
              </a:rPr>
              <a:t>– How many spaces must be filled in a 2-way table before the rest can be determined??</a:t>
            </a:r>
            <a:endParaRPr lang="en-AU" sz="24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627784" y="3573016"/>
            <a:ext cx="61926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805609" y="5248894"/>
            <a:ext cx="17716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 </a:t>
            </a:r>
            <a:r>
              <a:rPr lang="en-US" dirty="0" smtClean="0"/>
              <a:t>                             </a:t>
            </a:r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805609" y="2075577"/>
            <a:ext cx="8433759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 smtClean="0"/>
          </a:p>
          <a:p>
            <a:r>
              <a:rPr lang="en-US" sz="2800" dirty="0" smtClean="0">
                <a:latin typeface="Arial" charset="0"/>
                <a:ea typeface="Arial" charset="0"/>
                <a:cs typeface="Arial" charset="0"/>
              </a:rPr>
              <a:t>Copy and complete this </a:t>
            </a:r>
            <a:r>
              <a:rPr lang="en-US" sz="2800" b="1" dirty="0" smtClean="0">
                <a:latin typeface="Arial" charset="0"/>
                <a:ea typeface="Arial" charset="0"/>
                <a:cs typeface="Arial" charset="0"/>
              </a:rPr>
              <a:t>2-way table</a:t>
            </a:r>
          </a:p>
          <a:p>
            <a:endParaRPr lang="en-US" sz="2800" dirty="0" smtClean="0">
              <a:latin typeface="Arial" charset="0"/>
              <a:ea typeface="Arial" charset="0"/>
              <a:cs typeface="Arial" charset="0"/>
            </a:endParaRPr>
          </a:p>
          <a:p>
            <a:endParaRPr lang="en-US" sz="2800" dirty="0"/>
          </a:p>
          <a:p>
            <a:endParaRPr lang="en-US" sz="2800" dirty="0" smtClean="0"/>
          </a:p>
          <a:p>
            <a:endParaRPr lang="en-US" sz="2800" dirty="0"/>
          </a:p>
          <a:p>
            <a:endParaRPr lang="en-US" sz="2800" dirty="0" smtClean="0"/>
          </a:p>
          <a:p>
            <a:endParaRPr lang="en-US" sz="2800" dirty="0"/>
          </a:p>
          <a:p>
            <a:endParaRPr lang="en-US" sz="2800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3717645"/>
              </p:ext>
            </p:extLst>
          </p:nvPr>
        </p:nvGraphicFramePr>
        <p:xfrm>
          <a:off x="2805609" y="3573015"/>
          <a:ext cx="5654822" cy="2530156"/>
        </p:xfrm>
        <a:graphic>
          <a:graphicData uri="http://schemas.openxmlformats.org/drawingml/2006/table">
            <a:tbl>
              <a:tblPr firstRow="1" firstCol="1" bandRow="1"/>
              <a:tblGrid>
                <a:gridCol w="1413392"/>
                <a:gridCol w="1413392"/>
                <a:gridCol w="1414019"/>
                <a:gridCol w="1414019"/>
              </a:tblGrid>
              <a:tr h="63253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charset="0"/>
                          <a:ea typeface="Calibri" charset="0"/>
                          <a:cs typeface="Times New Roman" charset="0"/>
                        </a:rPr>
                        <a:t> 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charset="0"/>
                          <a:ea typeface="Calibri" charset="0"/>
                          <a:cs typeface="Times New Roman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2000" b="1" dirty="0">
                          <a:effectLst/>
                          <a:latin typeface="Calibri" charset="0"/>
                          <a:ea typeface="Calibri" charset="0"/>
                          <a:cs typeface="Times New Roman" charset="0"/>
                        </a:rPr>
                        <a:t>B</a:t>
                      </a:r>
                      <a:endParaRPr lang="en-GB" sz="2000" dirty="0">
                        <a:effectLst/>
                        <a:latin typeface="Calibri" charset="0"/>
                        <a:ea typeface="Calibri" charset="0"/>
                        <a:cs typeface="Times New Roman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2000" b="1" dirty="0">
                          <a:effectLst/>
                          <a:latin typeface="Calibri" charset="0"/>
                          <a:ea typeface="Calibri" charset="0"/>
                          <a:cs typeface="Times New Roman" charset="0"/>
                        </a:rPr>
                        <a:t>Not B</a:t>
                      </a:r>
                      <a:endParaRPr lang="en-GB" sz="2000" dirty="0">
                        <a:effectLst/>
                        <a:latin typeface="Calibri" charset="0"/>
                        <a:ea typeface="Calibri" charset="0"/>
                        <a:cs typeface="Times New Roman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2000" b="1" dirty="0">
                          <a:effectLst/>
                          <a:latin typeface="Calibri" charset="0"/>
                          <a:ea typeface="Calibri" charset="0"/>
                          <a:cs typeface="Times New Roman" charset="0"/>
                        </a:rPr>
                        <a:t>TOTAL</a:t>
                      </a:r>
                      <a:endParaRPr lang="en-GB" sz="2000" dirty="0">
                        <a:effectLst/>
                        <a:latin typeface="Calibri" charset="0"/>
                        <a:ea typeface="Calibri" charset="0"/>
                        <a:cs typeface="Times New Roman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3253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200" b="1" dirty="0">
                          <a:effectLst/>
                          <a:latin typeface="Calibri" charset="0"/>
                          <a:ea typeface="Calibri" charset="0"/>
                          <a:cs typeface="Times New Roman" charset="0"/>
                        </a:rPr>
                        <a:t> </a:t>
                      </a:r>
                      <a:endParaRPr lang="en-GB" sz="1200" dirty="0">
                        <a:effectLst/>
                        <a:latin typeface="Calibri" charset="0"/>
                        <a:ea typeface="Calibri" charset="0"/>
                        <a:cs typeface="Times New Roman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2000" b="1" dirty="0">
                          <a:effectLst/>
                          <a:latin typeface="Calibri" charset="0"/>
                          <a:ea typeface="Calibri" charset="0"/>
                          <a:cs typeface="Times New Roman" charset="0"/>
                        </a:rPr>
                        <a:t>A</a:t>
                      </a:r>
                      <a:endParaRPr lang="en-GB" sz="2000" dirty="0">
                        <a:effectLst/>
                        <a:latin typeface="Calibri" charset="0"/>
                        <a:ea typeface="Calibri" charset="0"/>
                        <a:cs typeface="Times New Roman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800" dirty="0">
                          <a:effectLst/>
                          <a:latin typeface="Calibri" charset="0"/>
                          <a:ea typeface="Calibri" charset="0"/>
                          <a:cs typeface="Times New Roman" charset="0"/>
                        </a:rPr>
                        <a:t>20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800">
                          <a:effectLst/>
                          <a:latin typeface="Calibri" charset="0"/>
                          <a:ea typeface="Calibri" charset="0"/>
                          <a:cs typeface="Times New Roman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800">
                          <a:effectLst/>
                          <a:latin typeface="Calibri" charset="0"/>
                          <a:ea typeface="Calibri" charset="0"/>
                          <a:cs typeface="Times New Roman" charset="0"/>
                        </a:rPr>
                        <a:t>70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3253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2000" b="1" dirty="0">
                          <a:effectLst/>
                          <a:latin typeface="Calibri" charset="0"/>
                          <a:ea typeface="Calibri" charset="0"/>
                          <a:cs typeface="Times New Roman" charset="0"/>
                        </a:rPr>
                        <a:t>Not A</a:t>
                      </a:r>
                      <a:endParaRPr lang="en-GB" sz="2000" dirty="0">
                        <a:effectLst/>
                        <a:latin typeface="Calibri" charset="0"/>
                        <a:ea typeface="Calibri" charset="0"/>
                        <a:cs typeface="Times New Roman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2000" b="1" dirty="0">
                          <a:effectLst/>
                          <a:latin typeface="Calibri" charset="0"/>
                          <a:ea typeface="Calibri" charset="0"/>
                          <a:cs typeface="Times New Roman" charset="0"/>
                        </a:rPr>
                        <a:t> </a:t>
                      </a:r>
                      <a:endParaRPr lang="en-GB" sz="2000" dirty="0">
                        <a:effectLst/>
                        <a:latin typeface="Calibri" charset="0"/>
                        <a:ea typeface="Calibri" charset="0"/>
                        <a:cs typeface="Times New Roman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800" dirty="0">
                          <a:effectLst/>
                          <a:latin typeface="Calibri" charset="0"/>
                          <a:ea typeface="Calibri" charset="0"/>
                          <a:cs typeface="Times New Roman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800" dirty="0">
                          <a:effectLst/>
                          <a:latin typeface="Calibri" charset="0"/>
                          <a:ea typeface="Calibri" charset="0"/>
                          <a:cs typeface="Times New Roman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800">
                          <a:effectLst/>
                          <a:latin typeface="Calibri" charset="0"/>
                          <a:ea typeface="Calibri" charset="0"/>
                          <a:cs typeface="Times New Roman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3253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2000" b="1" dirty="0">
                          <a:effectLst/>
                          <a:latin typeface="Calibri" charset="0"/>
                          <a:ea typeface="Calibri" charset="0"/>
                          <a:cs typeface="Times New Roman" charset="0"/>
                        </a:rPr>
                        <a:t> </a:t>
                      </a:r>
                      <a:endParaRPr lang="en-GB" sz="2000" dirty="0">
                        <a:effectLst/>
                        <a:latin typeface="Calibri" charset="0"/>
                        <a:ea typeface="Calibri" charset="0"/>
                        <a:cs typeface="Times New Roman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2000" b="1" dirty="0">
                          <a:effectLst/>
                          <a:latin typeface="Calibri" charset="0"/>
                          <a:ea typeface="Calibri" charset="0"/>
                          <a:cs typeface="Times New Roman" charset="0"/>
                        </a:rPr>
                        <a:t>Total</a:t>
                      </a:r>
                      <a:endParaRPr lang="en-GB" sz="2000" dirty="0">
                        <a:effectLst/>
                        <a:latin typeface="Calibri" charset="0"/>
                        <a:ea typeface="Calibri" charset="0"/>
                        <a:cs typeface="Times New Roman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800">
                          <a:effectLst/>
                          <a:latin typeface="Calibri" charset="0"/>
                          <a:ea typeface="Calibri" charset="0"/>
                          <a:cs typeface="Times New Roman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800" dirty="0">
                          <a:effectLst/>
                          <a:latin typeface="Calibri" charset="0"/>
                          <a:ea typeface="Calibri" charset="0"/>
                          <a:cs typeface="Times New Roman" charset="0"/>
                        </a:rPr>
                        <a:t>60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800" dirty="0">
                          <a:effectLst/>
                          <a:latin typeface="Calibri" charset="0"/>
                          <a:ea typeface="Calibri" charset="0"/>
                          <a:cs typeface="Times New Roman" charset="0"/>
                        </a:rPr>
                        <a:t>100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3460235" y="3270062"/>
            <a:ext cx="9037675" cy="7906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30820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833" y="116632"/>
            <a:ext cx="8229600" cy="1844824"/>
          </a:xfrm>
          <a:solidFill>
            <a:schemeClr val="accent1">
              <a:lumMod val="20000"/>
              <a:lumOff val="80000"/>
            </a:schemeClr>
          </a:solidFill>
          <a:ln w="76200">
            <a:solidFill>
              <a:schemeClr val="tx1"/>
            </a:solidFill>
          </a:ln>
        </p:spPr>
        <p:txBody>
          <a:bodyPr>
            <a:normAutofit fontScale="90000"/>
          </a:bodyPr>
          <a:lstStyle/>
          <a:p>
            <a:r>
              <a:rPr lang="en-GB" sz="6600" dirty="0" smtClean="0">
                <a:latin typeface="Comic Sans MS" charset="0"/>
                <a:ea typeface="Comic Sans MS" charset="0"/>
                <a:cs typeface="Comic Sans MS" charset="0"/>
              </a:rPr>
              <a:t>Find </a:t>
            </a:r>
            <a:r>
              <a:rPr lang="en-GB" sz="6600" smtClean="0">
                <a:latin typeface="Comic Sans MS" charset="0"/>
                <a:ea typeface="Comic Sans MS" charset="0"/>
                <a:cs typeface="Comic Sans MS" charset="0"/>
              </a:rPr>
              <a:t>the Error-explain </a:t>
            </a:r>
            <a:r>
              <a:rPr lang="en-GB" sz="6600" dirty="0" smtClean="0">
                <a:latin typeface="Brandish" pitchFamily="2" charset="0"/>
              </a:rPr>
              <a:t/>
            </a:r>
            <a:br>
              <a:rPr lang="en-GB" sz="6600" dirty="0" smtClean="0">
                <a:latin typeface="Brandish" pitchFamily="2" charset="0"/>
              </a:rPr>
            </a:br>
            <a:endParaRPr lang="en-GB" sz="6600" dirty="0">
              <a:latin typeface="Brandish" pitchFamily="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9552" y="2362669"/>
            <a:ext cx="8229600" cy="4525963"/>
          </a:xfrm>
        </p:spPr>
        <p:txBody>
          <a:bodyPr>
            <a:normAutofit/>
          </a:bodyPr>
          <a:lstStyle/>
          <a:p>
            <a:pPr algn="ctr"/>
            <a:endParaRPr lang="en-AU" sz="7200" dirty="0" smtClean="0">
              <a:latin typeface="Arial" charset="0"/>
              <a:ea typeface="Arial" charset="0"/>
              <a:cs typeface="Arial" charset="0"/>
            </a:endParaRPr>
          </a:p>
          <a:p>
            <a:pPr algn="ctr"/>
            <a:endParaRPr lang="en-GB" sz="7200" dirty="0" smtClean="0"/>
          </a:p>
          <a:p>
            <a:endParaRPr lang="en-GB" dirty="0" smtClean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119653"/>
              </p:ext>
            </p:extLst>
          </p:nvPr>
        </p:nvGraphicFramePr>
        <p:xfrm>
          <a:off x="1115617" y="2204863"/>
          <a:ext cx="6480718" cy="3600400"/>
        </p:xfrm>
        <a:graphic>
          <a:graphicData uri="http://schemas.openxmlformats.org/drawingml/2006/table">
            <a:tbl>
              <a:tblPr firstRow="1" firstCol="1" bandRow="1"/>
              <a:tblGrid>
                <a:gridCol w="1619820"/>
                <a:gridCol w="1619820"/>
                <a:gridCol w="1620539"/>
                <a:gridCol w="1620539"/>
              </a:tblGrid>
              <a:tr h="80008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charset="0"/>
                          <a:ea typeface="Calibri" charset="0"/>
                          <a:cs typeface="Times New Roman" charset="0"/>
                        </a:rPr>
                        <a:t> 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charset="0"/>
                          <a:ea typeface="Calibri" charset="0"/>
                          <a:cs typeface="Times New Roman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200" b="1">
                          <a:effectLst/>
                          <a:latin typeface="Calibri" charset="0"/>
                          <a:ea typeface="Calibri" charset="0"/>
                          <a:cs typeface="Times New Roman" charset="0"/>
                        </a:rPr>
                        <a:t>Eats Meat</a:t>
                      </a:r>
                      <a:endParaRPr lang="en-GB" sz="1200">
                        <a:effectLst/>
                        <a:latin typeface="Calibri" charset="0"/>
                        <a:ea typeface="Calibri" charset="0"/>
                        <a:cs typeface="Times New Roman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200" b="1">
                          <a:effectLst/>
                          <a:latin typeface="Calibri" charset="0"/>
                          <a:ea typeface="Calibri" charset="0"/>
                          <a:cs typeface="Times New Roman" charset="0"/>
                        </a:rPr>
                        <a:t>No Meat</a:t>
                      </a:r>
                      <a:endParaRPr lang="en-GB" sz="1200">
                        <a:effectLst/>
                        <a:latin typeface="Calibri" charset="0"/>
                        <a:ea typeface="Calibri" charset="0"/>
                        <a:cs typeface="Times New Roman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200" b="1">
                          <a:effectLst/>
                          <a:latin typeface="Calibri" charset="0"/>
                          <a:ea typeface="Calibri" charset="0"/>
                          <a:cs typeface="Times New Roman" charset="0"/>
                        </a:rPr>
                        <a:t>Total</a:t>
                      </a:r>
                      <a:endParaRPr lang="en-GB" sz="1200">
                        <a:effectLst/>
                        <a:latin typeface="Calibri" charset="0"/>
                        <a:ea typeface="Calibri" charset="0"/>
                        <a:cs typeface="Times New Roman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20013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200" b="1">
                          <a:effectLst/>
                          <a:latin typeface="Calibri" charset="0"/>
                          <a:ea typeface="Calibri" charset="0"/>
                          <a:cs typeface="Times New Roman" charset="0"/>
                        </a:rPr>
                        <a:t>Sleeps during the daytime</a:t>
                      </a:r>
                      <a:endParaRPr lang="en-GB" sz="1200">
                        <a:effectLst/>
                        <a:latin typeface="Calibri" charset="0"/>
                        <a:ea typeface="Calibri" charset="0"/>
                        <a:cs typeface="Times New Roman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200" b="1">
                          <a:effectLst/>
                          <a:latin typeface="Calibri" charset="0"/>
                          <a:ea typeface="Calibri" charset="0"/>
                          <a:cs typeface="Times New Roman" charset="0"/>
                        </a:rPr>
                        <a:t> </a:t>
                      </a:r>
                      <a:endParaRPr lang="en-GB" sz="1200">
                        <a:effectLst/>
                        <a:latin typeface="Calibri" charset="0"/>
                        <a:ea typeface="Calibri" charset="0"/>
                        <a:cs typeface="Times New Roman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charset="0"/>
                          <a:ea typeface="Calibri" charset="0"/>
                          <a:cs typeface="Times New Roman" charset="0"/>
                        </a:rPr>
                        <a:t>22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charset="0"/>
                          <a:ea typeface="Calibri" charset="0"/>
                          <a:cs typeface="Times New Roman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charset="0"/>
                          <a:ea typeface="Calibri" charset="0"/>
                          <a:cs typeface="Times New Roman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0008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200" b="1">
                          <a:effectLst/>
                          <a:latin typeface="Calibri" charset="0"/>
                          <a:ea typeface="Calibri" charset="0"/>
                          <a:cs typeface="Times New Roman" charset="0"/>
                        </a:rPr>
                        <a:t>Only sleeps at night</a:t>
                      </a:r>
                      <a:endParaRPr lang="en-GB" sz="1200">
                        <a:effectLst/>
                        <a:latin typeface="Calibri" charset="0"/>
                        <a:ea typeface="Calibri" charset="0"/>
                        <a:cs typeface="Times New Roman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200" b="1">
                          <a:effectLst/>
                          <a:latin typeface="Calibri" charset="0"/>
                          <a:ea typeface="Calibri" charset="0"/>
                          <a:cs typeface="Times New Roman" charset="0"/>
                        </a:rPr>
                        <a:t> </a:t>
                      </a:r>
                      <a:endParaRPr lang="en-GB" sz="1200">
                        <a:effectLst/>
                        <a:latin typeface="Calibri" charset="0"/>
                        <a:ea typeface="Calibri" charset="0"/>
                        <a:cs typeface="Times New Roman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charset="0"/>
                          <a:ea typeface="Calibri" charset="0"/>
                          <a:cs typeface="Times New Roman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charset="0"/>
                          <a:ea typeface="Calibri" charset="0"/>
                          <a:cs typeface="Times New Roman" charset="0"/>
                        </a:rPr>
                        <a:t>28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charset="0"/>
                          <a:ea typeface="Calibri" charset="0"/>
                          <a:cs typeface="Times New Roman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0008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200" b="1">
                          <a:effectLst/>
                          <a:latin typeface="Calibri" charset="0"/>
                          <a:ea typeface="Calibri" charset="0"/>
                          <a:cs typeface="Times New Roman" charset="0"/>
                        </a:rPr>
                        <a:t> </a:t>
                      </a:r>
                      <a:endParaRPr lang="en-GB" sz="1200">
                        <a:effectLst/>
                        <a:latin typeface="Calibri" charset="0"/>
                        <a:ea typeface="Calibri" charset="0"/>
                        <a:cs typeface="Times New Roman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200" b="1">
                          <a:effectLst/>
                          <a:latin typeface="Calibri" charset="0"/>
                          <a:ea typeface="Calibri" charset="0"/>
                          <a:cs typeface="Times New Roman" charset="0"/>
                        </a:rPr>
                        <a:t>Total</a:t>
                      </a:r>
                      <a:endParaRPr lang="en-GB" sz="1200">
                        <a:effectLst/>
                        <a:latin typeface="Calibri" charset="0"/>
                        <a:ea typeface="Calibri" charset="0"/>
                        <a:cs typeface="Times New Roman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charset="0"/>
                          <a:ea typeface="Calibri" charset="0"/>
                          <a:cs typeface="Times New Roman" charset="0"/>
                        </a:rPr>
                        <a:t>80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Calibri" charset="0"/>
                          <a:ea typeface="Calibri" charset="0"/>
                          <a:cs typeface="Times New Roman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Calibri" charset="0"/>
                          <a:ea typeface="Calibri" charset="0"/>
                          <a:cs typeface="Times New Roman" charset="0"/>
                        </a:rPr>
                        <a:t>100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759249" y="2808020"/>
            <a:ext cx="10357646" cy="10001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528" y="125760"/>
            <a:ext cx="8301608" cy="1503040"/>
          </a:xfr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>
            <a:normAutofit fontScale="90000"/>
          </a:bodyPr>
          <a:lstStyle/>
          <a:p>
            <a:r>
              <a:rPr lang="en-GB" sz="5400" dirty="0" smtClean="0">
                <a:latin typeface="Comic Sans MS" charset="0"/>
                <a:ea typeface="Comic Sans MS" charset="0"/>
                <a:cs typeface="Comic Sans MS" charset="0"/>
              </a:rPr>
              <a:t>Constructing a Venn diagram from scratch</a:t>
            </a:r>
            <a:endParaRPr lang="en-GB" sz="5400" dirty="0">
              <a:latin typeface="Comic Sans MS" charset="0"/>
              <a:ea typeface="Comic Sans MS" charset="0"/>
              <a:cs typeface="Comic Sans MS" charset="0"/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4139952" y="2420888"/>
            <a:ext cx="4824536" cy="93610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323528" y="1268760"/>
            <a:ext cx="8640960" cy="93610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23528" y="1988841"/>
            <a:ext cx="7632848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smtClean="0">
                <a:latin typeface="Arial" charset="0"/>
                <a:ea typeface="Arial" charset="0"/>
                <a:cs typeface="Arial" charset="0"/>
              </a:rPr>
              <a:t>A survey is conducted of 50 people asking “Who likes coffee, who likes tea?” “I want </a:t>
            </a:r>
            <a:r>
              <a:rPr lang="mr-IN" sz="4000" dirty="0" smtClean="0">
                <a:latin typeface="Arial" charset="0"/>
                <a:ea typeface="Arial" charset="0"/>
                <a:cs typeface="Arial" charset="0"/>
              </a:rPr>
              <a:t>…</a:t>
            </a:r>
            <a:r>
              <a:rPr lang="en-AU" sz="4000" dirty="0" smtClean="0">
                <a:latin typeface="Arial" charset="0"/>
                <a:ea typeface="Arial" charset="0"/>
                <a:cs typeface="Arial" charset="0"/>
              </a:rPr>
              <a:t>. in with me</a:t>
            </a:r>
            <a:r>
              <a:rPr lang="mr-IN" sz="4000" dirty="0" smtClean="0">
                <a:latin typeface="Arial" charset="0"/>
                <a:ea typeface="Arial" charset="0"/>
                <a:cs typeface="Arial" charset="0"/>
              </a:rPr>
              <a:t>…</a:t>
            </a:r>
            <a:r>
              <a:rPr lang="en-AU" sz="4000" dirty="0" smtClean="0">
                <a:latin typeface="Arial" charset="0"/>
                <a:ea typeface="Arial" charset="0"/>
                <a:cs typeface="Arial" charset="0"/>
              </a:rPr>
              <a:t>” </a:t>
            </a:r>
            <a:endParaRPr lang="en-US" sz="4000" dirty="0" smtClean="0">
              <a:latin typeface="Arial" charset="0"/>
              <a:ea typeface="Arial" charset="0"/>
              <a:cs typeface="Arial" charset="0"/>
            </a:endParaRPr>
          </a:p>
          <a:p>
            <a:r>
              <a:rPr lang="en-US" sz="4000" dirty="0" smtClean="0">
                <a:latin typeface="Arial" charset="0"/>
                <a:ea typeface="Arial" charset="0"/>
                <a:cs typeface="Arial" charset="0"/>
              </a:rPr>
              <a:t>It found 20 people liked both, </a:t>
            </a:r>
          </a:p>
          <a:p>
            <a:r>
              <a:rPr lang="en-US" sz="4000" dirty="0" smtClean="0">
                <a:latin typeface="Arial" charset="0"/>
                <a:ea typeface="Arial" charset="0"/>
                <a:cs typeface="Arial" charset="0"/>
              </a:rPr>
              <a:t>15 like coffee but not tea &amp; </a:t>
            </a:r>
          </a:p>
          <a:p>
            <a:r>
              <a:rPr lang="en-US" sz="4000" dirty="0" smtClean="0">
                <a:latin typeface="Arial" charset="0"/>
                <a:ea typeface="Arial" charset="0"/>
                <a:cs typeface="Arial" charset="0"/>
              </a:rPr>
              <a:t>10 people liked tea but not coffee.</a:t>
            </a:r>
            <a:endParaRPr lang="en-US" sz="4000" dirty="0">
              <a:latin typeface="Arial" charset="0"/>
              <a:ea typeface="Arial" charset="0"/>
              <a:cs typeface="Arial" charset="0"/>
            </a:endParaRPr>
          </a:p>
          <a:p>
            <a:endParaRPr lang="en-US" sz="4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Comic Sans MS" charset="0"/>
                <a:ea typeface="Comic Sans MS" charset="0"/>
                <a:cs typeface="Comic Sans MS" charset="0"/>
              </a:rPr>
              <a:t>Venn diagram here</a:t>
            </a:r>
            <a:endParaRPr lang="en-US" dirty="0">
              <a:latin typeface="Comic Sans MS" charset="0"/>
              <a:ea typeface="Comic Sans MS" charset="0"/>
              <a:cs typeface="Comic Sans MS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7029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r>
              <a:rPr lang="en-US" dirty="0" smtClean="0">
                <a:latin typeface="Arial" charset="0"/>
                <a:ea typeface="Arial" charset="0"/>
                <a:cs typeface="Arial" charset="0"/>
              </a:rPr>
              <a:t>Questions to answer</a:t>
            </a:r>
            <a:endParaRPr lang="en-US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 smtClean="0"/>
          </a:p>
          <a:p>
            <a:r>
              <a:rPr lang="en-US" dirty="0" smtClean="0">
                <a:latin typeface="Arial" charset="0"/>
                <a:ea typeface="Arial" charset="0"/>
                <a:cs typeface="Arial" charset="0"/>
              </a:rPr>
              <a:t>A) How many people liked neither?</a:t>
            </a:r>
          </a:p>
          <a:p>
            <a:r>
              <a:rPr lang="en-US" dirty="0">
                <a:latin typeface="Arial" charset="0"/>
                <a:ea typeface="Arial" charset="0"/>
                <a:cs typeface="Arial" charset="0"/>
              </a:rPr>
              <a:t>B</a:t>
            </a:r>
            <a:r>
              <a:rPr lang="en-US" dirty="0" smtClean="0">
                <a:latin typeface="Arial" charset="0"/>
                <a:ea typeface="Arial" charset="0"/>
                <a:cs typeface="Arial" charset="0"/>
              </a:rPr>
              <a:t>) How many people liked tea?</a:t>
            </a:r>
          </a:p>
          <a:p>
            <a:r>
              <a:rPr lang="en-US" dirty="0" smtClean="0">
                <a:latin typeface="Arial" charset="0"/>
                <a:ea typeface="Arial" charset="0"/>
                <a:cs typeface="Arial" charset="0"/>
              </a:rPr>
              <a:t>C) How many people liked coffee </a:t>
            </a:r>
            <a:r>
              <a:rPr lang="en-US" u="sng" dirty="0" smtClean="0">
                <a:latin typeface="Arial" charset="0"/>
                <a:ea typeface="Arial" charset="0"/>
                <a:cs typeface="Arial" charset="0"/>
              </a:rPr>
              <a:t>and</a:t>
            </a:r>
            <a:r>
              <a:rPr lang="en-US" dirty="0" smtClean="0">
                <a:latin typeface="Arial" charset="0"/>
                <a:ea typeface="Arial" charset="0"/>
                <a:cs typeface="Arial" charset="0"/>
              </a:rPr>
              <a:t> tea?</a:t>
            </a:r>
          </a:p>
          <a:p>
            <a:r>
              <a:rPr lang="en-US" dirty="0" smtClean="0">
                <a:latin typeface="Arial" charset="0"/>
                <a:ea typeface="Arial" charset="0"/>
                <a:cs typeface="Arial" charset="0"/>
              </a:rPr>
              <a:t>D) How many people liked coffee </a:t>
            </a:r>
            <a:r>
              <a:rPr lang="en-US" u="sng" dirty="0" smtClean="0">
                <a:latin typeface="Arial" charset="0"/>
                <a:ea typeface="Arial" charset="0"/>
                <a:cs typeface="Arial" charset="0"/>
              </a:rPr>
              <a:t>or</a:t>
            </a:r>
            <a:r>
              <a:rPr lang="en-US" dirty="0" smtClean="0">
                <a:latin typeface="Arial" charset="0"/>
                <a:ea typeface="Arial" charset="0"/>
                <a:cs typeface="Arial" charset="0"/>
              </a:rPr>
              <a:t> tea ( or both)?</a:t>
            </a:r>
          </a:p>
          <a:p>
            <a:endParaRPr lang="en-US" dirty="0" smtClean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1275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Comic Sans MS" charset="0"/>
                <a:ea typeface="Comic Sans MS" charset="0"/>
                <a:cs typeface="Comic Sans MS" charset="0"/>
              </a:rPr>
              <a:t>Solutions</a:t>
            </a:r>
            <a:endParaRPr lang="en-US" dirty="0">
              <a:latin typeface="Comic Sans MS" charset="0"/>
              <a:ea typeface="Comic Sans MS" charset="0"/>
              <a:cs typeface="Comic Sans MS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>
                <a:latin typeface="Arial" charset="0"/>
                <a:ea typeface="Arial" charset="0"/>
                <a:cs typeface="Arial" charset="0"/>
              </a:rPr>
              <a:t>A) </a:t>
            </a:r>
            <a:r>
              <a:rPr lang="en-US" b="1" dirty="0" smtClean="0">
                <a:latin typeface="Arial" charset="0"/>
                <a:ea typeface="Arial" charset="0"/>
                <a:cs typeface="Arial" charset="0"/>
              </a:rPr>
              <a:t>5</a:t>
            </a:r>
            <a:r>
              <a:rPr lang="en-US" dirty="0" smtClean="0">
                <a:latin typeface="Arial" charset="0"/>
                <a:ea typeface="Arial" charset="0"/>
                <a:cs typeface="Arial" charset="0"/>
              </a:rPr>
              <a:t>                              50 - 20 - 15 - 10 = 5</a:t>
            </a:r>
          </a:p>
          <a:p>
            <a:endParaRPr lang="en-US" dirty="0" smtClean="0">
              <a:latin typeface="Arial" charset="0"/>
              <a:ea typeface="Arial" charset="0"/>
              <a:cs typeface="Arial" charset="0"/>
            </a:endParaRPr>
          </a:p>
          <a:p>
            <a:pPr marL="0" indent="0">
              <a:buNone/>
            </a:pPr>
            <a:r>
              <a:rPr lang="en-US" dirty="0" smtClean="0">
                <a:latin typeface="Arial" charset="0"/>
                <a:ea typeface="Arial" charset="0"/>
                <a:cs typeface="Arial" charset="0"/>
              </a:rPr>
              <a:t>B)  	The number 15 means that 15 people 	like coffee but not tea</a:t>
            </a:r>
          </a:p>
          <a:p>
            <a:pPr marL="0" indent="0">
              <a:buNone/>
            </a:pPr>
            <a:r>
              <a:rPr lang="en-US" dirty="0" smtClean="0">
                <a:latin typeface="Arial" charset="0"/>
                <a:ea typeface="Arial" charset="0"/>
                <a:cs typeface="Arial" charset="0"/>
              </a:rPr>
              <a:t> 	20 + 10 = </a:t>
            </a:r>
            <a:r>
              <a:rPr lang="en-US" b="1" dirty="0" smtClean="0">
                <a:latin typeface="Arial" charset="0"/>
                <a:ea typeface="Arial" charset="0"/>
                <a:cs typeface="Arial" charset="0"/>
              </a:rPr>
              <a:t>30</a:t>
            </a:r>
            <a:r>
              <a:rPr lang="en-US" dirty="0" smtClean="0">
                <a:latin typeface="Arial" charset="0"/>
                <a:ea typeface="Arial" charset="0"/>
                <a:cs typeface="Arial" charset="0"/>
              </a:rPr>
              <a:t> In total </a:t>
            </a:r>
            <a:r>
              <a:rPr lang="en-US" b="1" dirty="0" smtClean="0">
                <a:latin typeface="Arial" charset="0"/>
                <a:ea typeface="Arial" charset="0"/>
                <a:cs typeface="Arial" charset="0"/>
              </a:rPr>
              <a:t>30 people like 	tea</a:t>
            </a:r>
            <a:r>
              <a:rPr lang="en-US" dirty="0" smtClean="0">
                <a:latin typeface="Arial" charset="0"/>
                <a:ea typeface="Arial" charset="0"/>
                <a:cs typeface="Arial" charset="0"/>
              </a:rPr>
              <a:t>.</a:t>
            </a:r>
          </a:p>
          <a:p>
            <a:pPr marL="0" indent="0">
              <a:buNone/>
            </a:pPr>
            <a:r>
              <a:rPr lang="en-US" dirty="0" smtClean="0">
                <a:latin typeface="Arial" charset="0"/>
                <a:ea typeface="Arial" charset="0"/>
                <a:cs typeface="Arial" charset="0"/>
              </a:rPr>
              <a:t>C) 	</a:t>
            </a:r>
            <a:r>
              <a:rPr lang="en-US" b="1" dirty="0" smtClean="0">
                <a:latin typeface="Arial" charset="0"/>
                <a:ea typeface="Arial" charset="0"/>
                <a:cs typeface="Arial" charset="0"/>
              </a:rPr>
              <a:t>20 </a:t>
            </a:r>
            <a:r>
              <a:rPr lang="en-US" dirty="0" smtClean="0">
                <a:latin typeface="Arial" charset="0"/>
                <a:ea typeface="Arial" charset="0"/>
                <a:cs typeface="Arial" charset="0"/>
              </a:rPr>
              <a:t>/ 50 people like coffee and tea.</a:t>
            </a:r>
          </a:p>
          <a:p>
            <a:pPr lvl="7"/>
            <a:endParaRPr lang="en-US" dirty="0">
              <a:latin typeface="Arial" charset="0"/>
              <a:ea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28255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Comic Sans MS" charset="0"/>
                <a:ea typeface="Comic Sans MS" charset="0"/>
                <a:cs typeface="Comic Sans MS" charset="0"/>
              </a:rPr>
              <a:t>Solutions (continued)</a:t>
            </a:r>
            <a:endParaRPr lang="en-US" dirty="0">
              <a:latin typeface="Comic Sans MS" charset="0"/>
              <a:ea typeface="Comic Sans MS" charset="0"/>
              <a:cs typeface="Comic Sans MS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>
                <a:latin typeface="Arial" charset="0"/>
                <a:ea typeface="Arial" charset="0"/>
                <a:cs typeface="Arial" charset="0"/>
              </a:rPr>
              <a:t>D) 15 + 20 + 10 = 45 people like either 	coffee or tea or both.</a:t>
            </a:r>
          </a:p>
          <a:p>
            <a:pPr marL="0" indent="0">
              <a:buNone/>
            </a:pPr>
            <a:endParaRPr lang="en-US" dirty="0">
              <a:latin typeface="Arial" charset="0"/>
              <a:ea typeface="Arial" charset="0"/>
              <a:cs typeface="Arial" charset="0"/>
            </a:endParaRPr>
          </a:p>
          <a:p>
            <a:pPr marL="0" indent="0">
              <a:buNone/>
            </a:pPr>
            <a:r>
              <a:rPr lang="en-US" dirty="0" smtClean="0">
                <a:latin typeface="Arial" charset="0"/>
                <a:ea typeface="Arial" charset="0"/>
                <a:cs typeface="Arial" charset="0"/>
              </a:rPr>
              <a:t>Can you now fill out a two-way table from this Venn diagram information?</a:t>
            </a:r>
            <a:endParaRPr lang="en-US" dirty="0">
              <a:latin typeface="Arial" charset="0"/>
              <a:ea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69886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LHS   (You do)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 smtClean="0">
                <a:latin typeface="Century Gothic" charset="0"/>
                <a:ea typeface="Century Gothic" charset="0"/>
                <a:cs typeface="Century Gothic" charset="0"/>
              </a:rPr>
              <a:t>EASY</a:t>
            </a:r>
          </a:p>
          <a:p>
            <a:pPr marL="0" indent="0">
              <a:buNone/>
            </a:pPr>
            <a:r>
              <a:rPr lang="en-US" dirty="0" smtClean="0">
                <a:latin typeface="Century Gothic" charset="0"/>
                <a:ea typeface="Century Gothic" charset="0"/>
                <a:cs typeface="Century Gothic" charset="0"/>
              </a:rPr>
              <a:t>	A game/A sweet trick Dwyer P.256</a:t>
            </a:r>
          </a:p>
          <a:p>
            <a:pPr marL="0" indent="0">
              <a:buNone/>
            </a:pPr>
            <a:endParaRPr lang="en-US" dirty="0">
              <a:latin typeface="Century Gothic" charset="0"/>
              <a:ea typeface="Century Gothic" charset="0"/>
              <a:cs typeface="Century Gothic" charset="0"/>
            </a:endParaRPr>
          </a:p>
          <a:p>
            <a:r>
              <a:rPr lang="en-US" dirty="0" smtClean="0">
                <a:latin typeface="Century Gothic" charset="0"/>
                <a:ea typeface="Century Gothic" charset="0"/>
                <a:cs typeface="Century Gothic" charset="0"/>
              </a:rPr>
              <a:t>MEDIUM</a:t>
            </a:r>
          </a:p>
          <a:p>
            <a:pPr marL="0" indent="0">
              <a:buNone/>
            </a:pPr>
            <a:r>
              <a:rPr lang="en-US" dirty="0" smtClean="0">
                <a:latin typeface="Century Gothic" charset="0"/>
                <a:ea typeface="Century Gothic" charset="0"/>
                <a:cs typeface="Century Gothic" charset="0"/>
              </a:rPr>
              <a:t>	Dwyer Ex. 18.12, p. 257, </a:t>
            </a:r>
            <a:r>
              <a:rPr lang="en-US" dirty="0" err="1" smtClean="0">
                <a:latin typeface="Century Gothic" charset="0"/>
                <a:ea typeface="Century Gothic" charset="0"/>
                <a:cs typeface="Century Gothic" charset="0"/>
              </a:rPr>
              <a:t>Qn</a:t>
            </a:r>
            <a:r>
              <a:rPr lang="en-US" dirty="0" smtClean="0">
                <a:latin typeface="Century Gothic" charset="0"/>
                <a:ea typeface="Century Gothic" charset="0"/>
                <a:cs typeface="Century Gothic" charset="0"/>
              </a:rPr>
              <a:t> 3 &amp; 4 	Cambridge p498</a:t>
            </a:r>
            <a:endParaRPr lang="en-US" dirty="0">
              <a:latin typeface="Century Gothic" charset="0"/>
              <a:ea typeface="Century Gothic" charset="0"/>
              <a:cs typeface="Century Gothic" charset="0"/>
            </a:endParaRPr>
          </a:p>
          <a:p>
            <a:endParaRPr lang="en-US" dirty="0" smtClean="0">
              <a:latin typeface="Century Gothic" charset="0"/>
              <a:ea typeface="Century Gothic" charset="0"/>
              <a:cs typeface="Century Gothic" charset="0"/>
            </a:endParaRPr>
          </a:p>
          <a:p>
            <a:r>
              <a:rPr lang="en-US" dirty="0" smtClean="0">
                <a:latin typeface="Century Gothic" charset="0"/>
                <a:ea typeface="Century Gothic" charset="0"/>
                <a:cs typeface="Century Gothic" charset="0"/>
              </a:rPr>
              <a:t>HARD </a:t>
            </a:r>
            <a:r>
              <a:rPr lang="mr-IN" dirty="0" smtClean="0">
                <a:latin typeface="Century Gothic" charset="0"/>
                <a:ea typeface="Century Gothic" charset="0"/>
                <a:cs typeface="Century Gothic" charset="0"/>
              </a:rPr>
              <a:t>–</a:t>
            </a:r>
            <a:r>
              <a:rPr lang="en-US" dirty="0" smtClean="0">
                <a:latin typeface="Century Gothic" charset="0"/>
                <a:ea typeface="Century Gothic" charset="0"/>
                <a:cs typeface="Century Gothic" charset="0"/>
              </a:rPr>
              <a:t> </a:t>
            </a:r>
          </a:p>
          <a:p>
            <a:pPr marL="0" indent="0">
              <a:buNone/>
            </a:pPr>
            <a:r>
              <a:rPr lang="en-US" dirty="0">
                <a:latin typeface="Century Gothic" charset="0"/>
                <a:ea typeface="Century Gothic" charset="0"/>
                <a:cs typeface="Century Gothic" charset="0"/>
              </a:rPr>
              <a:t>	</a:t>
            </a:r>
            <a:r>
              <a:rPr lang="en-US" dirty="0" smtClean="0">
                <a:latin typeface="Century Gothic" charset="0"/>
                <a:ea typeface="Century Gothic" charset="0"/>
                <a:cs typeface="Century Gothic" charset="0"/>
              </a:rPr>
              <a:t>Research SET notation, </a:t>
            </a:r>
            <a:r>
              <a:rPr lang="en-US" i="1" dirty="0" smtClean="0">
                <a:latin typeface="Century Gothic" charset="0"/>
                <a:ea typeface="Century Gothic" charset="0"/>
                <a:cs typeface="Century Gothic" charset="0"/>
              </a:rPr>
              <a:t>intersection, union &amp; 	complement</a:t>
            </a:r>
          </a:p>
          <a:p>
            <a:endParaRPr lang="en-US" dirty="0">
              <a:latin typeface="Century Gothic" charset="0"/>
              <a:ea typeface="Century Gothic" charset="0"/>
              <a:cs typeface="Century Gothic" charset="0"/>
            </a:endParaRPr>
          </a:p>
          <a:p>
            <a:r>
              <a:rPr lang="en-US" dirty="0" smtClean="0">
                <a:latin typeface="Century Gothic" charset="0"/>
                <a:ea typeface="Century Gothic" charset="0"/>
                <a:cs typeface="Century Gothic" charset="0"/>
              </a:rPr>
              <a:t>EXTENSION- p.254/255 Dwyer (puzzles)</a:t>
            </a:r>
            <a:endParaRPr lang="en-US" dirty="0">
              <a:latin typeface="Century Gothic" charset="0"/>
              <a:ea typeface="Century Gothic" charset="0"/>
              <a:cs typeface="Century 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22134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ro to Time" id="{44290B67-6DC5-2146-B370-5D37082B0A7C}" vid="{BC3CC409-C3EB-3A43-86E6-347A04B7408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12 &amp; 24 hour time</Template>
  <TotalTime>64</TotalTime>
  <Words>293</Words>
  <Application>Microsoft Macintosh PowerPoint</Application>
  <PresentationFormat>On-screen Show (4:3)</PresentationFormat>
  <Paragraphs>133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2" baseType="lpstr">
      <vt:lpstr>Brandish</vt:lpstr>
      <vt:lpstr>Calibri</vt:lpstr>
      <vt:lpstr>Century Gothic</vt:lpstr>
      <vt:lpstr>Comic Sans MS</vt:lpstr>
      <vt:lpstr>Mangal</vt:lpstr>
      <vt:lpstr>Martina</vt:lpstr>
      <vt:lpstr>Times New Roman</vt:lpstr>
      <vt:lpstr>Arial</vt:lpstr>
      <vt:lpstr>Office Theme</vt:lpstr>
      <vt:lpstr>Probability Interactive Notebook</vt:lpstr>
      <vt:lpstr>PowerPoint Presentation</vt:lpstr>
      <vt:lpstr>PowerPoint Presentation</vt:lpstr>
      <vt:lpstr>PowerPoint Presentation</vt:lpstr>
      <vt:lpstr>Warm up</vt:lpstr>
      <vt:lpstr>PowerPoint Presentation</vt:lpstr>
      <vt:lpstr>Find the Error-explain  </vt:lpstr>
      <vt:lpstr>Constructing a Venn diagram from scratch</vt:lpstr>
      <vt:lpstr>Venn diagram here</vt:lpstr>
      <vt:lpstr> Questions to answer</vt:lpstr>
      <vt:lpstr>Solutions</vt:lpstr>
      <vt:lpstr>Solutions (continued)</vt:lpstr>
      <vt:lpstr>LHS   (You do)</vt:lpstr>
    </vt:vector>
  </TitlesOfParts>
  <Company/>
  <LinksUpToDate>false</LinksUpToDate>
  <SharedDoc>false</SharedDoc>
  <HyperlinksChanged>false</HyperlinksChanged>
  <AppVersion>15.0035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Time Interactive Notebook</dc:title>
  <dc:creator>PATERSON Anne [Baldivis Secondary College]</dc:creator>
  <cp:lastModifiedBy>PATERSON Anne [Baldivis Secondary College]</cp:lastModifiedBy>
  <cp:revision>15</cp:revision>
  <dcterms:created xsi:type="dcterms:W3CDTF">2017-08-30T11:53:26Z</dcterms:created>
  <dcterms:modified xsi:type="dcterms:W3CDTF">2017-10-15T23:34:37Z</dcterms:modified>
</cp:coreProperties>
</file>
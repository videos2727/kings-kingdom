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4" r:id="rId2"/>
    <p:sldId id="285" r:id="rId3"/>
    <p:sldId id="286" r:id="rId4"/>
    <p:sldId id="289" r:id="rId5"/>
    <p:sldId id="287" r:id="rId6"/>
    <p:sldId id="257" r:id="rId7"/>
    <p:sldId id="259" r:id="rId8"/>
    <p:sldId id="291" r:id="rId9"/>
    <p:sldId id="292" r:id="rId10"/>
    <p:sldId id="293" r:id="rId11"/>
    <p:sldId id="288" r:id="rId12"/>
    <p:sldId id="290" r:id="rId13"/>
    <p:sldId id="294" r:id="rId14"/>
    <p:sldId id="295" r:id="rId15"/>
    <p:sldId id="297" r:id="rId16"/>
    <p:sldId id="298" r:id="rId17"/>
    <p:sldId id="29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1"/>
    <p:restoredTop sz="91512"/>
  </p:normalViewPr>
  <p:slideViewPr>
    <p:cSldViewPr>
      <p:cViewPr>
        <p:scale>
          <a:sx n="98" d="100"/>
          <a:sy n="98" d="100"/>
        </p:scale>
        <p:origin x="1680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15/10/2017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15/10/2017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Ms Paterson</a:t>
            </a:r>
          </a:p>
          <a:p>
            <a:pPr algn="l"/>
            <a:r>
              <a:rPr lang="en-AU" dirty="0" smtClean="0"/>
              <a:t>Term 4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Warm Up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(</a:t>
            </a:r>
            <a:r>
              <a:rPr lang="en-US" sz="3100" dirty="0" smtClean="0">
                <a:latin typeface="Arial" charset="0"/>
                <a:ea typeface="Arial" charset="0"/>
                <a:cs typeface="Arial" charset="0"/>
              </a:rPr>
              <a:t>Think, Pair Share)</a:t>
            </a:r>
            <a:endParaRPr lang="en-US" sz="31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u="sng" dirty="0" smtClean="0">
                <a:latin typeface="Arial" charset="0"/>
                <a:ea typeface="Arial" charset="0"/>
                <a:cs typeface="Arial" charset="0"/>
              </a:rPr>
              <a:t>Fermi Problem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 Beauty &amp; The Beast, GASTON says he eats 6 dozen eggs a day.  5 dozen as a boy?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Is this possible?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Given hens lay 3 eggs a week, how many does he need just for him?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There are 151 calories in each egg, what % of his daily allowance is just eggs?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How much would this cost him today if a dozen eggs cost $4 -$7 a dozen?</a:t>
            </a:r>
          </a:p>
          <a:p>
            <a:pPr marL="0" indent="0">
              <a:buNone/>
            </a:pP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sz="2800" i="1" dirty="0" smtClean="0">
                <a:latin typeface="Arial" charset="0"/>
                <a:ea typeface="Arial" charset="0"/>
                <a:cs typeface="Arial" charset="0"/>
              </a:rPr>
              <a:t>Note: The quote is from B &amp; TB (animated) set in 	19</a:t>
            </a:r>
            <a:r>
              <a:rPr lang="en-US" sz="2800" i="1" baseline="30000" dirty="0" smtClean="0">
                <a:latin typeface="Arial" charset="0"/>
                <a:ea typeface="Arial" charset="0"/>
                <a:cs typeface="Arial" charset="0"/>
              </a:rPr>
              <a:t>th</a:t>
            </a:r>
            <a:r>
              <a:rPr lang="en-US" sz="2800" i="1" dirty="0" smtClean="0">
                <a:latin typeface="Arial" charset="0"/>
                <a:ea typeface="Arial" charset="0"/>
                <a:cs typeface="Arial" charset="0"/>
              </a:rPr>
              <a:t> Century country-side France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. 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2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44663" y="1497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charset="0"/>
                <a:ea typeface="Arial" charset="0"/>
                <a:cs typeface="Arial" charset="0"/>
              </a:rPr>
              <a:t>EQ – What KEY WORDS do we use to describe the LIKLIEHOOD of an EVENT happening?</a:t>
            </a:r>
            <a:endParaRPr lang="en-AU"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27784" y="2132856"/>
            <a:ext cx="84337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-6 words For your </a:t>
            </a:r>
            <a:r>
              <a:rPr lang="en-US" sz="2800" u="sng" dirty="0" smtClean="0">
                <a:latin typeface="Arial" charset="0"/>
                <a:ea typeface="Arial" charset="0"/>
                <a:cs typeface="Arial" charset="0"/>
              </a:rPr>
              <a:t>GLOSSARY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 page -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OUTCOMES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EVENT </a:t>
            </a: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S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AMPLE SPACE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COMPLEMENT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TRIAL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PROBABILITY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(Think, </a:t>
            </a:r>
            <a:r>
              <a:rPr lang="en-US" sz="2800" dirty="0">
                <a:latin typeface="Arial" charset="0"/>
                <a:ea typeface="Arial" charset="0"/>
                <a:cs typeface="Arial" charset="0"/>
              </a:rPr>
              <a:t>P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air Share)- write 1 word in a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Sentence that you know IS the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correct meaning). I.e. </a:t>
            </a:r>
            <a:r>
              <a:rPr lang="en-US" sz="2800" b="1" dirty="0" smtClean="0">
                <a:latin typeface="Arial" charset="0"/>
                <a:ea typeface="Arial" charset="0"/>
                <a:cs typeface="Arial" charset="0"/>
              </a:rPr>
              <a:t>Not</a:t>
            </a:r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, </a:t>
            </a:r>
          </a:p>
          <a:p>
            <a:r>
              <a:rPr lang="en-US" sz="2800" dirty="0" smtClean="0">
                <a:latin typeface="Arial" charset="0"/>
                <a:ea typeface="Arial" charset="0"/>
                <a:cs typeface="Arial" charset="0"/>
              </a:rPr>
              <a:t>The fox’s trial begins tomorrow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19672" y="26622"/>
            <a:ext cx="4392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The Language of Probability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Arial" charset="0"/>
                <a:ea typeface="Arial" charset="0"/>
                <a:cs typeface="Arial" charset="0"/>
              </a:rPr>
              <a:t>OUTCOMES</a:t>
            </a:r>
            <a:br>
              <a:rPr lang="en-GB" sz="6600" dirty="0" smtClean="0">
                <a:latin typeface="Arial" charset="0"/>
                <a:ea typeface="Arial" charset="0"/>
                <a:cs typeface="Arial" charset="0"/>
              </a:rPr>
            </a:br>
            <a:endParaRPr lang="en-GB" sz="6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endParaRPr lang="en-AU" sz="1270" dirty="0" smtClean="0"/>
          </a:p>
          <a:p>
            <a:pPr algn="ctr"/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When we think of any </a:t>
            </a:r>
            <a:r>
              <a:rPr lang="en-AU" sz="4000" b="1" dirty="0" smtClean="0">
                <a:latin typeface="Arial" charset="0"/>
                <a:ea typeface="Arial" charset="0"/>
                <a:cs typeface="Arial" charset="0"/>
              </a:rPr>
              <a:t>trial</a:t>
            </a:r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 (say rolling a die), there are multiple </a:t>
            </a:r>
            <a:r>
              <a:rPr lang="en-AU" sz="4000" u="sng" dirty="0" smtClean="0">
                <a:latin typeface="Arial" charset="0"/>
                <a:ea typeface="Arial" charset="0"/>
                <a:cs typeface="Arial" charset="0"/>
              </a:rPr>
              <a:t>outcomes</a:t>
            </a:r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 that could occur</a:t>
            </a:r>
            <a:r>
              <a:rPr lang="mr-IN" sz="4000" dirty="0" smtClean="0">
                <a:latin typeface="Arial" charset="0"/>
                <a:ea typeface="Arial" charset="0"/>
                <a:cs typeface="Arial" charset="0"/>
              </a:rPr>
              <a:t>…</a:t>
            </a:r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what are they for a </a:t>
            </a:r>
            <a:r>
              <a:rPr lang="en-AU" sz="4000" i="1" dirty="0" smtClean="0">
                <a:latin typeface="Arial" charset="0"/>
                <a:ea typeface="Arial" charset="0"/>
                <a:cs typeface="Arial" charset="0"/>
              </a:rPr>
              <a:t>fair die</a:t>
            </a:r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?</a:t>
            </a:r>
          </a:p>
          <a:p>
            <a:pPr algn="ctr"/>
            <a:r>
              <a:rPr lang="en-AU" sz="4000" dirty="0" smtClean="0">
                <a:latin typeface="Arial" charset="0"/>
                <a:ea typeface="Arial" charset="0"/>
                <a:cs typeface="Arial" charset="0"/>
              </a:rPr>
              <a:t>(_,_,_,_,_,_)</a:t>
            </a:r>
          </a:p>
          <a:p>
            <a:pPr algn="ctr"/>
            <a:endParaRPr lang="en-AU" sz="1270" dirty="0" smtClean="0"/>
          </a:p>
          <a:p>
            <a:pPr algn="ctr"/>
            <a:endParaRPr lang="en-AU" sz="1270" dirty="0" smtClean="0"/>
          </a:p>
          <a:p>
            <a:pPr algn="ctr"/>
            <a:endParaRPr lang="en-GB" sz="1270" dirty="0" smtClean="0"/>
          </a:p>
          <a:p>
            <a:endParaRPr lang="en-GB" sz="127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Arial" charset="0"/>
                <a:ea typeface="Arial" charset="0"/>
                <a:cs typeface="Arial" charset="0"/>
              </a:rPr>
              <a:t> EVENT</a:t>
            </a:r>
            <a:endParaRPr lang="en-GB" sz="5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80" y="2204865"/>
            <a:ext cx="61206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An </a:t>
            </a:r>
            <a:r>
              <a:rPr lang="en-US" sz="4000" u="sng" dirty="0" smtClean="0">
                <a:latin typeface="Arial" charset="0"/>
                <a:ea typeface="Arial" charset="0"/>
                <a:cs typeface="Arial" charset="0"/>
              </a:rPr>
              <a:t>Event</a:t>
            </a:r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 is </a:t>
            </a:r>
          </a:p>
          <a:p>
            <a:endParaRPr lang="en-US" sz="4000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a collection of </a:t>
            </a:r>
            <a:r>
              <a:rPr lang="en-US" sz="4000" b="1" dirty="0" smtClean="0">
                <a:latin typeface="Arial" charset="0"/>
                <a:ea typeface="Arial" charset="0"/>
                <a:cs typeface="Arial" charset="0"/>
              </a:rPr>
              <a:t>outcomes</a:t>
            </a:r>
            <a:r>
              <a:rPr lang="en-US" sz="4000" dirty="0" smtClean="0"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endParaRPr lang="en-US" sz="40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Any </a:t>
            </a:r>
            <a:r>
              <a:rPr lang="en-US" sz="3200" i="1" dirty="0" smtClean="0">
                <a:latin typeface="Arial" charset="0"/>
                <a:ea typeface="Arial" charset="0"/>
                <a:cs typeface="Arial" charset="0"/>
              </a:rPr>
              <a:t>trial</a:t>
            </a: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 has multiple </a:t>
            </a:r>
            <a:r>
              <a:rPr lang="en-US" sz="3200" b="1" dirty="0" smtClean="0">
                <a:latin typeface="Arial" charset="0"/>
                <a:ea typeface="Arial" charset="0"/>
                <a:cs typeface="Arial" charset="0"/>
              </a:rPr>
              <a:t>outcomes</a:t>
            </a:r>
            <a:r>
              <a:rPr lang="en-US" sz="3200" dirty="0" smtClean="0">
                <a:latin typeface="Arial" charset="0"/>
                <a:ea typeface="Arial" charset="0"/>
                <a:cs typeface="Arial" charset="0"/>
              </a:rPr>
              <a:t>, “flipping tails on a coin” or “rolling a 3”.</a:t>
            </a:r>
          </a:p>
          <a:p>
            <a:endParaRPr lang="en-US" sz="4000" dirty="0"/>
          </a:p>
          <a:p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SAMPLE 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S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PACE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 </a:t>
            </a:r>
            <a:r>
              <a:rPr lang="en-US" u="sng" dirty="0" smtClean="0">
                <a:latin typeface="Arial" charset="0"/>
                <a:ea typeface="Arial" charset="0"/>
                <a:cs typeface="Arial" charset="0"/>
              </a:rPr>
              <a:t>Sample Space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is 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set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of possible outcomes of a trial or event.  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For example, the sample space for the roll of a fair die is 1, 2, 3, 4, 5, 6.</a:t>
            </a:r>
          </a:p>
          <a:p>
            <a:pPr marL="0" indent="0">
              <a:buNone/>
            </a:pP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(Can you add another example here?)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COMPLEMENT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 </a:t>
            </a:r>
            <a:r>
              <a:rPr lang="en-US" u="sng" dirty="0" smtClean="0">
                <a:latin typeface="Arial" charset="0"/>
                <a:ea typeface="Arial" charset="0"/>
                <a:cs typeface="Arial" charset="0"/>
              </a:rPr>
              <a:t>Complement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of some event E 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is written E’ (or Not E).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E’ = The event that E does not occur.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For example, the complement of rolling a 3, is NOT rolling a 3. 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(So, rolling a 1, 2, 4, 5 or 6). 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8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TRIAL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u="sng" dirty="0" smtClean="0">
                <a:latin typeface="Arial" charset="0"/>
                <a:ea typeface="Arial" charset="0"/>
                <a:cs typeface="Arial" charset="0"/>
              </a:rPr>
              <a:t>trial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can be flipping a coin, rolling a die or spinning a spinner.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99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The Probability of an event is a number between 0 and 1, That represents the chance that the event occurs.   If all the outcomes are equally likely:</a:t>
            </a:r>
          </a:p>
          <a:p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000" dirty="0" err="1" smtClean="0">
                <a:latin typeface="Arial" charset="0"/>
                <a:ea typeface="Arial" charset="0"/>
                <a:cs typeface="Arial" charset="0"/>
              </a:rPr>
              <a:t>Pr</a:t>
            </a:r>
            <a:r>
              <a:rPr lang="en-US" sz="2000" dirty="0" smtClean="0">
                <a:latin typeface="Arial" charset="0"/>
                <a:ea typeface="Arial" charset="0"/>
                <a:cs typeface="Arial" charset="0"/>
              </a:rPr>
              <a:t> (Event) = </a:t>
            </a:r>
            <a:r>
              <a:rPr lang="en-US" sz="2000" u="sng" dirty="0" smtClean="0">
                <a:latin typeface="Arial" charset="0"/>
                <a:ea typeface="Arial" charset="0"/>
                <a:cs typeface="Arial" charset="0"/>
              </a:rPr>
              <a:t>number of outcomes where the event occurs</a:t>
            </a:r>
          </a:p>
          <a:p>
            <a:pPr marL="1828800" lvl="4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            total number of outcomes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Probability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We can place probabilities on a line from 0 to 1.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Let’s try for the </a:t>
            </a:r>
            <a:r>
              <a:rPr lang="en-US" u="sng" dirty="0" smtClean="0"/>
              <a:t>weather</a:t>
            </a:r>
            <a:r>
              <a:rPr lang="en-US" dirty="0" smtClean="0"/>
              <a:t> today.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Least Likely					Most likely</a:t>
            </a:r>
          </a:p>
          <a:p>
            <a:pPr marL="0" indent="0">
              <a:buNone/>
            </a:pPr>
            <a:r>
              <a:rPr lang="en-US" dirty="0" smtClean="0"/>
              <a:t>0 _________________________________ 1</a:t>
            </a:r>
          </a:p>
          <a:p>
            <a:pPr marL="0" indent="0">
              <a:buNone/>
            </a:pPr>
            <a:r>
              <a:rPr lang="en-US" dirty="0" smtClean="0"/>
              <a:t>Impossible						Certain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What’s the </a:t>
            </a:r>
            <a:r>
              <a:rPr lang="en-US" dirty="0" err="1" smtClean="0"/>
              <a:t>liklihood</a:t>
            </a:r>
            <a:r>
              <a:rPr lang="en-US" dirty="0" smtClean="0"/>
              <a:t> of Rain ? Sun ? Snow ? Thunderstorm ? Cyclone ? Flooding ? A Rainbow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184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To calculate the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complement 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We start with 1, Subtract the probability of the event occurring, such as </a:t>
            </a:r>
          </a:p>
          <a:p>
            <a:pPr marL="0" indent="0">
              <a:buNone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rolling an EVEN number on a die is 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		0.5. (written as a decimal)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                   1- 0.5 = 0.5</a:t>
            </a:r>
          </a:p>
          <a:p>
            <a:pPr marL="0" indent="0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Now </a:t>
            </a:r>
          </a:p>
          <a:p>
            <a:pPr marL="0" indent="0">
              <a:buNone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F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ind the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complement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of Not rolling a 3 on a die.                  </a:t>
            </a:r>
            <a:r>
              <a:rPr lang="en-US" dirty="0" err="1" smtClean="0">
                <a:latin typeface="Arial" charset="0"/>
                <a:ea typeface="Arial" charset="0"/>
                <a:cs typeface="Arial" charset="0"/>
              </a:rPr>
              <a:t>Prob</a:t>
            </a: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 of (Rolling a 3) = 1/6</a:t>
            </a:r>
            <a:r>
              <a:rPr lang="mr-IN" dirty="0" smtClean="0">
                <a:latin typeface="Arial" charset="0"/>
                <a:ea typeface="Arial" charset="0"/>
                <a:cs typeface="Arial" charset="0"/>
              </a:rPr>
              <a:t>……</a:t>
            </a: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023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Your answer should be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**NUMBERWANG**</a:t>
            </a:r>
          </a:p>
          <a:p>
            <a:pPr marL="0" indent="0" algn="ctr">
              <a:buNone/>
            </a:pP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sz="2600" dirty="0">
                <a:latin typeface="Arial" charset="0"/>
                <a:ea typeface="Arial" charset="0"/>
                <a:cs typeface="Arial" charset="0"/>
              </a:rPr>
              <a:t>-</a:t>
            </a:r>
            <a:r>
              <a:rPr lang="en-US" sz="2600" dirty="0" smtClean="0">
                <a:latin typeface="Arial" charset="0"/>
                <a:ea typeface="Arial" charset="0"/>
                <a:cs typeface="Arial" charset="0"/>
              </a:rPr>
              <a:t>Google it!-</a:t>
            </a:r>
          </a:p>
          <a:p>
            <a:pPr marL="0" indent="0" algn="ctr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Or, 1 - 1/6 </a:t>
            </a:r>
            <a:r>
              <a:rPr lang="en-US" b="1" dirty="0" smtClean="0">
                <a:latin typeface="Arial" charset="0"/>
                <a:ea typeface="Arial" charset="0"/>
                <a:cs typeface="Arial" charset="0"/>
              </a:rPr>
              <a:t>= 5/6</a:t>
            </a:r>
          </a:p>
          <a:p>
            <a:pPr marL="0" indent="0" algn="ctr">
              <a:buNone/>
            </a:pP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You can use fractions for “messy” decimals (repeating).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endParaRPr lang="en-US" dirty="0" smtClean="0">
              <a:latin typeface="Arial" charset="0"/>
              <a:ea typeface="Arial" charset="0"/>
              <a:cs typeface="Arial" charset="0"/>
            </a:endParaRPr>
          </a:p>
          <a:p>
            <a:pPr marL="0" indent="0" algn="ctr">
              <a:buNone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58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GALLERY WALK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you find the complement of:</a:t>
            </a:r>
          </a:p>
          <a:p>
            <a:r>
              <a:rPr lang="en-US" dirty="0" smtClean="0"/>
              <a:t>5 events</a:t>
            </a:r>
            <a:r>
              <a:rPr lang="mr-IN" dirty="0" smtClean="0"/>
              <a:t>…</a:t>
            </a:r>
            <a:r>
              <a:rPr lang="en-AU" dirty="0" smtClean="0"/>
              <a:t>..(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From 10 posters on the wall</a:t>
            </a:r>
            <a:r>
              <a:rPr lang="en-AU" dirty="0"/>
              <a:t> </a:t>
            </a:r>
            <a:r>
              <a:rPr lang="en-AU" dirty="0" smtClean="0"/>
              <a:t>or on tables0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9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LHS.     </a:t>
            </a:r>
            <a:r>
              <a:rPr lang="en-US" sz="3200" dirty="0" smtClean="0">
                <a:latin typeface="Comic Sans MS" charset="0"/>
                <a:ea typeface="Comic Sans MS" charset="0"/>
                <a:cs typeface="Comic Sans MS" charset="0"/>
              </a:rPr>
              <a:t>YOU DO</a:t>
            </a:r>
            <a:r>
              <a:rPr lang="mr-IN" sz="3200" dirty="0" smtClean="0">
                <a:latin typeface="Comic Sans MS" charset="0"/>
                <a:ea typeface="Comic Sans MS" charset="0"/>
                <a:cs typeface="Comic Sans MS" charset="0"/>
              </a:rPr>
              <a:t>…</a:t>
            </a:r>
            <a:r>
              <a:rPr lang="en-AU" sz="3200" dirty="0" smtClean="0">
                <a:latin typeface="Comic Sans MS" charset="0"/>
                <a:ea typeface="Comic Sans MS" charset="0"/>
                <a:cs typeface="Comic Sans MS" charset="0"/>
              </a:rPr>
              <a:t>.</a:t>
            </a:r>
            <a:endParaRPr lang="en-US" sz="3200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 smtClean="0">
                <a:latin typeface="Comic Sans MS" charset="0"/>
                <a:ea typeface="Comic Sans MS" charset="0"/>
                <a:cs typeface="Comic Sans MS" charset="0"/>
              </a:rPr>
              <a:t>EASY: Dwyer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p.                       (C-grade)</a:t>
            </a:r>
          </a:p>
          <a:p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MEDIUM: Dwyer p.                 (B-grade)</a:t>
            </a:r>
          </a:p>
          <a:p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u="sng" dirty="0" smtClean="0">
                <a:latin typeface="Comic Sans MS" charset="0"/>
                <a:ea typeface="Comic Sans MS" charset="0"/>
                <a:cs typeface="Comic Sans MS" charset="0"/>
              </a:rPr>
              <a:t>HARD/EXTENTION: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            (A- grade)</a:t>
            </a:r>
          </a:p>
          <a:p>
            <a:pPr marL="0" indent="0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Cambridge Essentials (Green book) p. 481 </a:t>
            </a:r>
          </a:p>
          <a:p>
            <a:pPr marL="0" indent="0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Ex.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8G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, Qn. 1, 9-14 (Problem Solving) </a:t>
            </a:r>
          </a:p>
          <a:p>
            <a:pPr marL="0" indent="0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Q. 15 Enrichment</a:t>
            </a:r>
          </a:p>
          <a:p>
            <a:pPr marL="0" indent="0">
              <a:buNone/>
            </a:pP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76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SUMMARY</a:t>
            </a: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latin typeface="Arial" charset="0"/>
                <a:ea typeface="Arial" charset="0"/>
                <a:cs typeface="Arial" charset="0"/>
              </a:rPr>
              <a:t>EXIT</a:t>
            </a:r>
            <a:r>
              <a:rPr lang="en-US" dirty="0" smtClean="0"/>
              <a:t> PASS / VERBAL SUMMARY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A </a:t>
            </a:r>
            <a:r>
              <a:rPr lang="en-US" u="sng" dirty="0" smtClean="0"/>
              <a:t>complement</a:t>
            </a:r>
            <a:r>
              <a:rPr lang="en-US" dirty="0" smtClean="0"/>
              <a:t> is</a:t>
            </a:r>
            <a:r>
              <a:rPr lang="mr-IN" dirty="0" smtClean="0"/>
              <a:t>…</a:t>
            </a:r>
            <a:endParaRPr lang="en-AU" dirty="0" smtClean="0"/>
          </a:p>
          <a:p>
            <a:pPr marL="0" indent="0" algn="ctr">
              <a:buNone/>
            </a:pPr>
            <a:r>
              <a:rPr lang="en-AU" dirty="0" smtClean="0"/>
              <a:t>The chance of an event Not happening where</a:t>
            </a:r>
          </a:p>
          <a:p>
            <a:pPr marL="0" indent="0" algn="ctr">
              <a:buNone/>
            </a:pPr>
            <a:r>
              <a:rPr lang="en-AU" dirty="0" smtClean="0"/>
              <a:t>the decimal value when added to </a:t>
            </a:r>
          </a:p>
          <a:p>
            <a:pPr marL="0" indent="0" algn="ctr">
              <a:buNone/>
            </a:pPr>
            <a:r>
              <a:rPr lang="en-AU" dirty="0" smtClean="0"/>
              <a:t>the chance of the event happening is 1.</a:t>
            </a: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03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897</TotalTime>
  <Words>605</Words>
  <Application>Microsoft Macintosh PowerPoint</Application>
  <PresentationFormat>On-screen Show (4:3)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Comic Sans MS</vt:lpstr>
      <vt:lpstr>Mangal</vt:lpstr>
      <vt:lpstr>Arial</vt:lpstr>
      <vt:lpstr>Office Theme</vt:lpstr>
      <vt:lpstr>PROBABILITY Interactive Notebook</vt:lpstr>
      <vt:lpstr>PowerPoint Presentation</vt:lpstr>
      <vt:lpstr>PowerPoint Presentation</vt:lpstr>
      <vt:lpstr>Warm Up  (Think, Pair Share)</vt:lpstr>
      <vt:lpstr>PowerPoint Presentation</vt:lpstr>
      <vt:lpstr>OUTCOMES </vt:lpstr>
      <vt:lpstr> EVENT</vt:lpstr>
      <vt:lpstr>SAMPLE SPACE</vt:lpstr>
      <vt:lpstr>COMPLEMENT</vt:lpstr>
      <vt:lpstr>TRIAL</vt:lpstr>
      <vt:lpstr> PROBABILITY</vt:lpstr>
      <vt:lpstr>The Probability Line</vt:lpstr>
      <vt:lpstr>Complement</vt:lpstr>
      <vt:lpstr>Your answer should be</vt:lpstr>
      <vt:lpstr>GALLERY WALK</vt:lpstr>
      <vt:lpstr>LHS.     YOU DO….</vt:lpstr>
      <vt:lpstr>SUMMARY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PATERSON Anne [Baldivis Secondary College]</cp:lastModifiedBy>
  <cp:revision>19</cp:revision>
  <dcterms:created xsi:type="dcterms:W3CDTF">2017-08-30T11:53:26Z</dcterms:created>
  <dcterms:modified xsi:type="dcterms:W3CDTF">2017-10-15T01:06:24Z</dcterms:modified>
</cp:coreProperties>
</file>
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4" r:id="rId2"/>
    <p:sldId id="335" r:id="rId3"/>
    <p:sldId id="334" r:id="rId4"/>
    <p:sldId id="332" r:id="rId5"/>
    <p:sldId id="336" r:id="rId6"/>
    <p:sldId id="303" r:id="rId7"/>
    <p:sldId id="328" r:id="rId8"/>
    <p:sldId id="32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 Farmer" initials="K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8" autoAdjust="0"/>
    <p:restoredTop sz="92896" autoAdjust="0"/>
  </p:normalViewPr>
  <p:slideViewPr>
    <p:cSldViewPr>
      <p:cViewPr>
        <p:scale>
          <a:sx n="68" d="100"/>
          <a:sy n="68" d="100"/>
        </p:scale>
        <p:origin x="1461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30/05/2021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30/05/2021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/>
              <a:t>Probability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2  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38126"/>
            <a:ext cx="15906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F0C810-A446-45F0-8FDA-37C7A2478860}"/>
              </a:ext>
            </a:extLst>
          </p:cNvPr>
          <p:cNvSpPr txBox="1"/>
          <p:nvPr/>
        </p:nvSpPr>
        <p:spPr>
          <a:xfrm>
            <a:off x="611415" y="195900"/>
            <a:ext cx="2520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Two-Way Tables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D8AC4-F5F2-4CCE-8C34-8FA3E48499AD}"/>
              </a:ext>
            </a:extLst>
          </p:cNvPr>
          <p:cNvSpPr txBox="1"/>
          <p:nvPr/>
        </p:nvSpPr>
        <p:spPr>
          <a:xfrm>
            <a:off x="592863" y="83671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obtain probabilities from a two-way table?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C13711-EA07-4CD8-B23A-691F631C07A2}"/>
                  </a:ext>
                </a:extLst>
              </p:cNvPr>
              <p:cNvSpPr txBox="1"/>
              <p:nvPr/>
            </p:nvSpPr>
            <p:spPr>
              <a:xfrm>
                <a:off x="611415" y="1415969"/>
                <a:ext cx="5832793" cy="4972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dirty="0"/>
                  <a:t>What is Qualitative data? Give an example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dirty="0"/>
                  <a:t>Calculate the perimeter of the following shape: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endParaRPr lang="en-US" dirty="0"/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endParaRPr lang="en-US" dirty="0"/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dirty="0"/>
                  <a:t>Describe the difference between theoretical probability and experimental probability?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000" dirty="0"/>
                  <a:t>=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AU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C13711-EA07-4CD8-B23A-691F631C0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15" y="1415969"/>
                <a:ext cx="5832793" cy="4972323"/>
              </a:xfrm>
              <a:prstGeom prst="rect">
                <a:avLst/>
              </a:prstGeom>
              <a:blipFill>
                <a:blip r:embed="rId2"/>
                <a:stretch>
                  <a:fillRect l="-10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CA11D67E-6298-4D1A-840C-14270FC7BEBE}"/>
              </a:ext>
            </a:extLst>
          </p:cNvPr>
          <p:cNvSpPr/>
          <p:nvPr/>
        </p:nvSpPr>
        <p:spPr>
          <a:xfrm>
            <a:off x="2483713" y="2492896"/>
            <a:ext cx="648072" cy="1224136"/>
          </a:xfrm>
          <a:prstGeom prst="flowChartManualIn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55E639-85D6-4921-93E1-17B9380D8DBE}"/>
              </a:ext>
            </a:extLst>
          </p:cNvPr>
          <p:cNvCxnSpPr/>
          <p:nvPr/>
        </p:nvCxnSpPr>
        <p:spPr>
          <a:xfrm>
            <a:off x="3275856" y="2492896"/>
            <a:ext cx="0" cy="12241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66EA00-DA97-4A63-BD63-2F8D65ABEAEF}"/>
              </a:ext>
            </a:extLst>
          </p:cNvPr>
          <p:cNvCxnSpPr/>
          <p:nvPr/>
        </p:nvCxnSpPr>
        <p:spPr>
          <a:xfrm>
            <a:off x="2339752" y="2780928"/>
            <a:ext cx="0" cy="9361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8E6AA6-DE7B-4250-B38E-58FA33BF3877}"/>
              </a:ext>
            </a:extLst>
          </p:cNvPr>
          <p:cNvCxnSpPr/>
          <p:nvPr/>
        </p:nvCxnSpPr>
        <p:spPr>
          <a:xfrm>
            <a:off x="2483713" y="3789040"/>
            <a:ext cx="6480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03F3D6-62B4-4DF9-A916-981F1BCC4586}"/>
              </a:ext>
            </a:extLst>
          </p:cNvPr>
          <p:cNvSpPr txBox="1"/>
          <p:nvPr/>
        </p:nvSpPr>
        <p:spPr>
          <a:xfrm>
            <a:off x="3225738" y="2901251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15 cm</a:t>
            </a:r>
            <a:endParaRPr lang="en-A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1D6A7-778B-4387-96C9-6A6B59E5503D}"/>
              </a:ext>
            </a:extLst>
          </p:cNvPr>
          <p:cNvSpPr txBox="1"/>
          <p:nvPr/>
        </p:nvSpPr>
        <p:spPr>
          <a:xfrm>
            <a:off x="1713598" y="3104964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 cm</a:t>
            </a:r>
            <a:endParaRPr lang="en-AU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F49CA-C7E6-4B41-BBA1-6A1DFFCE62C4}"/>
              </a:ext>
            </a:extLst>
          </p:cNvPr>
          <p:cNvSpPr txBox="1"/>
          <p:nvPr/>
        </p:nvSpPr>
        <p:spPr>
          <a:xfrm>
            <a:off x="2500759" y="3414482"/>
            <a:ext cx="585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 cm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30270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8712968" cy="6516298"/>
          </a:xfrm>
        </p:spPr>
      </p:pic>
    </p:spTree>
    <p:extLst>
      <p:ext uri="{BB962C8B-B14F-4D97-AF65-F5344CB8AC3E}">
        <p14:creationId xmlns:p14="http://schemas.microsoft.com/office/powerpoint/2010/main" val="799453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442" y="46898"/>
            <a:ext cx="8229600" cy="778098"/>
          </a:xfrm>
        </p:spPr>
        <p:txBody>
          <a:bodyPr>
            <a:normAutofit/>
          </a:bodyPr>
          <a:lstStyle/>
          <a:p>
            <a:r>
              <a:rPr lang="en-US" sz="4000" dirty="0"/>
              <a:t>Consider the following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83" y="731785"/>
            <a:ext cx="8229600" cy="140107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Have a think about the following questions.</a:t>
            </a:r>
          </a:p>
          <a:p>
            <a:r>
              <a:rPr lang="en-US" sz="2400" dirty="0"/>
              <a:t>Do you like football?</a:t>
            </a:r>
          </a:p>
          <a:p>
            <a:r>
              <a:rPr lang="en-US" sz="2400" dirty="0"/>
              <a:t>Do you like music?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030235"/>
              </p:ext>
            </p:extLst>
          </p:nvPr>
        </p:nvGraphicFramePr>
        <p:xfrm>
          <a:off x="586199" y="3123015"/>
          <a:ext cx="5760640" cy="208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6077">
                <a:tc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Like M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Dislike M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Like F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Dislike F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329231"/>
              </p:ext>
            </p:extLst>
          </p:nvPr>
        </p:nvGraphicFramePr>
        <p:xfrm>
          <a:off x="586199" y="5211246"/>
          <a:ext cx="5760640" cy="69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597485"/>
              </p:ext>
            </p:extLst>
          </p:nvPr>
        </p:nvGraphicFramePr>
        <p:xfrm>
          <a:off x="6346841" y="3123015"/>
          <a:ext cx="1920213" cy="208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607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077"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077">
                <a:tc>
                  <a:txBody>
                    <a:bodyPr/>
                    <a:lstStyle/>
                    <a:p>
                      <a:pPr algn="ctr"/>
                      <a:endParaRPr lang="en-AU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008733"/>
              </p:ext>
            </p:extLst>
          </p:nvPr>
        </p:nvGraphicFramePr>
        <p:xfrm>
          <a:off x="6346840" y="5211245"/>
          <a:ext cx="1920213" cy="69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6077">
                <a:tc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86924" y="6021290"/>
            <a:ext cx="5760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This is a two-way table!!!</a:t>
            </a:r>
            <a:endParaRPr lang="en-AU" sz="3200" dirty="0"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326" y="2079100"/>
            <a:ext cx="82651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might be interested to find out if people liked both (or neither).</a:t>
            </a:r>
          </a:p>
          <a:p>
            <a:r>
              <a:rPr lang="en-US" sz="2400" dirty="0"/>
              <a:t>So let’s set it up like this…</a:t>
            </a:r>
          </a:p>
        </p:txBody>
      </p:sp>
    </p:spTree>
    <p:extLst>
      <p:ext uri="{BB962C8B-B14F-4D97-AF65-F5344CB8AC3E}">
        <p14:creationId xmlns:p14="http://schemas.microsoft.com/office/powerpoint/2010/main" val="175772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3609-1875-4C66-908D-70F32039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your own two-way table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B7DE5-22F1-4AF5-AE5E-2ACB4055E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3"/>
            <a:ext cx="8229600" cy="17567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What two question can you ask</a:t>
            </a:r>
          </a:p>
          <a:p>
            <a:r>
              <a:rPr lang="en-US" dirty="0"/>
              <a:t>Write these down and have room to tally your results (you should set it out in a two-way table for ease)</a:t>
            </a:r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024CE-B0F3-44A4-9CB9-9D4F3F7D855F}"/>
              </a:ext>
            </a:extLst>
          </p:cNvPr>
          <p:cNvSpPr txBox="1"/>
          <p:nvPr/>
        </p:nvSpPr>
        <p:spPr>
          <a:xfrm>
            <a:off x="457200" y="3318805"/>
            <a:ext cx="8229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Ask each person in the class to survey your results.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After you have asked each person, you should present your results in a neat two-way table</a:t>
            </a:r>
            <a:endParaRPr lang="en-AU" sz="3000" dirty="0"/>
          </a:p>
        </p:txBody>
      </p:sp>
    </p:spTree>
    <p:extLst>
      <p:ext uri="{BB962C8B-B14F-4D97-AF65-F5344CB8AC3E}">
        <p14:creationId xmlns:p14="http://schemas.microsoft.com/office/powerpoint/2010/main" val="190362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95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7587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351" y="1850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97530" y="1508656"/>
            <a:ext cx="24209" cy="53493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1415" y="195900"/>
            <a:ext cx="2520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Two-Way 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1" y="94824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obtain probabilities from a two-way table?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7300" y="1550115"/>
            <a:ext cx="7403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Two-way tables lists the number of outcomes (or people) in different categories, with totals at the bottom.</a:t>
            </a:r>
          </a:p>
          <a:p>
            <a:r>
              <a:rPr lang="en-US" sz="2400" dirty="0"/>
              <a:t>We display them like this.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5351" y="1541843"/>
            <a:ext cx="13969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What is a two-way table?</a:t>
            </a:r>
            <a:endParaRPr lang="en-AU" sz="22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620345"/>
              </p:ext>
            </p:extLst>
          </p:nvPr>
        </p:nvGraphicFramePr>
        <p:xfrm>
          <a:off x="2005582" y="2799935"/>
          <a:ext cx="4942682" cy="2946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8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9314">
                <a:tc rowSpan="2" gridSpan="2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Event 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314">
                <a:tc gridSpan="2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A’</a:t>
                      </a:r>
                      <a:endParaRPr lang="en-A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Total</a:t>
                      </a:r>
                      <a:endParaRPr lang="en-A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314">
                <a:tc rowSpan="3"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314">
                <a:tc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B’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314">
                <a:tc vMerge="1"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584260" y="5960477"/>
                <a:ext cx="1900216" cy="614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𝐻𝑜𝑤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𝑚𝑎𝑛𝑦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260" y="5960477"/>
                <a:ext cx="1900216" cy="614848"/>
              </a:xfrm>
              <a:prstGeom prst="rect">
                <a:avLst/>
              </a:prstGeom>
              <a:blipFill rotWithShape="0">
                <a:blip r:embed="rId2"/>
                <a:stretch>
                  <a:fillRect l="-2564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152887" y="405957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13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4152887" y="461960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27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5184802" y="404238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17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6166679" y="458664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50</a:t>
            </a: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 rot="2118287">
            <a:off x="7288003" y="2527883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 A</a:t>
            </a:r>
            <a:endParaRPr lang="en-AU" sz="2400" b="1" dirty="0"/>
          </a:p>
        </p:txBody>
      </p:sp>
      <p:sp>
        <p:nvSpPr>
          <p:cNvPr id="17" name="Left Arrow 16"/>
          <p:cNvSpPr/>
          <p:nvPr/>
        </p:nvSpPr>
        <p:spPr>
          <a:xfrm rot="20271546">
            <a:off x="5643173" y="2944686"/>
            <a:ext cx="1795968" cy="4793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-21410" y="5630563"/>
            <a:ext cx="19443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How do we find probabilities?</a:t>
            </a:r>
            <a:endParaRPr lang="en-AU" sz="2200" dirty="0"/>
          </a:p>
        </p:txBody>
      </p:sp>
      <p:sp>
        <p:nvSpPr>
          <p:cNvPr id="31" name="TextBox 30"/>
          <p:cNvSpPr txBox="1"/>
          <p:nvPr/>
        </p:nvSpPr>
        <p:spPr>
          <a:xfrm>
            <a:off x="4202427" y="517963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40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378864" y="5903032"/>
                <a:ext cx="1818043" cy="617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P (A) = 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864" y="5903032"/>
                <a:ext cx="1818043" cy="617157"/>
              </a:xfrm>
              <a:prstGeom prst="rect">
                <a:avLst/>
              </a:prstGeom>
              <a:blipFill rotWithShape="0">
                <a:blip r:embed="rId3"/>
                <a:stretch>
                  <a:fillRect l="-4682" b="-88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6170035" y="4042387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30</a:t>
            </a:r>
            <a:endParaRPr lang="en-AU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5196907" y="4619599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23</a:t>
            </a:r>
            <a:endParaRPr lang="en-AU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5196907" y="519681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40</a:t>
            </a:r>
            <a:endParaRPr lang="en-AU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6115880" y="519681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80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035550" y="5904969"/>
                <a:ext cx="2472800" cy="616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P (A and B) = 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550" y="5904969"/>
                <a:ext cx="2472800" cy="616387"/>
              </a:xfrm>
              <a:prstGeom prst="rect">
                <a:avLst/>
              </a:prstGeom>
              <a:blipFill rotWithShape="0"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070723" y="5871511"/>
                <a:ext cx="2321080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P (B’) = 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723" y="5871511"/>
                <a:ext cx="2321080" cy="622414"/>
              </a:xfrm>
              <a:prstGeom prst="rect">
                <a:avLst/>
              </a:prstGeom>
              <a:blipFill rotWithShape="0">
                <a:blip r:embed="rId5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17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try this together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09" y="980728"/>
            <a:ext cx="8730582" cy="39387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27" y="4919495"/>
            <a:ext cx="2323787" cy="141447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873" y="4901685"/>
            <a:ext cx="2886075" cy="1447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948" y="4892160"/>
            <a:ext cx="3086100" cy="1457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405" y="5123887"/>
            <a:ext cx="868531" cy="121008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087" y="4892160"/>
            <a:ext cx="2857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0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854968"/>
          </a:xfrm>
        </p:spPr>
        <p:txBody>
          <a:bodyPr/>
          <a:lstStyle/>
          <a:p>
            <a:pPr algn="ctr"/>
            <a:r>
              <a:rPr lang="en-US" dirty="0"/>
              <a:t>Your Turn (LHS)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8" y="766002"/>
            <a:ext cx="8856984" cy="28083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95" y="3598877"/>
            <a:ext cx="8810970" cy="6883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92" y="4572000"/>
            <a:ext cx="7414375" cy="20555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929" y="3859080"/>
            <a:ext cx="4238647" cy="140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94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3355</TotalTime>
  <Words>302</Words>
  <Application>Microsoft Office PowerPoint</Application>
  <PresentationFormat>On-screen Show (4:3)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Cambria Math</vt:lpstr>
      <vt:lpstr>Office Theme</vt:lpstr>
      <vt:lpstr>Probability Interactive Notebook</vt:lpstr>
      <vt:lpstr>PowerPoint Presentation</vt:lpstr>
      <vt:lpstr>PowerPoint Presentation</vt:lpstr>
      <vt:lpstr>Consider the following</vt:lpstr>
      <vt:lpstr>Create your own two-way table</vt:lpstr>
      <vt:lpstr>PowerPoint Presentation</vt:lpstr>
      <vt:lpstr>Let’s try this together</vt:lpstr>
      <vt:lpstr>Your Turn (LHS)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Jade Gregory</cp:lastModifiedBy>
  <cp:revision>111</cp:revision>
  <dcterms:created xsi:type="dcterms:W3CDTF">2014-05-14T02:58:57Z</dcterms:created>
  <dcterms:modified xsi:type="dcterms:W3CDTF">2021-05-31T13:14:27Z</dcterms:modified>
</cp:coreProperties>
</file>
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59" r:id="rId3"/>
    <p:sldId id="258" r:id="rId4"/>
    <p:sldId id="364" r:id="rId5"/>
    <p:sldId id="381" r:id="rId6"/>
    <p:sldId id="303" r:id="rId7"/>
    <p:sldId id="371" r:id="rId8"/>
    <p:sldId id="375" r:id="rId9"/>
    <p:sldId id="372" r:id="rId10"/>
    <p:sldId id="376" r:id="rId11"/>
    <p:sldId id="365" r:id="rId12"/>
    <p:sldId id="373" r:id="rId13"/>
    <p:sldId id="379" r:id="rId14"/>
    <p:sldId id="380" r:id="rId15"/>
    <p:sldId id="366" r:id="rId16"/>
    <p:sldId id="377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8" autoAdjust="0"/>
    <p:restoredTop sz="89165" autoAdjust="0"/>
  </p:normalViewPr>
  <p:slideViewPr>
    <p:cSldViewPr>
      <p:cViewPr varScale="1">
        <p:scale>
          <a:sx n="129" d="100"/>
          <a:sy n="129" d="100"/>
        </p:scale>
        <p:origin x="5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18/6/17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991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Teacher: Mr Summers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548681"/>
            <a:ext cx="78488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Question of the Day</a:t>
            </a:r>
          </a:p>
          <a:p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What do the United Liberia and Myanmar have in common?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4221088"/>
            <a:ext cx="828675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Answer</a:t>
            </a:r>
            <a:r>
              <a:rPr lang="en-US" sz="3200" dirty="0"/>
              <a:t> </a:t>
            </a:r>
            <a:r>
              <a:rPr lang="en-US" sz="3200" dirty="0" smtClean="0"/>
              <a:t>in Video:</a:t>
            </a:r>
            <a:endParaRPr lang="en-US" sz="3200" dirty="0" smtClean="0"/>
          </a:p>
          <a:p>
            <a:endParaRPr lang="en-US" dirty="0"/>
          </a:p>
          <a:p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edition.cnn.com</a:t>
            </a:r>
            <a:r>
              <a:rPr lang="en-US" dirty="0"/>
              <a:t>/2015/06/05/opinions/</a:t>
            </a:r>
            <a:r>
              <a:rPr lang="en-US" dirty="0" err="1"/>
              <a:t>marciano</a:t>
            </a:r>
            <a:r>
              <a:rPr lang="en-US" dirty="0"/>
              <a:t>-</a:t>
            </a:r>
            <a:r>
              <a:rPr lang="en-US" dirty="0" err="1"/>
              <a:t>america</a:t>
            </a:r>
            <a:r>
              <a:rPr lang="en-US" dirty="0"/>
              <a:t>-go-metric/</a:t>
            </a:r>
            <a:r>
              <a:rPr lang="en-US" dirty="0" err="1"/>
              <a:t>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3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147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614727"/>
            <a:ext cx="0" cy="46945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3648" y="251154"/>
            <a:ext cx="250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Conversion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783730"/>
            <a:ext cx="8926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units of measurement are there and how do I convert between them?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34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44625"/>
            <a:ext cx="87849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We use the metric system to measure units of length, mass and capacity. On the LHS of your INB, write as many of the following:</a:t>
            </a:r>
            <a:endParaRPr lang="en-US" sz="36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27584" y="2348880"/>
            <a:ext cx="7560840" cy="33123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 smtClean="0"/>
              <a:t>What units of length do you know?</a:t>
            </a:r>
          </a:p>
          <a:p>
            <a:endParaRPr lang="en-GB" sz="3600" dirty="0" smtClean="0"/>
          </a:p>
          <a:p>
            <a:r>
              <a:rPr lang="en-GB" sz="3600" dirty="0" smtClean="0"/>
              <a:t>What units of mass do you know?</a:t>
            </a:r>
          </a:p>
          <a:p>
            <a:endParaRPr lang="en-GB" sz="3600" dirty="0" smtClean="0"/>
          </a:p>
          <a:p>
            <a:r>
              <a:rPr lang="en-GB" sz="3600" dirty="0" smtClean="0"/>
              <a:t>What units of capacity do you know?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147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614727"/>
            <a:ext cx="0" cy="46945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3648" y="251154"/>
            <a:ext cx="250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Conversion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783730"/>
            <a:ext cx="8926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units of measurement are there and how do I convert between them?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37454" y="1688323"/>
            <a:ext cx="1450504" cy="12399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 smtClean="0">
                <a:solidFill>
                  <a:schemeClr val="accent1">
                    <a:satMod val="150000"/>
                  </a:schemeClr>
                </a:solidFill>
              </a:rPr>
              <a:t>What is a Metric Unit?</a:t>
            </a:r>
            <a:endParaRPr lang="en-US" sz="2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045908" y="1700405"/>
            <a:ext cx="6635080" cy="44143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x-none" sz="2800" dirty="0" smtClean="0"/>
              <a:t>Metric units are the universally excepted units around the world. They are the easiest to convert.</a:t>
            </a:r>
          </a:p>
          <a:p>
            <a:endParaRPr lang="en-US" altLang="x-none" sz="2800" dirty="0" smtClean="0"/>
          </a:p>
          <a:p>
            <a:r>
              <a:rPr lang="en-US" altLang="x-none" sz="2800" dirty="0" smtClean="0"/>
              <a:t>Metric Unit Examples:</a:t>
            </a:r>
          </a:p>
          <a:p>
            <a:pPr lvl="1"/>
            <a:r>
              <a:rPr lang="en-US" altLang="x-none" dirty="0" smtClean="0"/>
              <a:t>meters</a:t>
            </a:r>
          </a:p>
          <a:p>
            <a:pPr lvl="1"/>
            <a:r>
              <a:rPr lang="en-US" altLang="x-none" dirty="0" err="1" smtClean="0"/>
              <a:t>litres</a:t>
            </a:r>
            <a:endParaRPr lang="en-US" altLang="x-none" dirty="0" smtClean="0"/>
          </a:p>
          <a:p>
            <a:pPr lvl="1"/>
            <a:r>
              <a:rPr lang="en-US" altLang="x-none" dirty="0" smtClean="0"/>
              <a:t>grams</a:t>
            </a:r>
            <a:endParaRPr lang="en-US" altLang="x-none" dirty="0"/>
          </a:p>
        </p:txBody>
      </p:sp>
      <p:grpSp>
        <p:nvGrpSpPr>
          <p:cNvPr id="16" name="Group 5"/>
          <p:cNvGrpSpPr>
            <a:grpSpLocks/>
          </p:cNvGrpSpPr>
          <p:nvPr/>
        </p:nvGrpSpPr>
        <p:grpSpPr bwMode="auto">
          <a:xfrm>
            <a:off x="3915648" y="4153842"/>
            <a:ext cx="2895600" cy="1938338"/>
            <a:chOff x="2514600" y="4419600"/>
            <a:chExt cx="2895600" cy="1938992"/>
          </a:xfrm>
        </p:grpSpPr>
        <p:sp>
          <p:nvSpPr>
            <p:cNvPr id="17" name="Right Brace 16"/>
            <p:cNvSpPr/>
            <p:nvPr/>
          </p:nvSpPr>
          <p:spPr>
            <a:xfrm>
              <a:off x="2514600" y="4419600"/>
              <a:ext cx="457200" cy="152451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4200" y="4419600"/>
              <a:ext cx="2286000" cy="19389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u="sng" dirty="0" smtClean="0">
                  <a:latin typeface="+mn-lt"/>
                </a:rPr>
                <a:t>Key Base </a:t>
              </a:r>
              <a:r>
                <a:rPr lang="en-US" sz="2400" u="sng" dirty="0">
                  <a:latin typeface="+mn-lt"/>
                </a:rPr>
                <a:t>Units</a:t>
              </a:r>
              <a:r>
                <a:rPr lang="en-US" sz="2400" dirty="0">
                  <a:latin typeface="+mn-lt"/>
                </a:rPr>
                <a:t> – all other metric units are based off of these  (k</a:t>
              </a:r>
              <a:r>
                <a: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n-lt"/>
                </a:rPr>
                <a:t>m</a:t>
              </a:r>
              <a:r>
                <a:rPr lang="en-US" sz="2400" dirty="0">
                  <a:latin typeface="+mn-lt"/>
                </a:rPr>
                <a:t>, c</a:t>
              </a:r>
              <a:r>
                <a: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n-lt"/>
                </a:rPr>
                <a:t>m</a:t>
              </a:r>
              <a:r>
                <a:rPr lang="en-US" sz="2400" dirty="0">
                  <a:latin typeface="+mn-lt"/>
                </a:rPr>
                <a:t>, m</a:t>
              </a:r>
              <a:r>
                <a: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n-lt"/>
                </a:rPr>
                <a:t>l</a:t>
              </a:r>
              <a:r>
                <a:rPr lang="en-US" sz="2400" dirty="0">
                  <a:latin typeface="+mn-lt"/>
                </a:rPr>
                <a:t>, k</a:t>
              </a:r>
              <a:r>
                <a: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n-lt"/>
                </a:rPr>
                <a:t>g</a:t>
              </a:r>
              <a:r>
                <a:rPr lang="en-US" sz="2400" dirty="0">
                  <a:latin typeface="+mn-lt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01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147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403648" y="251154"/>
            <a:ext cx="250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Conversion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783730"/>
            <a:ext cx="8926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units of measurement are there and how do I convert between them?</a:t>
            </a:r>
            <a:endParaRPr lang="en-AU" sz="2400" dirty="0"/>
          </a:p>
        </p:txBody>
      </p:sp>
      <p:sp>
        <p:nvSpPr>
          <p:cNvPr id="79" name="TextBox 78"/>
          <p:cNvSpPr txBox="1"/>
          <p:nvPr/>
        </p:nvSpPr>
        <p:spPr>
          <a:xfrm>
            <a:off x="1503622" y="4293095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m</a:t>
            </a:r>
            <a:endParaRPr lang="en-GB" sz="4800" dirty="0"/>
          </a:p>
        </p:txBody>
      </p:sp>
      <p:sp>
        <p:nvSpPr>
          <p:cNvPr id="80" name="TextBox 79"/>
          <p:cNvSpPr txBox="1"/>
          <p:nvPr/>
        </p:nvSpPr>
        <p:spPr>
          <a:xfrm>
            <a:off x="2727758" y="4293095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cm</a:t>
            </a:r>
            <a:endParaRPr lang="en-GB" sz="4800" dirty="0"/>
          </a:p>
        </p:txBody>
      </p:sp>
      <p:sp>
        <p:nvSpPr>
          <p:cNvPr id="81" name="TextBox 80"/>
          <p:cNvSpPr txBox="1"/>
          <p:nvPr/>
        </p:nvSpPr>
        <p:spPr>
          <a:xfrm>
            <a:off x="4126517" y="4259443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mm</a:t>
            </a:r>
            <a:endParaRPr lang="en-GB" sz="4800" dirty="0"/>
          </a:p>
        </p:txBody>
      </p:sp>
      <p:sp>
        <p:nvSpPr>
          <p:cNvPr id="82" name="Freeform 81"/>
          <p:cNvSpPr/>
          <p:nvPr/>
        </p:nvSpPr>
        <p:spPr>
          <a:xfrm>
            <a:off x="472915" y="3881429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Freeform 82"/>
          <p:cNvSpPr/>
          <p:nvPr/>
        </p:nvSpPr>
        <p:spPr>
          <a:xfrm>
            <a:off x="1907704" y="3889446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Freeform 83"/>
          <p:cNvSpPr/>
          <p:nvPr/>
        </p:nvSpPr>
        <p:spPr>
          <a:xfrm>
            <a:off x="3491880" y="3861048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Freeform 84"/>
          <p:cNvSpPr/>
          <p:nvPr/>
        </p:nvSpPr>
        <p:spPr>
          <a:xfrm flipV="1">
            <a:off x="465778" y="5033557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Freeform 85"/>
          <p:cNvSpPr/>
          <p:nvPr/>
        </p:nvSpPr>
        <p:spPr>
          <a:xfrm flipV="1">
            <a:off x="1900567" y="5041574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Freeform 86"/>
          <p:cNvSpPr/>
          <p:nvPr/>
        </p:nvSpPr>
        <p:spPr>
          <a:xfrm flipV="1">
            <a:off x="3484743" y="5013176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TextBox 87"/>
          <p:cNvSpPr txBox="1"/>
          <p:nvPr/>
        </p:nvSpPr>
        <p:spPr>
          <a:xfrm>
            <a:off x="472915" y="3443997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</a:t>
            </a:r>
            <a:endParaRPr lang="en-GB" sz="2400" dirty="0"/>
          </a:p>
        </p:txBody>
      </p:sp>
      <p:sp>
        <p:nvSpPr>
          <p:cNvPr id="89" name="TextBox 88"/>
          <p:cNvSpPr txBox="1"/>
          <p:nvPr/>
        </p:nvSpPr>
        <p:spPr>
          <a:xfrm>
            <a:off x="1979712" y="3429000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</a:t>
            </a:r>
            <a:endParaRPr lang="en-GB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3635896" y="3429000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</a:t>
            </a:r>
            <a:endParaRPr lang="en-GB" sz="2400" dirty="0"/>
          </a:p>
        </p:txBody>
      </p:sp>
      <p:sp>
        <p:nvSpPr>
          <p:cNvPr id="91" name="TextBox 90"/>
          <p:cNvSpPr txBox="1"/>
          <p:nvPr/>
        </p:nvSpPr>
        <p:spPr>
          <a:xfrm>
            <a:off x="609794" y="5530006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  <p:sp>
        <p:nvSpPr>
          <p:cNvPr id="92" name="TextBox 91"/>
          <p:cNvSpPr txBox="1"/>
          <p:nvPr/>
        </p:nvSpPr>
        <p:spPr>
          <a:xfrm>
            <a:off x="2051720" y="5559623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</a:t>
            </a:r>
            <a:endParaRPr lang="en-GB" sz="2400" dirty="0"/>
          </a:p>
        </p:txBody>
      </p:sp>
      <p:sp>
        <p:nvSpPr>
          <p:cNvPr id="93" name="TextBox 92"/>
          <p:cNvSpPr txBox="1"/>
          <p:nvPr/>
        </p:nvSpPr>
        <p:spPr>
          <a:xfrm>
            <a:off x="3707904" y="5559623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</a:t>
            </a:r>
            <a:endParaRPr lang="en-GB" sz="2400" dirty="0"/>
          </a:p>
        </p:txBody>
      </p:sp>
      <p:sp>
        <p:nvSpPr>
          <p:cNvPr id="94" name="Title 1"/>
          <p:cNvSpPr txBox="1">
            <a:spLocks/>
          </p:cNvSpPr>
          <p:nvPr/>
        </p:nvSpPr>
        <p:spPr>
          <a:xfrm>
            <a:off x="-323753" y="1728865"/>
            <a:ext cx="5743018" cy="69261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Metric Conversions </a:t>
            </a:r>
            <a:r>
              <a:rPr lang="mr-IN" sz="3200" dirty="0" smtClean="0"/>
              <a:t>–</a:t>
            </a:r>
            <a:r>
              <a:rPr lang="en-GB" sz="3200" dirty="0" smtClean="0"/>
              <a:t> The Conversion Caterpillar</a:t>
            </a:r>
          </a:p>
          <a:p>
            <a:r>
              <a:rPr lang="en-GB" sz="3200" dirty="0" smtClean="0"/>
              <a:t>LENGTH</a:t>
            </a:r>
            <a:endParaRPr lang="en-GB" sz="3200" dirty="0"/>
          </a:p>
        </p:txBody>
      </p:sp>
      <p:sp>
        <p:nvSpPr>
          <p:cNvPr id="95" name="TextBox 94"/>
          <p:cNvSpPr txBox="1"/>
          <p:nvPr/>
        </p:nvSpPr>
        <p:spPr>
          <a:xfrm>
            <a:off x="5536106" y="1700807"/>
            <a:ext cx="348724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Examples</a:t>
            </a:r>
            <a:r>
              <a:rPr lang="en-GB" sz="2400" u="sng" dirty="0" smtClean="0"/>
              <a:t>:</a:t>
            </a:r>
            <a:endParaRPr lang="en-GB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FF0000"/>
                </a:solidFill>
              </a:rPr>
              <a:t>Convert 3m to cm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 smtClean="0">
                <a:solidFill>
                  <a:srgbClr val="FF0000"/>
                </a:solidFill>
              </a:rPr>
              <a:t>3 x 100 = 300cm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Convert 5.7km to m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5.7 x 1000 = 5700m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B050"/>
                </a:solidFill>
              </a:rPr>
              <a:t>Convert 3.6km to cm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 smtClean="0">
                <a:solidFill>
                  <a:srgbClr val="00B050"/>
                </a:solidFill>
              </a:rPr>
              <a:t>3.6 x 1000 = 3600m</a:t>
            </a:r>
          </a:p>
          <a:p>
            <a:r>
              <a:rPr lang="en-GB" sz="2400" dirty="0" smtClean="0">
                <a:solidFill>
                  <a:srgbClr val="00B050"/>
                </a:solidFill>
              </a:rPr>
              <a:t>3600 x 100 = 360000cm</a:t>
            </a:r>
            <a:endParaRPr lang="en-GB" sz="2400" dirty="0">
              <a:solidFill>
                <a:srgbClr val="00B05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17018" y="4288549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k</a:t>
            </a:r>
            <a:r>
              <a:rPr lang="en-GB" sz="4800" dirty="0" smtClean="0"/>
              <a:t>m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0025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/>
      <p:bldP spid="89" grpId="0"/>
      <p:bldP spid="90" grpId="0"/>
      <p:bldP spid="91" grpId="0"/>
      <p:bldP spid="92" grpId="0"/>
      <p:bldP spid="93" grpId="0"/>
      <p:bldP spid="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147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403648" y="251154"/>
            <a:ext cx="250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Conversion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783730"/>
            <a:ext cx="8926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units of measurement are there and how do I convert between them?</a:t>
            </a:r>
            <a:endParaRPr lang="en-AU" sz="24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022651" y="2043856"/>
            <a:ext cx="2267744" cy="130867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MASS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-116734" y="4161444"/>
            <a:ext cx="1719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Tonne</a:t>
            </a:r>
            <a:endParaRPr lang="en-GB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1414126" y="4077209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k</a:t>
            </a:r>
            <a:r>
              <a:rPr lang="en-GB" sz="4800" dirty="0" smtClean="0"/>
              <a:t>g</a:t>
            </a:r>
            <a:endParaRPr lang="en-GB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2658994" y="3969988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  g</a:t>
            </a:r>
            <a:endParaRPr lang="en-GB" sz="4800" dirty="0"/>
          </a:p>
        </p:txBody>
      </p:sp>
      <p:sp>
        <p:nvSpPr>
          <p:cNvPr id="18" name="TextBox 17"/>
          <p:cNvSpPr txBox="1"/>
          <p:nvPr/>
        </p:nvSpPr>
        <p:spPr>
          <a:xfrm>
            <a:off x="4099558" y="4051990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mg</a:t>
            </a:r>
            <a:endParaRPr lang="en-GB" sz="4800" dirty="0"/>
          </a:p>
        </p:txBody>
      </p:sp>
      <p:sp>
        <p:nvSpPr>
          <p:cNvPr id="19" name="Freeform 18"/>
          <p:cNvSpPr/>
          <p:nvPr/>
        </p:nvSpPr>
        <p:spPr>
          <a:xfrm>
            <a:off x="334006" y="3665405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/>
        </p:nvSpPr>
        <p:spPr>
          <a:xfrm>
            <a:off x="1768795" y="3673422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>
            <a:off x="3352971" y="3645024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 21"/>
          <p:cNvSpPr/>
          <p:nvPr/>
        </p:nvSpPr>
        <p:spPr>
          <a:xfrm flipV="1">
            <a:off x="326869" y="4817533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 22"/>
          <p:cNvSpPr/>
          <p:nvPr/>
        </p:nvSpPr>
        <p:spPr>
          <a:xfrm flipV="1">
            <a:off x="1761658" y="4825550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 23"/>
          <p:cNvSpPr/>
          <p:nvPr/>
        </p:nvSpPr>
        <p:spPr>
          <a:xfrm flipV="1">
            <a:off x="3345834" y="4797152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398877" y="3183359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</a:t>
            </a:r>
            <a:endParaRPr lang="en-GB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1840803" y="3212976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</a:t>
            </a:r>
            <a:endParaRPr lang="en-GB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3453846" y="3183358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</a:t>
            </a:r>
            <a:endParaRPr lang="en-GB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354738" y="5313982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1912811" y="5343599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3568995" y="5343599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5168138" y="1614727"/>
            <a:ext cx="40796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u="sng" dirty="0" smtClean="0"/>
              <a:t>Examples:</a:t>
            </a:r>
          </a:p>
          <a:p>
            <a:endParaRPr lang="en-GB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Convert 5g to mg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200" dirty="0">
              <a:solidFill>
                <a:srgbClr val="FF0000"/>
              </a:solidFill>
            </a:endParaRPr>
          </a:p>
          <a:p>
            <a:r>
              <a:rPr lang="en-GB" sz="2200" dirty="0">
                <a:solidFill>
                  <a:srgbClr val="FF0000"/>
                </a:solidFill>
              </a:rPr>
              <a:t>5</a:t>
            </a:r>
            <a:r>
              <a:rPr lang="en-GB" sz="2200" dirty="0" smtClean="0">
                <a:solidFill>
                  <a:srgbClr val="FF0000"/>
                </a:solidFill>
              </a:rPr>
              <a:t> x 1000 = 5000mg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200" dirty="0" smtClean="0">
                <a:solidFill>
                  <a:schemeClr val="accent6">
                    <a:lumMod val="75000"/>
                  </a:schemeClr>
                </a:solidFill>
              </a:rPr>
              <a:t>Convert 2.9kg to g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2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GB" sz="2200" dirty="0" smtClean="0">
                <a:solidFill>
                  <a:schemeClr val="accent6">
                    <a:lumMod val="75000"/>
                  </a:schemeClr>
                </a:solidFill>
              </a:rPr>
              <a:t>2.9 x 1000 = 2900m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200" dirty="0" smtClean="0">
                <a:solidFill>
                  <a:srgbClr val="00B050"/>
                </a:solidFill>
              </a:rPr>
              <a:t>Convert 7.6 tonnes to mg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200" dirty="0">
              <a:solidFill>
                <a:srgbClr val="00B050"/>
              </a:solidFill>
            </a:endParaRPr>
          </a:p>
          <a:p>
            <a:r>
              <a:rPr lang="en-GB" sz="2200" dirty="0" smtClean="0">
                <a:solidFill>
                  <a:srgbClr val="00B050"/>
                </a:solidFill>
              </a:rPr>
              <a:t>7.6 x 1000 = 7600Kg</a:t>
            </a:r>
          </a:p>
          <a:p>
            <a:r>
              <a:rPr lang="en-GB" sz="2200" dirty="0">
                <a:solidFill>
                  <a:srgbClr val="00B050"/>
                </a:solidFill>
              </a:rPr>
              <a:t>7</a:t>
            </a:r>
            <a:r>
              <a:rPr lang="en-GB" sz="2200" dirty="0" smtClean="0">
                <a:solidFill>
                  <a:srgbClr val="00B050"/>
                </a:solidFill>
              </a:rPr>
              <a:t>600 x 1000 = 7600000g</a:t>
            </a:r>
          </a:p>
          <a:p>
            <a:r>
              <a:rPr lang="en-GB" sz="2200" dirty="0" smtClean="0">
                <a:solidFill>
                  <a:srgbClr val="00B050"/>
                </a:solidFill>
              </a:rPr>
              <a:t>7600000 x 1000 = 7600000000mg</a:t>
            </a:r>
            <a:endParaRPr lang="en-GB" sz="2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0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147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403648" y="251154"/>
            <a:ext cx="250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Conversion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783730"/>
            <a:ext cx="8926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units of measurement are there and how do I convert between them?</a:t>
            </a:r>
            <a:endParaRPr lang="en-AU" sz="24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0" y="2122962"/>
            <a:ext cx="4121937" cy="121001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mtClean="0"/>
              <a:t>CAPACITY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1534334" y="4062388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l</a:t>
            </a:r>
            <a:endParaRPr lang="en-GB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4271998" y="3972990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ml</a:t>
            </a:r>
            <a:endParaRPr lang="en-GB" sz="4800" dirty="0"/>
          </a:p>
        </p:txBody>
      </p:sp>
      <p:sp>
        <p:nvSpPr>
          <p:cNvPr id="18" name="Freeform 17"/>
          <p:cNvSpPr/>
          <p:nvPr/>
        </p:nvSpPr>
        <p:spPr>
          <a:xfrm>
            <a:off x="269754" y="3690909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form 18"/>
          <p:cNvSpPr/>
          <p:nvPr/>
        </p:nvSpPr>
        <p:spPr>
          <a:xfrm>
            <a:off x="1853930" y="3662511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/>
        </p:nvSpPr>
        <p:spPr>
          <a:xfrm flipV="1">
            <a:off x="262617" y="4843037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 flipV="1">
            <a:off x="1846793" y="4814639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341762" y="3230463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</a:t>
            </a:r>
            <a:r>
              <a:rPr lang="en-GB" sz="2400" dirty="0" smtClean="0"/>
              <a:t>1000</a:t>
            </a:r>
            <a:endParaRPr lang="en-GB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997946" y="3230463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x</a:t>
            </a:r>
            <a:r>
              <a:rPr lang="en-GB" sz="2400" smtClean="0"/>
              <a:t> </a:t>
            </a:r>
            <a:r>
              <a:rPr lang="en-GB" sz="2400" smtClean="0"/>
              <a:t>100</a:t>
            </a:r>
            <a:endParaRPr lang="en-GB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413770" y="5361086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</a:t>
            </a:r>
            <a:r>
              <a:rPr lang="en-GB" sz="2400" dirty="0" smtClean="0"/>
              <a:t>1000</a:t>
            </a:r>
            <a:endParaRPr lang="en-GB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069954" y="5361086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</a:t>
            </a:r>
            <a:r>
              <a:rPr lang="en-GB" sz="2400" dirty="0" smtClean="0"/>
              <a:t>100</a:t>
            </a:r>
            <a:endParaRPr lang="en-GB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5367789" y="1649187"/>
            <a:ext cx="38936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Examples:</a:t>
            </a:r>
          </a:p>
          <a:p>
            <a:endParaRPr lang="en-GB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FF0000"/>
                </a:solidFill>
              </a:rPr>
              <a:t>Convert 9l to </a:t>
            </a:r>
            <a:r>
              <a:rPr lang="en-GB" sz="2400" dirty="0" smtClean="0">
                <a:solidFill>
                  <a:srgbClr val="FF0000"/>
                </a:solidFill>
              </a:rPr>
              <a:t>ml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9</a:t>
            </a:r>
            <a:r>
              <a:rPr lang="en-GB" sz="2400" dirty="0" smtClean="0">
                <a:solidFill>
                  <a:srgbClr val="FF0000"/>
                </a:solidFill>
              </a:rPr>
              <a:t> x </a:t>
            </a:r>
            <a:r>
              <a:rPr lang="en-GB" sz="2400" dirty="0" smtClean="0">
                <a:solidFill>
                  <a:srgbClr val="FF0000"/>
                </a:solidFill>
              </a:rPr>
              <a:t>1000 </a:t>
            </a:r>
            <a:r>
              <a:rPr lang="en-GB" sz="2400" dirty="0" smtClean="0">
                <a:solidFill>
                  <a:srgbClr val="FF0000"/>
                </a:solidFill>
              </a:rPr>
              <a:t>= </a:t>
            </a:r>
            <a:r>
              <a:rPr lang="en-GB" sz="2400" dirty="0" smtClean="0">
                <a:solidFill>
                  <a:srgbClr val="FF0000"/>
                </a:solidFill>
              </a:rPr>
              <a:t>9000ml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GB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Convert 90ml to </a:t>
            </a: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l</a:t>
            </a:r>
            <a:endParaRPr lang="en-GB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GB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90 ÷ </a:t>
            </a: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1000 </a:t>
            </a: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0.09l</a:t>
            </a:r>
            <a:endParaRPr lang="en-GB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GB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400" dirty="0" smtClean="0">
                <a:solidFill>
                  <a:srgbClr val="00B050"/>
                </a:solidFill>
              </a:rPr>
              <a:t>Convert 1.53 kl </a:t>
            </a:r>
            <a:r>
              <a:rPr lang="en-GB" sz="2400" dirty="0" smtClean="0">
                <a:solidFill>
                  <a:srgbClr val="00B050"/>
                </a:solidFill>
              </a:rPr>
              <a:t>to </a:t>
            </a:r>
            <a:r>
              <a:rPr lang="en-GB" sz="2400" dirty="0">
                <a:solidFill>
                  <a:srgbClr val="00B050"/>
                </a:solidFill>
              </a:rPr>
              <a:t>m</a:t>
            </a:r>
            <a:r>
              <a:rPr lang="en-GB" sz="2400" dirty="0" smtClean="0">
                <a:solidFill>
                  <a:srgbClr val="00B050"/>
                </a:solidFill>
              </a:rPr>
              <a:t>l</a:t>
            </a:r>
            <a:endParaRPr lang="en-GB" sz="2400" dirty="0" smtClean="0">
              <a:solidFill>
                <a:srgbClr val="00B05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 smtClean="0">
                <a:solidFill>
                  <a:srgbClr val="00B050"/>
                </a:solidFill>
              </a:rPr>
              <a:t>1.53 x 1000 = 1530l</a:t>
            </a:r>
            <a:endParaRPr lang="en-GB" sz="2400" dirty="0" smtClean="0">
              <a:solidFill>
                <a:srgbClr val="00B050"/>
              </a:solidFill>
            </a:endParaRPr>
          </a:p>
          <a:p>
            <a:r>
              <a:rPr lang="en-GB" sz="2400" dirty="0" smtClean="0">
                <a:solidFill>
                  <a:srgbClr val="00B050"/>
                </a:solidFill>
              </a:rPr>
              <a:t>1530 </a:t>
            </a:r>
            <a:r>
              <a:rPr lang="en-GB" sz="2400" dirty="0" smtClean="0">
                <a:solidFill>
                  <a:srgbClr val="00B050"/>
                </a:solidFill>
              </a:rPr>
              <a:t>x 1000 </a:t>
            </a:r>
            <a:r>
              <a:rPr lang="en-GB" sz="2400" dirty="0" smtClean="0">
                <a:solidFill>
                  <a:srgbClr val="00B050"/>
                </a:solidFill>
              </a:rPr>
              <a:t>= </a:t>
            </a:r>
            <a:r>
              <a:rPr lang="en-GB" sz="2400" dirty="0" smtClean="0">
                <a:solidFill>
                  <a:srgbClr val="00B050"/>
                </a:solidFill>
              </a:rPr>
              <a:t>1,530,000 ml</a:t>
            </a:r>
            <a:endParaRPr lang="en-GB" sz="2400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-27181" y="4106702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k</a:t>
            </a:r>
            <a:r>
              <a:rPr lang="en-GB" sz="4800" dirty="0" smtClean="0"/>
              <a:t>l</a:t>
            </a:r>
            <a:endParaRPr lang="en-GB" sz="4800" dirty="0"/>
          </a:p>
        </p:txBody>
      </p:sp>
      <p:sp>
        <p:nvSpPr>
          <p:cNvPr id="42" name="Freeform 41"/>
          <p:cNvSpPr/>
          <p:nvPr/>
        </p:nvSpPr>
        <p:spPr>
          <a:xfrm>
            <a:off x="3413941" y="3631322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eform 44"/>
          <p:cNvSpPr/>
          <p:nvPr/>
        </p:nvSpPr>
        <p:spPr>
          <a:xfrm flipV="1">
            <a:off x="3422885" y="4781777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/>
          <p:cNvSpPr txBox="1"/>
          <p:nvPr/>
        </p:nvSpPr>
        <p:spPr>
          <a:xfrm>
            <a:off x="2865388" y="4028880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c</a:t>
            </a:r>
            <a:r>
              <a:rPr lang="en-GB" sz="4800" dirty="0" smtClean="0"/>
              <a:t>l</a:t>
            </a:r>
            <a:endParaRPr lang="en-GB" sz="4800" dirty="0"/>
          </a:p>
        </p:txBody>
      </p:sp>
      <p:sp>
        <p:nvSpPr>
          <p:cNvPr id="47" name="TextBox 46"/>
          <p:cNvSpPr txBox="1"/>
          <p:nvPr/>
        </p:nvSpPr>
        <p:spPr>
          <a:xfrm>
            <a:off x="3629965" y="3212976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</a:t>
            </a:r>
            <a:r>
              <a:rPr lang="en-GB" sz="2400" dirty="0" smtClean="0"/>
              <a:t>10</a:t>
            </a:r>
            <a:endParaRPr lang="en-GB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3530897" y="5360051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</a:t>
            </a:r>
            <a:r>
              <a:rPr lang="en-GB" sz="2400" dirty="0" smtClean="0"/>
              <a:t>10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0065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27" grpId="1"/>
      <p:bldP spid="42" grpId="0" animBg="1"/>
      <p:bldP spid="45" grpId="0" animBg="1"/>
      <p:bldP spid="46" grpId="0"/>
      <p:bldP spid="46" grpId="1"/>
      <p:bldP spid="47" grpId="0"/>
      <p:bldP spid="47" grpId="1"/>
      <p:bldP spid="48" grpId="0"/>
      <p:bldP spid="4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1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304800" y="530225"/>
            <a:ext cx="8443664" cy="6067127"/>
          </a:xfrm>
        </p:spPr>
        <p:txBody>
          <a:bodyPr/>
          <a:lstStyle/>
          <a:p>
            <a:pPr marL="0" indent="0">
              <a:buFont typeface="Wingdings 2" charset="2"/>
              <a:buNone/>
            </a:pPr>
            <a:r>
              <a:rPr lang="en-US" altLang="en-US" dirty="0"/>
              <a:t>                  </a:t>
            </a:r>
            <a:r>
              <a:rPr lang="en-US" altLang="en-US" sz="3600" b="1" dirty="0"/>
              <a:t>Metric Prefixes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/>
              <a:t>Kilo    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 err="1"/>
              <a:t>Hecto</a:t>
            </a:r>
            <a:r>
              <a:rPr lang="it-IT" altLang="en-US" sz="4000" b="1" dirty="0"/>
              <a:t>    </a:t>
            </a:r>
            <a:r>
              <a:rPr lang="it-IT" altLang="en-US" sz="4000" b="1" dirty="0" smtClean="0"/>
              <a:t>   </a:t>
            </a:r>
            <a:r>
              <a:rPr lang="it-IT" altLang="en-US" sz="3600" b="1" dirty="0" err="1" smtClean="0"/>
              <a:t>Increase</a:t>
            </a:r>
            <a:r>
              <a:rPr lang="it-IT" altLang="en-US" sz="3600" b="1" dirty="0" smtClean="0"/>
              <a:t> </a:t>
            </a:r>
            <a:r>
              <a:rPr lang="it-IT" altLang="en-US" sz="3600" b="1" dirty="0"/>
              <a:t>to Basic Unit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/>
              <a:t>Deca         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/>
              <a:t>Basic Unit (</a:t>
            </a:r>
            <a:r>
              <a:rPr lang="it-IT" altLang="en-US" sz="4000" b="1" dirty="0" err="1"/>
              <a:t>g,m,L</a:t>
            </a:r>
            <a:r>
              <a:rPr lang="it-IT" altLang="en-US" sz="4000" b="1" dirty="0"/>
              <a:t>)    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 err="1"/>
              <a:t>Deci</a:t>
            </a:r>
            <a:r>
              <a:rPr lang="it-IT" altLang="en-US" sz="4000" b="1" dirty="0"/>
              <a:t>    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 err="1"/>
              <a:t>Centi</a:t>
            </a:r>
            <a:r>
              <a:rPr lang="it-IT" altLang="en-US" sz="4000" b="1" dirty="0"/>
              <a:t>     </a:t>
            </a:r>
            <a:r>
              <a:rPr lang="it-IT" altLang="en-US" sz="4000" b="1" dirty="0" smtClean="0"/>
              <a:t>    </a:t>
            </a:r>
            <a:r>
              <a:rPr lang="it-IT" altLang="en-US" sz="3600" b="1" dirty="0" err="1" smtClean="0"/>
              <a:t>Decrease</a:t>
            </a:r>
            <a:r>
              <a:rPr lang="it-IT" altLang="en-US" sz="3600" b="1" dirty="0" smtClean="0"/>
              <a:t> </a:t>
            </a:r>
            <a:r>
              <a:rPr lang="it-IT" altLang="en-US" sz="3600" b="1" dirty="0"/>
              <a:t>to Basic Unit</a:t>
            </a:r>
          </a:p>
          <a:p>
            <a:pPr marL="0" indent="0">
              <a:buFont typeface="Wingdings 2" charset="2"/>
              <a:buNone/>
            </a:pPr>
            <a:r>
              <a:rPr lang="it-IT" altLang="en-US" sz="4000" b="1" dirty="0"/>
              <a:t>Milli</a:t>
            </a:r>
          </a:p>
          <a:p>
            <a:pPr marL="0" indent="0">
              <a:buFont typeface="Wingdings 2" charset="2"/>
              <a:buNone/>
            </a:pPr>
            <a:endParaRPr lang="en-US" altLang="en-US" b="1" dirty="0"/>
          </a:p>
          <a:p>
            <a:pPr marL="0" indent="0">
              <a:buFont typeface="Wingdings 2" charset="2"/>
              <a:buNone/>
            </a:pPr>
            <a:endParaRPr lang="en-US" altLang="en-US" b="1" dirty="0"/>
          </a:p>
          <a:p>
            <a:pPr marL="0" indent="0">
              <a:buFont typeface="Wingdings 2" charset="2"/>
              <a:buNone/>
            </a:pPr>
            <a:endParaRPr lang="en-US" altLang="en-US" b="1" dirty="0"/>
          </a:p>
        </p:txBody>
      </p:sp>
      <p:sp>
        <p:nvSpPr>
          <p:cNvPr id="4" name="Right Brace 3"/>
          <p:cNvSpPr/>
          <p:nvPr/>
        </p:nvSpPr>
        <p:spPr>
          <a:xfrm>
            <a:off x="1547664" y="1472176"/>
            <a:ext cx="685800" cy="1600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buFont typeface="Wingdings" pitchFamily="2" charset="2"/>
              <a:buNone/>
              <a:defRPr/>
            </a:pPr>
            <a:endParaRPr lang="en-US"/>
          </a:p>
        </p:txBody>
      </p:sp>
      <p:pic>
        <p:nvPicPr>
          <p:cNvPr id="829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464" y="4510864"/>
            <a:ext cx="838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37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21971" y="692696"/>
            <a:ext cx="44127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The Fundamentals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88840"/>
            <a:ext cx="7575242" cy="15121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4005064"/>
            <a:ext cx="7991745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8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59832" y="548680"/>
            <a:ext cx="27783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Application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988840"/>
            <a:ext cx="8424936" cy="281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3407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Have YOU been doing your summaries?</a:t>
            </a:r>
            <a:endParaRPr lang="en-AU" dirty="0"/>
          </a:p>
        </p:txBody>
      </p:sp>
      <p:pic>
        <p:nvPicPr>
          <p:cNvPr id="5" name="Picture 4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86" y="270892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40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147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614727"/>
            <a:ext cx="0" cy="46945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3648" y="251154"/>
            <a:ext cx="250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Conversion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783730"/>
            <a:ext cx="8926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units of measurement are there and how do I convert between them?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38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555</Words>
  <Application>Microsoft Macintosh PowerPoint</Application>
  <PresentationFormat>On-screen Show (4:3)</PresentationFormat>
  <Paragraphs>186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Mangal</vt:lpstr>
      <vt:lpstr>Wingdings</vt:lpstr>
      <vt:lpstr>Wingdings 2</vt:lpstr>
      <vt:lpstr>Arial</vt:lpstr>
      <vt:lpstr>Office Theme</vt:lpstr>
      <vt:lpstr>My Shape and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Have YOU been doing your summaries?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93</cp:revision>
  <dcterms:created xsi:type="dcterms:W3CDTF">2014-05-14T02:58:57Z</dcterms:created>
  <dcterms:modified xsi:type="dcterms:W3CDTF">2017-06-18T06:25:01Z</dcterms:modified>
</cp:coreProperties>
</file>
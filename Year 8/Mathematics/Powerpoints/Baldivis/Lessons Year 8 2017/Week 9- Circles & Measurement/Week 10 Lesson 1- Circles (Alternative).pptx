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19" r:id="rId5"/>
    <p:sldId id="331" r:id="rId6"/>
    <p:sldId id="334" r:id="rId7"/>
    <p:sldId id="359" r:id="rId8"/>
    <p:sldId id="360" r:id="rId9"/>
    <p:sldId id="361" r:id="rId10"/>
    <p:sldId id="329" r:id="rId11"/>
    <p:sldId id="346" r:id="rId12"/>
    <p:sldId id="362" r:id="rId13"/>
    <p:sldId id="330" r:id="rId14"/>
    <p:sldId id="363" r:id="rId15"/>
    <p:sldId id="367" r:id="rId16"/>
    <p:sldId id="364" r:id="rId17"/>
    <p:sldId id="365" r:id="rId18"/>
    <p:sldId id="366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59" autoAdjust="0"/>
    <p:restoredTop sz="89165" autoAdjust="0"/>
  </p:normalViewPr>
  <p:slideViewPr>
    <p:cSldViewPr>
      <p:cViewPr varScale="1">
        <p:scale>
          <a:sx n="86" d="100"/>
          <a:sy n="86" d="100"/>
        </p:scale>
        <p:origin x="93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 of a circle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2D shape</a:t>
            </a:r>
          </a:p>
          <a:p>
            <a:r>
              <a:rPr lang="en-AU" dirty="0" smtClean="0"/>
              <a:t>1 edge</a:t>
            </a:r>
          </a:p>
          <a:p>
            <a:r>
              <a:rPr lang="en-AU" dirty="0" smtClean="0"/>
              <a:t>No corners</a:t>
            </a:r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3491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28860" y="1178703"/>
            <a:ext cx="4179123" cy="41225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Circumference and Radius.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4077072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518421" y="1910760"/>
            <a:ext cx="1583388" cy="14161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321549" y="2032518"/>
            <a:ext cx="12644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6636846" y="2116326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139659" y="1722108"/>
            <a:ext cx="2597863" cy="31470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4236" y="1864076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/>
          <p:nvPr/>
        </p:nvCxnSpPr>
        <p:spPr>
          <a:xfrm rot="16200000" flipH="1">
            <a:off x="2994324" y="1713258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7049" y="2089537"/>
            <a:ext cx="7501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/>
          <p:nvPr/>
        </p:nvCxnSpPr>
        <p:spPr>
          <a:xfrm rot="5400000" flipH="1" flipV="1">
            <a:off x="5550580" y="1995617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18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Its value is 3.14 (correct to 2dp). It is an irrational number (it has no equivalent fraction) and is a non terminating decimal.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88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Circle"/>
          <p:cNvPicPr>
            <a:picLocks noChangeAspect="1" noChangeArrowheads="1"/>
          </p:cNvPicPr>
          <p:nvPr/>
        </p:nvPicPr>
        <p:blipFill>
          <a:blip r:embed="rId2" cstate="print"/>
          <a:srcRect l="23916" t="27990" r="19976" b="13421"/>
          <a:stretch>
            <a:fillRect/>
          </a:stretch>
        </p:blipFill>
        <p:spPr bwMode="auto">
          <a:xfrm>
            <a:off x="22721" y="500500"/>
            <a:ext cx="9121279" cy="5952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1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107504" y="1052736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6444208" y="4797152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3347864" y="4941168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 l="20469" t="30155" r="63946" b="56615"/>
          <a:stretch>
            <a:fillRect/>
          </a:stretch>
        </p:blipFill>
        <p:spPr bwMode="auto">
          <a:xfrm>
            <a:off x="193160" y="4964864"/>
            <a:ext cx="257864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 l="20469" t="30155" r="63584" b="56615"/>
          <a:stretch>
            <a:fillRect/>
          </a:stretch>
        </p:blipFill>
        <p:spPr bwMode="auto">
          <a:xfrm>
            <a:off x="89359" y="2958315"/>
            <a:ext cx="263857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79512" y="3068960"/>
            <a:ext cx="136815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Diameter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251520" y="5085184"/>
            <a:ext cx="1152128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Radius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ubtitle 4"/>
          <p:cNvSpPr txBox="1">
            <a:spLocks/>
          </p:cNvSpPr>
          <p:nvPr/>
        </p:nvSpPr>
        <p:spPr>
          <a:xfrm>
            <a:off x="3419872" y="5085184"/>
            <a:ext cx="2160240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Circumference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ubtitle 5"/>
          <p:cNvSpPr txBox="1">
            <a:spLocks/>
          </p:cNvSpPr>
          <p:nvPr/>
        </p:nvSpPr>
        <p:spPr>
          <a:xfrm>
            <a:off x="6444208" y="4941168"/>
            <a:ext cx="1224136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Tangent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Definition 2"/>
          <p:cNvSpPr txBox="1">
            <a:spLocks/>
          </p:cNvSpPr>
          <p:nvPr/>
        </p:nvSpPr>
        <p:spPr>
          <a:xfrm>
            <a:off x="107504" y="3501008"/>
            <a:ext cx="2520280" cy="720080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distance across a circle through its centre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Definition 3"/>
          <p:cNvSpPr txBox="1">
            <a:spLocks/>
          </p:cNvSpPr>
          <p:nvPr/>
        </p:nvSpPr>
        <p:spPr>
          <a:xfrm>
            <a:off x="251520" y="5555869"/>
            <a:ext cx="2520280" cy="720080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fontScale="92500"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distance from the centre to the edge – it’s half of the diameter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Definition 4"/>
          <p:cNvSpPr txBox="1">
            <a:spLocks/>
          </p:cNvSpPr>
          <p:nvPr/>
        </p:nvSpPr>
        <p:spPr>
          <a:xfrm>
            <a:off x="3394114" y="5542990"/>
            <a:ext cx="2520280" cy="753451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distance around a circle – a posh word for perimeter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Definition 5"/>
          <p:cNvSpPr txBox="1">
            <a:spLocks/>
          </p:cNvSpPr>
          <p:nvPr/>
        </p:nvSpPr>
        <p:spPr>
          <a:xfrm>
            <a:off x="6444208" y="5386095"/>
            <a:ext cx="2520280" cy="753451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 fontScale="92500"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A straight line that touches ONLY one point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ubtitle 1"/>
          <p:cNvSpPr txBox="1">
            <a:spLocks/>
          </p:cNvSpPr>
          <p:nvPr/>
        </p:nvSpPr>
        <p:spPr>
          <a:xfrm>
            <a:off x="179512" y="1124744"/>
            <a:ext cx="1584176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Semicircle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Definition 1"/>
          <p:cNvSpPr txBox="1">
            <a:spLocks/>
          </p:cNvSpPr>
          <p:nvPr/>
        </p:nvSpPr>
        <p:spPr>
          <a:xfrm>
            <a:off x="179512" y="1628800"/>
            <a:ext cx="2195736" cy="432048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One half of a circle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1660" y="71201"/>
            <a:ext cx="633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Other Parts of a Circle </a:t>
            </a:r>
            <a:r>
              <a:rPr lang="mr-IN" sz="2800" dirty="0" smtClean="0"/>
              <a:t>–</a:t>
            </a:r>
            <a:r>
              <a:rPr lang="en-US" sz="2800" dirty="0" smtClean="0"/>
              <a:t> For our Glossaries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1708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5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ircle"/>
          <p:cNvPicPr>
            <a:picLocks noChangeAspect="1" noChangeArrowheads="1"/>
          </p:cNvPicPr>
          <p:nvPr/>
        </p:nvPicPr>
        <p:blipFill>
          <a:blip r:embed="rId2" cstate="print"/>
          <a:srcRect l="25700" t="31770" r="24700" b="10000"/>
          <a:stretch>
            <a:fillRect/>
          </a:stretch>
        </p:blipFill>
        <p:spPr bwMode="auto">
          <a:xfrm>
            <a:off x="312141" y="413130"/>
            <a:ext cx="8652347" cy="634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/>
          <p:cNvPicPr>
            <a:picLocks noChangeAspect="1" noChangeArrowheads="1"/>
          </p:cNvPicPr>
          <p:nvPr/>
        </p:nvPicPr>
        <p:blipFill>
          <a:blip r:embed="rId3" cstate="print"/>
          <a:srcRect l="56990" t="54450" r="27063" b="32320"/>
          <a:stretch>
            <a:fillRect/>
          </a:stretch>
        </p:blipFill>
        <p:spPr bwMode="auto">
          <a:xfrm>
            <a:off x="5790198" y="2744548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3"/>
          <p:cNvPicPr>
            <a:picLocks noChangeAspect="1" noChangeArrowheads="1"/>
          </p:cNvPicPr>
          <p:nvPr/>
        </p:nvPicPr>
        <p:blipFill>
          <a:blip r:embed="rId3" cstate="print"/>
          <a:srcRect l="56990" t="54450" r="27063" b="32320"/>
          <a:stretch>
            <a:fillRect/>
          </a:stretch>
        </p:blipFill>
        <p:spPr bwMode="auto">
          <a:xfrm>
            <a:off x="4932040" y="4707330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"/>
          <p:cNvPicPr>
            <a:picLocks noChangeAspect="1" noChangeArrowheads="1"/>
          </p:cNvPicPr>
          <p:nvPr/>
        </p:nvPicPr>
        <p:blipFill>
          <a:blip r:embed="rId3" cstate="print"/>
          <a:srcRect l="57384" t="54450" r="27063" b="32320"/>
          <a:stretch>
            <a:fillRect/>
          </a:stretch>
        </p:blipFill>
        <p:spPr bwMode="auto">
          <a:xfrm>
            <a:off x="5826578" y="633316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3" cstate="print"/>
          <a:srcRect l="57384" t="54450" r="27063" b="32320"/>
          <a:stretch>
            <a:fillRect/>
          </a:stretch>
        </p:blipFill>
        <p:spPr bwMode="auto">
          <a:xfrm>
            <a:off x="1043608" y="4941168"/>
            <a:ext cx="2916324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Subtitle 1"/>
          <p:cNvSpPr txBox="1">
            <a:spLocks/>
          </p:cNvSpPr>
          <p:nvPr/>
        </p:nvSpPr>
        <p:spPr>
          <a:xfrm>
            <a:off x="5909128" y="810954"/>
            <a:ext cx="82311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Arc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Definition 1"/>
          <p:cNvSpPr txBox="1">
            <a:spLocks/>
          </p:cNvSpPr>
          <p:nvPr/>
        </p:nvSpPr>
        <p:spPr>
          <a:xfrm>
            <a:off x="5909128" y="1243002"/>
            <a:ext cx="2664296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One of the two parts between two points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5870491" y="2840057"/>
            <a:ext cx="1221789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Sector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Subtitle 3"/>
          <p:cNvSpPr txBox="1">
            <a:spLocks/>
          </p:cNvSpPr>
          <p:nvPr/>
        </p:nvSpPr>
        <p:spPr>
          <a:xfrm>
            <a:off x="4957798" y="4817644"/>
            <a:ext cx="1054362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Chord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Subtitle 4"/>
          <p:cNvSpPr txBox="1">
            <a:spLocks/>
          </p:cNvSpPr>
          <p:nvPr/>
        </p:nvSpPr>
        <p:spPr>
          <a:xfrm>
            <a:off x="1102737" y="5059426"/>
            <a:ext cx="1525047" cy="360040"/>
          </a:xfrm>
          <a:prstGeom prst="rect">
            <a:avLst/>
          </a:prstGeom>
        </p:spPr>
        <p:txBody>
          <a:bodyPr vert="horz" tIns="0" rIns="45720" bIns="0" anchor="b">
            <a:normAutofit lnSpcReduction="10000"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Segment</a:t>
            </a:r>
            <a:endParaRPr kumimoji="0" lang="en-GB" sz="240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Definition 2"/>
          <p:cNvSpPr txBox="1">
            <a:spLocks/>
          </p:cNvSpPr>
          <p:nvPr/>
        </p:nvSpPr>
        <p:spPr>
          <a:xfrm>
            <a:off x="5870491" y="3390363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portion between two radii and an arc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Definition 3"/>
          <p:cNvSpPr txBox="1">
            <a:spLocks/>
          </p:cNvSpPr>
          <p:nvPr/>
        </p:nvSpPr>
        <p:spPr>
          <a:xfrm>
            <a:off x="4980637" y="5306474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A straight line which joins two parts of the circumference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Definition 4"/>
          <p:cNvSpPr txBox="1">
            <a:spLocks/>
          </p:cNvSpPr>
          <p:nvPr/>
        </p:nvSpPr>
        <p:spPr>
          <a:xfrm>
            <a:off x="1084592" y="5530111"/>
            <a:ext cx="2736304" cy="864096"/>
          </a:xfrm>
          <a:prstGeom prst="rect">
            <a:avLst/>
          </a:prstGeom>
          <a:solidFill>
            <a:schemeClr val="tx1"/>
          </a:solidFill>
        </p:spPr>
        <p:txBody>
          <a:bodyPr vert="horz" tIns="0" rIns="45720" bIns="0" anchor="t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en-GB" dirty="0" smtClean="0">
                <a:solidFill>
                  <a:schemeClr val="bg1"/>
                </a:solidFill>
              </a:rPr>
              <a:t>The region of a circle between a chord and an arc</a:t>
            </a:r>
            <a:endParaRPr kumimoji="0" lang="en-GB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20480" y="98730"/>
            <a:ext cx="6332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Other Parts of a Circle </a:t>
            </a:r>
            <a:r>
              <a:rPr lang="mr-IN" sz="2800" dirty="0" smtClean="0"/>
              <a:t>–</a:t>
            </a:r>
            <a:r>
              <a:rPr lang="en-US" sz="2800" dirty="0" smtClean="0"/>
              <a:t> For our Glossaries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611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00808"/>
            <a:ext cx="6350000" cy="476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235" y="116632"/>
            <a:ext cx="7416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Complete Parts of a Circle Handout</a:t>
            </a:r>
            <a:r>
              <a:rPr lang="en-US" sz="2800" smtClean="0"/>
              <a:t>: Label them, then cut </a:t>
            </a:r>
            <a:r>
              <a:rPr lang="en-US" sz="2800" dirty="0" smtClean="0"/>
              <a:t>out and Paste </a:t>
            </a:r>
          </a:p>
          <a:p>
            <a:pPr algn="ctr"/>
            <a:r>
              <a:rPr lang="en-US" sz="2800" dirty="0" smtClean="0"/>
              <a:t>both in your INB’s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239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did we learn from last lesson?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41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43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40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79" y="4234906"/>
            <a:ext cx="7024480" cy="3680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79" y="5178349"/>
            <a:ext cx="5565725" cy="4211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769" y="1463627"/>
            <a:ext cx="6369764" cy="25343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61575" y="2453171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14.01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÷ 4.46 = 3.14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1574" y="2805589"/>
            <a:ext cx="2050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37.32 ÷ 11.88 = 3.14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52121" y="3158007"/>
            <a:ext cx="2250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128.76 ÷ 40.99 = 3.14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578" y="4714855"/>
            <a:ext cx="6878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When measured very, very accurately, they’re all equal to 3.14……..</a:t>
            </a:r>
            <a:r>
              <a:rPr lang="el-G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5577" y="5598816"/>
            <a:ext cx="6878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÷ d = </a:t>
            </a:r>
            <a:r>
              <a:rPr lang="el-G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	Therefore…	d x </a:t>
            </a:r>
            <a:r>
              <a:rPr lang="el-G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= C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5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do some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05660"/>
            <a:ext cx="6912768" cy="1898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2" y="3717032"/>
            <a:ext cx="2592288" cy="1869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881" y="3717032"/>
            <a:ext cx="2503479" cy="1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5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9" y="1314109"/>
            <a:ext cx="8413259" cy="3891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149080"/>
            <a:ext cx="7931224" cy="20091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32" y="1772816"/>
            <a:ext cx="8259568" cy="173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9" y="1314109"/>
            <a:ext cx="8413259" cy="3891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149080"/>
            <a:ext cx="7931224" cy="20091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32" y="1772816"/>
            <a:ext cx="8259568" cy="17399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6156285"/>
            <a:ext cx="49720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4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 of Area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Area is the amount of space inside a shape and is measured in units squared (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AU" dirty="0" smtClean="0"/>
              <a:t>cm</a:t>
            </a:r>
            <a:r>
              <a:rPr lang="en-AU" baseline="30000" dirty="0" smtClean="0"/>
              <a:t>2</a:t>
            </a:r>
            <a:r>
              <a:rPr lang="en-AU" dirty="0" smtClean="0"/>
              <a:t>, </a:t>
            </a:r>
            <a:r>
              <a:rPr lang="en-AU" dirty="0"/>
              <a:t>m</a:t>
            </a:r>
            <a:r>
              <a:rPr lang="en-AU" baseline="30000" dirty="0"/>
              <a:t>2</a:t>
            </a:r>
            <a:r>
              <a:rPr lang="en-US" dirty="0" smtClean="0"/>
              <a:t>)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6850"/>
            <a:ext cx="3971925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476" y="2882077"/>
            <a:ext cx="2645165" cy="1106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4115479"/>
            <a:ext cx="8572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190" y="4462037"/>
            <a:ext cx="2466975" cy="1181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039" y="5704277"/>
            <a:ext cx="123825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6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3200344" y="6136870"/>
            <a:ext cx="565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*you must square the radius first.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do some together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29" y="1417638"/>
            <a:ext cx="3759237" cy="4271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29" y="1844824"/>
            <a:ext cx="2294530" cy="20908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29" y="3935634"/>
            <a:ext cx="2294530" cy="15143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259" y="1838068"/>
            <a:ext cx="1872208" cy="20975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467" y="1838068"/>
            <a:ext cx="2618682" cy="16653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467" y="3455456"/>
            <a:ext cx="1895480" cy="24405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107" y="3934209"/>
            <a:ext cx="1883359" cy="196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6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9" y="1314109"/>
            <a:ext cx="8413259" cy="3891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72" y="1838830"/>
            <a:ext cx="8047115" cy="18077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64" y="3933056"/>
            <a:ext cx="7429500" cy="2124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3953687"/>
            <a:ext cx="2160240" cy="1460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60" y="4077072"/>
            <a:ext cx="2496277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7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</a:p>
          <a:p>
            <a:r>
              <a:rPr lang="en-US" dirty="0" smtClean="0"/>
              <a:t>Don’t forget your </a:t>
            </a:r>
            <a:r>
              <a:rPr lang="en-US" dirty="0" err="1" smtClean="0"/>
              <a:t>Mathspace</a:t>
            </a:r>
            <a:r>
              <a:rPr lang="en-US" smtClean="0"/>
              <a:t> work!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2202</TotalTime>
  <Words>705</Words>
  <Application>Microsoft Office PowerPoint</Application>
  <PresentationFormat>On-screen Show (4:3)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Mangal</vt:lpstr>
      <vt:lpstr>Office Theme</vt:lpstr>
      <vt:lpstr>My Shape and Measurement Interactive Notebook</vt:lpstr>
      <vt:lpstr>PowerPoint Presentation</vt:lpstr>
      <vt:lpstr>PowerPoint Presentation</vt:lpstr>
      <vt:lpstr>Definition of a circle</vt:lpstr>
      <vt:lpstr>Circumference and Radius.</vt:lpstr>
      <vt:lpstr>PowerPoint Presentation</vt:lpstr>
      <vt:lpstr>PowerPoint Presentation</vt:lpstr>
      <vt:lpstr>PowerPoint Presentation</vt:lpstr>
      <vt:lpstr>PowerPoint Presentation</vt:lpstr>
      <vt:lpstr>What did we learn from last lesson?</vt:lpstr>
      <vt:lpstr>PowerPoint Presentation</vt:lpstr>
      <vt:lpstr>Let’s do some together</vt:lpstr>
      <vt:lpstr>Now you try</vt:lpstr>
      <vt:lpstr>Now you try</vt:lpstr>
      <vt:lpstr>Reminder of Area</vt:lpstr>
      <vt:lpstr>PowerPoint Presentation</vt:lpstr>
      <vt:lpstr>Let’s do some together</vt:lpstr>
      <vt:lpstr>Now you try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85</cp:revision>
  <dcterms:created xsi:type="dcterms:W3CDTF">2014-05-14T02:58:57Z</dcterms:created>
  <dcterms:modified xsi:type="dcterms:W3CDTF">2017-06-24T03:43:27Z</dcterms:modified>
</cp:coreProperties>
</file>
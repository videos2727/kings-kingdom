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259" r:id="rId3"/>
    <p:sldId id="258" r:id="rId4"/>
    <p:sldId id="303" r:id="rId5"/>
    <p:sldId id="319" r:id="rId6"/>
    <p:sldId id="332" r:id="rId7"/>
    <p:sldId id="331" r:id="rId8"/>
    <p:sldId id="344" r:id="rId9"/>
    <p:sldId id="343" r:id="rId10"/>
    <p:sldId id="342" r:id="rId11"/>
    <p:sldId id="341" r:id="rId12"/>
    <p:sldId id="340" r:id="rId13"/>
    <p:sldId id="339" r:id="rId14"/>
    <p:sldId id="338" r:id="rId15"/>
    <p:sldId id="337" r:id="rId16"/>
    <p:sldId id="362" r:id="rId17"/>
    <p:sldId id="361" r:id="rId18"/>
    <p:sldId id="359" r:id="rId19"/>
    <p:sldId id="360" r:id="rId20"/>
    <p:sldId id="329" r:id="rId21"/>
    <p:sldId id="292" r:id="rId22"/>
    <p:sldId id="29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62" autoAdjust="0"/>
    <p:restoredTop sz="89165" autoAdjust="0"/>
  </p:normalViewPr>
  <p:slideViewPr>
    <p:cSldViewPr>
      <p:cViewPr varScale="1">
        <p:scale>
          <a:sx n="129" d="100"/>
          <a:sy n="129" d="100"/>
        </p:scale>
        <p:origin x="157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20/6/17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20/6/17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Shape and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Mrs Keen</a:t>
            </a:r>
          </a:p>
          <a:p>
            <a:pPr algn="l"/>
            <a:r>
              <a:rPr lang="en-AU" dirty="0" smtClean="0"/>
              <a:t>Semester 1</a:t>
            </a:r>
          </a:p>
          <a:p>
            <a:pPr algn="l"/>
            <a:r>
              <a:rPr lang="en-AU" dirty="0" smtClean="0"/>
              <a:t>Term 2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5" name="Picture 4" descr="https://encrypted-tbn3.gstatic.com/images?q=tbn:ANd9GcQalickAZJxP16UO8A0LbBxeXtkHiUS7YDCPV2AjNF2_0WMm1D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04999"/>
            <a:ext cx="230505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Definition of a circle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2D shape</a:t>
            </a:r>
          </a:p>
          <a:p>
            <a:r>
              <a:rPr lang="en-AU" dirty="0" smtClean="0"/>
              <a:t>1 edge</a:t>
            </a:r>
          </a:p>
          <a:p>
            <a:r>
              <a:rPr lang="en-AU" dirty="0" smtClean="0"/>
              <a:t>No corners</a:t>
            </a:r>
            <a:endParaRPr lang="en-AU" dirty="0"/>
          </a:p>
        </p:txBody>
      </p:sp>
      <p:sp>
        <p:nvSpPr>
          <p:cNvPr id="5" name="Oval 4"/>
          <p:cNvSpPr/>
          <p:nvPr/>
        </p:nvSpPr>
        <p:spPr>
          <a:xfrm>
            <a:off x="3491880" y="1844824"/>
            <a:ext cx="2160240" cy="2160240"/>
          </a:xfrm>
          <a:prstGeom prst="ellipse">
            <a:avLst/>
          </a:prstGeom>
          <a:solidFill>
            <a:srgbClr val="92D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8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26966" y="1992643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77896" y="197350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453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28860" y="1178703"/>
            <a:ext cx="4179123" cy="46077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Circumference and Radius.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4077072"/>
            <a:ext cx="6172200" cy="1709382"/>
          </a:xfrm>
        </p:spPr>
        <p:txBody>
          <a:bodyPr>
            <a:normAutofit fontScale="92500" lnSpcReduction="20000"/>
          </a:bodyPr>
          <a:lstStyle/>
          <a:p>
            <a:r>
              <a:rPr lang="en-AU" sz="1800" dirty="0"/>
              <a:t>The </a:t>
            </a:r>
            <a:r>
              <a:rPr lang="en-AU" sz="1800" b="1" dirty="0">
                <a:solidFill>
                  <a:srgbClr val="FF0000"/>
                </a:solidFill>
              </a:rPr>
              <a:t>circumference</a:t>
            </a:r>
            <a:r>
              <a:rPr lang="en-AU" sz="1800" dirty="0"/>
              <a:t> of a circle is the boundary of the circle.</a:t>
            </a:r>
          </a:p>
          <a:p>
            <a:r>
              <a:rPr lang="en-AU" sz="1800" dirty="0"/>
              <a:t>A line segment drawn from the centre of a circle to the circumference is the </a:t>
            </a:r>
            <a:r>
              <a:rPr lang="en-AU" sz="1800" b="1" dirty="0">
                <a:solidFill>
                  <a:srgbClr val="FF0000"/>
                </a:solidFill>
              </a:rPr>
              <a:t>radius</a:t>
            </a:r>
            <a:r>
              <a:rPr lang="en-AU" sz="1800" dirty="0">
                <a:solidFill>
                  <a:srgbClr val="FF0000"/>
                </a:solidFill>
              </a:rPr>
              <a:t>. </a:t>
            </a:r>
            <a:r>
              <a:rPr lang="en-AU" sz="1800" dirty="0">
                <a:solidFill>
                  <a:srgbClr val="002060"/>
                </a:solidFill>
              </a:rPr>
              <a:t>Every radius in a circle is equal in length.</a:t>
            </a:r>
          </a:p>
          <a:p>
            <a:r>
              <a:rPr lang="en-AU" sz="1800" dirty="0"/>
              <a:t>A line segment drawn through the centre from one side of a circle to its opposite side is called the </a:t>
            </a:r>
            <a:r>
              <a:rPr lang="en-AU" sz="1800" b="1" dirty="0">
                <a:solidFill>
                  <a:srgbClr val="FF0000"/>
                </a:solidFill>
              </a:rPr>
              <a:t>diameter.</a:t>
            </a:r>
            <a:r>
              <a:rPr lang="en-AU" sz="1800" dirty="0">
                <a:solidFill>
                  <a:srgbClr val="FF0000"/>
                </a:solidFill>
              </a:rPr>
              <a:t> </a:t>
            </a:r>
            <a:r>
              <a:rPr lang="en-AU" sz="1800" dirty="0"/>
              <a:t> </a:t>
            </a:r>
            <a:r>
              <a:rPr lang="en-AU" sz="1800" dirty="0">
                <a:solidFill>
                  <a:srgbClr val="002060"/>
                </a:solidFill>
              </a:rPr>
              <a:t>It is double the length of the radius.</a:t>
            </a:r>
          </a:p>
        </p:txBody>
      </p:sp>
      <p:cxnSp>
        <p:nvCxnSpPr>
          <p:cNvPr id="9" name="Straight Arrow Connector 8"/>
          <p:cNvCxnSpPr>
            <a:endCxn id="4" idx="7"/>
          </p:cNvCxnSpPr>
          <p:nvPr/>
        </p:nvCxnSpPr>
        <p:spPr>
          <a:xfrm rot="5400000" flipH="1" flipV="1">
            <a:off x="4389072" y="2036423"/>
            <a:ext cx="1789822" cy="14239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86512" y="2035959"/>
            <a:ext cx="11787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circumference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hape 6"/>
          <p:cNvCxnSpPr/>
          <p:nvPr/>
        </p:nvCxnSpPr>
        <p:spPr>
          <a:xfrm rot="5400000">
            <a:off x="6558958" y="2084984"/>
            <a:ext cx="151629" cy="4822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1"/>
          </p:cNvCxnSpPr>
          <p:nvPr/>
        </p:nvCxnSpPr>
        <p:spPr>
          <a:xfrm rot="16200000" flipH="1">
            <a:off x="2804372" y="2090001"/>
            <a:ext cx="3343598" cy="28705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07389" y="1928802"/>
            <a:ext cx="8572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diameter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Shape 13"/>
          <p:cNvCxnSpPr>
            <a:stCxn id="12" idx="2"/>
          </p:cNvCxnSpPr>
          <p:nvPr/>
        </p:nvCxnSpPr>
        <p:spPr>
          <a:xfrm rot="16200000" flipH="1">
            <a:off x="2927161" y="1837739"/>
            <a:ext cx="128546" cy="9108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47049" y="2089537"/>
            <a:ext cx="5893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radius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Shape 16"/>
          <p:cNvCxnSpPr>
            <a:stCxn id="15" idx="2"/>
          </p:cNvCxnSpPr>
          <p:nvPr/>
        </p:nvCxnSpPr>
        <p:spPr>
          <a:xfrm rot="5400000" flipH="1" flipV="1">
            <a:off x="5295893" y="2410426"/>
            <a:ext cx="132780" cy="241104"/>
          </a:xfrm>
          <a:prstGeom prst="bentConnector4">
            <a:avLst>
              <a:gd name="adj1" fmla="val -172164"/>
              <a:gd name="adj2" fmla="val -21703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7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346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328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536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42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489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764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682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698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Circle"/>
          <p:cNvPicPr>
            <a:picLocks noChangeAspect="1" noChangeArrowheads="1"/>
          </p:cNvPicPr>
          <p:nvPr/>
        </p:nvPicPr>
        <p:blipFill>
          <a:blip r:embed="rId2" cstate="print"/>
          <a:srcRect l="23916" t="27990" r="19976" b="13421"/>
          <a:stretch>
            <a:fillRect/>
          </a:stretch>
        </p:blipFill>
        <p:spPr bwMode="auto">
          <a:xfrm>
            <a:off x="22721" y="500500"/>
            <a:ext cx="9121279" cy="5952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1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107504" y="1052736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6444208" y="4797152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3347864" y="4941168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 cstate="print"/>
          <a:srcRect l="20469" t="30155" r="63946" b="56615"/>
          <a:stretch>
            <a:fillRect/>
          </a:stretch>
        </p:blipFill>
        <p:spPr bwMode="auto">
          <a:xfrm>
            <a:off x="193160" y="4964864"/>
            <a:ext cx="2578640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89359" y="2958315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79512" y="3068960"/>
            <a:ext cx="1368152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Diameter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251520" y="5085184"/>
            <a:ext cx="1152128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Radius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Subtitle 4"/>
          <p:cNvSpPr txBox="1">
            <a:spLocks/>
          </p:cNvSpPr>
          <p:nvPr/>
        </p:nvSpPr>
        <p:spPr>
          <a:xfrm>
            <a:off x="3419872" y="5085184"/>
            <a:ext cx="2160240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Circumference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ubtitle 5"/>
          <p:cNvSpPr txBox="1">
            <a:spLocks/>
          </p:cNvSpPr>
          <p:nvPr/>
        </p:nvSpPr>
        <p:spPr>
          <a:xfrm>
            <a:off x="6444208" y="4941168"/>
            <a:ext cx="1224136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Tangent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Definition 2"/>
          <p:cNvSpPr txBox="1">
            <a:spLocks/>
          </p:cNvSpPr>
          <p:nvPr/>
        </p:nvSpPr>
        <p:spPr>
          <a:xfrm>
            <a:off x="107504" y="3501008"/>
            <a:ext cx="2520280" cy="720080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The distance across a circle through its centre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Definition 3"/>
          <p:cNvSpPr txBox="1">
            <a:spLocks/>
          </p:cNvSpPr>
          <p:nvPr/>
        </p:nvSpPr>
        <p:spPr>
          <a:xfrm>
            <a:off x="251520" y="5555869"/>
            <a:ext cx="2520280" cy="720080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 fontScale="92500"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The distance from the centre to the edge – it’s half of the diameter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Definition 4"/>
          <p:cNvSpPr txBox="1">
            <a:spLocks/>
          </p:cNvSpPr>
          <p:nvPr/>
        </p:nvSpPr>
        <p:spPr>
          <a:xfrm>
            <a:off x="3394114" y="5542990"/>
            <a:ext cx="2520280" cy="753451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The distance around a circle – a posh word for perimeter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Definition 5"/>
          <p:cNvSpPr txBox="1">
            <a:spLocks/>
          </p:cNvSpPr>
          <p:nvPr/>
        </p:nvSpPr>
        <p:spPr>
          <a:xfrm>
            <a:off x="6444208" y="5386095"/>
            <a:ext cx="2520280" cy="753451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 fontScale="92500"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A straight line that touches ONLY one point of the circumference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ubtitle 1"/>
          <p:cNvSpPr txBox="1">
            <a:spLocks/>
          </p:cNvSpPr>
          <p:nvPr/>
        </p:nvSpPr>
        <p:spPr>
          <a:xfrm>
            <a:off x="179512" y="1124744"/>
            <a:ext cx="1584176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Semicircle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Definition 1"/>
          <p:cNvSpPr txBox="1">
            <a:spLocks/>
          </p:cNvSpPr>
          <p:nvPr/>
        </p:nvSpPr>
        <p:spPr>
          <a:xfrm>
            <a:off x="179512" y="1628800"/>
            <a:ext cx="2195736" cy="432048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One half of a circle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1660" y="71201"/>
            <a:ext cx="6332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Other Parts of a Circle </a:t>
            </a:r>
            <a:r>
              <a:rPr lang="mr-IN" sz="2800" dirty="0" smtClean="0"/>
              <a:t>–</a:t>
            </a:r>
            <a:r>
              <a:rPr lang="en-US" sz="2800" dirty="0" smtClean="0"/>
              <a:t> For our Glossaries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1321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3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5" grpId="0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Circle"/>
          <p:cNvPicPr>
            <a:picLocks noChangeAspect="1" noChangeArrowheads="1"/>
          </p:cNvPicPr>
          <p:nvPr/>
        </p:nvPicPr>
        <p:blipFill>
          <a:blip r:embed="rId2" cstate="print"/>
          <a:srcRect l="25700" t="31770" r="24700" b="10000"/>
          <a:stretch>
            <a:fillRect/>
          </a:stretch>
        </p:blipFill>
        <p:spPr bwMode="auto">
          <a:xfrm>
            <a:off x="312141" y="413130"/>
            <a:ext cx="8652347" cy="634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/>
          <p:cNvPicPr>
            <a:picLocks noChangeAspect="1" noChangeArrowheads="1"/>
          </p:cNvPicPr>
          <p:nvPr/>
        </p:nvPicPr>
        <p:blipFill>
          <a:blip r:embed="rId3" cstate="print"/>
          <a:srcRect l="56990" t="54450" r="27063" b="32320"/>
          <a:stretch>
            <a:fillRect/>
          </a:stretch>
        </p:blipFill>
        <p:spPr bwMode="auto">
          <a:xfrm>
            <a:off x="5790198" y="2744548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3"/>
          <p:cNvPicPr>
            <a:picLocks noChangeAspect="1" noChangeArrowheads="1"/>
          </p:cNvPicPr>
          <p:nvPr/>
        </p:nvPicPr>
        <p:blipFill>
          <a:blip r:embed="rId3" cstate="print"/>
          <a:srcRect l="56990" t="54450" r="27063" b="32320"/>
          <a:stretch>
            <a:fillRect/>
          </a:stretch>
        </p:blipFill>
        <p:spPr bwMode="auto">
          <a:xfrm>
            <a:off x="4932040" y="4707330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1"/>
          <p:cNvPicPr>
            <a:picLocks noChangeAspect="1" noChangeArrowheads="1"/>
          </p:cNvPicPr>
          <p:nvPr/>
        </p:nvPicPr>
        <p:blipFill>
          <a:blip r:embed="rId3" cstate="print"/>
          <a:srcRect l="57384" t="54450" r="27063" b="32320"/>
          <a:stretch>
            <a:fillRect/>
          </a:stretch>
        </p:blipFill>
        <p:spPr bwMode="auto">
          <a:xfrm>
            <a:off x="5826578" y="633316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3" cstate="print"/>
          <a:srcRect l="57384" t="54450" r="27063" b="32320"/>
          <a:stretch>
            <a:fillRect/>
          </a:stretch>
        </p:blipFill>
        <p:spPr bwMode="auto">
          <a:xfrm>
            <a:off x="1043608" y="4941168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Subtitle 1"/>
          <p:cNvSpPr txBox="1">
            <a:spLocks/>
          </p:cNvSpPr>
          <p:nvPr/>
        </p:nvSpPr>
        <p:spPr>
          <a:xfrm>
            <a:off x="5909128" y="810954"/>
            <a:ext cx="823112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Arc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Definition 1"/>
          <p:cNvSpPr txBox="1">
            <a:spLocks/>
          </p:cNvSpPr>
          <p:nvPr/>
        </p:nvSpPr>
        <p:spPr>
          <a:xfrm>
            <a:off x="5909128" y="1243002"/>
            <a:ext cx="2664296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One of the two parts between two points of the circumference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Subtitle 2"/>
          <p:cNvSpPr txBox="1">
            <a:spLocks/>
          </p:cNvSpPr>
          <p:nvPr/>
        </p:nvSpPr>
        <p:spPr>
          <a:xfrm>
            <a:off x="5870491" y="2840057"/>
            <a:ext cx="1221789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Sector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Subtitle 3"/>
          <p:cNvSpPr txBox="1">
            <a:spLocks/>
          </p:cNvSpPr>
          <p:nvPr/>
        </p:nvSpPr>
        <p:spPr>
          <a:xfrm>
            <a:off x="4957798" y="4817644"/>
            <a:ext cx="1054362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Chord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Subtitle 4"/>
          <p:cNvSpPr txBox="1">
            <a:spLocks/>
          </p:cNvSpPr>
          <p:nvPr/>
        </p:nvSpPr>
        <p:spPr>
          <a:xfrm>
            <a:off x="1102737" y="5059426"/>
            <a:ext cx="1525047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Segment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Definition 2"/>
          <p:cNvSpPr txBox="1">
            <a:spLocks/>
          </p:cNvSpPr>
          <p:nvPr/>
        </p:nvSpPr>
        <p:spPr>
          <a:xfrm>
            <a:off x="5870491" y="3390363"/>
            <a:ext cx="2736304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The portion between two radii and an arc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Definition 3"/>
          <p:cNvSpPr txBox="1">
            <a:spLocks/>
          </p:cNvSpPr>
          <p:nvPr/>
        </p:nvSpPr>
        <p:spPr>
          <a:xfrm>
            <a:off x="4980637" y="5306474"/>
            <a:ext cx="2736304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A straight line which joins two parts of the circumference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Definition 4"/>
          <p:cNvSpPr txBox="1">
            <a:spLocks/>
          </p:cNvSpPr>
          <p:nvPr/>
        </p:nvSpPr>
        <p:spPr>
          <a:xfrm>
            <a:off x="1084592" y="5530111"/>
            <a:ext cx="2736304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The region of a circle between a chord and an arc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20480" y="98730"/>
            <a:ext cx="6332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Other Parts of a Circle </a:t>
            </a:r>
            <a:r>
              <a:rPr lang="mr-IN" sz="2800" dirty="0" smtClean="0"/>
              <a:t>–</a:t>
            </a:r>
            <a:r>
              <a:rPr lang="en-US" sz="2800" dirty="0" smtClean="0"/>
              <a:t> For our Glossaries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573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700808"/>
            <a:ext cx="6350000" cy="476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235" y="116632"/>
            <a:ext cx="74168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Complete Parts of a Circle Handout</a:t>
            </a:r>
            <a:r>
              <a:rPr lang="en-US" sz="2800" smtClean="0"/>
              <a:t>: Label them, then cut </a:t>
            </a:r>
            <a:r>
              <a:rPr lang="en-US" sz="2800" dirty="0" smtClean="0"/>
              <a:t>out and Paste </a:t>
            </a:r>
          </a:p>
          <a:p>
            <a:pPr algn="ctr"/>
            <a:r>
              <a:rPr lang="en-US" sz="2800" dirty="0" smtClean="0"/>
              <a:t>both in your INB’s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185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1" y="0"/>
            <a:ext cx="6135836" cy="678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32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Expansion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12" y="1974250"/>
            <a:ext cx="8460376" cy="2909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1812" y="3356992"/>
            <a:ext cx="3942156" cy="4320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1043608" y="2974866"/>
            <a:ext cx="3240360" cy="3821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4572000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5940152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63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855</Words>
  <Application>Microsoft Macintosh PowerPoint</Application>
  <PresentationFormat>On-screen Show (4:3)</PresentationFormat>
  <Paragraphs>178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Mangal</vt:lpstr>
      <vt:lpstr>Arial</vt:lpstr>
      <vt:lpstr>Calibri</vt:lpstr>
      <vt:lpstr>Office Theme</vt:lpstr>
      <vt:lpstr>My Shape and Measurement Interactive Notebook</vt:lpstr>
      <vt:lpstr>PowerPoint Presentation</vt:lpstr>
      <vt:lpstr>PowerPoint Presentation</vt:lpstr>
      <vt:lpstr>PowerPoint Presentation</vt:lpstr>
      <vt:lpstr>Definition of a circle</vt:lpstr>
      <vt:lpstr>PowerPoint Presentation</vt:lpstr>
      <vt:lpstr>Circumference and Radius.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Expansion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78</cp:revision>
  <dcterms:created xsi:type="dcterms:W3CDTF">2014-05-14T02:58:57Z</dcterms:created>
  <dcterms:modified xsi:type="dcterms:W3CDTF">2017-06-20T13:01:07Z</dcterms:modified>
</cp:coreProperties>
</file>
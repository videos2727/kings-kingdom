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rels" ContentType="application/vnd.openxmlformats-package.relationships+xml"/>
  <Default Extension="emf" ContentType="image/x-em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7"/>
  </p:notesMasterIdLst>
  <p:sldIdLst>
    <p:sldId id="260" r:id="rId2"/>
    <p:sldId id="259" r:id="rId3"/>
    <p:sldId id="258" r:id="rId4"/>
    <p:sldId id="303" r:id="rId5"/>
    <p:sldId id="319" r:id="rId6"/>
    <p:sldId id="332" r:id="rId7"/>
    <p:sldId id="331" r:id="rId8"/>
    <p:sldId id="344" r:id="rId9"/>
    <p:sldId id="343" r:id="rId10"/>
    <p:sldId id="342" r:id="rId11"/>
    <p:sldId id="341" r:id="rId12"/>
    <p:sldId id="340" r:id="rId13"/>
    <p:sldId id="339" r:id="rId14"/>
    <p:sldId id="338" r:id="rId15"/>
    <p:sldId id="337" r:id="rId16"/>
    <p:sldId id="336" r:id="rId17"/>
    <p:sldId id="335" r:id="rId18"/>
    <p:sldId id="334" r:id="rId19"/>
    <p:sldId id="329" r:id="rId20"/>
    <p:sldId id="345" r:id="rId21"/>
    <p:sldId id="357" r:id="rId22"/>
    <p:sldId id="356" r:id="rId23"/>
    <p:sldId id="355" r:id="rId24"/>
    <p:sldId id="354" r:id="rId25"/>
    <p:sldId id="353" r:id="rId26"/>
    <p:sldId id="351" r:id="rId27"/>
    <p:sldId id="350" r:id="rId28"/>
    <p:sldId id="349" r:id="rId29"/>
    <p:sldId id="348" r:id="rId30"/>
    <p:sldId id="347" r:id="rId31"/>
    <p:sldId id="346" r:id="rId32"/>
    <p:sldId id="330" r:id="rId33"/>
    <p:sldId id="358" r:id="rId34"/>
    <p:sldId id="292" r:id="rId35"/>
    <p:sldId id="291" r:id="rId3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759" autoAdjust="0"/>
    <p:restoredTop sz="89165" autoAdjust="0"/>
  </p:normalViewPr>
  <p:slideViewPr>
    <p:cSldViewPr>
      <p:cViewPr varScale="1">
        <p:scale>
          <a:sx n="56" d="100"/>
          <a:sy n="56" d="100"/>
        </p:scale>
        <p:origin x="1616" y="1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2059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9" Type="http://schemas.openxmlformats.org/officeDocument/2006/relationships/slide" Target="slides/slide8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37" Type="http://schemas.openxmlformats.org/officeDocument/2006/relationships/notesMaster" Target="notesMasters/notesMaster1.xml"/><Relationship Id="rId38" Type="http://schemas.openxmlformats.org/officeDocument/2006/relationships/presProps" Target="presProps.xml"/><Relationship Id="rId39" Type="http://schemas.openxmlformats.org/officeDocument/2006/relationships/viewProps" Target="viewProps.xml"/><Relationship Id="rId40" Type="http://schemas.openxmlformats.org/officeDocument/2006/relationships/theme" Target="theme/theme1.xml"/><Relationship Id="rId4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5AD73A-AE13-444E-A6A8-7967ABAB8119}" type="datetimeFigureOut">
              <a:rPr lang="en-AU" smtClean="0"/>
              <a:t>14/06/2017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16DE00-3598-450D-9FD4-B3F4D33F029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759409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14/06/2017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32648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14/06/2017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35548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14/06/2017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80491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14/06/2017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42595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14/06/2017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07182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14/06/2017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77235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14/06/2017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1991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14/06/2017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18502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14/06/2017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83982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14/06/2017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9636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14/06/2017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80215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B91B3-E50F-4EFF-8D5F-21DA810ECD9F}" type="datetimeFigureOut">
              <a:rPr lang="en-AU" smtClean="0"/>
              <a:t>14/06/2017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28666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emf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4" Type="http://schemas.openxmlformats.org/officeDocument/2006/relationships/image" Target="../media/image6.png"/><Relationship Id="rId5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4" Type="http://schemas.openxmlformats.org/officeDocument/2006/relationships/image" Target="../media/image6.png"/><Relationship Id="rId5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emf"/><Relationship Id="rId3" Type="http://schemas.openxmlformats.org/officeDocument/2006/relationships/image" Target="../media/image4.emf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emf"/><Relationship Id="rId3" Type="http://schemas.openxmlformats.org/officeDocument/2006/relationships/image" Target="../media/image6.emf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1560" y="332656"/>
            <a:ext cx="7772400" cy="1470025"/>
          </a:xfrm>
        </p:spPr>
        <p:txBody>
          <a:bodyPr/>
          <a:lstStyle/>
          <a:p>
            <a:r>
              <a:rPr lang="en-AU" dirty="0" smtClean="0"/>
              <a:t>My Shape and Measurement</a:t>
            </a:r>
            <a:br>
              <a:rPr lang="en-AU" dirty="0" smtClean="0"/>
            </a:br>
            <a:r>
              <a:rPr lang="en-AU" dirty="0" smtClean="0"/>
              <a:t>Interactive Notebook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0000" lnSpcReduction="20000"/>
          </a:bodyPr>
          <a:lstStyle/>
          <a:p>
            <a:pPr algn="l"/>
            <a:r>
              <a:rPr lang="en-AU" dirty="0" smtClean="0"/>
              <a:t>Name </a:t>
            </a:r>
          </a:p>
          <a:p>
            <a:pPr algn="l"/>
            <a:r>
              <a:rPr lang="en-AU" dirty="0" smtClean="0"/>
              <a:t>Class </a:t>
            </a:r>
          </a:p>
          <a:p>
            <a:pPr algn="l"/>
            <a:r>
              <a:rPr lang="en-AU" dirty="0" smtClean="0"/>
              <a:t>Teacher Mrs Keen</a:t>
            </a:r>
          </a:p>
          <a:p>
            <a:pPr algn="l"/>
            <a:r>
              <a:rPr lang="en-AU" dirty="0" smtClean="0"/>
              <a:t>Semester 1</a:t>
            </a:r>
          </a:p>
          <a:p>
            <a:pPr algn="l"/>
            <a:r>
              <a:rPr lang="en-AU" dirty="0" smtClean="0"/>
              <a:t>Term 2</a:t>
            </a:r>
          </a:p>
          <a:p>
            <a:pPr algn="l"/>
            <a:endParaRPr lang="en-AU" dirty="0" smtClean="0"/>
          </a:p>
        </p:txBody>
      </p:sp>
      <p:sp>
        <p:nvSpPr>
          <p:cNvPr id="13" name="TextBox 12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</a:t>
            </a:r>
          </a:p>
        </p:txBody>
      </p:sp>
      <p:pic>
        <p:nvPicPr>
          <p:cNvPr id="15" name="Picture 4" descr="https://encrypted-tbn3.gstatic.com/images?q=tbn:ANd9GcQalickAZJxP16UO8A0LbBxeXtkHiUS7YDCPV2AjNF2_0WMm1DU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5856" y="1904999"/>
            <a:ext cx="2305050" cy="19812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250627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2</a:t>
            </a:r>
            <a:endParaRPr lang="en-AU" dirty="0"/>
          </a:p>
        </p:txBody>
      </p:sp>
      <p:sp>
        <p:nvSpPr>
          <p:cNvPr id="7" name="TextBox 6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3</a:t>
            </a:r>
            <a:endParaRPr lang="en-AU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-143838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15616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77648" y="5803"/>
            <a:ext cx="9320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Contents</a:t>
            </a:r>
            <a:endParaRPr lang="en-AU" sz="1600" dirty="0"/>
          </a:p>
        </p:txBody>
      </p:sp>
      <p:sp>
        <p:nvSpPr>
          <p:cNvPr id="23" name="TextBox 22"/>
          <p:cNvSpPr txBox="1"/>
          <p:nvPr/>
        </p:nvSpPr>
        <p:spPr>
          <a:xfrm>
            <a:off x="223224" y="374467"/>
            <a:ext cx="5808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Page</a:t>
            </a:r>
            <a:endParaRPr lang="en-AU" sz="1600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143810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403646" y="344357"/>
            <a:ext cx="5765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Date</a:t>
            </a:r>
            <a:endParaRPr lang="en-AU" sz="1600" dirty="0"/>
          </a:p>
        </p:txBody>
      </p:sp>
      <p:sp>
        <p:nvSpPr>
          <p:cNvPr id="18" name="TextBox 17"/>
          <p:cNvSpPr txBox="1"/>
          <p:nvPr/>
        </p:nvSpPr>
        <p:spPr>
          <a:xfrm>
            <a:off x="2555776" y="344357"/>
            <a:ext cx="13988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Description</a:t>
            </a:r>
            <a:endParaRPr lang="en-AU" sz="1600" dirty="0"/>
          </a:p>
        </p:txBody>
      </p:sp>
      <p:sp>
        <p:nvSpPr>
          <p:cNvPr id="21" name="TextBox 20"/>
          <p:cNvSpPr txBox="1"/>
          <p:nvPr/>
        </p:nvSpPr>
        <p:spPr>
          <a:xfrm>
            <a:off x="5796136" y="66504"/>
            <a:ext cx="25922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Glossary or Formula Page</a:t>
            </a:r>
            <a:endParaRPr lang="en-AU" sz="1600" dirty="0"/>
          </a:p>
        </p:txBody>
      </p:sp>
    </p:spTree>
    <p:extLst>
      <p:ext uri="{BB962C8B-B14F-4D97-AF65-F5344CB8AC3E}">
        <p14:creationId xmlns:p14="http://schemas.microsoft.com/office/powerpoint/2010/main" val="1515457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4500081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4500081" y="1196752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572089" y="5373216"/>
            <a:ext cx="472615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5868144" y="1196752"/>
            <a:ext cx="0" cy="417646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533261" y="66690"/>
            <a:ext cx="43195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smtClean="0"/>
              <a:t>24</a:t>
            </a:r>
          </a:p>
          <a:p>
            <a:r>
              <a:rPr lang="en-AU" sz="1000" dirty="0" smtClean="0"/>
              <a:t>7</a:t>
            </a:r>
          </a:p>
          <a:p>
            <a:r>
              <a:rPr lang="en-AU" sz="1000" dirty="0" smtClean="0"/>
              <a:t>30</a:t>
            </a:r>
            <a:endParaRPr lang="en-AU" sz="1000" dirty="0"/>
          </a:p>
        </p:txBody>
      </p:sp>
      <p:sp>
        <p:nvSpPr>
          <p:cNvPr id="20" name="TextBox 19"/>
          <p:cNvSpPr txBox="1"/>
          <p:nvPr/>
        </p:nvSpPr>
        <p:spPr>
          <a:xfrm>
            <a:off x="4572089" y="601548"/>
            <a:ext cx="11432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Essential Question</a:t>
            </a:r>
            <a:endParaRPr lang="en-AU" sz="1000" dirty="0"/>
          </a:p>
        </p:txBody>
      </p:sp>
      <p:sp>
        <p:nvSpPr>
          <p:cNvPr id="22" name="TextBox 21"/>
          <p:cNvSpPr txBox="1"/>
          <p:nvPr/>
        </p:nvSpPr>
        <p:spPr>
          <a:xfrm>
            <a:off x="5867750" y="1196751"/>
            <a:ext cx="4924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Notes</a:t>
            </a:r>
            <a:endParaRPr lang="en-AU" sz="1000" dirty="0"/>
          </a:p>
        </p:txBody>
      </p:sp>
      <p:sp>
        <p:nvSpPr>
          <p:cNvPr id="23" name="TextBox 22"/>
          <p:cNvSpPr txBox="1"/>
          <p:nvPr/>
        </p:nvSpPr>
        <p:spPr>
          <a:xfrm>
            <a:off x="4521850" y="1196752"/>
            <a:ext cx="7088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Questions</a:t>
            </a:r>
            <a:endParaRPr lang="en-AU" sz="1000" dirty="0"/>
          </a:p>
        </p:txBody>
      </p:sp>
      <p:sp>
        <p:nvSpPr>
          <p:cNvPr id="24" name="TextBox 23"/>
          <p:cNvSpPr txBox="1"/>
          <p:nvPr/>
        </p:nvSpPr>
        <p:spPr>
          <a:xfrm>
            <a:off x="4572089" y="5373216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Summary</a:t>
            </a:r>
            <a:endParaRPr lang="en-AU" sz="1000" dirty="0"/>
          </a:p>
        </p:txBody>
      </p:sp>
      <p:sp>
        <p:nvSpPr>
          <p:cNvPr id="25" name="TextBox 24"/>
          <p:cNvSpPr txBox="1"/>
          <p:nvPr/>
        </p:nvSpPr>
        <p:spPr>
          <a:xfrm>
            <a:off x="151246" y="142494"/>
            <a:ext cx="6710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Tasks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216532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112998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Circles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75004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What do I need to know about circles?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16709025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Definition of a circle</a:t>
            </a:r>
            <a:endParaRPr lang="en-AU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U" dirty="0" smtClean="0"/>
          </a:p>
          <a:p>
            <a:endParaRPr lang="en-AU" dirty="0"/>
          </a:p>
          <a:p>
            <a:endParaRPr lang="en-AU" dirty="0" smtClean="0"/>
          </a:p>
          <a:p>
            <a:endParaRPr lang="en-AU" dirty="0"/>
          </a:p>
          <a:p>
            <a:r>
              <a:rPr lang="en-AU" dirty="0" smtClean="0"/>
              <a:t>A 2D shape</a:t>
            </a:r>
          </a:p>
          <a:p>
            <a:r>
              <a:rPr lang="en-AU" dirty="0" smtClean="0"/>
              <a:t>1 edge</a:t>
            </a:r>
          </a:p>
          <a:p>
            <a:r>
              <a:rPr lang="en-AU" dirty="0" smtClean="0"/>
              <a:t>No corners</a:t>
            </a:r>
            <a:endParaRPr lang="en-AU" dirty="0"/>
          </a:p>
        </p:txBody>
      </p:sp>
      <p:sp>
        <p:nvSpPr>
          <p:cNvPr id="5" name="Oval 4"/>
          <p:cNvSpPr/>
          <p:nvPr/>
        </p:nvSpPr>
        <p:spPr>
          <a:xfrm>
            <a:off x="3491880" y="1844824"/>
            <a:ext cx="2160240" cy="2160240"/>
          </a:xfrm>
          <a:prstGeom prst="ellipse">
            <a:avLst/>
          </a:prstGeom>
          <a:solidFill>
            <a:srgbClr val="92D050"/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178888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112998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Circles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75004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What do I need to know about circles?</a:t>
            </a:r>
            <a:endParaRPr lang="en-AU" sz="2400" dirty="0"/>
          </a:p>
        </p:txBody>
      </p:sp>
      <p:sp>
        <p:nvSpPr>
          <p:cNvPr id="2" name="TextBox 1"/>
          <p:cNvSpPr txBox="1"/>
          <p:nvPr/>
        </p:nvSpPr>
        <p:spPr>
          <a:xfrm>
            <a:off x="126966" y="1992643"/>
            <a:ext cx="24482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is a circle?</a:t>
            </a:r>
            <a:endParaRPr lang="en-AU" dirty="0"/>
          </a:p>
        </p:txBody>
      </p:sp>
      <p:sp>
        <p:nvSpPr>
          <p:cNvPr id="3" name="TextBox 2"/>
          <p:cNvSpPr txBox="1"/>
          <p:nvPr/>
        </p:nvSpPr>
        <p:spPr>
          <a:xfrm>
            <a:off x="3077896" y="1973507"/>
            <a:ext cx="58915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A 2D shape that has only one edge (or side) and no vertices (corners).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045358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/>
          <p:cNvSpPr/>
          <p:nvPr/>
        </p:nvSpPr>
        <p:spPr>
          <a:xfrm>
            <a:off x="2428860" y="1178703"/>
            <a:ext cx="4179123" cy="4607751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35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Circumference and Radius.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85900" y="4077072"/>
            <a:ext cx="6172200" cy="1709382"/>
          </a:xfrm>
        </p:spPr>
        <p:txBody>
          <a:bodyPr>
            <a:normAutofit fontScale="92500" lnSpcReduction="20000"/>
          </a:bodyPr>
          <a:lstStyle/>
          <a:p>
            <a:r>
              <a:rPr lang="en-AU" sz="1800" dirty="0"/>
              <a:t>The </a:t>
            </a:r>
            <a:r>
              <a:rPr lang="en-AU" sz="1800" b="1" dirty="0">
                <a:solidFill>
                  <a:srgbClr val="FF0000"/>
                </a:solidFill>
              </a:rPr>
              <a:t>circumference</a:t>
            </a:r>
            <a:r>
              <a:rPr lang="en-AU" sz="1800" dirty="0"/>
              <a:t> of a circle is the boundary of the circle.</a:t>
            </a:r>
          </a:p>
          <a:p>
            <a:r>
              <a:rPr lang="en-AU" sz="1800" dirty="0"/>
              <a:t>A line segment drawn from the centre of a circle to the circumference is the </a:t>
            </a:r>
            <a:r>
              <a:rPr lang="en-AU" sz="1800" b="1" dirty="0">
                <a:solidFill>
                  <a:srgbClr val="FF0000"/>
                </a:solidFill>
              </a:rPr>
              <a:t>radius</a:t>
            </a:r>
            <a:r>
              <a:rPr lang="en-AU" sz="1800" dirty="0">
                <a:solidFill>
                  <a:srgbClr val="FF0000"/>
                </a:solidFill>
              </a:rPr>
              <a:t>. </a:t>
            </a:r>
            <a:r>
              <a:rPr lang="en-AU" sz="1800" dirty="0">
                <a:solidFill>
                  <a:srgbClr val="002060"/>
                </a:solidFill>
              </a:rPr>
              <a:t>Every radius in a circle is equal in length.</a:t>
            </a:r>
          </a:p>
          <a:p>
            <a:r>
              <a:rPr lang="en-AU" sz="1800" dirty="0"/>
              <a:t>A line segment drawn through the centre from one side of a circle to its opposite side is called the </a:t>
            </a:r>
            <a:r>
              <a:rPr lang="en-AU" sz="1800" b="1" dirty="0">
                <a:solidFill>
                  <a:srgbClr val="FF0000"/>
                </a:solidFill>
              </a:rPr>
              <a:t>diameter.</a:t>
            </a:r>
            <a:r>
              <a:rPr lang="en-AU" sz="1800" dirty="0">
                <a:solidFill>
                  <a:srgbClr val="FF0000"/>
                </a:solidFill>
              </a:rPr>
              <a:t> </a:t>
            </a:r>
            <a:r>
              <a:rPr lang="en-AU" sz="1800" dirty="0"/>
              <a:t> </a:t>
            </a:r>
            <a:r>
              <a:rPr lang="en-AU" sz="1800" dirty="0">
                <a:solidFill>
                  <a:srgbClr val="002060"/>
                </a:solidFill>
              </a:rPr>
              <a:t>It is double the length of the radius.</a:t>
            </a:r>
          </a:p>
        </p:txBody>
      </p:sp>
      <p:cxnSp>
        <p:nvCxnSpPr>
          <p:cNvPr id="9" name="Straight Arrow Connector 8"/>
          <p:cNvCxnSpPr>
            <a:endCxn id="4" idx="7"/>
          </p:cNvCxnSpPr>
          <p:nvPr/>
        </p:nvCxnSpPr>
        <p:spPr>
          <a:xfrm rot="5400000" flipH="1" flipV="1">
            <a:off x="4389072" y="2036423"/>
            <a:ext cx="1789822" cy="1423964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286512" y="2035959"/>
            <a:ext cx="1178727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circumference</a:t>
            </a:r>
            <a:endParaRPr lang="en-AU" sz="1350" b="1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cxnSp>
        <p:nvCxnSpPr>
          <p:cNvPr id="7" name="Shape 6"/>
          <p:cNvCxnSpPr/>
          <p:nvPr/>
        </p:nvCxnSpPr>
        <p:spPr>
          <a:xfrm rot="5400000">
            <a:off x="6558958" y="2084984"/>
            <a:ext cx="151629" cy="482207"/>
          </a:xfrm>
          <a:prstGeom prst="bentConnector2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>
            <a:stCxn id="4" idx="1"/>
          </p:cNvCxnSpPr>
          <p:nvPr/>
        </p:nvCxnSpPr>
        <p:spPr>
          <a:xfrm rot="16200000" flipH="1">
            <a:off x="2804372" y="2090001"/>
            <a:ext cx="3343598" cy="2870584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2107389" y="1928802"/>
            <a:ext cx="857256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diameter</a:t>
            </a:r>
            <a:endParaRPr lang="en-AU" sz="1350" b="1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cxnSp>
        <p:nvCxnSpPr>
          <p:cNvPr id="14" name="Shape 13"/>
          <p:cNvCxnSpPr>
            <a:stCxn id="12" idx="2"/>
          </p:cNvCxnSpPr>
          <p:nvPr/>
        </p:nvCxnSpPr>
        <p:spPr>
          <a:xfrm rot="16200000" flipH="1">
            <a:off x="2927161" y="1837739"/>
            <a:ext cx="128546" cy="910835"/>
          </a:xfrm>
          <a:prstGeom prst="bentConnector2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4947049" y="2089537"/>
            <a:ext cx="589364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radius</a:t>
            </a:r>
            <a:endParaRPr lang="en-AU" sz="1350" b="1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cxnSp>
        <p:nvCxnSpPr>
          <p:cNvPr id="17" name="Shape 16"/>
          <p:cNvCxnSpPr>
            <a:stCxn id="15" idx="2"/>
          </p:cNvCxnSpPr>
          <p:nvPr/>
        </p:nvCxnSpPr>
        <p:spPr>
          <a:xfrm rot="5400000" flipH="1" flipV="1">
            <a:off x="5295893" y="2410426"/>
            <a:ext cx="132780" cy="241104"/>
          </a:xfrm>
          <a:prstGeom prst="bentConnector4">
            <a:avLst>
              <a:gd name="adj1" fmla="val -172164"/>
              <a:gd name="adj2" fmla="val -217036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827065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4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4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3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1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2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2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3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3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4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4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50000">
                                          <p:val>
                                            <p:strVal val="#ppt_x+0.1550"/>
                                          </p:val>
                                        </p:tav>
                                        <p:tav tm="5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6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6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7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7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8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8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9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9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5000">
                                          <p:val>
                                            <p:strVal val="#ppt_y+0.308"/>
                                          </p:val>
                                        </p:tav>
                                        <p:tav tm="10000">
                                          <p:val>
                                            <p:strVal val="#ppt_y+0.3024"/>
                                          </p:val>
                                        </p:tav>
                                        <p:tav tm="15000">
                                          <p:val>
                                            <p:strVal val="#ppt_y+0.2931"/>
                                          </p:val>
                                        </p:tav>
                                        <p:tav tm="20000">
                                          <p:val>
                                            <p:strVal val="#ppt_y+0.2804"/>
                                          </p:val>
                                        </p:tav>
                                        <p:tav tm="25000">
                                          <p:val>
                                            <p:strVal val="#ppt_y+0.2646"/>
                                          </p:val>
                                        </p:tav>
                                        <p:tav tm="30000">
                                          <p:val>
                                            <p:strVal val="#ppt_y+0.2461"/>
                                          </p:val>
                                        </p:tav>
                                        <p:tav tm="35000">
                                          <p:val>
                                            <p:strVal val="#ppt_y+0.2253"/>
                                          </p:val>
                                        </p:tav>
                                        <p:tav tm="40000">
                                          <p:val>
                                            <p:strVal val="#ppt_y+0.2029"/>
                                          </p:val>
                                        </p:tav>
                                        <p:tav tm="45000">
                                          <p:val>
                                            <p:strVal val="#ppt_y+0.1792"/>
                                          </p:val>
                                        </p:tav>
                                        <p:tav tm="50000">
                                          <p:val>
                                            <p:strVal val="#ppt_y+0.155"/>
                                          </p:val>
                                        </p:tav>
                                        <p:tav tm="55000">
                                          <p:val>
                                            <p:strVal val="#ppt_y+0.1307"/>
                                          </p:val>
                                        </p:tav>
                                        <p:tav tm="60000">
                                          <p:val>
                                            <p:strVal val="#ppt_y+0.1071"/>
                                          </p:val>
                                        </p:tav>
                                        <p:tav tm="65000">
                                          <p:val>
                                            <p:strVal val="#ppt_y+0.0846"/>
                                          </p:val>
                                        </p:tav>
                                        <p:tav tm="70000">
                                          <p:val>
                                            <p:strVal val="#ppt_y+0.0639"/>
                                          </p:val>
                                        </p:tav>
                                        <p:tav tm="75000">
                                          <p:val>
                                            <p:strVal val="#ppt_y+0.0454"/>
                                          </p:val>
                                        </p:tav>
                                        <p:tav tm="80000">
                                          <p:val>
                                            <p:strVal val="#ppt_y+0.0296"/>
                                          </p:val>
                                        </p:tav>
                                        <p:tav tm="85000">
                                          <p:val>
                                            <p:strVal val="#ppt_y+0.0169"/>
                                          </p:val>
                                        </p:tav>
                                        <p:tav tm="90000">
                                          <p:val>
                                            <p:strVal val="#ppt_y+0.0076"/>
                                          </p:val>
                                        </p:tav>
                                        <p:tav tm="95000">
                                          <p:val>
                                            <p:strVal val="#ppt_y+0.0019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4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4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3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1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2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2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3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3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4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4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50000">
                                          <p:val>
                                            <p:strVal val="#ppt_x+0.1550"/>
                                          </p:val>
                                        </p:tav>
                                        <p:tav tm="5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6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6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7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7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8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8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9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9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5000">
                                          <p:val>
                                            <p:strVal val="#ppt_y+0.308"/>
                                          </p:val>
                                        </p:tav>
                                        <p:tav tm="10000">
                                          <p:val>
                                            <p:strVal val="#ppt_y+0.3024"/>
                                          </p:val>
                                        </p:tav>
                                        <p:tav tm="15000">
                                          <p:val>
                                            <p:strVal val="#ppt_y+0.2931"/>
                                          </p:val>
                                        </p:tav>
                                        <p:tav tm="20000">
                                          <p:val>
                                            <p:strVal val="#ppt_y+0.2804"/>
                                          </p:val>
                                        </p:tav>
                                        <p:tav tm="25000">
                                          <p:val>
                                            <p:strVal val="#ppt_y+0.2646"/>
                                          </p:val>
                                        </p:tav>
                                        <p:tav tm="30000">
                                          <p:val>
                                            <p:strVal val="#ppt_y+0.2461"/>
                                          </p:val>
                                        </p:tav>
                                        <p:tav tm="35000">
                                          <p:val>
                                            <p:strVal val="#ppt_y+0.2253"/>
                                          </p:val>
                                        </p:tav>
                                        <p:tav tm="40000">
                                          <p:val>
                                            <p:strVal val="#ppt_y+0.2029"/>
                                          </p:val>
                                        </p:tav>
                                        <p:tav tm="45000">
                                          <p:val>
                                            <p:strVal val="#ppt_y+0.1792"/>
                                          </p:val>
                                        </p:tav>
                                        <p:tav tm="50000">
                                          <p:val>
                                            <p:strVal val="#ppt_y+0.155"/>
                                          </p:val>
                                        </p:tav>
                                        <p:tav tm="55000">
                                          <p:val>
                                            <p:strVal val="#ppt_y+0.1307"/>
                                          </p:val>
                                        </p:tav>
                                        <p:tav tm="60000">
                                          <p:val>
                                            <p:strVal val="#ppt_y+0.1071"/>
                                          </p:val>
                                        </p:tav>
                                        <p:tav tm="65000">
                                          <p:val>
                                            <p:strVal val="#ppt_y+0.0846"/>
                                          </p:val>
                                        </p:tav>
                                        <p:tav tm="70000">
                                          <p:val>
                                            <p:strVal val="#ppt_y+0.0639"/>
                                          </p:val>
                                        </p:tav>
                                        <p:tav tm="75000">
                                          <p:val>
                                            <p:strVal val="#ppt_y+0.0454"/>
                                          </p:val>
                                        </p:tav>
                                        <p:tav tm="80000">
                                          <p:val>
                                            <p:strVal val="#ppt_y+0.0296"/>
                                          </p:val>
                                        </p:tav>
                                        <p:tav tm="85000">
                                          <p:val>
                                            <p:strVal val="#ppt_y+0.0169"/>
                                          </p:val>
                                        </p:tav>
                                        <p:tav tm="90000">
                                          <p:val>
                                            <p:strVal val="#ppt_y+0.0076"/>
                                          </p:val>
                                        </p:tav>
                                        <p:tav tm="95000">
                                          <p:val>
                                            <p:strVal val="#ppt_y+0.0019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3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1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2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2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3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3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4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4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50000">
                                          <p:val>
                                            <p:strVal val="#ppt_x+0.1550"/>
                                          </p:val>
                                        </p:tav>
                                        <p:tav tm="5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6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6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7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7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8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8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9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9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5000">
                                          <p:val>
                                            <p:strVal val="#ppt_y+0.308"/>
                                          </p:val>
                                        </p:tav>
                                        <p:tav tm="10000">
                                          <p:val>
                                            <p:strVal val="#ppt_y+0.3024"/>
                                          </p:val>
                                        </p:tav>
                                        <p:tav tm="15000">
                                          <p:val>
                                            <p:strVal val="#ppt_y+0.2931"/>
                                          </p:val>
                                        </p:tav>
                                        <p:tav tm="20000">
                                          <p:val>
                                            <p:strVal val="#ppt_y+0.2804"/>
                                          </p:val>
                                        </p:tav>
                                        <p:tav tm="25000">
                                          <p:val>
                                            <p:strVal val="#ppt_y+0.2646"/>
                                          </p:val>
                                        </p:tav>
                                        <p:tav tm="30000">
                                          <p:val>
                                            <p:strVal val="#ppt_y+0.2461"/>
                                          </p:val>
                                        </p:tav>
                                        <p:tav tm="35000">
                                          <p:val>
                                            <p:strVal val="#ppt_y+0.2253"/>
                                          </p:val>
                                        </p:tav>
                                        <p:tav tm="40000">
                                          <p:val>
                                            <p:strVal val="#ppt_y+0.2029"/>
                                          </p:val>
                                        </p:tav>
                                        <p:tav tm="45000">
                                          <p:val>
                                            <p:strVal val="#ppt_y+0.1792"/>
                                          </p:val>
                                        </p:tav>
                                        <p:tav tm="50000">
                                          <p:val>
                                            <p:strVal val="#ppt_y+0.155"/>
                                          </p:val>
                                        </p:tav>
                                        <p:tav tm="55000">
                                          <p:val>
                                            <p:strVal val="#ppt_y+0.1307"/>
                                          </p:val>
                                        </p:tav>
                                        <p:tav tm="60000">
                                          <p:val>
                                            <p:strVal val="#ppt_y+0.1071"/>
                                          </p:val>
                                        </p:tav>
                                        <p:tav tm="65000">
                                          <p:val>
                                            <p:strVal val="#ppt_y+0.0846"/>
                                          </p:val>
                                        </p:tav>
                                        <p:tav tm="70000">
                                          <p:val>
                                            <p:strVal val="#ppt_y+0.0639"/>
                                          </p:val>
                                        </p:tav>
                                        <p:tav tm="75000">
                                          <p:val>
                                            <p:strVal val="#ppt_y+0.0454"/>
                                          </p:val>
                                        </p:tav>
                                        <p:tav tm="80000">
                                          <p:val>
                                            <p:strVal val="#ppt_y+0.0296"/>
                                          </p:val>
                                        </p:tav>
                                        <p:tav tm="85000">
                                          <p:val>
                                            <p:strVal val="#ppt_y+0.0169"/>
                                          </p:val>
                                        </p:tav>
                                        <p:tav tm="90000">
                                          <p:val>
                                            <p:strVal val="#ppt_y+0.0076"/>
                                          </p:val>
                                        </p:tav>
                                        <p:tav tm="95000">
                                          <p:val>
                                            <p:strVal val="#ppt_y+0.0019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4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4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4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3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1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2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2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3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3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4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4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50000">
                                          <p:val>
                                            <p:strVal val="#ppt_x+0.1550"/>
                                          </p:val>
                                        </p:tav>
                                        <p:tav tm="5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6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6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7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7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8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8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9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9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5000">
                                          <p:val>
                                            <p:strVal val="#ppt_y+0.308"/>
                                          </p:val>
                                        </p:tav>
                                        <p:tav tm="10000">
                                          <p:val>
                                            <p:strVal val="#ppt_y+0.3024"/>
                                          </p:val>
                                        </p:tav>
                                        <p:tav tm="15000">
                                          <p:val>
                                            <p:strVal val="#ppt_y+0.2931"/>
                                          </p:val>
                                        </p:tav>
                                        <p:tav tm="20000">
                                          <p:val>
                                            <p:strVal val="#ppt_y+0.2804"/>
                                          </p:val>
                                        </p:tav>
                                        <p:tav tm="25000">
                                          <p:val>
                                            <p:strVal val="#ppt_y+0.2646"/>
                                          </p:val>
                                        </p:tav>
                                        <p:tav tm="30000">
                                          <p:val>
                                            <p:strVal val="#ppt_y+0.2461"/>
                                          </p:val>
                                        </p:tav>
                                        <p:tav tm="35000">
                                          <p:val>
                                            <p:strVal val="#ppt_y+0.2253"/>
                                          </p:val>
                                        </p:tav>
                                        <p:tav tm="40000">
                                          <p:val>
                                            <p:strVal val="#ppt_y+0.2029"/>
                                          </p:val>
                                        </p:tav>
                                        <p:tav tm="45000">
                                          <p:val>
                                            <p:strVal val="#ppt_y+0.1792"/>
                                          </p:val>
                                        </p:tav>
                                        <p:tav tm="50000">
                                          <p:val>
                                            <p:strVal val="#ppt_y+0.155"/>
                                          </p:val>
                                        </p:tav>
                                        <p:tav tm="55000">
                                          <p:val>
                                            <p:strVal val="#ppt_y+0.1307"/>
                                          </p:val>
                                        </p:tav>
                                        <p:tav tm="60000">
                                          <p:val>
                                            <p:strVal val="#ppt_y+0.1071"/>
                                          </p:val>
                                        </p:tav>
                                        <p:tav tm="65000">
                                          <p:val>
                                            <p:strVal val="#ppt_y+0.0846"/>
                                          </p:val>
                                        </p:tav>
                                        <p:tav tm="70000">
                                          <p:val>
                                            <p:strVal val="#ppt_y+0.0639"/>
                                          </p:val>
                                        </p:tav>
                                        <p:tav tm="75000">
                                          <p:val>
                                            <p:strVal val="#ppt_y+0.0454"/>
                                          </p:val>
                                        </p:tav>
                                        <p:tav tm="80000">
                                          <p:val>
                                            <p:strVal val="#ppt_y+0.0296"/>
                                          </p:val>
                                        </p:tav>
                                        <p:tav tm="85000">
                                          <p:val>
                                            <p:strVal val="#ppt_y+0.0169"/>
                                          </p:val>
                                        </p:tav>
                                        <p:tav tm="90000">
                                          <p:val>
                                            <p:strVal val="#ppt_y+0.0076"/>
                                          </p:val>
                                        </p:tav>
                                        <p:tav tm="95000">
                                          <p:val>
                                            <p:strVal val="#ppt_y+0.0019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4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2" grpId="0"/>
      <p:bldP spid="1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112998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Circles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75004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What do I need to know about circles?</a:t>
            </a:r>
            <a:endParaRPr lang="en-AU" sz="2400" dirty="0"/>
          </a:p>
        </p:txBody>
      </p:sp>
      <p:sp>
        <p:nvSpPr>
          <p:cNvPr id="2" name="TextBox 1"/>
          <p:cNvSpPr txBox="1"/>
          <p:nvPr/>
        </p:nvSpPr>
        <p:spPr>
          <a:xfrm>
            <a:off x="233772" y="2006181"/>
            <a:ext cx="24482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is a circle?</a:t>
            </a:r>
            <a:endParaRPr lang="en-AU" dirty="0"/>
          </a:p>
        </p:txBody>
      </p:sp>
      <p:sp>
        <p:nvSpPr>
          <p:cNvPr id="3" name="TextBox 2"/>
          <p:cNvSpPr txBox="1"/>
          <p:nvPr/>
        </p:nvSpPr>
        <p:spPr>
          <a:xfrm>
            <a:off x="3118770" y="1994356"/>
            <a:ext cx="58915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A 2D shape that has only one edge (or side) and no vertices (corners).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434655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112998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Circles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75004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What do I need to know about circles?</a:t>
            </a:r>
            <a:endParaRPr lang="en-AU" sz="2400" dirty="0"/>
          </a:p>
        </p:txBody>
      </p:sp>
      <p:sp>
        <p:nvSpPr>
          <p:cNvPr id="2" name="TextBox 1"/>
          <p:cNvSpPr txBox="1"/>
          <p:nvPr/>
        </p:nvSpPr>
        <p:spPr>
          <a:xfrm>
            <a:off x="233772" y="2006181"/>
            <a:ext cx="24482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is a circle?</a:t>
            </a:r>
            <a:endParaRPr lang="en-AU" dirty="0"/>
          </a:p>
        </p:txBody>
      </p:sp>
      <p:sp>
        <p:nvSpPr>
          <p:cNvPr id="3" name="TextBox 2"/>
          <p:cNvSpPr txBox="1"/>
          <p:nvPr/>
        </p:nvSpPr>
        <p:spPr>
          <a:xfrm>
            <a:off x="3118770" y="1994356"/>
            <a:ext cx="58915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A 2D shape that has only one edge (or side) and no vertices (corners).</a:t>
            </a:r>
            <a:endParaRPr lang="en-AU" dirty="0"/>
          </a:p>
        </p:txBody>
      </p:sp>
      <p:sp>
        <p:nvSpPr>
          <p:cNvPr id="5" name="TextBox 4"/>
          <p:cNvSpPr txBox="1"/>
          <p:nvPr/>
        </p:nvSpPr>
        <p:spPr>
          <a:xfrm>
            <a:off x="278650" y="2754970"/>
            <a:ext cx="23585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Circumference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1032825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112998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Circles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75004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What do I need to know about circles?</a:t>
            </a:r>
            <a:endParaRPr lang="en-AU" sz="2400" dirty="0"/>
          </a:p>
        </p:txBody>
      </p:sp>
      <p:sp>
        <p:nvSpPr>
          <p:cNvPr id="2" name="TextBox 1"/>
          <p:cNvSpPr txBox="1"/>
          <p:nvPr/>
        </p:nvSpPr>
        <p:spPr>
          <a:xfrm>
            <a:off x="233772" y="2006181"/>
            <a:ext cx="24482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is a circle?</a:t>
            </a:r>
            <a:endParaRPr lang="en-AU" dirty="0"/>
          </a:p>
        </p:txBody>
      </p:sp>
      <p:sp>
        <p:nvSpPr>
          <p:cNvPr id="3" name="TextBox 2"/>
          <p:cNvSpPr txBox="1"/>
          <p:nvPr/>
        </p:nvSpPr>
        <p:spPr>
          <a:xfrm>
            <a:off x="3118770" y="1994356"/>
            <a:ext cx="58915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A 2D shape that has only one edge (or side) and no vertices (corners).</a:t>
            </a:r>
            <a:endParaRPr lang="en-AU" dirty="0"/>
          </a:p>
        </p:txBody>
      </p:sp>
      <p:sp>
        <p:nvSpPr>
          <p:cNvPr id="5" name="TextBox 4"/>
          <p:cNvSpPr txBox="1"/>
          <p:nvPr/>
        </p:nvSpPr>
        <p:spPr>
          <a:xfrm>
            <a:off x="278650" y="2754970"/>
            <a:ext cx="23585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Circumference</a:t>
            </a:r>
            <a:endParaRPr lang="en-AU" dirty="0"/>
          </a:p>
        </p:txBody>
      </p:sp>
      <p:sp>
        <p:nvSpPr>
          <p:cNvPr id="8" name="TextBox 7"/>
          <p:cNvSpPr txBox="1"/>
          <p:nvPr/>
        </p:nvSpPr>
        <p:spPr>
          <a:xfrm>
            <a:off x="3112513" y="2754970"/>
            <a:ext cx="58915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The total measurement around the edge of the circle.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6453656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112998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Circles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75004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What do I need to know about circles?</a:t>
            </a:r>
            <a:endParaRPr lang="en-AU" sz="2400" dirty="0"/>
          </a:p>
        </p:txBody>
      </p:sp>
      <p:sp>
        <p:nvSpPr>
          <p:cNvPr id="2" name="TextBox 1"/>
          <p:cNvSpPr txBox="1"/>
          <p:nvPr/>
        </p:nvSpPr>
        <p:spPr>
          <a:xfrm>
            <a:off x="233772" y="2006181"/>
            <a:ext cx="24482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is a circle?</a:t>
            </a:r>
            <a:endParaRPr lang="en-AU" dirty="0"/>
          </a:p>
        </p:txBody>
      </p:sp>
      <p:sp>
        <p:nvSpPr>
          <p:cNvPr id="3" name="TextBox 2"/>
          <p:cNvSpPr txBox="1"/>
          <p:nvPr/>
        </p:nvSpPr>
        <p:spPr>
          <a:xfrm>
            <a:off x="3118770" y="1994356"/>
            <a:ext cx="58915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A 2D shape that has only one edge (or side) and no vertices (corners).</a:t>
            </a:r>
            <a:endParaRPr lang="en-AU" dirty="0"/>
          </a:p>
        </p:txBody>
      </p:sp>
      <p:sp>
        <p:nvSpPr>
          <p:cNvPr id="5" name="TextBox 4"/>
          <p:cNvSpPr txBox="1"/>
          <p:nvPr/>
        </p:nvSpPr>
        <p:spPr>
          <a:xfrm>
            <a:off x="278650" y="2754970"/>
            <a:ext cx="23585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Circumference</a:t>
            </a:r>
            <a:endParaRPr lang="en-AU" dirty="0"/>
          </a:p>
        </p:txBody>
      </p:sp>
      <p:sp>
        <p:nvSpPr>
          <p:cNvPr id="8" name="TextBox 7"/>
          <p:cNvSpPr txBox="1"/>
          <p:nvPr/>
        </p:nvSpPr>
        <p:spPr>
          <a:xfrm>
            <a:off x="3112513" y="2754970"/>
            <a:ext cx="58915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The total measurement around the edge of the circle.</a:t>
            </a:r>
            <a:endParaRPr lang="en-AU" dirty="0"/>
          </a:p>
        </p:txBody>
      </p:sp>
      <p:sp>
        <p:nvSpPr>
          <p:cNvPr id="13" name="TextBox 12"/>
          <p:cNvSpPr txBox="1"/>
          <p:nvPr/>
        </p:nvSpPr>
        <p:spPr>
          <a:xfrm>
            <a:off x="270655" y="3319093"/>
            <a:ext cx="20302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Diameter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524209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112998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Circles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75004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What do I need to know about circles?</a:t>
            </a:r>
            <a:endParaRPr lang="en-AU" sz="2400" dirty="0"/>
          </a:p>
        </p:txBody>
      </p:sp>
      <p:sp>
        <p:nvSpPr>
          <p:cNvPr id="2" name="TextBox 1"/>
          <p:cNvSpPr txBox="1"/>
          <p:nvPr/>
        </p:nvSpPr>
        <p:spPr>
          <a:xfrm>
            <a:off x="233772" y="2006181"/>
            <a:ext cx="24482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is a circle?</a:t>
            </a:r>
            <a:endParaRPr lang="en-AU" dirty="0"/>
          </a:p>
        </p:txBody>
      </p:sp>
      <p:sp>
        <p:nvSpPr>
          <p:cNvPr id="3" name="TextBox 2"/>
          <p:cNvSpPr txBox="1"/>
          <p:nvPr/>
        </p:nvSpPr>
        <p:spPr>
          <a:xfrm>
            <a:off x="3118770" y="1994356"/>
            <a:ext cx="58915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A 2D shape that has only one edge (or side) and no vertices (corners).</a:t>
            </a:r>
            <a:endParaRPr lang="en-AU" dirty="0"/>
          </a:p>
        </p:txBody>
      </p:sp>
      <p:sp>
        <p:nvSpPr>
          <p:cNvPr id="5" name="TextBox 4"/>
          <p:cNvSpPr txBox="1"/>
          <p:nvPr/>
        </p:nvSpPr>
        <p:spPr>
          <a:xfrm>
            <a:off x="278650" y="2754970"/>
            <a:ext cx="23585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Circumference</a:t>
            </a:r>
            <a:endParaRPr lang="en-AU" dirty="0"/>
          </a:p>
        </p:txBody>
      </p:sp>
      <p:sp>
        <p:nvSpPr>
          <p:cNvPr id="8" name="TextBox 7"/>
          <p:cNvSpPr txBox="1"/>
          <p:nvPr/>
        </p:nvSpPr>
        <p:spPr>
          <a:xfrm>
            <a:off x="3112513" y="2754970"/>
            <a:ext cx="58915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The total measurement around the edge of the circle.</a:t>
            </a:r>
            <a:endParaRPr lang="en-AU" dirty="0"/>
          </a:p>
        </p:txBody>
      </p:sp>
      <p:sp>
        <p:nvSpPr>
          <p:cNvPr id="13" name="TextBox 12"/>
          <p:cNvSpPr txBox="1"/>
          <p:nvPr/>
        </p:nvSpPr>
        <p:spPr>
          <a:xfrm>
            <a:off x="270655" y="3319093"/>
            <a:ext cx="20302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Diameter</a:t>
            </a:r>
            <a:endParaRPr lang="en-AU" dirty="0"/>
          </a:p>
        </p:txBody>
      </p:sp>
      <p:sp>
        <p:nvSpPr>
          <p:cNvPr id="14" name="TextBox 13"/>
          <p:cNvSpPr txBox="1"/>
          <p:nvPr/>
        </p:nvSpPr>
        <p:spPr>
          <a:xfrm>
            <a:off x="3112513" y="3284814"/>
            <a:ext cx="56886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The straight line measurement from one side to the other, passing through the centre of the circle.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5048901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112998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Circles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75004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What do I need to know about circles?</a:t>
            </a:r>
            <a:endParaRPr lang="en-AU" sz="2400" dirty="0"/>
          </a:p>
        </p:txBody>
      </p:sp>
      <p:sp>
        <p:nvSpPr>
          <p:cNvPr id="2" name="TextBox 1"/>
          <p:cNvSpPr txBox="1"/>
          <p:nvPr/>
        </p:nvSpPr>
        <p:spPr>
          <a:xfrm>
            <a:off x="233772" y="2006181"/>
            <a:ext cx="24482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is a circle?</a:t>
            </a:r>
            <a:endParaRPr lang="en-AU" dirty="0"/>
          </a:p>
        </p:txBody>
      </p:sp>
      <p:sp>
        <p:nvSpPr>
          <p:cNvPr id="3" name="TextBox 2"/>
          <p:cNvSpPr txBox="1"/>
          <p:nvPr/>
        </p:nvSpPr>
        <p:spPr>
          <a:xfrm>
            <a:off x="3118770" y="1994356"/>
            <a:ext cx="58915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A 2D shape that has only one edge (or side) and no vertices (corners).</a:t>
            </a:r>
            <a:endParaRPr lang="en-AU" dirty="0"/>
          </a:p>
        </p:txBody>
      </p:sp>
      <p:sp>
        <p:nvSpPr>
          <p:cNvPr id="5" name="TextBox 4"/>
          <p:cNvSpPr txBox="1"/>
          <p:nvPr/>
        </p:nvSpPr>
        <p:spPr>
          <a:xfrm>
            <a:off x="278650" y="2754970"/>
            <a:ext cx="23585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Circumference</a:t>
            </a:r>
            <a:endParaRPr lang="en-AU" dirty="0"/>
          </a:p>
        </p:txBody>
      </p:sp>
      <p:sp>
        <p:nvSpPr>
          <p:cNvPr id="8" name="TextBox 7"/>
          <p:cNvSpPr txBox="1"/>
          <p:nvPr/>
        </p:nvSpPr>
        <p:spPr>
          <a:xfrm>
            <a:off x="3112513" y="2754970"/>
            <a:ext cx="58915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The total measurement around the edge of the circle.</a:t>
            </a:r>
            <a:endParaRPr lang="en-AU" dirty="0"/>
          </a:p>
        </p:txBody>
      </p:sp>
      <p:sp>
        <p:nvSpPr>
          <p:cNvPr id="13" name="TextBox 12"/>
          <p:cNvSpPr txBox="1"/>
          <p:nvPr/>
        </p:nvSpPr>
        <p:spPr>
          <a:xfrm>
            <a:off x="270655" y="3319093"/>
            <a:ext cx="20302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Diameter</a:t>
            </a:r>
            <a:endParaRPr lang="en-AU" dirty="0"/>
          </a:p>
        </p:txBody>
      </p:sp>
      <p:sp>
        <p:nvSpPr>
          <p:cNvPr id="14" name="TextBox 13"/>
          <p:cNvSpPr txBox="1"/>
          <p:nvPr/>
        </p:nvSpPr>
        <p:spPr>
          <a:xfrm>
            <a:off x="3112513" y="3284814"/>
            <a:ext cx="56886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The straight line measurement from one side to the other, passing through the centre of the circle.</a:t>
            </a:r>
            <a:endParaRPr lang="en-AU" dirty="0"/>
          </a:p>
        </p:txBody>
      </p:sp>
      <p:sp>
        <p:nvSpPr>
          <p:cNvPr id="15" name="TextBox 14"/>
          <p:cNvSpPr txBox="1"/>
          <p:nvPr/>
        </p:nvSpPr>
        <p:spPr>
          <a:xfrm>
            <a:off x="278650" y="4103784"/>
            <a:ext cx="2022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Radius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2476477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112998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Circles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75004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What do I need to know about circles?</a:t>
            </a:r>
            <a:endParaRPr lang="en-AU" sz="2400" dirty="0"/>
          </a:p>
        </p:txBody>
      </p:sp>
      <p:sp>
        <p:nvSpPr>
          <p:cNvPr id="2" name="TextBox 1"/>
          <p:cNvSpPr txBox="1"/>
          <p:nvPr/>
        </p:nvSpPr>
        <p:spPr>
          <a:xfrm>
            <a:off x="233772" y="2006181"/>
            <a:ext cx="24482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is a circle?</a:t>
            </a:r>
            <a:endParaRPr lang="en-AU" dirty="0"/>
          </a:p>
        </p:txBody>
      </p:sp>
      <p:sp>
        <p:nvSpPr>
          <p:cNvPr id="3" name="TextBox 2"/>
          <p:cNvSpPr txBox="1"/>
          <p:nvPr/>
        </p:nvSpPr>
        <p:spPr>
          <a:xfrm>
            <a:off x="3118770" y="1994356"/>
            <a:ext cx="58915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A 2D shape that has only one edge (or side) and no vertices (corners).</a:t>
            </a:r>
            <a:endParaRPr lang="en-AU" dirty="0"/>
          </a:p>
        </p:txBody>
      </p:sp>
      <p:sp>
        <p:nvSpPr>
          <p:cNvPr id="5" name="TextBox 4"/>
          <p:cNvSpPr txBox="1"/>
          <p:nvPr/>
        </p:nvSpPr>
        <p:spPr>
          <a:xfrm>
            <a:off x="278650" y="2754970"/>
            <a:ext cx="23585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Circumference</a:t>
            </a:r>
            <a:endParaRPr lang="en-AU" dirty="0"/>
          </a:p>
        </p:txBody>
      </p:sp>
      <p:sp>
        <p:nvSpPr>
          <p:cNvPr id="8" name="TextBox 7"/>
          <p:cNvSpPr txBox="1"/>
          <p:nvPr/>
        </p:nvSpPr>
        <p:spPr>
          <a:xfrm>
            <a:off x="3112513" y="2754970"/>
            <a:ext cx="58915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The total measurement around the edge of the circle.</a:t>
            </a:r>
            <a:endParaRPr lang="en-AU" dirty="0"/>
          </a:p>
        </p:txBody>
      </p:sp>
      <p:sp>
        <p:nvSpPr>
          <p:cNvPr id="13" name="TextBox 12"/>
          <p:cNvSpPr txBox="1"/>
          <p:nvPr/>
        </p:nvSpPr>
        <p:spPr>
          <a:xfrm>
            <a:off x="270655" y="3319093"/>
            <a:ext cx="20302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Diameter</a:t>
            </a:r>
            <a:endParaRPr lang="en-AU" dirty="0"/>
          </a:p>
        </p:txBody>
      </p:sp>
      <p:sp>
        <p:nvSpPr>
          <p:cNvPr id="14" name="TextBox 13"/>
          <p:cNvSpPr txBox="1"/>
          <p:nvPr/>
        </p:nvSpPr>
        <p:spPr>
          <a:xfrm>
            <a:off x="3112513" y="3284814"/>
            <a:ext cx="56886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The straight line measurement from one side to the other, passing through the centre of the circle.</a:t>
            </a:r>
            <a:endParaRPr lang="en-AU" dirty="0"/>
          </a:p>
        </p:txBody>
      </p:sp>
      <p:sp>
        <p:nvSpPr>
          <p:cNvPr id="15" name="TextBox 14"/>
          <p:cNvSpPr txBox="1"/>
          <p:nvPr/>
        </p:nvSpPr>
        <p:spPr>
          <a:xfrm>
            <a:off x="278650" y="4103784"/>
            <a:ext cx="2022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Radius</a:t>
            </a:r>
            <a:endParaRPr lang="en-AU" dirty="0"/>
          </a:p>
        </p:txBody>
      </p:sp>
      <p:sp>
        <p:nvSpPr>
          <p:cNvPr id="16" name="TextBox 15"/>
          <p:cNvSpPr txBox="1"/>
          <p:nvPr/>
        </p:nvSpPr>
        <p:spPr>
          <a:xfrm>
            <a:off x="3111484" y="4103784"/>
            <a:ext cx="56886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The straight line measurement from the centre of the circle to the edge.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568236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112998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Circles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75004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What do I need to know about circles?</a:t>
            </a:r>
            <a:endParaRPr lang="en-AU" sz="2400" dirty="0"/>
          </a:p>
        </p:txBody>
      </p:sp>
      <p:sp>
        <p:nvSpPr>
          <p:cNvPr id="2" name="TextBox 1"/>
          <p:cNvSpPr txBox="1"/>
          <p:nvPr/>
        </p:nvSpPr>
        <p:spPr>
          <a:xfrm>
            <a:off x="233772" y="2006181"/>
            <a:ext cx="24482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is a circle?</a:t>
            </a:r>
            <a:endParaRPr lang="en-AU" dirty="0"/>
          </a:p>
        </p:txBody>
      </p:sp>
      <p:sp>
        <p:nvSpPr>
          <p:cNvPr id="3" name="TextBox 2"/>
          <p:cNvSpPr txBox="1"/>
          <p:nvPr/>
        </p:nvSpPr>
        <p:spPr>
          <a:xfrm>
            <a:off x="3118770" y="1994356"/>
            <a:ext cx="58915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A 2D shape that has only one edge (or side) and no vertices (corners).</a:t>
            </a:r>
            <a:endParaRPr lang="en-AU" dirty="0"/>
          </a:p>
        </p:txBody>
      </p:sp>
      <p:sp>
        <p:nvSpPr>
          <p:cNvPr id="5" name="TextBox 4"/>
          <p:cNvSpPr txBox="1"/>
          <p:nvPr/>
        </p:nvSpPr>
        <p:spPr>
          <a:xfrm>
            <a:off x="278650" y="2754970"/>
            <a:ext cx="23585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Circumference</a:t>
            </a:r>
            <a:endParaRPr lang="en-AU" dirty="0"/>
          </a:p>
        </p:txBody>
      </p:sp>
      <p:sp>
        <p:nvSpPr>
          <p:cNvPr id="8" name="TextBox 7"/>
          <p:cNvSpPr txBox="1"/>
          <p:nvPr/>
        </p:nvSpPr>
        <p:spPr>
          <a:xfrm>
            <a:off x="3112513" y="2754970"/>
            <a:ext cx="58915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The total measurement around the edge of the circle.</a:t>
            </a:r>
            <a:endParaRPr lang="en-AU" dirty="0"/>
          </a:p>
        </p:txBody>
      </p:sp>
      <p:sp>
        <p:nvSpPr>
          <p:cNvPr id="13" name="TextBox 12"/>
          <p:cNvSpPr txBox="1"/>
          <p:nvPr/>
        </p:nvSpPr>
        <p:spPr>
          <a:xfrm>
            <a:off x="270655" y="3319093"/>
            <a:ext cx="20302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Diameter</a:t>
            </a:r>
            <a:endParaRPr lang="en-AU" dirty="0"/>
          </a:p>
        </p:txBody>
      </p:sp>
      <p:sp>
        <p:nvSpPr>
          <p:cNvPr id="14" name="TextBox 13"/>
          <p:cNvSpPr txBox="1"/>
          <p:nvPr/>
        </p:nvSpPr>
        <p:spPr>
          <a:xfrm>
            <a:off x="3112513" y="3284814"/>
            <a:ext cx="56886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The straight line measurement from one side to the other, passing through the centre of the circle.</a:t>
            </a:r>
            <a:endParaRPr lang="en-AU" dirty="0"/>
          </a:p>
        </p:txBody>
      </p:sp>
      <p:sp>
        <p:nvSpPr>
          <p:cNvPr id="15" name="TextBox 14"/>
          <p:cNvSpPr txBox="1"/>
          <p:nvPr/>
        </p:nvSpPr>
        <p:spPr>
          <a:xfrm>
            <a:off x="278650" y="4103784"/>
            <a:ext cx="2022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Radius</a:t>
            </a:r>
            <a:endParaRPr lang="en-AU" dirty="0"/>
          </a:p>
        </p:txBody>
      </p:sp>
      <p:sp>
        <p:nvSpPr>
          <p:cNvPr id="16" name="TextBox 15"/>
          <p:cNvSpPr txBox="1"/>
          <p:nvPr/>
        </p:nvSpPr>
        <p:spPr>
          <a:xfrm>
            <a:off x="3111484" y="4103784"/>
            <a:ext cx="56886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The straight line measurement from the centre of the circle to the edge.</a:t>
            </a:r>
            <a:endParaRPr lang="en-AU" dirty="0"/>
          </a:p>
        </p:txBody>
      </p:sp>
      <p:sp>
        <p:nvSpPr>
          <p:cNvPr id="17" name="TextBox 16"/>
          <p:cNvSpPr txBox="1"/>
          <p:nvPr/>
        </p:nvSpPr>
        <p:spPr>
          <a:xfrm>
            <a:off x="3111484" y="4760656"/>
            <a:ext cx="56886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The radius is half the length of the diameter.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6469895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112998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Circles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75004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What do I need to know about circles?</a:t>
            </a:r>
            <a:endParaRPr lang="en-AU" sz="2400" dirty="0"/>
          </a:p>
        </p:txBody>
      </p:sp>
      <p:sp>
        <p:nvSpPr>
          <p:cNvPr id="2" name="TextBox 1"/>
          <p:cNvSpPr txBox="1"/>
          <p:nvPr/>
        </p:nvSpPr>
        <p:spPr>
          <a:xfrm>
            <a:off x="233772" y="2006181"/>
            <a:ext cx="24482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is a circle?</a:t>
            </a:r>
            <a:endParaRPr lang="en-AU" dirty="0"/>
          </a:p>
        </p:txBody>
      </p:sp>
      <p:sp>
        <p:nvSpPr>
          <p:cNvPr id="3" name="TextBox 2"/>
          <p:cNvSpPr txBox="1"/>
          <p:nvPr/>
        </p:nvSpPr>
        <p:spPr>
          <a:xfrm>
            <a:off x="3118770" y="1994356"/>
            <a:ext cx="58915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A 2D shape that has only one edge (or side) and no vertices (corners).</a:t>
            </a:r>
            <a:endParaRPr lang="en-AU" dirty="0"/>
          </a:p>
        </p:txBody>
      </p:sp>
      <p:sp>
        <p:nvSpPr>
          <p:cNvPr id="5" name="TextBox 4"/>
          <p:cNvSpPr txBox="1"/>
          <p:nvPr/>
        </p:nvSpPr>
        <p:spPr>
          <a:xfrm>
            <a:off x="278650" y="2754970"/>
            <a:ext cx="23585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Circumference</a:t>
            </a:r>
            <a:endParaRPr lang="en-AU" dirty="0"/>
          </a:p>
        </p:txBody>
      </p:sp>
      <p:sp>
        <p:nvSpPr>
          <p:cNvPr id="8" name="TextBox 7"/>
          <p:cNvSpPr txBox="1"/>
          <p:nvPr/>
        </p:nvSpPr>
        <p:spPr>
          <a:xfrm>
            <a:off x="3112513" y="2754970"/>
            <a:ext cx="58915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The total measurement around the edge of the circle.</a:t>
            </a:r>
            <a:endParaRPr lang="en-AU" dirty="0"/>
          </a:p>
        </p:txBody>
      </p:sp>
      <p:sp>
        <p:nvSpPr>
          <p:cNvPr id="13" name="TextBox 12"/>
          <p:cNvSpPr txBox="1"/>
          <p:nvPr/>
        </p:nvSpPr>
        <p:spPr>
          <a:xfrm>
            <a:off x="270655" y="3319093"/>
            <a:ext cx="20302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Diameter</a:t>
            </a:r>
            <a:endParaRPr lang="en-AU" dirty="0"/>
          </a:p>
        </p:txBody>
      </p:sp>
      <p:sp>
        <p:nvSpPr>
          <p:cNvPr id="14" name="TextBox 13"/>
          <p:cNvSpPr txBox="1"/>
          <p:nvPr/>
        </p:nvSpPr>
        <p:spPr>
          <a:xfrm>
            <a:off x="3112513" y="3284814"/>
            <a:ext cx="56886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The straight line measurement from one side to the other, passing through the centre of the circle.</a:t>
            </a:r>
            <a:endParaRPr lang="en-AU" dirty="0"/>
          </a:p>
        </p:txBody>
      </p:sp>
      <p:sp>
        <p:nvSpPr>
          <p:cNvPr id="15" name="TextBox 14"/>
          <p:cNvSpPr txBox="1"/>
          <p:nvPr/>
        </p:nvSpPr>
        <p:spPr>
          <a:xfrm>
            <a:off x="278650" y="4103784"/>
            <a:ext cx="2022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Radius</a:t>
            </a:r>
            <a:endParaRPr lang="en-AU" dirty="0"/>
          </a:p>
        </p:txBody>
      </p:sp>
      <p:sp>
        <p:nvSpPr>
          <p:cNvPr id="16" name="TextBox 15"/>
          <p:cNvSpPr txBox="1"/>
          <p:nvPr/>
        </p:nvSpPr>
        <p:spPr>
          <a:xfrm>
            <a:off x="3111484" y="4103784"/>
            <a:ext cx="56886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The straight line measurement from the centre of the circle to the edge.</a:t>
            </a:r>
            <a:endParaRPr lang="en-AU" dirty="0"/>
          </a:p>
        </p:txBody>
      </p:sp>
      <p:sp>
        <p:nvSpPr>
          <p:cNvPr id="17" name="TextBox 16"/>
          <p:cNvSpPr txBox="1"/>
          <p:nvPr/>
        </p:nvSpPr>
        <p:spPr>
          <a:xfrm>
            <a:off x="3111484" y="4760656"/>
            <a:ext cx="56886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The radius is half the length of the diameter.</a:t>
            </a:r>
            <a:endParaRPr lang="en-AU" dirty="0"/>
          </a:p>
        </p:txBody>
      </p:sp>
      <p:sp>
        <p:nvSpPr>
          <p:cNvPr id="18" name="TextBox 17"/>
          <p:cNvSpPr txBox="1"/>
          <p:nvPr/>
        </p:nvSpPr>
        <p:spPr>
          <a:xfrm>
            <a:off x="278882" y="5234716"/>
            <a:ext cx="17422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is pi (</a:t>
            </a:r>
            <a:r>
              <a:rPr lang="el-GR" dirty="0" smtClean="0"/>
              <a:t>π</a:t>
            </a:r>
            <a:r>
              <a:rPr lang="en-AU" dirty="0" smtClean="0"/>
              <a:t>)?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0207233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112998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Circles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75004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What do I need to know about circles?</a:t>
            </a:r>
            <a:endParaRPr lang="en-AU" sz="2400" dirty="0"/>
          </a:p>
        </p:txBody>
      </p:sp>
      <p:sp>
        <p:nvSpPr>
          <p:cNvPr id="2" name="TextBox 1"/>
          <p:cNvSpPr txBox="1"/>
          <p:nvPr/>
        </p:nvSpPr>
        <p:spPr>
          <a:xfrm>
            <a:off x="233772" y="2006181"/>
            <a:ext cx="24482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is a circle?</a:t>
            </a:r>
            <a:endParaRPr lang="en-AU" dirty="0"/>
          </a:p>
        </p:txBody>
      </p:sp>
      <p:sp>
        <p:nvSpPr>
          <p:cNvPr id="3" name="TextBox 2"/>
          <p:cNvSpPr txBox="1"/>
          <p:nvPr/>
        </p:nvSpPr>
        <p:spPr>
          <a:xfrm>
            <a:off x="3118770" y="1994356"/>
            <a:ext cx="58915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A 2D shape that has only one edge (or side) and no vertices (corners).</a:t>
            </a:r>
            <a:endParaRPr lang="en-AU" dirty="0"/>
          </a:p>
        </p:txBody>
      </p:sp>
      <p:sp>
        <p:nvSpPr>
          <p:cNvPr id="5" name="TextBox 4"/>
          <p:cNvSpPr txBox="1"/>
          <p:nvPr/>
        </p:nvSpPr>
        <p:spPr>
          <a:xfrm>
            <a:off x="278650" y="2754970"/>
            <a:ext cx="23585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Circumference</a:t>
            </a:r>
            <a:endParaRPr lang="en-AU" dirty="0"/>
          </a:p>
        </p:txBody>
      </p:sp>
      <p:sp>
        <p:nvSpPr>
          <p:cNvPr id="8" name="TextBox 7"/>
          <p:cNvSpPr txBox="1"/>
          <p:nvPr/>
        </p:nvSpPr>
        <p:spPr>
          <a:xfrm>
            <a:off x="3112513" y="2754970"/>
            <a:ext cx="58915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The total measurement around the edge of the circle.</a:t>
            </a:r>
            <a:endParaRPr lang="en-AU" dirty="0"/>
          </a:p>
        </p:txBody>
      </p:sp>
      <p:sp>
        <p:nvSpPr>
          <p:cNvPr id="13" name="TextBox 12"/>
          <p:cNvSpPr txBox="1"/>
          <p:nvPr/>
        </p:nvSpPr>
        <p:spPr>
          <a:xfrm>
            <a:off x="270655" y="3319093"/>
            <a:ext cx="20302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Diameter</a:t>
            </a:r>
            <a:endParaRPr lang="en-AU" dirty="0"/>
          </a:p>
        </p:txBody>
      </p:sp>
      <p:sp>
        <p:nvSpPr>
          <p:cNvPr id="14" name="TextBox 13"/>
          <p:cNvSpPr txBox="1"/>
          <p:nvPr/>
        </p:nvSpPr>
        <p:spPr>
          <a:xfrm>
            <a:off x="3112513" y="3284814"/>
            <a:ext cx="56886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The straight line measurement from one side to the other, passing through the centre of the circle.</a:t>
            </a:r>
            <a:endParaRPr lang="en-AU" dirty="0"/>
          </a:p>
        </p:txBody>
      </p:sp>
      <p:sp>
        <p:nvSpPr>
          <p:cNvPr id="15" name="TextBox 14"/>
          <p:cNvSpPr txBox="1"/>
          <p:nvPr/>
        </p:nvSpPr>
        <p:spPr>
          <a:xfrm>
            <a:off x="278650" y="4103784"/>
            <a:ext cx="2022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Radius</a:t>
            </a:r>
            <a:endParaRPr lang="en-AU" dirty="0"/>
          </a:p>
        </p:txBody>
      </p:sp>
      <p:sp>
        <p:nvSpPr>
          <p:cNvPr id="16" name="TextBox 15"/>
          <p:cNvSpPr txBox="1"/>
          <p:nvPr/>
        </p:nvSpPr>
        <p:spPr>
          <a:xfrm>
            <a:off x="3111484" y="4103784"/>
            <a:ext cx="56886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The straight line measurement from the centre of the circle to the edge.</a:t>
            </a:r>
            <a:endParaRPr lang="en-AU" dirty="0"/>
          </a:p>
        </p:txBody>
      </p:sp>
      <p:sp>
        <p:nvSpPr>
          <p:cNvPr id="17" name="TextBox 16"/>
          <p:cNvSpPr txBox="1"/>
          <p:nvPr/>
        </p:nvSpPr>
        <p:spPr>
          <a:xfrm>
            <a:off x="3111484" y="4760656"/>
            <a:ext cx="56886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The radius is half the length of the diameter.</a:t>
            </a:r>
            <a:endParaRPr lang="en-AU" dirty="0"/>
          </a:p>
        </p:txBody>
      </p:sp>
      <p:sp>
        <p:nvSpPr>
          <p:cNvPr id="18" name="TextBox 17"/>
          <p:cNvSpPr txBox="1"/>
          <p:nvPr/>
        </p:nvSpPr>
        <p:spPr>
          <a:xfrm>
            <a:off x="278882" y="5234716"/>
            <a:ext cx="17422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is pi (</a:t>
            </a:r>
            <a:r>
              <a:rPr lang="el-GR" dirty="0" smtClean="0"/>
              <a:t>π</a:t>
            </a:r>
            <a:r>
              <a:rPr lang="en-AU" dirty="0" smtClean="0"/>
              <a:t>)?</a:t>
            </a:r>
            <a:endParaRPr lang="en-AU" dirty="0"/>
          </a:p>
        </p:txBody>
      </p:sp>
      <p:sp>
        <p:nvSpPr>
          <p:cNvPr id="19" name="TextBox 18"/>
          <p:cNvSpPr txBox="1"/>
          <p:nvPr/>
        </p:nvSpPr>
        <p:spPr>
          <a:xfrm>
            <a:off x="3118770" y="5234716"/>
            <a:ext cx="57737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dirty="0" smtClean="0"/>
              <a:t>π</a:t>
            </a:r>
            <a:r>
              <a:rPr lang="en-AU" dirty="0" smtClean="0"/>
              <a:t> is used in the formulas to find the circumference and area of circles.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5857315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112998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Circles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75004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What do I need to know about circles?</a:t>
            </a:r>
            <a:endParaRPr lang="en-AU" sz="2400" dirty="0"/>
          </a:p>
        </p:txBody>
      </p:sp>
      <p:sp>
        <p:nvSpPr>
          <p:cNvPr id="2" name="TextBox 1"/>
          <p:cNvSpPr txBox="1"/>
          <p:nvPr/>
        </p:nvSpPr>
        <p:spPr>
          <a:xfrm>
            <a:off x="233772" y="2006181"/>
            <a:ext cx="24482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is a circle?</a:t>
            </a:r>
            <a:endParaRPr lang="en-AU" dirty="0"/>
          </a:p>
        </p:txBody>
      </p:sp>
      <p:sp>
        <p:nvSpPr>
          <p:cNvPr id="3" name="TextBox 2"/>
          <p:cNvSpPr txBox="1"/>
          <p:nvPr/>
        </p:nvSpPr>
        <p:spPr>
          <a:xfrm>
            <a:off x="3118770" y="1994356"/>
            <a:ext cx="58915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A 2D shape that has only one edge (or side) and no vertices (corners).</a:t>
            </a:r>
            <a:endParaRPr lang="en-AU" dirty="0"/>
          </a:p>
        </p:txBody>
      </p:sp>
      <p:sp>
        <p:nvSpPr>
          <p:cNvPr id="5" name="TextBox 4"/>
          <p:cNvSpPr txBox="1"/>
          <p:nvPr/>
        </p:nvSpPr>
        <p:spPr>
          <a:xfrm>
            <a:off x="278650" y="2754970"/>
            <a:ext cx="23585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Circumference</a:t>
            </a:r>
            <a:endParaRPr lang="en-AU" dirty="0"/>
          </a:p>
        </p:txBody>
      </p:sp>
      <p:sp>
        <p:nvSpPr>
          <p:cNvPr id="8" name="TextBox 7"/>
          <p:cNvSpPr txBox="1"/>
          <p:nvPr/>
        </p:nvSpPr>
        <p:spPr>
          <a:xfrm>
            <a:off x="3112513" y="2754970"/>
            <a:ext cx="58915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The total measurement around the edge of the circle.</a:t>
            </a:r>
            <a:endParaRPr lang="en-AU" dirty="0"/>
          </a:p>
        </p:txBody>
      </p:sp>
      <p:sp>
        <p:nvSpPr>
          <p:cNvPr id="13" name="TextBox 12"/>
          <p:cNvSpPr txBox="1"/>
          <p:nvPr/>
        </p:nvSpPr>
        <p:spPr>
          <a:xfrm>
            <a:off x="270655" y="3319093"/>
            <a:ext cx="20302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Diameter</a:t>
            </a:r>
            <a:endParaRPr lang="en-AU" dirty="0"/>
          </a:p>
        </p:txBody>
      </p:sp>
      <p:sp>
        <p:nvSpPr>
          <p:cNvPr id="14" name="TextBox 13"/>
          <p:cNvSpPr txBox="1"/>
          <p:nvPr/>
        </p:nvSpPr>
        <p:spPr>
          <a:xfrm>
            <a:off x="3112513" y="3284814"/>
            <a:ext cx="56886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The straight line measurement from one side to the other, passing through the centre of the circle.</a:t>
            </a:r>
            <a:endParaRPr lang="en-AU" dirty="0"/>
          </a:p>
        </p:txBody>
      </p:sp>
      <p:sp>
        <p:nvSpPr>
          <p:cNvPr id="15" name="TextBox 14"/>
          <p:cNvSpPr txBox="1"/>
          <p:nvPr/>
        </p:nvSpPr>
        <p:spPr>
          <a:xfrm>
            <a:off x="278650" y="4103784"/>
            <a:ext cx="2022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Radius</a:t>
            </a:r>
            <a:endParaRPr lang="en-AU" dirty="0"/>
          </a:p>
        </p:txBody>
      </p:sp>
      <p:sp>
        <p:nvSpPr>
          <p:cNvPr id="16" name="TextBox 15"/>
          <p:cNvSpPr txBox="1"/>
          <p:nvPr/>
        </p:nvSpPr>
        <p:spPr>
          <a:xfrm>
            <a:off x="3111484" y="4103784"/>
            <a:ext cx="56886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The straight line measurement from the centre of the circle to the edge.</a:t>
            </a:r>
            <a:endParaRPr lang="en-AU" dirty="0"/>
          </a:p>
        </p:txBody>
      </p:sp>
      <p:sp>
        <p:nvSpPr>
          <p:cNvPr id="17" name="TextBox 16"/>
          <p:cNvSpPr txBox="1"/>
          <p:nvPr/>
        </p:nvSpPr>
        <p:spPr>
          <a:xfrm>
            <a:off x="3111484" y="4760656"/>
            <a:ext cx="56886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The radius is half the length of the diameter.</a:t>
            </a:r>
            <a:endParaRPr lang="en-AU" dirty="0"/>
          </a:p>
        </p:txBody>
      </p:sp>
      <p:sp>
        <p:nvSpPr>
          <p:cNvPr id="18" name="TextBox 17"/>
          <p:cNvSpPr txBox="1"/>
          <p:nvPr/>
        </p:nvSpPr>
        <p:spPr>
          <a:xfrm>
            <a:off x="278882" y="5234716"/>
            <a:ext cx="17422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is pi (</a:t>
            </a:r>
            <a:r>
              <a:rPr lang="el-GR" dirty="0" smtClean="0"/>
              <a:t>π</a:t>
            </a:r>
            <a:r>
              <a:rPr lang="en-AU" dirty="0" smtClean="0"/>
              <a:t>)?</a:t>
            </a:r>
            <a:endParaRPr lang="en-AU" dirty="0"/>
          </a:p>
        </p:txBody>
      </p:sp>
      <p:sp>
        <p:nvSpPr>
          <p:cNvPr id="19" name="TextBox 18"/>
          <p:cNvSpPr txBox="1"/>
          <p:nvPr/>
        </p:nvSpPr>
        <p:spPr>
          <a:xfrm>
            <a:off x="3118770" y="5234716"/>
            <a:ext cx="57737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dirty="0" smtClean="0"/>
              <a:t>π</a:t>
            </a:r>
            <a:r>
              <a:rPr lang="en-AU" dirty="0" smtClean="0"/>
              <a:t> is used in the formulas to find the circumference and area of circles.</a:t>
            </a:r>
            <a:endParaRPr lang="en-AU" dirty="0"/>
          </a:p>
        </p:txBody>
      </p:sp>
      <p:sp>
        <p:nvSpPr>
          <p:cNvPr id="20" name="TextBox 19"/>
          <p:cNvSpPr txBox="1"/>
          <p:nvPr/>
        </p:nvSpPr>
        <p:spPr>
          <a:xfrm>
            <a:off x="3118770" y="5881047"/>
            <a:ext cx="580017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Its value is 3.14 (correct to 2dp). It is an irrational number (it has no equivalent fraction) and is a non terminating decimal. 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7188125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Let’s think about </a:t>
            </a:r>
            <a:r>
              <a:rPr lang="el-GR" dirty="0" smtClean="0"/>
              <a:t>π</a:t>
            </a:r>
            <a:endParaRPr lang="en-AU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812" y="1974250"/>
            <a:ext cx="8460376" cy="29095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41812" y="3356992"/>
            <a:ext cx="3942156" cy="432048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" name="Rectangle 5"/>
          <p:cNvSpPr/>
          <p:nvPr/>
        </p:nvSpPr>
        <p:spPr>
          <a:xfrm>
            <a:off x="1043608" y="2974866"/>
            <a:ext cx="3240360" cy="382126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" name="Rectangle 4"/>
          <p:cNvSpPr/>
          <p:nvPr/>
        </p:nvSpPr>
        <p:spPr>
          <a:xfrm>
            <a:off x="4572000" y="3284984"/>
            <a:ext cx="1080120" cy="216024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8" name="Rectangle 7"/>
          <p:cNvSpPr/>
          <p:nvPr/>
        </p:nvSpPr>
        <p:spPr>
          <a:xfrm>
            <a:off x="5940152" y="3284984"/>
            <a:ext cx="1080120" cy="216024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476367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112998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Circles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75004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What do I need to know about circles?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36010168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112998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Circles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75004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What do I need to know about circles?</a:t>
            </a:r>
            <a:endParaRPr lang="en-AU" sz="2400" dirty="0"/>
          </a:p>
        </p:txBody>
      </p:sp>
      <p:sp>
        <p:nvSpPr>
          <p:cNvPr id="21" name="TextBox 20"/>
          <p:cNvSpPr txBox="1"/>
          <p:nvPr/>
        </p:nvSpPr>
        <p:spPr>
          <a:xfrm>
            <a:off x="119514" y="2132856"/>
            <a:ext cx="26522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How do I find the circumference of a circle?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3806970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112998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Circles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75004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What do I need to know about circles?</a:t>
            </a:r>
            <a:endParaRPr lang="en-AU" sz="2400" dirty="0"/>
          </a:p>
        </p:txBody>
      </p:sp>
      <p:sp>
        <p:nvSpPr>
          <p:cNvPr id="21" name="TextBox 20"/>
          <p:cNvSpPr txBox="1"/>
          <p:nvPr/>
        </p:nvSpPr>
        <p:spPr>
          <a:xfrm>
            <a:off x="119514" y="2132856"/>
            <a:ext cx="26522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How do I find the circumference of a circle?</a:t>
            </a:r>
            <a:endParaRPr lang="en-AU" dirty="0"/>
          </a:p>
        </p:txBody>
      </p:sp>
      <p:sp>
        <p:nvSpPr>
          <p:cNvPr id="22" name="TextBox 21"/>
          <p:cNvSpPr txBox="1"/>
          <p:nvPr/>
        </p:nvSpPr>
        <p:spPr>
          <a:xfrm>
            <a:off x="3059833" y="2132856"/>
            <a:ext cx="59046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Circumference = </a:t>
            </a:r>
            <a:r>
              <a:rPr lang="el-GR" dirty="0" smtClean="0"/>
              <a:t>π</a:t>
            </a:r>
            <a:r>
              <a:rPr lang="en-AU" dirty="0" smtClean="0"/>
              <a:t> x diameter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6299656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112998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Circles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75004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What do I need to know about circles?</a:t>
            </a:r>
            <a:endParaRPr lang="en-AU" sz="2400" dirty="0"/>
          </a:p>
        </p:txBody>
      </p:sp>
      <p:sp>
        <p:nvSpPr>
          <p:cNvPr id="21" name="TextBox 20"/>
          <p:cNvSpPr txBox="1"/>
          <p:nvPr/>
        </p:nvSpPr>
        <p:spPr>
          <a:xfrm>
            <a:off x="119514" y="2132856"/>
            <a:ext cx="26522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How do I find the circumference of a circle?</a:t>
            </a:r>
            <a:endParaRPr lang="en-AU" dirty="0"/>
          </a:p>
        </p:txBody>
      </p:sp>
      <p:sp>
        <p:nvSpPr>
          <p:cNvPr id="22" name="TextBox 21"/>
          <p:cNvSpPr txBox="1"/>
          <p:nvPr/>
        </p:nvSpPr>
        <p:spPr>
          <a:xfrm>
            <a:off x="3059833" y="2132856"/>
            <a:ext cx="59046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Circumference = </a:t>
            </a:r>
            <a:r>
              <a:rPr lang="el-GR" dirty="0" smtClean="0"/>
              <a:t>π</a:t>
            </a:r>
            <a:r>
              <a:rPr lang="en-AU" dirty="0" smtClean="0"/>
              <a:t> x diameter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3131840" y="2564904"/>
                <a:ext cx="583264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l-GR" b="0" i="1" smtClean="0">
                          <a:latin typeface="Cambria Math" panose="02040503050406030204" pitchFamily="18" charset="0"/>
                        </a:rPr>
                        <m:t>π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𝑑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1840" y="2564904"/>
                <a:ext cx="5832649" cy="369332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75622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112998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Circles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75004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What do I need to know about circles?</a:t>
            </a:r>
            <a:endParaRPr lang="en-AU" sz="2400" dirty="0"/>
          </a:p>
        </p:txBody>
      </p:sp>
      <p:sp>
        <p:nvSpPr>
          <p:cNvPr id="21" name="TextBox 20"/>
          <p:cNvSpPr txBox="1"/>
          <p:nvPr/>
        </p:nvSpPr>
        <p:spPr>
          <a:xfrm>
            <a:off x="119514" y="2132856"/>
            <a:ext cx="26522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How do I find the circumference of a circle?</a:t>
            </a:r>
            <a:endParaRPr lang="en-AU" dirty="0"/>
          </a:p>
        </p:txBody>
      </p:sp>
      <p:sp>
        <p:nvSpPr>
          <p:cNvPr id="22" name="TextBox 21"/>
          <p:cNvSpPr txBox="1"/>
          <p:nvPr/>
        </p:nvSpPr>
        <p:spPr>
          <a:xfrm>
            <a:off x="3059833" y="2132856"/>
            <a:ext cx="59046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Circumference = </a:t>
            </a:r>
            <a:r>
              <a:rPr lang="el-GR" dirty="0" smtClean="0"/>
              <a:t>π</a:t>
            </a:r>
            <a:r>
              <a:rPr lang="en-AU" dirty="0" smtClean="0"/>
              <a:t> x diameter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3131840" y="2564904"/>
                <a:ext cx="583264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l-GR" b="0" i="1" smtClean="0">
                          <a:latin typeface="Cambria Math" panose="02040503050406030204" pitchFamily="18" charset="0"/>
                        </a:rPr>
                        <m:t>π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𝑑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1840" y="2564904"/>
                <a:ext cx="5832649" cy="369332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TextBox 23"/>
          <p:cNvSpPr txBox="1"/>
          <p:nvPr/>
        </p:nvSpPr>
        <p:spPr>
          <a:xfrm>
            <a:off x="3102336" y="3144152"/>
            <a:ext cx="58326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Since the diameter is twice the length of the radius, it can also be found as: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4427554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112998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Circles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75004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What do I need to know about circles?</a:t>
            </a:r>
            <a:endParaRPr lang="en-AU" sz="2400" dirty="0"/>
          </a:p>
        </p:txBody>
      </p:sp>
      <p:sp>
        <p:nvSpPr>
          <p:cNvPr id="21" name="TextBox 20"/>
          <p:cNvSpPr txBox="1"/>
          <p:nvPr/>
        </p:nvSpPr>
        <p:spPr>
          <a:xfrm>
            <a:off x="119514" y="2132856"/>
            <a:ext cx="26522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How do I find the circumference of a circle?</a:t>
            </a:r>
            <a:endParaRPr lang="en-AU" dirty="0"/>
          </a:p>
        </p:txBody>
      </p:sp>
      <p:sp>
        <p:nvSpPr>
          <p:cNvPr id="22" name="TextBox 21"/>
          <p:cNvSpPr txBox="1"/>
          <p:nvPr/>
        </p:nvSpPr>
        <p:spPr>
          <a:xfrm>
            <a:off x="3059833" y="2132856"/>
            <a:ext cx="59046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Circumference = </a:t>
            </a:r>
            <a:r>
              <a:rPr lang="el-GR" dirty="0" smtClean="0"/>
              <a:t>π</a:t>
            </a:r>
            <a:r>
              <a:rPr lang="en-AU" dirty="0" smtClean="0"/>
              <a:t> x diameter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3131840" y="2564904"/>
                <a:ext cx="583264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l-GR" b="0" i="1" smtClean="0">
                          <a:latin typeface="Cambria Math" panose="02040503050406030204" pitchFamily="18" charset="0"/>
                        </a:rPr>
                        <m:t>π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𝑑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1840" y="2564904"/>
                <a:ext cx="5832649" cy="369332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TextBox 23"/>
          <p:cNvSpPr txBox="1"/>
          <p:nvPr/>
        </p:nvSpPr>
        <p:spPr>
          <a:xfrm>
            <a:off x="3102336" y="3144152"/>
            <a:ext cx="58326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Since the diameter is twice the length of the radius, it can also be found as:</a:t>
            </a:r>
            <a:endParaRPr lang="en-AU" dirty="0"/>
          </a:p>
        </p:txBody>
      </p:sp>
      <p:sp>
        <p:nvSpPr>
          <p:cNvPr id="25" name="TextBox 24"/>
          <p:cNvSpPr txBox="1"/>
          <p:nvPr/>
        </p:nvSpPr>
        <p:spPr>
          <a:xfrm>
            <a:off x="3131840" y="3790483"/>
            <a:ext cx="54726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Circumference = </a:t>
            </a:r>
            <a:r>
              <a:rPr lang="el-GR" dirty="0" smtClean="0"/>
              <a:t>π</a:t>
            </a:r>
            <a:r>
              <a:rPr lang="en-AU" dirty="0" smtClean="0"/>
              <a:t> x 2 x radius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9412667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112998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Circles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75004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What do I need to know about circles?</a:t>
            </a:r>
            <a:endParaRPr lang="en-AU" sz="2400" dirty="0"/>
          </a:p>
        </p:txBody>
      </p:sp>
      <p:sp>
        <p:nvSpPr>
          <p:cNvPr id="21" name="TextBox 20"/>
          <p:cNvSpPr txBox="1"/>
          <p:nvPr/>
        </p:nvSpPr>
        <p:spPr>
          <a:xfrm>
            <a:off x="119514" y="2132856"/>
            <a:ext cx="26522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How do I find the circumference of a circle?</a:t>
            </a:r>
            <a:endParaRPr lang="en-AU" dirty="0"/>
          </a:p>
        </p:txBody>
      </p:sp>
      <p:sp>
        <p:nvSpPr>
          <p:cNvPr id="22" name="TextBox 21"/>
          <p:cNvSpPr txBox="1"/>
          <p:nvPr/>
        </p:nvSpPr>
        <p:spPr>
          <a:xfrm>
            <a:off x="3059833" y="2132856"/>
            <a:ext cx="59046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Circumference = </a:t>
            </a:r>
            <a:r>
              <a:rPr lang="el-GR" dirty="0" smtClean="0"/>
              <a:t>π</a:t>
            </a:r>
            <a:r>
              <a:rPr lang="en-AU" dirty="0" smtClean="0"/>
              <a:t> x diameter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3131840" y="2564904"/>
                <a:ext cx="583264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l-GR" b="0" i="1" smtClean="0">
                          <a:latin typeface="Cambria Math" panose="02040503050406030204" pitchFamily="18" charset="0"/>
                        </a:rPr>
                        <m:t>π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𝑑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1840" y="2564904"/>
                <a:ext cx="5832649" cy="369332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TextBox 23"/>
          <p:cNvSpPr txBox="1"/>
          <p:nvPr/>
        </p:nvSpPr>
        <p:spPr>
          <a:xfrm>
            <a:off x="3102336" y="3144152"/>
            <a:ext cx="58326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Since the diameter is twice the length of the radius, it can also be found as:</a:t>
            </a:r>
            <a:endParaRPr lang="en-AU" dirty="0"/>
          </a:p>
        </p:txBody>
      </p:sp>
      <p:sp>
        <p:nvSpPr>
          <p:cNvPr id="25" name="TextBox 24"/>
          <p:cNvSpPr txBox="1"/>
          <p:nvPr/>
        </p:nvSpPr>
        <p:spPr>
          <a:xfrm>
            <a:off x="3131840" y="3790483"/>
            <a:ext cx="54726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Circumference = </a:t>
            </a:r>
            <a:r>
              <a:rPr lang="el-GR" dirty="0" smtClean="0"/>
              <a:t>π</a:t>
            </a:r>
            <a:r>
              <a:rPr lang="en-AU" dirty="0" smtClean="0"/>
              <a:t> x 2 x radius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/>
              <p:cNvSpPr txBox="1"/>
              <p:nvPr/>
            </p:nvSpPr>
            <p:spPr>
              <a:xfrm>
                <a:off x="3203848" y="4293096"/>
                <a:ext cx="54006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=2</m:t>
                      </m:r>
                      <m:r>
                        <m:rPr>
                          <m:sty m:val="p"/>
                        </m:rPr>
                        <a:rPr lang="el-GR" b="0" i="1" smtClean="0">
                          <a:latin typeface="Cambria Math" panose="02040503050406030204" pitchFamily="18" charset="0"/>
                        </a:rPr>
                        <m:t>π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𝑟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3848" y="4293096"/>
                <a:ext cx="5400600" cy="369332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195856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112998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Circles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75004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What do I need to know about circles?</a:t>
            </a:r>
            <a:endParaRPr lang="en-AU" sz="2400" dirty="0"/>
          </a:p>
        </p:txBody>
      </p:sp>
      <p:sp>
        <p:nvSpPr>
          <p:cNvPr id="21" name="TextBox 20"/>
          <p:cNvSpPr txBox="1"/>
          <p:nvPr/>
        </p:nvSpPr>
        <p:spPr>
          <a:xfrm>
            <a:off x="119514" y="2132856"/>
            <a:ext cx="26522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How do I find the circumference of a circle?</a:t>
            </a:r>
            <a:endParaRPr lang="en-AU" dirty="0"/>
          </a:p>
        </p:txBody>
      </p:sp>
      <p:sp>
        <p:nvSpPr>
          <p:cNvPr id="22" name="TextBox 21"/>
          <p:cNvSpPr txBox="1"/>
          <p:nvPr/>
        </p:nvSpPr>
        <p:spPr>
          <a:xfrm>
            <a:off x="3059833" y="2132856"/>
            <a:ext cx="59046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Circumference = </a:t>
            </a:r>
            <a:r>
              <a:rPr lang="el-GR" dirty="0" smtClean="0"/>
              <a:t>π</a:t>
            </a:r>
            <a:r>
              <a:rPr lang="en-AU" dirty="0" smtClean="0"/>
              <a:t> x diameter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3131840" y="2564904"/>
                <a:ext cx="583264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l-GR" b="0" i="1" smtClean="0">
                          <a:latin typeface="Cambria Math" panose="02040503050406030204" pitchFamily="18" charset="0"/>
                        </a:rPr>
                        <m:t>π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𝑑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1840" y="2564904"/>
                <a:ext cx="5832649" cy="369332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TextBox 23"/>
          <p:cNvSpPr txBox="1"/>
          <p:nvPr/>
        </p:nvSpPr>
        <p:spPr>
          <a:xfrm>
            <a:off x="3102336" y="3144152"/>
            <a:ext cx="58326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Since the diameter is twice the length of the radius, it can also be found as:</a:t>
            </a:r>
            <a:endParaRPr lang="en-AU" dirty="0"/>
          </a:p>
        </p:txBody>
      </p:sp>
      <p:sp>
        <p:nvSpPr>
          <p:cNvPr id="25" name="TextBox 24"/>
          <p:cNvSpPr txBox="1"/>
          <p:nvPr/>
        </p:nvSpPr>
        <p:spPr>
          <a:xfrm>
            <a:off x="3131840" y="3790483"/>
            <a:ext cx="54726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Circumference = </a:t>
            </a:r>
            <a:r>
              <a:rPr lang="el-GR" dirty="0" smtClean="0"/>
              <a:t>π</a:t>
            </a:r>
            <a:r>
              <a:rPr lang="en-AU" dirty="0" smtClean="0"/>
              <a:t> x 2 x radius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/>
              <p:cNvSpPr txBox="1"/>
              <p:nvPr/>
            </p:nvSpPr>
            <p:spPr>
              <a:xfrm>
                <a:off x="3203848" y="4293096"/>
                <a:ext cx="54006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=2</m:t>
                      </m:r>
                      <m:r>
                        <m:rPr>
                          <m:sty m:val="p"/>
                        </m:rPr>
                        <a:rPr lang="el-GR" b="0" i="1" smtClean="0">
                          <a:latin typeface="Cambria Math" panose="02040503050406030204" pitchFamily="18" charset="0"/>
                        </a:rPr>
                        <m:t>π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𝑟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3848" y="4293096"/>
                <a:ext cx="5400600" cy="369332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TextBox 26"/>
          <p:cNvSpPr txBox="1"/>
          <p:nvPr/>
        </p:nvSpPr>
        <p:spPr>
          <a:xfrm>
            <a:off x="3203848" y="4662428"/>
            <a:ext cx="57311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*remember that multiplication can be done in any order</a:t>
            </a:r>
            <a:endParaRPr lang="en-AU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212014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112998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Circles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75004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What do I need to know about circles?</a:t>
            </a:r>
            <a:endParaRPr lang="en-AU" sz="2400" dirty="0"/>
          </a:p>
        </p:txBody>
      </p:sp>
      <p:sp>
        <p:nvSpPr>
          <p:cNvPr id="21" name="TextBox 20"/>
          <p:cNvSpPr txBox="1"/>
          <p:nvPr/>
        </p:nvSpPr>
        <p:spPr>
          <a:xfrm>
            <a:off x="119514" y="2132856"/>
            <a:ext cx="26522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How do I find the circumference of a circle?</a:t>
            </a:r>
            <a:endParaRPr lang="en-AU" dirty="0"/>
          </a:p>
        </p:txBody>
      </p:sp>
      <p:sp>
        <p:nvSpPr>
          <p:cNvPr id="22" name="TextBox 21"/>
          <p:cNvSpPr txBox="1"/>
          <p:nvPr/>
        </p:nvSpPr>
        <p:spPr>
          <a:xfrm>
            <a:off x="3059833" y="2132856"/>
            <a:ext cx="59046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Circumference = </a:t>
            </a:r>
            <a:r>
              <a:rPr lang="el-GR" dirty="0" smtClean="0"/>
              <a:t>π</a:t>
            </a:r>
            <a:r>
              <a:rPr lang="en-AU" dirty="0" smtClean="0"/>
              <a:t> x diameter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3131840" y="2564904"/>
                <a:ext cx="583264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l-GR" b="0" i="1" smtClean="0">
                          <a:latin typeface="Cambria Math" panose="02040503050406030204" pitchFamily="18" charset="0"/>
                        </a:rPr>
                        <m:t>π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𝑑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1840" y="2564904"/>
                <a:ext cx="5832649" cy="369332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TextBox 23"/>
          <p:cNvSpPr txBox="1"/>
          <p:nvPr/>
        </p:nvSpPr>
        <p:spPr>
          <a:xfrm>
            <a:off x="3102336" y="3144152"/>
            <a:ext cx="58326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Since the diameter is twice the length of the radius, it can also be found as:</a:t>
            </a:r>
            <a:endParaRPr lang="en-AU" dirty="0"/>
          </a:p>
        </p:txBody>
      </p:sp>
      <p:sp>
        <p:nvSpPr>
          <p:cNvPr id="25" name="TextBox 24"/>
          <p:cNvSpPr txBox="1"/>
          <p:nvPr/>
        </p:nvSpPr>
        <p:spPr>
          <a:xfrm>
            <a:off x="3131840" y="3790483"/>
            <a:ext cx="54726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Circumference = </a:t>
            </a:r>
            <a:r>
              <a:rPr lang="el-GR" dirty="0" smtClean="0"/>
              <a:t>π</a:t>
            </a:r>
            <a:r>
              <a:rPr lang="en-AU" dirty="0" smtClean="0"/>
              <a:t> x 2 x radius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/>
              <p:cNvSpPr txBox="1"/>
              <p:nvPr/>
            </p:nvSpPr>
            <p:spPr>
              <a:xfrm>
                <a:off x="3203848" y="4293096"/>
                <a:ext cx="54006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=2</m:t>
                      </m:r>
                      <m:r>
                        <m:rPr>
                          <m:sty m:val="p"/>
                        </m:rPr>
                        <a:rPr lang="el-GR" b="0" i="1" smtClean="0">
                          <a:latin typeface="Cambria Math" panose="02040503050406030204" pitchFamily="18" charset="0"/>
                        </a:rPr>
                        <m:t>π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𝑟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3848" y="4293096"/>
                <a:ext cx="5400600" cy="369332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TextBox 26"/>
          <p:cNvSpPr txBox="1"/>
          <p:nvPr/>
        </p:nvSpPr>
        <p:spPr>
          <a:xfrm>
            <a:off x="3203848" y="4662428"/>
            <a:ext cx="57311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*remember that multiplication can be done in any order</a:t>
            </a:r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79512" y="5157192"/>
            <a:ext cx="25922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How do I find the area of a circle?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6483236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112998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Circles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75004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What do I need to know about circles?</a:t>
            </a:r>
            <a:endParaRPr lang="en-AU" sz="2400" dirty="0"/>
          </a:p>
        </p:txBody>
      </p:sp>
      <p:sp>
        <p:nvSpPr>
          <p:cNvPr id="21" name="TextBox 20"/>
          <p:cNvSpPr txBox="1"/>
          <p:nvPr/>
        </p:nvSpPr>
        <p:spPr>
          <a:xfrm>
            <a:off x="119514" y="2132856"/>
            <a:ext cx="26522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How do I find the circumference of a circle?</a:t>
            </a:r>
            <a:endParaRPr lang="en-AU" dirty="0"/>
          </a:p>
        </p:txBody>
      </p:sp>
      <p:sp>
        <p:nvSpPr>
          <p:cNvPr id="22" name="TextBox 21"/>
          <p:cNvSpPr txBox="1"/>
          <p:nvPr/>
        </p:nvSpPr>
        <p:spPr>
          <a:xfrm>
            <a:off x="3059833" y="2132856"/>
            <a:ext cx="59046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Circumference = </a:t>
            </a:r>
            <a:r>
              <a:rPr lang="el-GR" dirty="0" smtClean="0"/>
              <a:t>π</a:t>
            </a:r>
            <a:r>
              <a:rPr lang="en-AU" dirty="0" smtClean="0"/>
              <a:t> x diameter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3131840" y="2564904"/>
                <a:ext cx="583264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l-GR" b="0" i="1" smtClean="0">
                          <a:latin typeface="Cambria Math" panose="02040503050406030204" pitchFamily="18" charset="0"/>
                        </a:rPr>
                        <m:t>π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𝑑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1840" y="2564904"/>
                <a:ext cx="5832649" cy="369332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TextBox 23"/>
          <p:cNvSpPr txBox="1"/>
          <p:nvPr/>
        </p:nvSpPr>
        <p:spPr>
          <a:xfrm>
            <a:off x="3102336" y="3144152"/>
            <a:ext cx="58326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Since the diameter is twice the length of the radius, it can also be found as:</a:t>
            </a:r>
            <a:endParaRPr lang="en-AU" dirty="0"/>
          </a:p>
        </p:txBody>
      </p:sp>
      <p:sp>
        <p:nvSpPr>
          <p:cNvPr id="25" name="TextBox 24"/>
          <p:cNvSpPr txBox="1"/>
          <p:nvPr/>
        </p:nvSpPr>
        <p:spPr>
          <a:xfrm>
            <a:off x="3131840" y="3790483"/>
            <a:ext cx="54726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Circumference = </a:t>
            </a:r>
            <a:r>
              <a:rPr lang="el-GR" dirty="0" smtClean="0"/>
              <a:t>π</a:t>
            </a:r>
            <a:r>
              <a:rPr lang="en-AU" dirty="0" smtClean="0"/>
              <a:t> x 2 x radius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/>
              <p:cNvSpPr txBox="1"/>
              <p:nvPr/>
            </p:nvSpPr>
            <p:spPr>
              <a:xfrm>
                <a:off x="3203848" y="4293096"/>
                <a:ext cx="54006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=2</m:t>
                      </m:r>
                      <m:r>
                        <m:rPr>
                          <m:sty m:val="p"/>
                        </m:rPr>
                        <a:rPr lang="el-GR" b="0" i="1" smtClean="0">
                          <a:latin typeface="Cambria Math" panose="02040503050406030204" pitchFamily="18" charset="0"/>
                        </a:rPr>
                        <m:t>π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𝑟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3848" y="4293096"/>
                <a:ext cx="5400600" cy="369332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TextBox 26"/>
          <p:cNvSpPr txBox="1"/>
          <p:nvPr/>
        </p:nvSpPr>
        <p:spPr>
          <a:xfrm>
            <a:off x="3203848" y="4662428"/>
            <a:ext cx="57311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*remember that multiplication can be done in any order</a:t>
            </a:r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79512" y="5157192"/>
            <a:ext cx="25922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How do I find the area of a circle?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/>
              <p:cNvSpPr txBox="1"/>
              <p:nvPr/>
            </p:nvSpPr>
            <p:spPr>
              <a:xfrm>
                <a:off x="3203848" y="5301208"/>
                <a:ext cx="553608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 smtClean="0"/>
                  <a:t>Area = </a:t>
                </a:r>
                <a:r>
                  <a:rPr lang="el-GR" dirty="0" smtClean="0"/>
                  <a:t>π</a:t>
                </a:r>
                <a:r>
                  <a:rPr lang="en-AU" dirty="0" smtClean="0"/>
                  <a:t> x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𝑟𝑎𝑑𝑖𝑢𝑠</m:t>
                        </m:r>
                      </m:e>
                      <m:sup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30" name="TextBox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3848" y="5301208"/>
                <a:ext cx="5536088" cy="369332"/>
              </a:xfrm>
              <a:prstGeom prst="rect">
                <a:avLst/>
              </a:prstGeom>
              <a:blipFill rotWithShape="0">
                <a:blip r:embed="rId4"/>
                <a:stretch>
                  <a:fillRect l="-991" t="-10000" b="-2666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368201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112998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Circles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75004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What do I need to know about circles?</a:t>
            </a:r>
            <a:endParaRPr lang="en-AU" sz="2400" dirty="0"/>
          </a:p>
        </p:txBody>
      </p:sp>
      <p:sp>
        <p:nvSpPr>
          <p:cNvPr id="21" name="TextBox 20"/>
          <p:cNvSpPr txBox="1"/>
          <p:nvPr/>
        </p:nvSpPr>
        <p:spPr>
          <a:xfrm>
            <a:off x="119514" y="2132856"/>
            <a:ext cx="26522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How do I find the circumference of a circle?</a:t>
            </a:r>
            <a:endParaRPr lang="en-AU" dirty="0"/>
          </a:p>
        </p:txBody>
      </p:sp>
      <p:sp>
        <p:nvSpPr>
          <p:cNvPr id="22" name="TextBox 21"/>
          <p:cNvSpPr txBox="1"/>
          <p:nvPr/>
        </p:nvSpPr>
        <p:spPr>
          <a:xfrm>
            <a:off x="3059833" y="2132856"/>
            <a:ext cx="59046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Circumference = </a:t>
            </a:r>
            <a:r>
              <a:rPr lang="el-GR" dirty="0" smtClean="0"/>
              <a:t>π</a:t>
            </a:r>
            <a:r>
              <a:rPr lang="en-AU" dirty="0" smtClean="0"/>
              <a:t> x diameter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3131840" y="2564904"/>
                <a:ext cx="583264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l-GR" b="0" i="1" smtClean="0">
                          <a:latin typeface="Cambria Math" panose="02040503050406030204" pitchFamily="18" charset="0"/>
                        </a:rPr>
                        <m:t>π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𝑑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1840" y="2564904"/>
                <a:ext cx="5832649" cy="369332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TextBox 23"/>
          <p:cNvSpPr txBox="1"/>
          <p:nvPr/>
        </p:nvSpPr>
        <p:spPr>
          <a:xfrm>
            <a:off x="3102336" y="3144152"/>
            <a:ext cx="58326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Since the diameter is twice the length of the radius, it can also be found as:</a:t>
            </a:r>
            <a:endParaRPr lang="en-AU" dirty="0"/>
          </a:p>
        </p:txBody>
      </p:sp>
      <p:sp>
        <p:nvSpPr>
          <p:cNvPr id="25" name="TextBox 24"/>
          <p:cNvSpPr txBox="1"/>
          <p:nvPr/>
        </p:nvSpPr>
        <p:spPr>
          <a:xfrm>
            <a:off x="3131840" y="3790483"/>
            <a:ext cx="54726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Circumference = </a:t>
            </a:r>
            <a:r>
              <a:rPr lang="el-GR" dirty="0" smtClean="0"/>
              <a:t>π</a:t>
            </a:r>
            <a:r>
              <a:rPr lang="en-AU" dirty="0" smtClean="0"/>
              <a:t> x 2 x radius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/>
              <p:cNvSpPr txBox="1"/>
              <p:nvPr/>
            </p:nvSpPr>
            <p:spPr>
              <a:xfrm>
                <a:off x="3203848" y="4293096"/>
                <a:ext cx="54006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=2</m:t>
                      </m:r>
                      <m:r>
                        <m:rPr>
                          <m:sty m:val="p"/>
                        </m:rPr>
                        <a:rPr lang="el-GR" b="0" i="1" smtClean="0">
                          <a:latin typeface="Cambria Math" panose="02040503050406030204" pitchFamily="18" charset="0"/>
                        </a:rPr>
                        <m:t>π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𝑟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3848" y="4293096"/>
                <a:ext cx="5400600" cy="369332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TextBox 26"/>
          <p:cNvSpPr txBox="1"/>
          <p:nvPr/>
        </p:nvSpPr>
        <p:spPr>
          <a:xfrm>
            <a:off x="3203848" y="4662428"/>
            <a:ext cx="57311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*remember that multiplication can be done in any order</a:t>
            </a:r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79512" y="5157192"/>
            <a:ext cx="25922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How do I find the area of a circle?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/>
              <p:cNvSpPr txBox="1"/>
              <p:nvPr/>
            </p:nvSpPr>
            <p:spPr>
              <a:xfrm>
                <a:off x="5580774" y="5766545"/>
                <a:ext cx="862774" cy="27432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AU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l-GR" i="1" smtClean="0">
                          <a:latin typeface="Cambria Math" panose="02040503050406030204" pitchFamily="18" charset="0"/>
                        </a:rPr>
                        <m:t>𝜋</m:t>
                      </m:r>
                      <m:sSup>
                        <m:sSupPr>
                          <m:ctrlPr>
                            <a:rPr lang="en-AU" i="1" smtClean="0">
                              <a:latin typeface="Cambria Math" charset="0"/>
                            </a:rPr>
                          </m:ctrlPr>
                        </m:sSupPr>
                        <m:e>
                          <m:r>
                            <a:rPr lang="en-AU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p>
                          <m:r>
                            <a:rPr lang="en-AU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29" name="TextBox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80774" y="5766545"/>
                <a:ext cx="862774" cy="274320"/>
              </a:xfrm>
              <a:prstGeom prst="rect">
                <a:avLst/>
              </a:prstGeom>
              <a:blipFill rotWithShape="0">
                <a:blip r:embed="rId4"/>
                <a:stretch>
                  <a:fillRect l="-6338" t="-4444" r="-2817" b="-666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/>
              <p:cNvSpPr txBox="1"/>
              <p:nvPr/>
            </p:nvSpPr>
            <p:spPr>
              <a:xfrm>
                <a:off x="3203848" y="5301208"/>
                <a:ext cx="553608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 smtClean="0"/>
                  <a:t>Area = </a:t>
                </a:r>
                <a:r>
                  <a:rPr lang="el-GR" dirty="0" smtClean="0"/>
                  <a:t>π</a:t>
                </a:r>
                <a:r>
                  <a:rPr lang="en-AU" dirty="0" smtClean="0"/>
                  <a:t> x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𝑟𝑎𝑑𝑖𝑢𝑠</m:t>
                        </m:r>
                      </m:e>
                      <m:sup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30" name="TextBox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3848" y="5301208"/>
                <a:ext cx="5536088" cy="369332"/>
              </a:xfrm>
              <a:prstGeom prst="rect">
                <a:avLst/>
              </a:prstGeom>
              <a:blipFill rotWithShape="0">
                <a:blip r:embed="rId5"/>
                <a:stretch>
                  <a:fillRect l="-991" t="-10000" b="-2666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398002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112998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Circles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75004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What do I need to know about circles?</a:t>
            </a:r>
            <a:endParaRPr lang="en-AU" sz="2400" dirty="0"/>
          </a:p>
        </p:txBody>
      </p:sp>
      <p:sp>
        <p:nvSpPr>
          <p:cNvPr id="21" name="TextBox 20"/>
          <p:cNvSpPr txBox="1"/>
          <p:nvPr/>
        </p:nvSpPr>
        <p:spPr>
          <a:xfrm>
            <a:off x="119514" y="2132856"/>
            <a:ext cx="26522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How do I find the circumference of a circle?</a:t>
            </a:r>
            <a:endParaRPr lang="en-AU" dirty="0"/>
          </a:p>
        </p:txBody>
      </p:sp>
      <p:sp>
        <p:nvSpPr>
          <p:cNvPr id="22" name="TextBox 21"/>
          <p:cNvSpPr txBox="1"/>
          <p:nvPr/>
        </p:nvSpPr>
        <p:spPr>
          <a:xfrm>
            <a:off x="3059833" y="2132856"/>
            <a:ext cx="59046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Circumference = </a:t>
            </a:r>
            <a:r>
              <a:rPr lang="el-GR" dirty="0" smtClean="0"/>
              <a:t>π</a:t>
            </a:r>
            <a:r>
              <a:rPr lang="en-AU" dirty="0" smtClean="0"/>
              <a:t> x diameter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3131840" y="2564904"/>
                <a:ext cx="583264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l-GR" b="0" i="1" smtClean="0">
                          <a:latin typeface="Cambria Math" panose="02040503050406030204" pitchFamily="18" charset="0"/>
                        </a:rPr>
                        <m:t>π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𝑑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1840" y="2564904"/>
                <a:ext cx="5832649" cy="369332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TextBox 23"/>
          <p:cNvSpPr txBox="1"/>
          <p:nvPr/>
        </p:nvSpPr>
        <p:spPr>
          <a:xfrm>
            <a:off x="3102336" y="3144152"/>
            <a:ext cx="58326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Since the diameter is twice the length of the radius, it can also be found as:</a:t>
            </a:r>
            <a:endParaRPr lang="en-AU" dirty="0"/>
          </a:p>
        </p:txBody>
      </p:sp>
      <p:sp>
        <p:nvSpPr>
          <p:cNvPr id="25" name="TextBox 24"/>
          <p:cNvSpPr txBox="1"/>
          <p:nvPr/>
        </p:nvSpPr>
        <p:spPr>
          <a:xfrm>
            <a:off x="3131840" y="3790483"/>
            <a:ext cx="54726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Circumference = </a:t>
            </a:r>
            <a:r>
              <a:rPr lang="el-GR" dirty="0" smtClean="0"/>
              <a:t>π</a:t>
            </a:r>
            <a:r>
              <a:rPr lang="en-AU" dirty="0" smtClean="0"/>
              <a:t> x 2 x radius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/>
              <p:cNvSpPr txBox="1"/>
              <p:nvPr/>
            </p:nvSpPr>
            <p:spPr>
              <a:xfrm>
                <a:off x="3203848" y="4293096"/>
                <a:ext cx="54006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=2</m:t>
                      </m:r>
                      <m:r>
                        <m:rPr>
                          <m:sty m:val="p"/>
                        </m:rPr>
                        <a:rPr lang="el-GR" b="0" i="1" smtClean="0">
                          <a:latin typeface="Cambria Math" panose="02040503050406030204" pitchFamily="18" charset="0"/>
                        </a:rPr>
                        <m:t>π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𝑟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3848" y="4293096"/>
                <a:ext cx="5400600" cy="369332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TextBox 26"/>
          <p:cNvSpPr txBox="1"/>
          <p:nvPr/>
        </p:nvSpPr>
        <p:spPr>
          <a:xfrm>
            <a:off x="3203848" y="4662428"/>
            <a:ext cx="57311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*remember that multiplication can be done in any order</a:t>
            </a:r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79512" y="5157192"/>
            <a:ext cx="25922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How do I find the area of a circle?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/>
              <p:cNvSpPr txBox="1"/>
              <p:nvPr/>
            </p:nvSpPr>
            <p:spPr>
              <a:xfrm>
                <a:off x="5580774" y="5766545"/>
                <a:ext cx="862774" cy="27432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AU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l-GR" i="1" smtClean="0">
                          <a:latin typeface="Cambria Math" panose="02040503050406030204" pitchFamily="18" charset="0"/>
                        </a:rPr>
                        <m:t>𝜋</m:t>
                      </m:r>
                      <m:sSup>
                        <m:sSupPr>
                          <m:ctrlPr>
                            <a:rPr lang="en-AU" i="1" smtClean="0">
                              <a:latin typeface="Cambria Math" charset="0"/>
                            </a:rPr>
                          </m:ctrlPr>
                        </m:sSupPr>
                        <m:e>
                          <m:r>
                            <a:rPr lang="en-AU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p>
                          <m:r>
                            <a:rPr lang="en-AU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29" name="TextBox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80774" y="5766545"/>
                <a:ext cx="862774" cy="274320"/>
              </a:xfrm>
              <a:prstGeom prst="rect">
                <a:avLst/>
              </a:prstGeom>
              <a:blipFill rotWithShape="0">
                <a:blip r:embed="rId4"/>
                <a:stretch>
                  <a:fillRect l="-6338" t="-4444" r="-2817" b="-666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/>
              <p:cNvSpPr txBox="1"/>
              <p:nvPr/>
            </p:nvSpPr>
            <p:spPr>
              <a:xfrm>
                <a:off x="3203848" y="5301208"/>
                <a:ext cx="553608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 smtClean="0"/>
                  <a:t>Area = </a:t>
                </a:r>
                <a:r>
                  <a:rPr lang="el-GR" dirty="0" smtClean="0"/>
                  <a:t>π</a:t>
                </a:r>
                <a:r>
                  <a:rPr lang="en-AU" dirty="0" smtClean="0"/>
                  <a:t> x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𝑟𝑎𝑑𝑖𝑢𝑠</m:t>
                        </m:r>
                      </m:e>
                      <m:sup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30" name="TextBox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3848" y="5301208"/>
                <a:ext cx="5536088" cy="369332"/>
              </a:xfrm>
              <a:prstGeom prst="rect">
                <a:avLst/>
              </a:prstGeom>
              <a:blipFill rotWithShape="0">
                <a:blip r:embed="rId5"/>
                <a:stretch>
                  <a:fillRect l="-991" t="-10000" b="-2666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TextBox 30"/>
          <p:cNvSpPr txBox="1"/>
          <p:nvPr/>
        </p:nvSpPr>
        <p:spPr>
          <a:xfrm>
            <a:off x="3200344" y="6136870"/>
            <a:ext cx="56591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*you may need to find the radius first.</a:t>
            </a:r>
            <a:endParaRPr lang="en-AU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385574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Task</a:t>
            </a:r>
            <a:endParaRPr lang="en-AU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576" y="1268760"/>
            <a:ext cx="7845076" cy="336600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576" y="4725144"/>
            <a:ext cx="8042851" cy="19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79731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Answers</a:t>
            </a:r>
            <a:endParaRPr lang="en-AU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9631" y="1772816"/>
            <a:ext cx="6634539" cy="792088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616" y="2927282"/>
            <a:ext cx="6458782" cy="4015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56740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Notes Review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AU" dirty="0" smtClean="0"/>
              <a:t>24, 7 ,30</a:t>
            </a:r>
          </a:p>
          <a:p>
            <a:r>
              <a:rPr lang="en-AU" dirty="0" smtClean="0"/>
              <a:t>Date</a:t>
            </a:r>
          </a:p>
          <a:p>
            <a:r>
              <a:rPr lang="en-AU" dirty="0" smtClean="0"/>
              <a:t>Title</a:t>
            </a:r>
          </a:p>
          <a:p>
            <a:r>
              <a:rPr lang="en-AU" dirty="0" smtClean="0"/>
              <a:t>Essential question</a:t>
            </a:r>
          </a:p>
          <a:p>
            <a:r>
              <a:rPr lang="en-AU" dirty="0" smtClean="0"/>
              <a:t>Notes complete </a:t>
            </a:r>
          </a:p>
          <a:p>
            <a:r>
              <a:rPr lang="en-AU" dirty="0" smtClean="0"/>
              <a:t>Notes complete with colour and diagrams</a:t>
            </a:r>
          </a:p>
          <a:p>
            <a:r>
              <a:rPr lang="en-AU" dirty="0" smtClean="0"/>
              <a:t>Questions completed</a:t>
            </a:r>
          </a:p>
          <a:p>
            <a:r>
              <a:rPr lang="en-AU" dirty="0" smtClean="0"/>
              <a:t>Contents page filed in</a:t>
            </a:r>
          </a:p>
          <a:p>
            <a:r>
              <a:rPr lang="en-AU" dirty="0" smtClean="0"/>
              <a:t>Formula page filled in</a:t>
            </a:r>
          </a:p>
          <a:p>
            <a:pPr marL="0" indent="0">
              <a:buNone/>
            </a:pPr>
            <a:endParaRPr lang="en-AU" dirty="0" smtClean="0"/>
          </a:p>
          <a:p>
            <a:endParaRPr lang="en-AU" dirty="0" smtClean="0"/>
          </a:p>
        </p:txBody>
      </p:sp>
    </p:spTree>
    <p:extLst>
      <p:ext uri="{BB962C8B-B14F-4D97-AF65-F5344CB8AC3E}">
        <p14:creationId xmlns:p14="http://schemas.microsoft.com/office/powerpoint/2010/main" val="3069921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Homework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Review your notes and write a summary answering the essential question.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6342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1229</TotalTime>
  <Words>1815</Words>
  <Application>Microsoft Macintosh PowerPoint</Application>
  <PresentationFormat>On-screen Show (4:3)</PresentationFormat>
  <Paragraphs>347</Paragraphs>
  <Slides>35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9" baseType="lpstr">
      <vt:lpstr>Arial</vt:lpstr>
      <vt:lpstr>Calibri</vt:lpstr>
      <vt:lpstr>Cambria Math</vt:lpstr>
      <vt:lpstr>Office Theme</vt:lpstr>
      <vt:lpstr>My Shape and Measurement Interactive Notebook</vt:lpstr>
      <vt:lpstr>PowerPoint Presentation</vt:lpstr>
      <vt:lpstr>PowerPoint Presentation</vt:lpstr>
      <vt:lpstr>PowerPoint Presentation</vt:lpstr>
      <vt:lpstr>Definition of a circle</vt:lpstr>
      <vt:lpstr>PowerPoint Presentation</vt:lpstr>
      <vt:lpstr>Circumference and Radius.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Let’s think about π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Task</vt:lpstr>
      <vt:lpstr>Answers</vt:lpstr>
      <vt:lpstr>Notes Review</vt:lpstr>
      <vt:lpstr>Homework</vt:lpstr>
    </vt:vector>
  </TitlesOfParts>
  <Company>The Department of Education</Company>
  <LinksUpToDate>false</LinksUpToDate>
  <SharedDoc>false</SharedDoc>
  <HyperlinksChanged>false</HyperlinksChanged>
  <AppVersion>15.0024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Venn Diagrams</dc:title>
  <dc:creator>RUST Joanne</dc:creator>
  <cp:lastModifiedBy>PATERSON Anne</cp:lastModifiedBy>
  <cp:revision>71</cp:revision>
  <dcterms:created xsi:type="dcterms:W3CDTF">2014-05-14T02:58:57Z</dcterms:created>
  <dcterms:modified xsi:type="dcterms:W3CDTF">2017-06-14T00:19:46Z</dcterms:modified>
</cp:coreProperties>
</file>
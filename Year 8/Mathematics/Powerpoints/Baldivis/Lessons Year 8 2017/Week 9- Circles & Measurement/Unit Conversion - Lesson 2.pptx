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0" r:id="rId2"/>
    <p:sldId id="259" r:id="rId3"/>
    <p:sldId id="258" r:id="rId4"/>
    <p:sldId id="387" r:id="rId5"/>
    <p:sldId id="388" r:id="rId6"/>
    <p:sldId id="381" r:id="rId7"/>
    <p:sldId id="382" r:id="rId8"/>
    <p:sldId id="389" r:id="rId9"/>
    <p:sldId id="383" r:id="rId10"/>
    <p:sldId id="391" r:id="rId11"/>
    <p:sldId id="385" r:id="rId12"/>
    <p:sldId id="384" r:id="rId13"/>
    <p:sldId id="365" r:id="rId14"/>
    <p:sldId id="397" r:id="rId15"/>
    <p:sldId id="392" r:id="rId16"/>
    <p:sldId id="366" r:id="rId17"/>
    <p:sldId id="386" r:id="rId18"/>
    <p:sldId id="292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89165" autoAdjust="0"/>
  </p:normalViewPr>
  <p:slideViewPr>
    <p:cSldViewPr>
      <p:cViewPr varScale="1">
        <p:scale>
          <a:sx n="129" d="100"/>
          <a:sy n="129" d="100"/>
        </p:scale>
        <p:origin x="17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18/6/17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004CA5D-3673-4107-A8EF-C422745B1348}" type="slidenum">
              <a:rPr lang="en-GB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61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C15E1-5872-474F-B372-28B1EC048CF6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527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B48F9C-B0D8-4093-BE4D-2693911E328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68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7991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B48F9C-B0D8-4093-BE4D-2693911E328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47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943BF-CD7C-466C-85D3-39162B3C258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0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18/6/17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Shape and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Teacher: Mr Summers</a:t>
            </a:r>
          </a:p>
          <a:p>
            <a:pPr algn="l"/>
            <a:r>
              <a:rPr lang="en-AU" dirty="0" smtClean="0"/>
              <a:t>Semester 1</a:t>
            </a:r>
          </a:p>
          <a:p>
            <a:pPr algn="l"/>
            <a:r>
              <a:rPr lang="en-AU" dirty="0" smtClean="0"/>
              <a:t>Term 2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5" name="Picture 4" descr="https://encrypted-tbn3.gstatic.com/images?q=tbn:ANd9GcQalickAZJxP16UO8A0LbBxeXtkHiUS7YDCPV2AjNF2_0WMm1D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04999"/>
            <a:ext cx="230505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/>
          <a:lstStyle/>
          <a:p>
            <a:r>
              <a:rPr lang="en-GB" dirty="0" smtClean="0"/>
              <a:t>From last class….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3"/>
            <a:ext cx="8229600" cy="1224136"/>
          </a:xfrm>
        </p:spPr>
        <p:txBody>
          <a:bodyPr/>
          <a:lstStyle/>
          <a:p>
            <a:r>
              <a:rPr lang="en-GB" dirty="0" smtClean="0"/>
              <a:t>Convert the following units into the given units shown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69" t="25000" r="61291" b="46825"/>
          <a:stretch/>
        </p:blipFill>
        <p:spPr bwMode="auto">
          <a:xfrm>
            <a:off x="323528" y="2564904"/>
            <a:ext cx="2552689" cy="3124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3" t="53125" r="22781" b="19095"/>
          <a:stretch/>
        </p:blipFill>
        <p:spPr bwMode="auto">
          <a:xfrm>
            <a:off x="3275856" y="2580230"/>
            <a:ext cx="2665108" cy="3109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8363" r="42860" b="42311"/>
          <a:stretch/>
        </p:blipFill>
        <p:spPr bwMode="auto">
          <a:xfrm>
            <a:off x="5940152" y="3100729"/>
            <a:ext cx="2688803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46" t="71974" r="42414" b="14013"/>
          <a:stretch/>
        </p:blipFill>
        <p:spPr bwMode="auto">
          <a:xfrm>
            <a:off x="6078983" y="4149080"/>
            <a:ext cx="2668068" cy="1624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9512" y="2564904"/>
            <a:ext cx="792088" cy="3124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211657" y="2580230"/>
            <a:ext cx="792088" cy="3124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6084168" y="2752428"/>
            <a:ext cx="792088" cy="3124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3275856" y="2580230"/>
            <a:ext cx="0" cy="36570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300192" y="2580230"/>
            <a:ext cx="0" cy="36570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8224" y="2165955"/>
            <a:ext cx="226774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B050"/>
                </a:solidFill>
              </a:rPr>
              <a:t>1m</a:t>
            </a:r>
            <a:r>
              <a:rPr lang="en-GB" sz="2400" b="1" baseline="30000" dirty="0" smtClean="0">
                <a:solidFill>
                  <a:srgbClr val="00B050"/>
                </a:solidFill>
              </a:rPr>
              <a:t>3</a:t>
            </a:r>
            <a:r>
              <a:rPr lang="en-GB" sz="2400" b="1" dirty="0" smtClean="0">
                <a:solidFill>
                  <a:srgbClr val="00B050"/>
                </a:solidFill>
              </a:rPr>
              <a:t> = 1000l</a:t>
            </a:r>
          </a:p>
          <a:p>
            <a:pPr algn="ctr"/>
            <a:r>
              <a:rPr lang="en-GB" sz="2400" b="1" dirty="0" smtClean="0">
                <a:solidFill>
                  <a:srgbClr val="00B050"/>
                </a:solidFill>
              </a:rPr>
              <a:t>1cm</a:t>
            </a:r>
            <a:r>
              <a:rPr lang="en-GB" sz="2400" b="1" baseline="30000" dirty="0" smtClean="0">
                <a:solidFill>
                  <a:srgbClr val="00B050"/>
                </a:solidFill>
              </a:rPr>
              <a:t>3</a:t>
            </a:r>
            <a:r>
              <a:rPr lang="en-GB" sz="2400" b="1" dirty="0" smtClean="0">
                <a:solidFill>
                  <a:srgbClr val="00B050"/>
                </a:solidFill>
              </a:rPr>
              <a:t> = 1ml</a:t>
            </a:r>
            <a:endParaRPr lang="en-GB" sz="2400" b="1" dirty="0">
              <a:solidFill>
                <a:srgbClr val="00B05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599872" y="1916832"/>
            <a:ext cx="523856" cy="52385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4499992" y="1916832"/>
            <a:ext cx="523856" cy="52385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7460168" y="1545376"/>
            <a:ext cx="523856" cy="52385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9552" y="2492896"/>
            <a:ext cx="648072" cy="320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50" dirty="0" smtClean="0"/>
              <a:t>1)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2)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3)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4)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5)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3888" y="2492896"/>
            <a:ext cx="648072" cy="320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50" dirty="0" smtClean="0"/>
              <a:t>1)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2)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3)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4)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5)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4208" y="3028741"/>
            <a:ext cx="648072" cy="2689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50" dirty="0" smtClean="0"/>
              <a:t>1)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2)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3)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4)</a:t>
            </a:r>
          </a:p>
          <a:p>
            <a:pPr>
              <a:lnSpc>
                <a:spcPct val="150000"/>
              </a:lnSpc>
            </a:pPr>
            <a:r>
              <a:rPr lang="en-GB" sz="2250" dirty="0" smtClean="0"/>
              <a:t>5)</a:t>
            </a:r>
          </a:p>
        </p:txBody>
      </p:sp>
    </p:spTree>
    <p:extLst>
      <p:ext uri="{BB962C8B-B14F-4D97-AF65-F5344CB8AC3E}">
        <p14:creationId xmlns:p14="http://schemas.microsoft.com/office/powerpoint/2010/main" val="29054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-2598738" y="3397251"/>
            <a:ext cx="614362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1835696" y="404664"/>
            <a:ext cx="547260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4400" u="sng" dirty="0" smtClean="0">
                <a:latin typeface="Comic Sans MS" pitchFamily="66" charset="0"/>
              </a:rPr>
              <a:t>Converting metric units</a:t>
            </a:r>
            <a:endParaRPr lang="en-GB" sz="4400" u="sng" dirty="0">
              <a:latin typeface="Comic Sans MS" pitchFamily="66" charset="0"/>
            </a:endParaRPr>
          </a:p>
        </p:txBody>
      </p:sp>
      <p:sp>
        <p:nvSpPr>
          <p:cNvPr id="3077" name="TextBox 6"/>
          <p:cNvSpPr txBox="1">
            <a:spLocks noChangeArrowheads="1"/>
          </p:cNvSpPr>
          <p:nvPr/>
        </p:nvSpPr>
        <p:spPr bwMode="auto">
          <a:xfrm>
            <a:off x="683568" y="1988840"/>
            <a:ext cx="8064251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350" u="sng" dirty="0">
                <a:latin typeface="Comic Sans MS" pitchFamily="66" charset="0"/>
              </a:rPr>
              <a:t>Objective</a:t>
            </a:r>
            <a:r>
              <a:rPr lang="en-GB" sz="2350" dirty="0">
                <a:latin typeface="Comic Sans MS" pitchFamily="66" charset="0"/>
              </a:rPr>
              <a:t>: I </a:t>
            </a:r>
            <a:r>
              <a:rPr lang="en-GB" sz="2350" dirty="0" smtClean="0">
                <a:latin typeface="Comic Sans MS" pitchFamily="66" charset="0"/>
              </a:rPr>
              <a:t>am able to convert between units of area and volume. </a:t>
            </a:r>
            <a:endParaRPr lang="en-GB" sz="1000" u="sng" dirty="0">
              <a:latin typeface="Comic Sans MS" pitchFamily="66" charset="0"/>
            </a:endParaRPr>
          </a:p>
          <a:p>
            <a:pPr>
              <a:defRPr/>
            </a:pPr>
            <a:r>
              <a:rPr lang="en-GB" sz="2350" u="sng" dirty="0">
                <a:latin typeface="Comic Sans MS" pitchFamily="66" charset="0"/>
              </a:rPr>
              <a:t>Keywords</a:t>
            </a:r>
            <a:r>
              <a:rPr lang="en-GB" sz="2350" dirty="0">
                <a:latin typeface="Comic Sans MS" pitchFamily="66" charset="0"/>
              </a:rPr>
              <a:t>: </a:t>
            </a:r>
            <a:r>
              <a:rPr lang="en-GB" sz="2350" dirty="0" smtClean="0">
                <a:latin typeface="Comic Sans MS" pitchFamily="66" charset="0"/>
              </a:rPr>
              <a:t>area, volume, square, cube</a:t>
            </a:r>
            <a:endParaRPr lang="en-GB" sz="2350" dirty="0">
              <a:latin typeface="Comic Sans MS" pitchFamily="66" charset="0"/>
            </a:endParaRPr>
          </a:p>
          <a:p>
            <a:pPr>
              <a:defRPr/>
            </a:pPr>
            <a:endParaRPr lang="en-GB" sz="1000" dirty="0">
              <a:latin typeface="Comic Sans MS" pitchFamily="66" charset="0"/>
            </a:endParaRPr>
          </a:p>
          <a:p>
            <a:pPr>
              <a:defRPr/>
            </a:pPr>
            <a:r>
              <a:rPr lang="en-GB" sz="2350" u="sng" dirty="0">
                <a:latin typeface="Comic Sans MS" pitchFamily="66" charset="0"/>
              </a:rPr>
              <a:t>By the end of the lesson</a:t>
            </a:r>
            <a:r>
              <a:rPr lang="en-GB" sz="2350" dirty="0">
                <a:latin typeface="Comic Sans MS" pitchFamily="66" charset="0"/>
              </a:rPr>
              <a:t>:</a:t>
            </a:r>
          </a:p>
          <a:p>
            <a:pPr>
              <a:defRPr/>
            </a:pPr>
            <a:r>
              <a:rPr lang="en-GB" sz="2350" u="sng" dirty="0">
                <a:solidFill>
                  <a:srgbClr val="00B050"/>
                </a:solidFill>
                <a:latin typeface="Comic Sans MS" pitchFamily="66" charset="0"/>
              </a:rPr>
              <a:t>Must </a:t>
            </a:r>
            <a:r>
              <a:rPr lang="en-GB" sz="2350" u="sng" dirty="0" smtClean="0">
                <a:solidFill>
                  <a:srgbClr val="00B050"/>
                </a:solidFill>
                <a:latin typeface="Comic Sans MS" pitchFamily="66" charset="0"/>
              </a:rPr>
              <a:t>learn</a:t>
            </a:r>
            <a:r>
              <a:rPr lang="en-GB" sz="2350" dirty="0" smtClean="0">
                <a:latin typeface="Comic Sans MS" pitchFamily="66" charset="0"/>
              </a:rPr>
              <a:t>: how </a:t>
            </a:r>
            <a:r>
              <a:rPr lang="en-GB" sz="2350" dirty="0">
                <a:latin typeface="Comic Sans MS" pitchFamily="66" charset="0"/>
              </a:rPr>
              <a:t>to convert metric units of area</a:t>
            </a:r>
            <a:r>
              <a:rPr lang="en-GB" sz="2350" dirty="0" smtClean="0">
                <a:latin typeface="Comic Sans MS" pitchFamily="66" charset="0"/>
              </a:rPr>
              <a:t>.</a:t>
            </a:r>
            <a:endParaRPr lang="en-GB" sz="2400" dirty="0">
              <a:latin typeface="Comic Sans MS" pitchFamily="66" charset="0"/>
            </a:endParaRPr>
          </a:p>
          <a:p>
            <a:pPr>
              <a:defRPr/>
            </a:pPr>
            <a:endParaRPr lang="en-GB" sz="1000" dirty="0">
              <a:latin typeface="Comic Sans MS" pitchFamily="66" charset="0"/>
            </a:endParaRPr>
          </a:p>
          <a:p>
            <a:pPr>
              <a:defRPr/>
            </a:pPr>
            <a:r>
              <a:rPr lang="en-GB" sz="2350" u="sng" dirty="0" smtClean="0">
                <a:solidFill>
                  <a:srgbClr val="FFC000"/>
                </a:solidFill>
                <a:latin typeface="Comic Sans MS" pitchFamily="66" charset="0"/>
              </a:rPr>
              <a:t>Should learn</a:t>
            </a:r>
            <a:r>
              <a:rPr lang="en-GB" sz="2350" dirty="0" smtClean="0">
                <a:latin typeface="Comic Sans MS" pitchFamily="66" charset="0"/>
              </a:rPr>
              <a:t>: how </a:t>
            </a:r>
            <a:r>
              <a:rPr lang="en-GB" sz="2350" dirty="0">
                <a:latin typeface="Comic Sans MS" pitchFamily="66" charset="0"/>
              </a:rPr>
              <a:t>to convert metric units of volume.</a:t>
            </a:r>
          </a:p>
          <a:p>
            <a:pPr>
              <a:defRPr/>
            </a:pPr>
            <a:endParaRPr lang="en-GB" sz="2350" dirty="0">
              <a:latin typeface="Comic Sans MS" pitchFamily="66" charset="0"/>
            </a:endParaRPr>
          </a:p>
          <a:p>
            <a:pPr>
              <a:defRPr/>
            </a:pPr>
            <a:r>
              <a:rPr lang="en-GB" sz="2350" u="sng" dirty="0" smtClean="0">
                <a:solidFill>
                  <a:srgbClr val="FF0000"/>
                </a:solidFill>
                <a:latin typeface="Comic Sans MS" pitchFamily="66" charset="0"/>
              </a:rPr>
              <a:t>Could </a:t>
            </a:r>
            <a:r>
              <a:rPr lang="en-GB" sz="2350" u="sng" dirty="0">
                <a:solidFill>
                  <a:srgbClr val="FF0000"/>
                </a:solidFill>
                <a:latin typeface="Comic Sans MS" pitchFamily="66" charset="0"/>
              </a:rPr>
              <a:t>learn</a:t>
            </a:r>
            <a:r>
              <a:rPr lang="en-GB" sz="2350" dirty="0">
                <a:latin typeface="Comic Sans MS" pitchFamily="66" charset="0"/>
              </a:rPr>
              <a:t>: </a:t>
            </a:r>
            <a:r>
              <a:rPr lang="en-GB" sz="2350" dirty="0" smtClean="0">
                <a:latin typeface="Comic Sans MS" pitchFamily="66" charset="0"/>
              </a:rPr>
              <a:t>how </a:t>
            </a:r>
            <a:r>
              <a:rPr lang="en-GB" sz="2350" dirty="0">
                <a:latin typeface="Comic Sans MS" pitchFamily="66" charset="0"/>
              </a:rPr>
              <a:t>to calculate area of compound shapes</a:t>
            </a:r>
            <a:endParaRPr lang="en-GB" sz="2350" dirty="0">
              <a:latin typeface="Comic Sans MS" pitchFamily="66" charset="0"/>
            </a:endParaRPr>
          </a:p>
        </p:txBody>
      </p:sp>
      <p:sp>
        <p:nvSpPr>
          <p:cNvPr id="12294" name="TextBox 6"/>
          <p:cNvSpPr txBox="1">
            <a:spLocks noChangeArrowheads="1"/>
          </p:cNvSpPr>
          <p:nvPr/>
        </p:nvSpPr>
        <p:spPr bwMode="auto">
          <a:xfrm>
            <a:off x="683568" y="5517232"/>
            <a:ext cx="8208962" cy="1154162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300" b="1" u="sng" dirty="0">
                <a:solidFill>
                  <a:srgbClr val="FFFF00"/>
                </a:solidFill>
                <a:latin typeface="Comic Sans MS" pitchFamily="66" charset="0"/>
              </a:rPr>
              <a:t>Real life link</a:t>
            </a:r>
            <a:r>
              <a:rPr lang="en-GB" sz="2300" b="1" dirty="0">
                <a:solidFill>
                  <a:srgbClr val="FFFF00"/>
                </a:solidFill>
                <a:latin typeface="Comic Sans MS" pitchFamily="66" charset="0"/>
              </a:rPr>
              <a:t>: </a:t>
            </a:r>
            <a:r>
              <a:rPr lang="en-GB" sz="2300" dirty="0" smtClean="0">
                <a:solidFill>
                  <a:srgbClr val="FFFF00"/>
                </a:solidFill>
                <a:latin typeface="Comic Sans MS" pitchFamily="66" charset="0"/>
              </a:rPr>
              <a:t>Sometimes we need to change from one unit to another, e.g. A garden design may have measurements in both metres and centimetres.</a:t>
            </a:r>
            <a:endParaRPr lang="en-GB" sz="2300" dirty="0">
              <a:solidFill>
                <a:srgbClr val="FFFF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3356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1865" y="138269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382691"/>
            <a:ext cx="0" cy="49266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64735" y="175576"/>
            <a:ext cx="5356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</a:t>
            </a:r>
            <a:r>
              <a:rPr lang="en-AU" sz="2800" dirty="0" smtClean="0"/>
              <a:t>Conversion </a:t>
            </a:r>
            <a:r>
              <a:rPr lang="mr-IN" sz="2800" dirty="0" smtClean="0"/>
              <a:t>–</a:t>
            </a:r>
            <a:r>
              <a:rPr lang="en-AU" sz="2800" dirty="0" smtClean="0"/>
              <a:t> Area and Volume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851921"/>
            <a:ext cx="892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units of area and volume?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31867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919" y="6328033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Summary:</a:t>
            </a:r>
            <a:endParaRPr lang="en-US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-11865" y="1506099"/>
            <a:ext cx="1835696" cy="77367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u="sng" dirty="0" smtClean="0"/>
              <a:t>Definitions</a:t>
            </a:r>
            <a:endParaRPr lang="en-GB" sz="2800" b="1" u="sng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979712" y="1482526"/>
            <a:ext cx="6707088" cy="464363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600" b="1" u="sng" dirty="0" smtClean="0"/>
              <a:t>Area</a:t>
            </a:r>
            <a:r>
              <a:rPr lang="en-GB" sz="2600" dirty="0" smtClean="0"/>
              <a:t> is measured in units squared (e.g. m</a:t>
            </a:r>
            <a:r>
              <a:rPr lang="en-GB" sz="2600" baseline="30000" dirty="0" smtClean="0"/>
              <a:t>2</a:t>
            </a:r>
            <a:r>
              <a:rPr lang="en-GB" sz="2600" dirty="0" smtClean="0"/>
              <a:t>, cm</a:t>
            </a:r>
            <a:r>
              <a:rPr lang="en-GB" sz="2600" baseline="30000" dirty="0" smtClean="0"/>
              <a:t>2</a:t>
            </a:r>
            <a:r>
              <a:rPr lang="en-GB" sz="2600" dirty="0" smtClean="0"/>
              <a:t>, mm</a:t>
            </a:r>
            <a:r>
              <a:rPr lang="en-GB" sz="2600" baseline="30000" dirty="0" smtClean="0"/>
              <a:t>2</a:t>
            </a:r>
            <a:r>
              <a:rPr lang="en-GB" sz="2600" dirty="0" smtClean="0"/>
              <a:t>)</a:t>
            </a:r>
          </a:p>
          <a:p>
            <a:r>
              <a:rPr lang="en-GB" sz="2600" dirty="0" smtClean="0"/>
              <a:t>To convert between different units of area, multiply or divide by the </a:t>
            </a:r>
            <a:r>
              <a:rPr lang="en-GB" sz="2600" b="1" dirty="0" smtClean="0"/>
              <a:t>square</a:t>
            </a:r>
            <a:r>
              <a:rPr lang="en-GB" sz="2600" dirty="0" smtClean="0"/>
              <a:t> of the conversion factor.</a:t>
            </a:r>
          </a:p>
          <a:p>
            <a:pPr>
              <a:buFont typeface="Arial" pitchFamily="34" charset="0"/>
              <a:buNone/>
            </a:pPr>
            <a:endParaRPr lang="en-GB" sz="2600" dirty="0" smtClean="0"/>
          </a:p>
          <a:p>
            <a:r>
              <a:rPr lang="en-GB" sz="2600" b="1" u="sng" dirty="0" smtClean="0"/>
              <a:t>Volume</a:t>
            </a:r>
            <a:r>
              <a:rPr lang="en-GB" sz="2600" dirty="0" smtClean="0"/>
              <a:t> is measured in units cubed (e.g. m</a:t>
            </a:r>
            <a:r>
              <a:rPr lang="en-GB" sz="2600" baseline="30000" dirty="0" smtClean="0"/>
              <a:t>3</a:t>
            </a:r>
            <a:r>
              <a:rPr lang="en-GB" sz="2600" dirty="0" smtClean="0"/>
              <a:t>, cm</a:t>
            </a:r>
            <a:r>
              <a:rPr lang="en-GB" sz="2600" baseline="30000" dirty="0" smtClean="0"/>
              <a:t>3</a:t>
            </a:r>
            <a:r>
              <a:rPr lang="en-GB" sz="2600" dirty="0" smtClean="0"/>
              <a:t>, mm</a:t>
            </a:r>
            <a:r>
              <a:rPr lang="en-GB" sz="2600" baseline="30000" dirty="0" smtClean="0"/>
              <a:t>3</a:t>
            </a:r>
            <a:r>
              <a:rPr lang="en-GB" sz="2600" dirty="0" smtClean="0"/>
              <a:t>)</a:t>
            </a:r>
          </a:p>
          <a:p>
            <a:r>
              <a:rPr lang="en-GB" sz="2600" dirty="0" smtClean="0"/>
              <a:t>To convert between different units of volume, multiply or divide by the </a:t>
            </a:r>
            <a:r>
              <a:rPr lang="en-GB" sz="2600" b="1" dirty="0" smtClean="0"/>
              <a:t>cube</a:t>
            </a:r>
            <a:r>
              <a:rPr lang="en-GB" sz="2600" dirty="0" smtClean="0"/>
              <a:t> of the conversion factor.</a:t>
            </a:r>
            <a:endParaRPr lang="en-GB" sz="2600" dirty="0" smtClean="0"/>
          </a:p>
        </p:txBody>
      </p:sp>
    </p:spTree>
    <p:extLst>
      <p:ext uri="{BB962C8B-B14F-4D97-AF65-F5344CB8AC3E}">
        <p14:creationId xmlns:p14="http://schemas.microsoft.com/office/powerpoint/2010/main" val="167134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1865" y="138269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382691"/>
            <a:ext cx="0" cy="49266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64735" y="175576"/>
            <a:ext cx="5356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</a:t>
            </a:r>
            <a:r>
              <a:rPr lang="en-AU" sz="2800" dirty="0" smtClean="0"/>
              <a:t>Conversion </a:t>
            </a:r>
            <a:r>
              <a:rPr lang="mr-IN" sz="2800" dirty="0" smtClean="0"/>
              <a:t>–</a:t>
            </a:r>
            <a:r>
              <a:rPr lang="en-AU" sz="2800" dirty="0" smtClean="0"/>
              <a:t> Area and Volume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851921"/>
            <a:ext cx="892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units of area and volume?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31867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919" y="6328033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Summary:</a:t>
            </a:r>
            <a:endParaRPr lang="en-US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66562" y="1669469"/>
            <a:ext cx="1296144" cy="44276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mtClean="0"/>
              <a:t>Area</a:t>
            </a:r>
            <a:endParaRPr lang="en-GB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835696" y="1559288"/>
            <a:ext cx="7056784" cy="460601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Consider a square that is 1cm by 1cm. It has an area of 1cm</a:t>
            </a:r>
            <a:r>
              <a:rPr lang="en-GB" baseline="30000" dirty="0" smtClean="0"/>
              <a:t>2</a:t>
            </a:r>
            <a:r>
              <a:rPr lang="en-GB" dirty="0" smtClean="0"/>
              <a:t>.</a:t>
            </a:r>
          </a:p>
          <a:p>
            <a:endParaRPr lang="en-GB" dirty="0" smtClean="0"/>
          </a:p>
          <a:p>
            <a:r>
              <a:rPr lang="en-GB" dirty="0" smtClean="0"/>
              <a:t>What is it’s area in mm</a:t>
            </a:r>
            <a:r>
              <a:rPr lang="en-GB" baseline="30000" dirty="0" smtClean="0"/>
              <a:t>2</a:t>
            </a:r>
            <a:r>
              <a:rPr lang="en-GB" dirty="0" smtClean="0"/>
              <a:t>?</a:t>
            </a:r>
          </a:p>
          <a:p>
            <a:endParaRPr lang="en-GB" dirty="0" smtClean="0"/>
          </a:p>
          <a:p>
            <a:r>
              <a:rPr lang="en-GB" dirty="0" smtClean="0">
                <a:solidFill>
                  <a:srgbClr val="FF0000"/>
                </a:solidFill>
              </a:rPr>
              <a:t>1cm</a:t>
            </a:r>
            <a:r>
              <a:rPr lang="en-GB" baseline="30000" dirty="0" smtClean="0">
                <a:solidFill>
                  <a:srgbClr val="FF0000"/>
                </a:solidFill>
              </a:rPr>
              <a:t>2</a:t>
            </a:r>
            <a:r>
              <a:rPr lang="en-GB" dirty="0" smtClean="0">
                <a:solidFill>
                  <a:srgbClr val="FF0000"/>
                </a:solidFill>
              </a:rPr>
              <a:t> = 100mm</a:t>
            </a:r>
            <a:r>
              <a:rPr lang="en-GB" baseline="30000" dirty="0" smtClean="0">
                <a:solidFill>
                  <a:srgbClr val="FF0000"/>
                </a:solidFill>
              </a:rPr>
              <a:t>2</a:t>
            </a:r>
            <a:endParaRPr lang="en-GB" baseline="300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64376" y="3611228"/>
            <a:ext cx="1636015" cy="190600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6994352" y="3031126"/>
            <a:ext cx="81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1cm</a:t>
            </a:r>
            <a:endParaRPr lang="en-GB" dirty="0"/>
          </a:p>
        </p:txBody>
      </p:sp>
      <p:sp>
        <p:nvSpPr>
          <p:cNvPr id="18" name="TextBox 17"/>
          <p:cNvSpPr txBox="1"/>
          <p:nvPr/>
        </p:nvSpPr>
        <p:spPr>
          <a:xfrm>
            <a:off x="8427438" y="4336562"/>
            <a:ext cx="81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1cm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6720004" y="4209191"/>
            <a:ext cx="13803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A = 1cm</a:t>
            </a:r>
            <a:r>
              <a:rPr lang="en-GB" sz="3200" baseline="30000" dirty="0" smtClean="0"/>
              <a:t>2</a:t>
            </a:r>
            <a:endParaRPr lang="en-GB" sz="3200" baseline="30000" dirty="0"/>
          </a:p>
        </p:txBody>
      </p:sp>
      <p:sp>
        <p:nvSpPr>
          <p:cNvPr id="20" name="TextBox 19"/>
          <p:cNvSpPr txBox="1"/>
          <p:nvPr/>
        </p:nvSpPr>
        <p:spPr>
          <a:xfrm>
            <a:off x="6922344" y="3040418"/>
            <a:ext cx="81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10mm</a:t>
            </a:r>
            <a:endParaRPr lang="en-GB" dirty="0"/>
          </a:p>
        </p:txBody>
      </p:sp>
      <p:sp>
        <p:nvSpPr>
          <p:cNvPr id="21" name="TextBox 20"/>
          <p:cNvSpPr txBox="1"/>
          <p:nvPr/>
        </p:nvSpPr>
        <p:spPr>
          <a:xfrm>
            <a:off x="8434512" y="4336562"/>
            <a:ext cx="81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10mm</a:t>
            </a:r>
            <a:endParaRPr lang="en-GB" dirty="0"/>
          </a:p>
        </p:txBody>
      </p:sp>
      <p:sp>
        <p:nvSpPr>
          <p:cNvPr id="22" name="TextBox 21"/>
          <p:cNvSpPr txBox="1"/>
          <p:nvPr/>
        </p:nvSpPr>
        <p:spPr>
          <a:xfrm>
            <a:off x="7080044" y="3757748"/>
            <a:ext cx="13803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 smtClean="0"/>
              <a:t>?</a:t>
            </a:r>
            <a:endParaRPr lang="en-GB" sz="9600" baseline="30000" dirty="0"/>
          </a:p>
        </p:txBody>
      </p:sp>
      <p:sp>
        <p:nvSpPr>
          <p:cNvPr id="23" name="TextBox 22"/>
          <p:cNvSpPr txBox="1"/>
          <p:nvPr/>
        </p:nvSpPr>
        <p:spPr>
          <a:xfrm>
            <a:off x="6536384" y="4217902"/>
            <a:ext cx="16360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A = 100mm</a:t>
            </a:r>
            <a:r>
              <a:rPr lang="en-GB" sz="3200" baseline="30000" dirty="0" smtClean="0"/>
              <a:t>2</a:t>
            </a:r>
            <a:endParaRPr lang="en-GB" sz="3200" baseline="30000" dirty="0"/>
          </a:p>
        </p:txBody>
      </p:sp>
    </p:spTree>
    <p:extLst>
      <p:ext uri="{BB962C8B-B14F-4D97-AF65-F5344CB8AC3E}">
        <p14:creationId xmlns:p14="http://schemas.microsoft.com/office/powerpoint/2010/main" val="205446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animBg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1" grpId="0"/>
      <p:bldP spid="22" grpId="0"/>
      <p:bldP spid="22" grpId="1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Area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Using the logic, can you work out the rate of conversion from m</a:t>
            </a:r>
            <a:r>
              <a:rPr lang="en-GB" baseline="30000" dirty="0" smtClean="0"/>
              <a:t>2</a:t>
            </a:r>
            <a:r>
              <a:rPr lang="en-GB" dirty="0" smtClean="0"/>
              <a:t> to cm</a:t>
            </a:r>
            <a:r>
              <a:rPr lang="en-GB" baseline="30000" dirty="0" smtClean="0"/>
              <a:t>2</a:t>
            </a:r>
            <a:r>
              <a:rPr lang="en-GB" dirty="0" smtClean="0"/>
              <a:t>?</a:t>
            </a:r>
          </a:p>
          <a:p>
            <a:endParaRPr lang="en-GB" dirty="0"/>
          </a:p>
          <a:p>
            <a:r>
              <a:rPr lang="en-GB" dirty="0" smtClean="0"/>
              <a:t>1m</a:t>
            </a:r>
            <a:r>
              <a:rPr lang="en-GB" baseline="30000" dirty="0" smtClean="0"/>
              <a:t>2</a:t>
            </a:r>
            <a:r>
              <a:rPr lang="en-GB" dirty="0" smtClean="0"/>
              <a:t> = 10000cm</a:t>
            </a:r>
            <a:r>
              <a:rPr lang="en-GB" baseline="30000" dirty="0" smtClean="0"/>
              <a:t>2</a:t>
            </a:r>
            <a:endParaRPr lang="en-GB" baseline="30000" dirty="0"/>
          </a:p>
        </p:txBody>
      </p:sp>
    </p:spTree>
    <p:extLst>
      <p:ext uri="{BB962C8B-B14F-4D97-AF65-F5344CB8AC3E}">
        <p14:creationId xmlns:p14="http://schemas.microsoft.com/office/powerpoint/2010/main" val="134385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073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1865" y="138269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24</a:t>
            </a:r>
          </a:p>
          <a:p>
            <a:r>
              <a:rPr lang="en-AU" sz="1400" dirty="0" smtClean="0"/>
              <a:t>7</a:t>
            </a:r>
          </a:p>
          <a:p>
            <a:r>
              <a:rPr lang="en-AU" sz="1400" dirty="0" smtClean="0"/>
              <a:t>30</a:t>
            </a:r>
            <a:endParaRPr lang="en-A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1364735" y="175576"/>
            <a:ext cx="4614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Unit </a:t>
            </a:r>
            <a:r>
              <a:rPr lang="en-AU" sz="2400" dirty="0" smtClean="0"/>
              <a:t>Conversion </a:t>
            </a:r>
            <a:r>
              <a:rPr lang="mr-IN" sz="2400" dirty="0" smtClean="0"/>
              <a:t>–</a:t>
            </a:r>
            <a:r>
              <a:rPr lang="en-AU" sz="2400" dirty="0" smtClean="0"/>
              <a:t> Area and Volume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Date</a:t>
            </a:r>
            <a:endParaRPr lang="en-AU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851921"/>
            <a:ext cx="8926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How do I convert units of area and volume?</a:t>
            </a:r>
            <a:endParaRPr lang="en-AU" sz="2800" dirty="0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67061" y="1432896"/>
            <a:ext cx="18356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u="sng" dirty="0" smtClean="0"/>
              <a:t>Example 1:</a:t>
            </a:r>
            <a:endParaRPr lang="en-GB" sz="2400" dirty="0"/>
          </a:p>
        </p:txBody>
      </p:sp>
      <p:sp>
        <p:nvSpPr>
          <p:cNvPr id="15" name="TextBox 6"/>
          <p:cNvSpPr txBox="1">
            <a:spLocks noChangeArrowheads="1"/>
          </p:cNvSpPr>
          <p:nvPr/>
        </p:nvSpPr>
        <p:spPr bwMode="auto">
          <a:xfrm>
            <a:off x="1364735" y="2409798"/>
            <a:ext cx="21602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/>
              <a:t>1 m = 100 cm,</a:t>
            </a:r>
            <a:endParaRPr lang="en-GB" sz="2400" dirty="0"/>
          </a:p>
        </p:txBody>
      </p:sp>
      <p:sp>
        <p:nvSpPr>
          <p:cNvPr id="16" name="TextBox 6"/>
          <p:cNvSpPr txBox="1">
            <a:spLocks noChangeArrowheads="1"/>
          </p:cNvSpPr>
          <p:nvPr/>
        </p:nvSpPr>
        <p:spPr bwMode="auto">
          <a:xfrm>
            <a:off x="123591" y="1896245"/>
            <a:ext cx="11156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u="sng" dirty="0" smtClean="0"/>
              <a:t>Step 1:</a:t>
            </a:r>
            <a:endParaRPr lang="en-GB" sz="2400" u="sng" dirty="0"/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1308538" y="3473774"/>
            <a:ext cx="56166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/>
              <a:t>0.06 m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 = 0.06 x 10,000 = 600 cm</a:t>
            </a:r>
            <a:r>
              <a:rPr lang="en-GB" sz="2400" baseline="30000" dirty="0" smtClean="0"/>
              <a:t>2</a:t>
            </a:r>
            <a:endParaRPr lang="en-GB" sz="2400" dirty="0"/>
          </a:p>
        </p:txBody>
      </p:sp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117732" y="2942121"/>
            <a:ext cx="13316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u="sng" dirty="0" smtClean="0"/>
              <a:t>Step 2:</a:t>
            </a:r>
            <a:endParaRPr lang="en-GB" sz="2400" u="sng" dirty="0"/>
          </a:p>
        </p:txBody>
      </p:sp>
      <p:sp>
        <p:nvSpPr>
          <p:cNvPr id="19" name="TextBox 18"/>
          <p:cNvSpPr txBox="1"/>
          <p:nvPr/>
        </p:nvSpPr>
        <p:spPr>
          <a:xfrm>
            <a:off x="1311215" y="1896245"/>
            <a:ext cx="6127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008E40"/>
                </a:solidFill>
              </a:rPr>
              <a:t>Work out the conversion factor from cm</a:t>
            </a:r>
            <a:r>
              <a:rPr lang="en-GB" sz="2400" b="1" baseline="30000" dirty="0" smtClean="0">
                <a:solidFill>
                  <a:srgbClr val="008E40"/>
                </a:solidFill>
              </a:rPr>
              <a:t>2</a:t>
            </a:r>
            <a:r>
              <a:rPr lang="en-GB" sz="2400" b="1" dirty="0" smtClean="0">
                <a:solidFill>
                  <a:srgbClr val="008E40"/>
                </a:solidFill>
              </a:rPr>
              <a:t> to m</a:t>
            </a:r>
            <a:r>
              <a:rPr lang="en-GB" sz="2400" b="1" baseline="30000" dirty="0" smtClean="0">
                <a:solidFill>
                  <a:srgbClr val="008E40"/>
                </a:solidFill>
              </a:rPr>
              <a:t>2</a:t>
            </a:r>
            <a:endParaRPr lang="en-GB" sz="2400" b="1" dirty="0">
              <a:solidFill>
                <a:srgbClr val="008E40"/>
              </a:solidFill>
            </a:endParaRPr>
          </a:p>
        </p:txBody>
      </p:sp>
      <p:sp>
        <p:nvSpPr>
          <p:cNvPr id="20" name="TextBox 6"/>
          <p:cNvSpPr txBox="1">
            <a:spLocks noChangeArrowheads="1"/>
          </p:cNvSpPr>
          <p:nvPr/>
        </p:nvSpPr>
        <p:spPr bwMode="auto">
          <a:xfrm>
            <a:off x="1763688" y="1464254"/>
            <a:ext cx="53285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/>
              <a:t>Convert an area of 0.06 m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 to cm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 </a:t>
            </a:r>
            <a:endParaRPr lang="en-GB" sz="2400" dirty="0"/>
          </a:p>
        </p:txBody>
      </p:sp>
      <p:sp>
        <p:nvSpPr>
          <p:cNvPr id="21" name="TextBox 6"/>
          <p:cNvSpPr txBox="1">
            <a:spLocks noChangeArrowheads="1"/>
          </p:cNvSpPr>
          <p:nvPr/>
        </p:nvSpPr>
        <p:spPr bwMode="auto">
          <a:xfrm>
            <a:off x="3275856" y="2442692"/>
            <a:ext cx="50405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/>
              <a:t>So 1 m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 = 100 x 100 = 10,000 cm</a:t>
            </a:r>
            <a:r>
              <a:rPr lang="en-GB" sz="2400" baseline="30000" dirty="0" smtClean="0"/>
              <a:t>2</a:t>
            </a:r>
            <a:endParaRPr lang="en-GB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1308538" y="2963316"/>
            <a:ext cx="4916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008E40"/>
                </a:solidFill>
              </a:rPr>
              <a:t>Multiply by the conversion factor</a:t>
            </a:r>
            <a:endParaRPr lang="en-GB" sz="2400" b="1" dirty="0">
              <a:solidFill>
                <a:srgbClr val="008E4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364735" y="4077072"/>
            <a:ext cx="64807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6"/>
          <p:cNvSpPr txBox="1">
            <a:spLocks noChangeArrowheads="1"/>
          </p:cNvSpPr>
          <p:nvPr/>
        </p:nvSpPr>
        <p:spPr bwMode="auto">
          <a:xfrm>
            <a:off x="51583" y="4136031"/>
            <a:ext cx="18356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u="sng" dirty="0" smtClean="0"/>
              <a:t>Example 2:</a:t>
            </a:r>
            <a:endParaRPr lang="en-GB" sz="2400" dirty="0"/>
          </a:p>
        </p:txBody>
      </p:sp>
      <p:sp>
        <p:nvSpPr>
          <p:cNvPr id="25" name="TextBox 6"/>
          <p:cNvSpPr txBox="1">
            <a:spLocks noChangeArrowheads="1"/>
          </p:cNvSpPr>
          <p:nvPr/>
        </p:nvSpPr>
        <p:spPr bwMode="auto">
          <a:xfrm>
            <a:off x="1212535" y="5340044"/>
            <a:ext cx="21602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/>
              <a:t>1 m = 100 cm,</a:t>
            </a:r>
            <a:endParaRPr lang="en-GB" sz="2400" dirty="0"/>
          </a:p>
        </p:txBody>
      </p:sp>
      <p:sp>
        <p:nvSpPr>
          <p:cNvPr id="26" name="TextBox 6"/>
          <p:cNvSpPr txBox="1">
            <a:spLocks noChangeArrowheads="1"/>
          </p:cNvSpPr>
          <p:nvPr/>
        </p:nvSpPr>
        <p:spPr bwMode="auto">
          <a:xfrm>
            <a:off x="96919" y="4687994"/>
            <a:ext cx="11156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u="sng" dirty="0" smtClean="0"/>
              <a:t>Step 1:</a:t>
            </a:r>
            <a:endParaRPr lang="en-GB" sz="2400" u="sng" dirty="0"/>
          </a:p>
        </p:txBody>
      </p:sp>
      <p:sp>
        <p:nvSpPr>
          <p:cNvPr id="27" name="TextBox 6"/>
          <p:cNvSpPr txBox="1">
            <a:spLocks noChangeArrowheads="1"/>
          </p:cNvSpPr>
          <p:nvPr/>
        </p:nvSpPr>
        <p:spPr bwMode="auto">
          <a:xfrm>
            <a:off x="1277279" y="6349221"/>
            <a:ext cx="74168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/>
              <a:t>382,000 cm</a:t>
            </a:r>
            <a:r>
              <a:rPr lang="en-GB" sz="2400" baseline="30000" dirty="0" smtClean="0"/>
              <a:t>3</a:t>
            </a:r>
            <a:r>
              <a:rPr lang="en-GB" sz="2400" dirty="0" smtClean="0"/>
              <a:t> = 382,000 ÷ 1,000,000 = 0.382 m</a:t>
            </a:r>
            <a:r>
              <a:rPr lang="en-GB" sz="2400" baseline="30000" dirty="0" smtClean="0"/>
              <a:t>3</a:t>
            </a:r>
            <a:endParaRPr lang="en-GB" sz="2400" dirty="0"/>
          </a:p>
        </p:txBody>
      </p:sp>
      <p:sp>
        <p:nvSpPr>
          <p:cNvPr id="28" name="TextBox 6"/>
          <p:cNvSpPr txBox="1">
            <a:spLocks noChangeArrowheads="1"/>
          </p:cNvSpPr>
          <p:nvPr/>
        </p:nvSpPr>
        <p:spPr bwMode="auto">
          <a:xfrm>
            <a:off x="81400" y="5788264"/>
            <a:ext cx="13316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u="sng" dirty="0" smtClean="0"/>
              <a:t>Step 2:</a:t>
            </a:r>
            <a:endParaRPr lang="en-GB" sz="2400" u="sng" dirty="0"/>
          </a:p>
        </p:txBody>
      </p:sp>
      <p:sp>
        <p:nvSpPr>
          <p:cNvPr id="29" name="TextBox 28"/>
          <p:cNvSpPr txBox="1"/>
          <p:nvPr/>
        </p:nvSpPr>
        <p:spPr>
          <a:xfrm>
            <a:off x="1311214" y="4677164"/>
            <a:ext cx="6285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008E40"/>
                </a:solidFill>
              </a:rPr>
              <a:t>Work out the conversion factor from cm</a:t>
            </a:r>
            <a:r>
              <a:rPr lang="en-GB" sz="2400" b="1" baseline="30000" dirty="0" smtClean="0">
                <a:solidFill>
                  <a:srgbClr val="008E40"/>
                </a:solidFill>
              </a:rPr>
              <a:t>3</a:t>
            </a:r>
            <a:r>
              <a:rPr lang="en-GB" sz="2400" b="1" dirty="0" smtClean="0">
                <a:solidFill>
                  <a:srgbClr val="008E40"/>
                </a:solidFill>
              </a:rPr>
              <a:t> to m</a:t>
            </a:r>
            <a:r>
              <a:rPr lang="en-GB" sz="2400" b="1" baseline="30000" dirty="0" smtClean="0">
                <a:solidFill>
                  <a:srgbClr val="008E40"/>
                </a:solidFill>
              </a:rPr>
              <a:t>3</a:t>
            </a:r>
            <a:endParaRPr lang="en-GB" sz="2400" b="1" dirty="0">
              <a:solidFill>
                <a:srgbClr val="008E40"/>
              </a:solidFill>
            </a:endParaRPr>
          </a:p>
        </p:txBody>
      </p:sp>
      <p:sp>
        <p:nvSpPr>
          <p:cNvPr id="30" name="TextBox 6"/>
          <p:cNvSpPr txBox="1">
            <a:spLocks noChangeArrowheads="1"/>
          </p:cNvSpPr>
          <p:nvPr/>
        </p:nvSpPr>
        <p:spPr bwMode="auto">
          <a:xfrm>
            <a:off x="1637319" y="4155290"/>
            <a:ext cx="66967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/>
              <a:t>Convert a volume of 382,000 cm</a:t>
            </a:r>
            <a:r>
              <a:rPr lang="en-GB" sz="2400" baseline="30000" dirty="0" smtClean="0"/>
              <a:t>3</a:t>
            </a:r>
            <a:r>
              <a:rPr lang="en-GB" sz="2400" dirty="0" smtClean="0"/>
              <a:t> to m</a:t>
            </a:r>
            <a:r>
              <a:rPr lang="en-GB" sz="2400" baseline="30000" dirty="0" smtClean="0"/>
              <a:t>3</a:t>
            </a:r>
            <a:r>
              <a:rPr lang="en-GB" sz="2400" dirty="0" smtClean="0"/>
              <a:t> </a:t>
            </a:r>
            <a:endParaRPr lang="en-GB" sz="2400" dirty="0"/>
          </a:p>
        </p:txBody>
      </p:sp>
      <p:sp>
        <p:nvSpPr>
          <p:cNvPr id="31" name="TextBox 6"/>
          <p:cNvSpPr txBox="1">
            <a:spLocks noChangeArrowheads="1"/>
          </p:cNvSpPr>
          <p:nvPr/>
        </p:nvSpPr>
        <p:spPr bwMode="auto">
          <a:xfrm>
            <a:off x="3183423" y="5322115"/>
            <a:ext cx="6084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/>
              <a:t>So 1 m</a:t>
            </a:r>
            <a:r>
              <a:rPr lang="en-GB" sz="2400" baseline="30000" dirty="0" smtClean="0"/>
              <a:t>3</a:t>
            </a:r>
            <a:r>
              <a:rPr lang="en-GB" sz="2400" dirty="0" smtClean="0"/>
              <a:t> = 100 x 100 x 100 = 1,000,000 cm</a:t>
            </a:r>
            <a:r>
              <a:rPr lang="en-GB" sz="2400" baseline="30000" dirty="0" smtClean="0"/>
              <a:t>3</a:t>
            </a:r>
            <a:endParaRPr lang="en-GB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1239206" y="5865343"/>
            <a:ext cx="4196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008E40"/>
                </a:solidFill>
              </a:rPr>
              <a:t>Divide by the conversion factor</a:t>
            </a:r>
            <a:endParaRPr lang="en-GB" sz="2400" b="1" dirty="0">
              <a:solidFill>
                <a:srgbClr val="008E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1" grpId="0"/>
      <p:bldP spid="22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Box 16"/>
          <p:cNvSpPr txBox="1">
            <a:spLocks noChangeArrowheads="1"/>
          </p:cNvSpPr>
          <p:nvPr/>
        </p:nvSpPr>
        <p:spPr bwMode="auto">
          <a:xfrm>
            <a:off x="1057503" y="148943"/>
            <a:ext cx="694826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3200" b="1" u="sng" smtClean="0"/>
              <a:t>Your Turn - Convert </a:t>
            </a:r>
            <a:r>
              <a:rPr lang="en-GB" sz="3200" b="1" u="sng" dirty="0" smtClean="0"/>
              <a:t>each of these measurements into the units given.</a:t>
            </a:r>
            <a:endParaRPr lang="en-GB" sz="3200" b="1" u="sng" dirty="0"/>
          </a:p>
        </p:txBody>
      </p:sp>
      <p:sp>
        <p:nvSpPr>
          <p:cNvPr id="50" name="Rectangle 49"/>
          <p:cNvSpPr/>
          <p:nvPr/>
        </p:nvSpPr>
        <p:spPr>
          <a:xfrm>
            <a:off x="3042" y="1700808"/>
            <a:ext cx="471601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1) 84 mm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r>
              <a:rPr lang="en-GB" sz="2300" dirty="0" smtClean="0">
                <a:latin typeface="Comic Sans MS" pitchFamily="66" charset="0"/>
              </a:rPr>
              <a:t> into cm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042" y="2132856"/>
            <a:ext cx="3203848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2) 1750 cm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r>
              <a:rPr lang="en-GB" sz="2300" dirty="0" smtClean="0">
                <a:latin typeface="Comic Sans MS" pitchFamily="66" charset="0"/>
              </a:rPr>
              <a:t> into 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042" y="2564904"/>
            <a:ext cx="3707904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3) 29,000 mm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r>
              <a:rPr lang="en-GB" sz="2300" dirty="0" smtClean="0">
                <a:latin typeface="Comic Sans MS" pitchFamily="66" charset="0"/>
              </a:rPr>
              <a:t> into cm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042" y="2996952"/>
            <a:ext cx="4067944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4) 3,150,000 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r>
              <a:rPr lang="en-GB" sz="2300" dirty="0" smtClean="0">
                <a:latin typeface="Comic Sans MS" pitchFamily="66" charset="0"/>
              </a:rPr>
              <a:t> into km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042" y="3429000"/>
            <a:ext cx="3419872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5) 8500 mm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r>
              <a:rPr lang="en-GB" sz="2300" dirty="0" smtClean="0">
                <a:latin typeface="Comic Sans MS" pitchFamily="66" charset="0"/>
              </a:rPr>
              <a:t> into cm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042" y="3861048"/>
            <a:ext cx="3779912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6) 1700 cm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r>
              <a:rPr lang="en-GB" sz="2300" dirty="0" smtClean="0">
                <a:latin typeface="Comic Sans MS" pitchFamily="66" charset="0"/>
              </a:rPr>
              <a:t> into m</a:t>
            </a:r>
            <a:r>
              <a:rPr lang="en-GB" sz="2300" baseline="30000" dirty="0" smtClean="0">
                <a:latin typeface="Comic Sans MS" pitchFamily="66" charset="0"/>
              </a:rPr>
              <a:t>2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16024" y="5006914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>
                <a:latin typeface="Comic Sans MS" pitchFamily="66" charset="0"/>
              </a:rPr>
              <a:t>1) Sandeesh wants to carpet 2 rectangular rooms. One of the room measures 1.7m by 3m, while the other is 670cm by 420cm. How many square metres of carpet will she need?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4842" y="1700808"/>
            <a:ext cx="1296144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0.84cm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2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46850" y="2132856"/>
            <a:ext cx="1296144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0.175m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2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50906" y="2564904"/>
            <a:ext cx="1296144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290cm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2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94922" y="2996952"/>
            <a:ext cx="1296144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3.15km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2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062874" y="3429000"/>
            <a:ext cx="1008112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85cm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2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46850" y="3861048"/>
            <a:ext cx="1152128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0.17m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2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56985" y="5945560"/>
            <a:ext cx="1296144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33.24m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2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54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1865" y="138269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382691"/>
            <a:ext cx="0" cy="49266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64735" y="175576"/>
            <a:ext cx="5356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</a:t>
            </a:r>
            <a:r>
              <a:rPr lang="en-AU" sz="2800" dirty="0" smtClean="0"/>
              <a:t>Conversion </a:t>
            </a:r>
            <a:r>
              <a:rPr lang="mr-IN" sz="2800" dirty="0" smtClean="0"/>
              <a:t>–</a:t>
            </a:r>
            <a:r>
              <a:rPr lang="en-AU" sz="2800" dirty="0" smtClean="0"/>
              <a:t> Area and Volume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851921"/>
            <a:ext cx="892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units of area and volume?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31867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919" y="6328033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Summary: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96920" y="1614728"/>
            <a:ext cx="1542480" cy="59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Volume</a:t>
            </a:r>
            <a:endParaRPr lang="en-US" sz="3200" dirty="0"/>
          </a:p>
        </p:txBody>
      </p:sp>
      <p:sp>
        <p:nvSpPr>
          <p:cNvPr id="15" name="Cube 14"/>
          <p:cNvSpPr/>
          <p:nvPr/>
        </p:nvSpPr>
        <p:spPr>
          <a:xfrm>
            <a:off x="2411760" y="1784371"/>
            <a:ext cx="2160240" cy="2158981"/>
          </a:xfrm>
          <a:prstGeom prst="cube">
            <a:avLst/>
          </a:prstGeom>
          <a:solidFill>
            <a:srgbClr val="33CC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2907895" y="398998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1cm</a:t>
            </a:r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4306435" y="360941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1cm</a:t>
            </a:r>
            <a:endParaRPr lang="en-GB" dirty="0"/>
          </a:p>
        </p:txBody>
      </p:sp>
      <p:sp>
        <p:nvSpPr>
          <p:cNvPr id="18" name="TextBox 17"/>
          <p:cNvSpPr txBox="1"/>
          <p:nvPr/>
        </p:nvSpPr>
        <p:spPr>
          <a:xfrm>
            <a:off x="4608003" y="21579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1cm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2439843" y="2734988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/>
              <a:t>VOLUME = 1cm</a:t>
            </a:r>
            <a:r>
              <a:rPr lang="en-GB" sz="2400" baseline="30000" dirty="0" smtClean="0"/>
              <a:t>3</a:t>
            </a:r>
            <a:endParaRPr lang="en-GB" sz="2400" baseline="30000" dirty="0"/>
          </a:p>
        </p:txBody>
      </p:sp>
      <p:sp>
        <p:nvSpPr>
          <p:cNvPr id="20" name="Cube 19"/>
          <p:cNvSpPr/>
          <p:nvPr/>
        </p:nvSpPr>
        <p:spPr>
          <a:xfrm>
            <a:off x="6274027" y="1789844"/>
            <a:ext cx="2085189" cy="2075583"/>
          </a:xfrm>
          <a:prstGeom prst="cube">
            <a:avLst/>
          </a:prstGeom>
          <a:solidFill>
            <a:srgbClr val="33CC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6721458" y="406277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10mm</a:t>
            </a:r>
            <a:endParaRPr lang="en-GB" dirty="0"/>
          </a:p>
        </p:txBody>
      </p:sp>
      <p:sp>
        <p:nvSpPr>
          <p:cNvPr id="22" name="TextBox 21"/>
          <p:cNvSpPr txBox="1"/>
          <p:nvPr/>
        </p:nvSpPr>
        <p:spPr>
          <a:xfrm>
            <a:off x="8100392" y="3671833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10mm</a:t>
            </a:r>
            <a:endParaRPr lang="en-GB" dirty="0"/>
          </a:p>
        </p:txBody>
      </p:sp>
      <p:sp>
        <p:nvSpPr>
          <p:cNvPr id="23" name="TextBox 22"/>
          <p:cNvSpPr txBox="1"/>
          <p:nvPr/>
        </p:nvSpPr>
        <p:spPr>
          <a:xfrm>
            <a:off x="8388424" y="225619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10mm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6130011" y="2638980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/>
              <a:t>VOLUME = 1000mm</a:t>
            </a:r>
            <a:r>
              <a:rPr lang="en-GB" sz="2400" baseline="30000" dirty="0" smtClean="0"/>
              <a:t>3</a:t>
            </a:r>
            <a:endParaRPr lang="en-GB" sz="2400" baseline="30000" dirty="0"/>
          </a:p>
        </p:txBody>
      </p:sp>
      <p:sp>
        <p:nvSpPr>
          <p:cNvPr id="25" name="TextBox 24"/>
          <p:cNvSpPr txBox="1"/>
          <p:nvPr/>
        </p:nvSpPr>
        <p:spPr>
          <a:xfrm>
            <a:off x="5110538" y="2266281"/>
            <a:ext cx="8640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 smtClean="0"/>
              <a:t>=</a:t>
            </a:r>
            <a:endParaRPr lang="en-GB" sz="9600" dirty="0"/>
          </a:p>
        </p:txBody>
      </p:sp>
      <p:sp>
        <p:nvSpPr>
          <p:cNvPr id="26" name="TextBox 25"/>
          <p:cNvSpPr txBox="1"/>
          <p:nvPr/>
        </p:nvSpPr>
        <p:spPr>
          <a:xfrm>
            <a:off x="3059832" y="5042792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cm</a:t>
            </a:r>
            <a:r>
              <a:rPr lang="en-GB" sz="4000" baseline="30000" dirty="0" smtClean="0"/>
              <a:t>3</a:t>
            </a:r>
            <a:endParaRPr lang="en-GB" sz="4000" baseline="30000" dirty="0"/>
          </a:p>
        </p:txBody>
      </p:sp>
      <p:sp>
        <p:nvSpPr>
          <p:cNvPr id="27" name="TextBox 26"/>
          <p:cNvSpPr txBox="1"/>
          <p:nvPr/>
        </p:nvSpPr>
        <p:spPr>
          <a:xfrm>
            <a:off x="5110538" y="5056786"/>
            <a:ext cx="1405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m</a:t>
            </a:r>
            <a:r>
              <a:rPr lang="en-GB" sz="4000" dirty="0" smtClean="0"/>
              <a:t>m</a:t>
            </a:r>
            <a:r>
              <a:rPr lang="en-GB" sz="4000" baseline="30000" dirty="0" smtClean="0"/>
              <a:t>3</a:t>
            </a:r>
            <a:endParaRPr lang="en-GB" sz="4000" baseline="30000" dirty="0"/>
          </a:p>
        </p:txBody>
      </p:sp>
      <p:sp>
        <p:nvSpPr>
          <p:cNvPr id="28" name="Freeform 27"/>
          <p:cNvSpPr/>
          <p:nvPr/>
        </p:nvSpPr>
        <p:spPr>
          <a:xfrm>
            <a:off x="3996179" y="4848068"/>
            <a:ext cx="1331903" cy="479641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reeform 28"/>
          <p:cNvSpPr/>
          <p:nvPr/>
        </p:nvSpPr>
        <p:spPr>
          <a:xfrm flipV="1">
            <a:off x="3836580" y="5556911"/>
            <a:ext cx="1301516" cy="422969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/>
          <p:cNvSpPr txBox="1"/>
          <p:nvPr/>
        </p:nvSpPr>
        <p:spPr>
          <a:xfrm>
            <a:off x="4003523" y="4424267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1000</a:t>
            </a:r>
            <a:endParaRPr lang="en-GB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3913944" y="5961804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1000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811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1865" y="138269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382691"/>
            <a:ext cx="0" cy="49266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64735" y="175576"/>
            <a:ext cx="5356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</a:t>
            </a:r>
            <a:r>
              <a:rPr lang="en-AU" sz="2800" dirty="0" smtClean="0"/>
              <a:t>Conversion </a:t>
            </a:r>
            <a:r>
              <a:rPr lang="mr-IN" sz="2800" dirty="0" smtClean="0"/>
              <a:t>–</a:t>
            </a:r>
            <a:r>
              <a:rPr lang="en-AU" sz="2800" dirty="0" smtClean="0"/>
              <a:t> Area and Volume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851921"/>
            <a:ext cx="892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units of area and volume?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3552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919" y="6328033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Summary:</a:t>
            </a:r>
            <a:endParaRPr lang="en-US" dirty="0"/>
          </a:p>
        </p:txBody>
      </p:sp>
      <p:sp>
        <p:nvSpPr>
          <p:cNvPr id="14" name="Cube 13"/>
          <p:cNvSpPr/>
          <p:nvPr/>
        </p:nvSpPr>
        <p:spPr>
          <a:xfrm>
            <a:off x="2267744" y="1814740"/>
            <a:ext cx="2160240" cy="2158981"/>
          </a:xfrm>
          <a:prstGeom prst="cube">
            <a:avLst/>
          </a:prstGeom>
          <a:solidFill>
            <a:srgbClr val="CC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2716728" y="397003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1m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4211960" y="35904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1m</a:t>
            </a:r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4452223" y="216593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1m</a:t>
            </a:r>
            <a:endParaRPr lang="en-GB" dirty="0"/>
          </a:p>
        </p:txBody>
      </p:sp>
      <p:sp>
        <p:nvSpPr>
          <p:cNvPr id="18" name="TextBox 17"/>
          <p:cNvSpPr txBox="1"/>
          <p:nvPr/>
        </p:nvSpPr>
        <p:spPr>
          <a:xfrm>
            <a:off x="2231740" y="2663407"/>
            <a:ext cx="1656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VOLUME = 1m</a:t>
            </a:r>
            <a:r>
              <a:rPr lang="en-GB" sz="2800" baseline="30000" dirty="0" smtClean="0"/>
              <a:t>3</a:t>
            </a:r>
            <a:endParaRPr lang="en-GB" sz="2800" baseline="30000" dirty="0"/>
          </a:p>
        </p:txBody>
      </p:sp>
      <p:sp>
        <p:nvSpPr>
          <p:cNvPr id="19" name="Cube 18"/>
          <p:cNvSpPr/>
          <p:nvPr/>
        </p:nvSpPr>
        <p:spPr>
          <a:xfrm>
            <a:off x="5868144" y="1636082"/>
            <a:ext cx="2016224" cy="2152957"/>
          </a:xfrm>
          <a:prstGeom prst="cube">
            <a:avLst/>
          </a:prstGeom>
          <a:solidFill>
            <a:srgbClr val="CCFF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940152" y="381475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100cm</a:t>
            </a:r>
            <a:endParaRPr lang="en-GB" dirty="0"/>
          </a:p>
        </p:txBody>
      </p:sp>
      <p:sp>
        <p:nvSpPr>
          <p:cNvPr id="21" name="TextBox 20"/>
          <p:cNvSpPr txBox="1"/>
          <p:nvPr/>
        </p:nvSpPr>
        <p:spPr>
          <a:xfrm>
            <a:off x="7524328" y="341481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100cm</a:t>
            </a:r>
            <a:endParaRPr lang="en-GB" dirty="0"/>
          </a:p>
        </p:txBody>
      </p:sp>
      <p:sp>
        <p:nvSpPr>
          <p:cNvPr id="22" name="TextBox 21"/>
          <p:cNvSpPr txBox="1"/>
          <p:nvPr/>
        </p:nvSpPr>
        <p:spPr>
          <a:xfrm>
            <a:off x="7812360" y="213285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100cm</a:t>
            </a:r>
            <a:endParaRPr lang="en-GB" dirty="0"/>
          </a:p>
        </p:txBody>
      </p:sp>
      <p:sp>
        <p:nvSpPr>
          <p:cNvPr id="23" name="TextBox 22"/>
          <p:cNvSpPr txBox="1"/>
          <p:nvPr/>
        </p:nvSpPr>
        <p:spPr>
          <a:xfrm>
            <a:off x="5652120" y="2570955"/>
            <a:ext cx="1944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/>
              <a:t>VOLUME = 100000cm</a:t>
            </a:r>
            <a:r>
              <a:rPr lang="en-GB" sz="2400" baseline="30000" dirty="0" smtClean="0"/>
              <a:t>3</a:t>
            </a:r>
            <a:endParaRPr lang="en-GB" sz="2400" baseline="30000" dirty="0"/>
          </a:p>
        </p:txBody>
      </p:sp>
      <p:sp>
        <p:nvSpPr>
          <p:cNvPr id="24" name="TextBox 23"/>
          <p:cNvSpPr txBox="1"/>
          <p:nvPr/>
        </p:nvSpPr>
        <p:spPr>
          <a:xfrm>
            <a:off x="4716016" y="2178581"/>
            <a:ext cx="8640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 smtClean="0"/>
              <a:t>=</a:t>
            </a:r>
            <a:endParaRPr lang="en-GB" sz="9600" dirty="0"/>
          </a:p>
        </p:txBody>
      </p:sp>
      <p:sp>
        <p:nvSpPr>
          <p:cNvPr id="25" name="TextBox 24"/>
          <p:cNvSpPr txBox="1"/>
          <p:nvPr/>
        </p:nvSpPr>
        <p:spPr>
          <a:xfrm>
            <a:off x="3059832" y="5022200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m</a:t>
            </a:r>
            <a:r>
              <a:rPr lang="en-GB" sz="4000" baseline="30000" dirty="0" smtClean="0"/>
              <a:t>3</a:t>
            </a:r>
            <a:endParaRPr lang="en-GB" sz="4000" baseline="30000" dirty="0"/>
          </a:p>
        </p:txBody>
      </p:sp>
      <p:sp>
        <p:nvSpPr>
          <p:cNvPr id="26" name="TextBox 25"/>
          <p:cNvSpPr txBox="1"/>
          <p:nvPr/>
        </p:nvSpPr>
        <p:spPr>
          <a:xfrm>
            <a:off x="4788024" y="5036442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cm</a:t>
            </a:r>
            <a:r>
              <a:rPr lang="en-GB" sz="4000" baseline="30000" dirty="0" smtClean="0"/>
              <a:t>3</a:t>
            </a:r>
            <a:endParaRPr lang="en-GB" sz="4000" baseline="30000" dirty="0"/>
          </a:p>
        </p:txBody>
      </p:sp>
      <p:sp>
        <p:nvSpPr>
          <p:cNvPr id="27" name="Freeform 26"/>
          <p:cNvSpPr/>
          <p:nvPr/>
        </p:nvSpPr>
        <p:spPr>
          <a:xfrm>
            <a:off x="3780795" y="4720507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reeform 27"/>
          <p:cNvSpPr/>
          <p:nvPr/>
        </p:nvSpPr>
        <p:spPr>
          <a:xfrm flipV="1">
            <a:off x="3637662" y="5594226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3611141" y="4287603"/>
            <a:ext cx="134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100000</a:t>
            </a:r>
            <a:endParaRPr lang="en-GB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3563888" y="6013811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100000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1406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1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Box 16"/>
          <p:cNvSpPr txBox="1">
            <a:spLocks noChangeArrowheads="1"/>
          </p:cNvSpPr>
          <p:nvPr/>
        </p:nvSpPr>
        <p:spPr bwMode="auto">
          <a:xfrm>
            <a:off x="1057503" y="148943"/>
            <a:ext cx="694826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GB" sz="3200" b="1" u="sng" smtClean="0"/>
              <a:t>Your Turn - Convert </a:t>
            </a:r>
            <a:r>
              <a:rPr lang="en-GB" sz="3200" b="1" u="sng" dirty="0" smtClean="0"/>
              <a:t>each of these measurements into the units given.</a:t>
            </a:r>
            <a:endParaRPr lang="en-GB" sz="3200" b="1" u="sng" dirty="0"/>
          </a:p>
        </p:txBody>
      </p:sp>
      <p:sp>
        <p:nvSpPr>
          <p:cNvPr id="17" name="Rectangle 16"/>
          <p:cNvSpPr/>
          <p:nvPr/>
        </p:nvSpPr>
        <p:spPr>
          <a:xfrm>
            <a:off x="323528" y="1432616"/>
            <a:ext cx="3672408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1) 0.001 km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r>
              <a:rPr lang="en-GB" sz="2300" dirty="0" smtClean="0">
                <a:latin typeface="Comic Sans MS" pitchFamily="66" charset="0"/>
              </a:rPr>
              <a:t> into 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3528" y="1864664"/>
            <a:ext cx="291581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2) </a:t>
            </a:r>
            <a:r>
              <a:rPr lang="en-GB" sz="2300" dirty="0" smtClean="0">
                <a:latin typeface="Comic Sans MS" pitchFamily="66" charset="0"/>
              </a:rPr>
              <a:t>5 </a:t>
            </a:r>
            <a:r>
              <a:rPr lang="en-GB" sz="2300" dirty="0" smtClean="0">
                <a:latin typeface="Comic Sans MS" pitchFamily="66" charset="0"/>
              </a:rPr>
              <a:t>cm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r>
              <a:rPr lang="en-GB" sz="2300" dirty="0" smtClean="0">
                <a:latin typeface="Comic Sans MS" pitchFamily="66" charset="0"/>
              </a:rPr>
              <a:t> into mm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3528" y="2296714"/>
            <a:ext cx="313184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smtClean="0">
                <a:latin typeface="Comic Sans MS" pitchFamily="66" charset="0"/>
              </a:rPr>
              <a:t>3) 1500 mm</a:t>
            </a:r>
            <a:r>
              <a:rPr lang="en-GB" sz="2300" baseline="30000" smtClean="0">
                <a:latin typeface="Comic Sans MS" pitchFamily="66" charset="0"/>
              </a:rPr>
              <a:t>3</a:t>
            </a:r>
            <a:r>
              <a:rPr lang="en-GB" sz="2300" smtClean="0">
                <a:latin typeface="Comic Sans MS" pitchFamily="66" charset="0"/>
              </a:rPr>
              <a:t> </a:t>
            </a:r>
            <a:r>
              <a:rPr lang="en-GB" sz="2300" dirty="0" smtClean="0">
                <a:latin typeface="Comic Sans MS" pitchFamily="66" charset="0"/>
              </a:rPr>
              <a:t>into cm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3528" y="2728760"/>
            <a:ext cx="3816424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4) </a:t>
            </a:r>
            <a:r>
              <a:rPr lang="en-GB" sz="2300" dirty="0" smtClean="0">
                <a:latin typeface="Comic Sans MS" pitchFamily="66" charset="0"/>
              </a:rPr>
              <a:t>9 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r>
              <a:rPr lang="en-GB" sz="2300" dirty="0" smtClean="0">
                <a:latin typeface="Comic Sans MS" pitchFamily="66" charset="0"/>
              </a:rPr>
              <a:t> </a:t>
            </a:r>
            <a:r>
              <a:rPr lang="en-GB" sz="2300" dirty="0" smtClean="0">
                <a:latin typeface="Comic Sans MS" pitchFamily="66" charset="0"/>
              </a:rPr>
              <a:t>into </a:t>
            </a:r>
            <a:r>
              <a:rPr lang="en-GB" sz="2300" dirty="0" smtClean="0">
                <a:latin typeface="Comic Sans MS" pitchFamily="66" charset="0"/>
              </a:rPr>
              <a:t>cm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3528" y="3160808"/>
            <a:ext cx="313184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5) </a:t>
            </a:r>
            <a:r>
              <a:rPr lang="en-GB" sz="2300" dirty="0" smtClean="0">
                <a:latin typeface="Comic Sans MS" pitchFamily="66" charset="0"/>
              </a:rPr>
              <a:t>0.07 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r>
              <a:rPr lang="en-GB" sz="2300" dirty="0" smtClean="0">
                <a:latin typeface="Comic Sans MS" pitchFamily="66" charset="0"/>
              </a:rPr>
              <a:t> </a:t>
            </a:r>
            <a:r>
              <a:rPr lang="en-GB" sz="2300" dirty="0" smtClean="0">
                <a:latin typeface="Comic Sans MS" pitchFamily="66" charset="0"/>
              </a:rPr>
              <a:t>into </a:t>
            </a:r>
            <a:r>
              <a:rPr lang="en-GB" sz="2300" dirty="0" smtClean="0">
                <a:latin typeface="Comic Sans MS" pitchFamily="66" charset="0"/>
              </a:rPr>
              <a:t>mm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3528" y="3592856"/>
            <a:ext cx="4283968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smtClean="0">
                <a:latin typeface="Comic Sans MS" pitchFamily="66" charset="0"/>
              </a:rPr>
              <a:t>6) </a:t>
            </a:r>
            <a:r>
              <a:rPr lang="en-GB" sz="2300" dirty="0" smtClean="0">
                <a:latin typeface="Comic Sans MS" pitchFamily="66" charset="0"/>
              </a:rPr>
              <a:t>960,000 </a:t>
            </a:r>
            <a:r>
              <a:rPr lang="en-GB" sz="2300" dirty="0" smtClean="0">
                <a:latin typeface="Comic Sans MS" pitchFamily="66" charset="0"/>
              </a:rPr>
              <a:t>cm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r>
              <a:rPr lang="en-GB" sz="2300" dirty="0" smtClean="0">
                <a:latin typeface="Comic Sans MS" pitchFamily="66" charset="0"/>
              </a:rPr>
              <a:t> into </a:t>
            </a:r>
            <a:r>
              <a:rPr lang="en-GB" sz="2300" dirty="0" smtClean="0">
                <a:latin typeface="Comic Sans MS" pitchFamily="66" charset="0"/>
              </a:rPr>
              <a:t>m</a:t>
            </a:r>
            <a:r>
              <a:rPr lang="en-GB" sz="2300" baseline="30000" dirty="0" smtClean="0">
                <a:latin typeface="Comic Sans MS" pitchFamily="66" charset="0"/>
              </a:rPr>
              <a:t>3</a:t>
            </a:r>
            <a:endParaRPr lang="en-GB" sz="2300" dirty="0" smtClean="0">
              <a:latin typeface="Comic Sans MS" pitchFamily="66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797660" y="1454378"/>
            <a:ext cx="1998476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smtClean="0">
                <a:solidFill>
                  <a:schemeClr val="bg1"/>
                </a:solidFill>
                <a:latin typeface="Comic Sans MS" pitchFamily="66" charset="0"/>
              </a:rPr>
              <a:t>1,000,000</a:t>
            </a:r>
            <a:r>
              <a:rPr lang="en-GB" sz="2100" b="1" u="sng" smtClean="0">
                <a:solidFill>
                  <a:schemeClr val="bg1"/>
                </a:solidFill>
                <a:latin typeface="Comic Sans MS" pitchFamily="66" charset="0"/>
              </a:rPr>
              <a:t>m</a:t>
            </a:r>
            <a:r>
              <a:rPr lang="en-GB" sz="2100" b="1" u="sng" baseline="30000" smtClean="0">
                <a:solidFill>
                  <a:schemeClr val="bg1"/>
                </a:solidFill>
                <a:latin typeface="Comic Sans MS" pitchFamily="66" charset="0"/>
              </a:rPr>
              <a:t>3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797660" y="1864664"/>
            <a:ext cx="1619672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5000mm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3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797660" y="2286793"/>
            <a:ext cx="1763688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1.5cm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3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797660" y="2718841"/>
            <a:ext cx="2286508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9,000,000</a:t>
            </a:r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cm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3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797660" y="3150889"/>
            <a:ext cx="2286508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70,000,000m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3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038836" y="3637636"/>
            <a:ext cx="1547664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0.96m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3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-72008" y="4552672"/>
            <a:ext cx="4572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GB" sz="2200" dirty="0" smtClean="0">
                <a:latin typeface="Comic Sans MS" pitchFamily="66" charset="0"/>
              </a:rPr>
              <a:t>The table gives the volume of 3 shapes. </a:t>
            </a:r>
          </a:p>
          <a:p>
            <a:pPr marL="457200" indent="-457200"/>
            <a:r>
              <a:rPr lang="en-GB" sz="2200" dirty="0" smtClean="0">
                <a:latin typeface="Comic Sans MS" pitchFamily="66" charset="0"/>
              </a:rPr>
              <a:t>	Which shape has the greatest volume? </a:t>
            </a:r>
          </a:p>
          <a:p>
            <a:pPr marL="457200" indent="-457200"/>
            <a:r>
              <a:rPr lang="en-GB" sz="2200" dirty="0" smtClean="0">
                <a:latin typeface="Comic Sans MS" pitchFamily="66" charset="0"/>
              </a:rPr>
              <a:t>	Give reasons for your answer.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943031"/>
              </p:ext>
            </p:extLst>
          </p:nvPr>
        </p:nvGraphicFramePr>
        <p:xfrm>
          <a:off x="4572000" y="4437112"/>
          <a:ext cx="3096344" cy="2016224"/>
        </p:xfrm>
        <a:graphic>
          <a:graphicData uri="http://schemas.openxmlformats.org/drawingml/2006/table">
            <a:tbl>
              <a:tblPr/>
              <a:tblGrid>
                <a:gridCol w="936104"/>
                <a:gridCol w="2160240"/>
              </a:tblGrid>
              <a:tr h="504056">
                <a:tc>
                  <a:txBody>
                    <a:bodyPr/>
                    <a:lstStyle/>
                    <a:p>
                      <a:pPr algn="ctr" fontAlgn="b"/>
                      <a:r>
                        <a:rPr lang="en-GB" sz="2200" b="1" i="0" u="sng" strike="noStrike" dirty="0">
                          <a:solidFill>
                            <a:srgbClr val="000000"/>
                          </a:solidFill>
                          <a:latin typeface="Comic Sans MS"/>
                        </a:rPr>
                        <a:t>Shape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200" b="1" i="0" u="sng" strike="noStrike">
                          <a:solidFill>
                            <a:srgbClr val="000000"/>
                          </a:solidFill>
                          <a:latin typeface="Comic Sans MS"/>
                        </a:rPr>
                        <a:t>Volume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056">
                <a:tc>
                  <a:txBody>
                    <a:bodyPr/>
                    <a:lstStyle/>
                    <a:p>
                      <a:pPr algn="ctr" fontAlgn="b"/>
                      <a:r>
                        <a:rPr lang="en-GB" sz="2200" b="0" i="0" u="none" strike="noStrike">
                          <a:solidFill>
                            <a:srgbClr val="000000"/>
                          </a:solidFill>
                          <a:latin typeface="Comic Sans MS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b="0" i="0" u="none" strike="noStrike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 1.25 </a:t>
                      </a:r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latin typeface="Comic Sans MS"/>
                        </a:rPr>
                        <a:t>x </a:t>
                      </a:r>
                      <a:r>
                        <a:rPr lang="en-GB" sz="2200" b="0" i="0" u="none" strike="noStrike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10</a:t>
                      </a:r>
                      <a:r>
                        <a:rPr lang="en-GB" sz="2200" b="0" i="0" u="none" strike="noStrike" baseline="30000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7</a:t>
                      </a:r>
                      <a:r>
                        <a:rPr lang="en-GB" sz="2200" b="0" i="0" u="none" strike="noStrike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 cm</a:t>
                      </a:r>
                      <a:r>
                        <a:rPr lang="en-GB" sz="2200" b="0" i="0" u="none" strike="noStrike" baseline="30000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3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latin typeface="Comic Sans M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056">
                <a:tc>
                  <a:txBody>
                    <a:bodyPr/>
                    <a:lstStyle/>
                    <a:p>
                      <a:pPr algn="ctr" fontAlgn="b"/>
                      <a:r>
                        <a:rPr lang="en-GB" sz="2200" b="0" i="0" u="none" strike="noStrike">
                          <a:solidFill>
                            <a:srgbClr val="000000"/>
                          </a:solidFill>
                          <a:latin typeface="Comic Sans MS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latin typeface="Comic Sans MS"/>
                        </a:rPr>
                        <a:t> </a:t>
                      </a:r>
                      <a:r>
                        <a:rPr lang="en-GB" sz="2200" b="0" i="0" u="none" strike="noStrike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2.45 m</a:t>
                      </a:r>
                      <a:r>
                        <a:rPr lang="en-GB" sz="2200" b="0" i="0" u="none" strike="noStrike" baseline="30000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3</a:t>
                      </a:r>
                      <a:endParaRPr lang="en-GB" sz="2200" b="0" i="0" u="none" strike="noStrike" dirty="0">
                        <a:solidFill>
                          <a:srgbClr val="000000"/>
                        </a:solidFill>
                        <a:latin typeface="Comic Sans M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056">
                <a:tc>
                  <a:txBody>
                    <a:bodyPr/>
                    <a:lstStyle/>
                    <a:p>
                      <a:pPr algn="ctr" fontAlgn="b"/>
                      <a:r>
                        <a:rPr lang="en-GB" sz="2200" b="0" i="0" u="none" strike="noStrike">
                          <a:solidFill>
                            <a:srgbClr val="000000"/>
                          </a:solidFill>
                          <a:latin typeface="Comic Sans MS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200" b="0" i="0" u="none" strike="noStrike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3.75 x 10</a:t>
                      </a:r>
                      <a:r>
                        <a:rPr lang="en-GB" sz="2200" b="0" i="0" u="none" strike="noStrike" baseline="30000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8</a:t>
                      </a:r>
                      <a:r>
                        <a:rPr lang="en-GB" sz="2200" b="0" i="0" u="none" strike="noStrike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 mm</a:t>
                      </a:r>
                      <a:r>
                        <a:rPr lang="en-GB" sz="2200" b="0" i="0" u="none" strike="noStrike" baseline="30000" dirty="0" smtClean="0">
                          <a:solidFill>
                            <a:srgbClr val="000000"/>
                          </a:solidFill>
                          <a:latin typeface="Comic Sans MS"/>
                        </a:rPr>
                        <a:t>3</a:t>
                      </a:r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latin typeface="Comic Sans MS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7812360" y="5013176"/>
            <a:ext cx="1331640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12.5m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3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812360" y="6021288"/>
            <a:ext cx="1331640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0.375m</a:t>
            </a:r>
            <a:r>
              <a:rPr lang="en-GB" sz="2100" b="1" u="sng" baseline="30000" dirty="0" smtClean="0">
                <a:solidFill>
                  <a:schemeClr val="bg1"/>
                </a:solidFill>
                <a:latin typeface="Comic Sans MS" pitchFamily="66" charset="0"/>
              </a:rPr>
              <a:t>3</a:t>
            </a:r>
            <a:endParaRPr lang="en-GB" sz="2100" b="1" u="sng" dirty="0" smtClean="0">
              <a:solidFill>
                <a:schemeClr val="bg1"/>
              </a:solidFill>
              <a:latin typeface="Comic Sans MS" pitchFamily="66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860032" y="6442502"/>
            <a:ext cx="3960440" cy="41549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GB" sz="2100" b="1" u="sng" dirty="0" smtClean="0">
                <a:solidFill>
                  <a:schemeClr val="bg1"/>
                </a:solidFill>
                <a:latin typeface="Comic Sans MS" pitchFamily="66" charset="0"/>
              </a:rPr>
              <a:t>Shape A has largest volume.</a:t>
            </a:r>
          </a:p>
        </p:txBody>
      </p:sp>
    </p:spTree>
    <p:extLst>
      <p:ext uri="{BB962C8B-B14F-4D97-AF65-F5344CB8AC3E}">
        <p14:creationId xmlns:p14="http://schemas.microsoft.com/office/powerpoint/2010/main" val="108910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9" grpId="0" animBg="1"/>
      <p:bldP spid="40" grpId="0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6"/>
          <p:cNvSpPr txBox="1">
            <a:spLocks noChangeArrowheads="1"/>
          </p:cNvSpPr>
          <p:nvPr/>
        </p:nvSpPr>
        <p:spPr bwMode="auto">
          <a:xfrm>
            <a:off x="0" y="3456384"/>
            <a:ext cx="5395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Comic Sans MS" pitchFamily="66" charset="0"/>
              </a:rPr>
              <a:t>2)</a:t>
            </a:r>
            <a:endParaRPr lang="en-GB" sz="2400" dirty="0">
              <a:latin typeface="Comic Sans MS" pitchFamily="66" charset="0"/>
            </a:endParaRPr>
          </a:p>
        </p:txBody>
      </p:sp>
      <p:sp>
        <p:nvSpPr>
          <p:cNvPr id="54" name="TextBox 6"/>
          <p:cNvSpPr txBox="1">
            <a:spLocks noChangeArrowheads="1"/>
          </p:cNvSpPr>
          <p:nvPr/>
        </p:nvSpPr>
        <p:spPr bwMode="auto">
          <a:xfrm>
            <a:off x="1187624" y="4077072"/>
            <a:ext cx="2304256" cy="453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350" dirty="0" smtClean="0">
                <a:latin typeface="Comic Sans MS" pitchFamily="66" charset="0"/>
              </a:rPr>
              <a:t>1 cm = 10 mm,</a:t>
            </a:r>
            <a:endParaRPr lang="en-GB" sz="2350" dirty="0">
              <a:latin typeface="Comic Sans MS" pitchFamily="66" charset="0"/>
            </a:endParaRPr>
          </a:p>
        </p:txBody>
      </p:sp>
      <p:sp>
        <p:nvSpPr>
          <p:cNvPr id="58" name="TextBox 6"/>
          <p:cNvSpPr txBox="1">
            <a:spLocks noChangeArrowheads="1"/>
          </p:cNvSpPr>
          <p:nvPr/>
        </p:nvSpPr>
        <p:spPr bwMode="auto">
          <a:xfrm>
            <a:off x="0" y="4077072"/>
            <a:ext cx="111561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200" u="sng" dirty="0" smtClean="0">
                <a:latin typeface="Comic Sans MS" pitchFamily="66" charset="0"/>
              </a:rPr>
              <a:t>Step 1:</a:t>
            </a:r>
            <a:endParaRPr lang="en-GB" sz="2200" u="sng" dirty="0">
              <a:latin typeface="Comic Sans MS" pitchFamily="66" charset="0"/>
            </a:endParaRPr>
          </a:p>
        </p:txBody>
      </p:sp>
      <p:sp>
        <p:nvSpPr>
          <p:cNvPr id="61" name="TextBox 6"/>
          <p:cNvSpPr txBox="1">
            <a:spLocks noChangeArrowheads="1"/>
          </p:cNvSpPr>
          <p:nvPr/>
        </p:nvSpPr>
        <p:spPr bwMode="auto">
          <a:xfrm>
            <a:off x="1187624" y="4725144"/>
            <a:ext cx="74168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Comic Sans MS" pitchFamily="66" charset="0"/>
              </a:rPr>
              <a:t>358 mm</a:t>
            </a:r>
            <a:r>
              <a:rPr lang="en-GB" sz="2400" baseline="30000" dirty="0" smtClean="0">
                <a:latin typeface="Comic Sans MS" pitchFamily="66" charset="0"/>
              </a:rPr>
              <a:t>2</a:t>
            </a:r>
            <a:r>
              <a:rPr lang="en-GB" sz="2400" dirty="0" smtClean="0">
                <a:latin typeface="Comic Sans MS" pitchFamily="66" charset="0"/>
              </a:rPr>
              <a:t> = 358 x 1,000 = 358,000 cm</a:t>
            </a:r>
            <a:r>
              <a:rPr lang="en-GB" sz="2400" baseline="30000" dirty="0" smtClean="0">
                <a:latin typeface="Comic Sans MS" pitchFamily="66" charset="0"/>
              </a:rPr>
              <a:t>2</a:t>
            </a:r>
            <a:endParaRPr lang="en-GB" sz="2400" dirty="0">
              <a:latin typeface="Comic Sans MS" pitchFamily="66" charset="0"/>
            </a:endParaRPr>
          </a:p>
        </p:txBody>
      </p:sp>
      <p:sp>
        <p:nvSpPr>
          <p:cNvPr id="62" name="TextBox 6"/>
          <p:cNvSpPr txBox="1">
            <a:spLocks noChangeArrowheads="1"/>
          </p:cNvSpPr>
          <p:nvPr/>
        </p:nvSpPr>
        <p:spPr bwMode="auto">
          <a:xfrm>
            <a:off x="0" y="4725144"/>
            <a:ext cx="133164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200" u="sng" dirty="0" smtClean="0">
                <a:latin typeface="Comic Sans MS" pitchFamily="66" charset="0"/>
              </a:rPr>
              <a:t>Step 2:</a:t>
            </a:r>
            <a:endParaRPr lang="en-GB" sz="2200" u="sng" dirty="0">
              <a:latin typeface="Comic Sans MS" pitchFamily="66" charset="0"/>
            </a:endParaRPr>
          </a:p>
        </p:txBody>
      </p:sp>
      <p:sp>
        <p:nvSpPr>
          <p:cNvPr id="64" name="TextBox 6"/>
          <p:cNvSpPr txBox="1">
            <a:spLocks noChangeArrowheads="1"/>
          </p:cNvSpPr>
          <p:nvPr/>
        </p:nvSpPr>
        <p:spPr bwMode="auto">
          <a:xfrm>
            <a:off x="467544" y="3429000"/>
            <a:ext cx="6696744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500" dirty="0" smtClean="0">
                <a:latin typeface="Comic Sans MS" pitchFamily="66" charset="0"/>
              </a:rPr>
              <a:t>Convert 358 mm</a:t>
            </a:r>
            <a:r>
              <a:rPr lang="en-GB" sz="2500" baseline="30000" dirty="0" smtClean="0">
                <a:latin typeface="Comic Sans MS" pitchFamily="66" charset="0"/>
              </a:rPr>
              <a:t>3</a:t>
            </a:r>
            <a:r>
              <a:rPr lang="en-GB" sz="2500" dirty="0" smtClean="0">
                <a:latin typeface="Comic Sans MS" pitchFamily="66" charset="0"/>
              </a:rPr>
              <a:t> to cm</a:t>
            </a:r>
            <a:r>
              <a:rPr lang="en-GB" sz="2500" baseline="30000" dirty="0" smtClean="0">
                <a:latin typeface="Comic Sans MS" pitchFamily="66" charset="0"/>
              </a:rPr>
              <a:t>3</a:t>
            </a:r>
            <a:endParaRPr lang="en-GB" sz="2500" dirty="0">
              <a:latin typeface="Comic Sans MS" pitchFamily="66" charset="0"/>
            </a:endParaRPr>
          </a:p>
        </p:txBody>
      </p:sp>
      <p:sp>
        <p:nvSpPr>
          <p:cNvPr id="65" name="TextBox 6"/>
          <p:cNvSpPr txBox="1">
            <a:spLocks noChangeArrowheads="1"/>
          </p:cNvSpPr>
          <p:nvPr/>
        </p:nvSpPr>
        <p:spPr bwMode="auto">
          <a:xfrm>
            <a:off x="3059832" y="4077072"/>
            <a:ext cx="6084168" cy="453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350" dirty="0" smtClean="0">
                <a:latin typeface="Comic Sans MS" pitchFamily="66" charset="0"/>
              </a:rPr>
              <a:t> So 1 cm</a:t>
            </a:r>
            <a:r>
              <a:rPr lang="en-GB" sz="2350" baseline="30000" dirty="0" smtClean="0">
                <a:latin typeface="Comic Sans MS" pitchFamily="66" charset="0"/>
              </a:rPr>
              <a:t>3</a:t>
            </a:r>
            <a:r>
              <a:rPr lang="en-GB" sz="2350" dirty="0" smtClean="0">
                <a:latin typeface="Comic Sans MS" pitchFamily="66" charset="0"/>
              </a:rPr>
              <a:t> = 10 x 10 x 10 = 1,000 mm</a:t>
            </a:r>
            <a:r>
              <a:rPr lang="en-GB" sz="2350" baseline="30000" dirty="0" smtClean="0">
                <a:latin typeface="Comic Sans MS" pitchFamily="66" charset="0"/>
              </a:rPr>
              <a:t>3</a:t>
            </a:r>
            <a:endParaRPr lang="en-GB" sz="2350" dirty="0">
              <a:latin typeface="Comic Sans MS" pitchFamily="66" charset="0"/>
            </a:endParaRPr>
          </a:p>
        </p:txBody>
      </p:sp>
      <p:sp>
        <p:nvSpPr>
          <p:cNvPr id="21" name="TextBox 6"/>
          <p:cNvSpPr txBox="1">
            <a:spLocks noChangeArrowheads="1"/>
          </p:cNvSpPr>
          <p:nvPr/>
        </p:nvSpPr>
        <p:spPr bwMode="auto">
          <a:xfrm>
            <a:off x="0" y="1008112"/>
            <a:ext cx="5395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Comic Sans MS" pitchFamily="66" charset="0"/>
              </a:rPr>
              <a:t>1)</a:t>
            </a:r>
            <a:endParaRPr lang="en-GB" sz="2400" dirty="0">
              <a:latin typeface="Comic Sans MS" pitchFamily="66" charset="0"/>
            </a:endParaRPr>
          </a:p>
        </p:txBody>
      </p:sp>
      <p:sp>
        <p:nvSpPr>
          <p:cNvPr id="22" name="TextBox 6"/>
          <p:cNvSpPr txBox="1">
            <a:spLocks noChangeArrowheads="1"/>
          </p:cNvSpPr>
          <p:nvPr/>
        </p:nvSpPr>
        <p:spPr bwMode="auto">
          <a:xfrm>
            <a:off x="1043608" y="1628800"/>
            <a:ext cx="2304256" cy="453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350" dirty="0" smtClean="0">
                <a:latin typeface="Comic Sans MS" pitchFamily="66" charset="0"/>
              </a:rPr>
              <a:t>1 m = 100 cm,</a:t>
            </a:r>
            <a:endParaRPr lang="en-GB" sz="2350" dirty="0">
              <a:latin typeface="Comic Sans MS" pitchFamily="66" charset="0"/>
            </a:endParaRPr>
          </a:p>
        </p:txBody>
      </p:sp>
      <p:sp>
        <p:nvSpPr>
          <p:cNvPr id="27" name="TextBox 6"/>
          <p:cNvSpPr txBox="1">
            <a:spLocks noChangeArrowheads="1"/>
          </p:cNvSpPr>
          <p:nvPr/>
        </p:nvSpPr>
        <p:spPr bwMode="auto">
          <a:xfrm>
            <a:off x="0" y="1628800"/>
            <a:ext cx="111561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200" u="sng" dirty="0" smtClean="0">
                <a:latin typeface="Comic Sans MS" pitchFamily="66" charset="0"/>
              </a:rPr>
              <a:t>Step 1:</a:t>
            </a:r>
            <a:endParaRPr lang="en-GB" sz="2200" u="sng" dirty="0">
              <a:latin typeface="Comic Sans MS" pitchFamily="66" charset="0"/>
            </a:endParaRPr>
          </a:p>
        </p:txBody>
      </p:sp>
      <p:sp>
        <p:nvSpPr>
          <p:cNvPr id="28" name="TextBox 6"/>
          <p:cNvSpPr txBox="1">
            <a:spLocks noChangeArrowheads="1"/>
          </p:cNvSpPr>
          <p:nvPr/>
        </p:nvSpPr>
        <p:spPr bwMode="auto">
          <a:xfrm>
            <a:off x="1043608" y="2276872"/>
            <a:ext cx="74168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Comic Sans MS" pitchFamily="66" charset="0"/>
              </a:rPr>
              <a:t>4.6 m</a:t>
            </a:r>
            <a:r>
              <a:rPr lang="en-GB" sz="2400" baseline="30000" dirty="0" smtClean="0">
                <a:latin typeface="Comic Sans MS" pitchFamily="66" charset="0"/>
              </a:rPr>
              <a:t>2</a:t>
            </a:r>
            <a:r>
              <a:rPr lang="en-GB" sz="2400" dirty="0" smtClean="0">
                <a:latin typeface="Comic Sans MS" pitchFamily="66" charset="0"/>
              </a:rPr>
              <a:t> = 4.6 x 1,000,000 = 4,600,000 cm</a:t>
            </a:r>
            <a:r>
              <a:rPr lang="en-GB" sz="2400" baseline="30000" dirty="0" smtClean="0">
                <a:latin typeface="Comic Sans MS" pitchFamily="66" charset="0"/>
              </a:rPr>
              <a:t>2</a:t>
            </a:r>
            <a:endParaRPr lang="en-GB" sz="2400" dirty="0">
              <a:latin typeface="Comic Sans MS" pitchFamily="66" charset="0"/>
            </a:endParaRPr>
          </a:p>
        </p:txBody>
      </p:sp>
      <p:sp>
        <p:nvSpPr>
          <p:cNvPr id="29" name="TextBox 6"/>
          <p:cNvSpPr txBox="1">
            <a:spLocks noChangeArrowheads="1"/>
          </p:cNvSpPr>
          <p:nvPr/>
        </p:nvSpPr>
        <p:spPr bwMode="auto">
          <a:xfrm>
            <a:off x="0" y="2276872"/>
            <a:ext cx="133164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200" u="sng" dirty="0" smtClean="0">
                <a:latin typeface="Comic Sans MS" pitchFamily="66" charset="0"/>
              </a:rPr>
              <a:t>Step 2:</a:t>
            </a:r>
            <a:endParaRPr lang="en-GB" sz="2200" u="sng" dirty="0">
              <a:latin typeface="Comic Sans MS" pitchFamily="66" charset="0"/>
            </a:endParaRPr>
          </a:p>
        </p:txBody>
      </p:sp>
      <p:sp>
        <p:nvSpPr>
          <p:cNvPr id="30" name="TextBox 6"/>
          <p:cNvSpPr txBox="1">
            <a:spLocks noChangeArrowheads="1"/>
          </p:cNvSpPr>
          <p:nvPr/>
        </p:nvSpPr>
        <p:spPr bwMode="auto">
          <a:xfrm>
            <a:off x="467544" y="980728"/>
            <a:ext cx="6696744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500" dirty="0" smtClean="0">
                <a:latin typeface="Comic Sans MS" pitchFamily="66" charset="0"/>
              </a:rPr>
              <a:t>Convert 4.6 m</a:t>
            </a:r>
            <a:r>
              <a:rPr lang="en-GB" sz="2500" baseline="30000" dirty="0" smtClean="0">
                <a:latin typeface="Comic Sans MS" pitchFamily="66" charset="0"/>
              </a:rPr>
              <a:t>2</a:t>
            </a:r>
            <a:r>
              <a:rPr lang="en-GB" sz="2500" dirty="0" smtClean="0">
                <a:latin typeface="Comic Sans MS" pitchFamily="66" charset="0"/>
              </a:rPr>
              <a:t> to cm</a:t>
            </a:r>
            <a:r>
              <a:rPr lang="en-GB" sz="2500" baseline="30000" dirty="0" smtClean="0">
                <a:latin typeface="Comic Sans MS" pitchFamily="66" charset="0"/>
              </a:rPr>
              <a:t>2</a:t>
            </a:r>
            <a:endParaRPr lang="en-GB" sz="2500" dirty="0">
              <a:latin typeface="Comic Sans MS" pitchFamily="66" charset="0"/>
            </a:endParaRPr>
          </a:p>
        </p:txBody>
      </p:sp>
      <p:sp>
        <p:nvSpPr>
          <p:cNvPr id="32" name="TextBox 6"/>
          <p:cNvSpPr txBox="1">
            <a:spLocks noChangeArrowheads="1"/>
          </p:cNvSpPr>
          <p:nvPr/>
        </p:nvSpPr>
        <p:spPr bwMode="auto">
          <a:xfrm>
            <a:off x="2843808" y="1628800"/>
            <a:ext cx="6300192" cy="453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350" dirty="0" smtClean="0">
                <a:latin typeface="Comic Sans MS" pitchFamily="66" charset="0"/>
              </a:rPr>
              <a:t> So 1 m</a:t>
            </a:r>
            <a:r>
              <a:rPr lang="en-GB" sz="2350" baseline="30000" dirty="0" smtClean="0">
                <a:latin typeface="Comic Sans MS" pitchFamily="66" charset="0"/>
              </a:rPr>
              <a:t>2</a:t>
            </a:r>
            <a:r>
              <a:rPr lang="en-GB" sz="2350" dirty="0" smtClean="0">
                <a:latin typeface="Comic Sans MS" pitchFamily="66" charset="0"/>
              </a:rPr>
              <a:t> = 100 x 100 x 100 = 1,000,000 cm</a:t>
            </a:r>
            <a:r>
              <a:rPr lang="en-GB" sz="2350" baseline="30000" dirty="0" smtClean="0">
                <a:latin typeface="Comic Sans MS" pitchFamily="66" charset="0"/>
              </a:rPr>
              <a:t>2</a:t>
            </a:r>
            <a:endParaRPr lang="en-GB" sz="2350" dirty="0">
              <a:latin typeface="Comic Sans MS" pitchFamily="66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600" u="sng" dirty="0" smtClean="0">
                <a:latin typeface="Comic Sans MS" pitchFamily="66" charset="0"/>
              </a:rPr>
              <a:t>Spot-the-mistake</a:t>
            </a:r>
            <a:endParaRPr lang="en-GB" sz="3600" dirty="0">
              <a:latin typeface="Comic Sans MS" pitchFamily="66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796136" y="1556792"/>
            <a:ext cx="864096" cy="57606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2267744" y="4653136"/>
            <a:ext cx="360040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3419872" y="4725144"/>
            <a:ext cx="360040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6444208" y="4653136"/>
            <a:ext cx="360040" cy="36004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1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8" grpId="0"/>
      <p:bldP spid="61" grpId="0"/>
      <p:bldP spid="62" grpId="0"/>
      <p:bldP spid="64" grpId="0"/>
      <p:bldP spid="65" grpId="0"/>
      <p:bldP spid="21" grpId="0"/>
      <p:bldP spid="22" grpId="0"/>
      <p:bldP spid="27" grpId="0"/>
      <p:bldP spid="28" grpId="0"/>
      <p:bldP spid="29" grpId="0"/>
      <p:bldP spid="30" grpId="0"/>
      <p:bldP spid="32" grpId="0"/>
      <p:bldP spid="34" grpId="0" animBg="1"/>
      <p:bldP spid="35" grpId="0" animBg="1"/>
      <p:bldP spid="36" grpId="0" animBg="1"/>
      <p:bldP spid="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134076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Have YOU been doing your summaries?</a:t>
            </a:r>
            <a:endParaRPr lang="en-AU" dirty="0"/>
          </a:p>
        </p:txBody>
      </p:sp>
      <p:pic>
        <p:nvPicPr>
          <p:cNvPr id="5" name="Picture 4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586" y="270892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40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8373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1865" y="138269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19" y="43534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382691"/>
            <a:ext cx="0" cy="49266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64735" y="175576"/>
            <a:ext cx="5356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 </a:t>
            </a:r>
            <a:r>
              <a:rPr lang="en-AU" sz="2800" dirty="0" smtClean="0"/>
              <a:t>Conversion </a:t>
            </a:r>
            <a:r>
              <a:rPr lang="mr-IN" sz="2800" dirty="0" smtClean="0"/>
              <a:t>–</a:t>
            </a:r>
            <a:r>
              <a:rPr lang="en-AU" sz="2800" dirty="0" smtClean="0"/>
              <a:t> Area and Volume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784" y="851921"/>
            <a:ext cx="892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convert units of area and volume?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31867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919" y="6328033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Summary: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94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</TotalTime>
  <Words>931</Words>
  <Application>Microsoft Macintosh PowerPoint</Application>
  <PresentationFormat>On-screen Show (4:3)</PresentationFormat>
  <Paragraphs>241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Comic Sans MS</vt:lpstr>
      <vt:lpstr>Mangal</vt:lpstr>
      <vt:lpstr>Arial</vt:lpstr>
      <vt:lpstr>Office Theme</vt:lpstr>
      <vt:lpstr>My Shape and Measurement Interactive Notebook</vt:lpstr>
      <vt:lpstr>PowerPoint Presentation</vt:lpstr>
      <vt:lpstr>PowerPoint Presentation</vt:lpstr>
      <vt:lpstr>From last class….</vt:lpstr>
      <vt:lpstr>PowerPoint Presentation</vt:lpstr>
      <vt:lpstr>PowerPoint Presentation</vt:lpstr>
      <vt:lpstr>PowerPoint Presentation</vt:lpstr>
      <vt:lpstr>Area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Have YOU been doing your summaries?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107</cp:revision>
  <dcterms:created xsi:type="dcterms:W3CDTF">2014-05-14T02:58:57Z</dcterms:created>
  <dcterms:modified xsi:type="dcterms:W3CDTF">2017-06-18T13:28:06Z</dcterms:modified>
</cp:coreProperties>
</file>
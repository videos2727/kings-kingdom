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5" autoAdjust="0"/>
    <p:restoredTop sz="94660"/>
  </p:normalViewPr>
  <p:slideViewPr>
    <p:cSldViewPr snapToGrid="0">
      <p:cViewPr varScale="1">
        <p:scale>
          <a:sx n="86" d="100"/>
          <a:sy n="86" d="100"/>
        </p:scale>
        <p:origin x="8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A3768-1A69-4F29-AC2B-A73E52394E5C}" type="datetimeFigureOut">
              <a:rPr lang="en-AU" smtClean="0"/>
              <a:t>24/06/2017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3E4E1-499D-4F8A-94D5-36B48D87F5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6763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A3768-1A69-4F29-AC2B-A73E52394E5C}" type="datetimeFigureOut">
              <a:rPr lang="en-AU" smtClean="0"/>
              <a:t>24/06/2017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3E4E1-499D-4F8A-94D5-36B48D87F5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211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A3768-1A69-4F29-AC2B-A73E52394E5C}" type="datetimeFigureOut">
              <a:rPr lang="en-AU" smtClean="0"/>
              <a:t>24/06/2017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3E4E1-499D-4F8A-94D5-36B48D87F5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3930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A3768-1A69-4F29-AC2B-A73E52394E5C}" type="datetimeFigureOut">
              <a:rPr lang="en-AU" smtClean="0"/>
              <a:t>24/06/2017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3E4E1-499D-4F8A-94D5-36B48D87F5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1190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A3768-1A69-4F29-AC2B-A73E52394E5C}" type="datetimeFigureOut">
              <a:rPr lang="en-AU" smtClean="0"/>
              <a:t>24/06/2017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3E4E1-499D-4F8A-94D5-36B48D87F5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5671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A3768-1A69-4F29-AC2B-A73E52394E5C}" type="datetimeFigureOut">
              <a:rPr lang="en-AU" smtClean="0"/>
              <a:t>24/06/2017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3E4E1-499D-4F8A-94D5-36B48D87F5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667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A3768-1A69-4F29-AC2B-A73E52394E5C}" type="datetimeFigureOut">
              <a:rPr lang="en-AU" smtClean="0"/>
              <a:t>24/06/2017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3E4E1-499D-4F8A-94D5-36B48D87F5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9674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A3768-1A69-4F29-AC2B-A73E52394E5C}" type="datetimeFigureOut">
              <a:rPr lang="en-AU" smtClean="0"/>
              <a:t>24/06/2017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3E4E1-499D-4F8A-94D5-36B48D87F5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863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A3768-1A69-4F29-AC2B-A73E52394E5C}" type="datetimeFigureOut">
              <a:rPr lang="en-AU" smtClean="0"/>
              <a:t>24/06/2017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3E4E1-499D-4F8A-94D5-36B48D87F5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4616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A3768-1A69-4F29-AC2B-A73E52394E5C}" type="datetimeFigureOut">
              <a:rPr lang="en-AU" smtClean="0"/>
              <a:t>24/06/2017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3E4E1-499D-4F8A-94D5-36B48D87F5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0623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A3768-1A69-4F29-AC2B-A73E52394E5C}" type="datetimeFigureOut">
              <a:rPr lang="en-AU" smtClean="0"/>
              <a:t>24/06/2017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3E4E1-499D-4F8A-94D5-36B48D87F5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0644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2A3768-1A69-4F29-AC2B-A73E52394E5C}" type="datetimeFigureOut">
              <a:rPr lang="en-AU" smtClean="0"/>
              <a:t>24/06/2017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23E4E1-499D-4F8A-94D5-36B48D87F5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0453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Rates &amp; Ratios Revision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1502240"/>
            <a:ext cx="7886700" cy="492086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dirty="0" smtClean="0"/>
              <a:t>A </a:t>
            </a:r>
            <a:r>
              <a:rPr lang="en-US" sz="2000" dirty="0"/>
              <a:t>bag </a:t>
            </a:r>
            <a:r>
              <a:rPr lang="en-US" sz="2000" dirty="0" smtClean="0"/>
              <a:t>contains </a:t>
            </a:r>
            <a:r>
              <a:rPr lang="en-US" sz="2000" dirty="0"/>
              <a:t>6 red marbles and 10 blue marbles</a:t>
            </a:r>
            <a:r>
              <a:rPr lang="en-US" sz="2000" dirty="0" smtClean="0"/>
              <a:t>.</a:t>
            </a:r>
          </a:p>
          <a:p>
            <a:pPr marL="514350" indent="-514350">
              <a:buAutoNum type="alphaLcParenR"/>
            </a:pPr>
            <a:r>
              <a:rPr lang="en-US" sz="2000" dirty="0" smtClean="0"/>
              <a:t>Write </a:t>
            </a:r>
            <a:r>
              <a:rPr lang="en-US" sz="2000" dirty="0"/>
              <a:t>down a simplified ratio of red marbles to blue marbles</a:t>
            </a:r>
            <a:r>
              <a:rPr lang="en-US" sz="2000" dirty="0" smtClean="0"/>
              <a:t>.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b)      Write </a:t>
            </a:r>
            <a:r>
              <a:rPr lang="en-US" sz="2000" dirty="0"/>
              <a:t>down the ratio of red marbles to the total number of marbles</a:t>
            </a:r>
            <a:r>
              <a:rPr lang="en-US" sz="2000" dirty="0" smtClean="0"/>
              <a:t>.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/>
              <a:t>Divide the following quantities into the given ratio</a:t>
            </a:r>
            <a:r>
              <a:rPr lang="en-US" sz="2000" dirty="0" smtClean="0"/>
              <a:t>.</a:t>
            </a:r>
          </a:p>
          <a:p>
            <a:pPr marL="514350" indent="-514350">
              <a:buAutoNum type="alphaLcParenR"/>
            </a:pPr>
            <a:r>
              <a:rPr lang="en-US" sz="2000" dirty="0" smtClean="0"/>
              <a:t>27m </a:t>
            </a:r>
            <a:r>
              <a:rPr lang="en-US" sz="2000" dirty="0"/>
              <a:t>in the ratio of 4 : </a:t>
            </a:r>
            <a:r>
              <a:rPr lang="en-US" sz="2000" dirty="0" smtClean="0"/>
              <a:t>5 (Hint: divide 27 by the total ‘parts’)</a:t>
            </a:r>
          </a:p>
          <a:p>
            <a:pPr marL="0" indent="0">
              <a:buNone/>
            </a:pPr>
            <a:endParaRPr lang="en-US" sz="2000" dirty="0" smtClean="0"/>
          </a:p>
          <a:p>
            <a:pPr marL="457200" indent="-457200">
              <a:buAutoNum type="alphaLcParenR" startAt="2"/>
            </a:pPr>
            <a:r>
              <a:rPr lang="en-US" sz="2000" dirty="0" smtClean="0"/>
              <a:t>$240 </a:t>
            </a:r>
            <a:r>
              <a:rPr lang="en-US" sz="2000" dirty="0"/>
              <a:t>in the ratio of 2 : 3 : </a:t>
            </a:r>
            <a:r>
              <a:rPr lang="en-US" sz="2000" dirty="0" smtClean="0"/>
              <a:t>7</a:t>
            </a:r>
          </a:p>
          <a:p>
            <a:pPr marL="457200" indent="-457200">
              <a:buAutoNum type="alphaLcParenR" startAt="2"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Sally can read 1000 words in 4 minutes.</a:t>
            </a:r>
          </a:p>
          <a:p>
            <a:pPr marL="457200" indent="-457200">
              <a:buAutoNum type="alphaLcParenR"/>
            </a:pPr>
            <a:r>
              <a:rPr lang="en-US" sz="2000" dirty="0" smtClean="0"/>
              <a:t>What is reading rate? (in words per minute)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b)     At this rate, how many words can she read in 5 minutes? </a:t>
            </a:r>
          </a:p>
          <a:p>
            <a:pPr marL="514350" indent="-514350">
              <a:buAutoNum type="alphaLcParenR"/>
            </a:pPr>
            <a:endParaRPr lang="en-US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05289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Percentage Change Revision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1825625"/>
            <a:ext cx="8180813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 smtClean="0"/>
              <a:t>Rupert has $60.              (Hint: Convert % to decimal first)</a:t>
            </a:r>
          </a:p>
          <a:p>
            <a:pPr marL="457200" indent="-457200">
              <a:buAutoNum type="alphaLcParenR"/>
            </a:pPr>
            <a:r>
              <a:rPr lang="en-US" sz="2000" dirty="0" smtClean="0"/>
              <a:t>Find 15% of this amount		b)  Find 31% of this amount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457200" indent="-457200">
              <a:buAutoNum type="alphaLcParenR" startAt="3"/>
            </a:pPr>
            <a:r>
              <a:rPr lang="en-US" sz="2000" dirty="0" smtClean="0"/>
              <a:t>Increase this amount by 15%		d)  Decrease this amount by 31%</a:t>
            </a:r>
          </a:p>
          <a:p>
            <a:pPr marL="457200" indent="-457200">
              <a:buAutoNum type="alphaLcParenR" startAt="3"/>
            </a:pPr>
            <a:endParaRPr lang="en-US" sz="2000" dirty="0" smtClean="0"/>
          </a:p>
          <a:p>
            <a:pPr marL="457200" indent="-457200">
              <a:buAutoNum type="alphaLcParenR" startAt="3"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Rupert spends this $60 on a new speaker, then sells it to his brother for $45.</a:t>
            </a:r>
          </a:p>
          <a:p>
            <a:pPr marL="457200" indent="-457200">
              <a:buAutoNum type="alphaLcParenR"/>
            </a:pPr>
            <a:r>
              <a:rPr lang="en-US" sz="2000" dirty="0" smtClean="0"/>
              <a:t>How much profit or loss has he made?</a:t>
            </a:r>
          </a:p>
          <a:p>
            <a:pPr marL="457200" indent="-457200">
              <a:buAutoNum type="alphaLcParenR"/>
            </a:pPr>
            <a:endParaRPr lang="en-US" sz="2000" dirty="0"/>
          </a:p>
          <a:p>
            <a:pPr marL="457200" indent="-457200">
              <a:buAutoNum type="alphaLcParenR"/>
            </a:pPr>
            <a:r>
              <a:rPr lang="en-US" sz="2000" dirty="0" smtClean="0"/>
              <a:t>What percentage profit or loss has he made on the original amount?</a:t>
            </a:r>
          </a:p>
          <a:p>
            <a:pPr marL="457200" indent="-457200">
              <a:buAutoNum type="alphaLcParenR" startAt="4"/>
            </a:pPr>
            <a:endParaRPr lang="en-US" sz="2000" dirty="0"/>
          </a:p>
          <a:p>
            <a:pPr marL="457200" indent="-457200">
              <a:buAutoNum type="alphaLcParenR" startAt="4"/>
            </a:pPr>
            <a:endParaRPr lang="en-US" sz="2000" dirty="0" smtClean="0"/>
          </a:p>
          <a:p>
            <a:pPr marL="457200" indent="-457200">
              <a:buAutoNum type="alphaLcParenR"/>
            </a:pPr>
            <a:endParaRPr lang="en-US" sz="2000" dirty="0"/>
          </a:p>
          <a:p>
            <a:pPr marL="0" indent="0">
              <a:buNone/>
            </a:pP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3101046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Converting Units Revision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40999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Conversion Caterpillar</a:t>
            </a:r>
            <a:endParaRPr lang="en-AU" dirty="0"/>
          </a:p>
        </p:txBody>
      </p:sp>
      <p:sp>
        <p:nvSpPr>
          <p:cNvPr id="36" name="TextBox 35"/>
          <p:cNvSpPr txBox="1"/>
          <p:nvPr/>
        </p:nvSpPr>
        <p:spPr>
          <a:xfrm>
            <a:off x="2820960" y="2862977"/>
            <a:ext cx="14501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 smtClean="0"/>
              <a:t>unit</a:t>
            </a:r>
            <a:endParaRPr lang="en-GB" sz="4800" dirty="0"/>
          </a:p>
        </p:txBody>
      </p:sp>
      <p:sp>
        <p:nvSpPr>
          <p:cNvPr id="37" name="Freeform 36"/>
          <p:cNvSpPr/>
          <p:nvPr/>
        </p:nvSpPr>
        <p:spPr>
          <a:xfrm>
            <a:off x="1952661" y="2470684"/>
            <a:ext cx="1294378" cy="475658"/>
          </a:xfrm>
          <a:custGeom>
            <a:avLst/>
            <a:gdLst>
              <a:gd name="connsiteX0" fmla="*/ 0 w 1294378"/>
              <a:gd name="connsiteY0" fmla="*/ 457244 h 475658"/>
              <a:gd name="connsiteX1" fmla="*/ 595745 w 1294378"/>
              <a:gd name="connsiteY1" fmla="*/ 44 h 475658"/>
              <a:gd name="connsiteX2" fmla="*/ 1233054 w 1294378"/>
              <a:gd name="connsiteY2" fmla="*/ 429535 h 475658"/>
              <a:gd name="connsiteX3" fmla="*/ 1233054 w 1294378"/>
              <a:gd name="connsiteY3" fmla="*/ 443390 h 475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4378" h="475658">
                <a:moveTo>
                  <a:pt x="0" y="457244"/>
                </a:moveTo>
                <a:cubicBezTo>
                  <a:pt x="195118" y="230953"/>
                  <a:pt x="390236" y="4662"/>
                  <a:pt x="595745" y="44"/>
                </a:cubicBezTo>
                <a:cubicBezTo>
                  <a:pt x="801254" y="-4574"/>
                  <a:pt x="1126836" y="355644"/>
                  <a:pt x="1233054" y="429535"/>
                </a:cubicBezTo>
                <a:cubicBezTo>
                  <a:pt x="1339272" y="503426"/>
                  <a:pt x="1286163" y="473408"/>
                  <a:pt x="1233054" y="443390"/>
                </a:cubicBezTo>
              </a:path>
            </a:pathLst>
          </a:custGeom>
          <a:noFill/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Freeform 37"/>
          <p:cNvSpPr/>
          <p:nvPr/>
        </p:nvSpPr>
        <p:spPr>
          <a:xfrm>
            <a:off x="3536837" y="2442286"/>
            <a:ext cx="1294378" cy="475658"/>
          </a:xfrm>
          <a:custGeom>
            <a:avLst/>
            <a:gdLst>
              <a:gd name="connsiteX0" fmla="*/ 0 w 1294378"/>
              <a:gd name="connsiteY0" fmla="*/ 457244 h 475658"/>
              <a:gd name="connsiteX1" fmla="*/ 595745 w 1294378"/>
              <a:gd name="connsiteY1" fmla="*/ 44 h 475658"/>
              <a:gd name="connsiteX2" fmla="*/ 1233054 w 1294378"/>
              <a:gd name="connsiteY2" fmla="*/ 429535 h 475658"/>
              <a:gd name="connsiteX3" fmla="*/ 1233054 w 1294378"/>
              <a:gd name="connsiteY3" fmla="*/ 443390 h 475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4378" h="475658">
                <a:moveTo>
                  <a:pt x="0" y="457244"/>
                </a:moveTo>
                <a:cubicBezTo>
                  <a:pt x="195118" y="230953"/>
                  <a:pt x="390236" y="4662"/>
                  <a:pt x="595745" y="44"/>
                </a:cubicBezTo>
                <a:cubicBezTo>
                  <a:pt x="801254" y="-4574"/>
                  <a:pt x="1126836" y="355644"/>
                  <a:pt x="1233054" y="429535"/>
                </a:cubicBezTo>
                <a:cubicBezTo>
                  <a:pt x="1339272" y="503426"/>
                  <a:pt x="1286163" y="473408"/>
                  <a:pt x="1233054" y="443390"/>
                </a:cubicBezTo>
              </a:path>
            </a:pathLst>
          </a:custGeom>
          <a:noFill/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Freeform 38"/>
          <p:cNvSpPr/>
          <p:nvPr/>
        </p:nvSpPr>
        <p:spPr>
          <a:xfrm flipV="1">
            <a:off x="1945524" y="3622812"/>
            <a:ext cx="1294378" cy="475658"/>
          </a:xfrm>
          <a:custGeom>
            <a:avLst/>
            <a:gdLst>
              <a:gd name="connsiteX0" fmla="*/ 0 w 1294378"/>
              <a:gd name="connsiteY0" fmla="*/ 457244 h 475658"/>
              <a:gd name="connsiteX1" fmla="*/ 595745 w 1294378"/>
              <a:gd name="connsiteY1" fmla="*/ 44 h 475658"/>
              <a:gd name="connsiteX2" fmla="*/ 1233054 w 1294378"/>
              <a:gd name="connsiteY2" fmla="*/ 429535 h 475658"/>
              <a:gd name="connsiteX3" fmla="*/ 1233054 w 1294378"/>
              <a:gd name="connsiteY3" fmla="*/ 443390 h 475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4378" h="475658">
                <a:moveTo>
                  <a:pt x="0" y="457244"/>
                </a:moveTo>
                <a:cubicBezTo>
                  <a:pt x="195118" y="230953"/>
                  <a:pt x="390236" y="4662"/>
                  <a:pt x="595745" y="44"/>
                </a:cubicBezTo>
                <a:cubicBezTo>
                  <a:pt x="801254" y="-4574"/>
                  <a:pt x="1126836" y="355644"/>
                  <a:pt x="1233054" y="429535"/>
                </a:cubicBezTo>
                <a:cubicBezTo>
                  <a:pt x="1339272" y="503426"/>
                  <a:pt x="1286163" y="473408"/>
                  <a:pt x="1233054" y="443390"/>
                </a:cubicBezTo>
              </a:path>
            </a:pathLst>
          </a:custGeom>
          <a:noFill/>
          <a:ln w="5715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Freeform 39"/>
          <p:cNvSpPr/>
          <p:nvPr/>
        </p:nvSpPr>
        <p:spPr>
          <a:xfrm flipV="1">
            <a:off x="3529700" y="3594414"/>
            <a:ext cx="1294378" cy="475658"/>
          </a:xfrm>
          <a:custGeom>
            <a:avLst/>
            <a:gdLst>
              <a:gd name="connsiteX0" fmla="*/ 0 w 1294378"/>
              <a:gd name="connsiteY0" fmla="*/ 457244 h 475658"/>
              <a:gd name="connsiteX1" fmla="*/ 595745 w 1294378"/>
              <a:gd name="connsiteY1" fmla="*/ 44 h 475658"/>
              <a:gd name="connsiteX2" fmla="*/ 1233054 w 1294378"/>
              <a:gd name="connsiteY2" fmla="*/ 429535 h 475658"/>
              <a:gd name="connsiteX3" fmla="*/ 1233054 w 1294378"/>
              <a:gd name="connsiteY3" fmla="*/ 443390 h 475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4378" h="475658">
                <a:moveTo>
                  <a:pt x="0" y="457244"/>
                </a:moveTo>
                <a:cubicBezTo>
                  <a:pt x="195118" y="230953"/>
                  <a:pt x="390236" y="4662"/>
                  <a:pt x="595745" y="44"/>
                </a:cubicBezTo>
                <a:cubicBezTo>
                  <a:pt x="801254" y="-4574"/>
                  <a:pt x="1126836" y="355644"/>
                  <a:pt x="1233054" y="429535"/>
                </a:cubicBezTo>
                <a:cubicBezTo>
                  <a:pt x="1339272" y="503426"/>
                  <a:pt x="1286163" y="473408"/>
                  <a:pt x="1233054" y="443390"/>
                </a:cubicBezTo>
              </a:path>
            </a:pathLst>
          </a:custGeom>
          <a:noFill/>
          <a:ln w="5715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/>
          <p:cNvSpPr txBox="1"/>
          <p:nvPr/>
        </p:nvSpPr>
        <p:spPr>
          <a:xfrm>
            <a:off x="2094201" y="2593171"/>
            <a:ext cx="1634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x1000</a:t>
            </a:r>
            <a:endParaRPr lang="en-GB" sz="2400" dirty="0"/>
          </a:p>
        </p:txBody>
      </p:sp>
      <p:sp>
        <p:nvSpPr>
          <p:cNvPr id="42" name="TextBox 41"/>
          <p:cNvSpPr txBox="1"/>
          <p:nvPr/>
        </p:nvSpPr>
        <p:spPr>
          <a:xfrm>
            <a:off x="3702596" y="2558235"/>
            <a:ext cx="1078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x</a:t>
            </a:r>
            <a:r>
              <a:rPr lang="en-GB" sz="2400" dirty="0" smtClean="0"/>
              <a:t> 100</a:t>
            </a:r>
            <a:endParaRPr lang="en-GB" sz="2400" dirty="0"/>
          </a:p>
        </p:txBody>
      </p:sp>
      <p:sp>
        <p:nvSpPr>
          <p:cNvPr id="43" name="TextBox 42"/>
          <p:cNvSpPr txBox="1"/>
          <p:nvPr/>
        </p:nvSpPr>
        <p:spPr>
          <a:xfrm>
            <a:off x="2020760" y="3517027"/>
            <a:ext cx="16346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÷ 1000</a:t>
            </a:r>
            <a:endParaRPr lang="en-GB" sz="2400" dirty="0"/>
          </a:p>
        </p:txBody>
      </p:sp>
      <p:sp>
        <p:nvSpPr>
          <p:cNvPr id="44" name="TextBox 43"/>
          <p:cNvSpPr txBox="1"/>
          <p:nvPr/>
        </p:nvSpPr>
        <p:spPr>
          <a:xfrm>
            <a:off x="3652510" y="3485560"/>
            <a:ext cx="1078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÷ 100</a:t>
            </a:r>
            <a:endParaRPr lang="en-GB" sz="2400" dirty="0"/>
          </a:p>
        </p:txBody>
      </p:sp>
      <p:sp>
        <p:nvSpPr>
          <p:cNvPr id="45" name="TextBox 44"/>
          <p:cNvSpPr txBox="1"/>
          <p:nvPr/>
        </p:nvSpPr>
        <p:spPr>
          <a:xfrm>
            <a:off x="1497104" y="2886317"/>
            <a:ext cx="12961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 smtClean="0"/>
              <a:t>kilo</a:t>
            </a:r>
            <a:endParaRPr lang="en-GB" sz="4800" dirty="0"/>
          </a:p>
        </p:txBody>
      </p:sp>
      <p:sp>
        <p:nvSpPr>
          <p:cNvPr id="46" name="Freeform 45"/>
          <p:cNvSpPr/>
          <p:nvPr/>
        </p:nvSpPr>
        <p:spPr>
          <a:xfrm>
            <a:off x="5096848" y="2411097"/>
            <a:ext cx="1294378" cy="475658"/>
          </a:xfrm>
          <a:custGeom>
            <a:avLst/>
            <a:gdLst>
              <a:gd name="connsiteX0" fmla="*/ 0 w 1294378"/>
              <a:gd name="connsiteY0" fmla="*/ 457244 h 475658"/>
              <a:gd name="connsiteX1" fmla="*/ 595745 w 1294378"/>
              <a:gd name="connsiteY1" fmla="*/ 44 h 475658"/>
              <a:gd name="connsiteX2" fmla="*/ 1233054 w 1294378"/>
              <a:gd name="connsiteY2" fmla="*/ 429535 h 475658"/>
              <a:gd name="connsiteX3" fmla="*/ 1233054 w 1294378"/>
              <a:gd name="connsiteY3" fmla="*/ 443390 h 475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4378" h="475658">
                <a:moveTo>
                  <a:pt x="0" y="457244"/>
                </a:moveTo>
                <a:cubicBezTo>
                  <a:pt x="195118" y="230953"/>
                  <a:pt x="390236" y="4662"/>
                  <a:pt x="595745" y="44"/>
                </a:cubicBezTo>
                <a:cubicBezTo>
                  <a:pt x="801254" y="-4574"/>
                  <a:pt x="1126836" y="355644"/>
                  <a:pt x="1233054" y="429535"/>
                </a:cubicBezTo>
                <a:cubicBezTo>
                  <a:pt x="1339272" y="503426"/>
                  <a:pt x="1286163" y="473408"/>
                  <a:pt x="1233054" y="443390"/>
                </a:cubicBezTo>
              </a:path>
            </a:pathLst>
          </a:custGeom>
          <a:noFill/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Freeform 46"/>
          <p:cNvSpPr/>
          <p:nvPr/>
        </p:nvSpPr>
        <p:spPr>
          <a:xfrm flipV="1">
            <a:off x="5105792" y="3561552"/>
            <a:ext cx="1294378" cy="475658"/>
          </a:xfrm>
          <a:custGeom>
            <a:avLst/>
            <a:gdLst>
              <a:gd name="connsiteX0" fmla="*/ 0 w 1294378"/>
              <a:gd name="connsiteY0" fmla="*/ 457244 h 475658"/>
              <a:gd name="connsiteX1" fmla="*/ 595745 w 1294378"/>
              <a:gd name="connsiteY1" fmla="*/ 44 h 475658"/>
              <a:gd name="connsiteX2" fmla="*/ 1233054 w 1294378"/>
              <a:gd name="connsiteY2" fmla="*/ 429535 h 475658"/>
              <a:gd name="connsiteX3" fmla="*/ 1233054 w 1294378"/>
              <a:gd name="connsiteY3" fmla="*/ 443390 h 475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4378" h="475658">
                <a:moveTo>
                  <a:pt x="0" y="457244"/>
                </a:moveTo>
                <a:cubicBezTo>
                  <a:pt x="195118" y="230953"/>
                  <a:pt x="390236" y="4662"/>
                  <a:pt x="595745" y="44"/>
                </a:cubicBezTo>
                <a:cubicBezTo>
                  <a:pt x="801254" y="-4574"/>
                  <a:pt x="1126836" y="355644"/>
                  <a:pt x="1233054" y="429535"/>
                </a:cubicBezTo>
                <a:cubicBezTo>
                  <a:pt x="1339272" y="503426"/>
                  <a:pt x="1286163" y="473408"/>
                  <a:pt x="1233054" y="443390"/>
                </a:cubicBezTo>
              </a:path>
            </a:pathLst>
          </a:custGeom>
          <a:noFill/>
          <a:ln w="5715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TextBox 47"/>
          <p:cNvSpPr txBox="1"/>
          <p:nvPr/>
        </p:nvSpPr>
        <p:spPr>
          <a:xfrm>
            <a:off x="4406045" y="2808009"/>
            <a:ext cx="15143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 err="1" smtClean="0"/>
              <a:t>centi</a:t>
            </a:r>
            <a:endParaRPr lang="en-GB" sz="4800" dirty="0"/>
          </a:p>
        </p:txBody>
      </p:sp>
      <p:sp>
        <p:nvSpPr>
          <p:cNvPr id="49" name="TextBox 48"/>
          <p:cNvSpPr txBox="1"/>
          <p:nvPr/>
        </p:nvSpPr>
        <p:spPr>
          <a:xfrm>
            <a:off x="5321816" y="2527706"/>
            <a:ext cx="1078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x</a:t>
            </a:r>
            <a:r>
              <a:rPr lang="en-GB" sz="2400" dirty="0" smtClean="0"/>
              <a:t> 10</a:t>
            </a:r>
            <a:endParaRPr lang="en-GB" sz="2400" dirty="0"/>
          </a:p>
        </p:txBody>
      </p:sp>
      <p:sp>
        <p:nvSpPr>
          <p:cNvPr id="50" name="TextBox 49"/>
          <p:cNvSpPr txBox="1"/>
          <p:nvPr/>
        </p:nvSpPr>
        <p:spPr>
          <a:xfrm>
            <a:off x="5312872" y="3492711"/>
            <a:ext cx="1078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÷ 10</a:t>
            </a:r>
            <a:endParaRPr lang="en-GB" sz="2400" dirty="0"/>
          </a:p>
        </p:txBody>
      </p:sp>
      <p:sp>
        <p:nvSpPr>
          <p:cNvPr id="51" name="TextBox 50"/>
          <p:cNvSpPr txBox="1"/>
          <p:nvPr/>
        </p:nvSpPr>
        <p:spPr>
          <a:xfrm>
            <a:off x="5980858" y="2790590"/>
            <a:ext cx="13112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 err="1" smtClean="0"/>
              <a:t>milli</a:t>
            </a:r>
            <a:endParaRPr lang="en-GB" sz="4800" dirty="0"/>
          </a:p>
        </p:txBody>
      </p:sp>
      <p:sp>
        <p:nvSpPr>
          <p:cNvPr id="52" name="Freeform 51"/>
          <p:cNvSpPr/>
          <p:nvPr/>
        </p:nvSpPr>
        <p:spPr>
          <a:xfrm>
            <a:off x="3472486" y="1908582"/>
            <a:ext cx="3163990" cy="905251"/>
          </a:xfrm>
          <a:custGeom>
            <a:avLst/>
            <a:gdLst>
              <a:gd name="connsiteX0" fmla="*/ 0 w 1294378"/>
              <a:gd name="connsiteY0" fmla="*/ 457244 h 475658"/>
              <a:gd name="connsiteX1" fmla="*/ 595745 w 1294378"/>
              <a:gd name="connsiteY1" fmla="*/ 44 h 475658"/>
              <a:gd name="connsiteX2" fmla="*/ 1233054 w 1294378"/>
              <a:gd name="connsiteY2" fmla="*/ 429535 h 475658"/>
              <a:gd name="connsiteX3" fmla="*/ 1233054 w 1294378"/>
              <a:gd name="connsiteY3" fmla="*/ 443390 h 475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4378" h="475658">
                <a:moveTo>
                  <a:pt x="0" y="457244"/>
                </a:moveTo>
                <a:cubicBezTo>
                  <a:pt x="195118" y="230953"/>
                  <a:pt x="390236" y="4662"/>
                  <a:pt x="595745" y="44"/>
                </a:cubicBezTo>
                <a:cubicBezTo>
                  <a:pt x="801254" y="-4574"/>
                  <a:pt x="1126836" y="355644"/>
                  <a:pt x="1233054" y="429535"/>
                </a:cubicBezTo>
                <a:cubicBezTo>
                  <a:pt x="1339272" y="503426"/>
                  <a:pt x="1286163" y="473408"/>
                  <a:pt x="1233054" y="443390"/>
                </a:cubicBezTo>
              </a:path>
            </a:pathLst>
          </a:custGeom>
          <a:noFill/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Freeform 52"/>
          <p:cNvSpPr/>
          <p:nvPr/>
        </p:nvSpPr>
        <p:spPr>
          <a:xfrm flipV="1">
            <a:off x="3439995" y="3713951"/>
            <a:ext cx="3112575" cy="895439"/>
          </a:xfrm>
          <a:custGeom>
            <a:avLst/>
            <a:gdLst>
              <a:gd name="connsiteX0" fmla="*/ 0 w 1294378"/>
              <a:gd name="connsiteY0" fmla="*/ 457244 h 475658"/>
              <a:gd name="connsiteX1" fmla="*/ 595745 w 1294378"/>
              <a:gd name="connsiteY1" fmla="*/ 44 h 475658"/>
              <a:gd name="connsiteX2" fmla="*/ 1233054 w 1294378"/>
              <a:gd name="connsiteY2" fmla="*/ 429535 h 475658"/>
              <a:gd name="connsiteX3" fmla="*/ 1233054 w 1294378"/>
              <a:gd name="connsiteY3" fmla="*/ 443390 h 475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4378" h="475658">
                <a:moveTo>
                  <a:pt x="0" y="457244"/>
                </a:moveTo>
                <a:cubicBezTo>
                  <a:pt x="195118" y="230953"/>
                  <a:pt x="390236" y="4662"/>
                  <a:pt x="595745" y="44"/>
                </a:cubicBezTo>
                <a:cubicBezTo>
                  <a:pt x="801254" y="-4574"/>
                  <a:pt x="1126836" y="355644"/>
                  <a:pt x="1233054" y="429535"/>
                </a:cubicBezTo>
                <a:cubicBezTo>
                  <a:pt x="1339272" y="503426"/>
                  <a:pt x="1286163" y="473408"/>
                  <a:pt x="1233054" y="443390"/>
                </a:cubicBezTo>
              </a:path>
            </a:pathLst>
          </a:custGeom>
          <a:noFill/>
          <a:ln w="5715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TextBox 53"/>
          <p:cNvSpPr txBox="1"/>
          <p:nvPr/>
        </p:nvSpPr>
        <p:spPr>
          <a:xfrm>
            <a:off x="4379336" y="2041891"/>
            <a:ext cx="1634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x1000</a:t>
            </a:r>
            <a:endParaRPr lang="en-GB" sz="2400" dirty="0"/>
          </a:p>
        </p:txBody>
      </p:sp>
      <p:sp>
        <p:nvSpPr>
          <p:cNvPr id="55" name="TextBox 54"/>
          <p:cNvSpPr txBox="1"/>
          <p:nvPr/>
        </p:nvSpPr>
        <p:spPr>
          <a:xfrm>
            <a:off x="4408077" y="4016400"/>
            <a:ext cx="1634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÷ 1000</a:t>
            </a:r>
          </a:p>
        </p:txBody>
      </p:sp>
      <p:cxnSp>
        <p:nvCxnSpPr>
          <p:cNvPr id="56" name="Straight Arrow Connector 55"/>
          <p:cNvCxnSpPr/>
          <p:nvPr/>
        </p:nvCxnSpPr>
        <p:spPr>
          <a:xfrm flipV="1">
            <a:off x="2980271" y="3621587"/>
            <a:ext cx="397822" cy="9277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2309817" y="4360458"/>
            <a:ext cx="201198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/>
              <a:t>Metres</a:t>
            </a:r>
          </a:p>
          <a:p>
            <a:r>
              <a:rPr lang="en-GB" sz="4000" dirty="0" smtClean="0"/>
              <a:t>Litres</a:t>
            </a:r>
          </a:p>
          <a:p>
            <a:r>
              <a:rPr lang="en-GB" sz="4000" dirty="0" smtClean="0"/>
              <a:t>Grams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3133357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"/>
          <p:cNvSpPr txBox="1">
            <a:spLocks/>
          </p:cNvSpPr>
          <p:nvPr/>
        </p:nvSpPr>
        <p:spPr>
          <a:xfrm>
            <a:off x="1847563" y="1482526"/>
            <a:ext cx="7284572" cy="4643637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2000" dirty="0" smtClean="0"/>
          </a:p>
        </p:txBody>
      </p:sp>
      <p:sp>
        <p:nvSpPr>
          <p:cNvPr id="16" name="TextBox 15"/>
          <p:cNvSpPr txBox="1"/>
          <p:nvPr/>
        </p:nvSpPr>
        <p:spPr>
          <a:xfrm>
            <a:off x="5695932" y="2802361"/>
            <a:ext cx="1368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/>
              <a:t>cm</a:t>
            </a:r>
            <a:r>
              <a:rPr lang="en-GB" sz="4000" baseline="30000" dirty="0" smtClean="0"/>
              <a:t>2</a:t>
            </a:r>
            <a:endParaRPr lang="en-GB" sz="4000" baseline="30000" dirty="0"/>
          </a:p>
        </p:txBody>
      </p:sp>
      <p:sp>
        <p:nvSpPr>
          <p:cNvPr id="17" name="TextBox 16"/>
          <p:cNvSpPr txBox="1"/>
          <p:nvPr/>
        </p:nvSpPr>
        <p:spPr>
          <a:xfrm>
            <a:off x="7704259" y="2788855"/>
            <a:ext cx="14056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/>
              <a:t>mm</a:t>
            </a:r>
            <a:r>
              <a:rPr lang="en-GB" sz="4000" baseline="30000" dirty="0" smtClean="0"/>
              <a:t>2</a:t>
            </a:r>
            <a:endParaRPr lang="en-GB" sz="4000" baseline="30000" dirty="0"/>
          </a:p>
        </p:txBody>
      </p:sp>
      <p:sp>
        <p:nvSpPr>
          <p:cNvPr id="18" name="Freeform 17"/>
          <p:cNvSpPr/>
          <p:nvPr/>
        </p:nvSpPr>
        <p:spPr>
          <a:xfrm>
            <a:off x="6454953" y="2423370"/>
            <a:ext cx="1670609" cy="479641"/>
          </a:xfrm>
          <a:custGeom>
            <a:avLst/>
            <a:gdLst>
              <a:gd name="connsiteX0" fmla="*/ 0 w 1294378"/>
              <a:gd name="connsiteY0" fmla="*/ 457244 h 475658"/>
              <a:gd name="connsiteX1" fmla="*/ 595745 w 1294378"/>
              <a:gd name="connsiteY1" fmla="*/ 44 h 475658"/>
              <a:gd name="connsiteX2" fmla="*/ 1233054 w 1294378"/>
              <a:gd name="connsiteY2" fmla="*/ 429535 h 475658"/>
              <a:gd name="connsiteX3" fmla="*/ 1233054 w 1294378"/>
              <a:gd name="connsiteY3" fmla="*/ 443390 h 475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4378" h="475658">
                <a:moveTo>
                  <a:pt x="0" y="457244"/>
                </a:moveTo>
                <a:cubicBezTo>
                  <a:pt x="195118" y="230953"/>
                  <a:pt x="390236" y="4662"/>
                  <a:pt x="595745" y="44"/>
                </a:cubicBezTo>
                <a:cubicBezTo>
                  <a:pt x="801254" y="-4574"/>
                  <a:pt x="1126836" y="355644"/>
                  <a:pt x="1233054" y="429535"/>
                </a:cubicBezTo>
                <a:cubicBezTo>
                  <a:pt x="1339272" y="503426"/>
                  <a:pt x="1286163" y="473408"/>
                  <a:pt x="1233054" y="443390"/>
                </a:cubicBezTo>
              </a:path>
            </a:pathLst>
          </a:custGeom>
          <a:noFill/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Freeform 18"/>
          <p:cNvSpPr/>
          <p:nvPr/>
        </p:nvSpPr>
        <p:spPr>
          <a:xfrm flipV="1">
            <a:off x="4395503" y="3388072"/>
            <a:ext cx="1753802" cy="422969"/>
          </a:xfrm>
          <a:custGeom>
            <a:avLst/>
            <a:gdLst>
              <a:gd name="connsiteX0" fmla="*/ 0 w 1294378"/>
              <a:gd name="connsiteY0" fmla="*/ 457244 h 475658"/>
              <a:gd name="connsiteX1" fmla="*/ 595745 w 1294378"/>
              <a:gd name="connsiteY1" fmla="*/ 44 h 475658"/>
              <a:gd name="connsiteX2" fmla="*/ 1233054 w 1294378"/>
              <a:gd name="connsiteY2" fmla="*/ 429535 h 475658"/>
              <a:gd name="connsiteX3" fmla="*/ 1233054 w 1294378"/>
              <a:gd name="connsiteY3" fmla="*/ 443390 h 475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4378" h="475658">
                <a:moveTo>
                  <a:pt x="0" y="457244"/>
                </a:moveTo>
                <a:cubicBezTo>
                  <a:pt x="195118" y="230953"/>
                  <a:pt x="390236" y="4662"/>
                  <a:pt x="595745" y="44"/>
                </a:cubicBezTo>
                <a:cubicBezTo>
                  <a:pt x="801254" y="-4574"/>
                  <a:pt x="1126836" y="355644"/>
                  <a:pt x="1233054" y="429535"/>
                </a:cubicBezTo>
                <a:cubicBezTo>
                  <a:pt x="1339272" y="503426"/>
                  <a:pt x="1286163" y="473408"/>
                  <a:pt x="1233054" y="443390"/>
                </a:cubicBezTo>
              </a:path>
            </a:pathLst>
          </a:custGeom>
          <a:noFill/>
          <a:ln w="5715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6809694" y="2513912"/>
            <a:ext cx="1078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x</a:t>
            </a:r>
            <a:r>
              <a:rPr lang="en-GB" sz="2400" dirty="0" smtClean="0"/>
              <a:t> 100</a:t>
            </a:r>
            <a:endParaRPr lang="en-GB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6764952" y="3277531"/>
            <a:ext cx="10506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÷ 100</a:t>
            </a:r>
            <a:endParaRPr lang="en-GB" sz="2400" dirty="0"/>
          </a:p>
        </p:txBody>
      </p:sp>
      <p:sp>
        <p:nvSpPr>
          <p:cNvPr id="28" name="Freeform 27"/>
          <p:cNvSpPr/>
          <p:nvPr/>
        </p:nvSpPr>
        <p:spPr>
          <a:xfrm rot="168813">
            <a:off x="4556103" y="2479326"/>
            <a:ext cx="1637697" cy="479641"/>
          </a:xfrm>
          <a:custGeom>
            <a:avLst/>
            <a:gdLst>
              <a:gd name="connsiteX0" fmla="*/ 0 w 1294378"/>
              <a:gd name="connsiteY0" fmla="*/ 457244 h 475658"/>
              <a:gd name="connsiteX1" fmla="*/ 595745 w 1294378"/>
              <a:gd name="connsiteY1" fmla="*/ 44 h 475658"/>
              <a:gd name="connsiteX2" fmla="*/ 1233054 w 1294378"/>
              <a:gd name="connsiteY2" fmla="*/ 429535 h 475658"/>
              <a:gd name="connsiteX3" fmla="*/ 1233054 w 1294378"/>
              <a:gd name="connsiteY3" fmla="*/ 443390 h 475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4378" h="475658">
                <a:moveTo>
                  <a:pt x="0" y="457244"/>
                </a:moveTo>
                <a:cubicBezTo>
                  <a:pt x="195118" y="230953"/>
                  <a:pt x="390236" y="4662"/>
                  <a:pt x="595745" y="44"/>
                </a:cubicBezTo>
                <a:cubicBezTo>
                  <a:pt x="801254" y="-4574"/>
                  <a:pt x="1126836" y="355644"/>
                  <a:pt x="1233054" y="429535"/>
                </a:cubicBezTo>
                <a:cubicBezTo>
                  <a:pt x="1339272" y="503426"/>
                  <a:pt x="1286163" y="473408"/>
                  <a:pt x="1233054" y="443390"/>
                </a:cubicBezTo>
              </a:path>
            </a:pathLst>
          </a:custGeom>
          <a:noFill/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/>
          <p:cNvSpPr txBox="1"/>
          <p:nvPr/>
        </p:nvSpPr>
        <p:spPr>
          <a:xfrm>
            <a:off x="3883553" y="2782048"/>
            <a:ext cx="1368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/>
              <a:t>m</a:t>
            </a:r>
            <a:r>
              <a:rPr lang="en-GB" sz="4000" baseline="30000" dirty="0" smtClean="0"/>
              <a:t>2</a:t>
            </a:r>
            <a:endParaRPr lang="en-GB" sz="4000" baseline="30000" dirty="0"/>
          </a:p>
        </p:txBody>
      </p:sp>
      <p:sp>
        <p:nvSpPr>
          <p:cNvPr id="30" name="Freeform 29"/>
          <p:cNvSpPr/>
          <p:nvPr/>
        </p:nvSpPr>
        <p:spPr>
          <a:xfrm flipV="1">
            <a:off x="6323683" y="3373111"/>
            <a:ext cx="1801879" cy="422969"/>
          </a:xfrm>
          <a:custGeom>
            <a:avLst/>
            <a:gdLst>
              <a:gd name="connsiteX0" fmla="*/ 0 w 1294378"/>
              <a:gd name="connsiteY0" fmla="*/ 457244 h 475658"/>
              <a:gd name="connsiteX1" fmla="*/ 595745 w 1294378"/>
              <a:gd name="connsiteY1" fmla="*/ 44 h 475658"/>
              <a:gd name="connsiteX2" fmla="*/ 1233054 w 1294378"/>
              <a:gd name="connsiteY2" fmla="*/ 429535 h 475658"/>
              <a:gd name="connsiteX3" fmla="*/ 1233054 w 1294378"/>
              <a:gd name="connsiteY3" fmla="*/ 443390 h 475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4378" h="475658">
                <a:moveTo>
                  <a:pt x="0" y="457244"/>
                </a:moveTo>
                <a:cubicBezTo>
                  <a:pt x="195118" y="230953"/>
                  <a:pt x="390236" y="4662"/>
                  <a:pt x="595745" y="44"/>
                </a:cubicBezTo>
                <a:cubicBezTo>
                  <a:pt x="801254" y="-4574"/>
                  <a:pt x="1126836" y="355644"/>
                  <a:pt x="1233054" y="429535"/>
                </a:cubicBezTo>
                <a:cubicBezTo>
                  <a:pt x="1339272" y="503426"/>
                  <a:pt x="1286163" y="473408"/>
                  <a:pt x="1233054" y="443390"/>
                </a:cubicBezTo>
              </a:path>
            </a:pathLst>
          </a:custGeom>
          <a:noFill/>
          <a:ln w="5715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TextBox 30"/>
          <p:cNvSpPr txBox="1"/>
          <p:nvPr/>
        </p:nvSpPr>
        <p:spPr>
          <a:xfrm>
            <a:off x="4640157" y="2581258"/>
            <a:ext cx="1256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x</a:t>
            </a:r>
            <a:r>
              <a:rPr lang="en-GB" sz="2400" dirty="0" smtClean="0"/>
              <a:t> 10 000</a:t>
            </a:r>
            <a:endParaRPr lang="en-GB" sz="2400" dirty="0"/>
          </a:p>
        </p:txBody>
      </p:sp>
      <p:sp>
        <p:nvSpPr>
          <p:cNvPr id="32" name="TextBox 31"/>
          <p:cNvSpPr txBox="1"/>
          <p:nvPr/>
        </p:nvSpPr>
        <p:spPr>
          <a:xfrm>
            <a:off x="4573751" y="3212882"/>
            <a:ext cx="1256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÷ </a:t>
            </a:r>
            <a:r>
              <a:rPr lang="en-GB" sz="2400" dirty="0" smtClean="0"/>
              <a:t>10 000</a:t>
            </a:r>
            <a:endParaRPr lang="en-GB" sz="2400" dirty="0"/>
          </a:p>
        </p:txBody>
      </p:sp>
      <p:sp>
        <p:nvSpPr>
          <p:cNvPr id="24" name="TextBox 23"/>
          <p:cNvSpPr txBox="1"/>
          <p:nvPr/>
        </p:nvSpPr>
        <p:spPr>
          <a:xfrm>
            <a:off x="4369743" y="5099153"/>
            <a:ext cx="1368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/>
              <a:t>cm</a:t>
            </a:r>
            <a:r>
              <a:rPr lang="en-GB" sz="4000" baseline="30000" dirty="0" smtClean="0"/>
              <a:t>3</a:t>
            </a:r>
            <a:endParaRPr lang="en-GB" sz="4000" baseline="30000" dirty="0"/>
          </a:p>
        </p:txBody>
      </p:sp>
      <p:sp>
        <p:nvSpPr>
          <p:cNvPr id="25" name="TextBox 24"/>
          <p:cNvSpPr txBox="1"/>
          <p:nvPr/>
        </p:nvSpPr>
        <p:spPr>
          <a:xfrm>
            <a:off x="6618566" y="5022259"/>
            <a:ext cx="14056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/>
              <a:t>mm</a:t>
            </a:r>
            <a:r>
              <a:rPr lang="en-GB" sz="4000" baseline="30000" dirty="0" smtClean="0"/>
              <a:t>3</a:t>
            </a:r>
            <a:endParaRPr lang="en-GB" sz="4000" baseline="30000" dirty="0"/>
          </a:p>
        </p:txBody>
      </p:sp>
      <p:sp>
        <p:nvSpPr>
          <p:cNvPr id="26" name="Freeform 25"/>
          <p:cNvSpPr/>
          <p:nvPr/>
        </p:nvSpPr>
        <p:spPr>
          <a:xfrm>
            <a:off x="5272404" y="4779804"/>
            <a:ext cx="1670609" cy="479641"/>
          </a:xfrm>
          <a:custGeom>
            <a:avLst/>
            <a:gdLst>
              <a:gd name="connsiteX0" fmla="*/ 0 w 1294378"/>
              <a:gd name="connsiteY0" fmla="*/ 457244 h 475658"/>
              <a:gd name="connsiteX1" fmla="*/ 595745 w 1294378"/>
              <a:gd name="connsiteY1" fmla="*/ 44 h 475658"/>
              <a:gd name="connsiteX2" fmla="*/ 1233054 w 1294378"/>
              <a:gd name="connsiteY2" fmla="*/ 429535 h 475658"/>
              <a:gd name="connsiteX3" fmla="*/ 1233054 w 1294378"/>
              <a:gd name="connsiteY3" fmla="*/ 443390 h 475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4378" h="475658">
                <a:moveTo>
                  <a:pt x="0" y="457244"/>
                </a:moveTo>
                <a:cubicBezTo>
                  <a:pt x="195118" y="230953"/>
                  <a:pt x="390236" y="4662"/>
                  <a:pt x="595745" y="44"/>
                </a:cubicBezTo>
                <a:cubicBezTo>
                  <a:pt x="801254" y="-4574"/>
                  <a:pt x="1126836" y="355644"/>
                  <a:pt x="1233054" y="429535"/>
                </a:cubicBezTo>
                <a:cubicBezTo>
                  <a:pt x="1339272" y="503426"/>
                  <a:pt x="1286163" y="473408"/>
                  <a:pt x="1233054" y="443390"/>
                </a:cubicBezTo>
              </a:path>
            </a:pathLst>
          </a:custGeom>
          <a:noFill/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Freeform 26"/>
          <p:cNvSpPr/>
          <p:nvPr/>
        </p:nvSpPr>
        <p:spPr>
          <a:xfrm flipV="1">
            <a:off x="2489389" y="5688244"/>
            <a:ext cx="2318995" cy="422969"/>
          </a:xfrm>
          <a:custGeom>
            <a:avLst/>
            <a:gdLst>
              <a:gd name="connsiteX0" fmla="*/ 0 w 1294378"/>
              <a:gd name="connsiteY0" fmla="*/ 457244 h 475658"/>
              <a:gd name="connsiteX1" fmla="*/ 595745 w 1294378"/>
              <a:gd name="connsiteY1" fmla="*/ 44 h 475658"/>
              <a:gd name="connsiteX2" fmla="*/ 1233054 w 1294378"/>
              <a:gd name="connsiteY2" fmla="*/ 429535 h 475658"/>
              <a:gd name="connsiteX3" fmla="*/ 1233054 w 1294378"/>
              <a:gd name="connsiteY3" fmla="*/ 443390 h 475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4378" h="475658">
                <a:moveTo>
                  <a:pt x="0" y="457244"/>
                </a:moveTo>
                <a:cubicBezTo>
                  <a:pt x="195118" y="230953"/>
                  <a:pt x="390236" y="4662"/>
                  <a:pt x="595745" y="44"/>
                </a:cubicBezTo>
                <a:cubicBezTo>
                  <a:pt x="801254" y="-4574"/>
                  <a:pt x="1126836" y="355644"/>
                  <a:pt x="1233054" y="429535"/>
                </a:cubicBezTo>
                <a:cubicBezTo>
                  <a:pt x="1339272" y="503426"/>
                  <a:pt x="1286163" y="473408"/>
                  <a:pt x="1233054" y="443390"/>
                </a:cubicBezTo>
              </a:path>
            </a:pathLst>
          </a:custGeom>
          <a:noFill/>
          <a:ln w="5715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/>
          <p:cNvSpPr txBox="1"/>
          <p:nvPr/>
        </p:nvSpPr>
        <p:spPr>
          <a:xfrm>
            <a:off x="5509280" y="4946233"/>
            <a:ext cx="1078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x</a:t>
            </a:r>
            <a:r>
              <a:rPr lang="en-GB" sz="2400" dirty="0" smtClean="0"/>
              <a:t> 1000</a:t>
            </a:r>
            <a:endParaRPr lang="en-GB" sz="2400" dirty="0"/>
          </a:p>
        </p:txBody>
      </p:sp>
      <p:sp>
        <p:nvSpPr>
          <p:cNvPr id="34" name="TextBox 33"/>
          <p:cNvSpPr txBox="1"/>
          <p:nvPr/>
        </p:nvSpPr>
        <p:spPr>
          <a:xfrm>
            <a:off x="5508659" y="5532697"/>
            <a:ext cx="10506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÷ 1000</a:t>
            </a:r>
            <a:endParaRPr lang="en-GB" sz="2400" dirty="0"/>
          </a:p>
        </p:txBody>
      </p:sp>
      <p:sp>
        <p:nvSpPr>
          <p:cNvPr id="35" name="Freeform 34"/>
          <p:cNvSpPr/>
          <p:nvPr/>
        </p:nvSpPr>
        <p:spPr>
          <a:xfrm>
            <a:off x="2489389" y="4809114"/>
            <a:ext cx="2344064" cy="479641"/>
          </a:xfrm>
          <a:custGeom>
            <a:avLst/>
            <a:gdLst>
              <a:gd name="connsiteX0" fmla="*/ 0 w 1294378"/>
              <a:gd name="connsiteY0" fmla="*/ 457244 h 475658"/>
              <a:gd name="connsiteX1" fmla="*/ 595745 w 1294378"/>
              <a:gd name="connsiteY1" fmla="*/ 44 h 475658"/>
              <a:gd name="connsiteX2" fmla="*/ 1233054 w 1294378"/>
              <a:gd name="connsiteY2" fmla="*/ 429535 h 475658"/>
              <a:gd name="connsiteX3" fmla="*/ 1233054 w 1294378"/>
              <a:gd name="connsiteY3" fmla="*/ 443390 h 475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4378" h="475658">
                <a:moveTo>
                  <a:pt x="0" y="457244"/>
                </a:moveTo>
                <a:cubicBezTo>
                  <a:pt x="195118" y="230953"/>
                  <a:pt x="390236" y="4662"/>
                  <a:pt x="595745" y="44"/>
                </a:cubicBezTo>
                <a:cubicBezTo>
                  <a:pt x="801254" y="-4574"/>
                  <a:pt x="1126836" y="355644"/>
                  <a:pt x="1233054" y="429535"/>
                </a:cubicBezTo>
                <a:cubicBezTo>
                  <a:pt x="1339272" y="503426"/>
                  <a:pt x="1286163" y="473408"/>
                  <a:pt x="1233054" y="443390"/>
                </a:cubicBezTo>
              </a:path>
            </a:pathLst>
          </a:custGeom>
          <a:noFill/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/>
          <p:cNvSpPr txBox="1"/>
          <p:nvPr/>
        </p:nvSpPr>
        <p:spPr>
          <a:xfrm>
            <a:off x="2120920" y="5085545"/>
            <a:ext cx="1368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/>
              <a:t>m</a:t>
            </a:r>
            <a:r>
              <a:rPr lang="en-GB" sz="4000" baseline="30000" dirty="0" smtClean="0"/>
              <a:t>3</a:t>
            </a:r>
            <a:endParaRPr lang="en-GB" sz="4000" baseline="30000" dirty="0"/>
          </a:p>
        </p:txBody>
      </p:sp>
      <p:sp>
        <p:nvSpPr>
          <p:cNvPr id="37" name="Freeform 36"/>
          <p:cNvSpPr/>
          <p:nvPr/>
        </p:nvSpPr>
        <p:spPr>
          <a:xfrm flipV="1">
            <a:off x="5141133" y="5672014"/>
            <a:ext cx="1801879" cy="422969"/>
          </a:xfrm>
          <a:custGeom>
            <a:avLst/>
            <a:gdLst>
              <a:gd name="connsiteX0" fmla="*/ 0 w 1294378"/>
              <a:gd name="connsiteY0" fmla="*/ 457244 h 475658"/>
              <a:gd name="connsiteX1" fmla="*/ 595745 w 1294378"/>
              <a:gd name="connsiteY1" fmla="*/ 44 h 475658"/>
              <a:gd name="connsiteX2" fmla="*/ 1233054 w 1294378"/>
              <a:gd name="connsiteY2" fmla="*/ 429535 h 475658"/>
              <a:gd name="connsiteX3" fmla="*/ 1233054 w 1294378"/>
              <a:gd name="connsiteY3" fmla="*/ 443390 h 475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4378" h="475658">
                <a:moveTo>
                  <a:pt x="0" y="457244"/>
                </a:moveTo>
                <a:cubicBezTo>
                  <a:pt x="195118" y="230953"/>
                  <a:pt x="390236" y="4662"/>
                  <a:pt x="595745" y="44"/>
                </a:cubicBezTo>
                <a:cubicBezTo>
                  <a:pt x="801254" y="-4574"/>
                  <a:pt x="1126836" y="355644"/>
                  <a:pt x="1233054" y="429535"/>
                </a:cubicBezTo>
                <a:cubicBezTo>
                  <a:pt x="1339272" y="503426"/>
                  <a:pt x="1286163" y="473408"/>
                  <a:pt x="1233054" y="443390"/>
                </a:cubicBezTo>
              </a:path>
            </a:pathLst>
          </a:custGeom>
          <a:noFill/>
          <a:ln w="5715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TextBox 37"/>
          <p:cNvSpPr txBox="1"/>
          <p:nvPr/>
        </p:nvSpPr>
        <p:spPr>
          <a:xfrm>
            <a:off x="2786881" y="4946233"/>
            <a:ext cx="1664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x</a:t>
            </a:r>
            <a:r>
              <a:rPr lang="en-GB" sz="2400" dirty="0" smtClean="0"/>
              <a:t> 1 000 000</a:t>
            </a:r>
            <a:endParaRPr lang="en-GB" sz="2400" dirty="0"/>
          </a:p>
        </p:txBody>
      </p:sp>
      <p:sp>
        <p:nvSpPr>
          <p:cNvPr id="39" name="TextBox 38"/>
          <p:cNvSpPr txBox="1"/>
          <p:nvPr/>
        </p:nvSpPr>
        <p:spPr>
          <a:xfrm>
            <a:off x="2752184" y="5475738"/>
            <a:ext cx="16643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÷ </a:t>
            </a:r>
            <a:r>
              <a:rPr lang="en-GB" sz="2400" dirty="0" smtClean="0"/>
              <a:t>1 000 000</a:t>
            </a:r>
            <a:endParaRPr lang="en-GB" sz="2400" dirty="0"/>
          </a:p>
        </p:txBody>
      </p:sp>
      <p:sp>
        <p:nvSpPr>
          <p:cNvPr id="41" name="Freeform 40"/>
          <p:cNvSpPr/>
          <p:nvPr/>
        </p:nvSpPr>
        <p:spPr>
          <a:xfrm rot="168813">
            <a:off x="2194153" y="2491452"/>
            <a:ext cx="2020525" cy="479641"/>
          </a:xfrm>
          <a:custGeom>
            <a:avLst/>
            <a:gdLst>
              <a:gd name="connsiteX0" fmla="*/ 0 w 1294378"/>
              <a:gd name="connsiteY0" fmla="*/ 457244 h 475658"/>
              <a:gd name="connsiteX1" fmla="*/ 595745 w 1294378"/>
              <a:gd name="connsiteY1" fmla="*/ 44 h 475658"/>
              <a:gd name="connsiteX2" fmla="*/ 1233054 w 1294378"/>
              <a:gd name="connsiteY2" fmla="*/ 429535 h 475658"/>
              <a:gd name="connsiteX3" fmla="*/ 1233054 w 1294378"/>
              <a:gd name="connsiteY3" fmla="*/ 443390 h 475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4378" h="475658">
                <a:moveTo>
                  <a:pt x="0" y="457244"/>
                </a:moveTo>
                <a:cubicBezTo>
                  <a:pt x="195118" y="230953"/>
                  <a:pt x="390236" y="4662"/>
                  <a:pt x="595745" y="44"/>
                </a:cubicBezTo>
                <a:cubicBezTo>
                  <a:pt x="801254" y="-4574"/>
                  <a:pt x="1126836" y="355644"/>
                  <a:pt x="1233054" y="429535"/>
                </a:cubicBezTo>
                <a:cubicBezTo>
                  <a:pt x="1339272" y="503426"/>
                  <a:pt x="1286163" y="473408"/>
                  <a:pt x="1233054" y="443390"/>
                </a:cubicBezTo>
              </a:path>
            </a:pathLst>
          </a:custGeom>
          <a:noFill/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TextBox 41"/>
          <p:cNvSpPr txBox="1"/>
          <p:nvPr/>
        </p:nvSpPr>
        <p:spPr>
          <a:xfrm>
            <a:off x="1805313" y="2758382"/>
            <a:ext cx="1368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/>
              <a:t>km</a:t>
            </a:r>
            <a:r>
              <a:rPr lang="en-GB" sz="4000" baseline="30000" dirty="0" smtClean="0"/>
              <a:t>2</a:t>
            </a:r>
            <a:endParaRPr lang="en-GB" sz="4000" baseline="30000" dirty="0"/>
          </a:p>
        </p:txBody>
      </p:sp>
      <p:sp>
        <p:nvSpPr>
          <p:cNvPr id="43" name="Freeform 42"/>
          <p:cNvSpPr/>
          <p:nvPr/>
        </p:nvSpPr>
        <p:spPr>
          <a:xfrm flipV="1">
            <a:off x="2120920" y="3385445"/>
            <a:ext cx="2108754" cy="422969"/>
          </a:xfrm>
          <a:custGeom>
            <a:avLst/>
            <a:gdLst>
              <a:gd name="connsiteX0" fmla="*/ 0 w 1294378"/>
              <a:gd name="connsiteY0" fmla="*/ 457244 h 475658"/>
              <a:gd name="connsiteX1" fmla="*/ 595745 w 1294378"/>
              <a:gd name="connsiteY1" fmla="*/ 44 h 475658"/>
              <a:gd name="connsiteX2" fmla="*/ 1233054 w 1294378"/>
              <a:gd name="connsiteY2" fmla="*/ 429535 h 475658"/>
              <a:gd name="connsiteX3" fmla="*/ 1233054 w 1294378"/>
              <a:gd name="connsiteY3" fmla="*/ 443390 h 475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4378" h="475658">
                <a:moveTo>
                  <a:pt x="0" y="457244"/>
                </a:moveTo>
                <a:cubicBezTo>
                  <a:pt x="195118" y="230953"/>
                  <a:pt x="390236" y="4662"/>
                  <a:pt x="595745" y="44"/>
                </a:cubicBezTo>
                <a:cubicBezTo>
                  <a:pt x="801254" y="-4574"/>
                  <a:pt x="1126836" y="355644"/>
                  <a:pt x="1233054" y="429535"/>
                </a:cubicBezTo>
                <a:cubicBezTo>
                  <a:pt x="1339272" y="503426"/>
                  <a:pt x="1286163" y="473408"/>
                  <a:pt x="1233054" y="443390"/>
                </a:cubicBezTo>
              </a:path>
            </a:pathLst>
          </a:custGeom>
          <a:noFill/>
          <a:ln w="5715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TextBox 43"/>
          <p:cNvSpPr txBox="1"/>
          <p:nvPr/>
        </p:nvSpPr>
        <p:spPr>
          <a:xfrm>
            <a:off x="2293853" y="2565869"/>
            <a:ext cx="16118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x</a:t>
            </a:r>
            <a:r>
              <a:rPr lang="en-GB" sz="2400" dirty="0" smtClean="0"/>
              <a:t> 1 000 000</a:t>
            </a:r>
            <a:endParaRPr lang="en-GB" sz="2400" dirty="0"/>
          </a:p>
        </p:txBody>
      </p:sp>
      <p:sp>
        <p:nvSpPr>
          <p:cNvPr id="45" name="TextBox 44"/>
          <p:cNvSpPr txBox="1"/>
          <p:nvPr/>
        </p:nvSpPr>
        <p:spPr>
          <a:xfrm>
            <a:off x="2329285" y="3253960"/>
            <a:ext cx="16939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÷ </a:t>
            </a:r>
            <a:r>
              <a:rPr lang="en-GB" sz="2400" dirty="0" smtClean="0"/>
              <a:t>1 000 000</a:t>
            </a:r>
            <a:endParaRPr lang="en-GB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Converting Units Revision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Area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Volume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72618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</TotalTime>
  <Words>209</Words>
  <Application>Microsoft Office PowerPoint</Application>
  <PresentationFormat>On-screen Show (4:3)</PresentationFormat>
  <Paragraphs>70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Rates &amp; Ratios Revision</vt:lpstr>
      <vt:lpstr>Percentage Change Revision</vt:lpstr>
      <vt:lpstr>Converting Units Revision</vt:lpstr>
      <vt:lpstr>Converting Units Revision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Ratios Revision</dc:title>
  <dc:creator>e4057735</dc:creator>
  <cp:lastModifiedBy>e4057735</cp:lastModifiedBy>
  <cp:revision>7</cp:revision>
  <dcterms:created xsi:type="dcterms:W3CDTF">2017-06-24T03:59:28Z</dcterms:created>
  <dcterms:modified xsi:type="dcterms:W3CDTF">2017-06-24T04:51:22Z</dcterms:modified>
</cp:coreProperties>
</file>
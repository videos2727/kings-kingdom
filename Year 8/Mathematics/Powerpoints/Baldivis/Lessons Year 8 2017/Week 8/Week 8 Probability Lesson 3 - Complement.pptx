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3" r:id="rId2"/>
    <p:sldId id="257" r:id="rId3"/>
    <p:sldId id="264" r:id="rId4"/>
    <p:sldId id="260" r:id="rId5"/>
    <p:sldId id="266" r:id="rId6"/>
    <p:sldId id="258" r:id="rId7"/>
    <p:sldId id="267" r:id="rId8"/>
    <p:sldId id="268" r:id="rId9"/>
    <p:sldId id="269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494"/>
    <p:restoredTop sz="94674"/>
  </p:normalViewPr>
  <p:slideViewPr>
    <p:cSldViewPr>
      <p:cViewPr varScale="1">
        <p:scale>
          <a:sx n="122" d="100"/>
          <a:sy n="122" d="100"/>
        </p:scale>
        <p:origin x="576" y="1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4AA477-598F-4CCF-8F1A-33D43F97EEB0}" type="datetimeFigureOut">
              <a:rPr lang="en-AU" smtClean="0"/>
              <a:t>17/3/17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1AD3D9-0B11-4189-8D45-47537C1CF8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0729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hook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34133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Lesson 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34270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Lesson</a:t>
            </a:r>
            <a:r>
              <a:rPr lang="en-AU" baseline="0" dirty="0" smtClean="0"/>
              <a:t> objective (EQ)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58631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Input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541963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Check</a:t>
            </a:r>
            <a:r>
              <a:rPr lang="en-AU" baseline="0" dirty="0" smtClean="0"/>
              <a:t> for understanding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168848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17/3/17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73629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17/3/17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8002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17/3/17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47504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17/3/17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079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17/3/17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2040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17/3/17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742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17/3/17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3289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17/3/17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9211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17/3/17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3380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17/3/17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636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17/3/17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2835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971031-8C33-4876-9169-26F597F7E7C1}" type="datetimeFigureOut">
              <a:rPr lang="en-AU" smtClean="0"/>
              <a:t>17/3/17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598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5008" y="0"/>
            <a:ext cx="8229600" cy="1143000"/>
          </a:xfrm>
        </p:spPr>
        <p:txBody>
          <a:bodyPr/>
          <a:lstStyle/>
          <a:p>
            <a:r>
              <a:rPr lang="en-AU" dirty="0" smtClean="0"/>
              <a:t>Review</a:t>
            </a:r>
            <a:endParaRPr lang="en-AU" dirty="0"/>
          </a:p>
        </p:txBody>
      </p:sp>
      <p:sp>
        <p:nvSpPr>
          <p:cNvPr id="10" name="TextBox 9"/>
          <p:cNvSpPr txBox="1"/>
          <p:nvPr/>
        </p:nvSpPr>
        <p:spPr>
          <a:xfrm>
            <a:off x="215008" y="1291412"/>
            <a:ext cx="892899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The letters of the word BALDIVIS are written onto 8 </a:t>
            </a:r>
          </a:p>
          <a:p>
            <a:r>
              <a:rPr lang="en-US" sz="2800" dirty="0" smtClean="0"/>
              <a:t>Cards, put in a hat, and one is chosen at random:</a:t>
            </a:r>
          </a:p>
          <a:p>
            <a:endParaRPr lang="en-US" sz="2800" dirty="0"/>
          </a:p>
          <a:p>
            <a:r>
              <a:rPr lang="en-US" sz="2800" dirty="0" smtClean="0"/>
              <a:t>	</a:t>
            </a:r>
            <a:r>
              <a:rPr lang="en-US" sz="2800" dirty="0" err="1" smtClean="0"/>
              <a:t>i</a:t>
            </a:r>
            <a:r>
              <a:rPr lang="en-US" sz="2800" dirty="0" smtClean="0"/>
              <a:t>)  State the Sample Space</a:t>
            </a:r>
          </a:p>
          <a:p>
            <a:r>
              <a:rPr lang="en-US" sz="2800" dirty="0"/>
              <a:t>	</a:t>
            </a:r>
            <a:r>
              <a:rPr lang="en-US" sz="2800" dirty="0" smtClean="0"/>
              <a:t>ii) Find </a:t>
            </a:r>
            <a:r>
              <a:rPr lang="en-US" sz="2800" dirty="0" err="1" smtClean="0"/>
              <a:t>Pr</a:t>
            </a:r>
            <a:r>
              <a:rPr lang="en-US" sz="2800" dirty="0" smtClean="0"/>
              <a:t>(the letter V is chosen)</a:t>
            </a:r>
          </a:p>
          <a:p>
            <a:r>
              <a:rPr lang="en-US" sz="2800" dirty="0"/>
              <a:t>	</a:t>
            </a:r>
            <a:r>
              <a:rPr lang="en-US" sz="2800" dirty="0" smtClean="0"/>
              <a:t>iii) Find the </a:t>
            </a:r>
            <a:r>
              <a:rPr lang="en-US" sz="2800" dirty="0" err="1" smtClean="0"/>
              <a:t>Pr</a:t>
            </a:r>
            <a:r>
              <a:rPr lang="en-US" sz="2800" dirty="0" smtClean="0"/>
              <a:t>(a vowel is chosen)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3711" y="4581128"/>
            <a:ext cx="7703071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u="sng" dirty="0" smtClean="0"/>
              <a:t>Now think about:</a:t>
            </a:r>
          </a:p>
          <a:p>
            <a:endParaRPr lang="en-US" sz="2800" u="sng" dirty="0" smtClean="0"/>
          </a:p>
          <a:p>
            <a:r>
              <a:rPr lang="en-US" sz="2800" dirty="0" smtClean="0"/>
              <a:t>What is the Probability that a V is </a:t>
            </a:r>
            <a:r>
              <a:rPr lang="en-US" sz="2800" b="1" i="1" u="sng" dirty="0" smtClean="0"/>
              <a:t>NOT</a:t>
            </a:r>
            <a:r>
              <a:rPr lang="en-US" sz="2800" b="1" dirty="0" smtClean="0"/>
              <a:t> </a:t>
            </a:r>
            <a:r>
              <a:rPr lang="en-US" sz="2800" dirty="0" smtClean="0"/>
              <a:t>chosen?</a:t>
            </a:r>
          </a:p>
          <a:p>
            <a:r>
              <a:rPr lang="en-US" sz="2800" dirty="0" smtClean="0"/>
              <a:t>What is the Probability that a vowel is </a:t>
            </a:r>
            <a:r>
              <a:rPr lang="en-US" sz="2800" b="1" i="1" u="sng" dirty="0" smtClean="0"/>
              <a:t>NOT</a:t>
            </a:r>
            <a:r>
              <a:rPr lang="en-US" sz="2800" dirty="0" smtClean="0"/>
              <a:t> chosen?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200671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Lesson objective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72816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en-AU" dirty="0" smtClean="0"/>
              <a:t>By the end of this lesson you will be able </a:t>
            </a:r>
            <a:r>
              <a:rPr lang="en-AU" dirty="0" smtClean="0"/>
              <a:t>to define what the complement of an event occurring is, give examples on how it is used in real-life and apply it to solve more complex probability problems</a:t>
            </a:r>
            <a:endParaRPr lang="en-AU" dirty="0" smtClean="0"/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67979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9170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Probability - Complement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</a:t>
            </a:r>
            <a:r>
              <a:rPr lang="en-AU" sz="2400" dirty="0" smtClean="0"/>
              <a:t>– How can learning about the complement of an event expand our knowledge of probability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251520" y="2069051"/>
            <a:ext cx="22417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What is complement?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915816" y="2060849"/>
            <a:ext cx="610753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If Probability is defined as the chance of an event, </a:t>
            </a:r>
            <a:r>
              <a:rPr lang="en-US" i="1" dirty="0" smtClean="0"/>
              <a:t>P(A)</a:t>
            </a:r>
            <a:r>
              <a:rPr lang="en-US" dirty="0" smtClean="0"/>
              <a:t>, happening, then Complement, shown as </a:t>
            </a:r>
            <a:r>
              <a:rPr lang="en-US" i="1" dirty="0" smtClean="0"/>
              <a:t>P(not A) </a:t>
            </a:r>
            <a:r>
              <a:rPr lang="en-US" dirty="0" smtClean="0"/>
              <a:t>or </a:t>
            </a:r>
            <a:r>
              <a:rPr lang="en-US" i="1" dirty="0" smtClean="0"/>
              <a:t>P(A)’</a:t>
            </a:r>
            <a:r>
              <a:rPr lang="en-US" dirty="0" smtClean="0"/>
              <a:t>,  is the chance that an event </a:t>
            </a:r>
            <a:r>
              <a:rPr lang="en-US" b="1" i="1" dirty="0" smtClean="0"/>
              <a:t>doesn’t</a:t>
            </a:r>
            <a:r>
              <a:rPr lang="en-US" dirty="0" smtClean="0"/>
              <a:t> happen.</a:t>
            </a:r>
          </a:p>
          <a:p>
            <a:endParaRPr lang="en-US" dirty="0"/>
          </a:p>
          <a:p>
            <a:r>
              <a:rPr lang="en-US" dirty="0" smtClean="0"/>
              <a:t>Remember, the likelihood of an event happening can be shown</a:t>
            </a:r>
          </a:p>
          <a:p>
            <a:r>
              <a:rPr lang="en-US" dirty="0" smtClean="0"/>
              <a:t>on a scale of like this: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1783" y="3986139"/>
            <a:ext cx="5219700" cy="10541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2971491" y="5313730"/>
                <a:ext cx="6000682" cy="152445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Mathematically: </a:t>
                </a:r>
                <a:r>
                  <a:rPr lang="en-US" i="1" dirty="0" smtClean="0"/>
                  <a:t>P(A)’ = 1 </a:t>
                </a:r>
                <a:r>
                  <a:rPr lang="mr-IN" i="1" dirty="0" smtClean="0"/>
                  <a:t>–</a:t>
                </a:r>
                <a:r>
                  <a:rPr lang="en-US" i="1" dirty="0" smtClean="0"/>
                  <a:t> P(A)</a:t>
                </a:r>
              </a:p>
              <a:p>
                <a:endParaRPr lang="en-US" i="1" dirty="0"/>
              </a:p>
              <a:p>
                <a:r>
                  <a:rPr lang="en-US" dirty="0" smtClean="0"/>
                  <a:t>Ex: The likelihood of rolling a dice and getting a 2, </a:t>
                </a:r>
                <a:r>
                  <a:rPr lang="en-US" i="1" dirty="0" smtClean="0"/>
                  <a:t>P(A)</a:t>
                </a:r>
                <a:r>
                  <a:rPr lang="en-US" dirty="0" smtClean="0"/>
                  <a:t>,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mr-IN" sz="2000" i="1" smtClean="0"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CA" sz="2000" b="0" i="1" smtClean="0">
                            <a:latin typeface="Cambria Math" charset="0"/>
                          </a:rPr>
                          <m:t>1</m:t>
                        </m:r>
                      </m:num>
                      <m:den>
                        <m:r>
                          <a:rPr lang="en-CA" sz="2000" b="0" i="1" smtClean="0">
                            <a:latin typeface="Cambria Math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lang="en-US" dirty="0" smtClean="0"/>
                  <a:t> so </a:t>
                </a:r>
              </a:p>
              <a:p>
                <a:r>
                  <a:rPr lang="en-US" dirty="0" smtClean="0"/>
                  <a:t>      the likelihood of </a:t>
                </a:r>
                <a:r>
                  <a:rPr lang="en-US" b="1" i="1" dirty="0" smtClean="0"/>
                  <a:t>not</a:t>
                </a:r>
                <a:r>
                  <a:rPr lang="en-US" dirty="0"/>
                  <a:t> </a:t>
                </a:r>
                <a:r>
                  <a:rPr lang="en-US" dirty="0" smtClean="0"/>
                  <a:t>rolling a 2. </a:t>
                </a:r>
                <a:r>
                  <a:rPr lang="en-US" i="1" dirty="0" smtClean="0"/>
                  <a:t>P(A)’</a:t>
                </a:r>
                <a:r>
                  <a:rPr lang="en-US" dirty="0" smtClean="0"/>
                  <a:t>,  is </a:t>
                </a:r>
                <a14:m>
                  <m:oMath xmlns:m="http://schemas.openxmlformats.org/officeDocument/2006/math">
                    <m:r>
                      <a:rPr lang="en-CA" sz="2000" b="0" i="1" smtClean="0">
                        <a:latin typeface="Cambria Math" charset="0"/>
                      </a:rPr>
                      <m:t>1− </m:t>
                    </m:r>
                    <m:f>
                      <m:fPr>
                        <m:ctrlPr>
                          <a:rPr lang="mr-IN" sz="2000" b="0" i="1" smtClean="0"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CA" sz="2000" b="0" i="1" smtClean="0">
                            <a:latin typeface="Cambria Math" charset="0"/>
                          </a:rPr>
                          <m:t>1</m:t>
                        </m:r>
                      </m:num>
                      <m:den>
                        <m:r>
                          <a:rPr lang="en-CA" sz="2000" b="0" i="1" smtClean="0">
                            <a:latin typeface="Cambria Math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lang="en-US" sz="2000" dirty="0" smtClean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mr-IN" sz="2000" i="1" smtClean="0"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CA" sz="2000" b="0" i="1" smtClean="0">
                            <a:latin typeface="Cambria Math" charset="0"/>
                          </a:rPr>
                          <m:t>5</m:t>
                        </m:r>
                      </m:num>
                      <m:den>
                        <m:r>
                          <a:rPr lang="en-CA" sz="2000" b="0" i="1" smtClean="0">
                            <a:latin typeface="Cambria Math" charset="0"/>
                          </a:rPr>
                          <m:t>6</m:t>
                        </m:r>
                      </m:den>
                    </m:f>
                  </m:oMath>
                </a14:m>
                <a:endParaRPr lang="en-US" sz="2000" dirty="0"/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1491" y="5313730"/>
                <a:ext cx="6000682" cy="1524456"/>
              </a:xfrm>
              <a:prstGeom prst="rect">
                <a:avLst/>
              </a:prstGeom>
              <a:blipFill rotWithShape="0">
                <a:blip r:embed="rId4"/>
                <a:stretch>
                  <a:fillRect l="-812" t="-2400" b="-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1455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91709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Probability - Complement</a:t>
            </a:r>
          </a:p>
          <a:p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3471" y="1063436"/>
            <a:ext cx="85109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can learning about the complement of an event expand our knowledge of probability</a:t>
            </a:r>
          </a:p>
          <a:p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25986" y="2105571"/>
            <a:ext cx="28898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From our Review Example</a:t>
            </a:r>
            <a:endParaRPr lang="en-US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2980930" y="2105571"/>
                <a:ext cx="6042421" cy="53496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If the letters of the word BALDIVIS were written onto 8 cards,</a:t>
                </a:r>
              </a:p>
              <a:p>
                <a:r>
                  <a:rPr lang="en-US" dirty="0" smtClean="0"/>
                  <a:t>put in a hat, then one was chosen at random:</a:t>
                </a:r>
              </a:p>
              <a:p>
                <a:endParaRPr lang="en-US" dirty="0"/>
              </a:p>
              <a:p>
                <a:pPr marL="400050" indent="-400050">
                  <a:buAutoNum type="romanLcParenR"/>
                </a:pPr>
                <a:r>
                  <a:rPr lang="en-US" dirty="0" smtClean="0"/>
                  <a:t>The sample space would be the all the possible letters = </a:t>
                </a:r>
              </a:p>
              <a:p>
                <a:r>
                  <a:rPr lang="en-US" dirty="0"/>
                  <a:t> </a:t>
                </a:r>
                <a:r>
                  <a:rPr lang="en-US" dirty="0" smtClean="0"/>
                  <a:t>       (B,A,L,D,I,V,I,S)</a:t>
                </a:r>
              </a:p>
              <a:p>
                <a:endParaRPr lang="en-US" dirty="0"/>
              </a:p>
              <a:p>
                <a:pPr marL="400050" indent="-400050">
                  <a:buAutoNum type="romanLcParenR" startAt="2"/>
                </a:pPr>
                <a:r>
                  <a:rPr lang="en-US" dirty="0" smtClean="0"/>
                  <a:t>The </a:t>
                </a:r>
                <a:r>
                  <a:rPr lang="en-US" dirty="0" err="1" smtClean="0"/>
                  <a:t>Pr</a:t>
                </a:r>
                <a:r>
                  <a:rPr lang="en-US" dirty="0" smtClean="0"/>
                  <a:t>(the letter V is chosen)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mr-IN" i="1" smtClean="0"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CA" b="0" i="1" smtClean="0">
                            <a:latin typeface="Cambria Math" charset="0"/>
                          </a:rPr>
                          <m:t>𝑇h𝑒</m:t>
                        </m:r>
                        <m:r>
                          <a:rPr lang="en-CA" b="0" i="1" smtClean="0">
                            <a:latin typeface="Cambria Math" charset="0"/>
                          </a:rPr>
                          <m:t> </m:t>
                        </m:r>
                        <m:r>
                          <a:rPr lang="en-CA" b="0" i="1" smtClean="0">
                            <a:latin typeface="Cambria Math" charset="0"/>
                          </a:rPr>
                          <m:t>𝑡𝑜𝑡𝑎𝑙</m:t>
                        </m:r>
                        <m:r>
                          <a:rPr lang="en-CA" b="0" i="1" smtClean="0">
                            <a:latin typeface="Cambria Math" charset="0"/>
                          </a:rPr>
                          <m:t> # </m:t>
                        </m:r>
                        <m:r>
                          <a:rPr lang="en-CA" b="0" i="1" smtClean="0">
                            <a:latin typeface="Cambria Math" charset="0"/>
                          </a:rPr>
                          <m:t>𝑜𝑓</m:t>
                        </m:r>
                        <m:r>
                          <a:rPr lang="en-CA" b="0" i="1" smtClean="0">
                            <a:latin typeface="Cambria Math" charset="0"/>
                          </a:rPr>
                          <m:t> </m:t>
                        </m:r>
                        <m:r>
                          <a:rPr lang="en-CA" b="0" i="1" smtClean="0">
                            <a:latin typeface="Cambria Math" charset="0"/>
                          </a:rPr>
                          <m:t>𝑉𝑠</m:t>
                        </m:r>
                      </m:num>
                      <m:den>
                        <m:r>
                          <a:rPr lang="en-CA" b="0" i="1" smtClean="0">
                            <a:latin typeface="Cambria Math" charset="0"/>
                          </a:rPr>
                          <m:t>𝑇h𝑒</m:t>
                        </m:r>
                        <m:r>
                          <a:rPr lang="en-CA" b="0" i="1" smtClean="0">
                            <a:latin typeface="Cambria Math" charset="0"/>
                          </a:rPr>
                          <m:t> </m:t>
                        </m:r>
                        <m:r>
                          <a:rPr lang="en-CA" b="0" i="1" smtClean="0">
                            <a:latin typeface="Cambria Math" charset="0"/>
                          </a:rPr>
                          <m:t>𝑡𝑜𝑡𝑎𝑙</m:t>
                        </m:r>
                        <m:r>
                          <a:rPr lang="en-CA" b="0" i="1" smtClean="0">
                            <a:latin typeface="Cambria Math" charset="0"/>
                          </a:rPr>
                          <m:t> # </m:t>
                        </m:r>
                        <m:r>
                          <a:rPr lang="en-CA" b="0" i="1" smtClean="0">
                            <a:latin typeface="Cambria Math" charset="0"/>
                          </a:rPr>
                          <m:t>𝑜𝑓</m:t>
                        </m:r>
                        <m:r>
                          <a:rPr lang="en-CA" b="0" i="1" smtClean="0">
                            <a:latin typeface="Cambria Math" charset="0"/>
                          </a:rPr>
                          <m:t> </m:t>
                        </m:r>
                        <m:r>
                          <a:rPr lang="en-CA" b="0" i="1" smtClean="0">
                            <a:latin typeface="Cambria Math" charset="0"/>
                          </a:rPr>
                          <m:t>𝑙𝑒𝑡𝑡𝑒𝑟𝑠</m:t>
                        </m:r>
                      </m:den>
                    </m:f>
                    <m:r>
                      <a:rPr lang="en-CA" b="0" i="1" smtClean="0">
                        <a:latin typeface="Cambria Math" charset="0"/>
                      </a:rPr>
                      <m:t>= </m:t>
                    </m:r>
                    <m:f>
                      <m:fPr>
                        <m:ctrlPr>
                          <a:rPr lang="mr-IN" b="0" i="1" smtClean="0"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CA" b="0" i="1" smtClean="0">
                            <a:latin typeface="Cambria Math" charset="0"/>
                          </a:rPr>
                          <m:t>1</m:t>
                        </m:r>
                      </m:num>
                      <m:den>
                        <m:r>
                          <a:rPr lang="en-CA" b="0" i="1" smtClean="0">
                            <a:latin typeface="Cambria Math" charset="0"/>
                          </a:rPr>
                          <m:t>8</m:t>
                        </m:r>
                      </m:den>
                    </m:f>
                  </m:oMath>
                </a14:m>
                <a:endParaRPr lang="en-CA" b="0" dirty="0" smtClean="0"/>
              </a:p>
              <a:p>
                <a:pPr marL="400050" indent="-400050">
                  <a:buAutoNum type="romanLcParenR" startAt="2"/>
                </a:pPr>
                <a:endParaRPr lang="en-US" dirty="0" smtClean="0"/>
              </a:p>
              <a:p>
                <a:pPr marL="400050" indent="-400050">
                  <a:buAutoNum type="romanLcParenR" startAt="2"/>
                </a:pPr>
                <a:r>
                  <a:rPr lang="en-US" dirty="0" smtClean="0"/>
                  <a:t>The </a:t>
                </a:r>
                <a:r>
                  <a:rPr lang="en-US" dirty="0" err="1" smtClean="0"/>
                  <a:t>Pr</a:t>
                </a:r>
                <a:r>
                  <a:rPr lang="en-US" dirty="0" smtClean="0"/>
                  <a:t>(a vowel is chosen)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mr-IN" i="1" smtClean="0"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CA" b="0" i="1" smtClean="0">
                            <a:latin typeface="Cambria Math" charset="0"/>
                          </a:rPr>
                          <m:t>𝑇h𝑒</m:t>
                        </m:r>
                        <m:r>
                          <a:rPr lang="en-CA" b="0" i="1" smtClean="0">
                            <a:latin typeface="Cambria Math" charset="0"/>
                          </a:rPr>
                          <m:t> </m:t>
                        </m:r>
                        <m:r>
                          <a:rPr lang="en-CA" b="0" i="1" smtClean="0">
                            <a:latin typeface="Cambria Math" charset="0"/>
                          </a:rPr>
                          <m:t>𝑡𝑜𝑡𝑎𝑙</m:t>
                        </m:r>
                        <m:r>
                          <a:rPr lang="en-CA" b="0" i="1" smtClean="0">
                            <a:latin typeface="Cambria Math" charset="0"/>
                          </a:rPr>
                          <m:t> # </m:t>
                        </m:r>
                        <m:r>
                          <a:rPr lang="en-CA" b="0" i="1" smtClean="0">
                            <a:latin typeface="Cambria Math" charset="0"/>
                          </a:rPr>
                          <m:t>𝑜𝑓</m:t>
                        </m:r>
                        <m:r>
                          <a:rPr lang="en-CA" b="0" i="1" smtClean="0">
                            <a:latin typeface="Cambria Math" charset="0"/>
                          </a:rPr>
                          <m:t> </m:t>
                        </m:r>
                        <m:r>
                          <a:rPr lang="en-CA" b="0" i="1" smtClean="0">
                            <a:latin typeface="Cambria Math" charset="0"/>
                          </a:rPr>
                          <m:t>𝑣𝑜𝑤𝑒𝑙𝑠</m:t>
                        </m:r>
                      </m:num>
                      <m:den>
                        <m:r>
                          <a:rPr lang="en-CA" b="0" i="1" smtClean="0">
                            <a:latin typeface="Cambria Math" charset="0"/>
                          </a:rPr>
                          <m:t>𝑇h𝑒</m:t>
                        </m:r>
                        <m:r>
                          <a:rPr lang="en-CA" b="0" i="1" smtClean="0">
                            <a:latin typeface="Cambria Math" charset="0"/>
                          </a:rPr>
                          <m:t> </m:t>
                        </m:r>
                        <m:r>
                          <a:rPr lang="en-CA" b="0" i="1" smtClean="0">
                            <a:latin typeface="Cambria Math" charset="0"/>
                          </a:rPr>
                          <m:t>𝑡𝑜𝑡𝑎𝑙</m:t>
                        </m:r>
                        <m:r>
                          <a:rPr lang="en-CA" b="0" i="1" smtClean="0">
                            <a:latin typeface="Cambria Math" charset="0"/>
                          </a:rPr>
                          <m:t> # </m:t>
                        </m:r>
                        <m:r>
                          <a:rPr lang="en-CA" b="0" i="1" smtClean="0">
                            <a:latin typeface="Cambria Math" charset="0"/>
                          </a:rPr>
                          <m:t>𝑜𝑓</m:t>
                        </m:r>
                        <m:r>
                          <a:rPr lang="en-CA" b="0" i="1" smtClean="0">
                            <a:latin typeface="Cambria Math" charset="0"/>
                          </a:rPr>
                          <m:t> </m:t>
                        </m:r>
                        <m:r>
                          <a:rPr lang="en-CA" b="0" i="1" smtClean="0">
                            <a:latin typeface="Cambria Math" charset="0"/>
                          </a:rPr>
                          <m:t>𝑙𝑒𝑡𝑡𝑒𝑟𝑠</m:t>
                        </m:r>
                      </m:den>
                    </m:f>
                    <m:r>
                      <a:rPr lang="en-CA" b="0" i="1" smtClean="0">
                        <a:latin typeface="Cambria Math" charset="0"/>
                      </a:rPr>
                      <m:t>= </m:t>
                    </m:r>
                    <m:f>
                      <m:fPr>
                        <m:ctrlPr>
                          <a:rPr lang="mr-IN" b="0" i="1" smtClean="0"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CA" b="0" i="1" smtClean="0">
                            <a:latin typeface="Cambria Math" charset="0"/>
                          </a:rPr>
                          <m:t>3</m:t>
                        </m:r>
                      </m:num>
                      <m:den>
                        <m:r>
                          <a:rPr lang="en-CA" b="0" i="1" smtClean="0">
                            <a:latin typeface="Cambria Math" charset="0"/>
                          </a:rPr>
                          <m:t>8</m:t>
                        </m:r>
                      </m:den>
                    </m:f>
                  </m:oMath>
                </a14:m>
                <a:endParaRPr lang="en-CA" b="0" dirty="0" smtClean="0"/>
              </a:p>
              <a:p>
                <a:pPr marL="400050" indent="-400050">
                  <a:buAutoNum type="romanLcParenR" startAt="2"/>
                </a:pPr>
                <a:endParaRPr lang="en-US" dirty="0" smtClean="0"/>
              </a:p>
              <a:p>
                <a:r>
                  <a:rPr lang="en-US" dirty="0" smtClean="0"/>
                  <a:t>Now:  The </a:t>
                </a:r>
                <a:r>
                  <a:rPr lang="en-US" dirty="0" err="1" smtClean="0"/>
                  <a:t>Pr</a:t>
                </a:r>
                <a:r>
                  <a:rPr lang="en-US" dirty="0" smtClean="0"/>
                  <a:t>(the letter V is </a:t>
                </a:r>
                <a:r>
                  <a:rPr lang="en-US" b="1" i="1" dirty="0" smtClean="0"/>
                  <a:t>not</a:t>
                </a:r>
                <a:r>
                  <a:rPr lang="en-US" dirty="0" smtClean="0"/>
                  <a:t> chosen) is the </a:t>
                </a:r>
                <a:r>
                  <a:rPr lang="en-US" u="sng" dirty="0" smtClean="0"/>
                  <a:t>complement</a:t>
                </a:r>
                <a:r>
                  <a:rPr lang="en-US" dirty="0" smtClean="0"/>
                  <a:t> of</a:t>
                </a:r>
              </a:p>
              <a:p>
                <a:r>
                  <a:rPr lang="en-US" dirty="0"/>
                  <a:t> </a:t>
                </a:r>
                <a:r>
                  <a:rPr lang="en-US" dirty="0" smtClean="0"/>
                  <a:t>           the </a:t>
                </a:r>
                <a:r>
                  <a:rPr lang="en-US" dirty="0" err="1" smtClean="0"/>
                  <a:t>Pr</a:t>
                </a:r>
                <a:r>
                  <a:rPr lang="en-US" dirty="0" smtClean="0"/>
                  <a:t>(the letter V is chosen) = 1 -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mr-IN" i="1"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CA" i="1">
                            <a:latin typeface="Cambria Math" charset="0"/>
                          </a:rPr>
                          <m:t>1</m:t>
                        </m:r>
                      </m:num>
                      <m:den>
                        <m:r>
                          <a:rPr lang="en-CA" i="1">
                            <a:latin typeface="Cambria Math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lang="en-US" dirty="0" smtClean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mr-IN" i="1" smtClean="0"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CA" b="0" i="1" smtClean="0">
                            <a:latin typeface="Cambria Math" charset="0"/>
                          </a:rPr>
                          <m:t>7</m:t>
                        </m:r>
                      </m:num>
                      <m:den>
                        <m:r>
                          <a:rPr lang="en-CA" b="0" i="1" smtClean="0">
                            <a:latin typeface="Cambria Math" charset="0"/>
                          </a:rPr>
                          <m:t>8</m:t>
                        </m:r>
                      </m:den>
                    </m:f>
                  </m:oMath>
                </a14:m>
                <a:endParaRPr lang="en-CA" dirty="0" smtClean="0"/>
              </a:p>
              <a:p>
                <a:r>
                  <a:rPr lang="en-US" dirty="0" smtClean="0"/>
                  <a:t>and</a:t>
                </a:r>
              </a:p>
              <a:p>
                <a:r>
                  <a:rPr lang="en-US" dirty="0"/>
                  <a:t> </a:t>
                </a:r>
                <a:r>
                  <a:rPr lang="en-US" dirty="0" smtClean="0"/>
                  <a:t>           The </a:t>
                </a:r>
                <a:r>
                  <a:rPr lang="en-US" dirty="0" err="1" smtClean="0"/>
                  <a:t>Pr</a:t>
                </a:r>
                <a:r>
                  <a:rPr lang="en-US" dirty="0" smtClean="0"/>
                  <a:t>(a vowel is </a:t>
                </a:r>
                <a:r>
                  <a:rPr lang="en-US" b="1" i="1" dirty="0" smtClean="0"/>
                  <a:t>not</a:t>
                </a:r>
                <a:r>
                  <a:rPr lang="en-US" dirty="0" smtClean="0"/>
                  <a:t> chosen) is the </a:t>
                </a:r>
                <a:r>
                  <a:rPr lang="en-US" u="sng" dirty="0" smtClean="0"/>
                  <a:t>complement</a:t>
                </a:r>
                <a:r>
                  <a:rPr lang="en-US" dirty="0" smtClean="0"/>
                  <a:t> of</a:t>
                </a:r>
              </a:p>
              <a:p>
                <a:r>
                  <a:rPr lang="en-US" dirty="0" smtClean="0"/>
                  <a:t>            the </a:t>
                </a:r>
                <a:r>
                  <a:rPr lang="en-US" dirty="0" err="1" smtClean="0"/>
                  <a:t>Pr</a:t>
                </a:r>
                <a:r>
                  <a:rPr lang="en-US" dirty="0" smtClean="0"/>
                  <a:t>(a vowel is chosen) = 1 -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mr-IN" i="1"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CA" i="1">
                            <a:latin typeface="Cambria Math" charset="0"/>
                          </a:rPr>
                          <m:t>3</m:t>
                        </m:r>
                      </m:num>
                      <m:den>
                        <m:r>
                          <a:rPr lang="en-CA" i="1">
                            <a:latin typeface="Cambria Math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lang="en-US" dirty="0" smtClean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mr-IN" i="1" smtClean="0"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CA" b="0" i="1" smtClean="0">
                            <a:latin typeface="Cambria Math" charset="0"/>
                          </a:rPr>
                          <m:t>5</m:t>
                        </m:r>
                      </m:num>
                      <m:den>
                        <m:r>
                          <a:rPr lang="en-CA" b="0" i="1" smtClean="0">
                            <a:latin typeface="Cambria Math" charset="0"/>
                          </a:rPr>
                          <m:t>8</m:t>
                        </m:r>
                      </m:den>
                    </m:f>
                  </m:oMath>
                </a14:m>
                <a:endParaRPr lang="en-CA" dirty="0" smtClean="0"/>
              </a:p>
              <a:p>
                <a:endParaRPr lang="en-US" dirty="0"/>
              </a:p>
              <a:p>
                <a:pPr marL="400050" indent="-400050">
                  <a:buAutoNum type="romanLcParenR" startAt="2"/>
                </a:pPr>
                <a:endParaRPr lang="en-US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0930" y="2105571"/>
                <a:ext cx="6042421" cy="5349670"/>
              </a:xfrm>
              <a:prstGeom prst="rect">
                <a:avLst/>
              </a:prstGeom>
              <a:blipFill rotWithShape="0">
                <a:blip r:embed="rId3"/>
                <a:stretch>
                  <a:fillRect l="-908" t="-5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3300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131840" y="332656"/>
            <a:ext cx="21683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smtClean="0"/>
              <a:t>Your Turn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3568" y="1340768"/>
            <a:ext cx="7329507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400" dirty="0" smtClean="0"/>
              <a:t>Write the complement of each of the following:</a:t>
            </a:r>
          </a:p>
          <a:p>
            <a:r>
              <a:rPr lang="en-US" sz="2400" dirty="0"/>
              <a:t>	</a:t>
            </a:r>
            <a:r>
              <a:rPr lang="en-US" sz="2400" dirty="0" smtClean="0"/>
              <a:t>a) The ball is red.</a:t>
            </a:r>
          </a:p>
          <a:p>
            <a:r>
              <a:rPr lang="en-US" sz="2400" dirty="0"/>
              <a:t>	</a:t>
            </a:r>
            <a:r>
              <a:rPr lang="en-US" sz="2400" dirty="0" smtClean="0"/>
              <a:t>b) An even will show.</a:t>
            </a:r>
          </a:p>
          <a:p>
            <a:r>
              <a:rPr lang="en-US" sz="2400" dirty="0"/>
              <a:t>	</a:t>
            </a:r>
            <a:r>
              <a:rPr lang="en-US" sz="2400" dirty="0" smtClean="0"/>
              <a:t>c) William will fall ill.</a:t>
            </a:r>
          </a:p>
          <a:p>
            <a:pPr marL="342900" indent="-342900">
              <a:buFont typeface="+mj-lt"/>
              <a:buAutoNum type="arabicPeriod"/>
            </a:pPr>
            <a:endParaRPr lang="en-US" sz="2400" dirty="0" smtClean="0"/>
          </a:p>
          <a:p>
            <a:r>
              <a:rPr lang="en-US" sz="2400" dirty="0" smtClean="0"/>
              <a:t>2.   Ten Balls are numbered 1 to 10. </a:t>
            </a:r>
          </a:p>
          <a:p>
            <a:r>
              <a:rPr lang="en-US" sz="2400" dirty="0"/>
              <a:t> </a:t>
            </a:r>
            <a:r>
              <a:rPr lang="en-US" sz="2400" dirty="0" smtClean="0"/>
              <a:t>     What is the probability of selecting a ball that shows:</a:t>
            </a:r>
          </a:p>
          <a:p>
            <a:r>
              <a:rPr lang="en-US" sz="2400" dirty="0"/>
              <a:t>	</a:t>
            </a:r>
            <a:r>
              <a:rPr lang="en-US" sz="2400" dirty="0" smtClean="0"/>
              <a:t>a) A multiple of 3?</a:t>
            </a:r>
          </a:p>
          <a:p>
            <a:r>
              <a:rPr lang="en-US" sz="2400" dirty="0"/>
              <a:t>	</a:t>
            </a:r>
            <a:r>
              <a:rPr lang="en-US" sz="2400" dirty="0" smtClean="0"/>
              <a:t>b) not a multiple of 3?</a:t>
            </a:r>
          </a:p>
          <a:p>
            <a:pPr marL="342900" indent="-342900">
              <a:buAutoNum type="arabicParenR"/>
            </a:pPr>
            <a:endParaRPr lang="en-US" sz="2400" dirty="0" smtClean="0"/>
          </a:p>
          <a:p>
            <a:r>
              <a:rPr lang="en-US" sz="2400" dirty="0" smtClean="0"/>
              <a:t>3.    What are some real-life examples of the complement</a:t>
            </a:r>
          </a:p>
          <a:p>
            <a:r>
              <a:rPr lang="en-US" sz="2400" dirty="0" smtClean="0"/>
              <a:t>        of an event being talked about?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6895439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2699792" y="260648"/>
            <a:ext cx="34201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/>
              <a:t>Probability Game</a:t>
            </a:r>
            <a:endParaRPr lang="en-US" sz="3600" dirty="0"/>
          </a:p>
        </p:txBody>
      </p:sp>
      <p:sp>
        <p:nvSpPr>
          <p:cNvPr id="7" name="Rectangle 6"/>
          <p:cNvSpPr/>
          <p:nvPr/>
        </p:nvSpPr>
        <p:spPr>
          <a:xfrm>
            <a:off x="413792" y="1124744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www.youtube.com</a:t>
            </a:r>
            <a:r>
              <a:rPr lang="en-US" dirty="0"/>
              <a:t>/</a:t>
            </a:r>
            <a:r>
              <a:rPr lang="en-US" dirty="0" err="1"/>
              <a:t>watch?v</a:t>
            </a:r>
            <a:r>
              <a:rPr lang="en-US" dirty="0"/>
              <a:t>=</a:t>
            </a:r>
            <a:r>
              <a:rPr lang="en-US" dirty="0" err="1"/>
              <a:t>tyAwxrUadtw&amp;t</a:t>
            </a:r>
            <a:r>
              <a:rPr lang="en-US" dirty="0"/>
              <a:t>=305s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281" y="1799857"/>
            <a:ext cx="8730208" cy="4577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93972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2900"/>
            <a:ext cx="9144000" cy="6156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6965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4442" y="0"/>
            <a:ext cx="5579558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1520" y="836712"/>
            <a:ext cx="3528530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9) What is the complement to the</a:t>
            </a:r>
          </a:p>
          <a:p>
            <a:r>
              <a:rPr lang="en-US" dirty="0"/>
              <a:t> </a:t>
            </a:r>
            <a:r>
              <a:rPr lang="en-US" dirty="0" smtClean="0"/>
              <a:t>    event of picking two reds?</a:t>
            </a:r>
          </a:p>
          <a:p>
            <a:endParaRPr lang="en-US" dirty="0"/>
          </a:p>
          <a:p>
            <a:r>
              <a:rPr lang="en-US" dirty="0" smtClean="0"/>
              <a:t>10) What is the complement to the </a:t>
            </a:r>
          </a:p>
          <a:p>
            <a:r>
              <a:rPr lang="en-US" dirty="0"/>
              <a:t> </a:t>
            </a:r>
            <a:r>
              <a:rPr lang="en-US" dirty="0" smtClean="0"/>
              <a:t>     event of picking only one pink?</a:t>
            </a:r>
          </a:p>
          <a:p>
            <a:endParaRPr lang="en-US" dirty="0"/>
          </a:p>
          <a:p>
            <a:r>
              <a:rPr lang="en-US" dirty="0" smtClean="0"/>
              <a:t>11) What is the complement to the</a:t>
            </a:r>
          </a:p>
          <a:p>
            <a:r>
              <a:rPr lang="en-US" dirty="0"/>
              <a:t> </a:t>
            </a:r>
            <a:r>
              <a:rPr lang="en-US" dirty="0" smtClean="0"/>
              <a:t>      event of picking zero oranges?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89029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Exit Slip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Define the complement of an event and give one real-life example of the probability of an event happening, and it’s complement. Use your imagination!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34623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1445</TotalTime>
  <Words>536</Words>
  <Application>Microsoft Macintosh PowerPoint</Application>
  <PresentationFormat>On-screen Show (4:3)</PresentationFormat>
  <Paragraphs>87</Paragraphs>
  <Slides>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Calibri</vt:lpstr>
      <vt:lpstr>Cambria Math</vt:lpstr>
      <vt:lpstr>Mangal</vt:lpstr>
      <vt:lpstr>Arial</vt:lpstr>
      <vt:lpstr>Office Theme</vt:lpstr>
      <vt:lpstr>Review</vt:lpstr>
      <vt:lpstr>Lesson objective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Exit Slip</vt:lpstr>
    </vt:vector>
  </TitlesOfParts>
  <Company>The Department of Education</Company>
  <LinksUpToDate>false</LinksUpToDate>
  <SharedDoc>false</SharedDoc>
  <HyperlinksChanged>false</HyperlinksChanged>
  <AppVersion>15.0031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Mental set</dc:title>
  <dc:creator>MORGAN Adam</dc:creator>
  <cp:lastModifiedBy>SUMMERS Brad [Baldivis Secondary College]</cp:lastModifiedBy>
  <cp:revision>22</cp:revision>
  <dcterms:created xsi:type="dcterms:W3CDTF">2016-10-20T03:14:06Z</dcterms:created>
  <dcterms:modified xsi:type="dcterms:W3CDTF">2017-03-18T07:36:01Z</dcterms:modified>
</cp:coreProperties>
</file>
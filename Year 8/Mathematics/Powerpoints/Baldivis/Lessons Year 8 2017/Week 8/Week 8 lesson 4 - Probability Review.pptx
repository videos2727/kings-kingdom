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68" r:id="rId3"/>
    <p:sldId id="260" r:id="rId4"/>
    <p:sldId id="257" r:id="rId5"/>
    <p:sldId id="258" r:id="rId6"/>
    <p:sldId id="264" r:id="rId7"/>
    <p:sldId id="270" r:id="rId8"/>
    <p:sldId id="269" r:id="rId9"/>
    <p:sldId id="271" r:id="rId10"/>
    <p:sldId id="266" r:id="rId11"/>
    <p:sldId id="267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/>
    <p:restoredTop sz="94715"/>
  </p:normalViewPr>
  <p:slideViewPr>
    <p:cSldViewPr>
      <p:cViewPr varScale="1">
        <p:scale>
          <a:sx n="122" d="100"/>
          <a:sy n="122" d="100"/>
        </p:scale>
        <p:origin x="57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21/3/17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Greedy Pigs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Play a few rounds of the game “Greedy Pigs”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Game is in Connect Year 8 Library</a:t>
            </a:r>
            <a:endParaRPr lang="en-AU" dirty="0"/>
          </a:p>
          <a:p>
            <a:pPr marL="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Greedy Pigs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What is the sample space for each roll of the dice?</a:t>
            </a:r>
          </a:p>
          <a:p>
            <a:r>
              <a:rPr lang="en-US" dirty="0" smtClean="0"/>
              <a:t>What is the </a:t>
            </a:r>
            <a:r>
              <a:rPr lang="en-US" dirty="0" err="1" smtClean="0"/>
              <a:t>Pr</a:t>
            </a:r>
            <a:r>
              <a:rPr lang="en-US" dirty="0" smtClean="0"/>
              <a:t>(rolling an even number)?</a:t>
            </a:r>
          </a:p>
          <a:p>
            <a:r>
              <a:rPr lang="en-US" dirty="0" smtClean="0"/>
              <a:t>What is the </a:t>
            </a:r>
            <a:r>
              <a:rPr lang="en-US" dirty="0" err="1" smtClean="0"/>
              <a:t>Pr</a:t>
            </a:r>
            <a:r>
              <a:rPr lang="en-US" dirty="0" smtClean="0"/>
              <a:t>(rolling a 5 or a 6)?</a:t>
            </a:r>
          </a:p>
          <a:p>
            <a:r>
              <a:rPr lang="en-US" dirty="0" smtClean="0"/>
              <a:t>What is the </a:t>
            </a:r>
            <a:r>
              <a:rPr lang="en-US" dirty="0" err="1" smtClean="0"/>
              <a:t>Pr</a:t>
            </a:r>
            <a:r>
              <a:rPr lang="en-US" dirty="0" smtClean="0"/>
              <a:t>(rolling a 5 or a 6)?</a:t>
            </a:r>
          </a:p>
          <a:p>
            <a:r>
              <a:rPr lang="en-US" dirty="0" smtClean="0"/>
              <a:t>What is the </a:t>
            </a:r>
            <a:r>
              <a:rPr lang="en-US" dirty="0" err="1" smtClean="0"/>
              <a:t>Pr</a:t>
            </a:r>
            <a:r>
              <a:rPr lang="en-US" dirty="0" smtClean="0"/>
              <a:t>(not rolling a 1)?</a:t>
            </a:r>
          </a:p>
          <a:p>
            <a:endParaRPr lang="en-US" dirty="0"/>
          </a:p>
          <a:p>
            <a:r>
              <a:rPr lang="en-US" dirty="0" smtClean="0"/>
              <a:t>What were individual player strategies? What strategies seemed to work the best and why?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06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3608" y="333775"/>
            <a:ext cx="2880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Probability Review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some main concepts of Probability and how does Probability affect our life?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</a:t>
            </a:r>
            <a:r>
              <a:rPr lang="en-AU" dirty="0" smtClean="0"/>
              <a:t>;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- </a:t>
            </a:r>
            <a:r>
              <a:rPr lang="en-AU" dirty="0" smtClean="0"/>
              <a:t>Reinforce your knowledge of what Probability, sample space and complement is and how they can impact your daily life.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</a:t>
            </a:r>
            <a:r>
              <a:rPr lang="en-AU" dirty="0" smtClean="0"/>
              <a:t>…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 smtClean="0"/>
              <a:t>Being able to complete Dwyer Chapter 4 Review Questions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80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Review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main concepts of Probability and how does Probability affect our life?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60848"/>
            <a:ext cx="11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 review: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9084" y="1977960"/>
            <a:ext cx="598426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Simply put, </a:t>
            </a:r>
            <a:r>
              <a:rPr lang="en-US" b="1" dirty="0" smtClean="0"/>
              <a:t>probability</a:t>
            </a:r>
            <a:r>
              <a:rPr lang="en-US" dirty="0" smtClean="0"/>
              <a:t> is the chance of something happening.</a:t>
            </a:r>
          </a:p>
          <a:p>
            <a:endParaRPr lang="en-US" dirty="0" smtClean="0"/>
          </a:p>
          <a:p>
            <a:r>
              <a:rPr lang="en-US" dirty="0" smtClean="0"/>
              <a:t>Things to remember: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The </a:t>
            </a:r>
            <a:r>
              <a:rPr lang="en-US" b="1" dirty="0" smtClean="0"/>
              <a:t>probability</a:t>
            </a:r>
            <a:r>
              <a:rPr lang="en-US" dirty="0" smtClean="0"/>
              <a:t> of an event is a number between 0 and 1,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266" y="3582872"/>
            <a:ext cx="5458048" cy="11949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39084" y="5012970"/>
                <a:ext cx="6101414" cy="1633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dirty="0" smtClean="0"/>
                  <a:t>Probability can be written as a fraction, decimal, percentage</a:t>
                </a:r>
              </a:p>
              <a:p>
                <a:r>
                  <a:rPr lang="en-US" dirty="0" smtClean="0"/>
                  <a:t>      or in word form.</a:t>
                </a:r>
              </a:p>
              <a:p>
                <a:endParaRPr lang="en-US" dirty="0" smtClean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dirty="0" err="1" smtClean="0"/>
                  <a:t>Pr</a:t>
                </a:r>
                <a:r>
                  <a:rPr lang="en-US" dirty="0" smtClean="0"/>
                  <a:t>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𝑜𝑢𝑡𝑐𝑜𝑚𝑒𝑠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𝑤h𝑒𝑟𝑒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𝑒𝑣𝑒𝑛𝑡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𝑜𝑐𝑐𝑢𝑟𝑠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𝑡𝑜𝑡𝑎𝑙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𝑛𝑢𝑚𝑏𝑒𝑟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𝑜𝑓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𝑝𝑜𝑠𝑠𝑖𝑏𝑙𝑒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285750" indent="-285750">
                  <a:buFont typeface="Arial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084" y="5012970"/>
                <a:ext cx="6101414" cy="1633268"/>
              </a:xfrm>
              <a:prstGeom prst="rect">
                <a:avLst/>
              </a:prstGeom>
              <a:blipFill rotWithShape="0">
                <a:blip r:embed="rId4"/>
                <a:stretch>
                  <a:fillRect l="-700" t="-1866" r="-200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9792" y="278813"/>
            <a:ext cx="2964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Quick Questions</a:t>
            </a:r>
            <a:endParaRPr lang="en-US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94" y="1268760"/>
            <a:ext cx="6197600" cy="228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4" y="4365104"/>
            <a:ext cx="5880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5616" y="404664"/>
            <a:ext cx="2880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Review</a:t>
            </a:r>
            <a:endParaRPr lang="en-AU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main concepts of Probability and how does Probability affect our life?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19514" y="2060848"/>
            <a:ext cx="1397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 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3131840" y="2110176"/>
                <a:ext cx="4572000" cy="404117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 smtClean="0">
                    <a:latin typeface="TimesNewRomanPSMT" charset="0"/>
                  </a:rPr>
                  <a:t>Eight balls are numbered 1 to 8. What is the probability of selecting a ball that shows:</a:t>
                </a:r>
              </a:p>
              <a:p>
                <a:r>
                  <a:rPr lang="en-US" dirty="0">
                    <a:latin typeface="TimesNewRomanPSMT" charset="0"/>
                  </a:rPr>
                  <a:t/>
                </a:r>
                <a:br>
                  <a:rPr lang="en-US" dirty="0">
                    <a:latin typeface="TimesNewRomanPSMT" charset="0"/>
                  </a:rPr>
                </a:br>
                <a:r>
                  <a:rPr lang="en-US" b="1" dirty="0">
                    <a:latin typeface="TimesNewRomanPS" charset="0"/>
                  </a:rPr>
                  <a:t>a) </a:t>
                </a:r>
                <a:r>
                  <a:rPr lang="en-US" dirty="0">
                    <a:latin typeface="TimesNewRomanPSMT" charset="0"/>
                  </a:rPr>
                  <a:t>2? </a:t>
                </a:r>
                <a:r>
                  <a:rPr lang="en-US" dirty="0" smtClean="0">
                    <a:latin typeface="TimesNewRomanPSMT" charset="0"/>
                  </a:rPr>
                  <a:t>   </a:t>
                </a:r>
                <a:r>
                  <a:rPr lang="en-US" b="1" dirty="0" smtClean="0">
                    <a:latin typeface="TimesNewRomanPS" charset="0"/>
                  </a:rPr>
                  <a:t>b</a:t>
                </a:r>
                <a:r>
                  <a:rPr lang="en-US" b="1" dirty="0">
                    <a:latin typeface="TimesNewRomanPS" charset="0"/>
                  </a:rPr>
                  <a:t>) </a:t>
                </a:r>
                <a:r>
                  <a:rPr lang="en-US" dirty="0">
                    <a:latin typeface="TimesNewRomanPSMT" charset="0"/>
                  </a:rPr>
                  <a:t>even? </a:t>
                </a:r>
                <a:r>
                  <a:rPr lang="en-US" dirty="0" smtClean="0">
                    <a:latin typeface="TimesNewRomanPSMT" charset="0"/>
                  </a:rPr>
                  <a:t>   </a:t>
                </a:r>
                <a:r>
                  <a:rPr lang="en-US" b="1" dirty="0" smtClean="0">
                    <a:latin typeface="TimesNewRomanPS" charset="0"/>
                  </a:rPr>
                  <a:t>c</a:t>
                </a:r>
                <a:r>
                  <a:rPr lang="en-US" b="1" dirty="0">
                    <a:latin typeface="TimesNewRomanPS" charset="0"/>
                  </a:rPr>
                  <a:t>) </a:t>
                </a:r>
                <a:r>
                  <a:rPr lang="en-US" dirty="0">
                    <a:latin typeface="TimesNewRomanPSMT" charset="0"/>
                  </a:rPr>
                  <a:t>&gt;6? </a:t>
                </a:r>
                <a:endParaRPr lang="en-US" dirty="0"/>
              </a:p>
              <a:p>
                <a:endParaRPr lang="en-US" b="1" dirty="0" smtClean="0">
                  <a:latin typeface="TimesNewRomanPS" charset="0"/>
                </a:endParaRPr>
              </a:p>
              <a:p>
                <a:pPr marL="342900" indent="-342900">
                  <a:buAutoNum type="alphaLcParenR"/>
                </a:pPr>
                <a:r>
                  <a:rPr lang="en-US" dirty="0" smtClean="0">
                    <a:latin typeface="TimesNewRomanPSMT" charset="0"/>
                  </a:rPr>
                  <a:t>P(2</a:t>
                </a:r>
                <a:r>
                  <a:rPr lang="en-US" dirty="0">
                    <a:latin typeface="TimesNewRomanPSMT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r>
                  <a:rPr lang="en-US" dirty="0">
                    <a:latin typeface="TimesNewRomanPSMT" charset="0"/>
                  </a:rPr>
                  <a:t>{there is one 2} </a:t>
                </a:r>
                <a:endParaRPr lang="en-US" dirty="0"/>
              </a:p>
              <a:p>
                <a:r>
                  <a:rPr lang="en-US" b="1" dirty="0">
                    <a:latin typeface="TimesNewRomanPS" charset="0"/>
                  </a:rPr>
                  <a:t>b) </a:t>
                </a:r>
                <a:r>
                  <a:rPr lang="en-US" dirty="0">
                    <a:latin typeface="TimesNewRomanPSMT" charset="0"/>
                  </a:rPr>
                  <a:t>P(even) </a:t>
                </a:r>
                <a:r>
                  <a:rPr lang="en-US" dirty="0" smtClean="0">
                    <a:latin typeface="TimesNewRomanPSMT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r>
                  <a:rPr lang="en-US" dirty="0">
                    <a:latin typeface="TimesNewRomanPSMT" charset="0"/>
                  </a:rPr>
                  <a:t>{2,4,6,8 are even} </a:t>
                </a:r>
                <a:endParaRPr lang="en-US" dirty="0"/>
              </a:p>
              <a:p>
                <a:r>
                  <a:rPr lang="en-US" b="1" dirty="0">
                    <a:latin typeface="TimesNewRomanPS" charset="0"/>
                  </a:rPr>
                  <a:t>c) </a:t>
                </a:r>
                <a:r>
                  <a:rPr lang="en-US" dirty="0">
                    <a:latin typeface="TimesNewRomanPSMT" charset="0"/>
                  </a:rPr>
                  <a:t>P(&gt;6) </a:t>
                </a:r>
                <a:r>
                  <a:rPr lang="en-US" dirty="0" smtClean="0">
                    <a:latin typeface="TimesNewRomanPSMT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8</m:t>
                        </m:r>
                      </m:den>
                    </m:f>
                    <m:r>
                      <a:rPr lang="en-CA" b="0" i="1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r>
                  <a:rPr lang="en-US" dirty="0">
                    <a:latin typeface="TimesNewRomanPSMT" charset="0"/>
                  </a:rPr>
                  <a:t>{7,8 are &gt;6} </a:t>
                </a:r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The </a:t>
                </a:r>
                <a:r>
                  <a:rPr lang="en-US" b="1" dirty="0" smtClean="0"/>
                  <a:t>sample space</a:t>
                </a:r>
                <a:r>
                  <a:rPr lang="en-US" dirty="0" smtClean="0"/>
                  <a:t> for an event is a list of all possible outcomes, in this case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Sample Space </a:t>
                </a:r>
                <a:r>
                  <a:rPr lang="mr-IN" dirty="0" smtClean="0"/>
                  <a:t>–</a:t>
                </a:r>
                <a:r>
                  <a:rPr lang="en-US" dirty="0" smtClean="0"/>
                  <a:t> (1,2,3,4,5,6,7,8)</a:t>
                </a:r>
                <a:endParaRPr lang="en-US" dirty="0"/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10176"/>
                <a:ext cx="4572000" cy="4041171"/>
              </a:xfrm>
              <a:prstGeom prst="rect">
                <a:avLst/>
              </a:prstGeom>
              <a:blipFill rotWithShape="0">
                <a:blip r:embed="rId2"/>
                <a:stretch>
                  <a:fillRect l="-1200" t="-754" b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868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15616" y="404664"/>
            <a:ext cx="2880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Review</a:t>
            </a:r>
            <a:endParaRPr lang="en-A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main concepts of Probability and how does Probability affect our life?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2060848"/>
            <a:ext cx="2357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Consider the following: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2115090"/>
            <a:ext cx="5283200" cy="1003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31840" y="3429000"/>
            <a:ext cx="606999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b) Is an example of the </a:t>
            </a:r>
            <a:r>
              <a:rPr lang="en-US" b="1" dirty="0" smtClean="0"/>
              <a:t>complement</a:t>
            </a:r>
            <a:r>
              <a:rPr lang="en-US" dirty="0" smtClean="0"/>
              <a:t> of an event. The </a:t>
            </a:r>
          </a:p>
          <a:p>
            <a:r>
              <a:rPr lang="en-US" b="1" dirty="0" smtClean="0"/>
              <a:t>complement</a:t>
            </a:r>
            <a:r>
              <a:rPr lang="en-US" dirty="0" smtClean="0"/>
              <a:t> of an event, E’ (or not E) is the probability that an</a:t>
            </a:r>
          </a:p>
          <a:p>
            <a:r>
              <a:rPr lang="en-US" dirty="0" smtClean="0"/>
              <a:t>event won’t occur.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Ex: The complement of the event ‘rolling the number 3’ is</a:t>
            </a:r>
          </a:p>
          <a:p>
            <a:r>
              <a:rPr lang="en-US" dirty="0"/>
              <a:t>  </a:t>
            </a:r>
            <a:r>
              <a:rPr lang="en-US" dirty="0" smtClean="0"/>
              <a:t>          ‘rolling a number other than 3’</a:t>
            </a:r>
          </a:p>
          <a:p>
            <a:endParaRPr lang="en-US" dirty="0" smtClean="0"/>
          </a:p>
          <a:p>
            <a:r>
              <a:rPr lang="en-US" dirty="0" smtClean="0"/>
              <a:t>Try the following question:</a:t>
            </a:r>
            <a:endParaRPr lang="en-US" dirty="0"/>
          </a:p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536" y="5573246"/>
            <a:ext cx="54864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6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484784"/>
            <a:ext cx="76732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Going around the room, popcorn-style, have </a:t>
            </a:r>
          </a:p>
          <a:p>
            <a:r>
              <a:rPr lang="en-US" sz="3200" dirty="0" smtClean="0"/>
              <a:t>students give examples of probability that</a:t>
            </a:r>
          </a:p>
          <a:p>
            <a:r>
              <a:rPr lang="en-US" sz="3200" dirty="0" smtClean="0"/>
              <a:t>occur daily in their lives.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Guided Practice</a:t>
            </a:r>
            <a:endParaRPr lang="en-A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1092200"/>
            <a:ext cx="7899400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Extension </a:t>
            </a:r>
            <a:r>
              <a:rPr lang="mr-IN" dirty="0" smtClean="0"/>
              <a:t>–</a:t>
            </a:r>
            <a:r>
              <a:rPr lang="en-AU" dirty="0" smtClean="0"/>
              <a:t> Multiple Events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940962" y="1772816"/>
            <a:ext cx="749987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A coin is flipped and then a dice is rolled. Create a </a:t>
            </a:r>
          </a:p>
          <a:p>
            <a:r>
              <a:rPr lang="en-US" sz="2800" dirty="0" smtClean="0"/>
              <a:t>table that reflects all possible outcomes of these </a:t>
            </a:r>
          </a:p>
          <a:p>
            <a:r>
              <a:rPr lang="en-US" sz="2800" dirty="0" smtClean="0"/>
              <a:t>two events.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481</Words>
  <Application>Microsoft Macintosh PowerPoint</Application>
  <PresentationFormat>On-screen Show (4:3)</PresentationFormat>
  <Paragraphs>101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Cambria Math</vt:lpstr>
      <vt:lpstr>Mangal</vt:lpstr>
      <vt:lpstr>TimesNewRomanPS</vt:lpstr>
      <vt:lpstr>TimesNewRomanPSMT</vt:lpstr>
      <vt:lpstr>Arial</vt:lpstr>
      <vt:lpstr>Office Theme</vt:lpstr>
      <vt:lpstr>Greedy Pigs</vt:lpstr>
      <vt:lpstr>Greedy Pigs Questions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Extension – Multiple Events</vt:lpstr>
    </vt:vector>
  </TitlesOfParts>
  <Company>The Department of Education</Company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SUMMERS Brad [Baldivis Secondary College]</cp:lastModifiedBy>
  <cp:revision>14</cp:revision>
  <dcterms:created xsi:type="dcterms:W3CDTF">2016-10-20T03:14:06Z</dcterms:created>
  <dcterms:modified xsi:type="dcterms:W3CDTF">2017-03-21T13:27:54Z</dcterms:modified>
</cp:coreProperties>
</file>
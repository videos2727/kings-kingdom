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77" r:id="rId2"/>
    <p:sldId id="282" r:id="rId3"/>
    <p:sldId id="283" r:id="rId4"/>
    <p:sldId id="278" r:id="rId5"/>
    <p:sldId id="279" r:id="rId6"/>
    <p:sldId id="280" r:id="rId7"/>
    <p:sldId id="281" r:id="rId8"/>
    <p:sldId id="269" r:id="rId9"/>
    <p:sldId id="270" r:id="rId10"/>
    <p:sldId id="271" r:id="rId11"/>
    <p:sldId id="273" r:id="rId12"/>
    <p:sldId id="262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0"/>
    <p:restoredTop sz="94712"/>
  </p:normalViewPr>
  <p:slideViewPr>
    <p:cSldViewPr snapToGrid="0" snapToObjects="1">
      <p:cViewPr varScale="1">
        <p:scale>
          <a:sx n="114" d="100"/>
          <a:sy n="114" d="100"/>
        </p:scale>
        <p:origin x="47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5F5C94-B0E0-0C4F-8512-E25941267501}" type="datetimeFigureOut">
              <a:rPr lang="en-US" smtClean="0"/>
              <a:t>8/20/17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094ED0-8521-EB43-B213-E8F2DD9629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5156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fld id="{9115BA60-42B0-E240-953C-7F3213641769}" type="slidenum">
              <a:rPr lang="en-GB" altLang="en-US" sz="1200">
                <a:solidFill>
                  <a:schemeClr val="tx1"/>
                </a:solidFill>
              </a:rPr>
              <a:pPr/>
              <a:t>8</a:t>
            </a:fld>
            <a:endParaRPr lang="en-GB" altLang="en-US" sz="1200">
              <a:solidFill>
                <a:schemeClr val="tx1"/>
              </a:solidFill>
            </a:endParaRPr>
          </a:p>
        </p:txBody>
      </p:sp>
      <p:sp>
        <p:nvSpPr>
          <p:cNvPr id="143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GB" altLang="en-US" b="1"/>
              <a:t>Teacher notes</a:t>
            </a:r>
          </a:p>
          <a:p>
            <a:pPr eaLnBrk="1" hangingPunct="1"/>
            <a:r>
              <a:rPr lang="en-GB" altLang="en-US"/>
              <a:t>Emphasize that the indices can only be added when the base is the same.</a:t>
            </a:r>
          </a:p>
        </p:txBody>
      </p:sp>
    </p:spTree>
    <p:extLst>
      <p:ext uri="{BB962C8B-B14F-4D97-AF65-F5344CB8AC3E}">
        <p14:creationId xmlns:p14="http://schemas.microsoft.com/office/powerpoint/2010/main" val="6710646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fld id="{45E14083-BEE3-6543-8FDD-633B87E876DB}" type="slidenum">
              <a:rPr lang="en-GB" altLang="en-US" sz="1200">
                <a:solidFill>
                  <a:schemeClr val="tx1"/>
                </a:solidFill>
              </a:rPr>
              <a:pPr/>
              <a:t>9</a:t>
            </a:fld>
            <a:endParaRPr lang="en-GB" altLang="en-US" sz="1200">
              <a:solidFill>
                <a:schemeClr val="tx1"/>
              </a:solidFill>
            </a:endParaRPr>
          </a:p>
        </p:txBody>
      </p:sp>
      <p:sp>
        <p:nvSpPr>
          <p:cNvPr id="153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GB" altLang="en-US" b="1"/>
              <a:t>Teacher notes</a:t>
            </a:r>
          </a:p>
          <a:p>
            <a:pPr eaLnBrk="1" hangingPunct="1"/>
            <a:r>
              <a:rPr lang="en-GB" altLang="en-US"/>
              <a:t>Emphasize that the indices can only be subtracted when the base is the same.</a:t>
            </a:r>
          </a:p>
        </p:txBody>
      </p:sp>
    </p:spTree>
    <p:extLst>
      <p:ext uri="{BB962C8B-B14F-4D97-AF65-F5344CB8AC3E}">
        <p14:creationId xmlns:p14="http://schemas.microsoft.com/office/powerpoint/2010/main" val="18884475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fld id="{4E3BCE44-A83A-CD40-8CCA-1A55832A14B0}" type="slidenum">
              <a:rPr lang="en-GB" altLang="en-US" sz="1200">
                <a:solidFill>
                  <a:schemeClr val="tx1"/>
                </a:solidFill>
              </a:rPr>
              <a:pPr/>
              <a:t>10</a:t>
            </a:fld>
            <a:endParaRPr lang="en-GB" altLang="en-US" sz="1200">
              <a:solidFill>
                <a:schemeClr val="tx1"/>
              </a:solidFill>
            </a:endParaRPr>
          </a:p>
        </p:txBody>
      </p:sp>
      <p:sp>
        <p:nvSpPr>
          <p:cNvPr id="16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528807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algn="r"/>
            <a:fld id="{1BB2A782-FDE0-854C-A447-25DDD11266BC}" type="slidenum">
              <a:rPr lang="en-GB" altLang="en-US" sz="1200" b="1">
                <a:solidFill>
                  <a:schemeClr val="tx1"/>
                </a:solidFill>
              </a:rPr>
              <a:pPr algn="r"/>
              <a:t>11</a:t>
            </a:fld>
            <a:endParaRPr lang="en-GB" altLang="en-US" sz="1200" b="1">
              <a:solidFill>
                <a:schemeClr val="tx1"/>
              </a:solidFill>
            </a:endParaRPr>
          </a:p>
        </p:txBody>
      </p:sp>
      <p:sp>
        <p:nvSpPr>
          <p:cNvPr id="18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GB" altLang="en-US" b="1"/>
              <a:t>Teacher notes</a:t>
            </a:r>
          </a:p>
          <a:p>
            <a:pPr eaLnBrk="1" hangingPunct="1"/>
            <a:r>
              <a:rPr lang="en-GB" altLang="en-US"/>
              <a:t>Discuss the general form of each result where </a:t>
            </a:r>
            <a:r>
              <a:rPr lang="en-GB" altLang="en-US" i="1"/>
              <a:t>a</a:t>
            </a:r>
            <a:r>
              <a:rPr lang="en-GB" altLang="en-US"/>
              <a:t> is any number and </a:t>
            </a:r>
            <a:r>
              <a:rPr lang="en-GB" altLang="en-US" i="1"/>
              <a:t>m</a:t>
            </a:r>
            <a:r>
              <a:rPr lang="en-GB" altLang="en-US"/>
              <a:t> and </a:t>
            </a:r>
            <a:r>
              <a:rPr lang="en-GB" altLang="en-US" i="1"/>
              <a:t>n </a:t>
            </a:r>
            <a:r>
              <a:rPr lang="en-GB" altLang="en-US"/>
              <a:t>are integers.</a:t>
            </a:r>
          </a:p>
          <a:p>
            <a:pPr eaLnBrk="1" hangingPunct="1"/>
            <a:endParaRPr lang="en-GB" altLang="en-US"/>
          </a:p>
          <a:p>
            <a:pPr eaLnBrk="1" hangingPunct="1"/>
            <a:r>
              <a:rPr lang="en-GB" altLang="en-US" b="1"/>
              <a:t>Photo credit:</a:t>
            </a:r>
            <a:r>
              <a:rPr lang="en-GB" altLang="en-US"/>
              <a:t> © Shutterstock 2009, Flashon Studio</a:t>
            </a:r>
          </a:p>
          <a:p>
            <a:pPr eaLnBrk="1" hangingPunct="1"/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8977947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5AB7C9-EDF0-B842-AA2C-BD79A63FC1DA}" type="datetimeFigureOut">
              <a:rPr lang="en-US" smtClean="0"/>
              <a:t>8/20/17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A1E3A-679A-9D4F-BE0E-7D98433D0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1854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5AB7C9-EDF0-B842-AA2C-BD79A63FC1DA}" type="datetimeFigureOut">
              <a:rPr lang="en-US" smtClean="0"/>
              <a:t>8/20/17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A1E3A-679A-9D4F-BE0E-7D98433D0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72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5AB7C9-EDF0-B842-AA2C-BD79A63FC1DA}" type="datetimeFigureOut">
              <a:rPr lang="en-US" smtClean="0"/>
              <a:t>8/20/17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A1E3A-679A-9D4F-BE0E-7D98433D0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2754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5AB7C9-EDF0-B842-AA2C-BD79A63FC1DA}" type="datetimeFigureOut">
              <a:rPr lang="en-US" smtClean="0"/>
              <a:t>8/20/17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A1E3A-679A-9D4F-BE0E-7D98433D0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62912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5AB7C9-EDF0-B842-AA2C-BD79A63FC1DA}" type="datetimeFigureOut">
              <a:rPr lang="en-US" smtClean="0"/>
              <a:t>8/20/17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A1E3A-679A-9D4F-BE0E-7D98433D0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990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5AB7C9-EDF0-B842-AA2C-BD79A63FC1DA}" type="datetimeFigureOut">
              <a:rPr lang="en-US" smtClean="0"/>
              <a:t>8/20/17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A1E3A-679A-9D4F-BE0E-7D98433D0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50126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5AB7C9-EDF0-B842-AA2C-BD79A63FC1DA}" type="datetimeFigureOut">
              <a:rPr lang="en-US" smtClean="0"/>
              <a:t>8/20/17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A1E3A-679A-9D4F-BE0E-7D98433D0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4826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5AB7C9-EDF0-B842-AA2C-BD79A63FC1DA}" type="datetimeFigureOut">
              <a:rPr lang="en-US" smtClean="0"/>
              <a:t>8/20/17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A1E3A-679A-9D4F-BE0E-7D98433D0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16989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Drag picture to placeholder or click icon to add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5AB7C9-EDF0-B842-AA2C-BD79A63FC1DA}" type="datetimeFigureOut">
              <a:rPr lang="en-US" smtClean="0"/>
              <a:t>8/20/17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A1E3A-679A-9D4F-BE0E-7D98433D0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3623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5AB7C9-EDF0-B842-AA2C-BD79A63FC1DA}" type="datetimeFigureOut">
              <a:rPr lang="en-US" smtClean="0"/>
              <a:t>8/20/17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A1E3A-679A-9D4F-BE0E-7D98433D0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71409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5AB7C9-EDF0-B842-AA2C-BD79A63FC1DA}" type="datetimeFigureOut">
              <a:rPr lang="en-US" smtClean="0"/>
              <a:t>8/20/17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A1E3A-679A-9D4F-BE0E-7D98433D0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45485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5AB7C9-EDF0-B842-AA2C-BD79A63FC1DA}" type="datetimeFigureOut">
              <a:rPr lang="en-US" smtClean="0"/>
              <a:t>8/20/17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DA1E3A-679A-9D4F-BE0E-7D98433D0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25043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google.com.au/imgres?imgurl=https://www.nwf.org/~/media/Content/Animals/Reptiles%2520and%2520Amphibians/Turtles%2520and%2520Tortoises/219x219/Loggerhead_DamienduToit_219x219.ashx&amp;imgrefurl=https://www.nwf.org/Wildlife/Wildlife-Library/Amphibians-Reptiles-and-Fish/Sea-Turtles/Loggerhead-Sea-Turtle.aspx&amp;h=219&amp;w=219&amp;tbnid=j5vy9xeOVVE-sM:&amp;tbnh=160&amp;tbnw=160&amp;usg=__9vE51R3iVIsGc8vzf66oC4QVSUw=&amp;vet=1&amp;docid=0p-oeyhluBfrlM&amp;client=safari&amp;sa=X&amp;ved=0ahUKEwju1JDu4OTVAhVIOrwKHSOAD6EQ9QEIKjAA" TargetMode="External"/><Relationship Id="rId3" Type="http://schemas.openxmlformats.org/officeDocument/2006/relationships/hyperlink" Target="https://www.nwf.org/Wildlife/Wildlife-Library/Amphibians-Reptiles-and-Fish/Sea-Turtles/Loggerhead-Sea-Turtle.aspx" TargetMode="Externa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35188" y="333376"/>
            <a:ext cx="7772400" cy="1470025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AU" dirty="0" smtClean="0">
                <a:solidFill>
                  <a:schemeClr val="tx1"/>
                </a:solidFill>
              </a:rPr>
              <a:t>My Algebra</a:t>
            </a:r>
            <a:br>
              <a:rPr lang="en-AU" dirty="0" smtClean="0">
                <a:solidFill>
                  <a:schemeClr val="tx1"/>
                </a:solidFill>
              </a:rPr>
            </a:br>
            <a:r>
              <a:rPr lang="en-AU" dirty="0" smtClean="0">
                <a:solidFill>
                  <a:schemeClr val="tx1"/>
                </a:solidFill>
              </a:rPr>
              <a:t>Interactive Notebook</a:t>
            </a:r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-1572344" y="3812964"/>
            <a:ext cx="9144000" cy="1655762"/>
          </a:xfrm>
        </p:spPr>
        <p:txBody>
          <a:bodyPr>
            <a:normAutofit fontScale="77500" lnSpcReduction="20000"/>
          </a:bodyPr>
          <a:lstStyle/>
          <a:p>
            <a:pPr eaLnBrk="1" hangingPunct="1">
              <a:defRPr/>
            </a:pPr>
            <a:r>
              <a:rPr lang="en-AU" dirty="0" smtClean="0"/>
              <a:t> Name :</a:t>
            </a:r>
            <a:endParaRPr lang="en-AU" dirty="0"/>
          </a:p>
          <a:p>
            <a:pPr eaLnBrk="1" hangingPunct="1">
              <a:defRPr/>
            </a:pPr>
            <a:r>
              <a:rPr lang="en-AU" dirty="0" smtClean="0"/>
              <a:t>Class </a:t>
            </a:r>
            <a:r>
              <a:rPr lang="en-AU" dirty="0" smtClean="0"/>
              <a:t>:</a:t>
            </a:r>
          </a:p>
          <a:p>
            <a:pPr eaLnBrk="1" hangingPunct="1">
              <a:defRPr/>
            </a:pPr>
            <a:r>
              <a:rPr lang="en-AU" dirty="0" smtClean="0"/>
              <a:t>   </a:t>
            </a:r>
            <a:r>
              <a:rPr lang="en-AU" dirty="0" smtClean="0"/>
              <a:t> Teacher </a:t>
            </a:r>
            <a:r>
              <a:rPr lang="en-AU" dirty="0" smtClean="0"/>
              <a:t>:</a:t>
            </a:r>
          </a:p>
          <a:p>
            <a:pPr eaLnBrk="1" hangingPunct="1">
              <a:defRPr/>
            </a:pPr>
            <a:r>
              <a:rPr lang="en-AU" dirty="0" smtClean="0"/>
              <a:t>  </a:t>
            </a:r>
            <a:r>
              <a:rPr lang="en-AU" dirty="0" smtClean="0"/>
              <a:t>Term: </a:t>
            </a:r>
            <a:r>
              <a:rPr lang="en-AU" dirty="0" smtClean="0"/>
              <a:t>3 </a:t>
            </a:r>
            <a:endParaRPr lang="en-AU" dirty="0" smtClean="0"/>
          </a:p>
          <a:p>
            <a:pPr eaLnBrk="1" hangingPunct="1">
              <a:defRPr/>
            </a:pPr>
            <a:r>
              <a:rPr lang="en-AU" dirty="0" smtClean="0"/>
              <a:t>         Semester </a:t>
            </a:r>
            <a:r>
              <a:rPr lang="en-AU" dirty="0" smtClean="0"/>
              <a:t>2</a:t>
            </a:r>
          </a:p>
        </p:txBody>
      </p:sp>
      <p:sp>
        <p:nvSpPr>
          <p:cNvPr id="16387" name="TextBox 12"/>
          <p:cNvSpPr txBox="1">
            <a:spLocks noChangeArrowheads="1"/>
          </p:cNvSpPr>
          <p:nvPr/>
        </p:nvSpPr>
        <p:spPr bwMode="auto">
          <a:xfrm>
            <a:off x="10272714" y="6488114"/>
            <a:ext cx="5492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AU" altLang="x-none"/>
              <a:t>1</a:t>
            </a:r>
          </a:p>
        </p:txBody>
      </p:sp>
      <p:sp>
        <p:nvSpPr>
          <p:cNvPr id="15" name="Title 1"/>
          <p:cNvSpPr txBox="1">
            <a:spLocks/>
          </p:cNvSpPr>
          <p:nvPr/>
        </p:nvSpPr>
        <p:spPr>
          <a:xfrm>
            <a:off x="2287588" y="485776"/>
            <a:ext cx="7772400" cy="147002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AU" dirty="0" smtClean="0"/>
              <a:t/>
            </a:r>
            <a:br>
              <a:rPr lang="en-AU" dirty="0" smtClean="0"/>
            </a:br>
            <a:endParaRPr lang="en-AU" dirty="0"/>
          </a:p>
        </p:txBody>
      </p:sp>
      <p:sp>
        <p:nvSpPr>
          <p:cNvPr id="16" name="Subtitle 2"/>
          <p:cNvSpPr txBox="1">
            <a:spLocks/>
          </p:cNvSpPr>
          <p:nvPr/>
        </p:nvSpPr>
        <p:spPr>
          <a:xfrm>
            <a:off x="-1419944" y="3965364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AU" dirty="0" smtClean="0"/>
              <a:t>  </a:t>
            </a:r>
          </a:p>
        </p:txBody>
      </p:sp>
      <p:sp>
        <p:nvSpPr>
          <p:cNvPr id="17" name="TextBox 12"/>
          <p:cNvSpPr txBox="1">
            <a:spLocks noChangeArrowheads="1"/>
          </p:cNvSpPr>
          <p:nvPr/>
        </p:nvSpPr>
        <p:spPr bwMode="auto">
          <a:xfrm>
            <a:off x="10425114" y="6640514"/>
            <a:ext cx="5492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AU" altLang="x-none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198911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Hook: Protecting Sea Turtles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P. 386, Chapter 7 Essential Mathematics.       Year 8</a:t>
            </a:r>
          </a:p>
          <a:p>
            <a:endParaRPr lang="en-US" dirty="0"/>
          </a:p>
          <a:p>
            <a:r>
              <a:rPr lang="en-US" dirty="0" smtClean="0"/>
              <a:t>Australian Loggerhead </a:t>
            </a:r>
            <a:r>
              <a:rPr lang="en-US" dirty="0" smtClean="0"/>
              <a:t>sea turtles</a:t>
            </a:r>
            <a:r>
              <a:rPr lang="mr-IN" dirty="0" smtClean="0"/>
              <a:t>…</a:t>
            </a:r>
            <a:r>
              <a:rPr lang="en-AU" dirty="0" smtClean="0"/>
              <a:t>.were reported in 2011 as having lost 50% of their nesting females over the previous ten years. (since 2001).</a:t>
            </a:r>
          </a:p>
          <a:p>
            <a:r>
              <a:rPr lang="en-AU" dirty="0" smtClean="0"/>
              <a:t>That gave them </a:t>
            </a:r>
            <a:r>
              <a:rPr lang="en-AU" b="1" dirty="0" smtClean="0"/>
              <a:t>Endangered species </a:t>
            </a:r>
            <a:r>
              <a:rPr lang="en-AU" dirty="0" smtClean="0"/>
              <a:t>status.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35693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0" y="-307776"/>
            <a:ext cx="12192000" cy="615553"/>
          </a:xfrm>
          <a:prstGeom prst="rect">
            <a:avLst/>
          </a:prstGeom>
          <a:solidFill>
            <a:srgbClr val="6AA3B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x-none" altLang="x-none" sz="800" b="0" i="0" u="none" strike="noStrike" cap="none" normalizeH="0" baseline="0" dirty="0">
                <a:ln>
                  <a:noFill/>
                </a:ln>
                <a:solidFill>
                  <a:srgbClr val="660099"/>
                </a:solidFill>
                <a:effectLst/>
                <a:latin typeface="Arial" charset="0"/>
                <a:hlinkClick r:id="rId2"/>
              </a:rPr>
              <a:t>  </a:t>
            </a:r>
            <a:endParaRPr kumimoji="0" lang="x-none" altLang="x-none" sz="800" b="0" i="0" u="sng" strike="noStrike" cap="none" normalizeH="0" baseline="0" dirty="0">
              <a:ln>
                <a:noFill/>
              </a:ln>
              <a:effectLst/>
              <a:latin typeface="Arial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x-none" altLang="x-none" sz="800" b="0" i="0" u="none" strike="noStrike" cap="none" normalizeH="0" baseline="0" dirty="0">
                <a:ln>
                  <a:noFill/>
                </a:ln>
                <a:solidFill>
                  <a:srgbClr val="660099"/>
                </a:solidFill>
                <a:effectLst/>
                <a:latin typeface="Arial" charset="0"/>
              </a:rPr>
              <a:t>Juveniles and adults eat mostly bottom dwelling invertebrates such as whelks, other mollusks, horseshoe crabs, and sea urchins. Their powerful jaws are designed to crush their prey. Size: Loggerheads in the southeastern U.S. weigh an average of 250 lbs (113 kg) and are generally </a:t>
            </a:r>
            <a:r>
              <a:rPr kumimoji="0" lang="x-none" altLang="x-none" sz="800" b="1" i="0" u="none" strike="noStrike" cap="none" normalizeH="0" baseline="0" dirty="0">
                <a:ln>
                  <a:noFill/>
                </a:ln>
                <a:solidFill>
                  <a:srgbClr val="660099"/>
                </a:solidFill>
                <a:effectLst/>
                <a:latin typeface="Arial" charset="0"/>
              </a:rPr>
              <a:t>about 36 inches </a:t>
            </a:r>
            <a:r>
              <a:rPr kumimoji="0" lang="x-none" altLang="x-none" sz="800" b="0" i="0" u="none" strike="noStrike" cap="none" normalizeH="0" baseline="0" dirty="0">
                <a:ln>
                  <a:noFill/>
                </a:ln>
                <a:solidFill>
                  <a:srgbClr val="660099"/>
                </a:solidFill>
                <a:effectLst/>
                <a:latin typeface="Arial" charset="0"/>
              </a:rPr>
              <a:t>(</a:t>
            </a:r>
            <a:r>
              <a:rPr kumimoji="0" lang="x-none" altLang="x-none" sz="800" b="1" i="0" u="none" strike="noStrike" cap="none" normalizeH="0" baseline="0" dirty="0">
                <a:ln>
                  <a:noFill/>
                </a:ln>
                <a:solidFill>
                  <a:srgbClr val="660099"/>
                </a:solidFill>
                <a:effectLst/>
                <a:latin typeface="Arial" charset="0"/>
              </a:rPr>
              <a:t>92 cm) long.</a:t>
            </a:r>
            <a:endParaRPr kumimoji="0" lang="x-none" altLang="x-none" sz="800" b="0" i="0" u="none" strike="noStrike" cap="none" normalizeH="0" baseline="0" dirty="0">
              <a:ln>
                <a:noFill/>
              </a:ln>
              <a:solidFill>
                <a:srgbClr val="660099"/>
              </a:solidFill>
              <a:effectLst/>
              <a:latin typeface="Arial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x-none" altLang="x-none" sz="800" b="0" i="0" u="none" strike="noStrike" cap="none" normalizeH="0" baseline="0" dirty="0">
                <a:ln>
                  <a:noFill/>
                </a:ln>
                <a:solidFill>
                  <a:srgbClr val="660099"/>
                </a:solidFill>
                <a:effectLst/>
                <a:latin typeface="Arial" charset="0"/>
                <a:hlinkClick r:id="rId3"/>
              </a:rPr>
              <a:t>Loggerhead Sea Turtle - National Wildlife Federation</a:t>
            </a:r>
            <a:endParaRPr kumimoji="0" lang="x-none" altLang="x-none" sz="800" b="0" i="0" u="sng" strike="noStrike" cap="none" normalizeH="0" baseline="0" dirty="0">
              <a:ln>
                <a:noFill/>
              </a:ln>
              <a:effectLst/>
              <a:latin typeface="Arial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x-none" altLang="x-none" sz="800" b="1" i="0" u="none" strike="noStrike" cap="none" normalizeH="0" baseline="0" dirty="0">
                <a:ln>
                  <a:noFill/>
                </a:ln>
                <a:solidFill>
                  <a:srgbClr val="006621"/>
                </a:solidFill>
                <a:effectLst/>
                <a:latin typeface="Arial" charset="0"/>
              </a:rPr>
              <a:t>https://www.nwf.org/Wildlife/Wildlife-Library/...Turtles/Loggerhead-Sea-Turtle.aspx</a:t>
            </a:r>
            <a:endParaRPr kumimoji="0" lang="x-none" altLang="x-none" sz="800" b="0" i="0" u="none" strike="noStrike" cap="none" normalizeH="0" baseline="0" dirty="0">
              <a:ln>
                <a:noFill/>
              </a:ln>
              <a:solidFill>
                <a:srgbClr val="660099"/>
              </a:solidFill>
              <a:effectLst/>
              <a:latin typeface="Arial" charset="0"/>
            </a:endParaRPr>
          </a:p>
        </p:txBody>
      </p:sp>
      <p:sp>
        <p:nvSpPr>
          <p:cNvPr id="3" name="AutoShape 2" descr="mage result for loggerhead turtle length">
            <a:hlinkClick r:id="rId2"/>
          </p:cNvPr>
          <p:cNvSpPr>
            <a:spLocks noChangeAspect="1" noChangeArrowheads="1"/>
          </p:cNvSpPr>
          <p:nvPr/>
        </p:nvSpPr>
        <p:spPr bwMode="auto">
          <a:xfrm>
            <a:off x="0" y="0"/>
            <a:ext cx="1524000" cy="152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800"/>
          </a:p>
        </p:txBody>
      </p:sp>
    </p:spTree>
    <p:extLst>
      <p:ext uri="{BB962C8B-B14F-4D97-AF65-F5344CB8AC3E}">
        <p14:creationId xmlns:p14="http://schemas.microsoft.com/office/powerpoint/2010/main" val="3227413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6024564" y="1"/>
            <a:ext cx="71437" cy="695801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410" name="TextBox 5"/>
          <p:cNvSpPr txBox="1">
            <a:spLocks noChangeArrowheads="1"/>
          </p:cNvSpPr>
          <p:nvPr/>
        </p:nvSpPr>
        <p:spPr bwMode="auto">
          <a:xfrm>
            <a:off x="1524000" y="6475413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AU" altLang="x-none"/>
              <a:t>2</a:t>
            </a:r>
          </a:p>
        </p:txBody>
      </p:sp>
      <p:sp>
        <p:nvSpPr>
          <p:cNvPr id="17411" name="TextBox 6"/>
          <p:cNvSpPr txBox="1">
            <a:spLocks noChangeArrowheads="1"/>
          </p:cNvSpPr>
          <p:nvPr/>
        </p:nvSpPr>
        <p:spPr bwMode="auto">
          <a:xfrm>
            <a:off x="10272714" y="6488114"/>
            <a:ext cx="5492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AU" altLang="x-none"/>
              <a:t>3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379537" y="620713"/>
            <a:ext cx="4645026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2640013" y="404813"/>
            <a:ext cx="0" cy="586740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414" name="TextBox 19"/>
          <p:cNvSpPr txBox="1">
            <a:spLocks noChangeArrowheads="1"/>
          </p:cNvSpPr>
          <p:nvPr/>
        </p:nvSpPr>
        <p:spPr bwMode="auto">
          <a:xfrm>
            <a:off x="2101851" y="6350"/>
            <a:ext cx="1005403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AU" altLang="x-none" sz="1600"/>
              <a:t>Contents</a:t>
            </a:r>
          </a:p>
        </p:txBody>
      </p:sp>
      <p:sp>
        <p:nvSpPr>
          <p:cNvPr id="17415" name="TextBox 22"/>
          <p:cNvSpPr txBox="1">
            <a:spLocks noChangeArrowheads="1"/>
          </p:cNvSpPr>
          <p:nvPr/>
        </p:nvSpPr>
        <p:spPr bwMode="auto">
          <a:xfrm>
            <a:off x="1747839" y="374650"/>
            <a:ext cx="66236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AU" altLang="x-none" sz="1600"/>
              <a:t>Page</a:t>
            </a:r>
          </a:p>
        </p:txBody>
      </p:sp>
      <p:cxnSp>
        <p:nvCxnSpPr>
          <p:cNvPr id="16" name="Straight Connector 15"/>
          <p:cNvCxnSpPr/>
          <p:nvPr/>
        </p:nvCxnSpPr>
        <p:spPr>
          <a:xfrm>
            <a:off x="3667125" y="404813"/>
            <a:ext cx="0" cy="586740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417" name="TextBox 16"/>
          <p:cNvSpPr txBox="1">
            <a:spLocks noChangeArrowheads="1"/>
          </p:cNvSpPr>
          <p:nvPr/>
        </p:nvSpPr>
        <p:spPr bwMode="auto">
          <a:xfrm>
            <a:off x="2927351" y="344488"/>
            <a:ext cx="617477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AU" altLang="x-none" sz="1600"/>
              <a:t>Date</a:t>
            </a:r>
          </a:p>
        </p:txBody>
      </p:sp>
      <p:sp>
        <p:nvSpPr>
          <p:cNvPr id="17418" name="TextBox 17"/>
          <p:cNvSpPr txBox="1">
            <a:spLocks noChangeArrowheads="1"/>
          </p:cNvSpPr>
          <p:nvPr/>
        </p:nvSpPr>
        <p:spPr bwMode="auto">
          <a:xfrm>
            <a:off x="4079875" y="344489"/>
            <a:ext cx="1398588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AU" altLang="x-none" sz="1600"/>
              <a:t>Description</a:t>
            </a:r>
          </a:p>
        </p:txBody>
      </p:sp>
      <p:sp>
        <p:nvSpPr>
          <p:cNvPr id="17419" name="TextBox 20"/>
          <p:cNvSpPr txBox="1">
            <a:spLocks noChangeArrowheads="1"/>
          </p:cNvSpPr>
          <p:nvPr/>
        </p:nvSpPr>
        <p:spPr bwMode="auto">
          <a:xfrm>
            <a:off x="7319964" y="66675"/>
            <a:ext cx="2592387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AU" altLang="x-none" sz="1600" u="sng" dirty="0"/>
              <a:t>Glossary or Formula </a:t>
            </a:r>
            <a:r>
              <a:rPr lang="en-AU" altLang="x-none" sz="1600" dirty="0"/>
              <a:t>Page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6445405" y="1293541"/>
            <a:ext cx="5035799" cy="40198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Solve:        State the solution</a:t>
            </a:r>
          </a:p>
          <a:p>
            <a:endParaRPr lang="en-US" dirty="0"/>
          </a:p>
          <a:p>
            <a:endParaRPr lang="en-US" dirty="0" smtClean="0"/>
          </a:p>
          <a:p>
            <a:r>
              <a:rPr lang="en-US" dirty="0" smtClean="0"/>
              <a:t>Variables:  uses words to explain or pronumerals</a:t>
            </a:r>
          </a:p>
          <a:p>
            <a:endParaRPr lang="en-US" dirty="0"/>
          </a:p>
          <a:p>
            <a:r>
              <a:rPr lang="en-US" dirty="0" smtClean="0"/>
              <a:t>Pronumerals:  Variables</a:t>
            </a:r>
            <a:r>
              <a:rPr lang="en-US" dirty="0"/>
              <a:t> </a:t>
            </a:r>
            <a:r>
              <a:rPr lang="en-US" dirty="0" smtClean="0"/>
              <a:t>as letters</a:t>
            </a:r>
          </a:p>
          <a:p>
            <a:endParaRPr lang="en-US" dirty="0"/>
          </a:p>
          <a:p>
            <a:endParaRPr lang="en-US" dirty="0" smtClean="0"/>
          </a:p>
          <a:p>
            <a:r>
              <a:rPr lang="en-US" dirty="0" smtClean="0"/>
              <a:t>Rule:	 has an = sign</a:t>
            </a:r>
          </a:p>
          <a:p>
            <a:endParaRPr lang="en-US" dirty="0"/>
          </a:p>
          <a:p>
            <a:endParaRPr lang="en-US" dirty="0" smtClean="0"/>
          </a:p>
          <a:p>
            <a:r>
              <a:rPr lang="en-US" dirty="0" smtClean="0"/>
              <a:t>Equation:   whenever two values are equal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5207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6024564" y="1"/>
            <a:ext cx="71437" cy="695801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434" name="TextBox 5"/>
          <p:cNvSpPr txBox="1">
            <a:spLocks noChangeArrowheads="1"/>
          </p:cNvSpPr>
          <p:nvPr/>
        </p:nvSpPr>
        <p:spPr bwMode="auto">
          <a:xfrm>
            <a:off x="1524000" y="6475413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AU" altLang="x-none"/>
              <a:t>6</a:t>
            </a:r>
          </a:p>
        </p:txBody>
      </p:sp>
      <p:sp>
        <p:nvSpPr>
          <p:cNvPr id="18435" name="TextBox 6"/>
          <p:cNvSpPr txBox="1">
            <a:spLocks noChangeArrowheads="1"/>
          </p:cNvSpPr>
          <p:nvPr/>
        </p:nvSpPr>
        <p:spPr bwMode="auto">
          <a:xfrm>
            <a:off x="10272714" y="6526213"/>
            <a:ext cx="54927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AU" altLang="x-none"/>
              <a:t>7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6024564" y="620713"/>
            <a:ext cx="4643437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6024564" y="1196975"/>
            <a:ext cx="4643437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6096000" y="5373688"/>
            <a:ext cx="4725988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7391400" y="1196976"/>
            <a:ext cx="0" cy="417671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8440" name="TextBox 18"/>
          <p:cNvSpPr txBox="1">
            <a:spLocks noChangeArrowheads="1"/>
          </p:cNvSpPr>
          <p:nvPr/>
        </p:nvSpPr>
        <p:spPr bwMode="auto">
          <a:xfrm>
            <a:off x="6057900" y="66675"/>
            <a:ext cx="431800" cy="554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AU" altLang="x-none" sz="1000"/>
              <a:t>24</a:t>
            </a:r>
          </a:p>
          <a:p>
            <a:r>
              <a:rPr lang="en-AU" altLang="x-none" sz="1000"/>
              <a:t>7</a:t>
            </a:r>
          </a:p>
          <a:p>
            <a:r>
              <a:rPr lang="en-AU" altLang="x-none" sz="1000"/>
              <a:t>30</a:t>
            </a:r>
          </a:p>
        </p:txBody>
      </p:sp>
      <p:sp>
        <p:nvSpPr>
          <p:cNvPr id="18441" name="TextBox 19"/>
          <p:cNvSpPr txBox="1">
            <a:spLocks noChangeArrowheads="1"/>
          </p:cNvSpPr>
          <p:nvPr/>
        </p:nvSpPr>
        <p:spPr bwMode="auto">
          <a:xfrm>
            <a:off x="6096001" y="601664"/>
            <a:ext cx="1247457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AU" altLang="x-none" sz="1000"/>
              <a:t>Essential Question</a:t>
            </a:r>
          </a:p>
        </p:txBody>
      </p:sp>
      <p:sp>
        <p:nvSpPr>
          <p:cNvPr id="18442" name="TextBox 21"/>
          <p:cNvSpPr txBox="1">
            <a:spLocks noChangeArrowheads="1"/>
          </p:cNvSpPr>
          <p:nvPr/>
        </p:nvSpPr>
        <p:spPr bwMode="auto">
          <a:xfrm>
            <a:off x="7391401" y="1196976"/>
            <a:ext cx="518091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AU" altLang="x-none" sz="1000"/>
              <a:t>Notes</a:t>
            </a:r>
          </a:p>
        </p:txBody>
      </p:sp>
      <p:sp>
        <p:nvSpPr>
          <p:cNvPr id="18443" name="TextBox 22"/>
          <p:cNvSpPr txBox="1">
            <a:spLocks noChangeArrowheads="1"/>
          </p:cNvSpPr>
          <p:nvPr/>
        </p:nvSpPr>
        <p:spPr bwMode="auto">
          <a:xfrm>
            <a:off x="6045201" y="1196976"/>
            <a:ext cx="758541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AU" altLang="x-none" sz="1000"/>
              <a:t>Questions</a:t>
            </a:r>
          </a:p>
        </p:txBody>
      </p:sp>
      <p:sp>
        <p:nvSpPr>
          <p:cNvPr id="18444" name="TextBox 23"/>
          <p:cNvSpPr txBox="1">
            <a:spLocks noChangeArrowheads="1"/>
          </p:cNvSpPr>
          <p:nvPr/>
        </p:nvSpPr>
        <p:spPr bwMode="auto">
          <a:xfrm>
            <a:off x="6096001" y="5373689"/>
            <a:ext cx="732893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AU" altLang="x-none" sz="1000"/>
              <a:t>Summary</a:t>
            </a:r>
          </a:p>
        </p:txBody>
      </p:sp>
      <p:sp>
        <p:nvSpPr>
          <p:cNvPr id="18445" name="TextBox 24"/>
          <p:cNvSpPr txBox="1">
            <a:spLocks noChangeArrowheads="1"/>
          </p:cNvSpPr>
          <p:nvPr/>
        </p:nvSpPr>
        <p:spPr bwMode="auto">
          <a:xfrm>
            <a:off x="1674814" y="142875"/>
            <a:ext cx="77482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AU" altLang="x-none"/>
              <a:t>Tasks</a:t>
            </a:r>
          </a:p>
        </p:txBody>
      </p:sp>
    </p:spTree>
    <p:extLst>
      <p:ext uri="{BB962C8B-B14F-4D97-AF65-F5344CB8AC3E}">
        <p14:creationId xmlns:p14="http://schemas.microsoft.com/office/powerpoint/2010/main" val="1821916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TextBox 1"/>
          <p:cNvSpPr txBox="1">
            <a:spLocks noChangeArrowheads="1"/>
          </p:cNvSpPr>
          <p:nvPr/>
        </p:nvSpPr>
        <p:spPr bwMode="auto">
          <a:xfrm>
            <a:off x="10272714" y="6488114"/>
            <a:ext cx="5492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AU" altLang="x-none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1524000" y="981075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1524000" y="1916113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460" name="TextBox 6"/>
          <p:cNvSpPr txBox="1">
            <a:spLocks noChangeArrowheads="1"/>
          </p:cNvSpPr>
          <p:nvPr/>
        </p:nvSpPr>
        <p:spPr bwMode="auto">
          <a:xfrm>
            <a:off x="1617663" y="149225"/>
            <a:ext cx="576262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AU" altLang="x-none" sz="1600"/>
              <a:t>24</a:t>
            </a:r>
          </a:p>
          <a:p>
            <a:r>
              <a:rPr lang="en-AU" altLang="x-none" sz="1600"/>
              <a:t>7</a:t>
            </a:r>
          </a:p>
          <a:p>
            <a:r>
              <a:rPr lang="en-AU" altLang="x-none" sz="160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440238" y="1916114"/>
            <a:ext cx="0" cy="5113337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463" name="TextBox 10"/>
          <p:cNvSpPr txBox="1">
            <a:spLocks noChangeArrowheads="1"/>
          </p:cNvSpPr>
          <p:nvPr/>
        </p:nvSpPr>
        <p:spPr bwMode="auto">
          <a:xfrm>
            <a:off x="8963026" y="106363"/>
            <a:ext cx="15843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AU" altLang="x-none" sz="2400"/>
              <a:t>Date</a:t>
            </a:r>
          </a:p>
        </p:txBody>
      </p:sp>
      <p:sp>
        <p:nvSpPr>
          <p:cNvPr id="19464" name="TextBox 11"/>
          <p:cNvSpPr txBox="1">
            <a:spLocks noChangeArrowheads="1"/>
          </p:cNvSpPr>
          <p:nvPr/>
        </p:nvSpPr>
        <p:spPr bwMode="auto">
          <a:xfrm>
            <a:off x="1643064" y="1063626"/>
            <a:ext cx="862012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AU" altLang="x-none" sz="2400" dirty="0"/>
              <a:t>EQ </a:t>
            </a:r>
            <a:r>
              <a:rPr lang="en-AU" altLang="x-none" sz="2400" dirty="0" smtClean="0"/>
              <a:t>– Is anyone correct? Can you spot the mistakes ?  </a:t>
            </a:r>
            <a:endParaRPr lang="en-AU" altLang="x-none" sz="2400" dirty="0"/>
          </a:p>
        </p:txBody>
      </p:sp>
      <p:sp>
        <p:nvSpPr>
          <p:cNvPr id="2" name="TextBox 1"/>
          <p:cNvSpPr txBox="1"/>
          <p:nvPr/>
        </p:nvSpPr>
        <p:spPr>
          <a:xfrm>
            <a:off x="2773923" y="106363"/>
            <a:ext cx="55414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smtClean="0"/>
              <a:t>Solving</a:t>
            </a:r>
            <a:r>
              <a:rPr lang="en-US" dirty="0" smtClean="0"/>
              <a:t> </a:t>
            </a:r>
            <a:r>
              <a:rPr lang="en-US" sz="3600" dirty="0" smtClean="0"/>
              <a:t>Real World Equations</a:t>
            </a:r>
            <a:endParaRPr lang="en-US" sz="3600" dirty="0"/>
          </a:p>
        </p:txBody>
      </p:sp>
      <p:sp>
        <p:nvSpPr>
          <p:cNvPr id="3" name="TextBox 2"/>
          <p:cNvSpPr txBox="1"/>
          <p:nvPr/>
        </p:nvSpPr>
        <p:spPr>
          <a:xfrm>
            <a:off x="6286499" y="1916113"/>
            <a:ext cx="22288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 smtClean="0"/>
              <a:t>4x - 8 =40</a:t>
            </a:r>
            <a:endParaRPr lang="en-US" sz="3200" dirty="0"/>
          </a:p>
        </p:txBody>
      </p:sp>
      <p:sp>
        <p:nvSpPr>
          <p:cNvPr id="5" name="TextBox 4"/>
          <p:cNvSpPr txBox="1"/>
          <p:nvPr/>
        </p:nvSpPr>
        <p:spPr>
          <a:xfrm>
            <a:off x="5000625" y="3443288"/>
            <a:ext cx="4954754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u="sng" dirty="0" smtClean="0"/>
              <a:t>Student #1 </a:t>
            </a:r>
            <a:r>
              <a:rPr lang="en-US" dirty="0" smtClean="0"/>
              <a:t>	</a:t>
            </a:r>
            <a:r>
              <a:rPr lang="en-US" u="sng" dirty="0" smtClean="0"/>
              <a:t>Student #2 </a:t>
            </a:r>
            <a:r>
              <a:rPr lang="en-US" dirty="0" smtClean="0"/>
              <a:t>	</a:t>
            </a:r>
            <a:r>
              <a:rPr lang="en-US" u="sng" dirty="0" smtClean="0"/>
              <a:t>Student #3 </a:t>
            </a:r>
          </a:p>
          <a:p>
            <a:endParaRPr lang="en-US" dirty="0"/>
          </a:p>
          <a:p>
            <a:r>
              <a:rPr lang="en-US" dirty="0" smtClean="0"/>
              <a:t>4x - 8 = 40	4x - 8 = 40	4x - 8 = 40</a:t>
            </a:r>
          </a:p>
          <a:p>
            <a:endParaRPr lang="en-US" dirty="0"/>
          </a:p>
          <a:p>
            <a:r>
              <a:rPr lang="en-US" dirty="0" smtClean="0"/>
              <a:t>4x = 48		4x = 32  		x </a:t>
            </a:r>
            <a:r>
              <a:rPr lang="mr-IN" dirty="0" smtClean="0"/>
              <a:t>–</a:t>
            </a:r>
            <a:r>
              <a:rPr lang="en-US" dirty="0" smtClean="0"/>
              <a:t> 8 = 10</a:t>
            </a:r>
          </a:p>
          <a:p>
            <a:endParaRPr lang="en-US" dirty="0"/>
          </a:p>
          <a:p>
            <a:r>
              <a:rPr lang="en-US" dirty="0" smtClean="0"/>
              <a:t>X = 11		x = 8		x = 18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01547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AU" dirty="0" smtClean="0"/>
              <a:t>Task –   Simplify the following</a:t>
            </a:r>
            <a:endParaRPr lang="en-AU" dirty="0"/>
          </a:p>
        </p:txBody>
      </p:sp>
      <p:sp>
        <p:nvSpPr>
          <p:cNvPr id="4" name="TextBox 3"/>
          <p:cNvSpPr txBox="1"/>
          <p:nvPr/>
        </p:nvSpPr>
        <p:spPr>
          <a:xfrm>
            <a:off x="2135188" y="1484314"/>
            <a:ext cx="7561262" cy="30469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/>
            </a:pPr>
            <a:r>
              <a:rPr lang="en-US" sz="2400" dirty="0" smtClean="0"/>
              <a:t>To </a:t>
            </a:r>
            <a:r>
              <a:rPr lang="en-US" sz="2400" u="sng" dirty="0" smtClean="0"/>
              <a:t>solve an equation </a:t>
            </a:r>
            <a:r>
              <a:rPr lang="en-US" sz="2400" b="1" dirty="0" smtClean="0"/>
              <a:t>algebra</a:t>
            </a:r>
            <a:r>
              <a:rPr lang="en-US" sz="2400" dirty="0" smtClean="0"/>
              <a:t>ically, you should repeatedly find an equivalent equation that is simpler.</a:t>
            </a: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/>
            </a:pPr>
            <a:endParaRPr lang="en-US" sz="2400" baseline="30000" dirty="0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/>
            </a:pPr>
            <a:endParaRPr lang="en-US" sz="2400" baseline="30000" dirty="0" smtClean="0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/>
            </a:pPr>
            <a:r>
              <a:rPr lang="en-US" sz="2400" b="1" dirty="0" smtClean="0"/>
              <a:t>5x + 2 = 32</a:t>
            </a: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/>
            </a:pPr>
            <a:r>
              <a:rPr lang="en-US" sz="2400" baseline="30000" dirty="0" smtClean="0"/>
              <a:t>(-2)                (-2)</a:t>
            </a:r>
            <a:endParaRPr lang="en-US" sz="2400" baseline="30000" dirty="0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/>
            </a:pPr>
            <a:r>
              <a:rPr lang="en-US" sz="2400" dirty="0" smtClean="0"/>
              <a:t>      5x = 30</a:t>
            </a: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/>
            </a:pPr>
            <a:r>
              <a:rPr lang="en-US" sz="2400" dirty="0" smtClean="0"/>
              <a:t>      </a:t>
            </a:r>
            <a:r>
              <a:rPr lang="en-US" sz="2400" baseline="30000" dirty="0" smtClean="0"/>
              <a:t>(/5)       (/5)</a:t>
            </a: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/>
            </a:pPr>
            <a:r>
              <a:rPr lang="en-US" sz="2400" dirty="0" smtClean="0"/>
              <a:t>        X = 6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8109704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57" name="AutoShape 21"/>
          <p:cNvSpPr>
            <a:spLocks noChangeArrowheads="1"/>
          </p:cNvSpPr>
          <p:nvPr/>
        </p:nvSpPr>
        <p:spPr bwMode="auto">
          <a:xfrm>
            <a:off x="1878013" y="1993901"/>
            <a:ext cx="6127750" cy="3357563"/>
          </a:xfrm>
          <a:prstGeom prst="roundRect">
            <a:avLst>
              <a:gd name="adj" fmla="val 6412"/>
            </a:avLst>
          </a:prstGeom>
          <a:solidFill>
            <a:srgbClr val="CFD2E3">
              <a:alpha val="50195"/>
            </a:srgbClr>
          </a:solidFill>
          <a:ln w="76200">
            <a:solidFill>
              <a:srgbClr val="0000FF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5125" name="Text Box 25"/>
          <p:cNvSpPr txBox="1">
            <a:spLocks noChangeArrowheads="1"/>
          </p:cNvSpPr>
          <p:nvPr/>
        </p:nvSpPr>
        <p:spPr bwMode="auto">
          <a:xfrm>
            <a:off x="1930401" y="1068389"/>
            <a:ext cx="8474075" cy="2677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r>
              <a:rPr lang="en-GB" altLang="en-US" dirty="0" smtClean="0"/>
              <a:t>An orange costs 5c more than an apple.</a:t>
            </a:r>
          </a:p>
          <a:p>
            <a:r>
              <a:rPr lang="en-GB" altLang="en-US" dirty="0" smtClean="0"/>
              <a:t>An orange and an apple together cost $1.15 </a:t>
            </a:r>
          </a:p>
          <a:p>
            <a:r>
              <a:rPr lang="en-GB" altLang="en-US" dirty="0" smtClean="0"/>
              <a:t>Determine the cost of each.</a:t>
            </a:r>
          </a:p>
          <a:p>
            <a:endParaRPr lang="en-GB" altLang="en-US" dirty="0" smtClean="0"/>
          </a:p>
          <a:p>
            <a:endParaRPr lang="en-GB" altLang="en-US" dirty="0" smtClean="0"/>
          </a:p>
          <a:p>
            <a:endParaRPr lang="en-GB" altLang="en-US" dirty="0"/>
          </a:p>
          <a:p>
            <a:endParaRPr lang="en-GB" altLang="en-US" dirty="0"/>
          </a:p>
        </p:txBody>
      </p:sp>
      <p:sp>
        <p:nvSpPr>
          <p:cNvPr id="231450" name="Text Box 26"/>
          <p:cNvSpPr txBox="1">
            <a:spLocks noChangeArrowheads="1"/>
          </p:cNvSpPr>
          <p:nvPr/>
        </p:nvSpPr>
        <p:spPr bwMode="auto">
          <a:xfrm>
            <a:off x="2019300" y="2006600"/>
            <a:ext cx="1981633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endParaRPr lang="en-GB" altLang="en-US" dirty="0" smtClean="0"/>
          </a:p>
          <a:p>
            <a:r>
              <a:rPr lang="en-GB" altLang="en-US" dirty="0" smtClean="0"/>
              <a:t>For </a:t>
            </a:r>
            <a:r>
              <a:rPr lang="en-GB" altLang="en-US" dirty="0"/>
              <a:t>example:</a:t>
            </a:r>
          </a:p>
        </p:txBody>
      </p:sp>
      <p:sp>
        <p:nvSpPr>
          <p:cNvPr id="231451" name="Text Box 27"/>
          <p:cNvSpPr txBox="1">
            <a:spLocks noChangeArrowheads="1"/>
          </p:cNvSpPr>
          <p:nvPr/>
        </p:nvSpPr>
        <p:spPr bwMode="auto">
          <a:xfrm>
            <a:off x="2019300" y="2456738"/>
            <a:ext cx="4881563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endParaRPr lang="en-GB" altLang="en-US" dirty="0" smtClean="0"/>
          </a:p>
          <a:p>
            <a:r>
              <a:rPr lang="en-GB" altLang="en-US" dirty="0" smtClean="0"/>
              <a:t>Let the </a:t>
            </a:r>
            <a:r>
              <a:rPr lang="en-GB" altLang="en-US" b="1" dirty="0" smtClean="0"/>
              <a:t>Cost of an apple </a:t>
            </a:r>
            <a:r>
              <a:rPr lang="en-GB" altLang="en-US" dirty="0" smtClean="0"/>
              <a:t>be    = </a:t>
            </a:r>
            <a:r>
              <a:rPr lang="en-GB" altLang="en-US" b="1" dirty="0" smtClean="0"/>
              <a:t>x</a:t>
            </a:r>
            <a:r>
              <a:rPr lang="en-GB" altLang="en-US" dirty="0" smtClean="0"/>
              <a:t> </a:t>
            </a:r>
            <a:endParaRPr lang="en-GB" altLang="en-US" dirty="0"/>
          </a:p>
        </p:txBody>
      </p:sp>
      <p:sp>
        <p:nvSpPr>
          <p:cNvPr id="231454" name="Text Box 30"/>
          <p:cNvSpPr txBox="1">
            <a:spLocks noChangeArrowheads="1"/>
          </p:cNvSpPr>
          <p:nvPr/>
        </p:nvSpPr>
        <p:spPr bwMode="auto">
          <a:xfrm>
            <a:off x="2019300" y="3261600"/>
            <a:ext cx="613637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r>
              <a:rPr lang="en-GB" altLang="en-US" dirty="0" smtClean="0"/>
              <a:t>Let the </a:t>
            </a:r>
            <a:r>
              <a:rPr lang="en-GB" altLang="en-US" b="1" dirty="0" smtClean="0"/>
              <a:t>cost of an orange</a:t>
            </a:r>
            <a:r>
              <a:rPr lang="en-GB" altLang="en-US" dirty="0" smtClean="0"/>
              <a:t> be = </a:t>
            </a:r>
            <a:r>
              <a:rPr lang="en-GB" altLang="en-US" b="1" dirty="0" smtClean="0"/>
              <a:t>x + 5</a:t>
            </a:r>
            <a:endParaRPr lang="en-GB" altLang="en-US" b="1" dirty="0"/>
          </a:p>
        </p:txBody>
      </p:sp>
      <p:sp>
        <p:nvSpPr>
          <p:cNvPr id="231457" name="Text Box 33"/>
          <p:cNvSpPr txBox="1">
            <a:spLocks noChangeArrowheads="1"/>
          </p:cNvSpPr>
          <p:nvPr/>
        </p:nvSpPr>
        <p:spPr bwMode="auto">
          <a:xfrm>
            <a:off x="2019300" y="3812244"/>
            <a:ext cx="6453188" cy="2677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r>
              <a:rPr lang="en-GB" altLang="en-US" dirty="0" smtClean="0"/>
              <a:t>Total    =  x + x + 5</a:t>
            </a:r>
          </a:p>
          <a:p>
            <a:r>
              <a:rPr lang="en-GB" altLang="en-US" dirty="0" smtClean="0"/>
              <a:t>2x + 5  = 115 c</a:t>
            </a:r>
          </a:p>
          <a:p>
            <a:r>
              <a:rPr lang="en-GB" altLang="en-US" dirty="0" smtClean="0"/>
              <a:t>2x        = 110</a:t>
            </a:r>
          </a:p>
          <a:p>
            <a:r>
              <a:rPr lang="en-GB" altLang="en-US" dirty="0" smtClean="0"/>
              <a:t>X         =  55 </a:t>
            </a:r>
          </a:p>
          <a:p>
            <a:r>
              <a:rPr lang="en-GB" altLang="en-US" dirty="0" smtClean="0"/>
              <a:t>Apples cost 55 cents each, Oranges cost 60 cents.</a:t>
            </a:r>
          </a:p>
          <a:p>
            <a:r>
              <a:rPr lang="en-GB" altLang="en-US" dirty="0" smtClean="0"/>
              <a:t>              </a:t>
            </a:r>
            <a:endParaRPr lang="en-GB" altLang="en-US" dirty="0"/>
          </a:p>
        </p:txBody>
      </p:sp>
      <p:sp>
        <p:nvSpPr>
          <p:cNvPr id="5138" name="Rectangle 23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1570038" y="46038"/>
            <a:ext cx="82296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l" eaLnBrk="1" hangingPunct="1"/>
            <a:r>
              <a:rPr lang="en-GB" altLang="en-US" sz="2800" b="1" dirty="0" smtClean="0">
                <a:solidFill>
                  <a:srgbClr val="000066"/>
                </a:solidFill>
              </a:rPr>
              <a:t>Real World Problem Solving with equations</a:t>
            </a:r>
            <a:endParaRPr lang="en-GB" altLang="en-US" sz="2800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61206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1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1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1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1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57" grpId="0" animBg="1"/>
      <p:bldP spid="231450" grpId="0" autoUpdateAnimBg="0"/>
      <p:bldP spid="231451" grpId="0" autoUpdateAnimBg="0"/>
      <p:bldP spid="231454" grpId="0" autoUpdateAnimBg="0"/>
      <p:bldP spid="231457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3" name="AutoShape 43"/>
          <p:cNvSpPr>
            <a:spLocks noChangeArrowheads="1"/>
          </p:cNvSpPr>
          <p:nvPr/>
        </p:nvSpPr>
        <p:spPr bwMode="auto">
          <a:xfrm>
            <a:off x="1878013" y="1993900"/>
            <a:ext cx="8159750" cy="3016250"/>
          </a:xfrm>
          <a:prstGeom prst="roundRect">
            <a:avLst>
              <a:gd name="adj" fmla="val 6412"/>
            </a:avLst>
          </a:prstGeom>
          <a:solidFill>
            <a:srgbClr val="CFD2E3">
              <a:alpha val="50195"/>
            </a:srgbClr>
          </a:solidFill>
          <a:ln w="76200">
            <a:solidFill>
              <a:srgbClr val="0000FF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r>
              <a:rPr lang="en-US" altLang="en-US" dirty="0" smtClean="0"/>
              <a:t>What could you use for John’s age?</a:t>
            </a:r>
          </a:p>
          <a:p>
            <a:endParaRPr lang="en-US" altLang="en-US" dirty="0" smtClean="0"/>
          </a:p>
          <a:p>
            <a:r>
              <a:rPr lang="en-US" altLang="en-US" dirty="0" smtClean="0"/>
              <a:t>How would the equation change if </a:t>
            </a:r>
            <a:r>
              <a:rPr lang="en-US" altLang="en-US" i="1" dirty="0" smtClean="0"/>
              <a:t>x</a:t>
            </a:r>
            <a:r>
              <a:rPr lang="en-US" altLang="en-US" dirty="0" smtClean="0"/>
              <a:t> was used for </a:t>
            </a:r>
          </a:p>
          <a:p>
            <a:r>
              <a:rPr lang="en-US" altLang="en-US" dirty="0" smtClean="0"/>
              <a:t>John’s sister’s age. </a:t>
            </a:r>
            <a:endParaRPr lang="en-US" altLang="en-US" dirty="0"/>
          </a:p>
        </p:txBody>
      </p:sp>
      <p:sp>
        <p:nvSpPr>
          <p:cNvPr id="280628" name="Text Box 52"/>
          <p:cNvSpPr txBox="1">
            <a:spLocks noChangeArrowheads="1"/>
          </p:cNvSpPr>
          <p:nvPr/>
        </p:nvSpPr>
        <p:spPr bwMode="auto">
          <a:xfrm>
            <a:off x="4295776" y="5127625"/>
            <a:ext cx="3598863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algn="ctr"/>
            <a:r>
              <a:rPr lang="en-GB" altLang="en-US"/>
              <a:t>What do you notice?</a:t>
            </a:r>
          </a:p>
        </p:txBody>
      </p:sp>
      <p:sp>
        <p:nvSpPr>
          <p:cNvPr id="6149" name="Text Box 20"/>
          <p:cNvSpPr txBox="1">
            <a:spLocks noChangeArrowheads="1"/>
          </p:cNvSpPr>
          <p:nvPr/>
        </p:nvSpPr>
        <p:spPr bwMode="auto">
          <a:xfrm>
            <a:off x="1930401" y="1068389"/>
            <a:ext cx="8474075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r>
              <a:rPr lang="en-GB" altLang="en-US" dirty="0" smtClean="0"/>
              <a:t>John and his elder sister are 4years apart in their ages.</a:t>
            </a:r>
          </a:p>
          <a:p>
            <a:r>
              <a:rPr lang="en-GB" altLang="en-US" dirty="0" smtClean="0"/>
              <a:t>If the sum of their ages is 26, how could you work out their ages?</a:t>
            </a:r>
          </a:p>
          <a:p>
            <a:endParaRPr lang="en-GB" altLang="en-US" dirty="0" smtClean="0"/>
          </a:p>
          <a:p>
            <a:endParaRPr lang="en-GB" altLang="en-US" dirty="0"/>
          </a:p>
        </p:txBody>
      </p:sp>
      <p:sp>
        <p:nvSpPr>
          <p:cNvPr id="280597" name="Text Box 21"/>
          <p:cNvSpPr txBox="1">
            <a:spLocks noChangeArrowheads="1"/>
          </p:cNvSpPr>
          <p:nvPr/>
        </p:nvSpPr>
        <p:spPr bwMode="auto">
          <a:xfrm>
            <a:off x="2063750" y="2105025"/>
            <a:ext cx="19637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r>
              <a:rPr lang="en-GB" altLang="en-US" dirty="0"/>
              <a:t>For example:</a:t>
            </a:r>
          </a:p>
        </p:txBody>
      </p:sp>
      <p:sp>
        <p:nvSpPr>
          <p:cNvPr id="6174" name="Rectangle 45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1570038" y="46038"/>
            <a:ext cx="82296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l" eaLnBrk="1" hangingPunct="1"/>
            <a:r>
              <a:rPr lang="en-GB" altLang="en-US" sz="2800" b="1" dirty="0" smtClean="0">
                <a:solidFill>
                  <a:srgbClr val="000066"/>
                </a:solidFill>
              </a:rPr>
              <a:t>Sibling Sum</a:t>
            </a:r>
            <a:endParaRPr lang="en-GB" altLang="en-US" sz="2800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66355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0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0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003" grpId="0" animBg="1"/>
      <p:bldP spid="280628" grpId="0" animBg="1" autoUpdateAnimBg="0"/>
      <p:bldP spid="280597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05" name="AutoShape 21"/>
          <p:cNvSpPr>
            <a:spLocks noChangeArrowheads="1"/>
          </p:cNvSpPr>
          <p:nvPr/>
        </p:nvSpPr>
        <p:spPr bwMode="auto">
          <a:xfrm>
            <a:off x="1930401" y="4330701"/>
            <a:ext cx="8005763" cy="665163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76200">
            <a:solidFill>
              <a:srgbClr val="4D95FF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altLang="en-US" sz="5400" dirty="0" smtClean="0">
                <a:solidFill>
                  <a:srgbClr val="5B0091"/>
                </a:solidFill>
              </a:rPr>
              <a:t>Fluency = easy</a:t>
            </a:r>
          </a:p>
          <a:p>
            <a:pPr algn="ctr" eaLnBrk="1" hangingPunct="1"/>
            <a:r>
              <a:rPr lang="en-US" altLang="en-US" sz="5400" dirty="0" smtClean="0">
                <a:solidFill>
                  <a:srgbClr val="5B0091"/>
                </a:solidFill>
              </a:rPr>
              <a:t>Problem-solving = middle</a:t>
            </a:r>
          </a:p>
          <a:p>
            <a:pPr algn="ctr" eaLnBrk="1" hangingPunct="1"/>
            <a:r>
              <a:rPr lang="en-US" altLang="en-US" sz="5400" dirty="0" smtClean="0">
                <a:solidFill>
                  <a:srgbClr val="5B0091"/>
                </a:solidFill>
              </a:rPr>
              <a:t>Reasoning = extension level </a:t>
            </a:r>
            <a:r>
              <a:rPr lang="en-US" altLang="en-US" sz="5400" dirty="0" err="1" smtClean="0">
                <a:solidFill>
                  <a:srgbClr val="5B0091"/>
                </a:solidFill>
              </a:rPr>
              <a:t>qns</a:t>
            </a:r>
            <a:r>
              <a:rPr lang="en-US" altLang="en-US" sz="5400" dirty="0" smtClean="0">
                <a:solidFill>
                  <a:srgbClr val="5B0091"/>
                </a:solidFill>
              </a:rPr>
              <a:t> </a:t>
            </a:r>
            <a:endParaRPr lang="en-US" altLang="en-US" sz="5400" dirty="0">
              <a:solidFill>
                <a:srgbClr val="5B0091"/>
              </a:solidFill>
            </a:endParaRPr>
          </a:p>
        </p:txBody>
      </p:sp>
      <p:sp>
        <p:nvSpPr>
          <p:cNvPr id="7185" name="Rectangle 23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1570038" y="46038"/>
            <a:ext cx="82296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 fontScale="90000"/>
          </a:bodyPr>
          <a:lstStyle/>
          <a:p>
            <a:pPr algn="l" eaLnBrk="1" hangingPunct="1"/>
            <a:r>
              <a:rPr lang="en-GB" altLang="en-US" sz="2800" b="1" dirty="0" smtClean="0">
                <a:solidFill>
                  <a:srgbClr val="000066"/>
                </a:solidFill>
              </a:rPr>
              <a:t>Try some of your own: p. 419-421 Exercise 7G and pick your own level.</a:t>
            </a:r>
            <a:br>
              <a:rPr lang="en-GB" altLang="en-US" sz="2800" b="1" dirty="0" smtClean="0">
                <a:solidFill>
                  <a:srgbClr val="000066"/>
                </a:solidFill>
              </a:rPr>
            </a:br>
            <a:r>
              <a:rPr lang="en-GB" altLang="en-US" sz="2800" b="1" dirty="0" smtClean="0">
                <a:solidFill>
                  <a:srgbClr val="000066"/>
                </a:solidFill>
              </a:rPr>
              <a:t/>
            </a:r>
            <a:br>
              <a:rPr lang="en-GB" altLang="en-US" sz="2800" b="1" dirty="0" smtClean="0">
                <a:solidFill>
                  <a:srgbClr val="000066"/>
                </a:solidFill>
              </a:rPr>
            </a:br>
            <a:r>
              <a:rPr lang="en-GB" altLang="en-US" sz="2800" b="1" dirty="0">
                <a:solidFill>
                  <a:srgbClr val="000066"/>
                </a:solidFill>
              </a:rPr>
              <a:t/>
            </a:r>
            <a:br>
              <a:rPr lang="en-GB" altLang="en-US" sz="2800" b="1" dirty="0">
                <a:solidFill>
                  <a:srgbClr val="000066"/>
                </a:solidFill>
              </a:rPr>
            </a:br>
            <a:endParaRPr lang="en-GB" altLang="en-US" sz="2800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78508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00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AutoShape 2"/>
          <p:cNvSpPr>
            <a:spLocks noChangeArrowheads="1"/>
          </p:cNvSpPr>
          <p:nvPr/>
        </p:nvSpPr>
        <p:spPr bwMode="auto">
          <a:xfrm>
            <a:off x="2273301" y="1676400"/>
            <a:ext cx="4600575" cy="4775200"/>
          </a:xfrm>
          <a:prstGeom prst="roundRect">
            <a:avLst>
              <a:gd name="adj" fmla="val 16667"/>
            </a:avLst>
          </a:prstGeom>
          <a:solidFill>
            <a:srgbClr val="CFD2E3">
              <a:alpha val="50195"/>
            </a:srgbClr>
          </a:solidFill>
          <a:ln w="76200">
            <a:solidFill>
              <a:srgbClr val="0033CC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altLang="en-US" sz="2800" dirty="0" smtClean="0">
                <a:solidFill>
                  <a:srgbClr val="5B0091"/>
                </a:solidFill>
              </a:rPr>
              <a:t>Hint: The answers </a:t>
            </a:r>
          </a:p>
          <a:p>
            <a:pPr algn="ctr" eaLnBrk="1" hangingPunct="1"/>
            <a:r>
              <a:rPr lang="en-US" altLang="en-US" sz="2800" dirty="0" smtClean="0">
                <a:solidFill>
                  <a:srgbClr val="5B0091"/>
                </a:solidFill>
              </a:rPr>
              <a:t>may not be whole numbers.</a:t>
            </a:r>
          </a:p>
          <a:p>
            <a:pPr algn="ctr" eaLnBrk="1" hangingPunct="1"/>
            <a:endParaRPr lang="en-US" altLang="en-US" sz="2800" dirty="0">
              <a:solidFill>
                <a:srgbClr val="5B0091"/>
              </a:solidFill>
            </a:endParaRPr>
          </a:p>
          <a:p>
            <a:pPr algn="ctr" eaLnBrk="1" hangingPunct="1"/>
            <a:endParaRPr lang="en-US" altLang="en-US" sz="2800" dirty="0" smtClean="0">
              <a:solidFill>
                <a:srgbClr val="5B0091"/>
              </a:solidFill>
            </a:endParaRPr>
          </a:p>
          <a:p>
            <a:pPr algn="ctr" eaLnBrk="1" hangingPunct="1"/>
            <a:r>
              <a:rPr lang="en-US" altLang="en-US" sz="2800" dirty="0" smtClean="0">
                <a:solidFill>
                  <a:srgbClr val="5B0091"/>
                </a:solidFill>
              </a:rPr>
              <a:t>(x+2x) / 2 = 25.5</a:t>
            </a:r>
          </a:p>
        </p:txBody>
      </p:sp>
      <p:sp>
        <p:nvSpPr>
          <p:cNvPr id="9219" name="Text Box 6"/>
          <p:cNvSpPr txBox="1">
            <a:spLocks noChangeArrowheads="1"/>
          </p:cNvSpPr>
          <p:nvPr/>
        </p:nvSpPr>
        <p:spPr bwMode="auto">
          <a:xfrm>
            <a:off x="1930401" y="1068388"/>
            <a:ext cx="788869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r>
              <a:rPr lang="en-GB" altLang="en-US" dirty="0" smtClean="0"/>
              <a:t>The average of a number and double the number is 25.5</a:t>
            </a:r>
            <a:endParaRPr lang="en-GB" altLang="en-US" dirty="0"/>
          </a:p>
        </p:txBody>
      </p:sp>
      <p:sp>
        <p:nvSpPr>
          <p:cNvPr id="282699" name="Text Box 75"/>
          <p:cNvSpPr txBox="1">
            <a:spLocks noChangeArrowheads="1"/>
          </p:cNvSpPr>
          <p:nvPr/>
        </p:nvSpPr>
        <p:spPr bwMode="auto">
          <a:xfrm>
            <a:off x="4406178" y="3127375"/>
            <a:ext cx="280846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algn="ctr"/>
            <a:r>
              <a:rPr lang="en-GB" altLang="en-US" sz="2700" b="1" dirty="0" smtClean="0"/>
              <a:t> </a:t>
            </a:r>
            <a:endParaRPr lang="en-GB" altLang="en-US" sz="2700" b="1" i="1" baseline="30000" dirty="0">
              <a:latin typeface="Times New Roman" charset="0"/>
            </a:endParaRPr>
          </a:p>
        </p:txBody>
      </p:sp>
      <p:sp>
        <p:nvSpPr>
          <p:cNvPr id="9228" name="Rectangle 20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1570038" y="46038"/>
            <a:ext cx="82296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l" eaLnBrk="1" hangingPunct="1"/>
            <a:r>
              <a:rPr lang="en-GB" altLang="en-US" sz="2800" b="1" dirty="0" smtClean="0">
                <a:solidFill>
                  <a:srgbClr val="000066"/>
                </a:solidFill>
              </a:rPr>
              <a:t>Enrichment</a:t>
            </a:r>
            <a:endParaRPr lang="en-GB" altLang="en-US" sz="2800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32583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2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5714" grpId="0" animBg="1"/>
      <p:bldP spid="282699" grpId="0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3x = 51</a:t>
            </a:r>
            <a:br>
              <a:rPr lang="en-US" sz="2400" dirty="0" smtClean="0"/>
            </a:br>
            <a:r>
              <a:rPr lang="en-US" sz="2400" dirty="0" smtClean="0"/>
              <a:t>so, x= 17?</a:t>
            </a:r>
            <a:br>
              <a:rPr lang="en-US" sz="2400" dirty="0" smtClean="0"/>
            </a:br>
            <a:r>
              <a:rPr lang="en-US" sz="2400" dirty="0" smtClean="0"/>
              <a:t/>
            </a:r>
            <a:br>
              <a:rPr lang="en-US" sz="2400" dirty="0" smtClean="0"/>
            </a:b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32188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dex Laws Revision" id="{3DF6C972-3E9A-D74C-A0D5-D4BBDE46FFE0}" vid="{00B58CCF-1496-BD40-B1A1-EF968DB7BE3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Index Laws Revision</Template>
  <TotalTime>61</TotalTime>
  <Words>519</Words>
  <Application>Microsoft Macintosh PowerPoint</Application>
  <PresentationFormat>Widescreen</PresentationFormat>
  <Paragraphs>123</Paragraphs>
  <Slides>12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Calibri</vt:lpstr>
      <vt:lpstr>Calibri Light</vt:lpstr>
      <vt:lpstr>Mangal</vt:lpstr>
      <vt:lpstr>Times New Roman</vt:lpstr>
      <vt:lpstr>Arial</vt:lpstr>
      <vt:lpstr>Office Theme</vt:lpstr>
      <vt:lpstr>My Algebra Interactive Notebook</vt:lpstr>
      <vt:lpstr>Hook: Protecting Sea Turtles</vt:lpstr>
      <vt:lpstr>PowerPoint Presentation</vt:lpstr>
      <vt:lpstr>PowerPoint Presentation</vt:lpstr>
      <vt:lpstr>PowerPoint Presentation</vt:lpstr>
      <vt:lpstr>PowerPoint Presentation</vt:lpstr>
      <vt:lpstr>Task –   Simplify the following</vt:lpstr>
      <vt:lpstr>Real World Problem Solving with equations</vt:lpstr>
      <vt:lpstr>Sibling Sum</vt:lpstr>
      <vt:lpstr>Try some of your own: p. 419-421 Exercise 7G and pick your own level.   </vt:lpstr>
      <vt:lpstr>Enrichment</vt:lpstr>
      <vt:lpstr>3x = 51 so, x= 17?  </vt:lpstr>
    </vt:vector>
  </TitlesOfParts>
  <Company/>
  <LinksUpToDate>false</LinksUpToDate>
  <SharedDoc>false</SharedDoc>
  <HyperlinksChanged>false</HyperlinksChanged>
  <AppVersion>15.0035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My Algebra Interactive Notebook</dc:title>
  <dc:creator>PATERSON Anne [Baldivis Secondary College]</dc:creator>
  <cp:lastModifiedBy>PATERSON Anne [Baldivis Secondary College]</cp:lastModifiedBy>
  <cp:revision>10</cp:revision>
  <cp:lastPrinted>2017-08-20T01:27:45Z</cp:lastPrinted>
  <dcterms:created xsi:type="dcterms:W3CDTF">2017-08-20T01:19:16Z</dcterms:created>
  <dcterms:modified xsi:type="dcterms:W3CDTF">2017-08-20T02:26:57Z</dcterms:modified>
</cp:coreProperties>
</file>
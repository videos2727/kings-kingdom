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2" r:id="rId2"/>
    <p:sldId id="263" r:id="rId3"/>
    <p:sldId id="331" r:id="rId4"/>
    <p:sldId id="335" r:id="rId5"/>
    <p:sldId id="333" r:id="rId6"/>
    <p:sldId id="257" r:id="rId7"/>
    <p:sldId id="316" r:id="rId8"/>
    <p:sldId id="327" r:id="rId9"/>
    <p:sldId id="328" r:id="rId10"/>
    <p:sldId id="336" r:id="rId11"/>
    <p:sldId id="317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8"/>
    <p:restoredTop sz="94674"/>
  </p:normalViewPr>
  <p:slideViewPr>
    <p:cSldViewPr snapToGrid="0" snapToObjects="1">
      <p:cViewPr>
        <p:scale>
          <a:sx n="77" d="100"/>
          <a:sy n="77" d="100"/>
        </p:scale>
        <p:origin x="2472" y="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0B74E-9298-9340-8A39-86B32EB17FAC}" type="datetimeFigureOut">
              <a:rPr lang="en-US" smtClean="0"/>
              <a:t>8/20/17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2EF8D-6866-E54A-B4E6-1FCB05DA6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2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x-none" altLang="x-none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276E227-83C2-C54A-829B-3591C844EB41}" type="slidenum">
              <a:rPr lang="en-US" altLang="x-none">
                <a:latin typeface="Calibri" charset="0"/>
              </a:rPr>
              <a:pPr/>
              <a:t>5</a:t>
            </a:fld>
            <a:endParaRPr lang="en-US" altLang="x-none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65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7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7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9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1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49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1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9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1D4B-607C-7847-B492-C8BA76FEFEC0}" type="datetimeFigureOut">
              <a:rPr lang="en-US" smtClean="0"/>
              <a:t>8/20/17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1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6182" y="548482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</a:t>
            </a:r>
            <a:r>
              <a:rPr lang="en-AU" sz="4800" dirty="0" smtClean="0">
                <a:latin typeface="+mn-lt"/>
              </a:rPr>
              <a:t>Algebra</a:t>
            </a:r>
            <a:r>
              <a:rPr lang="en-AU" sz="4800" dirty="0">
                <a:latin typeface="+mn-lt"/>
              </a:rPr>
              <a:t/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3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Image result for grap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624" y="2018506"/>
            <a:ext cx="2746917" cy="206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20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5765911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66940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1885951" y="257176"/>
            <a:ext cx="31406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b="1" dirty="0">
                <a:solidFill>
                  <a:schemeClr val="bg1"/>
                </a:solidFill>
              </a:rPr>
              <a:t>Daily Homework Quiz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014538" y="2481263"/>
            <a:ext cx="2233612" cy="457200"/>
            <a:chOff x="309" y="1563"/>
            <a:chExt cx="1407" cy="288"/>
          </a:xfrm>
        </p:grpSpPr>
        <p:sp>
          <p:nvSpPr>
            <p:cNvPr id="27664" name="Rectangle 7"/>
            <p:cNvSpPr>
              <a:spLocks noChangeArrowheads="1"/>
            </p:cNvSpPr>
            <p:nvPr/>
          </p:nvSpPr>
          <p:spPr bwMode="auto">
            <a:xfrm>
              <a:off x="309" y="1563"/>
              <a:ext cx="970" cy="288"/>
            </a:xfrm>
            <a:prstGeom prst="rect">
              <a:avLst/>
            </a:prstGeom>
            <a:solidFill>
              <a:srgbClr val="FFC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b="1"/>
                <a:t>ANSWER</a:t>
              </a:r>
            </a:p>
          </p:txBody>
        </p:sp>
        <p:sp>
          <p:nvSpPr>
            <p:cNvPr id="27665" name="Text Box 8"/>
            <p:cNvSpPr txBox="1">
              <a:spLocks noChangeArrowheads="1"/>
            </p:cNvSpPr>
            <p:nvPr/>
          </p:nvSpPr>
          <p:spPr bwMode="auto">
            <a:xfrm>
              <a:off x="1428" y="156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x-none"/>
                <a:t>2</a:t>
              </a:r>
              <a:endParaRPr lang="en-GB" altLang="x-none"/>
            </a:p>
          </p:txBody>
        </p:sp>
      </p:grp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1981200" y="32004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x-none" b="1"/>
              <a:t>2.    </a:t>
            </a:r>
            <a:r>
              <a:rPr lang="en-US" altLang="x-none"/>
              <a:t>3</a:t>
            </a:r>
            <a:r>
              <a:rPr lang="en-US" altLang="x-none" i="1"/>
              <a:t>b</a:t>
            </a:r>
            <a:r>
              <a:rPr lang="en-US" altLang="x-none" b="1"/>
              <a:t> </a:t>
            </a:r>
            <a:r>
              <a:rPr lang="en-US" altLang="x-none"/>
              <a:t>+</a:t>
            </a:r>
            <a:r>
              <a:rPr lang="en-US" altLang="x-none" b="1"/>
              <a:t> </a:t>
            </a:r>
            <a:r>
              <a:rPr lang="en-US" altLang="x-none"/>
              <a:t>2(</a:t>
            </a:r>
            <a:r>
              <a:rPr lang="en-US" altLang="x-none" i="1"/>
              <a:t>b</a:t>
            </a:r>
            <a:r>
              <a:rPr lang="en-US" altLang="x-none" b="1"/>
              <a:t> </a:t>
            </a:r>
            <a:r>
              <a:rPr lang="en-US" altLang="x-none"/>
              <a:t>–</a:t>
            </a:r>
            <a:r>
              <a:rPr lang="en-US" altLang="x-none" b="1"/>
              <a:t> </a:t>
            </a:r>
            <a:r>
              <a:rPr lang="en-US" altLang="x-none"/>
              <a:t>4)</a:t>
            </a:r>
            <a:r>
              <a:rPr lang="en-US" altLang="x-none" b="1"/>
              <a:t> </a:t>
            </a:r>
            <a:r>
              <a:rPr lang="en-US" altLang="x-none"/>
              <a:t>=</a:t>
            </a:r>
            <a:r>
              <a:rPr lang="en-US" altLang="x-none" b="1"/>
              <a:t> </a:t>
            </a:r>
            <a:r>
              <a:rPr lang="en-US" altLang="x-none"/>
              <a:t>47</a:t>
            </a:r>
            <a:r>
              <a:rPr lang="en-US" altLang="x-none" b="1"/>
              <a:t> </a:t>
            </a:r>
            <a:endParaRPr lang="en-GB" altLang="x-none" b="1"/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012951" y="3933825"/>
            <a:ext cx="2316163" cy="457200"/>
            <a:chOff x="308" y="2478"/>
            <a:chExt cx="1459" cy="288"/>
          </a:xfrm>
        </p:grpSpPr>
        <p:sp>
          <p:nvSpPr>
            <p:cNvPr id="27662" name="Text Box 11"/>
            <p:cNvSpPr txBox="1">
              <a:spLocks noChangeArrowheads="1"/>
            </p:cNvSpPr>
            <p:nvPr/>
          </p:nvSpPr>
          <p:spPr bwMode="auto">
            <a:xfrm>
              <a:off x="1419" y="2478"/>
              <a:ext cx="3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x-none"/>
                <a:t>11</a:t>
              </a:r>
              <a:endParaRPr lang="en-GB" altLang="x-none"/>
            </a:p>
          </p:txBody>
        </p:sp>
        <p:sp>
          <p:nvSpPr>
            <p:cNvPr id="27663" name="Rectangle 12"/>
            <p:cNvSpPr>
              <a:spLocks noChangeArrowheads="1"/>
            </p:cNvSpPr>
            <p:nvPr/>
          </p:nvSpPr>
          <p:spPr bwMode="auto">
            <a:xfrm>
              <a:off x="308" y="2478"/>
              <a:ext cx="970" cy="288"/>
            </a:xfrm>
            <a:prstGeom prst="rect">
              <a:avLst/>
            </a:prstGeom>
            <a:solidFill>
              <a:srgbClr val="FFC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b="1"/>
                <a:t>ANSWER</a:t>
              </a:r>
            </a:p>
          </p:txBody>
        </p:sp>
      </p:grp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1995488" y="4676775"/>
            <a:ext cx="3871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x-none" b="1"/>
              <a:t>3.    </a:t>
            </a:r>
            <a:r>
              <a:rPr lang="en-US" altLang="x-none"/>
              <a:t>–6 + 4(2</a:t>
            </a:r>
            <a:r>
              <a:rPr lang="en-US" altLang="x-none" i="1"/>
              <a:t>c</a:t>
            </a:r>
            <a:r>
              <a:rPr lang="en-US" altLang="x-none"/>
              <a:t> + 1) = –34</a:t>
            </a:r>
            <a:endParaRPr lang="en-GB" altLang="x-none"/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012950" y="5410200"/>
            <a:ext cx="2559050" cy="457200"/>
            <a:chOff x="308" y="3408"/>
            <a:chExt cx="1612" cy="288"/>
          </a:xfrm>
        </p:grpSpPr>
        <p:sp>
          <p:nvSpPr>
            <p:cNvPr id="27660" name="Text Box 15"/>
            <p:cNvSpPr txBox="1">
              <a:spLocks noChangeArrowheads="1"/>
            </p:cNvSpPr>
            <p:nvPr/>
          </p:nvSpPr>
          <p:spPr bwMode="auto">
            <a:xfrm>
              <a:off x="1419" y="3408"/>
              <a:ext cx="5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x-none"/>
                <a:t>–4</a:t>
              </a:r>
              <a:endParaRPr lang="en-GB" altLang="x-none"/>
            </a:p>
          </p:txBody>
        </p:sp>
        <p:sp>
          <p:nvSpPr>
            <p:cNvPr id="27661" name="Rectangle 16"/>
            <p:cNvSpPr>
              <a:spLocks noChangeArrowheads="1"/>
            </p:cNvSpPr>
            <p:nvPr/>
          </p:nvSpPr>
          <p:spPr bwMode="auto">
            <a:xfrm>
              <a:off x="308" y="3408"/>
              <a:ext cx="970" cy="288"/>
            </a:xfrm>
            <a:prstGeom prst="rect">
              <a:avLst/>
            </a:prstGeom>
            <a:solidFill>
              <a:srgbClr val="FFC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b="1"/>
                <a:t>ANSWER</a:t>
              </a:r>
            </a:p>
          </p:txBody>
        </p:sp>
      </p:grp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1981200" y="176688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x-none" b="1"/>
              <a:t>1.    </a:t>
            </a:r>
            <a:r>
              <a:rPr lang="en-US" altLang="x-none"/>
              <a:t>8</a:t>
            </a:r>
            <a:r>
              <a:rPr lang="en-US" altLang="x-none" i="1"/>
              <a:t>g</a:t>
            </a:r>
            <a:r>
              <a:rPr lang="en-US" altLang="x-none" b="1"/>
              <a:t> </a:t>
            </a:r>
            <a:r>
              <a:rPr lang="en-US" altLang="x-none"/>
              <a:t>–</a:t>
            </a:r>
            <a:r>
              <a:rPr lang="en-US" altLang="x-none" b="1"/>
              <a:t> </a:t>
            </a:r>
            <a:r>
              <a:rPr lang="en-US" altLang="x-none"/>
              <a:t>2</a:t>
            </a:r>
            <a:r>
              <a:rPr lang="en-US" altLang="x-none" b="1"/>
              <a:t> </a:t>
            </a:r>
            <a:r>
              <a:rPr lang="en-US" altLang="x-none"/>
              <a:t>+</a:t>
            </a:r>
            <a:r>
              <a:rPr lang="en-US" altLang="x-none" b="1"/>
              <a:t> </a:t>
            </a:r>
            <a:r>
              <a:rPr lang="en-US" altLang="x-none" i="1"/>
              <a:t>g</a:t>
            </a:r>
            <a:r>
              <a:rPr lang="en-US" altLang="x-none" b="1"/>
              <a:t> </a:t>
            </a:r>
            <a:r>
              <a:rPr lang="en-US" altLang="x-none"/>
              <a:t>=</a:t>
            </a:r>
            <a:r>
              <a:rPr lang="en-US" altLang="x-none" b="1"/>
              <a:t> </a:t>
            </a:r>
            <a:r>
              <a:rPr lang="en-US" altLang="x-none"/>
              <a:t>16</a:t>
            </a:r>
            <a:endParaRPr lang="en-GB" altLang="x-none"/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6346825" y="1766888"/>
            <a:ext cx="3762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b="1" dirty="0" smtClean="0"/>
              <a:t>4.</a:t>
            </a:r>
            <a:r>
              <a:rPr lang="en-US" altLang="x-none" b="1" dirty="0"/>
              <a:t>	</a:t>
            </a:r>
            <a:r>
              <a:rPr lang="en-US" altLang="x-none" dirty="0"/>
              <a:t>2</a:t>
            </a:r>
            <a:r>
              <a:rPr lang="en-US" altLang="x-none" i="1" dirty="0"/>
              <a:t>m</a:t>
            </a:r>
            <a:r>
              <a:rPr lang="en-US" altLang="x-none" dirty="0"/>
              <a:t> – 6 + 4</a:t>
            </a:r>
            <a:r>
              <a:rPr lang="en-US" altLang="x-none" i="1" dirty="0"/>
              <a:t>m</a:t>
            </a:r>
            <a:r>
              <a:rPr lang="en-US" altLang="x-none" dirty="0"/>
              <a:t> = 12     </a:t>
            </a:r>
          </a:p>
        </p:txBody>
      </p:sp>
      <p:grpSp>
        <p:nvGrpSpPr>
          <p:cNvPr id="20" name="Group 4"/>
          <p:cNvGrpSpPr>
            <a:grpSpLocks/>
          </p:cNvGrpSpPr>
          <p:nvPr/>
        </p:nvGrpSpPr>
        <p:grpSpPr bwMode="auto">
          <a:xfrm>
            <a:off x="6346825" y="4815681"/>
            <a:ext cx="2093912" cy="465138"/>
            <a:chOff x="321" y="2976"/>
            <a:chExt cx="1319" cy="293"/>
          </a:xfrm>
        </p:grpSpPr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321" y="2981"/>
              <a:ext cx="970" cy="288"/>
            </a:xfrm>
            <a:prstGeom prst="rect">
              <a:avLst/>
            </a:prstGeom>
            <a:solidFill>
              <a:srgbClr val="FFC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b="1" dirty="0"/>
                <a:t>ANSWER</a:t>
              </a:r>
            </a:p>
          </p:txBody>
        </p:sp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1428" y="297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/>
                <a:t>6</a:t>
              </a:r>
            </a:p>
          </p:txBody>
        </p:sp>
      </p:grp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6346825" y="3933825"/>
            <a:ext cx="3762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b="1" dirty="0" smtClean="0"/>
              <a:t>5.</a:t>
            </a:r>
            <a:r>
              <a:rPr lang="en-US" altLang="x-none" b="1" dirty="0"/>
              <a:t>	</a:t>
            </a:r>
            <a:r>
              <a:rPr lang="en-US" altLang="x-none" dirty="0"/>
              <a:t>6</a:t>
            </a:r>
            <a:r>
              <a:rPr lang="en-US" altLang="x-none" i="1" dirty="0"/>
              <a:t>a</a:t>
            </a:r>
            <a:r>
              <a:rPr lang="en-US" altLang="x-none" dirty="0"/>
              <a:t> – 5(</a:t>
            </a:r>
            <a:r>
              <a:rPr lang="en-US" altLang="x-none" i="1" dirty="0"/>
              <a:t>a</a:t>
            </a:r>
            <a:r>
              <a:rPr lang="en-US" altLang="x-none" dirty="0"/>
              <a:t> – 1) = 11     </a:t>
            </a:r>
          </a:p>
        </p:txBody>
      </p:sp>
      <p:grpSp>
        <p:nvGrpSpPr>
          <p:cNvPr id="24" name="Group 9"/>
          <p:cNvGrpSpPr>
            <a:grpSpLocks/>
          </p:cNvGrpSpPr>
          <p:nvPr/>
        </p:nvGrpSpPr>
        <p:grpSpPr bwMode="auto">
          <a:xfrm>
            <a:off x="6451600" y="2735262"/>
            <a:ext cx="2152650" cy="465138"/>
            <a:chOff x="336" y="1632"/>
            <a:chExt cx="1356" cy="293"/>
          </a:xfrm>
        </p:grpSpPr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336" y="1637"/>
              <a:ext cx="970" cy="288"/>
            </a:xfrm>
            <a:prstGeom prst="rect">
              <a:avLst/>
            </a:prstGeom>
            <a:solidFill>
              <a:srgbClr val="FFC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b="1"/>
                <a:t>ANSWER</a:t>
              </a:r>
            </a:p>
          </p:txBody>
        </p:sp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1480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/>
                <a:t>3</a:t>
              </a:r>
              <a:endParaRPr lang="en-US" altLang="x-none" b="1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981200" y="605910"/>
            <a:ext cx="5633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From last class. Solve the following</a:t>
            </a:r>
            <a:r>
              <a:rPr lang="mr-IN" sz="2800" b="1" dirty="0" smtClean="0"/>
              <a:t>…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6711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3" grpId="0" autoUpdateAnimBg="0"/>
      <p:bldP spid="11277" grpId="0" autoUpdateAnimBg="0"/>
      <p:bldP spid="11281" grpId="0" autoUpdateAnimBg="0"/>
      <p:bldP spid="19" grpId="0" autoUpdateAnimBg="0"/>
      <p:bldP spid="2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63534" y="764771"/>
            <a:ext cx="10316029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For this next activity you’ll need:</a:t>
            </a:r>
          </a:p>
          <a:p>
            <a:endParaRPr lang="en-US" sz="6000" dirty="0"/>
          </a:p>
          <a:p>
            <a:pPr marL="285750" indent="-285750">
              <a:buFont typeface="Arial" charset="0"/>
              <a:buChar char="•"/>
            </a:pPr>
            <a:r>
              <a:rPr lang="en-US" sz="6000" dirty="0" smtClean="0"/>
              <a:t>A mini whiteboard</a:t>
            </a:r>
          </a:p>
          <a:p>
            <a:pPr marL="285750" indent="-285750">
              <a:buFont typeface="Arial" charset="0"/>
              <a:buChar char="•"/>
            </a:pPr>
            <a:r>
              <a:rPr lang="en-US" sz="6000" dirty="0" smtClean="0"/>
              <a:t>A whiteboard marker</a:t>
            </a:r>
          </a:p>
          <a:p>
            <a:pPr marL="285750" indent="-285750">
              <a:buFont typeface="Arial" charset="0"/>
              <a:buChar char="•"/>
            </a:pPr>
            <a:r>
              <a:rPr lang="en-US" sz="6000" dirty="0" smtClean="0"/>
              <a:t>Something to erase with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91357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60" y="1"/>
            <a:ext cx="11024651" cy="684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520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464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600148" y="1670575"/>
            <a:ext cx="0" cy="45060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0" y="1078503"/>
            <a:ext cx="11412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</a:t>
            </a:r>
            <a:r>
              <a:rPr lang="en-AU" sz="2400" dirty="0" smtClean="0"/>
              <a:t>How do we solve more advanced multi-step equations </a:t>
            </a:r>
            <a:r>
              <a:rPr lang="en-AU" sz="2400" dirty="0" err="1" smtClean="0"/>
              <a:t>cont</a:t>
            </a:r>
            <a:r>
              <a:rPr lang="mr-IN" sz="2400" dirty="0" smtClean="0"/>
              <a:t>…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6152517"/>
            <a:ext cx="1232854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3471" y="615251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  <p:sp>
        <p:nvSpPr>
          <p:cNvPr id="137" name="Content Placeholder 1"/>
          <p:cNvSpPr txBox="1">
            <a:spLocks/>
          </p:cNvSpPr>
          <p:nvPr/>
        </p:nvSpPr>
        <p:spPr>
          <a:xfrm>
            <a:off x="1446942" y="1855635"/>
            <a:ext cx="10693560" cy="38268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buFont typeface="Times New Roman" charset="0"/>
              <a:buAutoNum type="arabicPeriod"/>
            </a:pPr>
            <a:r>
              <a:rPr lang="en-US" altLang="x-none" dirty="0" smtClean="0"/>
              <a:t>Simplify each side of the equation by distributing and combining like terms, when necessary.</a:t>
            </a:r>
          </a:p>
          <a:p>
            <a:pPr marL="623888" indent="-514350">
              <a:buFont typeface="Times New Roman" charset="0"/>
              <a:buAutoNum type="arabicPeriod"/>
            </a:pPr>
            <a:endParaRPr lang="en-US" altLang="x-none" dirty="0" smtClean="0"/>
          </a:p>
          <a:p>
            <a:pPr marL="623888" indent="-514350">
              <a:buFont typeface="Times New Roman" charset="0"/>
              <a:buAutoNum type="arabicPeriod"/>
            </a:pPr>
            <a:r>
              <a:rPr lang="en-US" altLang="x-none" dirty="0" smtClean="0"/>
              <a:t>If variables are on both sides of the equation, balance the equation by moving one variable term to the opposite side of the equals sign using inverse operations.</a:t>
            </a:r>
          </a:p>
          <a:p>
            <a:pPr marL="623888" indent="-514350">
              <a:buFont typeface="Times New Roman" charset="0"/>
              <a:buAutoNum type="arabicPeriod"/>
            </a:pPr>
            <a:endParaRPr lang="en-US" altLang="x-none" dirty="0" smtClean="0"/>
          </a:p>
          <a:p>
            <a:pPr marL="623888" indent="-514350">
              <a:buFont typeface="Times New Roman" charset="0"/>
              <a:buAutoNum type="arabicPeriod"/>
            </a:pPr>
            <a:r>
              <a:rPr lang="en-US" altLang="x-none" dirty="0" smtClean="0"/>
              <a:t>Follow the process for solving one- and two-step equations to get the variable by itself.</a:t>
            </a:r>
            <a:endParaRPr lang="en-US" altLang="x-none" dirty="0"/>
          </a:p>
        </p:txBody>
      </p:sp>
      <p:sp>
        <p:nvSpPr>
          <p:cNvPr id="139" name="Title 2"/>
          <p:cNvSpPr txBox="1">
            <a:spLocks/>
          </p:cNvSpPr>
          <p:nvPr/>
        </p:nvSpPr>
        <p:spPr>
          <a:xfrm flipH="1">
            <a:off x="47559" y="1773469"/>
            <a:ext cx="1534874" cy="19672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400" dirty="0" smtClean="0">
                <a:latin typeface="+mn-lt"/>
              </a:rPr>
              <a:t>Solving Multi-Step Equations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464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91716" y="1646454"/>
            <a:ext cx="0" cy="5211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0" y="1078503"/>
            <a:ext cx="11412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</a:t>
            </a:r>
            <a:r>
              <a:rPr lang="en-AU" sz="2400" dirty="0" smtClean="0"/>
              <a:t>How do we solve more advanced multi-step equations </a:t>
            </a:r>
            <a:r>
              <a:rPr lang="en-AU" sz="2400" dirty="0" err="1" smtClean="0"/>
              <a:t>cont</a:t>
            </a:r>
            <a:r>
              <a:rPr lang="mr-IN" sz="2400" dirty="0" smtClean="0"/>
              <a:t>…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0" y="1878675"/>
            <a:ext cx="1203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Variables on both sides</a:t>
            </a:r>
            <a:endParaRPr lang="en-US"/>
          </a:p>
        </p:txBody>
      </p:sp>
      <p:sp>
        <p:nvSpPr>
          <p:cNvPr id="14" name="Content Placeholder 1"/>
          <p:cNvSpPr txBox="1">
            <a:spLocks/>
          </p:cNvSpPr>
          <p:nvPr/>
        </p:nvSpPr>
        <p:spPr>
          <a:xfrm>
            <a:off x="3392808" y="1930472"/>
            <a:ext cx="3882044" cy="34800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3" charset="2"/>
              <a:buNone/>
            </a:pPr>
            <a:endParaRPr lang="en-US" altLang="x-none" dirty="0" smtClean="0"/>
          </a:p>
          <a:p>
            <a:pPr>
              <a:buFont typeface="Wingdings 3" charset="2"/>
              <a:buNone/>
            </a:pPr>
            <a:r>
              <a:rPr lang="en-US" altLang="x-none" u="sng" dirty="0" smtClean="0"/>
              <a:t>+ 2</a:t>
            </a:r>
            <a:r>
              <a:rPr lang="en-US" altLang="x-none" i="1" u="sng" dirty="0" smtClean="0"/>
              <a:t>x</a:t>
            </a:r>
            <a:r>
              <a:rPr lang="en-US" altLang="x-none" u="sng" dirty="0" smtClean="0"/>
              <a:t>       + 2</a:t>
            </a:r>
            <a:r>
              <a:rPr lang="en-US" altLang="x-none" i="1" u="sng" dirty="0" smtClean="0"/>
              <a:t>x</a:t>
            </a:r>
            <a:r>
              <a:rPr lang="en-US" altLang="x-none" u="sng" dirty="0" smtClean="0"/>
              <a:t>         </a:t>
            </a:r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     9 = 6</a:t>
            </a:r>
            <a:r>
              <a:rPr lang="en-US" altLang="x-none" i="1" dirty="0" smtClean="0"/>
              <a:t>x</a:t>
            </a:r>
            <a:r>
              <a:rPr lang="en-US" altLang="x-none" dirty="0" smtClean="0"/>
              <a:t> – 15</a:t>
            </a:r>
            <a:endParaRPr lang="en-US" altLang="x-none" u="sng" dirty="0" smtClean="0"/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</a:t>
            </a:r>
            <a:r>
              <a:rPr lang="en-US" altLang="x-none" u="sng" dirty="0" smtClean="0"/>
              <a:t>+ 15         + 15</a:t>
            </a:r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   24 = 6</a:t>
            </a:r>
            <a:r>
              <a:rPr lang="en-US" altLang="x-none" i="1" dirty="0" smtClean="0"/>
              <a:t>x</a:t>
            </a:r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    6      6</a:t>
            </a:r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     4 = </a:t>
            </a:r>
            <a:r>
              <a:rPr lang="en-US" altLang="x-none" i="1" dirty="0" smtClean="0"/>
              <a:t>x</a:t>
            </a:r>
          </a:p>
          <a:p>
            <a:pPr>
              <a:buFont typeface="Wingdings 3" charset="2"/>
              <a:buNone/>
            </a:pPr>
            <a:endParaRPr lang="en-US" altLang="x-none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4663758" y="4424738"/>
            <a:ext cx="5334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051069" y="4424738"/>
            <a:ext cx="5334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8675793" y="5298522"/>
            <a:ext cx="312420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9pPr>
          </a:lstStyle>
          <a:p>
            <a:r>
              <a:rPr lang="en-US" altLang="x-none" sz="2500"/>
              <a:t>– 2(4) + 9 = 4(4) – 15</a:t>
            </a:r>
          </a:p>
          <a:p>
            <a:r>
              <a:rPr lang="en-US" altLang="x-none" sz="2800" dirty="0"/>
              <a:t>    – </a:t>
            </a:r>
            <a:r>
              <a:rPr lang="en-US" altLang="x-none" sz="2500" dirty="0"/>
              <a:t>8 + 9 = 16 – 15</a:t>
            </a:r>
          </a:p>
          <a:p>
            <a:r>
              <a:rPr lang="en-US" altLang="x-none" sz="2500" dirty="0"/>
              <a:t>              1 = 1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46701" y="1912069"/>
            <a:ext cx="420873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Example: </a:t>
            </a:r>
            <a:r>
              <a:rPr lang="en-US" altLang="x-none" sz="2800" dirty="0"/>
              <a:t>– 2</a:t>
            </a:r>
            <a:r>
              <a:rPr lang="en-US" altLang="x-none" sz="2800" i="1" dirty="0"/>
              <a:t>x</a:t>
            </a:r>
            <a:r>
              <a:rPr lang="en-US" altLang="x-none" sz="2800" dirty="0"/>
              <a:t> + 9 = 4</a:t>
            </a:r>
            <a:r>
              <a:rPr lang="en-US" altLang="x-none" sz="2800" i="1" dirty="0"/>
              <a:t>x</a:t>
            </a:r>
            <a:r>
              <a:rPr lang="en-US" altLang="x-none" sz="2800" dirty="0"/>
              <a:t> – 15</a:t>
            </a:r>
          </a:p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730336" y="2038292"/>
            <a:ext cx="320733" cy="763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456934" y="3004823"/>
            <a:ext cx="320733" cy="763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56528" y="1971008"/>
            <a:ext cx="3865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Move the variables to one side by subtracting 2x from both sides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7959556" y="3593741"/>
            <a:ext cx="3546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Now solve like a regular two-step equation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396" y="5298522"/>
            <a:ext cx="2161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Don’t forget to check</a:t>
            </a:r>
          </a:p>
          <a:p>
            <a:r>
              <a:rPr lang="en-US" dirty="0" smtClean="0"/>
              <a:t>your work: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85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21" grpId="0"/>
      <p:bldP spid="24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464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691469" y="1646454"/>
            <a:ext cx="0" cy="5211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0" y="1078503"/>
            <a:ext cx="11412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</a:t>
            </a:r>
            <a:r>
              <a:rPr lang="en-AU" sz="2400" dirty="0" smtClean="0"/>
              <a:t>How do we solve more advanced multi-step equations </a:t>
            </a:r>
            <a:r>
              <a:rPr lang="en-AU" sz="2400" dirty="0" err="1" smtClean="0"/>
              <a:t>cont</a:t>
            </a:r>
            <a:r>
              <a:rPr lang="mr-IN" sz="2400" dirty="0" smtClean="0"/>
              <a:t>…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4643929" y="2125660"/>
            <a:ext cx="214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/>
              <a:t>7 – 8</a:t>
            </a:r>
            <a:r>
              <a:rPr lang="en-US" altLang="x-none" i="1"/>
              <a:t>x </a:t>
            </a:r>
            <a:r>
              <a:rPr lang="en-US" altLang="x-none"/>
              <a:t>= 4</a:t>
            </a:r>
            <a:r>
              <a:rPr lang="en-US" altLang="x-none" i="1"/>
              <a:t>x </a:t>
            </a:r>
            <a:r>
              <a:rPr lang="en-US" altLang="x-none"/>
              <a:t>– 17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4624220" y="2730795"/>
            <a:ext cx="21691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dirty="0"/>
              <a:t>7 – 8</a:t>
            </a:r>
            <a:r>
              <a:rPr lang="en-US" altLang="x-none" i="1" dirty="0"/>
              <a:t>x </a:t>
            </a:r>
            <a:r>
              <a:rPr lang="en-US" altLang="x-none" dirty="0" smtClean="0"/>
              <a:t>= </a:t>
            </a:r>
            <a:r>
              <a:rPr lang="en-US" altLang="x-none" dirty="0"/>
              <a:t>4</a:t>
            </a:r>
            <a:r>
              <a:rPr lang="en-US" altLang="x-none" i="1" dirty="0"/>
              <a:t>x </a:t>
            </a:r>
            <a:r>
              <a:rPr lang="en-US" altLang="x-none" dirty="0"/>
              <a:t>– </a:t>
            </a:r>
            <a:r>
              <a:rPr lang="en-US" altLang="x-none" dirty="0" smtClean="0"/>
              <a:t>17</a:t>
            </a:r>
          </a:p>
          <a:p>
            <a:pPr eaLnBrk="1" hangingPunct="1"/>
            <a:r>
              <a:rPr lang="en-US" altLang="x-none" i="1" dirty="0"/>
              <a:t> </a:t>
            </a:r>
            <a:r>
              <a:rPr lang="en-US" altLang="x-none" i="1" dirty="0" smtClean="0"/>
              <a:t>  </a:t>
            </a:r>
            <a:r>
              <a:rPr lang="en-US" altLang="x-none" dirty="0" smtClean="0"/>
              <a:t>+ 8</a:t>
            </a:r>
            <a:r>
              <a:rPr lang="en-US" altLang="x-none" i="1" dirty="0" smtClean="0"/>
              <a:t>x </a:t>
            </a:r>
            <a:r>
              <a:rPr lang="en-US" altLang="x-none" u="sng" dirty="0" smtClean="0"/>
              <a:t>+ </a:t>
            </a:r>
            <a:r>
              <a:rPr lang="en-US" altLang="x-none" u="sng" dirty="0"/>
              <a:t>8</a:t>
            </a:r>
            <a:r>
              <a:rPr lang="en-US" altLang="x-none" i="1" u="sng" dirty="0"/>
              <a:t>x 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4324839" y="3625207"/>
            <a:ext cx="27077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dirty="0" smtClean="0"/>
              <a:t>     7     =   12</a:t>
            </a:r>
            <a:r>
              <a:rPr lang="en-US" altLang="x-none" i="1" dirty="0" smtClean="0"/>
              <a:t>x </a:t>
            </a:r>
            <a:r>
              <a:rPr lang="en-US" altLang="x-none" dirty="0"/>
              <a:t>– </a:t>
            </a:r>
            <a:r>
              <a:rPr lang="en-US" altLang="x-none" dirty="0" smtClean="0"/>
              <a:t>17</a:t>
            </a:r>
          </a:p>
          <a:p>
            <a:pPr eaLnBrk="1" hangingPunct="1"/>
            <a:r>
              <a:rPr lang="en-US" altLang="x-none" u="sng" dirty="0" smtClean="0"/>
              <a:t> +17 </a:t>
            </a:r>
            <a:r>
              <a:rPr lang="en-US" altLang="x-none" dirty="0" smtClean="0"/>
              <a:t>                +17 </a:t>
            </a:r>
            <a:endParaRPr lang="en-US" altLang="x-none" dirty="0"/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4488874" y="4560365"/>
            <a:ext cx="219915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u="sng" dirty="0" smtClean="0"/>
              <a:t>24</a:t>
            </a:r>
            <a:r>
              <a:rPr lang="en-US" altLang="x-none" dirty="0" smtClean="0"/>
              <a:t>     =   </a:t>
            </a:r>
            <a:r>
              <a:rPr lang="en-US" altLang="x-none" u="sng" dirty="0" smtClean="0"/>
              <a:t>12</a:t>
            </a:r>
            <a:r>
              <a:rPr lang="en-US" altLang="x-none" i="1" u="sng" dirty="0" smtClean="0"/>
              <a:t>x</a:t>
            </a:r>
          </a:p>
          <a:p>
            <a:pPr eaLnBrk="1" hangingPunct="1"/>
            <a:r>
              <a:rPr lang="en-US" altLang="x-none" dirty="0" smtClean="0"/>
              <a:t>12           12</a:t>
            </a:r>
            <a:endParaRPr lang="en-US" altLang="x-none" dirty="0"/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7999903" y="2171698"/>
            <a:ext cx="28185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000" b="1">
                <a:solidFill>
                  <a:srgbClr val="0073F3"/>
                </a:solidFill>
              </a:rPr>
              <a:t>Write original equation.</a:t>
            </a: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8012604" y="2685139"/>
            <a:ext cx="407335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000" b="1" dirty="0" smtClean="0">
                <a:solidFill>
                  <a:srgbClr val="0073F3"/>
                </a:solidFill>
              </a:rPr>
              <a:t>Get variable to </a:t>
            </a:r>
            <a:r>
              <a:rPr lang="en-US" altLang="x-none" sz="2000" b="1" smtClean="0">
                <a:solidFill>
                  <a:srgbClr val="0073F3"/>
                </a:solidFill>
              </a:rPr>
              <a:t>one side by adding </a:t>
            </a:r>
            <a:r>
              <a:rPr lang="en-US" altLang="x-none" sz="2000" b="1" dirty="0">
                <a:solidFill>
                  <a:srgbClr val="0073F3"/>
                </a:solidFill>
              </a:rPr>
              <a:t>8</a:t>
            </a:r>
            <a:r>
              <a:rPr lang="en-US" altLang="x-none" sz="2000" b="1" i="1" dirty="0">
                <a:solidFill>
                  <a:srgbClr val="0073F3"/>
                </a:solidFill>
              </a:rPr>
              <a:t>x </a:t>
            </a:r>
            <a:r>
              <a:rPr lang="en-US" altLang="x-none" sz="2000" b="1" dirty="0">
                <a:solidFill>
                  <a:srgbClr val="0073F3"/>
                </a:solidFill>
              </a:rPr>
              <a:t>to each side.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9726154" y="2983739"/>
            <a:ext cx="22252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000" b="1" dirty="0" smtClean="0">
                <a:solidFill>
                  <a:srgbClr val="0073F3"/>
                </a:solidFill>
              </a:rPr>
              <a:t>Simplify </a:t>
            </a:r>
            <a:r>
              <a:rPr lang="en-US" altLang="x-none" sz="2000" b="1" dirty="0">
                <a:solidFill>
                  <a:srgbClr val="0073F3"/>
                </a:solidFill>
              </a:rPr>
              <a:t>each side.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7962669" y="3539059"/>
            <a:ext cx="3809466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000" b="1" dirty="0" smtClean="0">
                <a:solidFill>
                  <a:srgbClr val="0073F3"/>
                </a:solidFill>
              </a:rPr>
              <a:t>Isolate the variable </a:t>
            </a:r>
            <a:r>
              <a:rPr lang="en-US" altLang="x-none" sz="2000" b="1" smtClean="0">
                <a:solidFill>
                  <a:srgbClr val="0073F3"/>
                </a:solidFill>
              </a:rPr>
              <a:t>by adding </a:t>
            </a:r>
            <a:r>
              <a:rPr lang="en-US" altLang="x-none" sz="2000" b="1" dirty="0">
                <a:solidFill>
                  <a:srgbClr val="0073F3"/>
                </a:solidFill>
              </a:rPr>
              <a:t>17 to each side.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7962669" y="4597369"/>
            <a:ext cx="26693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000" b="1" dirty="0">
                <a:solidFill>
                  <a:srgbClr val="0073F3"/>
                </a:solidFill>
              </a:rPr>
              <a:t>Divide each side by 12.</a:t>
            </a:r>
          </a:p>
        </p:txBody>
      </p:sp>
      <p:grpSp>
        <p:nvGrpSpPr>
          <p:cNvPr id="22" name="Group 15"/>
          <p:cNvGrpSpPr>
            <a:grpSpLocks/>
          </p:cNvGrpSpPr>
          <p:nvPr/>
        </p:nvGrpSpPr>
        <p:grpSpPr bwMode="auto">
          <a:xfrm>
            <a:off x="3122641" y="5599261"/>
            <a:ext cx="8115300" cy="1303338"/>
            <a:chOff x="312" y="3216"/>
            <a:chExt cx="5112" cy="821"/>
          </a:xfrm>
        </p:grpSpPr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12" y="3216"/>
              <a:ext cx="970" cy="288"/>
            </a:xfrm>
            <a:prstGeom prst="rect">
              <a:avLst/>
            </a:prstGeom>
            <a:solidFill>
              <a:srgbClr val="FFCB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b="1" dirty="0"/>
                <a:t>ANSWER</a:t>
              </a: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315" y="3514"/>
              <a:ext cx="5109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b="1"/>
                <a:t>The solution is 2. Check by substituting 2 for </a:t>
              </a:r>
              <a:r>
                <a:rPr lang="en-US" altLang="x-none" b="1" i="1"/>
                <a:t>x </a:t>
              </a:r>
              <a:r>
                <a:rPr lang="en-US" altLang="x-none" b="1"/>
                <a:t>in the original equation.</a:t>
              </a:r>
            </a:p>
          </p:txBody>
        </p:sp>
      </p:grp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1797541" y="1716086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b="1">
                <a:solidFill>
                  <a:srgbClr val="000000"/>
                </a:solidFill>
              </a:rPr>
              <a:t>Solve 7 </a:t>
            </a:r>
            <a:r>
              <a:rPr lang="en-US" altLang="x-none" b="1"/>
              <a:t>–</a:t>
            </a:r>
            <a:r>
              <a:rPr lang="en-US" altLang="x-none" b="1">
                <a:solidFill>
                  <a:srgbClr val="000000"/>
                </a:solidFill>
              </a:rPr>
              <a:t> 8</a:t>
            </a:r>
            <a:r>
              <a:rPr lang="en-US" altLang="x-none" b="1" i="1">
                <a:solidFill>
                  <a:srgbClr val="000000"/>
                </a:solidFill>
              </a:rPr>
              <a:t>x</a:t>
            </a:r>
            <a:r>
              <a:rPr lang="en-US" altLang="x-none" b="1">
                <a:solidFill>
                  <a:srgbClr val="000000"/>
                </a:solidFill>
              </a:rPr>
              <a:t> </a:t>
            </a:r>
            <a:r>
              <a:rPr lang="en-US" altLang="x-none" b="1"/>
              <a:t>=</a:t>
            </a:r>
            <a:r>
              <a:rPr lang="en-US" altLang="x-none" b="1">
                <a:solidFill>
                  <a:srgbClr val="000000"/>
                </a:solidFill>
              </a:rPr>
              <a:t> 4</a:t>
            </a:r>
            <a:r>
              <a:rPr lang="en-US" altLang="x-none" b="1" i="1">
                <a:solidFill>
                  <a:srgbClr val="000000"/>
                </a:solidFill>
              </a:rPr>
              <a:t>x</a:t>
            </a:r>
            <a:r>
              <a:rPr lang="en-US" altLang="x-none" b="1">
                <a:solidFill>
                  <a:srgbClr val="000000"/>
                </a:solidFill>
              </a:rPr>
              <a:t> </a:t>
            </a:r>
            <a:r>
              <a:rPr lang="en-US" altLang="x-none" b="1"/>
              <a:t>–</a:t>
            </a:r>
            <a:r>
              <a:rPr lang="en-US" altLang="x-none" b="1">
                <a:solidFill>
                  <a:srgbClr val="000000"/>
                </a:solidFill>
              </a:rPr>
              <a:t> 17.</a:t>
            </a:r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5028248" y="5384682"/>
            <a:ext cx="795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/>
              <a:t>2 = </a:t>
            </a:r>
            <a:r>
              <a:rPr lang="en-US" altLang="x-none" i="1"/>
              <a:t>x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6445414" y="3779572"/>
            <a:ext cx="242614" cy="54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183303" y="2856048"/>
            <a:ext cx="242614" cy="54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678702" y="4692839"/>
            <a:ext cx="242614" cy="54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18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464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646454"/>
            <a:ext cx="0" cy="5211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0" y="1078503"/>
            <a:ext cx="11412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</a:t>
            </a:r>
            <a:r>
              <a:rPr lang="en-AU" sz="2400" dirty="0" smtClean="0"/>
              <a:t>How do we solve more advanced multi-step equations </a:t>
            </a:r>
            <a:r>
              <a:rPr lang="en-AU" sz="2400" dirty="0" err="1" smtClean="0"/>
              <a:t>cont</a:t>
            </a:r>
            <a:r>
              <a:rPr lang="mr-IN" sz="2400" dirty="0" smtClean="0"/>
              <a:t>…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205544" y="6247524"/>
            <a:ext cx="8229600" cy="45259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56032">
              <a:buFont typeface="Wingdings 3"/>
              <a:buNone/>
              <a:defRPr/>
            </a:pPr>
            <a:endParaRPr lang="en-US" dirty="0" smtClean="0"/>
          </a:p>
          <a:p>
            <a:pPr marL="365760" indent="-256032">
              <a:buFont typeface="Wingdings 3"/>
              <a:buNone/>
              <a:defRPr/>
            </a:pPr>
            <a:r>
              <a:rPr lang="en-US" dirty="0" smtClean="0"/>
              <a:t>					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949549" y="1856617"/>
            <a:ext cx="3850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dirty="0"/>
              <a:t>Solve the equation for </a:t>
            </a:r>
            <a:r>
              <a:rPr lang="en-US" sz="2800" i="1" dirty="0"/>
              <a:t>x.</a:t>
            </a:r>
          </a:p>
        </p:txBody>
      </p:sp>
      <p:sp>
        <p:nvSpPr>
          <p:cNvPr id="3" name="Rectangle 2"/>
          <p:cNvSpPr/>
          <p:nvPr/>
        </p:nvSpPr>
        <p:spPr>
          <a:xfrm>
            <a:off x="2109886" y="2375701"/>
            <a:ext cx="32467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dirty="0"/>
              <a:t>5(</a:t>
            </a:r>
            <a:r>
              <a:rPr lang="en-US" sz="2800" i="1" dirty="0"/>
              <a:t>x</a:t>
            </a:r>
            <a:r>
              <a:rPr lang="en-US" sz="2800" dirty="0"/>
              <a:t> + 8) = – 2(</a:t>
            </a:r>
            <a:r>
              <a:rPr lang="en-US" sz="2800" i="1" dirty="0"/>
              <a:t>x</a:t>
            </a:r>
            <a:r>
              <a:rPr lang="en-US" sz="2800" dirty="0"/>
              <a:t> – 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75781" y="2552720"/>
            <a:ext cx="4216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Step 1: Expand the brackets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2109886" y="2852436"/>
            <a:ext cx="299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dirty="0"/>
              <a:t>5</a:t>
            </a:r>
            <a:r>
              <a:rPr lang="en-US" sz="2800" i="1" dirty="0"/>
              <a:t>x</a:t>
            </a:r>
            <a:r>
              <a:rPr lang="en-US" sz="2800" dirty="0"/>
              <a:t> + 40 = – 2</a:t>
            </a:r>
            <a:r>
              <a:rPr lang="en-US" sz="2800" i="1" dirty="0"/>
              <a:t>x</a:t>
            </a:r>
            <a:r>
              <a:rPr lang="en-US" sz="2800" dirty="0"/>
              <a:t> + 26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5781" y="3124976"/>
            <a:ext cx="4098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/>
              <a:t>Step 2: Bring the variables to one side by adding 2x</a:t>
            </a:r>
            <a:endParaRPr lang="en-US" sz="2800"/>
          </a:p>
        </p:txBody>
      </p:sp>
      <p:sp>
        <p:nvSpPr>
          <p:cNvPr id="15" name="Rectangle 14"/>
          <p:cNvSpPr/>
          <p:nvPr/>
        </p:nvSpPr>
        <p:spPr>
          <a:xfrm>
            <a:off x="1856611" y="3210611"/>
            <a:ext cx="32066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u="sng" dirty="0"/>
              <a:t>+ 2</a:t>
            </a:r>
            <a:r>
              <a:rPr lang="en-US" sz="2800" i="1" u="sng" dirty="0"/>
              <a:t>x</a:t>
            </a:r>
            <a:r>
              <a:rPr lang="en-US" sz="2800" u="sng" dirty="0"/>
              <a:t>          </a:t>
            </a:r>
            <a:r>
              <a:rPr lang="en-US" sz="2800" u="sng" dirty="0" smtClean="0"/>
              <a:t>  +  2</a:t>
            </a:r>
            <a:r>
              <a:rPr lang="en-US" sz="2800" i="1" u="sng" dirty="0" smtClean="0"/>
              <a:t>x</a:t>
            </a:r>
            <a:r>
              <a:rPr lang="en-US" sz="2800" u="sng" dirty="0" smtClean="0"/>
              <a:t>        </a:t>
            </a:r>
            <a:endParaRPr lang="en-US" sz="280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994248" y="2959601"/>
            <a:ext cx="211296" cy="748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072489" y="3729696"/>
            <a:ext cx="273502" cy="754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594773" y="4671742"/>
            <a:ext cx="106632" cy="5190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034414" y="3595698"/>
            <a:ext cx="26231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dirty="0"/>
              <a:t>7</a:t>
            </a:r>
            <a:r>
              <a:rPr lang="en-US" sz="2800" i="1" dirty="0"/>
              <a:t>x</a:t>
            </a:r>
            <a:r>
              <a:rPr lang="en-US" sz="2800" dirty="0"/>
              <a:t> </a:t>
            </a:r>
            <a:r>
              <a:rPr lang="en-US" sz="2800" dirty="0" smtClean="0"/>
              <a:t> + </a:t>
            </a:r>
            <a:r>
              <a:rPr lang="en-US" sz="2800" dirty="0"/>
              <a:t>40 </a:t>
            </a:r>
            <a:r>
              <a:rPr lang="en-US" sz="2800" dirty="0" smtClean="0"/>
              <a:t>  =     26</a:t>
            </a:r>
            <a:endParaRPr lang="en-US" sz="2800" dirty="0"/>
          </a:p>
        </p:txBody>
      </p:sp>
      <p:sp>
        <p:nvSpPr>
          <p:cNvPr id="24" name="TextBox 23"/>
          <p:cNvSpPr txBox="1"/>
          <p:nvPr/>
        </p:nvSpPr>
        <p:spPr>
          <a:xfrm>
            <a:off x="7975781" y="4091746"/>
            <a:ext cx="4091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Step 3: Isolate the variable and solve like usual</a:t>
            </a:r>
            <a:endParaRPr lang="en-US" sz="2800" dirty="0"/>
          </a:p>
        </p:txBody>
      </p:sp>
      <p:sp>
        <p:nvSpPr>
          <p:cNvPr id="25" name="Rectangle 24"/>
          <p:cNvSpPr/>
          <p:nvPr/>
        </p:nvSpPr>
        <p:spPr>
          <a:xfrm>
            <a:off x="2560329" y="4040818"/>
            <a:ext cx="2121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u="sng" dirty="0"/>
              <a:t>– 40  </a:t>
            </a:r>
            <a:r>
              <a:rPr lang="en-US" sz="2800" u="sng" dirty="0" smtClean="0"/>
              <a:t>     – </a:t>
            </a:r>
            <a:r>
              <a:rPr lang="en-US" sz="2800" u="sng" dirty="0"/>
              <a:t>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65680" y="4522633"/>
            <a:ext cx="2339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dirty="0"/>
              <a:t>7</a:t>
            </a:r>
            <a:r>
              <a:rPr lang="en-US" sz="2800" i="1" dirty="0"/>
              <a:t>x</a:t>
            </a:r>
            <a:r>
              <a:rPr lang="en-US" sz="2800" dirty="0"/>
              <a:t> </a:t>
            </a:r>
            <a:r>
              <a:rPr lang="en-US" sz="2800" dirty="0" smtClean="0"/>
              <a:t>     =      </a:t>
            </a:r>
            <a:r>
              <a:rPr lang="en-US" sz="2800" dirty="0"/>
              <a:t>–14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1318" y="4950188"/>
            <a:ext cx="2132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dirty="0"/>
              <a:t>7       </a:t>
            </a:r>
            <a:r>
              <a:rPr lang="en-US" sz="2800" dirty="0" smtClean="0"/>
              <a:t>           7</a:t>
            </a:r>
            <a:endParaRPr lang="en-US" sz="2800" dirty="0"/>
          </a:p>
        </p:txBody>
      </p:sp>
      <p:cxnSp>
        <p:nvCxnSpPr>
          <p:cNvPr id="34" name="Straight Connector 33"/>
          <p:cNvCxnSpPr/>
          <p:nvPr/>
        </p:nvCxnSpPr>
        <p:spPr>
          <a:xfrm>
            <a:off x="2496874" y="4997923"/>
            <a:ext cx="3799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174017" y="4991942"/>
            <a:ext cx="3799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791701" y="5547722"/>
            <a:ext cx="12381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i="1" dirty="0"/>
              <a:t>x</a:t>
            </a:r>
            <a:r>
              <a:rPr lang="en-US" sz="2800" dirty="0"/>
              <a:t> = –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6882" y="5378442"/>
            <a:ext cx="77319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256032">
              <a:buFont typeface="Wingdings 3"/>
              <a:buNone/>
              <a:defRPr/>
            </a:pPr>
            <a:r>
              <a:rPr lang="en-US" sz="2800" dirty="0" smtClean="0"/>
              <a:t>		Check your work:	    5</a:t>
            </a:r>
            <a:r>
              <a:rPr lang="en-US" sz="2800" dirty="0"/>
              <a:t>(– 2 + 8) = – 2(– 2 – 13)</a:t>
            </a:r>
          </a:p>
          <a:p>
            <a:pPr marL="365760" indent="-256032">
              <a:buFont typeface="Wingdings 3"/>
              <a:buNone/>
              <a:defRPr/>
            </a:pPr>
            <a:r>
              <a:rPr lang="en-US" sz="2800" dirty="0"/>
              <a:t>                                                              5(6) = – 2(– 15)</a:t>
            </a:r>
          </a:p>
          <a:p>
            <a:pPr marL="365760" indent="-256032">
              <a:buFont typeface="Wingdings 3"/>
              <a:buNone/>
              <a:defRPr/>
            </a:pPr>
            <a:r>
              <a:rPr lang="en-US" sz="2800" dirty="0"/>
              <a:t>                                                                 30 = 30     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4712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/>
      <p:bldP spid="14" grpId="0"/>
      <p:bldP spid="15" grpId="0"/>
      <p:bldP spid="23" grpId="0"/>
      <p:bldP spid="24" grpId="0"/>
      <p:bldP spid="25" grpId="0"/>
      <p:bldP spid="30" grpId="0"/>
      <p:bldP spid="31" grpId="0"/>
      <p:bldP spid="38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53" y="3754871"/>
            <a:ext cx="7620000" cy="596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73" y="4559012"/>
            <a:ext cx="7404100" cy="685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03" y="5546784"/>
            <a:ext cx="7797800" cy="939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03" y="834332"/>
            <a:ext cx="7721600" cy="1460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03" y="2509463"/>
            <a:ext cx="7607300" cy="1041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42823" y="80021"/>
            <a:ext cx="21216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Your turn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6058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464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646454"/>
            <a:ext cx="0" cy="45060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multi-step equations differ from one and two-step equations?</a:t>
            </a:r>
            <a:endParaRPr lang="en-AU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6152517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3471" y="615251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843270"/>
            <a:ext cx="16977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/>
              <a:t>Solving Multi-Step</a:t>
            </a:r>
            <a:endParaRPr lang="en-US" sz="2800" b="1" dirty="0" smtClean="0"/>
          </a:p>
          <a:p>
            <a:r>
              <a:rPr lang="en-US" sz="2800" b="1" dirty="0" smtClean="0"/>
              <a:t>Equations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949689" y="3975454"/>
            <a:ext cx="4835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Don’t forget!!!</a:t>
            </a:r>
            <a:endParaRPr lang="en-US" sz="3600" dirty="0"/>
          </a:p>
        </p:txBody>
      </p:sp>
      <p:sp>
        <p:nvSpPr>
          <p:cNvPr id="14" name="Down Arrow 13"/>
          <p:cNvSpPr/>
          <p:nvPr/>
        </p:nvSpPr>
        <p:spPr>
          <a:xfrm>
            <a:off x="2906038" y="471244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5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71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583</Words>
  <Application>Microsoft Macintosh PowerPoint</Application>
  <PresentationFormat>Widescreen</PresentationFormat>
  <Paragraphs>143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 Light</vt:lpstr>
      <vt:lpstr>Mangal</vt:lpstr>
      <vt:lpstr>ＭＳ Ｐゴシック</vt:lpstr>
      <vt:lpstr>Arial</vt:lpstr>
      <vt:lpstr>Calibri</vt:lpstr>
      <vt:lpstr>Times New Roman</vt:lpstr>
      <vt:lpstr>Wingdings 3</vt:lpstr>
      <vt:lpstr>Office Theme</vt:lpstr>
      <vt:lpstr>My Algebra Interactive Notebook</vt:lpstr>
      <vt:lpstr>Interactive Notebooks!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SUMMERS Brad [Baldivis Secondary College]</dc:creator>
  <cp:lastModifiedBy>SUMMERS Brad [Baldivis Secondary College]</cp:lastModifiedBy>
  <cp:revision>52</cp:revision>
  <dcterms:created xsi:type="dcterms:W3CDTF">2017-07-23T05:14:02Z</dcterms:created>
  <dcterms:modified xsi:type="dcterms:W3CDTF">2017-08-20T11:25:11Z</dcterms:modified>
</cp:coreProperties>
</file>
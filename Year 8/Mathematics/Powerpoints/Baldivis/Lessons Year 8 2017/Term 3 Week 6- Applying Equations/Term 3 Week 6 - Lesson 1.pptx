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2" r:id="rId2"/>
    <p:sldId id="263" r:id="rId3"/>
    <p:sldId id="322" r:id="rId4"/>
    <p:sldId id="333" r:id="rId5"/>
    <p:sldId id="257" r:id="rId6"/>
    <p:sldId id="316" r:id="rId7"/>
    <p:sldId id="318" r:id="rId8"/>
    <p:sldId id="334" r:id="rId9"/>
    <p:sldId id="319" r:id="rId10"/>
    <p:sldId id="320" r:id="rId11"/>
    <p:sldId id="321" r:id="rId12"/>
    <p:sldId id="340" r:id="rId13"/>
    <p:sldId id="339" r:id="rId14"/>
    <p:sldId id="317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8"/>
    <p:restoredTop sz="94674"/>
  </p:normalViewPr>
  <p:slideViewPr>
    <p:cSldViewPr snapToGrid="0" snapToObjects="1">
      <p:cViewPr>
        <p:scale>
          <a:sx n="101" d="100"/>
          <a:sy n="101" d="100"/>
        </p:scale>
        <p:origin x="156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0B74E-9298-9340-8A39-86B32EB17FAC}" type="datetimeFigureOut">
              <a:rPr lang="en-US" smtClean="0"/>
              <a:t>8/20/17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2EF8D-6866-E54A-B4E6-1FCB05DA6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25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7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7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7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9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4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1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49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1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9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1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6182" y="548482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>
                <a:latin typeface="+mn-lt"/>
              </a:rPr>
              <a:t>My </a:t>
            </a:r>
            <a:r>
              <a:rPr lang="en-AU" sz="4800" dirty="0" smtClean="0">
                <a:latin typeface="+mn-lt"/>
              </a:rPr>
              <a:t>Algebra</a:t>
            </a:r>
            <a:r>
              <a:rPr lang="en-AU" sz="4800" dirty="0">
                <a:latin typeface="+mn-lt"/>
              </a:rPr>
              <a:t/>
            </a:r>
            <a:br>
              <a:rPr lang="en-AU" sz="4800" dirty="0">
                <a:latin typeface="+mn-lt"/>
              </a:rPr>
            </a:br>
            <a:r>
              <a:rPr lang="en-AU" sz="4800" dirty="0">
                <a:latin typeface="+mn-lt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7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3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Image result for graph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624" y="2018506"/>
            <a:ext cx="2746917" cy="206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20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5765911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66940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2"/>
          <p:cNvSpPr txBox="1">
            <a:spLocks noChangeArrowheads="1"/>
          </p:cNvSpPr>
          <p:nvPr/>
        </p:nvSpPr>
        <p:spPr bwMode="auto">
          <a:xfrm>
            <a:off x="2438400" y="762000"/>
            <a:ext cx="7620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400">
                <a:solidFill>
                  <a:srgbClr val="FF0000"/>
                </a:solidFill>
                <a:latin typeface="Impact" charset="0"/>
              </a:rPr>
              <a:t>What Operation Do You Do?</a:t>
            </a:r>
          </a:p>
        </p:txBody>
      </p:sp>
      <p:sp>
        <p:nvSpPr>
          <p:cNvPr id="103427" name="Text Box 3"/>
          <p:cNvSpPr txBox="1">
            <a:spLocks noChangeArrowheads="1"/>
          </p:cNvSpPr>
          <p:nvPr/>
        </p:nvSpPr>
        <p:spPr bwMode="auto">
          <a:xfrm>
            <a:off x="1765300" y="2284413"/>
            <a:ext cx="533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3600">
                <a:latin typeface="Times New Roman" charset="0"/>
              </a:rPr>
              <a:t>1)  3x + 8 = 24</a:t>
            </a:r>
          </a:p>
        </p:txBody>
      </p:sp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4889500" y="2286000"/>
            <a:ext cx="3429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3600">
                <a:latin typeface="Times New Roman" charset="0"/>
              </a:rPr>
              <a:t>Subtract 8</a:t>
            </a:r>
          </a:p>
        </p:txBody>
      </p:sp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1676400" y="3521076"/>
            <a:ext cx="3032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3600">
                <a:latin typeface="Times New Roman" charset="0"/>
              </a:rPr>
              <a:t>2)  5x - 10 = 19</a:t>
            </a:r>
          </a:p>
        </p:txBody>
      </p:sp>
      <p:sp>
        <p:nvSpPr>
          <p:cNvPr id="103430" name="Rectangle 6"/>
          <p:cNvSpPr>
            <a:spLocks noChangeArrowheads="1"/>
          </p:cNvSpPr>
          <p:nvPr/>
        </p:nvSpPr>
        <p:spPr bwMode="auto">
          <a:xfrm>
            <a:off x="7543800" y="2271713"/>
            <a:ext cx="2343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600">
                <a:latin typeface="Times New Roman" charset="0"/>
              </a:rPr>
              <a:t>Divide by 3</a:t>
            </a:r>
          </a:p>
        </p:txBody>
      </p:sp>
      <p:sp>
        <p:nvSpPr>
          <p:cNvPr id="103431" name="Text Box 7"/>
          <p:cNvSpPr txBox="1">
            <a:spLocks noChangeArrowheads="1"/>
          </p:cNvSpPr>
          <p:nvPr/>
        </p:nvSpPr>
        <p:spPr bwMode="auto">
          <a:xfrm>
            <a:off x="5257800" y="1524000"/>
            <a:ext cx="5410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3600" u="sng">
                <a:solidFill>
                  <a:schemeClr val="accent2"/>
                </a:solidFill>
                <a:latin typeface="Impact" charset="0"/>
              </a:rPr>
              <a:t>FIRST</a:t>
            </a:r>
            <a:r>
              <a:rPr lang="en-US" altLang="x-none" sz="3600">
                <a:solidFill>
                  <a:schemeClr val="accent2"/>
                </a:solidFill>
                <a:latin typeface="Impact" charset="0"/>
              </a:rPr>
              <a:t>                      </a:t>
            </a:r>
            <a:r>
              <a:rPr lang="en-US" altLang="x-none" sz="3600" u="sng">
                <a:solidFill>
                  <a:schemeClr val="accent2"/>
                </a:solidFill>
                <a:latin typeface="Impact" charset="0"/>
              </a:rPr>
              <a:t>SECOND</a:t>
            </a:r>
          </a:p>
        </p:txBody>
      </p:sp>
      <p:sp>
        <p:nvSpPr>
          <p:cNvPr id="103432" name="Rectangle 8"/>
          <p:cNvSpPr>
            <a:spLocks noChangeArrowheads="1"/>
          </p:cNvSpPr>
          <p:nvPr/>
        </p:nvSpPr>
        <p:spPr bwMode="auto">
          <a:xfrm>
            <a:off x="5060950" y="3455988"/>
            <a:ext cx="1543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3600">
                <a:latin typeface="Times New Roman" charset="0"/>
              </a:rPr>
              <a:t>Add 10</a:t>
            </a:r>
          </a:p>
        </p:txBody>
      </p:sp>
      <p:sp>
        <p:nvSpPr>
          <p:cNvPr id="103433" name="Rectangle 9"/>
          <p:cNvSpPr>
            <a:spLocks noChangeArrowheads="1"/>
          </p:cNvSpPr>
          <p:nvPr/>
        </p:nvSpPr>
        <p:spPr bwMode="auto">
          <a:xfrm>
            <a:off x="7543800" y="3521076"/>
            <a:ext cx="2343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3600">
                <a:latin typeface="Times New Roman" charset="0"/>
              </a:rPr>
              <a:t>Divide by 5</a:t>
            </a:r>
          </a:p>
        </p:txBody>
      </p:sp>
      <p:sp>
        <p:nvSpPr>
          <p:cNvPr id="103440" name="WordArt 16"/>
          <p:cNvSpPr>
            <a:spLocks noChangeArrowheads="1" noChangeShapeType="1" noTextEdit="1"/>
          </p:cNvSpPr>
          <p:nvPr/>
        </p:nvSpPr>
        <p:spPr bwMode="auto">
          <a:xfrm>
            <a:off x="2286000" y="152400"/>
            <a:ext cx="7696200" cy="609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9600" kern="10" dirty="0" smtClean="0">
                <a:gradFill rotWithShape="1">
                  <a:gsLst>
                    <a:gs pos="0">
                      <a:srgbClr val="0066CC"/>
                    </a:gs>
                    <a:gs pos="100000">
                      <a:srgbClr val="000080"/>
                    </a:gs>
                  </a:gsLst>
                  <a:lin ang="5400000" scaled="1"/>
                </a:gradFill>
                <a:effectLst>
                  <a:outerShdw blurRad="63500" dist="38099" dir="2700000" algn="ctr" rotWithShape="0">
                    <a:srgbClr val="C0C0C0">
                      <a:alpha val="74998"/>
                    </a:srgbClr>
                  </a:outerShdw>
                </a:effectLst>
                <a:latin typeface="Impact" charset="0"/>
                <a:ea typeface="Impact" charset="0"/>
                <a:cs typeface="Impact" charset="0"/>
              </a:rPr>
              <a:t>From last class</a:t>
            </a:r>
            <a:r>
              <a:rPr lang="mr-IN" sz="9600" kern="10" dirty="0" smtClean="0">
                <a:gradFill rotWithShape="1">
                  <a:gsLst>
                    <a:gs pos="0">
                      <a:srgbClr val="0066CC"/>
                    </a:gs>
                    <a:gs pos="100000">
                      <a:srgbClr val="000080"/>
                    </a:gs>
                  </a:gsLst>
                  <a:lin ang="5400000" scaled="1"/>
                </a:gradFill>
                <a:effectLst>
                  <a:outerShdw blurRad="63500" dist="38099" dir="2700000" algn="ctr" rotWithShape="0">
                    <a:srgbClr val="C0C0C0">
                      <a:alpha val="74998"/>
                    </a:srgbClr>
                  </a:outerShdw>
                </a:effectLst>
                <a:latin typeface="Impact" charset="0"/>
                <a:ea typeface="Impact" charset="0"/>
                <a:cs typeface="Impact" charset="0"/>
              </a:rPr>
              <a:t>…</a:t>
            </a:r>
            <a:endParaRPr lang="en-US" sz="9600" kern="10" dirty="0">
              <a:gradFill rotWithShape="1">
                <a:gsLst>
                  <a:gs pos="0">
                    <a:srgbClr val="0066CC"/>
                  </a:gs>
                  <a:gs pos="100000">
                    <a:srgbClr val="000080"/>
                  </a:gs>
                </a:gsLst>
                <a:lin ang="5400000" scaled="1"/>
              </a:gradFill>
              <a:effectLst>
                <a:outerShdw blurRad="63500" dist="38099" dir="2700000" algn="ctr" rotWithShape="0">
                  <a:srgbClr val="C0C0C0">
                    <a:alpha val="74998"/>
                  </a:srgbClr>
                </a:outerShdw>
              </a:effectLst>
              <a:latin typeface="Impact" charset="0"/>
              <a:ea typeface="Impact" charset="0"/>
              <a:cs typeface="Impact" charset="0"/>
            </a:endParaRPr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1676400" y="5165726"/>
            <a:ext cx="10007599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400" dirty="0" smtClean="0">
                <a:solidFill>
                  <a:srgbClr val="FF0000"/>
                </a:solidFill>
                <a:latin typeface="Impact" charset="0"/>
              </a:rPr>
              <a:t>Alright, so you know what to do. Now solve them on the LHS of your INB!!!</a:t>
            </a:r>
            <a:endParaRPr lang="en-US" altLang="x-none" sz="4400" dirty="0">
              <a:solidFill>
                <a:srgbClr val="FF0000"/>
              </a:solidFill>
              <a:latin typeface="Impac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30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 tmFilter="0,0; .5, 1; 1, 1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1" dur="8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2" dur="8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8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autoUpdateAnimBg="0"/>
      <p:bldP spid="103428" grpId="0" autoUpdateAnimBg="0"/>
      <p:bldP spid="103429" grpId="0" autoUpdateAnimBg="0"/>
      <p:bldP spid="103430" grpId="0" autoUpdateAnimBg="0"/>
      <p:bldP spid="103431" grpId="0"/>
      <p:bldP spid="103432" grpId="0" autoUpdateAnimBg="0"/>
      <p:bldP spid="10343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Balancing Equations Video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=DO-hzLh79uw</a:t>
            </a:r>
          </a:p>
        </p:txBody>
      </p:sp>
    </p:spTree>
    <p:extLst>
      <p:ext uri="{BB962C8B-B14F-4D97-AF65-F5344CB8AC3E}">
        <p14:creationId xmlns:p14="http://schemas.microsoft.com/office/powerpoint/2010/main" val="20139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4645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1222" y="1646454"/>
            <a:ext cx="0" cy="45060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</a:t>
            </a:r>
            <a:r>
              <a:rPr lang="en-AU" sz="2400" dirty="0" smtClean="0"/>
              <a:t>we solve more advanced multi-step equations?</a:t>
            </a:r>
            <a:endParaRPr lang="en-AU" sz="24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0" y="6152517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3471" y="6152517"/>
            <a:ext cx="1524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 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843270"/>
            <a:ext cx="16977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What happens when there are fractions?</a:t>
            </a:r>
            <a:endParaRPr lang="en-US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964581" y="1929583"/>
            <a:ext cx="3635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Consider the following: 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104508" y="1823624"/>
                <a:ext cx="1774204" cy="7351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280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CA" sz="2800" b="0" i="1" smtClean="0">
                              <a:latin typeface="Cambria Math" charset="0"/>
                            </a:rPr>
                            <m:t>𝑥</m:t>
                          </m:r>
                        </m:num>
                        <m:den>
                          <m:r>
                            <a:rPr lang="en-CA" sz="2800" b="0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CA" sz="2800" b="0" i="1" smtClean="0">
                          <a:latin typeface="Cambria Math" charset="0"/>
                        </a:rPr>
                        <m:t>+6=14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508" y="1823624"/>
                <a:ext cx="1774204" cy="73513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964581" y="2798471"/>
                <a:ext cx="9629971" cy="2818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/>
                  <a:t>There are three important points:</a:t>
                </a:r>
              </a:p>
              <a:p>
                <a:endParaRPr lang="en-US" sz="2800" dirty="0" smtClean="0"/>
              </a:p>
              <a:p>
                <a:pPr marL="514350" indent="-514350">
                  <a:buAutoNum type="arabicPeriod"/>
                </a:pPr>
                <a:r>
                  <a:rPr lang="en-US" sz="2800" dirty="0" smtClean="0"/>
                  <a:t>The goal remains the same: isolate the variable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mr-IN" sz="2800">
                            <a:latin typeface="Cambria Math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CA" sz="2800" i="0">
                            <a:latin typeface="Cambria Math" charset="0"/>
                          </a:rPr>
                          <m:t>x</m:t>
                        </m:r>
                      </m:num>
                      <m:den>
                        <m:r>
                          <a:rPr lang="en-CA" sz="2800" i="0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 smtClean="0"/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2800" b="0" i="0" smtClean="0">
                        <a:latin typeface="Cambria Math" charset="0"/>
                      </a:rPr>
                      <m:t>x</m:t>
                    </m:r>
                    <m:r>
                      <a:rPr lang="en-CA" sz="2800" b="0" i="0" smtClean="0">
                        <a:latin typeface="Cambria Math" charset="0"/>
                      </a:rPr>
                      <m:t> ÷2</m:t>
                    </m:r>
                  </m:oMath>
                </a14:m>
                <a:r>
                  <a:rPr lang="en-US" sz="2800" dirty="0" smtClean="0"/>
                  <a:t>. What is the inverse of </a:t>
                </a:r>
                <a14:m>
                  <m:oMath xmlns:m="http://schemas.openxmlformats.org/officeDocument/2006/math">
                    <m:r>
                      <a:rPr lang="en-US" sz="280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÷</m:t>
                    </m:r>
                    <m:r>
                      <a:rPr lang="en-CA" sz="28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?</m:t>
                    </m:r>
                  </m:oMath>
                </a14:m>
                <a:endParaRPr lang="en-US" sz="2800" dirty="0" smtClean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 smtClean="0"/>
                  <a:t>To solve an equation with a fraction on one side, we simply multiply </a:t>
                </a:r>
                <a:r>
                  <a:rPr lang="en-US" sz="2800" b="1" dirty="0" smtClean="0"/>
                  <a:t>both</a:t>
                </a:r>
                <a:r>
                  <a:rPr lang="en-US" sz="2800" dirty="0" smtClean="0"/>
                  <a:t> sides by the denominator</a:t>
                </a:r>
                <a:endParaRPr lang="en-US" sz="28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581" y="2798471"/>
                <a:ext cx="9629971" cy="2818272"/>
              </a:xfrm>
              <a:prstGeom prst="rect">
                <a:avLst/>
              </a:prstGeom>
              <a:blipFill rotWithShape="0">
                <a:blip r:embed="rId3"/>
                <a:stretch>
                  <a:fillRect l="-1329" t="-1948" b="-5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302890" y="5594842"/>
            <a:ext cx="6343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Let’s see how that looks when we solve it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31550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50861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63125" y="1450861"/>
            <a:ext cx="0" cy="54071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1" y="1843270"/>
            <a:ext cx="16977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What happens when there are fractions?</a:t>
            </a:r>
            <a:endParaRPr lang="en-US" sz="2800" b="1" dirty="0"/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2619186" y="1544234"/>
            <a:ext cx="32766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x-none" smtClean="0">
                <a:solidFill>
                  <a:schemeClr val="tx2"/>
                </a:solidFill>
              </a:rPr>
              <a:t>            + 6 = 14                         	</a:t>
            </a:r>
            <a:endParaRPr lang="en-US" altLang="x-none" dirty="0">
              <a:solidFill>
                <a:schemeClr val="tx2"/>
              </a:solidFill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6169230" y="1468036"/>
            <a:ext cx="4267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Get the variable alone.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2198587" y="3615726"/>
            <a:ext cx="38779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 dirty="0">
                <a:solidFill>
                  <a:srgbClr val="CC0000"/>
                </a:solidFill>
              </a:rPr>
              <a:t>     </a:t>
            </a:r>
            <a:r>
              <a:rPr lang="en-US" altLang="x-none" sz="2800" dirty="0">
                <a:solidFill>
                  <a:schemeClr val="tx2"/>
                </a:solidFill>
              </a:rPr>
              <a:t>  (     )   =     </a:t>
            </a:r>
            <a:r>
              <a:rPr lang="en-US" altLang="x-none" sz="2800" dirty="0" smtClean="0">
                <a:solidFill>
                  <a:schemeClr val="tx2"/>
                </a:solidFill>
              </a:rPr>
              <a:t>       8</a:t>
            </a:r>
            <a:r>
              <a:rPr lang="en-US" altLang="x-none" sz="2800" dirty="0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6197411" y="3297232"/>
            <a:ext cx="533418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Multiply both sides </a:t>
            </a:r>
            <a:r>
              <a:rPr lang="en-US" altLang="x-none" sz="2800" dirty="0" smtClean="0"/>
              <a:t>by the denominator, 2</a:t>
            </a:r>
            <a:endParaRPr lang="en-US" altLang="x-none" sz="2800" dirty="0"/>
          </a:p>
        </p:txBody>
      </p:sp>
      <p:sp>
        <p:nvSpPr>
          <p:cNvPr id="18" name="Line 6"/>
          <p:cNvSpPr>
            <a:spLocks noChangeShapeType="1"/>
          </p:cNvSpPr>
          <p:nvPr/>
        </p:nvSpPr>
        <p:spPr bwMode="auto">
          <a:xfrm>
            <a:off x="2847786" y="4439834"/>
            <a:ext cx="3276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2800"/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3194082" y="4441390"/>
            <a:ext cx="29273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 dirty="0">
                <a:solidFill>
                  <a:schemeClr val="tx2"/>
                </a:solidFill>
              </a:rPr>
              <a:t>x</a:t>
            </a:r>
            <a:r>
              <a:rPr lang="en-US" altLang="x-none" sz="2800" dirty="0"/>
              <a:t> </a:t>
            </a:r>
            <a:r>
              <a:rPr lang="en-US" altLang="x-none" sz="2800" dirty="0">
                <a:solidFill>
                  <a:schemeClr val="tx2"/>
                </a:solidFill>
              </a:rPr>
              <a:t>        = </a:t>
            </a:r>
            <a:r>
              <a:rPr lang="en-US" altLang="x-none" sz="2800" dirty="0" smtClean="0">
                <a:solidFill>
                  <a:schemeClr val="tx2"/>
                </a:solidFill>
              </a:rPr>
              <a:t>     16 </a:t>
            </a:r>
            <a:r>
              <a:rPr lang="en-US" altLang="x-none" sz="2800" dirty="0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6197411" y="4299971"/>
            <a:ext cx="39410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/>
              <a:t>2 divided by 2 cancels out</a:t>
            </a:r>
          </a:p>
        </p:txBody>
      </p:sp>
      <p:sp>
        <p:nvSpPr>
          <p:cNvPr id="21" name="Line 9"/>
          <p:cNvSpPr>
            <a:spLocks noChangeShapeType="1"/>
          </p:cNvSpPr>
          <p:nvPr/>
        </p:nvSpPr>
        <p:spPr bwMode="auto">
          <a:xfrm>
            <a:off x="3152586" y="1925234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2800"/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3190686" y="1458509"/>
            <a:ext cx="4572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>
                <a:solidFill>
                  <a:schemeClr val="tx2"/>
                </a:solidFill>
              </a:rPr>
              <a:t>x    2</a:t>
            </a:r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>
            <a:off x="3381186" y="4058834"/>
            <a:ext cx="4572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2800"/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3381186" y="3525434"/>
            <a:ext cx="5334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>
                <a:solidFill>
                  <a:schemeClr val="tx2"/>
                </a:solidFill>
              </a:rPr>
              <a:t>x    2</a:t>
            </a:r>
          </a:p>
        </p:txBody>
      </p:sp>
      <p:sp>
        <p:nvSpPr>
          <p:cNvPr id="25" name="Line 13"/>
          <p:cNvSpPr>
            <a:spLocks noChangeShapeType="1"/>
          </p:cNvSpPr>
          <p:nvPr/>
        </p:nvSpPr>
        <p:spPr bwMode="auto">
          <a:xfrm>
            <a:off x="2674749" y="3778305"/>
            <a:ext cx="1143000" cy="457200"/>
          </a:xfrm>
          <a:prstGeom prst="line">
            <a:avLst/>
          </a:prstGeom>
          <a:noFill/>
          <a:ln w="28575">
            <a:solidFill>
              <a:srgbClr val="E65D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2800"/>
          </a:p>
        </p:txBody>
      </p:sp>
      <p:sp>
        <p:nvSpPr>
          <p:cNvPr id="26" name="Text Box 14"/>
          <p:cNvSpPr txBox="1">
            <a:spLocks noChangeArrowheads="1"/>
          </p:cNvSpPr>
          <p:nvPr/>
        </p:nvSpPr>
        <p:spPr bwMode="auto">
          <a:xfrm>
            <a:off x="3076386" y="2077635"/>
            <a:ext cx="4114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>
                <a:solidFill>
                  <a:srgbClr val="CC0000"/>
                </a:solidFill>
              </a:rPr>
              <a:t>        - 6    - 6</a:t>
            </a:r>
          </a:p>
        </p:txBody>
      </p:sp>
      <p:sp>
        <p:nvSpPr>
          <p:cNvPr id="27" name="Rectangle 15"/>
          <p:cNvSpPr>
            <a:spLocks noChangeArrowheads="1"/>
          </p:cNvSpPr>
          <p:nvPr/>
        </p:nvSpPr>
        <p:spPr bwMode="auto">
          <a:xfrm>
            <a:off x="6172216" y="1975238"/>
            <a:ext cx="41329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 dirty="0"/>
              <a:t>Subtract 6 from both sides.</a:t>
            </a:r>
          </a:p>
        </p:txBody>
      </p:sp>
      <p:sp>
        <p:nvSpPr>
          <p:cNvPr id="28" name="Line 16"/>
          <p:cNvSpPr>
            <a:spLocks noChangeShapeType="1"/>
          </p:cNvSpPr>
          <p:nvPr/>
        </p:nvSpPr>
        <p:spPr bwMode="auto">
          <a:xfrm>
            <a:off x="2876172" y="2839634"/>
            <a:ext cx="3200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3304986" y="2687234"/>
            <a:ext cx="4572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>
                <a:solidFill>
                  <a:schemeClr val="tx2"/>
                </a:solidFill>
              </a:rPr>
              <a:t>x    2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4447986" y="2864394"/>
            <a:ext cx="62869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>
                <a:solidFill>
                  <a:schemeClr val="tx2"/>
                </a:solidFill>
              </a:rPr>
              <a:t>= 8</a:t>
            </a:r>
          </a:p>
        </p:txBody>
      </p:sp>
      <p:sp>
        <p:nvSpPr>
          <p:cNvPr id="31" name="Line 19"/>
          <p:cNvSpPr>
            <a:spLocks noChangeShapeType="1"/>
          </p:cNvSpPr>
          <p:nvPr/>
        </p:nvSpPr>
        <p:spPr bwMode="auto">
          <a:xfrm>
            <a:off x="3304986" y="3144434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 flipH="1">
            <a:off x="3876486" y="1483470"/>
            <a:ext cx="228600" cy="1219200"/>
          </a:xfrm>
          <a:prstGeom prst="line">
            <a:avLst/>
          </a:prstGeom>
          <a:noFill/>
          <a:ln w="28575">
            <a:solidFill>
              <a:srgbClr val="E65D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4" name="Text Box 22"/>
          <p:cNvSpPr txBox="1">
            <a:spLocks noChangeArrowheads="1"/>
          </p:cNvSpPr>
          <p:nvPr/>
        </p:nvSpPr>
        <p:spPr bwMode="auto">
          <a:xfrm>
            <a:off x="6118446" y="2455587"/>
            <a:ext cx="4267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+ 6 and </a:t>
            </a:r>
            <a:r>
              <a:rPr lang="en-US" altLang="x-none" sz="2800">
                <a:solidFill>
                  <a:srgbClr val="CC0000"/>
                </a:solidFill>
              </a:rPr>
              <a:t>-6</a:t>
            </a:r>
            <a:r>
              <a:rPr lang="en-US" altLang="x-none" sz="2800"/>
              <a:t> cancel out.</a:t>
            </a:r>
          </a:p>
        </p:txBody>
      </p:sp>
      <p:sp>
        <p:nvSpPr>
          <p:cNvPr id="35" name="Oval 23"/>
          <p:cNvSpPr>
            <a:spLocks noChangeArrowheads="1"/>
          </p:cNvSpPr>
          <p:nvPr/>
        </p:nvSpPr>
        <p:spPr bwMode="auto">
          <a:xfrm>
            <a:off x="2619186" y="4503209"/>
            <a:ext cx="3124200" cy="609600"/>
          </a:xfrm>
          <a:prstGeom prst="ellipse">
            <a:avLst/>
          </a:prstGeom>
          <a:noFill/>
          <a:ln w="38100" cap="rnd">
            <a:solidFill>
              <a:srgbClr val="E65D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x-none" altLang="x-none" sz="2800">
              <a:solidFill>
                <a:srgbClr val="CC0000"/>
              </a:solidFill>
            </a:endParaRPr>
          </a:p>
        </p:txBody>
      </p:sp>
      <p:sp>
        <p:nvSpPr>
          <p:cNvPr id="36" name="Rectangle 25"/>
          <p:cNvSpPr>
            <a:spLocks noChangeArrowheads="1"/>
          </p:cNvSpPr>
          <p:nvPr/>
        </p:nvSpPr>
        <p:spPr bwMode="auto">
          <a:xfrm>
            <a:off x="2923986" y="5201834"/>
            <a:ext cx="3276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x-none" sz="2800" dirty="0">
                <a:solidFill>
                  <a:schemeClr val="tx2"/>
                </a:solidFill>
                <a:latin typeface="+mn-lt"/>
              </a:rPr>
              <a:t>       + 6 = 14                         	</a:t>
            </a:r>
          </a:p>
        </p:txBody>
      </p:sp>
      <p:sp>
        <p:nvSpPr>
          <p:cNvPr id="37" name="Line 26"/>
          <p:cNvSpPr>
            <a:spLocks noChangeShapeType="1"/>
          </p:cNvSpPr>
          <p:nvPr/>
        </p:nvSpPr>
        <p:spPr bwMode="auto">
          <a:xfrm>
            <a:off x="3152586" y="5506634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2800"/>
          </a:p>
        </p:txBody>
      </p:sp>
      <p:sp>
        <p:nvSpPr>
          <p:cNvPr id="38" name="Rectangle 27"/>
          <p:cNvSpPr>
            <a:spLocks noChangeArrowheads="1"/>
          </p:cNvSpPr>
          <p:nvPr/>
        </p:nvSpPr>
        <p:spPr bwMode="auto">
          <a:xfrm>
            <a:off x="3093439" y="5049434"/>
            <a:ext cx="685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>
                <a:solidFill>
                  <a:srgbClr val="CC0000"/>
                </a:solidFill>
              </a:rPr>
              <a:t>16</a:t>
            </a:r>
            <a:r>
              <a:rPr lang="en-US" altLang="x-none" sz="2800">
                <a:solidFill>
                  <a:schemeClr val="tx2"/>
                </a:solidFill>
              </a:rPr>
              <a:t>         </a:t>
            </a:r>
          </a:p>
          <a:p>
            <a:r>
              <a:rPr lang="en-US" altLang="x-none" sz="2800" dirty="0">
                <a:solidFill>
                  <a:schemeClr val="tx2"/>
                </a:solidFill>
              </a:rPr>
              <a:t> 2</a:t>
            </a:r>
          </a:p>
        </p:txBody>
      </p:sp>
      <p:sp>
        <p:nvSpPr>
          <p:cNvPr id="39" name="Rectangle 28"/>
          <p:cNvSpPr>
            <a:spLocks noChangeArrowheads="1"/>
          </p:cNvSpPr>
          <p:nvPr/>
        </p:nvSpPr>
        <p:spPr bwMode="auto">
          <a:xfrm>
            <a:off x="2161986" y="5887634"/>
            <a:ext cx="4419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x-none" sz="2800" dirty="0">
                <a:solidFill>
                  <a:schemeClr val="tx2"/>
                </a:solidFill>
                <a:latin typeface="+mn-lt"/>
              </a:rPr>
              <a:t>          8 + 6 = 14                         	</a:t>
            </a:r>
          </a:p>
        </p:txBody>
      </p:sp>
      <p:sp>
        <p:nvSpPr>
          <p:cNvPr id="40" name="Rectangle 29"/>
          <p:cNvSpPr>
            <a:spLocks noChangeArrowheads="1"/>
          </p:cNvSpPr>
          <p:nvPr/>
        </p:nvSpPr>
        <p:spPr bwMode="auto">
          <a:xfrm>
            <a:off x="2161986" y="6421034"/>
            <a:ext cx="449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x-none" sz="2800">
                <a:solidFill>
                  <a:schemeClr val="tx2"/>
                </a:solidFill>
                <a:latin typeface="+mn-lt"/>
              </a:rPr>
              <a:t>             14  = 14                         	</a:t>
            </a:r>
          </a:p>
        </p:txBody>
      </p:sp>
      <p:sp>
        <p:nvSpPr>
          <p:cNvPr id="41" name="Rectangle 30"/>
          <p:cNvSpPr>
            <a:spLocks noChangeArrowheads="1"/>
          </p:cNvSpPr>
          <p:nvPr/>
        </p:nvSpPr>
        <p:spPr bwMode="auto">
          <a:xfrm>
            <a:off x="6186298" y="5061970"/>
            <a:ext cx="4441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 dirty="0"/>
              <a:t>Show your check.</a:t>
            </a:r>
          </a:p>
        </p:txBody>
      </p:sp>
      <p:sp>
        <p:nvSpPr>
          <p:cNvPr id="42" name="Rectangle 31"/>
          <p:cNvSpPr>
            <a:spLocks noChangeArrowheads="1"/>
          </p:cNvSpPr>
          <p:nvPr/>
        </p:nvSpPr>
        <p:spPr bwMode="auto">
          <a:xfrm>
            <a:off x="6197411" y="5905529"/>
            <a:ext cx="4441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/>
              <a:t>Finish your check.</a:t>
            </a:r>
          </a:p>
        </p:txBody>
      </p:sp>
      <p:sp>
        <p:nvSpPr>
          <p:cNvPr id="43" name="Oval 32"/>
          <p:cNvSpPr>
            <a:spLocks noChangeArrowheads="1"/>
          </p:cNvSpPr>
          <p:nvPr/>
        </p:nvSpPr>
        <p:spPr bwMode="auto">
          <a:xfrm>
            <a:off x="4686135" y="3843316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800"/>
          </a:p>
        </p:txBody>
      </p:sp>
      <p:sp>
        <p:nvSpPr>
          <p:cNvPr id="44" name="Rectangle 34"/>
          <p:cNvSpPr>
            <a:spLocks noChangeArrowheads="1"/>
          </p:cNvSpPr>
          <p:nvPr/>
        </p:nvSpPr>
        <p:spPr bwMode="auto">
          <a:xfrm>
            <a:off x="2751232" y="3614460"/>
            <a:ext cx="11079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 dirty="0" smtClean="0">
                <a:solidFill>
                  <a:srgbClr val="CC0000"/>
                </a:solidFill>
              </a:rPr>
              <a:t>   2</a:t>
            </a:r>
            <a:r>
              <a:rPr lang="en-US" altLang="x-none" sz="2800" dirty="0" smtClean="0">
                <a:solidFill>
                  <a:schemeClr val="tx2"/>
                </a:solidFill>
              </a:rPr>
              <a:t> </a:t>
            </a:r>
            <a:r>
              <a:rPr lang="en-US" altLang="x-none" sz="2800" dirty="0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45" name="Rectangle 35"/>
          <p:cNvSpPr>
            <a:spLocks noChangeArrowheads="1"/>
          </p:cNvSpPr>
          <p:nvPr/>
        </p:nvSpPr>
        <p:spPr bwMode="auto">
          <a:xfrm>
            <a:off x="4293739" y="3636758"/>
            <a:ext cx="10985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 dirty="0">
                <a:solidFill>
                  <a:srgbClr val="CC0000"/>
                </a:solidFill>
              </a:rPr>
              <a:t>2</a:t>
            </a:r>
            <a:r>
              <a:rPr lang="en-US" altLang="x-none" sz="2800" dirty="0">
                <a:solidFill>
                  <a:schemeClr val="tx2"/>
                </a:solidFill>
              </a:rPr>
              <a:t> 	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6541" y="976678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</a:t>
            </a:r>
            <a:r>
              <a:rPr lang="en-AU" sz="2400" dirty="0" smtClean="0"/>
              <a:t>we solve more advanced multi-step equations?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2685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4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70" decel="100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770" decel="100000"/>
                                        <p:tgtEl>
                                          <p:spTgt spid="2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9" dur="77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7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1" dur="77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7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3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44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45" dur="400" decel="5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6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47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000"/>
                            </p:stCondLst>
                            <p:childTnLst>
                              <p:par>
                                <p:cTn id="1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500"/>
                            </p:stCondLst>
                            <p:childTnLst>
                              <p:par>
                                <p:cTn id="16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58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650"/>
                            </p:stCondLst>
                            <p:childTnLst>
                              <p:par>
                                <p:cTn id="17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" presetID="58" presetClass="entr" presetSubtype="0" accel="10000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3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3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3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3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utoUpdateAnimBg="0"/>
      <p:bldP spid="14" grpId="1" build="p"/>
      <p:bldP spid="15" grpId="0" autoUpdateAnimBg="0"/>
      <p:bldP spid="16" grpId="0" autoUpdateAnimBg="0"/>
      <p:bldP spid="17" grpId="0" autoUpdateAnimBg="0"/>
      <p:bldP spid="18" grpId="0" animBg="1"/>
      <p:bldP spid="19" grpId="0" autoUpdateAnimBg="0"/>
      <p:bldP spid="20" grpId="0" autoUpdateAnimBg="0"/>
      <p:bldP spid="21" grpId="0" animBg="1"/>
      <p:bldP spid="22" grpId="0" autoUpdateAnimBg="0"/>
      <p:bldP spid="23" grpId="0" animBg="1"/>
      <p:bldP spid="24" grpId="0" autoUpdateAnimBg="0"/>
      <p:bldP spid="25" grpId="0" animBg="1"/>
      <p:bldP spid="26" grpId="0" autoUpdateAnimBg="0"/>
      <p:bldP spid="27" grpId="0" autoUpdateAnimBg="0"/>
      <p:bldP spid="28" grpId="0" animBg="1"/>
      <p:bldP spid="29" grpId="0" autoUpdateAnimBg="0"/>
      <p:bldP spid="30" grpId="0" autoUpdateAnimBg="0"/>
      <p:bldP spid="31" grpId="0" animBg="1"/>
      <p:bldP spid="32" grpId="0" animBg="1"/>
      <p:bldP spid="34" grpId="0" autoUpdateAnimBg="0"/>
      <p:bldP spid="35" grpId="0" animBg="1"/>
      <p:bldP spid="36" grpId="0" build="p" autoUpdateAnimBg="0"/>
      <p:bldP spid="37" grpId="0" animBg="1"/>
      <p:bldP spid="38" grpId="0" autoUpdateAnimBg="0"/>
      <p:bldP spid="39" grpId="0" build="p" autoUpdateAnimBg="0"/>
      <p:bldP spid="40" grpId="0" build="p" autoUpdateAnimBg="0"/>
      <p:bldP spid="41" grpId="0" autoUpdateAnimBg="0"/>
      <p:bldP spid="42" grpId="0" autoUpdateAnimBg="0"/>
      <p:bldP spid="43" grpId="0" animBg="1"/>
      <p:bldP spid="44" grpId="0" autoUpdateAnimBg="0"/>
      <p:bldP spid="4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4645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1222" y="1646454"/>
            <a:ext cx="0" cy="52115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" y="1744196"/>
            <a:ext cx="16977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One </a:t>
            </a:r>
            <a:r>
              <a:rPr lang="en-US" sz="2800" b="1" smtClean="0"/>
              <a:t>more example with fractions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</a:t>
            </a:r>
            <a:r>
              <a:rPr lang="en-AU" sz="2400" dirty="0" smtClean="0"/>
              <a:t>we solve more advanced multi-step equations?</a:t>
            </a:r>
            <a:endParaRPr lang="en-AU" sz="2400" dirty="0"/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2616200" y="1680337"/>
            <a:ext cx="32766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x-none" smtClean="0">
                <a:solidFill>
                  <a:schemeClr val="tx2"/>
                </a:solidFill>
              </a:rPr>
              <a:t>           – 4 = 8                         	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6121400" y="1756537"/>
            <a:ext cx="4267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Get the variable alone.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2768600" y="3598419"/>
            <a:ext cx="29546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>
                <a:solidFill>
                  <a:srgbClr val="CC0000"/>
                </a:solidFill>
              </a:rPr>
              <a:t>    3</a:t>
            </a:r>
            <a:r>
              <a:rPr lang="en-US" altLang="x-none" sz="2800">
                <a:solidFill>
                  <a:schemeClr val="tx2"/>
                </a:solidFill>
              </a:rPr>
              <a:t> (     )  = </a:t>
            </a:r>
            <a:r>
              <a:rPr lang="en-US" altLang="x-none" sz="2800">
                <a:solidFill>
                  <a:srgbClr val="CC0000"/>
                </a:solidFill>
              </a:rPr>
              <a:t>3</a:t>
            </a:r>
            <a:r>
              <a:rPr lang="en-US" altLang="x-none" sz="2800">
                <a:solidFill>
                  <a:schemeClr val="tx2"/>
                </a:solidFill>
              </a:rPr>
              <a:t>  12	</a:t>
            </a: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6095409" y="3358432"/>
            <a:ext cx="590609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Multiply both sides </a:t>
            </a:r>
            <a:r>
              <a:rPr lang="en-US" altLang="x-none" sz="2800" dirty="0" smtClean="0"/>
              <a:t>by the denominator, </a:t>
            </a:r>
            <a:r>
              <a:rPr lang="en-US" altLang="x-none" sz="2800" dirty="0"/>
              <a:t>3.</a:t>
            </a:r>
          </a:p>
        </p:txBody>
      </p:sp>
      <p:sp>
        <p:nvSpPr>
          <p:cNvPr id="18" name="Line 6"/>
          <p:cNvSpPr>
            <a:spLocks noChangeShapeType="1"/>
          </p:cNvSpPr>
          <p:nvPr/>
        </p:nvSpPr>
        <p:spPr bwMode="auto">
          <a:xfrm>
            <a:off x="2792414" y="4281564"/>
            <a:ext cx="2971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2800"/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3257550" y="4308891"/>
            <a:ext cx="29273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>
                <a:solidFill>
                  <a:schemeClr val="tx2"/>
                </a:solidFill>
              </a:rPr>
              <a:t>x</a:t>
            </a:r>
            <a:r>
              <a:rPr lang="en-US" altLang="x-none" sz="2800"/>
              <a:t> </a:t>
            </a:r>
            <a:r>
              <a:rPr lang="en-US" altLang="x-none" sz="2800">
                <a:solidFill>
                  <a:schemeClr val="tx2"/>
                </a:solidFill>
              </a:rPr>
              <a:t>       = 36 	</a:t>
            </a: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5879577" y="4184758"/>
            <a:ext cx="41173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/>
              <a:t>   3 divided by 3 cancel to 1</a:t>
            </a:r>
          </a:p>
        </p:txBody>
      </p:sp>
      <p:sp>
        <p:nvSpPr>
          <p:cNvPr id="21" name="Line 9"/>
          <p:cNvSpPr>
            <a:spLocks noChangeShapeType="1"/>
          </p:cNvSpPr>
          <p:nvPr/>
        </p:nvSpPr>
        <p:spPr bwMode="auto">
          <a:xfrm>
            <a:off x="3149600" y="2061337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2800"/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3225800" y="1604137"/>
            <a:ext cx="457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>
                <a:solidFill>
                  <a:schemeClr val="tx2"/>
                </a:solidFill>
              </a:rPr>
              <a:t>x    3</a:t>
            </a:r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>
            <a:off x="3530600" y="3914766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2800"/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3568700" y="3432937"/>
            <a:ext cx="533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>
                <a:solidFill>
                  <a:schemeClr val="tx2"/>
                </a:solidFill>
              </a:rPr>
              <a:t>x    3</a:t>
            </a:r>
          </a:p>
        </p:txBody>
      </p:sp>
      <p:sp>
        <p:nvSpPr>
          <p:cNvPr id="25" name="Line 13"/>
          <p:cNvSpPr>
            <a:spLocks noChangeShapeType="1"/>
          </p:cNvSpPr>
          <p:nvPr/>
        </p:nvSpPr>
        <p:spPr bwMode="auto">
          <a:xfrm>
            <a:off x="3054350" y="3813937"/>
            <a:ext cx="800100" cy="31788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2800"/>
          </a:p>
        </p:txBody>
      </p:sp>
      <p:sp>
        <p:nvSpPr>
          <p:cNvPr id="26" name="Text Box 14"/>
          <p:cNvSpPr txBox="1">
            <a:spLocks noChangeArrowheads="1"/>
          </p:cNvSpPr>
          <p:nvPr/>
        </p:nvSpPr>
        <p:spPr bwMode="auto">
          <a:xfrm>
            <a:off x="3302000" y="2213738"/>
            <a:ext cx="4114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>
                <a:solidFill>
                  <a:srgbClr val="CC0000"/>
                </a:solidFill>
              </a:rPr>
              <a:t>       +4   +4</a:t>
            </a:r>
          </a:p>
        </p:txBody>
      </p:sp>
      <p:sp>
        <p:nvSpPr>
          <p:cNvPr id="27" name="Rectangle 15"/>
          <p:cNvSpPr>
            <a:spLocks noChangeArrowheads="1"/>
          </p:cNvSpPr>
          <p:nvPr/>
        </p:nvSpPr>
        <p:spPr bwMode="auto">
          <a:xfrm>
            <a:off x="6159055" y="2225968"/>
            <a:ext cx="30973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/>
              <a:t>Add 4 to both sides.</a:t>
            </a:r>
          </a:p>
        </p:txBody>
      </p:sp>
      <p:sp>
        <p:nvSpPr>
          <p:cNvPr id="28" name="Line 16"/>
          <p:cNvSpPr>
            <a:spLocks noChangeShapeType="1"/>
          </p:cNvSpPr>
          <p:nvPr/>
        </p:nvSpPr>
        <p:spPr bwMode="auto">
          <a:xfrm>
            <a:off x="2768600" y="2773956"/>
            <a:ext cx="2819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3225800" y="2747137"/>
            <a:ext cx="457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>
                <a:solidFill>
                  <a:schemeClr val="tx2"/>
                </a:solidFill>
              </a:rPr>
              <a:t>x    3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4055154" y="2951754"/>
            <a:ext cx="8114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>
                <a:solidFill>
                  <a:schemeClr val="tx2"/>
                </a:solidFill>
              </a:rPr>
              <a:t>= 12</a:t>
            </a:r>
          </a:p>
        </p:txBody>
      </p:sp>
      <p:sp>
        <p:nvSpPr>
          <p:cNvPr id="31" name="Line 19"/>
          <p:cNvSpPr>
            <a:spLocks noChangeShapeType="1"/>
          </p:cNvSpPr>
          <p:nvPr/>
        </p:nvSpPr>
        <p:spPr bwMode="auto">
          <a:xfrm>
            <a:off x="3225800" y="3220212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>
            <a:off x="3860800" y="1654467"/>
            <a:ext cx="431800" cy="1102852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4" name="Text Box 21"/>
          <p:cNvSpPr txBox="1">
            <a:spLocks noChangeArrowheads="1"/>
          </p:cNvSpPr>
          <p:nvPr/>
        </p:nvSpPr>
        <p:spPr bwMode="auto">
          <a:xfrm>
            <a:off x="6109710" y="2682065"/>
            <a:ext cx="4267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+ 4 and </a:t>
            </a:r>
            <a:r>
              <a:rPr lang="en-US" altLang="x-none" sz="2800" dirty="0">
                <a:solidFill>
                  <a:srgbClr val="CC0000"/>
                </a:solidFill>
              </a:rPr>
              <a:t>-4</a:t>
            </a:r>
            <a:r>
              <a:rPr lang="en-US" altLang="x-none" sz="2800" dirty="0"/>
              <a:t> cancel out.</a:t>
            </a:r>
          </a:p>
        </p:txBody>
      </p:sp>
      <p:sp>
        <p:nvSpPr>
          <p:cNvPr id="35" name="Oval 22"/>
          <p:cNvSpPr>
            <a:spLocks noChangeArrowheads="1"/>
          </p:cNvSpPr>
          <p:nvPr/>
        </p:nvSpPr>
        <p:spPr bwMode="auto">
          <a:xfrm>
            <a:off x="2616200" y="4325629"/>
            <a:ext cx="2895600" cy="685800"/>
          </a:xfrm>
          <a:prstGeom prst="ellipse">
            <a:avLst/>
          </a:prstGeom>
          <a:noFill/>
          <a:ln w="38100" cap="rnd">
            <a:solidFill>
              <a:srgbClr val="333399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x-none" altLang="x-none" sz="2800">
              <a:solidFill>
                <a:srgbClr val="CC0000"/>
              </a:solidFill>
            </a:endParaRPr>
          </a:p>
        </p:txBody>
      </p:sp>
      <p:sp>
        <p:nvSpPr>
          <p:cNvPr id="36" name="Rectangle 23"/>
          <p:cNvSpPr>
            <a:spLocks noChangeArrowheads="1"/>
          </p:cNvSpPr>
          <p:nvPr/>
        </p:nvSpPr>
        <p:spPr bwMode="auto">
          <a:xfrm>
            <a:off x="3082925" y="5198516"/>
            <a:ext cx="3276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x-none" sz="2800">
                <a:solidFill>
                  <a:schemeClr val="tx2"/>
                </a:solidFill>
                <a:latin typeface="+mn-lt"/>
              </a:rPr>
              <a:t>        – 4 = 8                         	</a:t>
            </a:r>
          </a:p>
        </p:txBody>
      </p:sp>
      <p:sp>
        <p:nvSpPr>
          <p:cNvPr id="37" name="Line 24"/>
          <p:cNvSpPr>
            <a:spLocks noChangeShapeType="1"/>
          </p:cNvSpPr>
          <p:nvPr/>
        </p:nvSpPr>
        <p:spPr bwMode="auto">
          <a:xfrm>
            <a:off x="3225800" y="5455208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2800"/>
          </a:p>
        </p:txBody>
      </p:sp>
      <p:sp>
        <p:nvSpPr>
          <p:cNvPr id="38" name="Rectangle 25"/>
          <p:cNvSpPr>
            <a:spLocks noChangeArrowheads="1"/>
          </p:cNvSpPr>
          <p:nvPr/>
        </p:nvSpPr>
        <p:spPr bwMode="auto">
          <a:xfrm>
            <a:off x="3111500" y="4982133"/>
            <a:ext cx="685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>
                <a:solidFill>
                  <a:srgbClr val="CC0000"/>
                </a:solidFill>
              </a:rPr>
              <a:t>36</a:t>
            </a:r>
            <a:r>
              <a:rPr lang="en-US" altLang="x-none" sz="2800">
                <a:solidFill>
                  <a:schemeClr val="tx2"/>
                </a:solidFill>
              </a:rPr>
              <a:t>         </a:t>
            </a:r>
          </a:p>
          <a:p>
            <a:r>
              <a:rPr lang="en-US" altLang="x-none" sz="2800" dirty="0">
                <a:solidFill>
                  <a:schemeClr val="tx2"/>
                </a:solidFill>
              </a:rPr>
              <a:t> 3</a:t>
            </a:r>
          </a:p>
        </p:txBody>
      </p:sp>
      <p:sp>
        <p:nvSpPr>
          <p:cNvPr id="39" name="Rectangle 26"/>
          <p:cNvSpPr>
            <a:spLocks noChangeArrowheads="1"/>
          </p:cNvSpPr>
          <p:nvPr/>
        </p:nvSpPr>
        <p:spPr bwMode="auto">
          <a:xfrm>
            <a:off x="2239963" y="5845594"/>
            <a:ext cx="4572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x-none" sz="2800">
                <a:solidFill>
                  <a:schemeClr val="tx2"/>
                </a:solidFill>
                <a:latin typeface="+mn-lt"/>
              </a:rPr>
              <a:t>        12 – 4 = 8                         	</a:t>
            </a:r>
          </a:p>
        </p:txBody>
      </p:sp>
      <p:sp>
        <p:nvSpPr>
          <p:cNvPr id="40" name="Rectangle 27"/>
          <p:cNvSpPr>
            <a:spLocks noChangeArrowheads="1"/>
          </p:cNvSpPr>
          <p:nvPr/>
        </p:nvSpPr>
        <p:spPr bwMode="auto">
          <a:xfrm>
            <a:off x="2006600" y="6325436"/>
            <a:ext cx="4572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x-none" sz="2800">
                <a:solidFill>
                  <a:schemeClr val="tx2"/>
                </a:solidFill>
                <a:latin typeface="+mn-lt"/>
              </a:rPr>
              <a:t>                  8 = 8                         </a:t>
            </a:r>
          </a:p>
        </p:txBody>
      </p:sp>
      <p:sp>
        <p:nvSpPr>
          <p:cNvPr id="41" name="Rectangle 28"/>
          <p:cNvSpPr>
            <a:spLocks noChangeArrowheads="1"/>
          </p:cNvSpPr>
          <p:nvPr/>
        </p:nvSpPr>
        <p:spPr bwMode="auto">
          <a:xfrm>
            <a:off x="6121400" y="5080260"/>
            <a:ext cx="4441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/>
              <a:t>Show your check.</a:t>
            </a:r>
          </a:p>
        </p:txBody>
      </p:sp>
      <p:sp>
        <p:nvSpPr>
          <p:cNvPr id="42" name="Rectangle 29"/>
          <p:cNvSpPr>
            <a:spLocks noChangeArrowheads="1"/>
          </p:cNvSpPr>
          <p:nvPr/>
        </p:nvSpPr>
        <p:spPr bwMode="auto">
          <a:xfrm>
            <a:off x="6087472" y="5957566"/>
            <a:ext cx="4441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/>
              <a:t> Finish your check.</a:t>
            </a:r>
          </a:p>
        </p:txBody>
      </p:sp>
      <p:sp>
        <p:nvSpPr>
          <p:cNvPr id="43" name="Oval 30"/>
          <p:cNvSpPr>
            <a:spLocks noChangeArrowheads="1"/>
          </p:cNvSpPr>
          <p:nvPr/>
        </p:nvSpPr>
        <p:spPr bwMode="auto">
          <a:xfrm>
            <a:off x="4722177" y="3838566"/>
            <a:ext cx="76200" cy="76200"/>
          </a:xfrm>
          <a:prstGeom prst="ellipse">
            <a:avLst/>
          </a:prstGeom>
          <a:solidFill>
            <a:srgbClr val="00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85472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70" decel="100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770" decel="100000"/>
                                        <p:tgtEl>
                                          <p:spTgt spid="2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70" dur="77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7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2" dur="77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7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800"/>
                            </p:stCondLst>
                            <p:childTnLst>
                              <p:par>
                                <p:cTn id="8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300"/>
                            </p:stCondLst>
                            <p:childTnLst>
                              <p:par>
                                <p:cTn id="102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1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1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2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500"/>
                            </p:stCondLst>
                            <p:childTnLst>
                              <p:par>
                                <p:cTn id="13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8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5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0" presetID="58" presetClass="entr" presetSubtype="0" accel="10000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7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7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8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3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3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3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3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utoUpdateAnimBg="0"/>
      <p:bldP spid="14" grpId="1" build="p"/>
      <p:bldP spid="15" grpId="0" autoUpdateAnimBg="0"/>
      <p:bldP spid="16" grpId="0" autoUpdateAnimBg="0"/>
      <p:bldP spid="17" grpId="0" autoUpdateAnimBg="0"/>
      <p:bldP spid="18" grpId="0" animBg="1"/>
      <p:bldP spid="19" grpId="0" autoUpdateAnimBg="0"/>
      <p:bldP spid="20" grpId="0" autoUpdateAnimBg="0"/>
      <p:bldP spid="21" grpId="0" animBg="1"/>
      <p:bldP spid="22" grpId="0" autoUpdateAnimBg="0"/>
      <p:bldP spid="23" grpId="0" animBg="1"/>
      <p:bldP spid="24" grpId="0" autoUpdateAnimBg="0"/>
      <p:bldP spid="25" grpId="0" animBg="1"/>
      <p:bldP spid="26" grpId="0" autoUpdateAnimBg="0"/>
      <p:bldP spid="27" grpId="0" autoUpdateAnimBg="0"/>
      <p:bldP spid="28" grpId="0" animBg="1"/>
      <p:bldP spid="29" grpId="0" autoUpdateAnimBg="0"/>
      <p:bldP spid="30" grpId="0" autoUpdateAnimBg="0"/>
      <p:bldP spid="31" grpId="0" animBg="1"/>
      <p:bldP spid="32" grpId="0" animBg="1"/>
      <p:bldP spid="34" grpId="0" autoUpdateAnimBg="0"/>
      <p:bldP spid="35" grpId="0" animBg="1"/>
      <p:bldP spid="36" grpId="0" build="p" autoUpdateAnimBg="0"/>
      <p:bldP spid="37" grpId="0" animBg="1"/>
      <p:bldP spid="38" grpId="0" autoUpdateAnimBg="0"/>
      <p:bldP spid="39" grpId="0" build="p" autoUpdateAnimBg="0"/>
      <p:bldP spid="40" grpId="0" build="p" autoUpdateAnimBg="0"/>
      <p:bldP spid="41" grpId="0" autoUpdateAnimBg="0"/>
      <p:bldP spid="42" grpId="0" autoUpdateAnimBg="0"/>
      <p:bldP spid="4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08500" y="0"/>
            <a:ext cx="21216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Your turn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06" y="3020943"/>
            <a:ext cx="5588000" cy="1701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06" y="4851400"/>
            <a:ext cx="5829300" cy="1701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06" y="760343"/>
            <a:ext cx="64897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97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325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1222" y="1493256"/>
            <a:ext cx="0" cy="536474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752741"/>
            <a:ext cx="16977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</a:t>
            </a:r>
            <a:r>
              <a:rPr lang="en-US" sz="2800" b="1" dirty="0" smtClean="0"/>
              <a:t>hat happens when there are brackets? 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1019969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</a:t>
            </a:r>
            <a:r>
              <a:rPr lang="en-AU" sz="2400" dirty="0" smtClean="0"/>
              <a:t>we solve more advanced multi-step equations?</a:t>
            </a:r>
            <a:endParaRPr lang="en-AU" sz="2400" dirty="0"/>
          </a:p>
        </p:txBody>
      </p:sp>
      <p:sp>
        <p:nvSpPr>
          <p:cNvPr id="14" name="Rectangle 4"/>
          <p:cNvSpPr txBox="1">
            <a:spLocks noChangeArrowheads="1"/>
          </p:cNvSpPr>
          <p:nvPr/>
        </p:nvSpPr>
        <p:spPr>
          <a:xfrm>
            <a:off x="2412250" y="1611537"/>
            <a:ext cx="10502900" cy="125491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800" smtClean="0">
                <a:latin typeface="+mn-lt"/>
              </a:rPr>
              <a:t>REVIEW: Simplify Using the Distributive Property.</a:t>
            </a:r>
            <a:endParaRPr lang="en-US" altLang="x-none" sz="2800">
              <a:latin typeface="+mn-lt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2490081" y="2216844"/>
            <a:ext cx="785177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Distributive Property – </a:t>
            </a:r>
            <a:r>
              <a:rPr lang="en-US" altLang="x-none" sz="2800" i="1" dirty="0">
                <a:solidFill>
                  <a:srgbClr val="0066FF"/>
                </a:solidFill>
              </a:rPr>
              <a:t>Multiply </a:t>
            </a:r>
            <a:r>
              <a:rPr lang="en-US" altLang="x-none" sz="2800" i="1" dirty="0" smtClean="0">
                <a:solidFill>
                  <a:srgbClr val="0066FF"/>
                </a:solidFill>
              </a:rPr>
              <a:t>everything </a:t>
            </a:r>
            <a:r>
              <a:rPr lang="en-US" altLang="x-none" sz="2800" i="1" dirty="0">
                <a:solidFill>
                  <a:srgbClr val="0066FF"/>
                </a:solidFill>
              </a:rPr>
              <a:t>in the parentheses.</a:t>
            </a:r>
          </a:p>
          <a:p>
            <a:pPr>
              <a:spcBef>
                <a:spcPct val="50000"/>
              </a:spcBef>
            </a:pPr>
            <a:r>
              <a:rPr lang="en-US" altLang="x-none" sz="2800" dirty="0"/>
              <a:t>a ( b + c ) =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4343048" y="3288455"/>
            <a:ext cx="27003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ab + ac</a:t>
            </a: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2490081" y="4371954"/>
            <a:ext cx="34789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Example 1:  -3 ( x + 5 )</a:t>
            </a:r>
          </a:p>
        </p:txBody>
      </p:sp>
      <p:sp>
        <p:nvSpPr>
          <p:cNvPr id="18" name="Freeform 10"/>
          <p:cNvSpPr>
            <a:spLocks/>
          </p:cNvSpPr>
          <p:nvPr/>
        </p:nvSpPr>
        <p:spPr bwMode="auto">
          <a:xfrm>
            <a:off x="4544305" y="4315947"/>
            <a:ext cx="550863" cy="234950"/>
          </a:xfrm>
          <a:custGeom>
            <a:avLst/>
            <a:gdLst>
              <a:gd name="T0" fmla="*/ 0 w 347"/>
              <a:gd name="T1" fmla="*/ 120 h 148"/>
              <a:gd name="T2" fmla="*/ 100 w 347"/>
              <a:gd name="T3" fmla="*/ 29 h 148"/>
              <a:gd name="T4" fmla="*/ 274 w 347"/>
              <a:gd name="T5" fmla="*/ 20 h 148"/>
              <a:gd name="T6" fmla="*/ 347 w 347"/>
              <a:gd name="T7" fmla="*/ 148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7" h="148">
                <a:moveTo>
                  <a:pt x="0" y="120"/>
                </a:moveTo>
                <a:cubicBezTo>
                  <a:pt x="27" y="83"/>
                  <a:pt x="54" y="46"/>
                  <a:pt x="100" y="29"/>
                </a:cubicBezTo>
                <a:cubicBezTo>
                  <a:pt x="146" y="12"/>
                  <a:pt x="233" y="0"/>
                  <a:pt x="274" y="20"/>
                </a:cubicBezTo>
                <a:cubicBezTo>
                  <a:pt x="315" y="40"/>
                  <a:pt x="331" y="94"/>
                  <a:pt x="347" y="148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0" name="Freeform 13"/>
          <p:cNvSpPr>
            <a:spLocks/>
          </p:cNvSpPr>
          <p:nvPr/>
        </p:nvSpPr>
        <p:spPr bwMode="auto">
          <a:xfrm>
            <a:off x="4535574" y="4175628"/>
            <a:ext cx="1117600" cy="320675"/>
          </a:xfrm>
          <a:custGeom>
            <a:avLst/>
            <a:gdLst>
              <a:gd name="T0" fmla="*/ 0 w 704"/>
              <a:gd name="T1" fmla="*/ 193 h 202"/>
              <a:gd name="T2" fmla="*/ 137 w 704"/>
              <a:gd name="T3" fmla="*/ 29 h 202"/>
              <a:gd name="T4" fmla="*/ 512 w 704"/>
              <a:gd name="T5" fmla="*/ 29 h 202"/>
              <a:gd name="T6" fmla="*/ 704 w 704"/>
              <a:gd name="T7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4" h="202">
                <a:moveTo>
                  <a:pt x="0" y="193"/>
                </a:moveTo>
                <a:cubicBezTo>
                  <a:pt x="26" y="124"/>
                  <a:pt x="52" y="56"/>
                  <a:pt x="137" y="29"/>
                </a:cubicBezTo>
                <a:cubicBezTo>
                  <a:pt x="222" y="2"/>
                  <a:pt x="418" y="0"/>
                  <a:pt x="512" y="29"/>
                </a:cubicBezTo>
                <a:cubicBezTo>
                  <a:pt x="606" y="58"/>
                  <a:pt x="655" y="130"/>
                  <a:pt x="704" y="202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2490081" y="5434853"/>
            <a:ext cx="36948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Example 2:   -7 ( 2a – 4 )</a:t>
            </a:r>
          </a:p>
        </p:txBody>
      </p:sp>
      <p:sp>
        <p:nvSpPr>
          <p:cNvPr id="23" name="Freeform 16"/>
          <p:cNvSpPr>
            <a:spLocks/>
          </p:cNvSpPr>
          <p:nvPr/>
        </p:nvSpPr>
        <p:spPr bwMode="auto">
          <a:xfrm>
            <a:off x="4571379" y="5376359"/>
            <a:ext cx="550862" cy="234950"/>
          </a:xfrm>
          <a:custGeom>
            <a:avLst/>
            <a:gdLst>
              <a:gd name="T0" fmla="*/ 0 w 347"/>
              <a:gd name="T1" fmla="*/ 120 h 148"/>
              <a:gd name="T2" fmla="*/ 100 w 347"/>
              <a:gd name="T3" fmla="*/ 29 h 148"/>
              <a:gd name="T4" fmla="*/ 274 w 347"/>
              <a:gd name="T5" fmla="*/ 20 h 148"/>
              <a:gd name="T6" fmla="*/ 347 w 347"/>
              <a:gd name="T7" fmla="*/ 148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7" h="148">
                <a:moveTo>
                  <a:pt x="0" y="120"/>
                </a:moveTo>
                <a:cubicBezTo>
                  <a:pt x="27" y="83"/>
                  <a:pt x="54" y="46"/>
                  <a:pt x="100" y="29"/>
                </a:cubicBezTo>
                <a:cubicBezTo>
                  <a:pt x="146" y="12"/>
                  <a:pt x="233" y="0"/>
                  <a:pt x="274" y="20"/>
                </a:cubicBezTo>
                <a:cubicBezTo>
                  <a:pt x="315" y="40"/>
                  <a:pt x="331" y="94"/>
                  <a:pt x="347" y="148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6125442" y="5434853"/>
            <a:ext cx="19445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smtClean="0"/>
              <a:t>= -14a + 28</a:t>
            </a:r>
            <a:endParaRPr lang="en-US" altLang="x-none" sz="2800"/>
          </a:p>
        </p:txBody>
      </p:sp>
      <p:sp>
        <p:nvSpPr>
          <p:cNvPr id="25" name="Freeform 18"/>
          <p:cNvSpPr>
            <a:spLocks/>
          </p:cNvSpPr>
          <p:nvPr/>
        </p:nvSpPr>
        <p:spPr bwMode="auto">
          <a:xfrm>
            <a:off x="4580640" y="5222808"/>
            <a:ext cx="1219200" cy="320675"/>
          </a:xfrm>
          <a:custGeom>
            <a:avLst/>
            <a:gdLst>
              <a:gd name="T0" fmla="*/ 0 w 704"/>
              <a:gd name="T1" fmla="*/ 193 h 202"/>
              <a:gd name="T2" fmla="*/ 137 w 704"/>
              <a:gd name="T3" fmla="*/ 29 h 202"/>
              <a:gd name="T4" fmla="*/ 512 w 704"/>
              <a:gd name="T5" fmla="*/ 29 h 202"/>
              <a:gd name="T6" fmla="*/ 704 w 704"/>
              <a:gd name="T7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4" h="202">
                <a:moveTo>
                  <a:pt x="0" y="193"/>
                </a:moveTo>
                <a:cubicBezTo>
                  <a:pt x="26" y="124"/>
                  <a:pt x="52" y="56"/>
                  <a:pt x="137" y="29"/>
                </a:cubicBezTo>
                <a:cubicBezTo>
                  <a:pt x="222" y="2"/>
                  <a:pt x="418" y="0"/>
                  <a:pt x="512" y="29"/>
                </a:cubicBezTo>
                <a:cubicBezTo>
                  <a:pt x="606" y="58"/>
                  <a:pt x="655" y="130"/>
                  <a:pt x="704" y="202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5778940" y="3310680"/>
            <a:ext cx="36274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>
                <a:solidFill>
                  <a:srgbClr val="FF0000"/>
                </a:solidFill>
              </a:rPr>
              <a:t>OR</a:t>
            </a:r>
            <a:r>
              <a:rPr lang="en-US" altLang="x-none" sz="2800" dirty="0"/>
              <a:t>   a ( b – c ) =</a:t>
            </a:r>
          </a:p>
        </p:txBody>
      </p:sp>
      <p:sp>
        <p:nvSpPr>
          <p:cNvPr id="28" name="Text Box 21"/>
          <p:cNvSpPr txBox="1">
            <a:spLocks noChangeArrowheads="1"/>
          </p:cNvSpPr>
          <p:nvPr/>
        </p:nvSpPr>
        <p:spPr bwMode="auto">
          <a:xfrm>
            <a:off x="8180034" y="3301999"/>
            <a:ext cx="19161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ab – ac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3668" y="4378741"/>
            <a:ext cx="1534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= -3x - 15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509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utoUpdateAnimBg="0"/>
      <p:bldP spid="16" grpId="0" autoUpdateAnimBg="0"/>
      <p:bldP spid="17" grpId="0" autoUpdateAnimBg="0"/>
      <p:bldP spid="18" grpId="0" animBg="1"/>
      <p:bldP spid="20" grpId="0" animBg="1"/>
      <p:bldP spid="22" grpId="0" autoUpdateAnimBg="0"/>
      <p:bldP spid="23" grpId="0" animBg="1"/>
      <p:bldP spid="24" grpId="0" autoUpdateAnimBg="0"/>
      <p:bldP spid="25" grpId="0" animBg="1"/>
      <p:bldP spid="27" grpId="0" autoUpdateAnimBg="0"/>
      <p:bldP spid="2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292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1222" y="1522922"/>
            <a:ext cx="0" cy="53350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71" y="1043820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</a:t>
            </a:r>
            <a:r>
              <a:rPr lang="en-AU" sz="2400" dirty="0" smtClean="0"/>
              <a:t>we solve more advanced multi-step equations?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1752741"/>
            <a:ext cx="16977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</a:t>
            </a:r>
            <a:r>
              <a:rPr lang="en-US" sz="2800" b="1" dirty="0" smtClean="0"/>
              <a:t>hat happens when there are brackets? </a:t>
            </a:r>
            <a:endParaRPr lang="en-US" sz="2800" b="1" dirty="0"/>
          </a:p>
        </p:txBody>
      </p:sp>
      <p:sp>
        <p:nvSpPr>
          <p:cNvPr id="16" name="Rectangle 4"/>
          <p:cNvSpPr txBox="1">
            <a:spLocks noChangeArrowheads="1"/>
          </p:cNvSpPr>
          <p:nvPr/>
        </p:nvSpPr>
        <p:spPr>
          <a:xfrm>
            <a:off x="2062163" y="1568575"/>
            <a:ext cx="7869237" cy="5460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800" smtClean="0">
                <a:latin typeface="+mn-lt"/>
              </a:rPr>
              <a:t>REVIEW: Simplify Using Combining Like Terms</a:t>
            </a:r>
            <a:endParaRPr lang="en-US" altLang="x-none" sz="2800">
              <a:latin typeface="+mn-lt"/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2074863" y="2264430"/>
            <a:ext cx="791051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b="1" i="1" u="sng"/>
              <a:t>Like Terms</a:t>
            </a:r>
            <a:r>
              <a:rPr lang="en-US" altLang="x-none" sz="2800"/>
              <a:t> must have the same variables and the same powers on the letters.  </a:t>
            </a: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2062163" y="3396318"/>
            <a:ext cx="780891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i="1" dirty="0">
                <a:solidFill>
                  <a:srgbClr val="0066FF"/>
                </a:solidFill>
              </a:rPr>
              <a:t>Combine like terms by adding or subtracting the coefficients (numbers in front of the variables).</a:t>
            </a: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2176462" y="4469469"/>
            <a:ext cx="5283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Example 1:  3x + 5 – 7x + 9</a:t>
            </a:r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4272755" y="4887774"/>
            <a:ext cx="174888" cy="33356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 flipH="1">
            <a:off x="4590256" y="4917336"/>
            <a:ext cx="885825" cy="3333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4144962" y="5152285"/>
            <a:ext cx="812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-4x</a:t>
            </a:r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4863305" y="4887774"/>
            <a:ext cx="297125" cy="333567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H="1">
            <a:off x="5306749" y="4898138"/>
            <a:ext cx="662251" cy="333567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4791074" y="5137154"/>
            <a:ext cx="9223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+ 14</a:t>
            </a: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2185987" y="5679144"/>
            <a:ext cx="5283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Example 2:  3 – 6y – 7 – 9y</a:t>
            </a:r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>
            <a:off x="4146811" y="6128405"/>
            <a:ext cx="300831" cy="30479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8" name="Line 18"/>
          <p:cNvSpPr>
            <a:spLocks noChangeShapeType="1"/>
          </p:cNvSpPr>
          <p:nvPr/>
        </p:nvSpPr>
        <p:spPr bwMode="auto">
          <a:xfrm flipH="1">
            <a:off x="4532313" y="6100299"/>
            <a:ext cx="885825" cy="3333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4125119" y="6334780"/>
            <a:ext cx="812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 -4</a:t>
            </a: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>
            <a:off x="4762500" y="6133170"/>
            <a:ext cx="397930" cy="300034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1" name="Line 21"/>
          <p:cNvSpPr>
            <a:spLocks noChangeShapeType="1"/>
          </p:cNvSpPr>
          <p:nvPr/>
        </p:nvSpPr>
        <p:spPr bwMode="auto">
          <a:xfrm flipH="1">
            <a:off x="5213350" y="6078073"/>
            <a:ext cx="869950" cy="377825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2" name="Text Box 22"/>
          <p:cNvSpPr txBox="1">
            <a:spLocks noChangeArrowheads="1"/>
          </p:cNvSpPr>
          <p:nvPr/>
        </p:nvSpPr>
        <p:spPr bwMode="auto">
          <a:xfrm>
            <a:off x="4612481" y="6334780"/>
            <a:ext cx="16113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– 15y</a:t>
            </a:r>
          </a:p>
        </p:txBody>
      </p:sp>
    </p:spTree>
    <p:extLst>
      <p:ext uri="{BB962C8B-B14F-4D97-AF65-F5344CB8AC3E}">
        <p14:creationId xmlns:p14="http://schemas.microsoft.com/office/powerpoint/2010/main" val="76016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 animBg="1"/>
      <p:bldP spid="21" grpId="0" animBg="1"/>
      <p:bldP spid="22" grpId="0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29" grpId="0"/>
      <p:bldP spid="30" grpId="0" animBg="1"/>
      <p:bldP spid="31" grpId="0" animBg="1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1022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1222" y="1510222"/>
            <a:ext cx="0" cy="53477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</a:t>
            </a:r>
            <a:r>
              <a:rPr lang="en-AU" sz="2400" dirty="0" smtClean="0"/>
              <a:t>we solve more advanced multi-step equations?</a:t>
            </a:r>
            <a:endParaRPr lang="en-AU" sz="2400" dirty="0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2663380" y="2025831"/>
            <a:ext cx="64611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b="1" u="sng"/>
              <a:t>Example:</a:t>
            </a:r>
            <a:r>
              <a:rPr lang="en-US" altLang="x-none" sz="2800"/>
              <a:t>  3 ( x – 2 ) + 4x = 8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7777073" y="1615244"/>
            <a:ext cx="3861682" cy="120032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400" dirty="0">
                <a:solidFill>
                  <a:srgbClr val="0066FF"/>
                </a:solidFill>
              </a:rPr>
              <a:t>FIRST - Use the Distributive Property to get rid of the parentheses.</a:t>
            </a:r>
          </a:p>
        </p:txBody>
      </p:sp>
      <p:sp>
        <p:nvSpPr>
          <p:cNvPr id="16" name="Freeform 6"/>
          <p:cNvSpPr>
            <a:spLocks/>
          </p:cNvSpPr>
          <p:nvPr/>
        </p:nvSpPr>
        <p:spPr bwMode="auto">
          <a:xfrm>
            <a:off x="4365219" y="2000037"/>
            <a:ext cx="481012" cy="203200"/>
          </a:xfrm>
          <a:custGeom>
            <a:avLst/>
            <a:gdLst>
              <a:gd name="T0" fmla="*/ 0 w 303"/>
              <a:gd name="T1" fmla="*/ 119 h 155"/>
              <a:gd name="T2" fmla="*/ 128 w 303"/>
              <a:gd name="T3" fmla="*/ 9 h 155"/>
              <a:gd name="T4" fmla="*/ 274 w 303"/>
              <a:gd name="T5" fmla="*/ 64 h 155"/>
              <a:gd name="T6" fmla="*/ 302 w 303"/>
              <a:gd name="T7" fmla="*/ 155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3" h="155">
                <a:moveTo>
                  <a:pt x="0" y="119"/>
                </a:moveTo>
                <a:cubicBezTo>
                  <a:pt x="41" y="68"/>
                  <a:pt x="82" y="18"/>
                  <a:pt x="128" y="9"/>
                </a:cubicBezTo>
                <a:cubicBezTo>
                  <a:pt x="174" y="0"/>
                  <a:pt x="245" y="40"/>
                  <a:pt x="274" y="64"/>
                </a:cubicBezTo>
                <a:cubicBezTo>
                  <a:pt x="303" y="88"/>
                  <a:pt x="302" y="121"/>
                  <a:pt x="302" y="155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17" name="Freeform 7"/>
          <p:cNvSpPr>
            <a:spLocks/>
          </p:cNvSpPr>
          <p:nvPr/>
        </p:nvSpPr>
        <p:spPr bwMode="auto">
          <a:xfrm>
            <a:off x="4322823" y="1893209"/>
            <a:ext cx="1082675" cy="288925"/>
          </a:xfrm>
          <a:custGeom>
            <a:avLst/>
            <a:gdLst>
              <a:gd name="T0" fmla="*/ 0 w 682"/>
              <a:gd name="T1" fmla="*/ 148 h 182"/>
              <a:gd name="T2" fmla="*/ 165 w 682"/>
              <a:gd name="T3" fmla="*/ 20 h 182"/>
              <a:gd name="T4" fmla="*/ 512 w 682"/>
              <a:gd name="T5" fmla="*/ 29 h 182"/>
              <a:gd name="T6" fmla="*/ 682 w 682"/>
              <a:gd name="T7" fmla="*/ 182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2" h="182">
                <a:moveTo>
                  <a:pt x="0" y="148"/>
                </a:moveTo>
                <a:cubicBezTo>
                  <a:pt x="30" y="127"/>
                  <a:pt x="80" y="40"/>
                  <a:pt x="165" y="20"/>
                </a:cubicBezTo>
                <a:cubicBezTo>
                  <a:pt x="250" y="0"/>
                  <a:pt x="426" y="2"/>
                  <a:pt x="512" y="29"/>
                </a:cubicBezTo>
                <a:cubicBezTo>
                  <a:pt x="598" y="56"/>
                  <a:pt x="647" y="150"/>
                  <a:pt x="682" y="182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4654116" y="2682106"/>
            <a:ext cx="9429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3x </a:t>
            </a: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5093554" y="2682105"/>
            <a:ext cx="9286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– 6 </a:t>
            </a: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5645211" y="2667508"/>
            <a:ext cx="19875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+ 4x = 8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7832189" y="2954874"/>
            <a:ext cx="2525712" cy="954107"/>
          </a:xfrm>
          <a:prstGeom prst="rect">
            <a:avLst/>
          </a:prstGeom>
          <a:noFill/>
          <a:ln w="38100">
            <a:solidFill>
              <a:srgbClr val="0066FF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>
                <a:solidFill>
                  <a:srgbClr val="0066FF"/>
                </a:solidFill>
              </a:rPr>
              <a:t>Copy the rest of the problem.</a:t>
            </a:r>
            <a:r>
              <a:rPr lang="en-US" altLang="x-none" sz="2800"/>
              <a:t> </a:t>
            </a: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2499888" y="2660042"/>
            <a:ext cx="2105025" cy="138499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/>
              <a:t>SECOND: Combine like terms.</a:t>
            </a:r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>
            <a:off x="4918921" y="3106922"/>
            <a:ext cx="115888" cy="3635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 flipH="1">
            <a:off x="5125603" y="3067738"/>
            <a:ext cx="1103313" cy="4508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4783990" y="3482635"/>
            <a:ext cx="9001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7x</a:t>
            </a: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5209442" y="3466935"/>
            <a:ext cx="23812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– 6 = 8</a:t>
            </a:r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>
            <a:off x="5537745" y="3072126"/>
            <a:ext cx="131762" cy="550862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8" name="Line 18"/>
          <p:cNvSpPr>
            <a:spLocks noChangeShapeType="1"/>
          </p:cNvSpPr>
          <p:nvPr/>
        </p:nvSpPr>
        <p:spPr bwMode="auto">
          <a:xfrm flipH="1">
            <a:off x="6252926" y="3130343"/>
            <a:ext cx="401441" cy="508385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5285941" y="3956201"/>
            <a:ext cx="18859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+ 6 </a:t>
            </a:r>
            <a:r>
              <a:rPr lang="en-US" altLang="x-none" sz="2800" dirty="0" smtClean="0"/>
              <a:t>+ </a:t>
            </a:r>
            <a:r>
              <a:rPr lang="en-US" altLang="x-none" sz="2800" dirty="0"/>
              <a:t>6</a:t>
            </a:r>
            <a:endParaRPr lang="en-US" altLang="x-none" sz="2800" b="1" i="1" dirty="0">
              <a:solidFill>
                <a:srgbClr val="0066FF"/>
              </a:solidFill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>
            <a:off x="5291682" y="4450518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1" name="Line 21"/>
          <p:cNvSpPr>
            <a:spLocks noChangeShapeType="1"/>
          </p:cNvSpPr>
          <p:nvPr/>
        </p:nvSpPr>
        <p:spPr bwMode="auto">
          <a:xfrm>
            <a:off x="6100677" y="4450518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2" name="Text Box 22"/>
          <p:cNvSpPr txBox="1">
            <a:spLocks noChangeArrowheads="1"/>
          </p:cNvSpPr>
          <p:nvPr/>
        </p:nvSpPr>
        <p:spPr bwMode="auto">
          <a:xfrm>
            <a:off x="5424355" y="4560464"/>
            <a:ext cx="15954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7x = 14</a:t>
            </a: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7754255" y="4590363"/>
            <a:ext cx="37350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b="1" i="1">
                <a:solidFill>
                  <a:srgbClr val="0066FF"/>
                </a:solidFill>
              </a:rPr>
              <a:t>Divide both sides by 7.</a:t>
            </a:r>
          </a:p>
        </p:txBody>
      </p:sp>
      <p:sp>
        <p:nvSpPr>
          <p:cNvPr id="35" name="Line 24"/>
          <p:cNvSpPr>
            <a:spLocks noChangeShapeType="1"/>
          </p:cNvSpPr>
          <p:nvPr/>
        </p:nvSpPr>
        <p:spPr bwMode="auto">
          <a:xfrm>
            <a:off x="5414516" y="4991650"/>
            <a:ext cx="4778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>
            <a:off x="6161148" y="4965122"/>
            <a:ext cx="4778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7" name="Text Box 26"/>
          <p:cNvSpPr txBox="1">
            <a:spLocks noChangeArrowheads="1"/>
          </p:cNvSpPr>
          <p:nvPr/>
        </p:nvSpPr>
        <p:spPr bwMode="auto">
          <a:xfrm>
            <a:off x="5518895" y="4897055"/>
            <a:ext cx="18303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7      7</a:t>
            </a:r>
          </a:p>
        </p:txBody>
      </p: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5518895" y="5682669"/>
            <a:ext cx="1524000" cy="523220"/>
          </a:xfrm>
          <a:prstGeom prst="rect">
            <a:avLst/>
          </a:prstGeom>
          <a:solidFill>
            <a:srgbClr val="FFFF00"/>
          </a:solidFill>
          <a:ln w="762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/>
              <a:t>x = 2</a:t>
            </a:r>
          </a:p>
        </p:txBody>
      </p:sp>
      <p:sp>
        <p:nvSpPr>
          <p:cNvPr id="39" name="Text Box 28"/>
          <p:cNvSpPr txBox="1">
            <a:spLocks noChangeArrowheads="1"/>
          </p:cNvSpPr>
          <p:nvPr/>
        </p:nvSpPr>
        <p:spPr bwMode="auto">
          <a:xfrm>
            <a:off x="7762829" y="3988062"/>
            <a:ext cx="34135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b="1" i="1" dirty="0">
                <a:solidFill>
                  <a:srgbClr val="0066FF"/>
                </a:solidFill>
              </a:rPr>
              <a:t>Add 6 to both sides.</a:t>
            </a:r>
          </a:p>
        </p:txBody>
      </p:sp>
      <p:grpSp>
        <p:nvGrpSpPr>
          <p:cNvPr id="40" name="Group 31"/>
          <p:cNvGrpSpPr>
            <a:grpSpLocks/>
          </p:cNvGrpSpPr>
          <p:nvPr/>
        </p:nvGrpSpPr>
        <p:grpSpPr bwMode="auto">
          <a:xfrm>
            <a:off x="2539555" y="4198917"/>
            <a:ext cx="2816225" cy="1931988"/>
            <a:chOff x="137" y="2542"/>
            <a:chExt cx="1774" cy="1217"/>
          </a:xfrm>
        </p:grpSpPr>
        <p:sp>
          <p:nvSpPr>
            <p:cNvPr id="41" name="Text Box 29"/>
            <p:cNvSpPr txBox="1">
              <a:spLocks noChangeArrowheads="1"/>
            </p:cNvSpPr>
            <p:nvPr/>
          </p:nvSpPr>
          <p:spPr bwMode="auto">
            <a:xfrm>
              <a:off x="137" y="2615"/>
              <a:ext cx="1325" cy="11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x-none" sz="2800"/>
                <a:t>Now it’s a regular 2-step equation.</a:t>
              </a:r>
            </a:p>
          </p:txBody>
        </p:sp>
        <p:sp>
          <p:nvSpPr>
            <p:cNvPr id="42" name="Line 30"/>
            <p:cNvSpPr>
              <a:spLocks noChangeShapeType="1"/>
            </p:cNvSpPr>
            <p:nvPr/>
          </p:nvSpPr>
          <p:spPr bwMode="auto">
            <a:xfrm flipV="1">
              <a:off x="1472" y="2542"/>
              <a:ext cx="439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</p:grpSp>
      <p:sp>
        <p:nvSpPr>
          <p:cNvPr id="43" name="Line 32"/>
          <p:cNvSpPr>
            <a:spLocks noChangeShapeType="1"/>
          </p:cNvSpPr>
          <p:nvPr/>
        </p:nvSpPr>
        <p:spPr bwMode="auto">
          <a:xfrm>
            <a:off x="5601306" y="3604176"/>
            <a:ext cx="182572" cy="753816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44" name="Line 33"/>
          <p:cNvSpPr>
            <a:spLocks noChangeShapeType="1"/>
          </p:cNvSpPr>
          <p:nvPr/>
        </p:nvSpPr>
        <p:spPr bwMode="auto">
          <a:xfrm>
            <a:off x="5510112" y="4560463"/>
            <a:ext cx="246063" cy="79851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73132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 animBg="1"/>
      <p:bldP spid="21" grpId="1" animBg="1"/>
      <p:bldP spid="22" grpId="0" animBg="1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29" grpId="0"/>
      <p:bldP spid="30" grpId="0" animBg="1"/>
      <p:bldP spid="31" grpId="0" animBg="1"/>
      <p:bldP spid="32" grpId="0"/>
      <p:bldP spid="34" grpId="0"/>
      <p:bldP spid="35" grpId="0" animBg="1"/>
      <p:bldP spid="36" grpId="0" animBg="1"/>
      <p:bldP spid="37" grpId="0"/>
      <p:bldP spid="38" grpId="0" animBg="1"/>
      <p:bldP spid="39" grpId="0"/>
      <p:bldP spid="43" grpId="0" animBg="1"/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3562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1222" y="1535622"/>
            <a:ext cx="0" cy="53223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843270"/>
            <a:ext cx="16977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Example 2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</a:t>
            </a:r>
            <a:r>
              <a:rPr lang="en-AU" sz="2400" dirty="0" smtClean="0"/>
              <a:t>we solve more advanced multi-step equations?</a:t>
            </a:r>
            <a:endParaRPr lang="en-AU" sz="2400" dirty="0"/>
          </a:p>
        </p:txBody>
      </p:sp>
      <p:sp>
        <p:nvSpPr>
          <p:cNvPr id="14" name="Rectangle 23"/>
          <p:cNvSpPr>
            <a:spLocks noChangeArrowheads="1"/>
          </p:cNvSpPr>
          <p:nvPr/>
        </p:nvSpPr>
        <p:spPr bwMode="auto">
          <a:xfrm>
            <a:off x="5561830" y="5955560"/>
            <a:ext cx="1350963" cy="695325"/>
          </a:xfrm>
          <a:prstGeom prst="rect">
            <a:avLst/>
          </a:prstGeom>
          <a:solidFill>
            <a:srgbClr val="FFFF00"/>
          </a:solidFill>
          <a:ln w="762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800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695901" y="1708443"/>
            <a:ext cx="64595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 smtClean="0"/>
              <a:t>Example:   3x </a:t>
            </a:r>
            <a:r>
              <a:rPr lang="en-US" altLang="x-none" sz="2800" dirty="0"/>
              <a:t>+ 2 ( 2x – 1 ) = 33</a:t>
            </a:r>
          </a:p>
        </p:txBody>
      </p:sp>
      <p:sp>
        <p:nvSpPr>
          <p:cNvPr id="16" name="Freeform 5"/>
          <p:cNvSpPr>
            <a:spLocks/>
          </p:cNvSpPr>
          <p:nvPr/>
        </p:nvSpPr>
        <p:spPr bwMode="auto">
          <a:xfrm>
            <a:off x="5051283" y="1762168"/>
            <a:ext cx="471488" cy="112713"/>
          </a:xfrm>
          <a:custGeom>
            <a:avLst/>
            <a:gdLst>
              <a:gd name="T0" fmla="*/ 0 w 197"/>
              <a:gd name="T1" fmla="*/ 46 h 71"/>
              <a:gd name="T2" fmla="*/ 66 w 197"/>
              <a:gd name="T3" fmla="*/ 5 h 71"/>
              <a:gd name="T4" fmla="*/ 164 w 197"/>
              <a:gd name="T5" fmla="*/ 13 h 71"/>
              <a:gd name="T6" fmla="*/ 197 w 197"/>
              <a:gd name="T7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7" h="71">
                <a:moveTo>
                  <a:pt x="0" y="46"/>
                </a:moveTo>
                <a:cubicBezTo>
                  <a:pt x="19" y="28"/>
                  <a:pt x="39" y="10"/>
                  <a:pt x="66" y="5"/>
                </a:cubicBezTo>
                <a:cubicBezTo>
                  <a:pt x="93" y="0"/>
                  <a:pt x="142" y="2"/>
                  <a:pt x="164" y="13"/>
                </a:cubicBezTo>
                <a:cubicBezTo>
                  <a:pt x="186" y="24"/>
                  <a:pt x="191" y="47"/>
                  <a:pt x="197" y="71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5102419" y="2434656"/>
            <a:ext cx="5862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4x</a:t>
            </a:r>
          </a:p>
        </p:txBody>
      </p:sp>
      <p:sp>
        <p:nvSpPr>
          <p:cNvPr id="18" name="Freeform 7"/>
          <p:cNvSpPr>
            <a:spLocks/>
          </p:cNvSpPr>
          <p:nvPr/>
        </p:nvSpPr>
        <p:spPr bwMode="auto">
          <a:xfrm>
            <a:off x="5051285" y="1641518"/>
            <a:ext cx="1105368" cy="198035"/>
          </a:xfrm>
          <a:custGeom>
            <a:avLst/>
            <a:gdLst>
              <a:gd name="T0" fmla="*/ 0 w 527"/>
              <a:gd name="T1" fmla="*/ 106 h 106"/>
              <a:gd name="T2" fmla="*/ 90 w 527"/>
              <a:gd name="T3" fmla="*/ 15 h 106"/>
              <a:gd name="T4" fmla="*/ 354 w 527"/>
              <a:gd name="T5" fmla="*/ 15 h 106"/>
              <a:gd name="T6" fmla="*/ 527 w 527"/>
              <a:gd name="T7" fmla="*/ 106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7" h="106">
                <a:moveTo>
                  <a:pt x="0" y="106"/>
                </a:moveTo>
                <a:cubicBezTo>
                  <a:pt x="15" y="68"/>
                  <a:pt x="31" y="30"/>
                  <a:pt x="90" y="15"/>
                </a:cubicBezTo>
                <a:cubicBezTo>
                  <a:pt x="149" y="0"/>
                  <a:pt x="281" y="0"/>
                  <a:pt x="354" y="15"/>
                </a:cubicBezTo>
                <a:cubicBezTo>
                  <a:pt x="427" y="30"/>
                  <a:pt x="477" y="68"/>
                  <a:pt x="527" y="10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5612462" y="2430926"/>
            <a:ext cx="8286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– 2 </a:t>
            </a: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4251497" y="2434919"/>
            <a:ext cx="38322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3x </a:t>
            </a:r>
            <a:r>
              <a:rPr lang="en-US" altLang="x-none" sz="2800" dirty="0" smtClean="0"/>
              <a:t>  +                </a:t>
            </a:r>
            <a:r>
              <a:rPr lang="en-US" altLang="x-none" sz="2800" dirty="0"/>
              <a:t>= 33</a:t>
            </a:r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4500333" y="2952881"/>
            <a:ext cx="330200" cy="566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 flipH="1">
            <a:off x="4958089" y="3019610"/>
            <a:ext cx="307975" cy="450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4588043" y="3526624"/>
            <a:ext cx="7683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7x</a:t>
            </a:r>
          </a:p>
        </p:txBody>
      </p:sp>
      <p:sp>
        <p:nvSpPr>
          <p:cNvPr id="24" name="Text Box 13"/>
          <p:cNvSpPr txBox="1">
            <a:spLocks noChangeArrowheads="1"/>
          </p:cNvSpPr>
          <p:nvPr/>
        </p:nvSpPr>
        <p:spPr bwMode="auto">
          <a:xfrm>
            <a:off x="5251777" y="3498673"/>
            <a:ext cx="2365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– 2  </a:t>
            </a:r>
            <a:r>
              <a:rPr lang="en-US" altLang="x-none" sz="2800" dirty="0" smtClean="0"/>
              <a:t> =   33</a:t>
            </a:r>
            <a:endParaRPr lang="en-US" altLang="x-none" sz="2800" dirty="0"/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5274962" y="4045092"/>
            <a:ext cx="21193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+ 2      + 2</a:t>
            </a:r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 flipH="1">
            <a:off x="5215463" y="4581818"/>
            <a:ext cx="8556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 flipH="1">
            <a:off x="6211419" y="4591636"/>
            <a:ext cx="8556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5451798" y="3454879"/>
            <a:ext cx="371476" cy="10795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5398665" y="4691254"/>
            <a:ext cx="17986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7x </a:t>
            </a:r>
            <a:r>
              <a:rPr lang="en-US" altLang="x-none" sz="2800" dirty="0" smtClean="0"/>
              <a:t> =    35</a:t>
            </a:r>
            <a:endParaRPr lang="en-US" altLang="x-none" sz="2800" dirty="0"/>
          </a:p>
        </p:txBody>
      </p:sp>
      <p:sp>
        <p:nvSpPr>
          <p:cNvPr id="30" name="Line 19"/>
          <p:cNvSpPr>
            <a:spLocks noChangeShapeType="1"/>
          </p:cNvSpPr>
          <p:nvPr/>
        </p:nvSpPr>
        <p:spPr bwMode="auto">
          <a:xfrm flipH="1">
            <a:off x="5360050" y="5214474"/>
            <a:ext cx="666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 flipH="1">
            <a:off x="6334618" y="5214474"/>
            <a:ext cx="6524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5500219" y="5229347"/>
            <a:ext cx="1422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7   </a:t>
            </a:r>
            <a:r>
              <a:rPr lang="en-US" altLang="x-none" sz="2800" dirty="0" smtClean="0"/>
              <a:t>       </a:t>
            </a:r>
            <a:r>
              <a:rPr lang="en-US" altLang="x-none" sz="2800" dirty="0"/>
              <a:t>7</a:t>
            </a: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5823274" y="6041612"/>
            <a:ext cx="14065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b="1"/>
              <a:t>x = 5</a:t>
            </a:r>
          </a:p>
        </p:txBody>
      </p:sp>
      <p:sp>
        <p:nvSpPr>
          <p:cNvPr id="34" name="Line 24"/>
          <p:cNvSpPr>
            <a:spLocks noChangeShapeType="1"/>
          </p:cNvSpPr>
          <p:nvPr/>
        </p:nvSpPr>
        <p:spPr bwMode="auto">
          <a:xfrm>
            <a:off x="5529072" y="4778290"/>
            <a:ext cx="204788" cy="100171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8773170" y="1773710"/>
            <a:ext cx="301429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x-none" sz="2800" i="1" dirty="0">
                <a:latin typeface="+mn-lt"/>
              </a:rPr>
              <a:t>Use Distributive </a:t>
            </a:r>
            <a:r>
              <a:rPr lang="en-US" altLang="x-none" sz="2800" i="1" dirty="0" smtClean="0">
                <a:latin typeface="+mn-lt"/>
              </a:rPr>
              <a:t>Property</a:t>
            </a:r>
            <a:endParaRPr lang="en-US" altLang="x-none" sz="2800" i="1" dirty="0">
              <a:latin typeface="+mn-lt"/>
            </a:endParaRPr>
          </a:p>
          <a:p>
            <a:pPr>
              <a:spcBef>
                <a:spcPct val="50000"/>
              </a:spcBef>
            </a:pPr>
            <a:r>
              <a:rPr lang="en-US" altLang="x-none" sz="2800" i="1" dirty="0">
                <a:latin typeface="+mn-lt"/>
              </a:rPr>
              <a:t>2. Combine Like </a:t>
            </a:r>
            <a:r>
              <a:rPr lang="en-US" altLang="x-none" sz="2800" i="1" dirty="0" smtClean="0">
                <a:latin typeface="+mn-lt"/>
              </a:rPr>
              <a:t>terms</a:t>
            </a:r>
            <a:endParaRPr lang="en-US" altLang="x-none" sz="2800" i="1" dirty="0">
              <a:latin typeface="+mn-lt"/>
            </a:endParaRPr>
          </a:p>
          <a:p>
            <a:pPr>
              <a:spcBef>
                <a:spcPct val="50000"/>
              </a:spcBef>
            </a:pPr>
            <a:r>
              <a:rPr lang="en-US" altLang="x-none" sz="2800" i="1" dirty="0">
                <a:latin typeface="+mn-lt"/>
              </a:rPr>
              <a:t>3. Use Inverse Operations</a:t>
            </a:r>
          </a:p>
        </p:txBody>
      </p:sp>
    </p:spTree>
    <p:extLst>
      <p:ext uri="{BB962C8B-B14F-4D97-AF65-F5344CB8AC3E}">
        <p14:creationId xmlns:p14="http://schemas.microsoft.com/office/powerpoint/2010/main" val="17377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 animBg="1"/>
      <p:bldP spid="29" grpId="0"/>
      <p:bldP spid="30" grpId="0" animBg="1"/>
      <p:bldP spid="31" grpId="0" animBg="1"/>
      <p:bldP spid="32" grpId="0"/>
      <p:bldP spid="33" grpId="0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75200" y="88900"/>
            <a:ext cx="21216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Your turn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796786"/>
            <a:ext cx="6870700" cy="1092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71700"/>
            <a:ext cx="7239000" cy="1143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597414"/>
            <a:ext cx="7404100" cy="711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711700"/>
            <a:ext cx="75819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5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4645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1222" y="1646454"/>
            <a:ext cx="0" cy="45060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multi-step equations differ from one and two-step equations?</a:t>
            </a:r>
            <a:endParaRPr lang="en-AU" sz="24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0" y="6152517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3471" y="6152517"/>
            <a:ext cx="1524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 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843270"/>
            <a:ext cx="16977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/>
              <a:t>Solving Multi-Step</a:t>
            </a:r>
            <a:endParaRPr lang="en-US" sz="2800" b="1" dirty="0" smtClean="0"/>
          </a:p>
          <a:p>
            <a:r>
              <a:rPr lang="en-US" sz="2800" b="1" dirty="0" smtClean="0"/>
              <a:t>Equations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949689" y="3975454"/>
            <a:ext cx="4835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Don’t forget!!!</a:t>
            </a:r>
            <a:endParaRPr lang="en-US" sz="3600" dirty="0"/>
          </a:p>
        </p:txBody>
      </p:sp>
      <p:sp>
        <p:nvSpPr>
          <p:cNvPr id="14" name="Down Arrow 13"/>
          <p:cNvSpPr/>
          <p:nvPr/>
        </p:nvSpPr>
        <p:spPr>
          <a:xfrm>
            <a:off x="2906038" y="4712445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5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719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842</Words>
  <Application>Microsoft Macintosh PowerPoint</Application>
  <PresentationFormat>Widescreen</PresentationFormat>
  <Paragraphs>200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 Light</vt:lpstr>
      <vt:lpstr>Cambria Math</vt:lpstr>
      <vt:lpstr>Impact</vt:lpstr>
      <vt:lpstr>Mangal</vt:lpstr>
      <vt:lpstr>Arial</vt:lpstr>
      <vt:lpstr>Calibri</vt:lpstr>
      <vt:lpstr>Times New Roman</vt:lpstr>
      <vt:lpstr>Office Theme</vt:lpstr>
      <vt:lpstr>My Algebra Interactive Notebook</vt:lpstr>
      <vt:lpstr>Interactive Notebooks!</vt:lpstr>
      <vt:lpstr>PowerPoint Presentation</vt:lpstr>
      <vt:lpstr>Balancing Equations Video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</vt:vector>
  </TitlesOfParts>
  <Company/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SUMMERS Brad [Baldivis Secondary College]</dc:creator>
  <cp:lastModifiedBy>SUMMERS Brad [Baldivis Secondary College]</cp:lastModifiedBy>
  <cp:revision>48</cp:revision>
  <dcterms:created xsi:type="dcterms:W3CDTF">2017-07-23T05:14:02Z</dcterms:created>
  <dcterms:modified xsi:type="dcterms:W3CDTF">2017-08-20T09:45:40Z</dcterms:modified>
</cp:coreProperties>
</file>
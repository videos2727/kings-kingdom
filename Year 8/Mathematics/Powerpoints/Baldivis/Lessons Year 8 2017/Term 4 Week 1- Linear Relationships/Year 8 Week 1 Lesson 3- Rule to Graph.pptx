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0" r:id="rId2"/>
    <p:sldId id="274" r:id="rId3"/>
    <p:sldId id="260" r:id="rId4"/>
    <p:sldId id="269" r:id="rId5"/>
    <p:sldId id="271" r:id="rId6"/>
    <p:sldId id="272" r:id="rId7"/>
    <p:sldId id="273" r:id="rId8"/>
    <p:sldId id="275" r:id="rId9"/>
  </p:sldIdLst>
  <p:sldSz cx="9144000" cy="5715000" type="screen16x10"/>
  <p:notesSz cx="6858000" cy="9144000"/>
  <p:defaultText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8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35302"/>
            <a:ext cx="7772400" cy="1989667"/>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E7A99ED-A8AF-4676-B05C-E766400A731B}" type="datetimeFigureOut">
              <a:rPr lang="en-AU" smtClean="0"/>
              <a:t>5/10/2017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579751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7A99ED-A8AF-4676-B05C-E766400A731B}" type="datetimeFigureOut">
              <a:rPr lang="en-AU" smtClean="0"/>
              <a:t>5/10/2017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617229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7"/>
            <a:ext cx="7886700" cy="2377281"/>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623888" y="3824554"/>
            <a:ext cx="7886700" cy="1250156"/>
          </a:xfrm>
        </p:spPr>
        <p:txBody>
          <a:bodyPr/>
          <a:lstStyle>
            <a:lvl1pPr marL="0" indent="0">
              <a:buNone/>
              <a:defRPr sz="1800">
                <a:solidFill>
                  <a:schemeClr val="tx1"/>
                </a:solidFill>
              </a:defRPr>
            </a:lvl1pPr>
            <a:lvl2pPr marL="342884" indent="0">
              <a:buNone/>
              <a:defRPr sz="1500">
                <a:solidFill>
                  <a:schemeClr val="tx1">
                    <a:tint val="75000"/>
                  </a:schemeClr>
                </a:solidFill>
              </a:defRPr>
            </a:lvl2pPr>
            <a:lvl3pPr marL="685766" indent="0">
              <a:buNone/>
              <a:defRPr sz="1350">
                <a:solidFill>
                  <a:schemeClr val="tx1">
                    <a:tint val="75000"/>
                  </a:schemeClr>
                </a:solidFill>
              </a:defRPr>
            </a:lvl3pPr>
            <a:lvl4pPr marL="1028649" indent="0">
              <a:buNone/>
              <a:defRPr sz="1200">
                <a:solidFill>
                  <a:schemeClr val="tx1">
                    <a:tint val="75000"/>
                  </a:schemeClr>
                </a:solidFill>
              </a:defRPr>
            </a:lvl4pPr>
            <a:lvl5pPr marL="1371532" indent="0">
              <a:buNone/>
              <a:defRPr sz="1200">
                <a:solidFill>
                  <a:schemeClr val="tx1">
                    <a:tint val="75000"/>
                  </a:schemeClr>
                </a:solidFill>
              </a:defRPr>
            </a:lvl5pPr>
            <a:lvl6pPr marL="1714415" indent="0">
              <a:buNone/>
              <a:defRPr sz="1200">
                <a:solidFill>
                  <a:schemeClr val="tx1">
                    <a:tint val="75000"/>
                  </a:schemeClr>
                </a:solidFill>
              </a:defRPr>
            </a:lvl6pPr>
            <a:lvl7pPr marL="2057297" indent="0">
              <a:buNone/>
              <a:defRPr sz="1200">
                <a:solidFill>
                  <a:schemeClr val="tx1">
                    <a:tint val="75000"/>
                  </a:schemeClr>
                </a:solidFill>
              </a:defRPr>
            </a:lvl7pPr>
            <a:lvl8pPr marL="2400180" indent="0">
              <a:buNone/>
              <a:defRPr sz="1200">
                <a:solidFill>
                  <a:schemeClr val="tx1">
                    <a:tint val="75000"/>
                  </a:schemeClr>
                </a:solidFill>
              </a:defRPr>
            </a:lvl8pPr>
            <a:lvl9pPr marL="2743064"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7A99ED-A8AF-4676-B05C-E766400A731B}" type="datetimeFigureOut">
              <a:rPr lang="en-AU" smtClean="0"/>
              <a:t>5/10/2017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85905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521354"/>
            <a:ext cx="3886200" cy="36261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521354"/>
            <a:ext cx="3886200" cy="36261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E7A99ED-A8AF-4676-B05C-E766400A731B}" type="datetimeFigureOut">
              <a:rPr lang="en-AU" smtClean="0"/>
              <a:t>5/10/2017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2365072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4"/>
            <a:ext cx="7886700" cy="110463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6" y="1400969"/>
            <a:ext cx="3887391" cy="686593"/>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6" y="2087563"/>
            <a:ext cx="3887391" cy="307049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E7A99ED-A8AF-4676-B05C-E766400A731B}" type="datetimeFigureOut">
              <a:rPr lang="en-AU" smtClean="0"/>
              <a:t>5/10/2017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855314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E7A99ED-A8AF-4676-B05C-E766400A731B}" type="datetimeFigureOut">
              <a:rPr lang="en-AU" smtClean="0"/>
              <a:t>5/10/2017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0549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7A99ED-A8AF-4676-B05C-E766400A731B}" type="datetimeFigureOut">
              <a:rPr lang="en-AU" smtClean="0"/>
              <a:t>5/10/2017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2168413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822860"/>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1714503"/>
            <a:ext cx="2949178" cy="3176323"/>
          </a:xfrm>
        </p:spPr>
        <p:txBody>
          <a:bodyPr/>
          <a:lstStyle>
            <a:lvl1pPr marL="0" indent="0">
              <a:buNone/>
              <a:defRPr sz="1200"/>
            </a:lvl1pPr>
            <a:lvl2pPr marL="342884" indent="0">
              <a:buNone/>
              <a:defRPr sz="1050"/>
            </a:lvl2pPr>
            <a:lvl3pPr marL="685766" indent="0">
              <a:buNone/>
              <a:defRPr sz="900"/>
            </a:lvl3pPr>
            <a:lvl4pPr marL="1028649" indent="0">
              <a:buNone/>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7A99ED-A8AF-4676-B05C-E766400A731B}" type="datetimeFigureOut">
              <a:rPr lang="en-AU" smtClean="0"/>
              <a:t>5/10/2017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51249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822860"/>
            <a:ext cx="4629150" cy="4061354"/>
          </a:xfrm>
        </p:spPr>
        <p:txBody>
          <a:bodyPr anchor="t"/>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29841" y="1714503"/>
            <a:ext cx="2949178" cy="3176323"/>
          </a:xfrm>
        </p:spPr>
        <p:txBody>
          <a:bodyPr/>
          <a:lstStyle>
            <a:lvl1pPr marL="0" indent="0">
              <a:buNone/>
              <a:defRPr sz="1200"/>
            </a:lvl1pPr>
            <a:lvl2pPr marL="342884" indent="0">
              <a:buNone/>
              <a:defRPr sz="1050"/>
            </a:lvl2pPr>
            <a:lvl3pPr marL="685766" indent="0">
              <a:buNone/>
              <a:defRPr sz="900"/>
            </a:lvl3pPr>
            <a:lvl4pPr marL="1028649" indent="0">
              <a:buNone/>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7A99ED-A8AF-4676-B05C-E766400A731B}" type="datetimeFigureOut">
              <a:rPr lang="en-AU" smtClean="0"/>
              <a:t>5/10/2017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622532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7A99ED-A8AF-4676-B05C-E766400A731B}" type="datetimeFigureOut">
              <a:rPr lang="en-AU" smtClean="0"/>
              <a:t>5/10/2017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1830340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04275"/>
            <a:ext cx="1971675" cy="4843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6" y="304275"/>
            <a:ext cx="5800725" cy="48431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E7A99ED-A8AF-4676-B05C-E766400A731B}" type="datetimeFigureOut">
              <a:rPr lang="en-AU" smtClean="0"/>
              <a:t>5/10/2017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862D77-99F0-4D6E-B2D3-BD2B8A2B4978}" type="slidenum">
              <a:rPr lang="en-AU" smtClean="0"/>
              <a:t>‹#›</a:t>
            </a:fld>
            <a:endParaRPr lang="en-AU"/>
          </a:p>
        </p:txBody>
      </p:sp>
    </p:spTree>
    <p:extLst>
      <p:ext uri="{BB962C8B-B14F-4D97-AF65-F5344CB8AC3E}">
        <p14:creationId xmlns:p14="http://schemas.microsoft.com/office/powerpoint/2010/main" val="325146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4"/>
            <a:ext cx="7886700" cy="110463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521354"/>
            <a:ext cx="7886700" cy="362611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5296960"/>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9E7A99ED-A8AF-4676-B05C-E766400A731B}" type="datetimeFigureOut">
              <a:rPr lang="en-AU" smtClean="0"/>
              <a:t>5/10/2017</a:t>
            </a:fld>
            <a:endParaRPr lang="en-AU"/>
          </a:p>
        </p:txBody>
      </p:sp>
      <p:sp>
        <p:nvSpPr>
          <p:cNvPr id="5" name="Footer Placeholder 4"/>
          <p:cNvSpPr>
            <a:spLocks noGrp="1"/>
          </p:cNvSpPr>
          <p:nvPr>
            <p:ph type="ftr" sz="quarter" idx="3"/>
          </p:nvPr>
        </p:nvSpPr>
        <p:spPr>
          <a:xfrm>
            <a:off x="3028950" y="5296960"/>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60"/>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89862D77-99F0-4D6E-B2D3-BD2B8A2B4978}" type="slidenum">
              <a:rPr lang="en-AU" smtClean="0"/>
              <a:t>‹#›</a:t>
            </a:fld>
            <a:endParaRPr lang="en-AU"/>
          </a:p>
        </p:txBody>
      </p:sp>
    </p:spTree>
    <p:extLst>
      <p:ext uri="{BB962C8B-B14F-4D97-AF65-F5344CB8AC3E}">
        <p14:creationId xmlns:p14="http://schemas.microsoft.com/office/powerpoint/2010/main" val="31620706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766"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2" indent="-171442" algn="l" defTabSz="685766"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25" indent="-171442" algn="l" defTabSz="685766"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3818" y="457068"/>
            <a:ext cx="6838569" cy="1225021"/>
          </a:xfrm>
        </p:spPr>
        <p:txBody>
          <a:bodyPr>
            <a:normAutofit/>
          </a:bodyPr>
          <a:lstStyle/>
          <a:p>
            <a:r>
              <a:rPr lang="en-AU" sz="4000" dirty="0">
                <a:latin typeface="+mn-lt"/>
              </a:rPr>
              <a:t>My Linear Relationships</a:t>
            </a:r>
            <a:br>
              <a:rPr lang="en-AU" sz="4000" dirty="0">
                <a:latin typeface="+mn-lt"/>
              </a:rPr>
            </a:br>
            <a:r>
              <a:rPr lang="en-AU" sz="4000" dirty="0">
                <a:latin typeface="+mn-lt"/>
              </a:rPr>
              <a:t>Interactive Notebook</a:t>
            </a:r>
          </a:p>
        </p:txBody>
      </p:sp>
      <p:sp>
        <p:nvSpPr>
          <p:cNvPr id="3" name="Subtitle 2"/>
          <p:cNvSpPr>
            <a:spLocks noGrp="1"/>
          </p:cNvSpPr>
          <p:nvPr>
            <p:ph type="subTitle" idx="1"/>
          </p:nvPr>
        </p:nvSpPr>
        <p:spPr>
          <a:xfrm>
            <a:off x="1647901" y="3398912"/>
            <a:ext cx="5715000" cy="1379802"/>
          </a:xfrm>
        </p:spPr>
        <p:txBody>
          <a:bodyPr>
            <a:normAutofit fontScale="85000" lnSpcReduction="20000"/>
          </a:bodyPr>
          <a:lstStyle/>
          <a:p>
            <a:pPr algn="l"/>
            <a:r>
              <a:rPr lang="en-AU" dirty="0" smtClean="0"/>
              <a:t>Name </a:t>
            </a:r>
          </a:p>
          <a:p>
            <a:pPr algn="l"/>
            <a:r>
              <a:rPr lang="en-AU" dirty="0" smtClean="0"/>
              <a:t>Class </a:t>
            </a:r>
          </a:p>
          <a:p>
            <a:pPr algn="l"/>
            <a:r>
              <a:rPr lang="en-AU" dirty="0" smtClean="0"/>
              <a:t>Teacher </a:t>
            </a:r>
          </a:p>
          <a:p>
            <a:pPr algn="l"/>
            <a:r>
              <a:rPr lang="en-AU" dirty="0" smtClean="0"/>
              <a:t>Semester 2</a:t>
            </a:r>
          </a:p>
          <a:p>
            <a:pPr algn="l"/>
            <a:r>
              <a:rPr lang="en-AU" dirty="0" smtClean="0"/>
              <a:t>Term 4</a:t>
            </a:r>
          </a:p>
          <a:p>
            <a:pPr algn="l"/>
            <a:endParaRPr lang="en-AU" dirty="0" smtClean="0"/>
          </a:p>
        </p:txBody>
      </p:sp>
      <p:sp>
        <p:nvSpPr>
          <p:cNvPr id="13" name="TextBox 12"/>
          <p:cNvSpPr txBox="1"/>
          <p:nvPr/>
        </p:nvSpPr>
        <p:spPr>
          <a:xfrm>
            <a:off x="8052387" y="5407224"/>
            <a:ext cx="458146" cy="323165"/>
          </a:xfrm>
          <a:prstGeom prst="rect">
            <a:avLst/>
          </a:prstGeom>
          <a:noFill/>
        </p:spPr>
        <p:txBody>
          <a:bodyPr wrap="square" rtlCol="0">
            <a:spAutoFit/>
          </a:bodyPr>
          <a:lstStyle/>
          <a:p>
            <a:r>
              <a:rPr lang="en-AU" sz="1500" dirty="0"/>
              <a:t>1</a:t>
            </a: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4648" y="2055469"/>
            <a:ext cx="3600400" cy="2978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0688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6489"/>
            <a:ext cx="7886700" cy="656878"/>
          </a:xfrm>
        </p:spPr>
        <p:txBody>
          <a:bodyPr/>
          <a:lstStyle/>
          <a:p>
            <a:pPr algn="ctr"/>
            <a:r>
              <a:rPr lang="en-US" dirty="0" smtClean="0"/>
              <a:t>From Last Lesson</a:t>
            </a:r>
            <a:endParaRPr lang="en-AU" dirty="0"/>
          </a:p>
        </p:txBody>
      </p:sp>
      <p:sp>
        <p:nvSpPr>
          <p:cNvPr id="3" name="Content Placeholder 2"/>
          <p:cNvSpPr>
            <a:spLocks noGrp="1"/>
          </p:cNvSpPr>
          <p:nvPr>
            <p:ph idx="1"/>
          </p:nvPr>
        </p:nvSpPr>
        <p:spPr>
          <a:xfrm>
            <a:off x="628650" y="716346"/>
            <a:ext cx="7886700" cy="410574"/>
          </a:xfrm>
        </p:spPr>
        <p:txBody>
          <a:bodyPr>
            <a:normAutofit/>
          </a:bodyPr>
          <a:lstStyle/>
          <a:p>
            <a:pPr marL="0" indent="0">
              <a:buNone/>
            </a:pPr>
            <a:r>
              <a:rPr lang="en-US" b="1" dirty="0" smtClean="0"/>
              <a:t>Match</a:t>
            </a:r>
            <a:r>
              <a:rPr lang="en-US" dirty="0" smtClean="0"/>
              <a:t> the line on the graph to the table of values</a:t>
            </a:r>
            <a:endParaRPr lang="en-AU" dirty="0"/>
          </a:p>
        </p:txBody>
      </p:sp>
      <p:pic>
        <p:nvPicPr>
          <p:cNvPr id="4" name="Picture 3"/>
          <p:cNvPicPr>
            <a:picLocks noChangeAspect="1"/>
          </p:cNvPicPr>
          <p:nvPr/>
        </p:nvPicPr>
        <p:blipFill>
          <a:blip r:embed="rId2"/>
          <a:stretch>
            <a:fillRect/>
          </a:stretch>
        </p:blipFill>
        <p:spPr>
          <a:xfrm>
            <a:off x="4345404" y="1187856"/>
            <a:ext cx="4626715" cy="4183176"/>
          </a:xfrm>
          <a:prstGeom prst="rect">
            <a:avLst/>
          </a:prstGeom>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185256130"/>
                  </p:ext>
                </p:extLst>
              </p:nvPr>
            </p:nvGraphicFramePr>
            <p:xfrm>
              <a:off x="720609" y="1213538"/>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ea typeface="Times New Roman"/>
                                  </a:rPr>
                                  <m:t>𝑥</m:t>
                                </m:r>
                              </m:oMath>
                            </m:oMathPara>
                          </a14:m>
                          <a:endParaRPr lang="en-AU" sz="2800" b="0" i="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2</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rPr>
                                  <m:t>𝑦</m:t>
                                </m:r>
                              </m:oMath>
                            </m:oMathPara>
                          </a14:m>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-2</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185256130"/>
                  </p:ext>
                </p:extLst>
              </p:nvPr>
            </p:nvGraphicFramePr>
            <p:xfrm>
              <a:off x="720609" y="1213538"/>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3"/>
                          <a:stretch>
                            <a:fillRect l="-1000" t="-22078" r="-405000" b="-137662"/>
                          </a:stretch>
                        </a:blip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2</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rotWithShape="0">
                          <a:blip r:embed="rId3"/>
                          <a:stretch>
                            <a:fillRect l="-1000" t="-122078" r="-405000" b="-37662"/>
                          </a:stretch>
                        </a:blipFill>
                      </a:tcPr>
                    </a:tc>
                    <a:tc>
                      <a:txBody>
                        <a:bodyPr/>
                        <a:lstStyle/>
                        <a:p>
                          <a:pPr algn="ctr">
                            <a:spcAft>
                              <a:spcPts val="0"/>
                            </a:spcAft>
                          </a:pPr>
                          <a:r>
                            <a:rPr lang="en-AU" sz="2800" b="0" dirty="0" smtClean="0">
                              <a:solidFill>
                                <a:schemeClr val="tx1"/>
                              </a:solidFill>
                              <a:effectLst/>
                            </a:rPr>
                            <a:t>-2</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954041107"/>
                  </p:ext>
                </p:extLst>
              </p:nvPr>
            </p:nvGraphicFramePr>
            <p:xfrm>
              <a:off x="720608" y="2355451"/>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ea typeface="Times New Roman"/>
                                  </a:rPr>
                                  <m:t>𝑥</m:t>
                                </m:r>
                              </m:oMath>
                            </m:oMathPara>
                          </a14:m>
                          <a:endParaRPr lang="en-AU" sz="2800" b="0" i="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2800" b="0" dirty="0" smtClean="0">
                              <a:solidFill>
                                <a:schemeClr val="tx1"/>
                              </a:solidFill>
                              <a:effectLst/>
                            </a:rPr>
                            <a:t>3</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rPr>
                                  <m:t>𝑦</m:t>
                                </m:r>
                              </m:oMath>
                            </m:oMathPara>
                          </a14:m>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3</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954041107"/>
                  </p:ext>
                </p:extLst>
              </p:nvPr>
            </p:nvGraphicFramePr>
            <p:xfrm>
              <a:off x="720608" y="2355451"/>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4"/>
                          <a:stretch>
                            <a:fillRect l="-1000" t="-22078" r="-405000" b="-138961"/>
                          </a:stretch>
                        </a:blip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AU" sz="2800" b="0" dirty="0" smtClean="0">
                              <a:solidFill>
                                <a:schemeClr val="tx1"/>
                              </a:solidFill>
                              <a:effectLst/>
                            </a:rPr>
                            <a:t>3</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rotWithShape="0">
                          <a:blip r:embed="rId4"/>
                          <a:stretch>
                            <a:fillRect l="-1000" t="-122078" r="-405000" b="-38961"/>
                          </a:stretch>
                        </a:blipFill>
                      </a:tcPr>
                    </a:tc>
                    <a:tc>
                      <a:txBody>
                        <a:bodyPr/>
                        <a:lstStyle/>
                        <a:p>
                          <a:pPr algn="ctr">
                            <a:spcAft>
                              <a:spcPts val="0"/>
                            </a:spcAft>
                          </a:pPr>
                          <a:r>
                            <a:rPr lang="en-AU" sz="2800" b="0" dirty="0" smtClean="0">
                              <a:solidFill>
                                <a:schemeClr val="tx1"/>
                              </a:solidFill>
                              <a:effectLst/>
                            </a:rPr>
                            <a:t>3</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992860487"/>
                  </p:ext>
                </p:extLst>
              </p:nvPr>
            </p:nvGraphicFramePr>
            <p:xfrm>
              <a:off x="720608" y="3508165"/>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ea typeface="Times New Roman"/>
                                  </a:rPr>
                                  <m:t>𝑥</m:t>
                                </m:r>
                              </m:oMath>
                            </m:oMathPara>
                          </a14:m>
                          <a:endParaRPr lang="en-AU" sz="2800" b="0" i="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1</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rPr>
                                  <m:t>𝑦</m:t>
                                </m:r>
                              </m:oMath>
                            </m:oMathPara>
                          </a14:m>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-7</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992860487"/>
                  </p:ext>
                </p:extLst>
              </p:nvPr>
            </p:nvGraphicFramePr>
            <p:xfrm>
              <a:off x="720608" y="3508165"/>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5"/>
                          <a:stretch>
                            <a:fillRect l="-1000" t="-22078" r="-405000" b="-138961"/>
                          </a:stretch>
                        </a:blip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1</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rotWithShape="0">
                          <a:blip r:embed="rId5"/>
                          <a:stretch>
                            <a:fillRect l="-1000" t="-122078" r="-405000" b="-38961"/>
                          </a:stretch>
                        </a:blipFill>
                      </a:tcPr>
                    </a:tc>
                    <a:tc>
                      <a:txBody>
                        <a:bodyPr/>
                        <a:lstStyle/>
                        <a:p>
                          <a:pPr algn="ctr">
                            <a:spcAft>
                              <a:spcPts val="0"/>
                            </a:spcAft>
                          </a:pPr>
                          <a:r>
                            <a:rPr lang="en-AU" sz="2800" b="0" dirty="0" smtClean="0">
                              <a:solidFill>
                                <a:schemeClr val="tx1"/>
                              </a:solidFill>
                              <a:effectLst/>
                            </a:rPr>
                            <a:t>-7</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AU" sz="2800" b="0" dirty="0" smtClean="0">
                              <a:solidFill>
                                <a:schemeClr val="tx1"/>
                              </a:solidFill>
                              <a:effectLst/>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255286655"/>
                  </p:ext>
                </p:extLst>
              </p:nvPr>
            </p:nvGraphicFramePr>
            <p:xfrm>
              <a:off x="720608" y="4626005"/>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ea typeface="Times New Roman"/>
                                  </a:rPr>
                                  <m:t>𝑥</m:t>
                                </m:r>
                              </m:oMath>
                            </m:oMathPara>
                          </a14:m>
                          <a:endParaRPr lang="en-AU" sz="2800" b="0" i="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2</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pPr algn="ctr">
                            <a:spcAft>
                              <a:spcPts val="0"/>
                            </a:spcAft>
                          </a:pPr>
                          <a14:m>
                            <m:oMathPara xmlns:m="http://schemas.openxmlformats.org/officeDocument/2006/math">
                              <m:oMathParaPr>
                                <m:jc m:val="centerGroup"/>
                              </m:oMathParaPr>
                              <m:oMath xmlns:m="http://schemas.openxmlformats.org/officeDocument/2006/math">
                                <m:r>
                                  <a:rPr lang="en-AU" sz="2800" b="0" i="1" smtClean="0">
                                    <a:solidFill>
                                      <a:schemeClr val="tx1"/>
                                    </a:solidFill>
                                    <a:effectLst/>
                                    <a:latin typeface="Cambria Math"/>
                                  </a:rPr>
                                  <m:t>𝑦</m:t>
                                </m:r>
                              </m:oMath>
                            </m:oMathPara>
                          </a14:m>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255286655"/>
                  </p:ext>
                </p:extLst>
              </p:nvPr>
            </p:nvGraphicFramePr>
            <p:xfrm>
              <a:off x="720608" y="4626005"/>
              <a:ext cx="3046991" cy="934778"/>
            </p:xfrm>
            <a:graphic>
              <a:graphicData uri="http://schemas.openxmlformats.org/drawingml/2006/table">
                <a:tbl>
                  <a:tblPr firstRow="1" firstCol="1" lastRow="1" lastCol="1" bandRow="1" bandCol="1">
                    <a:tableStyleId>{5C22544A-7EE6-4342-B048-85BDC9FD1C3A}</a:tableStyleId>
                  </a:tblPr>
                  <a:tblGrid>
                    <a:gridCol w="608617"/>
                    <a:gridCol w="608617"/>
                    <a:gridCol w="609919"/>
                    <a:gridCol w="609919"/>
                    <a:gridCol w="609919"/>
                  </a:tblGrid>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6"/>
                          <a:stretch>
                            <a:fillRect l="-1000" t="-20513" r="-405000" b="-135897"/>
                          </a:stretch>
                        </a:blip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smtClean="0">
                              <a:solidFill>
                                <a:schemeClr val="tx1"/>
                              </a:solidFill>
                              <a:effectLst/>
                              <a:latin typeface="+mn-lt"/>
                              <a:ea typeface="+mn-ea"/>
                            </a:rPr>
                            <a:t>2</a:t>
                          </a:r>
                          <a:endParaRPr lang="en-AU" sz="2800" b="0" dirty="0" smtClean="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4</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7389">
                    <a:tc>
                      <a:txBody>
                        <a:bodyPr/>
                        <a:lstStyle/>
                        <a:p>
                          <a:endParaRPr lang="en-US"/>
                        </a:p>
                      </a:txBody>
                      <a:tcPr marL="68580" marR="68580" marT="0" marB="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rotWithShape="0">
                          <a:blip r:embed="rId6"/>
                          <a:stretch>
                            <a:fillRect l="-1000" t="-122078" r="-405000" b="-37662"/>
                          </a:stretch>
                        </a:blipFill>
                      </a:tcPr>
                    </a:tc>
                    <a:tc>
                      <a:txBody>
                        <a:bodyPr/>
                        <a:lstStyle/>
                        <a:p>
                          <a:pPr algn="ctr">
                            <a:spcAft>
                              <a:spcPts val="0"/>
                            </a:spcAft>
                          </a:pPr>
                          <a:r>
                            <a:rPr lang="en-US" sz="2800" b="0" dirty="0" smtClean="0">
                              <a:solidFill>
                                <a:schemeClr val="tx1"/>
                              </a:solidFill>
                              <a:effectLst/>
                              <a:latin typeface="+mn-lt"/>
                              <a:ea typeface="+mn-ea"/>
                            </a:rPr>
                            <a:t>3</a:t>
                          </a:r>
                          <a:endParaRPr lang="en-AU" sz="2800" b="0" dirty="0">
                            <a:solidFill>
                              <a:schemeClr val="tx1"/>
                            </a:solidFill>
                            <a:effectLst/>
                            <a:latin typeface="Times New Roman"/>
                            <a:ea typeface="Times New Roman"/>
                          </a:endParaRPr>
                        </a:p>
                      </a:txBody>
                      <a:tcPr marL="68580" marR="68580" marT="0" marB="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2</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1</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spcAft>
                              <a:spcPts val="0"/>
                            </a:spcAft>
                          </a:pPr>
                          <a:r>
                            <a:rPr lang="en-US" sz="2800" b="0" dirty="0" smtClean="0">
                              <a:solidFill>
                                <a:schemeClr val="tx1"/>
                              </a:solidFill>
                              <a:effectLst/>
                              <a:latin typeface="+mn-lt"/>
                              <a:ea typeface="+mn-ea"/>
                            </a:rPr>
                            <a:t>0</a:t>
                          </a:r>
                          <a:endParaRPr lang="en-AU" sz="2800" b="0" dirty="0">
                            <a:solidFill>
                              <a:schemeClr val="tx1"/>
                            </a:solidFill>
                            <a:effectLst/>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r>
                </a:tbl>
              </a:graphicData>
            </a:graphic>
          </p:graphicFrame>
        </mc:Fallback>
      </mc:AlternateContent>
    </p:spTree>
    <p:extLst>
      <p:ext uri="{BB962C8B-B14F-4D97-AF65-F5344CB8AC3E}">
        <p14:creationId xmlns:p14="http://schemas.microsoft.com/office/powerpoint/2010/main" val="2944539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62368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flipV="1">
            <a:off x="0" y="1023490"/>
            <a:ext cx="9144000" cy="16221"/>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1345" y="10101"/>
            <a:ext cx="363034"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p:nvPr/>
        </p:nvCxnSpPr>
        <p:spPr>
          <a:xfrm>
            <a:off x="1798656" y="1046650"/>
            <a:ext cx="0" cy="466835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441866" y="66904"/>
            <a:ext cx="1188132" cy="461665"/>
          </a:xfrm>
          <a:prstGeom prst="rect">
            <a:avLst/>
          </a:prstGeom>
          <a:noFill/>
        </p:spPr>
        <p:txBody>
          <a:bodyPr wrap="square" rtlCol="0">
            <a:spAutoFit/>
          </a:bodyPr>
          <a:lstStyle/>
          <a:p>
            <a:r>
              <a:rPr lang="en-AU" sz="2400" dirty="0"/>
              <a:t>Date</a:t>
            </a:r>
          </a:p>
        </p:txBody>
      </p:sp>
      <p:sp>
        <p:nvSpPr>
          <p:cNvPr id="12" name="TextBox 11"/>
          <p:cNvSpPr txBox="1"/>
          <p:nvPr/>
        </p:nvSpPr>
        <p:spPr>
          <a:xfrm>
            <a:off x="381612" y="584985"/>
            <a:ext cx="6480453" cy="461665"/>
          </a:xfrm>
          <a:prstGeom prst="rect">
            <a:avLst/>
          </a:prstGeom>
          <a:noFill/>
        </p:spPr>
        <p:txBody>
          <a:bodyPr wrap="square" rtlCol="0">
            <a:spAutoFit/>
          </a:bodyPr>
          <a:lstStyle/>
          <a:p>
            <a:r>
              <a:rPr lang="en-AU" sz="2400" dirty="0"/>
              <a:t>EQ </a:t>
            </a:r>
            <a:r>
              <a:rPr lang="en-AU" sz="2400" dirty="0" smtClean="0"/>
              <a:t>– How do </a:t>
            </a:r>
            <a:r>
              <a:rPr lang="en-AU" sz="2400" dirty="0"/>
              <a:t>I</a:t>
            </a:r>
            <a:r>
              <a:rPr lang="en-AU" sz="2400" dirty="0" smtClean="0"/>
              <a:t> plot a linear equation on a graph? </a:t>
            </a:r>
            <a:endParaRPr lang="en-AU" sz="2400" dirty="0"/>
          </a:p>
        </p:txBody>
      </p:sp>
      <p:sp>
        <p:nvSpPr>
          <p:cNvPr id="2" name="TextBox 1"/>
          <p:cNvSpPr txBox="1"/>
          <p:nvPr/>
        </p:nvSpPr>
        <p:spPr>
          <a:xfrm>
            <a:off x="1798656" y="3511661"/>
            <a:ext cx="6831342" cy="1569660"/>
          </a:xfrm>
          <a:prstGeom prst="rect">
            <a:avLst/>
          </a:prstGeom>
          <a:noFill/>
        </p:spPr>
        <p:txBody>
          <a:bodyPr wrap="square" rtlCol="0">
            <a:spAutoFit/>
          </a:bodyPr>
          <a:lstStyle/>
          <a:p>
            <a:r>
              <a:rPr lang="en-AU" sz="1600" i="1" dirty="0" smtClean="0"/>
              <a:t>Let’s say our linear relationship was the cost of a tree-loping job was equal to </a:t>
            </a:r>
            <a:r>
              <a:rPr lang="en-AU" sz="1600" b="1" i="1" dirty="0" smtClean="0"/>
              <a:t>$40 per hour of work plus a $100 call out fee </a:t>
            </a:r>
            <a:r>
              <a:rPr lang="en-AU" sz="1600" i="1" dirty="0" smtClean="0"/>
              <a:t>(just for coming out). </a:t>
            </a:r>
          </a:p>
          <a:p>
            <a:r>
              <a:rPr lang="en-AU" sz="1600" dirty="0" smtClean="0"/>
              <a:t>Our linear equation would be </a:t>
            </a:r>
            <a:r>
              <a:rPr lang="en-AU" sz="1600" b="1" dirty="0" smtClean="0"/>
              <a:t>y = 40x + 100 </a:t>
            </a:r>
            <a:r>
              <a:rPr lang="en-AU" sz="1600" dirty="0" smtClean="0"/>
              <a:t>(where y= cost and x= no. of hours).</a:t>
            </a:r>
          </a:p>
          <a:p>
            <a:endParaRPr lang="en-US" sz="1600" dirty="0" smtClean="0"/>
          </a:p>
          <a:p>
            <a:r>
              <a:rPr lang="en-US" sz="1600" i="1" dirty="0" smtClean="0"/>
              <a:t>We don’t know how long the job will take yet so we don’t know what it will cost. To work out the cost for each hour it’ll take, we could graph this equation.</a:t>
            </a:r>
            <a:endParaRPr lang="en-AU" sz="1600" i="1" dirty="0" smtClean="0"/>
          </a:p>
        </p:txBody>
      </p:sp>
      <p:sp>
        <p:nvSpPr>
          <p:cNvPr id="13" name="TextBox 12"/>
          <p:cNvSpPr txBox="1"/>
          <p:nvPr/>
        </p:nvSpPr>
        <p:spPr>
          <a:xfrm>
            <a:off x="585724" y="158728"/>
            <a:ext cx="2753446" cy="461665"/>
          </a:xfrm>
          <a:prstGeom prst="rect">
            <a:avLst/>
          </a:prstGeom>
          <a:noFill/>
        </p:spPr>
        <p:txBody>
          <a:bodyPr wrap="none" rtlCol="0">
            <a:spAutoFit/>
          </a:bodyPr>
          <a:lstStyle/>
          <a:p>
            <a:r>
              <a:rPr lang="en-AU" sz="2400" b="1" dirty="0" smtClean="0"/>
              <a:t>Linear Relationships</a:t>
            </a:r>
            <a:endParaRPr lang="en-AU" sz="2400" dirty="0"/>
          </a:p>
        </p:txBody>
      </p:sp>
      <p:sp>
        <p:nvSpPr>
          <p:cNvPr id="14" name="TextBox 13"/>
          <p:cNvSpPr txBox="1"/>
          <p:nvPr/>
        </p:nvSpPr>
        <p:spPr>
          <a:xfrm>
            <a:off x="1798656" y="1032248"/>
            <a:ext cx="5152159" cy="2554545"/>
          </a:xfrm>
          <a:prstGeom prst="rect">
            <a:avLst/>
          </a:prstGeom>
          <a:noFill/>
        </p:spPr>
        <p:txBody>
          <a:bodyPr wrap="square" rtlCol="0">
            <a:spAutoFit/>
          </a:bodyPr>
          <a:lstStyle/>
          <a:p>
            <a:r>
              <a:rPr lang="en-US" sz="1600" dirty="0" smtClean="0"/>
              <a:t>If two sets of variables are graphed and form a </a:t>
            </a:r>
            <a:r>
              <a:rPr lang="en-US" sz="1600" b="1" dirty="0" smtClean="0"/>
              <a:t>straight line</a:t>
            </a:r>
            <a:r>
              <a:rPr lang="en-US" sz="1600" dirty="0" smtClean="0"/>
              <a:t>, we call the relationship between those two variables </a:t>
            </a:r>
            <a:r>
              <a:rPr lang="en-US" sz="1600" b="1" dirty="0" smtClean="0"/>
              <a:t>linear</a:t>
            </a:r>
            <a:r>
              <a:rPr lang="en-US" sz="1600" dirty="0" smtClean="0"/>
              <a:t> (think linear = line). </a:t>
            </a:r>
          </a:p>
          <a:p>
            <a:r>
              <a:rPr lang="en-US" sz="1600" i="1" dirty="0" smtClean="0"/>
              <a:t>An example of a linear relationship in the real world is speed (as time goes up by a consistent amount, so does distance).</a:t>
            </a:r>
          </a:p>
          <a:p>
            <a:endParaRPr lang="en-US" sz="1600" dirty="0" smtClean="0"/>
          </a:p>
          <a:p>
            <a:r>
              <a:rPr lang="en-US" sz="1600" dirty="0" smtClean="0"/>
              <a:t>A </a:t>
            </a:r>
            <a:r>
              <a:rPr lang="en-US" sz="1600" b="1" dirty="0" smtClean="0"/>
              <a:t>linear equation </a:t>
            </a:r>
            <a:r>
              <a:rPr lang="en-US" sz="1600" dirty="0" smtClean="0"/>
              <a:t>links those two variables and can be used to </a:t>
            </a:r>
            <a:r>
              <a:rPr lang="en-US" sz="1600" b="1" dirty="0" smtClean="0"/>
              <a:t>graph the relationship </a:t>
            </a:r>
            <a:r>
              <a:rPr lang="en-US" sz="1600" dirty="0" smtClean="0"/>
              <a:t>and to </a:t>
            </a:r>
            <a:r>
              <a:rPr lang="en-US" sz="1600" b="1" dirty="0" smtClean="0"/>
              <a:t>find the unknown </a:t>
            </a:r>
            <a:r>
              <a:rPr lang="en-US" sz="1600" dirty="0" smtClean="0"/>
              <a:t>variable.</a:t>
            </a:r>
          </a:p>
          <a:p>
            <a:r>
              <a:rPr lang="en-US" sz="1600" i="1" dirty="0" smtClean="0"/>
              <a:t>For example y = 2x + 3 </a:t>
            </a:r>
          </a:p>
          <a:p>
            <a:endParaRPr lang="en-AU" sz="1600" dirty="0"/>
          </a:p>
        </p:txBody>
      </p:sp>
      <p:pic>
        <p:nvPicPr>
          <p:cNvPr id="3" name="Picture 2"/>
          <p:cNvPicPr>
            <a:picLocks noChangeAspect="1"/>
          </p:cNvPicPr>
          <p:nvPr/>
        </p:nvPicPr>
        <p:blipFill>
          <a:blip r:embed="rId2"/>
          <a:stretch>
            <a:fillRect/>
          </a:stretch>
        </p:blipFill>
        <p:spPr>
          <a:xfrm>
            <a:off x="6950815" y="1107553"/>
            <a:ext cx="2045314" cy="2028457"/>
          </a:xfrm>
          <a:prstGeom prst="rect">
            <a:avLst/>
          </a:prstGeom>
        </p:spPr>
      </p:pic>
      <p:sp>
        <p:nvSpPr>
          <p:cNvPr id="15" name="TextBox 14"/>
          <p:cNvSpPr txBox="1"/>
          <p:nvPr/>
        </p:nvSpPr>
        <p:spPr>
          <a:xfrm>
            <a:off x="0" y="1090488"/>
            <a:ext cx="1798655" cy="584775"/>
          </a:xfrm>
          <a:prstGeom prst="rect">
            <a:avLst/>
          </a:prstGeom>
          <a:noFill/>
        </p:spPr>
        <p:txBody>
          <a:bodyPr wrap="square" rtlCol="0">
            <a:spAutoFit/>
          </a:bodyPr>
          <a:lstStyle/>
          <a:p>
            <a:r>
              <a:rPr lang="en-US" sz="1600" dirty="0" smtClean="0"/>
              <a:t>What is a linear relationship?</a:t>
            </a:r>
            <a:endParaRPr lang="en-AU" sz="1600" dirty="0"/>
          </a:p>
        </p:txBody>
      </p:sp>
      <p:sp>
        <p:nvSpPr>
          <p:cNvPr id="16" name="TextBox 15"/>
          <p:cNvSpPr txBox="1"/>
          <p:nvPr/>
        </p:nvSpPr>
        <p:spPr>
          <a:xfrm>
            <a:off x="111345" y="2503662"/>
            <a:ext cx="1798655" cy="338554"/>
          </a:xfrm>
          <a:prstGeom prst="rect">
            <a:avLst/>
          </a:prstGeom>
          <a:noFill/>
        </p:spPr>
        <p:txBody>
          <a:bodyPr wrap="square" rtlCol="0">
            <a:spAutoFit/>
          </a:bodyPr>
          <a:lstStyle/>
          <a:p>
            <a:r>
              <a:rPr lang="en-US" sz="1600" b="1" dirty="0" smtClean="0">
                <a:solidFill>
                  <a:srgbClr val="00B0F0"/>
                </a:solidFill>
              </a:rPr>
              <a:t>Insert question</a:t>
            </a:r>
            <a:endParaRPr lang="en-AU" sz="1600" b="1" dirty="0">
              <a:solidFill>
                <a:srgbClr val="00B0F0"/>
              </a:solidFill>
            </a:endParaRPr>
          </a:p>
        </p:txBody>
      </p:sp>
      <p:sp>
        <p:nvSpPr>
          <p:cNvPr id="10" name="Rectangle 9"/>
          <p:cNvSpPr/>
          <p:nvPr/>
        </p:nvSpPr>
        <p:spPr>
          <a:xfrm>
            <a:off x="1962447" y="4947790"/>
            <a:ext cx="7033278" cy="523220"/>
          </a:xfrm>
          <a:prstGeom prst="rect">
            <a:avLst/>
          </a:prstGeom>
          <a:noFill/>
        </p:spPr>
        <p:txBody>
          <a:bodyPr wrap="square" lIns="91440" tIns="45720" rIns="91440" bIns="45720">
            <a:spAutoFit/>
          </a:bodyPr>
          <a:lstStyle/>
          <a:p>
            <a:pPr algn="ctr"/>
            <a:r>
              <a:rPr lang="en-US" sz="28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So how do we turn our equation into a graph?</a:t>
            </a:r>
            <a:endPar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4182566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6564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flipV="1">
            <a:off x="0" y="1064062"/>
            <a:ext cx="9144000" cy="16221"/>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200095" y="66904"/>
            <a:ext cx="363034"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p:nvPr/>
        </p:nvCxnSpPr>
        <p:spPr>
          <a:xfrm>
            <a:off x="2178050" y="1072172"/>
            <a:ext cx="0" cy="4628573"/>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441866" y="66904"/>
            <a:ext cx="1188132" cy="461665"/>
          </a:xfrm>
          <a:prstGeom prst="rect">
            <a:avLst/>
          </a:prstGeom>
          <a:noFill/>
        </p:spPr>
        <p:txBody>
          <a:bodyPr wrap="square" rtlCol="0">
            <a:spAutoFit/>
          </a:bodyPr>
          <a:lstStyle/>
          <a:p>
            <a:r>
              <a:rPr lang="en-AU" sz="2400" dirty="0"/>
              <a:t>Date</a:t>
            </a:r>
          </a:p>
        </p:txBody>
      </p:sp>
      <p:sp>
        <p:nvSpPr>
          <p:cNvPr id="12" name="TextBox 11"/>
          <p:cNvSpPr txBox="1"/>
          <p:nvPr/>
        </p:nvSpPr>
        <p:spPr>
          <a:xfrm>
            <a:off x="381612" y="632406"/>
            <a:ext cx="6480453" cy="461665"/>
          </a:xfrm>
          <a:prstGeom prst="rect">
            <a:avLst/>
          </a:prstGeom>
          <a:noFill/>
        </p:spPr>
        <p:txBody>
          <a:bodyPr wrap="square" rtlCol="0">
            <a:spAutoFit/>
          </a:bodyPr>
          <a:lstStyle/>
          <a:p>
            <a:r>
              <a:rPr lang="en-AU" sz="2400" dirty="0"/>
              <a:t>EQ </a:t>
            </a:r>
            <a:r>
              <a:rPr lang="en-AU" sz="2400" dirty="0" smtClean="0"/>
              <a:t>– </a:t>
            </a:r>
            <a:r>
              <a:rPr lang="en-AU" sz="2400" dirty="0"/>
              <a:t>How do I plot a linear equation on a graph? </a:t>
            </a:r>
          </a:p>
        </p:txBody>
      </p:sp>
      <p:sp>
        <p:nvSpPr>
          <p:cNvPr id="2" name="TextBox 1"/>
          <p:cNvSpPr txBox="1"/>
          <p:nvPr/>
        </p:nvSpPr>
        <p:spPr>
          <a:xfrm>
            <a:off x="2320335" y="1145607"/>
            <a:ext cx="2201244" cy="338554"/>
          </a:xfrm>
          <a:prstGeom prst="rect">
            <a:avLst/>
          </a:prstGeom>
          <a:noFill/>
        </p:spPr>
        <p:txBody>
          <a:bodyPr wrap="none" rtlCol="0">
            <a:spAutoFit/>
          </a:bodyPr>
          <a:lstStyle/>
          <a:p>
            <a:r>
              <a:rPr lang="en-US" sz="1600" dirty="0" smtClean="0"/>
              <a:t>Equation 	y = 40x + 100</a:t>
            </a:r>
            <a:endParaRPr lang="en-AU" sz="1600" dirty="0"/>
          </a:p>
        </p:txBody>
      </p:sp>
      <p:sp>
        <p:nvSpPr>
          <p:cNvPr id="13" name="TextBox 12"/>
          <p:cNvSpPr txBox="1"/>
          <p:nvPr/>
        </p:nvSpPr>
        <p:spPr>
          <a:xfrm>
            <a:off x="667511" y="194767"/>
            <a:ext cx="2753446" cy="461665"/>
          </a:xfrm>
          <a:prstGeom prst="rect">
            <a:avLst/>
          </a:prstGeom>
          <a:noFill/>
        </p:spPr>
        <p:txBody>
          <a:bodyPr wrap="none" rtlCol="0">
            <a:spAutoFit/>
          </a:bodyPr>
          <a:lstStyle/>
          <a:p>
            <a:r>
              <a:rPr lang="en-AU" sz="2400" b="1" dirty="0" smtClean="0"/>
              <a:t>Linear Relationships</a:t>
            </a:r>
            <a:endParaRPr lang="en-AU" sz="2400" dirty="0"/>
          </a:p>
        </p:txBody>
      </p:sp>
      <p:graphicFrame>
        <p:nvGraphicFramePr>
          <p:cNvPr id="5" name="Table 4"/>
          <p:cNvGraphicFramePr>
            <a:graphicFrameLocks noGrp="1"/>
          </p:cNvGraphicFramePr>
          <p:nvPr>
            <p:extLst/>
          </p:nvPr>
        </p:nvGraphicFramePr>
        <p:xfrm>
          <a:off x="2411603" y="1542275"/>
          <a:ext cx="6313616" cy="753263"/>
        </p:xfrm>
        <a:graphic>
          <a:graphicData uri="http://schemas.openxmlformats.org/drawingml/2006/table">
            <a:tbl>
              <a:tblPr firstRow="1" bandRow="1">
                <a:tableStyleId>{5940675A-B579-460E-94D1-54222C63F5DA}</a:tableStyleId>
              </a:tblPr>
              <a:tblGrid>
                <a:gridCol w="1055078"/>
                <a:gridCol w="683288"/>
                <a:gridCol w="629240"/>
                <a:gridCol w="789202"/>
                <a:gridCol w="789202"/>
                <a:gridCol w="789202"/>
                <a:gridCol w="789202"/>
                <a:gridCol w="789202"/>
              </a:tblGrid>
              <a:tr h="382423">
                <a:tc>
                  <a:txBody>
                    <a:bodyPr/>
                    <a:lstStyle/>
                    <a:p>
                      <a:r>
                        <a:rPr lang="en-AU" sz="1800" dirty="0" smtClean="0"/>
                        <a:t>Hours (x)</a:t>
                      </a:r>
                      <a:endParaRPr lang="en-AU" sz="1800" dirty="0"/>
                    </a:p>
                  </a:txBody>
                  <a:tcPr/>
                </a:tc>
                <a:tc>
                  <a:txBody>
                    <a:bodyPr/>
                    <a:lstStyle/>
                    <a:p>
                      <a:r>
                        <a:rPr lang="en-AU" sz="1800" dirty="0" smtClean="0"/>
                        <a:t>0</a:t>
                      </a:r>
                      <a:endParaRPr lang="en-AU" sz="1800" dirty="0"/>
                    </a:p>
                  </a:txBody>
                  <a:tcPr/>
                </a:tc>
                <a:tc>
                  <a:txBody>
                    <a:bodyPr/>
                    <a:lstStyle/>
                    <a:p>
                      <a:r>
                        <a:rPr lang="en-AU" sz="1800" dirty="0" smtClean="0"/>
                        <a:t>1</a:t>
                      </a:r>
                      <a:endParaRPr lang="en-AU" sz="1800" dirty="0"/>
                    </a:p>
                  </a:txBody>
                  <a:tcPr/>
                </a:tc>
                <a:tc>
                  <a:txBody>
                    <a:bodyPr/>
                    <a:lstStyle/>
                    <a:p>
                      <a:r>
                        <a:rPr lang="en-AU" sz="1800" dirty="0" smtClean="0"/>
                        <a:t>2</a:t>
                      </a:r>
                      <a:endParaRPr lang="en-AU" sz="1800" dirty="0"/>
                    </a:p>
                  </a:txBody>
                  <a:tcPr/>
                </a:tc>
                <a:tc>
                  <a:txBody>
                    <a:bodyPr/>
                    <a:lstStyle/>
                    <a:p>
                      <a:r>
                        <a:rPr lang="en-AU" sz="1800" dirty="0" smtClean="0"/>
                        <a:t>3</a:t>
                      </a:r>
                      <a:endParaRPr lang="en-AU" sz="1800" dirty="0"/>
                    </a:p>
                  </a:txBody>
                  <a:tcPr/>
                </a:tc>
                <a:tc>
                  <a:txBody>
                    <a:bodyPr/>
                    <a:lstStyle/>
                    <a:p>
                      <a:r>
                        <a:rPr lang="en-AU" sz="1800" dirty="0" smtClean="0"/>
                        <a:t>4</a:t>
                      </a:r>
                      <a:endParaRPr lang="en-AU" sz="1800" dirty="0"/>
                    </a:p>
                  </a:txBody>
                  <a:tcPr/>
                </a:tc>
                <a:tc>
                  <a:txBody>
                    <a:bodyPr/>
                    <a:lstStyle/>
                    <a:p>
                      <a:r>
                        <a:rPr lang="en-AU" sz="1800" dirty="0" smtClean="0"/>
                        <a:t>5</a:t>
                      </a:r>
                      <a:endParaRPr lang="en-AU" sz="1800" dirty="0"/>
                    </a:p>
                  </a:txBody>
                  <a:tcPr/>
                </a:tc>
                <a:tc>
                  <a:txBody>
                    <a:bodyPr/>
                    <a:lstStyle/>
                    <a:p>
                      <a:r>
                        <a:rPr lang="en-AU" sz="1800" dirty="0" smtClean="0"/>
                        <a:t>6</a:t>
                      </a:r>
                      <a:endParaRPr lang="en-AU" sz="1800" dirty="0"/>
                    </a:p>
                  </a:txBody>
                  <a:tcPr/>
                </a:tc>
              </a:tr>
              <a:tr h="370840">
                <a:tc>
                  <a:txBody>
                    <a:bodyPr/>
                    <a:lstStyle/>
                    <a:p>
                      <a:r>
                        <a:rPr lang="en-AU" sz="1800" dirty="0" smtClean="0"/>
                        <a:t>Cost (y)</a:t>
                      </a:r>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4119824" y="2416628"/>
                <a:ext cx="2688621" cy="22159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𝐶𝑜𝑠𝑡</m:t>
                      </m:r>
                      <m:r>
                        <a:rPr lang="en-AU" b="0" i="1" smtClean="0">
                          <a:latin typeface="Cambria Math" panose="02040503050406030204" pitchFamily="18" charset="0"/>
                        </a:rPr>
                        <m:t>=40×</m:t>
                      </m:r>
                      <m:r>
                        <a:rPr lang="en-AU" b="0" i="1" smtClean="0">
                          <a:latin typeface="Cambria Math" panose="02040503050406030204" pitchFamily="18" charset="0"/>
                          <a:ea typeface="Cambria Math" panose="02040503050406030204" pitchFamily="18" charset="0"/>
                        </a:rPr>
                        <m:t>h𝑜𝑢𝑟𝑠</m:t>
                      </m:r>
                      <m:r>
                        <a:rPr lang="en-AU" b="0" i="1" smtClean="0">
                          <a:latin typeface="Cambria Math" panose="02040503050406030204" pitchFamily="18" charset="0"/>
                          <a:ea typeface="Cambria Math" panose="02040503050406030204" pitchFamily="18" charset="0"/>
                        </a:rPr>
                        <m:t>+100</m:t>
                      </m:r>
                    </m:oMath>
                  </m:oMathPara>
                </a14:m>
                <a:endParaRPr lang="en-AU" b="0" dirty="0" smtClean="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=40×_______+100</m:t>
                      </m:r>
                    </m:oMath>
                  </m:oMathPara>
                </a14:m>
                <a:endParaRPr lang="en-AU" dirty="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=__________+100</m:t>
                      </m:r>
                    </m:oMath>
                  </m:oMathPara>
                </a14:m>
                <a:endParaRPr lang="en-AU" dirty="0" smtClean="0">
                  <a:ea typeface="Cambria Math" panose="02040503050406030204" pitchFamily="18" charset="0"/>
                </a:endParaRPr>
              </a:p>
              <a:p>
                <a:r>
                  <a:rPr lang="en-AU" dirty="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m:t>
                      </m:r>
                    </m:oMath>
                  </m:oMathPara>
                </a14:m>
                <a:endParaRPr lang="en-AU" dirty="0">
                  <a:ea typeface="Cambria Math" panose="02040503050406030204" pitchFamily="18" charset="0"/>
                </a:endParaRPr>
              </a:p>
              <a:p>
                <a:endParaRPr lang="en-AU" dirty="0"/>
              </a:p>
            </p:txBody>
          </p:sp>
        </mc:Choice>
        <mc:Fallback xmlns="">
          <p:sp>
            <p:nvSpPr>
              <p:cNvPr id="8" name="TextBox 7"/>
              <p:cNvSpPr txBox="1">
                <a:spLocks noRot="1" noChangeAspect="1" noMove="1" noResize="1" noEditPoints="1" noAdjustHandles="1" noChangeArrowheads="1" noChangeShapeType="1" noTextEdit="1"/>
              </p:cNvSpPr>
              <p:nvPr/>
            </p:nvSpPr>
            <p:spPr>
              <a:xfrm>
                <a:off x="4119824" y="2416628"/>
                <a:ext cx="2688621" cy="2215991"/>
              </a:xfrm>
              <a:prstGeom prst="rect">
                <a:avLst/>
              </a:prstGeom>
              <a:blipFill rotWithShape="0">
                <a:blip r:embed="rId2"/>
                <a:stretch>
                  <a:fillRect l="-227" r="-227"/>
                </a:stretch>
              </a:blipFill>
            </p:spPr>
            <p:txBody>
              <a:bodyPr/>
              <a:lstStyle/>
              <a:p>
                <a:r>
                  <a:rPr lang="en-AU">
                    <a:noFill/>
                  </a:rPr>
                  <a:t> </a:t>
                </a:r>
              </a:p>
            </p:txBody>
          </p:sp>
        </mc:Fallback>
      </mc:AlternateContent>
      <p:sp>
        <p:nvSpPr>
          <p:cNvPr id="3" name="TextBox 2"/>
          <p:cNvSpPr txBox="1"/>
          <p:nvPr/>
        </p:nvSpPr>
        <p:spPr>
          <a:xfrm>
            <a:off x="5630777" y="2873793"/>
            <a:ext cx="398761" cy="369332"/>
          </a:xfrm>
          <a:prstGeom prst="rect">
            <a:avLst/>
          </a:prstGeom>
          <a:noFill/>
        </p:spPr>
        <p:txBody>
          <a:bodyPr wrap="square" rtlCol="0">
            <a:spAutoFit/>
          </a:bodyPr>
          <a:lstStyle/>
          <a:p>
            <a:r>
              <a:rPr lang="en-US" dirty="0" smtClean="0"/>
              <a:t>0</a:t>
            </a:r>
            <a:endParaRPr lang="en-AU" dirty="0"/>
          </a:p>
        </p:txBody>
      </p:sp>
      <p:sp>
        <p:nvSpPr>
          <p:cNvPr id="14" name="TextBox 13"/>
          <p:cNvSpPr txBox="1"/>
          <p:nvPr/>
        </p:nvSpPr>
        <p:spPr>
          <a:xfrm>
            <a:off x="5342018" y="3418834"/>
            <a:ext cx="398761" cy="369332"/>
          </a:xfrm>
          <a:prstGeom prst="rect">
            <a:avLst/>
          </a:prstGeom>
          <a:noFill/>
        </p:spPr>
        <p:txBody>
          <a:bodyPr wrap="square" rtlCol="0">
            <a:spAutoFit/>
          </a:bodyPr>
          <a:lstStyle/>
          <a:p>
            <a:r>
              <a:rPr lang="en-US" dirty="0" smtClean="0"/>
              <a:t>0</a:t>
            </a:r>
            <a:endParaRPr lang="en-AU" dirty="0"/>
          </a:p>
        </p:txBody>
      </p:sp>
      <p:sp>
        <p:nvSpPr>
          <p:cNvPr id="15" name="TextBox 14"/>
          <p:cNvSpPr txBox="1"/>
          <p:nvPr/>
        </p:nvSpPr>
        <p:spPr>
          <a:xfrm>
            <a:off x="5479521" y="3963875"/>
            <a:ext cx="701272" cy="369332"/>
          </a:xfrm>
          <a:prstGeom prst="rect">
            <a:avLst/>
          </a:prstGeom>
          <a:noFill/>
        </p:spPr>
        <p:txBody>
          <a:bodyPr wrap="square" rtlCol="0">
            <a:spAutoFit/>
          </a:bodyPr>
          <a:lstStyle/>
          <a:p>
            <a:r>
              <a:rPr lang="en-US" dirty="0" smtClean="0"/>
              <a:t>$100</a:t>
            </a:r>
            <a:endParaRPr lang="en-AU" dirty="0"/>
          </a:p>
        </p:txBody>
      </p:sp>
      <p:sp>
        <p:nvSpPr>
          <p:cNvPr id="16" name="TextBox 15"/>
          <p:cNvSpPr txBox="1"/>
          <p:nvPr/>
        </p:nvSpPr>
        <p:spPr>
          <a:xfrm>
            <a:off x="3485712" y="1926206"/>
            <a:ext cx="577518" cy="369332"/>
          </a:xfrm>
          <a:prstGeom prst="rect">
            <a:avLst/>
          </a:prstGeom>
          <a:noFill/>
        </p:spPr>
        <p:txBody>
          <a:bodyPr wrap="square" rtlCol="0">
            <a:spAutoFit/>
          </a:bodyPr>
          <a:lstStyle/>
          <a:p>
            <a:r>
              <a:rPr lang="en-US" dirty="0" smtClean="0"/>
              <a:t>100</a:t>
            </a:r>
            <a:endParaRPr lang="en-AU" dirty="0"/>
          </a:p>
        </p:txBody>
      </p:sp>
      <p:sp>
        <p:nvSpPr>
          <p:cNvPr id="17" name="TextBox 16"/>
          <p:cNvSpPr txBox="1"/>
          <p:nvPr/>
        </p:nvSpPr>
        <p:spPr>
          <a:xfrm>
            <a:off x="78310" y="1138722"/>
            <a:ext cx="2099740" cy="584775"/>
          </a:xfrm>
          <a:prstGeom prst="rect">
            <a:avLst/>
          </a:prstGeom>
          <a:noFill/>
        </p:spPr>
        <p:txBody>
          <a:bodyPr wrap="square" rtlCol="0">
            <a:spAutoFit/>
          </a:bodyPr>
          <a:lstStyle/>
          <a:p>
            <a:r>
              <a:rPr lang="en-US" sz="1600" dirty="0" smtClean="0"/>
              <a:t>How do I create a table from an equation?</a:t>
            </a:r>
            <a:endParaRPr lang="en-AU" sz="1600" dirty="0"/>
          </a:p>
        </p:txBody>
      </p:sp>
    </p:spTree>
    <p:extLst>
      <p:ext uri="{BB962C8B-B14F-4D97-AF65-F5344CB8AC3E}">
        <p14:creationId xmlns:p14="http://schemas.microsoft.com/office/powerpoint/2010/main" val="205698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80">
                                          <p:stCondLst>
                                            <p:cond delay="0"/>
                                          </p:stCondLst>
                                        </p:cTn>
                                        <p:tgtEl>
                                          <p:spTgt spid="16"/>
                                        </p:tgtEl>
                                      </p:cBhvr>
                                    </p:animEffect>
                                    <p:anim calcmode="lin" valueType="num">
                                      <p:cBhvr>
                                        <p:cTn id="26"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1" dur="26">
                                          <p:stCondLst>
                                            <p:cond delay="650"/>
                                          </p:stCondLst>
                                        </p:cTn>
                                        <p:tgtEl>
                                          <p:spTgt spid="16"/>
                                        </p:tgtEl>
                                      </p:cBhvr>
                                      <p:to x="100000" y="60000"/>
                                    </p:animScale>
                                    <p:animScale>
                                      <p:cBhvr>
                                        <p:cTn id="32" dur="166" decel="50000">
                                          <p:stCondLst>
                                            <p:cond delay="676"/>
                                          </p:stCondLst>
                                        </p:cTn>
                                        <p:tgtEl>
                                          <p:spTgt spid="16"/>
                                        </p:tgtEl>
                                      </p:cBhvr>
                                      <p:to x="100000" y="100000"/>
                                    </p:animScale>
                                    <p:animScale>
                                      <p:cBhvr>
                                        <p:cTn id="33" dur="26">
                                          <p:stCondLst>
                                            <p:cond delay="1312"/>
                                          </p:stCondLst>
                                        </p:cTn>
                                        <p:tgtEl>
                                          <p:spTgt spid="16"/>
                                        </p:tgtEl>
                                      </p:cBhvr>
                                      <p:to x="100000" y="80000"/>
                                    </p:animScale>
                                    <p:animScale>
                                      <p:cBhvr>
                                        <p:cTn id="34" dur="166" decel="50000">
                                          <p:stCondLst>
                                            <p:cond delay="1338"/>
                                          </p:stCondLst>
                                        </p:cTn>
                                        <p:tgtEl>
                                          <p:spTgt spid="16"/>
                                        </p:tgtEl>
                                      </p:cBhvr>
                                      <p:to x="100000" y="100000"/>
                                    </p:animScale>
                                    <p:animScale>
                                      <p:cBhvr>
                                        <p:cTn id="35" dur="26">
                                          <p:stCondLst>
                                            <p:cond delay="1642"/>
                                          </p:stCondLst>
                                        </p:cTn>
                                        <p:tgtEl>
                                          <p:spTgt spid="16"/>
                                        </p:tgtEl>
                                      </p:cBhvr>
                                      <p:to x="100000" y="90000"/>
                                    </p:animScale>
                                    <p:animScale>
                                      <p:cBhvr>
                                        <p:cTn id="36" dur="166" decel="50000">
                                          <p:stCondLst>
                                            <p:cond delay="1668"/>
                                          </p:stCondLst>
                                        </p:cTn>
                                        <p:tgtEl>
                                          <p:spTgt spid="16"/>
                                        </p:tgtEl>
                                      </p:cBhvr>
                                      <p:to x="100000" y="100000"/>
                                    </p:animScale>
                                    <p:animScale>
                                      <p:cBhvr>
                                        <p:cTn id="37" dur="26">
                                          <p:stCondLst>
                                            <p:cond delay="1808"/>
                                          </p:stCondLst>
                                        </p:cTn>
                                        <p:tgtEl>
                                          <p:spTgt spid="16"/>
                                        </p:tgtEl>
                                      </p:cBhvr>
                                      <p:to x="100000" y="95000"/>
                                    </p:animScale>
                                    <p:animScale>
                                      <p:cBhvr>
                                        <p:cTn id="38"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6564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flipV="1">
            <a:off x="0" y="1064062"/>
            <a:ext cx="9144000" cy="16221"/>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200095" y="66904"/>
            <a:ext cx="363034"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p:nvPr/>
        </p:nvCxnSpPr>
        <p:spPr>
          <a:xfrm>
            <a:off x="2178050" y="1072172"/>
            <a:ext cx="0" cy="4628573"/>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441866" y="66904"/>
            <a:ext cx="1188132" cy="461665"/>
          </a:xfrm>
          <a:prstGeom prst="rect">
            <a:avLst/>
          </a:prstGeom>
          <a:noFill/>
        </p:spPr>
        <p:txBody>
          <a:bodyPr wrap="square" rtlCol="0">
            <a:spAutoFit/>
          </a:bodyPr>
          <a:lstStyle/>
          <a:p>
            <a:r>
              <a:rPr lang="en-AU" sz="2400" dirty="0"/>
              <a:t>Date</a:t>
            </a:r>
          </a:p>
        </p:txBody>
      </p:sp>
      <p:sp>
        <p:nvSpPr>
          <p:cNvPr id="12" name="TextBox 11"/>
          <p:cNvSpPr txBox="1"/>
          <p:nvPr/>
        </p:nvSpPr>
        <p:spPr>
          <a:xfrm>
            <a:off x="381612" y="632406"/>
            <a:ext cx="6480453" cy="461665"/>
          </a:xfrm>
          <a:prstGeom prst="rect">
            <a:avLst/>
          </a:prstGeom>
          <a:noFill/>
        </p:spPr>
        <p:txBody>
          <a:bodyPr wrap="square" rtlCol="0">
            <a:spAutoFit/>
          </a:bodyPr>
          <a:lstStyle/>
          <a:p>
            <a:r>
              <a:rPr lang="en-AU" sz="2400" dirty="0"/>
              <a:t>EQ </a:t>
            </a:r>
            <a:r>
              <a:rPr lang="en-AU" sz="2400" dirty="0" smtClean="0"/>
              <a:t>– </a:t>
            </a:r>
            <a:r>
              <a:rPr lang="en-AU" sz="2400" dirty="0"/>
              <a:t>How do I plot a linear equation on a graph? </a:t>
            </a:r>
          </a:p>
        </p:txBody>
      </p:sp>
      <p:sp>
        <p:nvSpPr>
          <p:cNvPr id="2" name="TextBox 1"/>
          <p:cNvSpPr txBox="1"/>
          <p:nvPr/>
        </p:nvSpPr>
        <p:spPr>
          <a:xfrm>
            <a:off x="2320335" y="1145607"/>
            <a:ext cx="2201244" cy="338554"/>
          </a:xfrm>
          <a:prstGeom prst="rect">
            <a:avLst/>
          </a:prstGeom>
          <a:noFill/>
        </p:spPr>
        <p:txBody>
          <a:bodyPr wrap="none" rtlCol="0">
            <a:spAutoFit/>
          </a:bodyPr>
          <a:lstStyle/>
          <a:p>
            <a:r>
              <a:rPr lang="en-US" sz="1600" dirty="0" smtClean="0"/>
              <a:t>Equation 	y = 40x + 100</a:t>
            </a:r>
            <a:endParaRPr lang="en-AU" sz="1600" dirty="0"/>
          </a:p>
        </p:txBody>
      </p:sp>
      <p:sp>
        <p:nvSpPr>
          <p:cNvPr id="13" name="TextBox 12"/>
          <p:cNvSpPr txBox="1"/>
          <p:nvPr/>
        </p:nvSpPr>
        <p:spPr>
          <a:xfrm>
            <a:off x="667511" y="194767"/>
            <a:ext cx="2753446" cy="461665"/>
          </a:xfrm>
          <a:prstGeom prst="rect">
            <a:avLst/>
          </a:prstGeom>
          <a:noFill/>
        </p:spPr>
        <p:txBody>
          <a:bodyPr wrap="none" rtlCol="0">
            <a:spAutoFit/>
          </a:bodyPr>
          <a:lstStyle/>
          <a:p>
            <a:r>
              <a:rPr lang="en-AU" sz="2400" b="1" dirty="0" smtClean="0"/>
              <a:t>Linear Relationships</a:t>
            </a:r>
            <a:endParaRPr lang="en-AU" sz="2400" dirty="0"/>
          </a:p>
        </p:txBody>
      </p:sp>
      <p:graphicFrame>
        <p:nvGraphicFramePr>
          <p:cNvPr id="5" name="Table 4"/>
          <p:cNvGraphicFramePr>
            <a:graphicFrameLocks noGrp="1"/>
          </p:cNvGraphicFramePr>
          <p:nvPr>
            <p:extLst/>
          </p:nvPr>
        </p:nvGraphicFramePr>
        <p:xfrm>
          <a:off x="2411603" y="1542275"/>
          <a:ext cx="6313616" cy="753263"/>
        </p:xfrm>
        <a:graphic>
          <a:graphicData uri="http://schemas.openxmlformats.org/drawingml/2006/table">
            <a:tbl>
              <a:tblPr firstRow="1" bandRow="1">
                <a:tableStyleId>{5940675A-B579-460E-94D1-54222C63F5DA}</a:tableStyleId>
              </a:tblPr>
              <a:tblGrid>
                <a:gridCol w="1055078"/>
                <a:gridCol w="683288"/>
                <a:gridCol w="629240"/>
                <a:gridCol w="789202"/>
                <a:gridCol w="789202"/>
                <a:gridCol w="789202"/>
                <a:gridCol w="789202"/>
                <a:gridCol w="789202"/>
              </a:tblGrid>
              <a:tr h="382423">
                <a:tc>
                  <a:txBody>
                    <a:bodyPr/>
                    <a:lstStyle/>
                    <a:p>
                      <a:r>
                        <a:rPr lang="en-AU" sz="1800" dirty="0" smtClean="0"/>
                        <a:t>Hours (x)</a:t>
                      </a:r>
                      <a:endParaRPr lang="en-AU" sz="1800" dirty="0"/>
                    </a:p>
                  </a:txBody>
                  <a:tcPr/>
                </a:tc>
                <a:tc>
                  <a:txBody>
                    <a:bodyPr/>
                    <a:lstStyle/>
                    <a:p>
                      <a:r>
                        <a:rPr lang="en-AU" sz="1800" dirty="0" smtClean="0"/>
                        <a:t>0</a:t>
                      </a:r>
                      <a:endParaRPr lang="en-AU" sz="1800" dirty="0"/>
                    </a:p>
                  </a:txBody>
                  <a:tcPr/>
                </a:tc>
                <a:tc>
                  <a:txBody>
                    <a:bodyPr/>
                    <a:lstStyle/>
                    <a:p>
                      <a:r>
                        <a:rPr lang="en-AU" sz="1800" dirty="0" smtClean="0"/>
                        <a:t>1</a:t>
                      </a:r>
                      <a:endParaRPr lang="en-AU" sz="1800" dirty="0"/>
                    </a:p>
                  </a:txBody>
                  <a:tcPr/>
                </a:tc>
                <a:tc>
                  <a:txBody>
                    <a:bodyPr/>
                    <a:lstStyle/>
                    <a:p>
                      <a:r>
                        <a:rPr lang="en-AU" sz="1800" dirty="0" smtClean="0"/>
                        <a:t>2</a:t>
                      </a:r>
                      <a:endParaRPr lang="en-AU" sz="1800" dirty="0"/>
                    </a:p>
                  </a:txBody>
                  <a:tcPr/>
                </a:tc>
                <a:tc>
                  <a:txBody>
                    <a:bodyPr/>
                    <a:lstStyle/>
                    <a:p>
                      <a:r>
                        <a:rPr lang="en-AU" sz="1800" dirty="0" smtClean="0"/>
                        <a:t>3</a:t>
                      </a:r>
                      <a:endParaRPr lang="en-AU" sz="1800" dirty="0"/>
                    </a:p>
                  </a:txBody>
                  <a:tcPr/>
                </a:tc>
                <a:tc>
                  <a:txBody>
                    <a:bodyPr/>
                    <a:lstStyle/>
                    <a:p>
                      <a:r>
                        <a:rPr lang="en-AU" sz="1800" dirty="0" smtClean="0"/>
                        <a:t>4</a:t>
                      </a:r>
                      <a:endParaRPr lang="en-AU" sz="1800" dirty="0"/>
                    </a:p>
                  </a:txBody>
                  <a:tcPr/>
                </a:tc>
                <a:tc>
                  <a:txBody>
                    <a:bodyPr/>
                    <a:lstStyle/>
                    <a:p>
                      <a:r>
                        <a:rPr lang="en-AU" sz="1800" dirty="0" smtClean="0"/>
                        <a:t>5</a:t>
                      </a:r>
                      <a:endParaRPr lang="en-AU" sz="1800" dirty="0"/>
                    </a:p>
                  </a:txBody>
                  <a:tcPr/>
                </a:tc>
                <a:tc>
                  <a:txBody>
                    <a:bodyPr/>
                    <a:lstStyle/>
                    <a:p>
                      <a:r>
                        <a:rPr lang="en-AU" sz="1800" dirty="0" smtClean="0"/>
                        <a:t>6</a:t>
                      </a:r>
                      <a:endParaRPr lang="en-AU" sz="1800" dirty="0"/>
                    </a:p>
                  </a:txBody>
                  <a:tcPr/>
                </a:tc>
              </a:tr>
              <a:tr h="370840">
                <a:tc>
                  <a:txBody>
                    <a:bodyPr/>
                    <a:lstStyle/>
                    <a:p>
                      <a:r>
                        <a:rPr lang="en-AU" sz="1800" dirty="0" smtClean="0"/>
                        <a:t>Cost (y)</a:t>
                      </a:r>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4119824" y="2416628"/>
                <a:ext cx="2688621" cy="22159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𝐶𝑜𝑠𝑡</m:t>
                      </m:r>
                      <m:r>
                        <a:rPr lang="en-AU" b="0" i="1" smtClean="0">
                          <a:latin typeface="Cambria Math" panose="02040503050406030204" pitchFamily="18" charset="0"/>
                        </a:rPr>
                        <m:t>=40×</m:t>
                      </m:r>
                      <m:r>
                        <a:rPr lang="en-AU" b="0" i="1" smtClean="0">
                          <a:latin typeface="Cambria Math" panose="02040503050406030204" pitchFamily="18" charset="0"/>
                          <a:ea typeface="Cambria Math" panose="02040503050406030204" pitchFamily="18" charset="0"/>
                        </a:rPr>
                        <m:t>h𝑜𝑢𝑟𝑠</m:t>
                      </m:r>
                      <m:r>
                        <a:rPr lang="en-AU" b="0" i="1" smtClean="0">
                          <a:latin typeface="Cambria Math" panose="02040503050406030204" pitchFamily="18" charset="0"/>
                          <a:ea typeface="Cambria Math" panose="02040503050406030204" pitchFamily="18" charset="0"/>
                        </a:rPr>
                        <m:t>+100</m:t>
                      </m:r>
                    </m:oMath>
                  </m:oMathPara>
                </a14:m>
                <a:endParaRPr lang="en-AU" b="0" dirty="0" smtClean="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=40×_______+100</m:t>
                      </m:r>
                    </m:oMath>
                  </m:oMathPara>
                </a14:m>
                <a:endParaRPr lang="en-AU" dirty="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=__________+100</m:t>
                      </m:r>
                    </m:oMath>
                  </m:oMathPara>
                </a14:m>
                <a:endParaRPr lang="en-AU" dirty="0" smtClean="0">
                  <a:ea typeface="Cambria Math" panose="02040503050406030204" pitchFamily="18" charset="0"/>
                </a:endParaRPr>
              </a:p>
              <a:p>
                <a:r>
                  <a:rPr lang="en-AU" dirty="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m:t>
                      </m:r>
                    </m:oMath>
                  </m:oMathPara>
                </a14:m>
                <a:endParaRPr lang="en-AU" dirty="0">
                  <a:ea typeface="Cambria Math" panose="02040503050406030204" pitchFamily="18" charset="0"/>
                </a:endParaRPr>
              </a:p>
              <a:p>
                <a:endParaRPr lang="en-AU" dirty="0"/>
              </a:p>
            </p:txBody>
          </p:sp>
        </mc:Choice>
        <mc:Fallback xmlns="">
          <p:sp>
            <p:nvSpPr>
              <p:cNvPr id="8" name="TextBox 7"/>
              <p:cNvSpPr txBox="1">
                <a:spLocks noRot="1" noChangeAspect="1" noMove="1" noResize="1" noEditPoints="1" noAdjustHandles="1" noChangeArrowheads="1" noChangeShapeType="1" noTextEdit="1"/>
              </p:cNvSpPr>
              <p:nvPr/>
            </p:nvSpPr>
            <p:spPr>
              <a:xfrm>
                <a:off x="4119824" y="2416628"/>
                <a:ext cx="2688621" cy="2215991"/>
              </a:xfrm>
              <a:prstGeom prst="rect">
                <a:avLst/>
              </a:prstGeom>
              <a:blipFill rotWithShape="0">
                <a:blip r:embed="rId2"/>
                <a:stretch>
                  <a:fillRect l="-227" r="-227"/>
                </a:stretch>
              </a:blipFill>
            </p:spPr>
            <p:txBody>
              <a:bodyPr/>
              <a:lstStyle/>
              <a:p>
                <a:r>
                  <a:rPr lang="en-AU">
                    <a:noFill/>
                  </a:rPr>
                  <a:t> </a:t>
                </a:r>
              </a:p>
            </p:txBody>
          </p:sp>
        </mc:Fallback>
      </mc:AlternateContent>
      <p:sp>
        <p:nvSpPr>
          <p:cNvPr id="3" name="TextBox 2"/>
          <p:cNvSpPr txBox="1"/>
          <p:nvPr/>
        </p:nvSpPr>
        <p:spPr>
          <a:xfrm>
            <a:off x="5630777" y="2873793"/>
            <a:ext cx="398761" cy="369332"/>
          </a:xfrm>
          <a:prstGeom prst="rect">
            <a:avLst/>
          </a:prstGeom>
          <a:noFill/>
        </p:spPr>
        <p:txBody>
          <a:bodyPr wrap="square" rtlCol="0">
            <a:spAutoFit/>
          </a:bodyPr>
          <a:lstStyle/>
          <a:p>
            <a:r>
              <a:rPr lang="en-US" dirty="0" smtClean="0"/>
              <a:t>1</a:t>
            </a:r>
            <a:endParaRPr lang="en-AU" dirty="0"/>
          </a:p>
        </p:txBody>
      </p:sp>
      <p:sp>
        <p:nvSpPr>
          <p:cNvPr id="14" name="TextBox 13"/>
          <p:cNvSpPr txBox="1"/>
          <p:nvPr/>
        </p:nvSpPr>
        <p:spPr>
          <a:xfrm>
            <a:off x="5342018" y="3418834"/>
            <a:ext cx="426265" cy="369332"/>
          </a:xfrm>
          <a:prstGeom prst="rect">
            <a:avLst/>
          </a:prstGeom>
          <a:noFill/>
        </p:spPr>
        <p:txBody>
          <a:bodyPr wrap="square" rtlCol="0">
            <a:spAutoFit/>
          </a:bodyPr>
          <a:lstStyle/>
          <a:p>
            <a:r>
              <a:rPr lang="en-US" dirty="0" smtClean="0"/>
              <a:t>40</a:t>
            </a:r>
            <a:endParaRPr lang="en-AU" dirty="0"/>
          </a:p>
        </p:txBody>
      </p:sp>
      <p:sp>
        <p:nvSpPr>
          <p:cNvPr id="15" name="TextBox 14"/>
          <p:cNvSpPr txBox="1"/>
          <p:nvPr/>
        </p:nvSpPr>
        <p:spPr>
          <a:xfrm>
            <a:off x="5479521" y="3963875"/>
            <a:ext cx="701272" cy="369332"/>
          </a:xfrm>
          <a:prstGeom prst="rect">
            <a:avLst/>
          </a:prstGeom>
          <a:noFill/>
        </p:spPr>
        <p:txBody>
          <a:bodyPr wrap="square" rtlCol="0">
            <a:spAutoFit/>
          </a:bodyPr>
          <a:lstStyle/>
          <a:p>
            <a:r>
              <a:rPr lang="en-US" dirty="0" smtClean="0"/>
              <a:t>$140</a:t>
            </a:r>
            <a:endParaRPr lang="en-AU" dirty="0"/>
          </a:p>
        </p:txBody>
      </p:sp>
      <p:sp>
        <p:nvSpPr>
          <p:cNvPr id="16" name="TextBox 15"/>
          <p:cNvSpPr txBox="1"/>
          <p:nvPr/>
        </p:nvSpPr>
        <p:spPr>
          <a:xfrm>
            <a:off x="3485712" y="1926206"/>
            <a:ext cx="577518" cy="369332"/>
          </a:xfrm>
          <a:prstGeom prst="rect">
            <a:avLst/>
          </a:prstGeom>
          <a:noFill/>
        </p:spPr>
        <p:txBody>
          <a:bodyPr wrap="square" rtlCol="0">
            <a:spAutoFit/>
          </a:bodyPr>
          <a:lstStyle/>
          <a:p>
            <a:r>
              <a:rPr lang="en-US" dirty="0" smtClean="0"/>
              <a:t>100</a:t>
            </a:r>
            <a:endParaRPr lang="en-AU" dirty="0"/>
          </a:p>
        </p:txBody>
      </p:sp>
      <p:sp>
        <p:nvSpPr>
          <p:cNvPr id="17" name="TextBox 16"/>
          <p:cNvSpPr txBox="1"/>
          <p:nvPr/>
        </p:nvSpPr>
        <p:spPr>
          <a:xfrm>
            <a:off x="78310" y="1138722"/>
            <a:ext cx="2099740" cy="584775"/>
          </a:xfrm>
          <a:prstGeom prst="rect">
            <a:avLst/>
          </a:prstGeom>
          <a:noFill/>
        </p:spPr>
        <p:txBody>
          <a:bodyPr wrap="square" rtlCol="0">
            <a:spAutoFit/>
          </a:bodyPr>
          <a:lstStyle/>
          <a:p>
            <a:r>
              <a:rPr lang="en-US" sz="1600" dirty="0" smtClean="0"/>
              <a:t>How do I create a table from an equation?</a:t>
            </a:r>
            <a:endParaRPr lang="en-AU" sz="1600" dirty="0"/>
          </a:p>
        </p:txBody>
      </p:sp>
      <p:sp>
        <p:nvSpPr>
          <p:cNvPr id="18" name="TextBox 17"/>
          <p:cNvSpPr txBox="1"/>
          <p:nvPr/>
        </p:nvSpPr>
        <p:spPr>
          <a:xfrm>
            <a:off x="4119824" y="1918906"/>
            <a:ext cx="577518" cy="369332"/>
          </a:xfrm>
          <a:prstGeom prst="rect">
            <a:avLst/>
          </a:prstGeom>
          <a:noFill/>
        </p:spPr>
        <p:txBody>
          <a:bodyPr wrap="square" rtlCol="0">
            <a:spAutoFit/>
          </a:bodyPr>
          <a:lstStyle/>
          <a:p>
            <a:r>
              <a:rPr lang="en-US" dirty="0" smtClean="0"/>
              <a:t>140</a:t>
            </a:r>
            <a:endParaRPr lang="en-AU" dirty="0"/>
          </a:p>
        </p:txBody>
      </p:sp>
    </p:spTree>
    <p:extLst>
      <p:ext uri="{BB962C8B-B14F-4D97-AF65-F5344CB8AC3E}">
        <p14:creationId xmlns:p14="http://schemas.microsoft.com/office/powerpoint/2010/main" val="294853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80">
                                          <p:stCondLst>
                                            <p:cond delay="0"/>
                                          </p:stCondLst>
                                        </p:cTn>
                                        <p:tgtEl>
                                          <p:spTgt spid="18"/>
                                        </p:tgtEl>
                                      </p:cBhvr>
                                    </p:animEffect>
                                    <p:anim calcmode="lin" valueType="num">
                                      <p:cBhvr>
                                        <p:cTn id="2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31" dur="26">
                                          <p:stCondLst>
                                            <p:cond delay="650"/>
                                          </p:stCondLst>
                                        </p:cTn>
                                        <p:tgtEl>
                                          <p:spTgt spid="18"/>
                                        </p:tgtEl>
                                      </p:cBhvr>
                                      <p:to x="100000" y="60000"/>
                                    </p:animScale>
                                    <p:animScale>
                                      <p:cBhvr>
                                        <p:cTn id="32" dur="166" decel="50000">
                                          <p:stCondLst>
                                            <p:cond delay="676"/>
                                          </p:stCondLst>
                                        </p:cTn>
                                        <p:tgtEl>
                                          <p:spTgt spid="18"/>
                                        </p:tgtEl>
                                      </p:cBhvr>
                                      <p:to x="100000" y="100000"/>
                                    </p:animScale>
                                    <p:animScale>
                                      <p:cBhvr>
                                        <p:cTn id="33" dur="26">
                                          <p:stCondLst>
                                            <p:cond delay="1312"/>
                                          </p:stCondLst>
                                        </p:cTn>
                                        <p:tgtEl>
                                          <p:spTgt spid="18"/>
                                        </p:tgtEl>
                                      </p:cBhvr>
                                      <p:to x="100000" y="80000"/>
                                    </p:animScale>
                                    <p:animScale>
                                      <p:cBhvr>
                                        <p:cTn id="34" dur="166" decel="50000">
                                          <p:stCondLst>
                                            <p:cond delay="1338"/>
                                          </p:stCondLst>
                                        </p:cTn>
                                        <p:tgtEl>
                                          <p:spTgt spid="18"/>
                                        </p:tgtEl>
                                      </p:cBhvr>
                                      <p:to x="100000" y="100000"/>
                                    </p:animScale>
                                    <p:animScale>
                                      <p:cBhvr>
                                        <p:cTn id="35" dur="26">
                                          <p:stCondLst>
                                            <p:cond delay="1642"/>
                                          </p:stCondLst>
                                        </p:cTn>
                                        <p:tgtEl>
                                          <p:spTgt spid="18"/>
                                        </p:tgtEl>
                                      </p:cBhvr>
                                      <p:to x="100000" y="90000"/>
                                    </p:animScale>
                                    <p:animScale>
                                      <p:cBhvr>
                                        <p:cTn id="36" dur="166" decel="50000">
                                          <p:stCondLst>
                                            <p:cond delay="1668"/>
                                          </p:stCondLst>
                                        </p:cTn>
                                        <p:tgtEl>
                                          <p:spTgt spid="18"/>
                                        </p:tgtEl>
                                      </p:cBhvr>
                                      <p:to x="100000" y="100000"/>
                                    </p:animScale>
                                    <p:animScale>
                                      <p:cBhvr>
                                        <p:cTn id="37" dur="26">
                                          <p:stCondLst>
                                            <p:cond delay="1808"/>
                                          </p:stCondLst>
                                        </p:cTn>
                                        <p:tgtEl>
                                          <p:spTgt spid="18"/>
                                        </p:tgtEl>
                                      </p:cBhvr>
                                      <p:to x="100000" y="95000"/>
                                    </p:animScale>
                                    <p:animScale>
                                      <p:cBhvr>
                                        <p:cTn id="38" dur="166" decel="50000">
                                          <p:stCondLst>
                                            <p:cond delay="1834"/>
                                          </p:stCondLst>
                                        </p:cTn>
                                        <p:tgtEl>
                                          <p:spTgt spid="1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5"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6564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flipV="1">
            <a:off x="0" y="1064062"/>
            <a:ext cx="9144000" cy="16221"/>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200095" y="66904"/>
            <a:ext cx="363034"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p:nvPr/>
        </p:nvCxnSpPr>
        <p:spPr>
          <a:xfrm>
            <a:off x="2178050" y="1072172"/>
            <a:ext cx="0" cy="4628573"/>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441866" y="66904"/>
            <a:ext cx="1188132" cy="461665"/>
          </a:xfrm>
          <a:prstGeom prst="rect">
            <a:avLst/>
          </a:prstGeom>
          <a:noFill/>
        </p:spPr>
        <p:txBody>
          <a:bodyPr wrap="square" rtlCol="0">
            <a:spAutoFit/>
          </a:bodyPr>
          <a:lstStyle/>
          <a:p>
            <a:r>
              <a:rPr lang="en-AU" sz="2400" dirty="0"/>
              <a:t>Date</a:t>
            </a:r>
          </a:p>
        </p:txBody>
      </p:sp>
      <p:sp>
        <p:nvSpPr>
          <p:cNvPr id="12" name="TextBox 11"/>
          <p:cNvSpPr txBox="1"/>
          <p:nvPr/>
        </p:nvSpPr>
        <p:spPr>
          <a:xfrm>
            <a:off x="381612" y="632406"/>
            <a:ext cx="6480453" cy="461665"/>
          </a:xfrm>
          <a:prstGeom prst="rect">
            <a:avLst/>
          </a:prstGeom>
          <a:noFill/>
        </p:spPr>
        <p:txBody>
          <a:bodyPr wrap="square" rtlCol="0">
            <a:spAutoFit/>
          </a:bodyPr>
          <a:lstStyle/>
          <a:p>
            <a:r>
              <a:rPr lang="en-AU" sz="2400" dirty="0"/>
              <a:t>EQ </a:t>
            </a:r>
            <a:r>
              <a:rPr lang="en-AU" sz="2400" dirty="0" smtClean="0"/>
              <a:t>– </a:t>
            </a:r>
            <a:r>
              <a:rPr lang="en-AU" sz="2400" dirty="0"/>
              <a:t>How do I plot a linear equation on a graph? </a:t>
            </a:r>
          </a:p>
        </p:txBody>
      </p:sp>
      <p:sp>
        <p:nvSpPr>
          <p:cNvPr id="2" name="TextBox 1"/>
          <p:cNvSpPr txBox="1"/>
          <p:nvPr/>
        </p:nvSpPr>
        <p:spPr>
          <a:xfrm>
            <a:off x="2320335" y="1145607"/>
            <a:ext cx="2201244" cy="338554"/>
          </a:xfrm>
          <a:prstGeom prst="rect">
            <a:avLst/>
          </a:prstGeom>
          <a:noFill/>
        </p:spPr>
        <p:txBody>
          <a:bodyPr wrap="none" rtlCol="0">
            <a:spAutoFit/>
          </a:bodyPr>
          <a:lstStyle/>
          <a:p>
            <a:r>
              <a:rPr lang="en-US" sz="1600" dirty="0" smtClean="0"/>
              <a:t>Equation 	y = 40x + 100</a:t>
            </a:r>
            <a:endParaRPr lang="en-AU" sz="1600" dirty="0"/>
          </a:p>
        </p:txBody>
      </p:sp>
      <p:sp>
        <p:nvSpPr>
          <p:cNvPr id="13" name="TextBox 12"/>
          <p:cNvSpPr txBox="1"/>
          <p:nvPr/>
        </p:nvSpPr>
        <p:spPr>
          <a:xfrm>
            <a:off x="667511" y="194767"/>
            <a:ext cx="2753446" cy="461665"/>
          </a:xfrm>
          <a:prstGeom prst="rect">
            <a:avLst/>
          </a:prstGeom>
          <a:noFill/>
        </p:spPr>
        <p:txBody>
          <a:bodyPr wrap="none" rtlCol="0">
            <a:spAutoFit/>
          </a:bodyPr>
          <a:lstStyle/>
          <a:p>
            <a:r>
              <a:rPr lang="en-AU" sz="2400" b="1" dirty="0" smtClean="0"/>
              <a:t>Linear Relationships</a:t>
            </a:r>
            <a:endParaRPr lang="en-AU" sz="2400" dirty="0"/>
          </a:p>
        </p:txBody>
      </p:sp>
      <p:graphicFrame>
        <p:nvGraphicFramePr>
          <p:cNvPr id="5" name="Table 4"/>
          <p:cNvGraphicFramePr>
            <a:graphicFrameLocks noGrp="1"/>
          </p:cNvGraphicFramePr>
          <p:nvPr>
            <p:extLst/>
          </p:nvPr>
        </p:nvGraphicFramePr>
        <p:xfrm>
          <a:off x="2411603" y="1542275"/>
          <a:ext cx="6313616" cy="753263"/>
        </p:xfrm>
        <a:graphic>
          <a:graphicData uri="http://schemas.openxmlformats.org/drawingml/2006/table">
            <a:tbl>
              <a:tblPr firstRow="1" bandRow="1">
                <a:tableStyleId>{5940675A-B579-460E-94D1-54222C63F5DA}</a:tableStyleId>
              </a:tblPr>
              <a:tblGrid>
                <a:gridCol w="1055078"/>
                <a:gridCol w="683288"/>
                <a:gridCol w="629240"/>
                <a:gridCol w="789202"/>
                <a:gridCol w="789202"/>
                <a:gridCol w="789202"/>
                <a:gridCol w="789202"/>
                <a:gridCol w="789202"/>
              </a:tblGrid>
              <a:tr h="382423">
                <a:tc>
                  <a:txBody>
                    <a:bodyPr/>
                    <a:lstStyle/>
                    <a:p>
                      <a:r>
                        <a:rPr lang="en-AU" sz="1800" dirty="0" smtClean="0"/>
                        <a:t>Hours (x)</a:t>
                      </a:r>
                      <a:endParaRPr lang="en-AU" sz="1800" dirty="0"/>
                    </a:p>
                  </a:txBody>
                  <a:tcPr/>
                </a:tc>
                <a:tc>
                  <a:txBody>
                    <a:bodyPr/>
                    <a:lstStyle/>
                    <a:p>
                      <a:r>
                        <a:rPr lang="en-AU" sz="1800" dirty="0" smtClean="0"/>
                        <a:t>0</a:t>
                      </a:r>
                      <a:endParaRPr lang="en-AU" sz="1800" dirty="0"/>
                    </a:p>
                  </a:txBody>
                  <a:tcPr/>
                </a:tc>
                <a:tc>
                  <a:txBody>
                    <a:bodyPr/>
                    <a:lstStyle/>
                    <a:p>
                      <a:r>
                        <a:rPr lang="en-AU" sz="1800" dirty="0" smtClean="0"/>
                        <a:t>1</a:t>
                      </a:r>
                      <a:endParaRPr lang="en-AU" sz="1800" dirty="0"/>
                    </a:p>
                  </a:txBody>
                  <a:tcPr/>
                </a:tc>
                <a:tc>
                  <a:txBody>
                    <a:bodyPr/>
                    <a:lstStyle/>
                    <a:p>
                      <a:r>
                        <a:rPr lang="en-AU" sz="1800" dirty="0" smtClean="0"/>
                        <a:t>2</a:t>
                      </a:r>
                      <a:endParaRPr lang="en-AU" sz="1800" dirty="0"/>
                    </a:p>
                  </a:txBody>
                  <a:tcPr/>
                </a:tc>
                <a:tc>
                  <a:txBody>
                    <a:bodyPr/>
                    <a:lstStyle/>
                    <a:p>
                      <a:r>
                        <a:rPr lang="en-AU" sz="1800" dirty="0" smtClean="0"/>
                        <a:t>3</a:t>
                      </a:r>
                      <a:endParaRPr lang="en-AU" sz="1800" dirty="0"/>
                    </a:p>
                  </a:txBody>
                  <a:tcPr/>
                </a:tc>
                <a:tc>
                  <a:txBody>
                    <a:bodyPr/>
                    <a:lstStyle/>
                    <a:p>
                      <a:r>
                        <a:rPr lang="en-AU" sz="1800" dirty="0" smtClean="0"/>
                        <a:t>4</a:t>
                      </a:r>
                      <a:endParaRPr lang="en-AU" sz="1800" dirty="0"/>
                    </a:p>
                  </a:txBody>
                  <a:tcPr/>
                </a:tc>
                <a:tc>
                  <a:txBody>
                    <a:bodyPr/>
                    <a:lstStyle/>
                    <a:p>
                      <a:r>
                        <a:rPr lang="en-AU" sz="1800" dirty="0" smtClean="0"/>
                        <a:t>5</a:t>
                      </a:r>
                      <a:endParaRPr lang="en-AU" sz="1800" dirty="0"/>
                    </a:p>
                  </a:txBody>
                  <a:tcPr/>
                </a:tc>
                <a:tc>
                  <a:txBody>
                    <a:bodyPr/>
                    <a:lstStyle/>
                    <a:p>
                      <a:r>
                        <a:rPr lang="en-AU" sz="1800" dirty="0" smtClean="0"/>
                        <a:t>6</a:t>
                      </a:r>
                      <a:endParaRPr lang="en-AU" sz="1800" dirty="0"/>
                    </a:p>
                  </a:txBody>
                  <a:tcPr/>
                </a:tc>
              </a:tr>
              <a:tr h="370840">
                <a:tc>
                  <a:txBody>
                    <a:bodyPr/>
                    <a:lstStyle/>
                    <a:p>
                      <a:r>
                        <a:rPr lang="en-AU" sz="1800" dirty="0" smtClean="0"/>
                        <a:t>Cost (y)</a:t>
                      </a:r>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r>
            </a:tbl>
          </a:graphicData>
        </a:graphic>
      </p:graphicFrame>
      <mc:AlternateContent xmlns:mc="http://schemas.openxmlformats.org/markup-compatibility/2006" xmlns:a14="http://schemas.microsoft.com/office/drawing/2010/main">
        <mc:Choice Requires="a14">
          <p:sp>
            <p:nvSpPr>
              <p:cNvPr id="8" name="TextBox 7"/>
              <p:cNvSpPr txBox="1"/>
              <p:nvPr/>
            </p:nvSpPr>
            <p:spPr>
              <a:xfrm>
                <a:off x="4119824" y="2416628"/>
                <a:ext cx="2688621" cy="22159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𝐶𝑜𝑠𝑡</m:t>
                      </m:r>
                      <m:r>
                        <a:rPr lang="en-AU" b="0" i="1" smtClean="0">
                          <a:latin typeface="Cambria Math" panose="02040503050406030204" pitchFamily="18" charset="0"/>
                        </a:rPr>
                        <m:t>=40×</m:t>
                      </m:r>
                      <m:r>
                        <a:rPr lang="en-AU" b="0" i="1" smtClean="0">
                          <a:latin typeface="Cambria Math" panose="02040503050406030204" pitchFamily="18" charset="0"/>
                          <a:ea typeface="Cambria Math" panose="02040503050406030204" pitchFamily="18" charset="0"/>
                        </a:rPr>
                        <m:t>h𝑜𝑢𝑟𝑠</m:t>
                      </m:r>
                      <m:r>
                        <a:rPr lang="en-AU" b="0" i="1" smtClean="0">
                          <a:latin typeface="Cambria Math" panose="02040503050406030204" pitchFamily="18" charset="0"/>
                          <a:ea typeface="Cambria Math" panose="02040503050406030204" pitchFamily="18" charset="0"/>
                        </a:rPr>
                        <m:t>+100</m:t>
                      </m:r>
                    </m:oMath>
                  </m:oMathPara>
                </a14:m>
                <a:endParaRPr lang="en-AU" b="0" dirty="0" smtClean="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=40×_______+100</m:t>
                      </m:r>
                    </m:oMath>
                  </m:oMathPara>
                </a14:m>
                <a:endParaRPr lang="en-AU" dirty="0">
                  <a:ea typeface="Cambria Math" panose="02040503050406030204" pitchFamily="18" charset="0"/>
                </a:endParaRPr>
              </a:p>
              <a:p>
                <a:endParaRPr lang="en-AU" dirty="0" smtClean="0"/>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=__________+100</m:t>
                      </m:r>
                    </m:oMath>
                  </m:oMathPara>
                </a14:m>
                <a:endParaRPr lang="en-AU" dirty="0" smtClean="0">
                  <a:ea typeface="Cambria Math" panose="02040503050406030204" pitchFamily="18" charset="0"/>
                </a:endParaRPr>
              </a:p>
              <a:p>
                <a:r>
                  <a:rPr lang="en-AU" dirty="0">
                    <a:ea typeface="Cambria Math" panose="02040503050406030204" pitchFamily="18" charset="0"/>
                  </a:rPr>
                  <a:t> </a:t>
                </a:r>
              </a:p>
              <a:p>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𝐶𝑜𝑠𝑡</m:t>
                      </m:r>
                      <m:r>
                        <a:rPr lang="en-AU" i="1">
                          <a:latin typeface="Cambria Math" panose="02040503050406030204" pitchFamily="18" charset="0"/>
                        </a:rPr>
                        <m:t>=_________</m:t>
                      </m:r>
                    </m:oMath>
                  </m:oMathPara>
                </a14:m>
                <a:endParaRPr lang="en-AU" dirty="0">
                  <a:ea typeface="Cambria Math" panose="02040503050406030204" pitchFamily="18" charset="0"/>
                </a:endParaRPr>
              </a:p>
              <a:p>
                <a:endParaRPr lang="en-AU" dirty="0"/>
              </a:p>
            </p:txBody>
          </p:sp>
        </mc:Choice>
        <mc:Fallback xmlns="">
          <p:sp>
            <p:nvSpPr>
              <p:cNvPr id="8" name="TextBox 7"/>
              <p:cNvSpPr txBox="1">
                <a:spLocks noRot="1" noChangeAspect="1" noMove="1" noResize="1" noEditPoints="1" noAdjustHandles="1" noChangeArrowheads="1" noChangeShapeType="1" noTextEdit="1"/>
              </p:cNvSpPr>
              <p:nvPr/>
            </p:nvSpPr>
            <p:spPr>
              <a:xfrm>
                <a:off x="4119824" y="2416628"/>
                <a:ext cx="2688621" cy="2215991"/>
              </a:xfrm>
              <a:prstGeom prst="rect">
                <a:avLst/>
              </a:prstGeom>
              <a:blipFill rotWithShape="0">
                <a:blip r:embed="rId2"/>
                <a:stretch>
                  <a:fillRect l="-227" r="-227"/>
                </a:stretch>
              </a:blipFill>
            </p:spPr>
            <p:txBody>
              <a:bodyPr/>
              <a:lstStyle/>
              <a:p>
                <a:r>
                  <a:rPr lang="en-AU">
                    <a:noFill/>
                  </a:rPr>
                  <a:t> </a:t>
                </a:r>
              </a:p>
            </p:txBody>
          </p:sp>
        </mc:Fallback>
      </mc:AlternateContent>
      <p:sp>
        <p:nvSpPr>
          <p:cNvPr id="3" name="TextBox 2"/>
          <p:cNvSpPr txBox="1"/>
          <p:nvPr/>
        </p:nvSpPr>
        <p:spPr>
          <a:xfrm>
            <a:off x="5630777" y="2873793"/>
            <a:ext cx="398761" cy="369332"/>
          </a:xfrm>
          <a:prstGeom prst="rect">
            <a:avLst/>
          </a:prstGeom>
          <a:noFill/>
        </p:spPr>
        <p:txBody>
          <a:bodyPr wrap="square" rtlCol="0">
            <a:spAutoFit/>
          </a:bodyPr>
          <a:lstStyle/>
          <a:p>
            <a:r>
              <a:rPr lang="en-US" dirty="0"/>
              <a:t>2</a:t>
            </a:r>
            <a:endParaRPr lang="en-AU" dirty="0"/>
          </a:p>
        </p:txBody>
      </p:sp>
      <p:sp>
        <p:nvSpPr>
          <p:cNvPr id="14" name="TextBox 13"/>
          <p:cNvSpPr txBox="1"/>
          <p:nvPr/>
        </p:nvSpPr>
        <p:spPr>
          <a:xfrm>
            <a:off x="5342018" y="3418834"/>
            <a:ext cx="426265" cy="369332"/>
          </a:xfrm>
          <a:prstGeom prst="rect">
            <a:avLst/>
          </a:prstGeom>
          <a:noFill/>
        </p:spPr>
        <p:txBody>
          <a:bodyPr wrap="square" rtlCol="0">
            <a:spAutoFit/>
          </a:bodyPr>
          <a:lstStyle/>
          <a:p>
            <a:r>
              <a:rPr lang="en-US" dirty="0"/>
              <a:t>8</a:t>
            </a:r>
            <a:r>
              <a:rPr lang="en-US" dirty="0" smtClean="0"/>
              <a:t>0</a:t>
            </a:r>
            <a:endParaRPr lang="en-AU" dirty="0"/>
          </a:p>
        </p:txBody>
      </p:sp>
      <p:sp>
        <p:nvSpPr>
          <p:cNvPr id="15" name="TextBox 14"/>
          <p:cNvSpPr txBox="1"/>
          <p:nvPr/>
        </p:nvSpPr>
        <p:spPr>
          <a:xfrm>
            <a:off x="5479521" y="3963875"/>
            <a:ext cx="701272" cy="369332"/>
          </a:xfrm>
          <a:prstGeom prst="rect">
            <a:avLst/>
          </a:prstGeom>
          <a:noFill/>
        </p:spPr>
        <p:txBody>
          <a:bodyPr wrap="square" rtlCol="0">
            <a:spAutoFit/>
          </a:bodyPr>
          <a:lstStyle/>
          <a:p>
            <a:r>
              <a:rPr lang="en-US" dirty="0" smtClean="0"/>
              <a:t>$180</a:t>
            </a:r>
            <a:endParaRPr lang="en-AU" dirty="0"/>
          </a:p>
        </p:txBody>
      </p:sp>
      <p:sp>
        <p:nvSpPr>
          <p:cNvPr id="16" name="TextBox 15"/>
          <p:cNvSpPr txBox="1"/>
          <p:nvPr/>
        </p:nvSpPr>
        <p:spPr>
          <a:xfrm>
            <a:off x="3485712" y="1926206"/>
            <a:ext cx="577518" cy="369332"/>
          </a:xfrm>
          <a:prstGeom prst="rect">
            <a:avLst/>
          </a:prstGeom>
          <a:noFill/>
        </p:spPr>
        <p:txBody>
          <a:bodyPr wrap="square" rtlCol="0">
            <a:spAutoFit/>
          </a:bodyPr>
          <a:lstStyle/>
          <a:p>
            <a:r>
              <a:rPr lang="en-US" dirty="0" smtClean="0"/>
              <a:t>100</a:t>
            </a:r>
            <a:endParaRPr lang="en-AU" dirty="0"/>
          </a:p>
        </p:txBody>
      </p:sp>
      <p:sp>
        <p:nvSpPr>
          <p:cNvPr id="17" name="TextBox 16"/>
          <p:cNvSpPr txBox="1"/>
          <p:nvPr/>
        </p:nvSpPr>
        <p:spPr>
          <a:xfrm>
            <a:off x="78310" y="1138722"/>
            <a:ext cx="2099740" cy="584775"/>
          </a:xfrm>
          <a:prstGeom prst="rect">
            <a:avLst/>
          </a:prstGeom>
          <a:noFill/>
        </p:spPr>
        <p:txBody>
          <a:bodyPr wrap="square" rtlCol="0">
            <a:spAutoFit/>
          </a:bodyPr>
          <a:lstStyle/>
          <a:p>
            <a:r>
              <a:rPr lang="en-US" sz="1600" dirty="0" smtClean="0"/>
              <a:t>How do I create a table from an equation?</a:t>
            </a:r>
            <a:endParaRPr lang="en-AU" sz="1600" dirty="0"/>
          </a:p>
        </p:txBody>
      </p:sp>
      <p:sp>
        <p:nvSpPr>
          <p:cNvPr id="18" name="TextBox 17"/>
          <p:cNvSpPr txBox="1"/>
          <p:nvPr/>
        </p:nvSpPr>
        <p:spPr>
          <a:xfrm>
            <a:off x="4119824" y="1918906"/>
            <a:ext cx="577518" cy="369332"/>
          </a:xfrm>
          <a:prstGeom prst="rect">
            <a:avLst/>
          </a:prstGeom>
          <a:noFill/>
        </p:spPr>
        <p:txBody>
          <a:bodyPr wrap="square" rtlCol="0">
            <a:spAutoFit/>
          </a:bodyPr>
          <a:lstStyle/>
          <a:p>
            <a:r>
              <a:rPr lang="en-US" dirty="0" smtClean="0"/>
              <a:t>140</a:t>
            </a:r>
            <a:endParaRPr lang="en-AU" dirty="0"/>
          </a:p>
        </p:txBody>
      </p:sp>
      <p:sp>
        <p:nvSpPr>
          <p:cNvPr id="19" name="TextBox 18"/>
          <p:cNvSpPr txBox="1"/>
          <p:nvPr/>
        </p:nvSpPr>
        <p:spPr>
          <a:xfrm>
            <a:off x="4848580" y="1911611"/>
            <a:ext cx="577518" cy="369332"/>
          </a:xfrm>
          <a:prstGeom prst="rect">
            <a:avLst/>
          </a:prstGeom>
          <a:noFill/>
        </p:spPr>
        <p:txBody>
          <a:bodyPr wrap="square" rtlCol="0">
            <a:spAutoFit/>
          </a:bodyPr>
          <a:lstStyle/>
          <a:p>
            <a:r>
              <a:rPr lang="en-US" dirty="0" smtClean="0"/>
              <a:t>180</a:t>
            </a:r>
            <a:endParaRPr lang="en-AU" dirty="0"/>
          </a:p>
        </p:txBody>
      </p:sp>
      <p:sp>
        <p:nvSpPr>
          <p:cNvPr id="20" name="TextBox 19"/>
          <p:cNvSpPr txBox="1"/>
          <p:nvPr/>
        </p:nvSpPr>
        <p:spPr>
          <a:xfrm>
            <a:off x="5603275" y="1926206"/>
            <a:ext cx="577518" cy="369332"/>
          </a:xfrm>
          <a:prstGeom prst="rect">
            <a:avLst/>
          </a:prstGeom>
          <a:noFill/>
        </p:spPr>
        <p:txBody>
          <a:bodyPr wrap="square" rtlCol="0">
            <a:spAutoFit/>
          </a:bodyPr>
          <a:lstStyle/>
          <a:p>
            <a:r>
              <a:rPr lang="en-US" dirty="0" smtClean="0"/>
              <a:t>220</a:t>
            </a:r>
            <a:endParaRPr lang="en-AU" dirty="0"/>
          </a:p>
        </p:txBody>
      </p:sp>
      <p:sp>
        <p:nvSpPr>
          <p:cNvPr id="21" name="TextBox 20"/>
          <p:cNvSpPr txBox="1"/>
          <p:nvPr/>
        </p:nvSpPr>
        <p:spPr>
          <a:xfrm>
            <a:off x="6405563" y="1926206"/>
            <a:ext cx="577518" cy="369332"/>
          </a:xfrm>
          <a:prstGeom prst="rect">
            <a:avLst/>
          </a:prstGeom>
          <a:noFill/>
        </p:spPr>
        <p:txBody>
          <a:bodyPr wrap="square" rtlCol="0">
            <a:spAutoFit/>
          </a:bodyPr>
          <a:lstStyle/>
          <a:p>
            <a:r>
              <a:rPr lang="en-US" dirty="0" smtClean="0"/>
              <a:t>260</a:t>
            </a:r>
            <a:endParaRPr lang="en-AU" dirty="0"/>
          </a:p>
        </p:txBody>
      </p:sp>
      <p:sp>
        <p:nvSpPr>
          <p:cNvPr id="22" name="TextBox 21"/>
          <p:cNvSpPr txBox="1"/>
          <p:nvPr/>
        </p:nvSpPr>
        <p:spPr>
          <a:xfrm>
            <a:off x="7207851" y="1911611"/>
            <a:ext cx="577518" cy="369332"/>
          </a:xfrm>
          <a:prstGeom prst="rect">
            <a:avLst/>
          </a:prstGeom>
          <a:noFill/>
        </p:spPr>
        <p:txBody>
          <a:bodyPr wrap="square" rtlCol="0">
            <a:spAutoFit/>
          </a:bodyPr>
          <a:lstStyle/>
          <a:p>
            <a:r>
              <a:rPr lang="en-US" dirty="0" smtClean="0"/>
              <a:t>300</a:t>
            </a:r>
            <a:endParaRPr lang="en-AU" dirty="0"/>
          </a:p>
        </p:txBody>
      </p:sp>
      <p:sp>
        <p:nvSpPr>
          <p:cNvPr id="23" name="TextBox 22"/>
          <p:cNvSpPr txBox="1"/>
          <p:nvPr/>
        </p:nvSpPr>
        <p:spPr>
          <a:xfrm>
            <a:off x="7994609" y="1911611"/>
            <a:ext cx="577518" cy="369332"/>
          </a:xfrm>
          <a:prstGeom prst="rect">
            <a:avLst/>
          </a:prstGeom>
          <a:noFill/>
        </p:spPr>
        <p:txBody>
          <a:bodyPr wrap="square" rtlCol="0">
            <a:spAutoFit/>
          </a:bodyPr>
          <a:lstStyle/>
          <a:p>
            <a:r>
              <a:rPr lang="en-US" dirty="0" smtClean="0"/>
              <a:t>340</a:t>
            </a:r>
            <a:endParaRPr lang="en-AU" dirty="0"/>
          </a:p>
        </p:txBody>
      </p:sp>
    </p:spTree>
    <p:extLst>
      <p:ext uri="{BB962C8B-B14F-4D97-AF65-F5344CB8AC3E}">
        <p14:creationId xmlns:p14="http://schemas.microsoft.com/office/powerpoint/2010/main" val="398874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down)">
                                      <p:cBhvr>
                                        <p:cTn id="25" dur="580">
                                          <p:stCondLst>
                                            <p:cond delay="0"/>
                                          </p:stCondLst>
                                        </p:cTn>
                                        <p:tgtEl>
                                          <p:spTgt spid="19"/>
                                        </p:tgtEl>
                                      </p:cBhvr>
                                    </p:animEffect>
                                    <p:anim calcmode="lin" valueType="num">
                                      <p:cBhvr>
                                        <p:cTn id="26"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31" dur="26">
                                          <p:stCondLst>
                                            <p:cond delay="650"/>
                                          </p:stCondLst>
                                        </p:cTn>
                                        <p:tgtEl>
                                          <p:spTgt spid="19"/>
                                        </p:tgtEl>
                                      </p:cBhvr>
                                      <p:to x="100000" y="60000"/>
                                    </p:animScale>
                                    <p:animScale>
                                      <p:cBhvr>
                                        <p:cTn id="32" dur="166" decel="50000">
                                          <p:stCondLst>
                                            <p:cond delay="676"/>
                                          </p:stCondLst>
                                        </p:cTn>
                                        <p:tgtEl>
                                          <p:spTgt spid="19"/>
                                        </p:tgtEl>
                                      </p:cBhvr>
                                      <p:to x="100000" y="100000"/>
                                    </p:animScale>
                                    <p:animScale>
                                      <p:cBhvr>
                                        <p:cTn id="33" dur="26">
                                          <p:stCondLst>
                                            <p:cond delay="1312"/>
                                          </p:stCondLst>
                                        </p:cTn>
                                        <p:tgtEl>
                                          <p:spTgt spid="19"/>
                                        </p:tgtEl>
                                      </p:cBhvr>
                                      <p:to x="100000" y="80000"/>
                                    </p:animScale>
                                    <p:animScale>
                                      <p:cBhvr>
                                        <p:cTn id="34" dur="166" decel="50000">
                                          <p:stCondLst>
                                            <p:cond delay="1338"/>
                                          </p:stCondLst>
                                        </p:cTn>
                                        <p:tgtEl>
                                          <p:spTgt spid="19"/>
                                        </p:tgtEl>
                                      </p:cBhvr>
                                      <p:to x="100000" y="100000"/>
                                    </p:animScale>
                                    <p:animScale>
                                      <p:cBhvr>
                                        <p:cTn id="35" dur="26">
                                          <p:stCondLst>
                                            <p:cond delay="1642"/>
                                          </p:stCondLst>
                                        </p:cTn>
                                        <p:tgtEl>
                                          <p:spTgt spid="19"/>
                                        </p:tgtEl>
                                      </p:cBhvr>
                                      <p:to x="100000" y="90000"/>
                                    </p:animScale>
                                    <p:animScale>
                                      <p:cBhvr>
                                        <p:cTn id="36" dur="166" decel="50000">
                                          <p:stCondLst>
                                            <p:cond delay="1668"/>
                                          </p:stCondLst>
                                        </p:cTn>
                                        <p:tgtEl>
                                          <p:spTgt spid="19"/>
                                        </p:tgtEl>
                                      </p:cBhvr>
                                      <p:to x="100000" y="100000"/>
                                    </p:animScale>
                                    <p:animScale>
                                      <p:cBhvr>
                                        <p:cTn id="37" dur="26">
                                          <p:stCondLst>
                                            <p:cond delay="1808"/>
                                          </p:stCondLst>
                                        </p:cTn>
                                        <p:tgtEl>
                                          <p:spTgt spid="19"/>
                                        </p:tgtEl>
                                      </p:cBhvr>
                                      <p:to x="100000" y="95000"/>
                                    </p:animScale>
                                    <p:animScale>
                                      <p:cBhvr>
                                        <p:cTn id="38" dur="166" decel="50000">
                                          <p:stCondLst>
                                            <p:cond delay="1834"/>
                                          </p:stCondLst>
                                        </p:cTn>
                                        <p:tgtEl>
                                          <p:spTgt spid="19"/>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80">
                                          <p:stCondLst>
                                            <p:cond delay="0"/>
                                          </p:stCondLst>
                                        </p:cTn>
                                        <p:tgtEl>
                                          <p:spTgt spid="20"/>
                                        </p:tgtEl>
                                      </p:cBhvr>
                                    </p:animEffect>
                                    <p:anim calcmode="lin" valueType="num">
                                      <p:cBhvr>
                                        <p:cTn id="44"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49" dur="26">
                                          <p:stCondLst>
                                            <p:cond delay="650"/>
                                          </p:stCondLst>
                                        </p:cTn>
                                        <p:tgtEl>
                                          <p:spTgt spid="20"/>
                                        </p:tgtEl>
                                      </p:cBhvr>
                                      <p:to x="100000" y="60000"/>
                                    </p:animScale>
                                    <p:animScale>
                                      <p:cBhvr>
                                        <p:cTn id="50" dur="166" decel="50000">
                                          <p:stCondLst>
                                            <p:cond delay="676"/>
                                          </p:stCondLst>
                                        </p:cTn>
                                        <p:tgtEl>
                                          <p:spTgt spid="20"/>
                                        </p:tgtEl>
                                      </p:cBhvr>
                                      <p:to x="100000" y="100000"/>
                                    </p:animScale>
                                    <p:animScale>
                                      <p:cBhvr>
                                        <p:cTn id="51" dur="26">
                                          <p:stCondLst>
                                            <p:cond delay="1312"/>
                                          </p:stCondLst>
                                        </p:cTn>
                                        <p:tgtEl>
                                          <p:spTgt spid="20"/>
                                        </p:tgtEl>
                                      </p:cBhvr>
                                      <p:to x="100000" y="80000"/>
                                    </p:animScale>
                                    <p:animScale>
                                      <p:cBhvr>
                                        <p:cTn id="52" dur="166" decel="50000">
                                          <p:stCondLst>
                                            <p:cond delay="1338"/>
                                          </p:stCondLst>
                                        </p:cTn>
                                        <p:tgtEl>
                                          <p:spTgt spid="20"/>
                                        </p:tgtEl>
                                      </p:cBhvr>
                                      <p:to x="100000" y="100000"/>
                                    </p:animScale>
                                    <p:animScale>
                                      <p:cBhvr>
                                        <p:cTn id="53" dur="26">
                                          <p:stCondLst>
                                            <p:cond delay="1642"/>
                                          </p:stCondLst>
                                        </p:cTn>
                                        <p:tgtEl>
                                          <p:spTgt spid="20"/>
                                        </p:tgtEl>
                                      </p:cBhvr>
                                      <p:to x="100000" y="90000"/>
                                    </p:animScale>
                                    <p:animScale>
                                      <p:cBhvr>
                                        <p:cTn id="54" dur="166" decel="50000">
                                          <p:stCondLst>
                                            <p:cond delay="1668"/>
                                          </p:stCondLst>
                                        </p:cTn>
                                        <p:tgtEl>
                                          <p:spTgt spid="20"/>
                                        </p:tgtEl>
                                      </p:cBhvr>
                                      <p:to x="100000" y="100000"/>
                                    </p:animScale>
                                    <p:animScale>
                                      <p:cBhvr>
                                        <p:cTn id="55" dur="26">
                                          <p:stCondLst>
                                            <p:cond delay="1808"/>
                                          </p:stCondLst>
                                        </p:cTn>
                                        <p:tgtEl>
                                          <p:spTgt spid="20"/>
                                        </p:tgtEl>
                                      </p:cBhvr>
                                      <p:to x="100000" y="95000"/>
                                    </p:animScale>
                                    <p:animScale>
                                      <p:cBhvr>
                                        <p:cTn id="56" dur="166" decel="50000">
                                          <p:stCondLst>
                                            <p:cond delay="1834"/>
                                          </p:stCondLst>
                                        </p:cTn>
                                        <p:tgtEl>
                                          <p:spTgt spid="20"/>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down)">
                                      <p:cBhvr>
                                        <p:cTn id="61" dur="580">
                                          <p:stCondLst>
                                            <p:cond delay="0"/>
                                          </p:stCondLst>
                                        </p:cTn>
                                        <p:tgtEl>
                                          <p:spTgt spid="21"/>
                                        </p:tgtEl>
                                      </p:cBhvr>
                                    </p:animEffect>
                                    <p:anim calcmode="lin" valueType="num">
                                      <p:cBhvr>
                                        <p:cTn id="6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67" dur="26">
                                          <p:stCondLst>
                                            <p:cond delay="650"/>
                                          </p:stCondLst>
                                        </p:cTn>
                                        <p:tgtEl>
                                          <p:spTgt spid="21"/>
                                        </p:tgtEl>
                                      </p:cBhvr>
                                      <p:to x="100000" y="60000"/>
                                    </p:animScale>
                                    <p:animScale>
                                      <p:cBhvr>
                                        <p:cTn id="68" dur="166" decel="50000">
                                          <p:stCondLst>
                                            <p:cond delay="676"/>
                                          </p:stCondLst>
                                        </p:cTn>
                                        <p:tgtEl>
                                          <p:spTgt spid="21"/>
                                        </p:tgtEl>
                                      </p:cBhvr>
                                      <p:to x="100000" y="100000"/>
                                    </p:animScale>
                                    <p:animScale>
                                      <p:cBhvr>
                                        <p:cTn id="69" dur="26">
                                          <p:stCondLst>
                                            <p:cond delay="1312"/>
                                          </p:stCondLst>
                                        </p:cTn>
                                        <p:tgtEl>
                                          <p:spTgt spid="21"/>
                                        </p:tgtEl>
                                      </p:cBhvr>
                                      <p:to x="100000" y="80000"/>
                                    </p:animScale>
                                    <p:animScale>
                                      <p:cBhvr>
                                        <p:cTn id="70" dur="166" decel="50000">
                                          <p:stCondLst>
                                            <p:cond delay="1338"/>
                                          </p:stCondLst>
                                        </p:cTn>
                                        <p:tgtEl>
                                          <p:spTgt spid="21"/>
                                        </p:tgtEl>
                                      </p:cBhvr>
                                      <p:to x="100000" y="100000"/>
                                    </p:animScale>
                                    <p:animScale>
                                      <p:cBhvr>
                                        <p:cTn id="71" dur="26">
                                          <p:stCondLst>
                                            <p:cond delay="1642"/>
                                          </p:stCondLst>
                                        </p:cTn>
                                        <p:tgtEl>
                                          <p:spTgt spid="21"/>
                                        </p:tgtEl>
                                      </p:cBhvr>
                                      <p:to x="100000" y="90000"/>
                                    </p:animScale>
                                    <p:animScale>
                                      <p:cBhvr>
                                        <p:cTn id="72" dur="166" decel="50000">
                                          <p:stCondLst>
                                            <p:cond delay="1668"/>
                                          </p:stCondLst>
                                        </p:cTn>
                                        <p:tgtEl>
                                          <p:spTgt spid="21"/>
                                        </p:tgtEl>
                                      </p:cBhvr>
                                      <p:to x="100000" y="100000"/>
                                    </p:animScale>
                                    <p:animScale>
                                      <p:cBhvr>
                                        <p:cTn id="73" dur="26">
                                          <p:stCondLst>
                                            <p:cond delay="1808"/>
                                          </p:stCondLst>
                                        </p:cTn>
                                        <p:tgtEl>
                                          <p:spTgt spid="21"/>
                                        </p:tgtEl>
                                      </p:cBhvr>
                                      <p:to x="100000" y="95000"/>
                                    </p:animScale>
                                    <p:animScale>
                                      <p:cBhvr>
                                        <p:cTn id="74" dur="166" decel="50000">
                                          <p:stCondLst>
                                            <p:cond delay="1834"/>
                                          </p:stCondLst>
                                        </p:cTn>
                                        <p:tgtEl>
                                          <p:spTgt spid="21"/>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down)">
                                      <p:cBhvr>
                                        <p:cTn id="79" dur="580">
                                          <p:stCondLst>
                                            <p:cond delay="0"/>
                                          </p:stCondLst>
                                        </p:cTn>
                                        <p:tgtEl>
                                          <p:spTgt spid="22"/>
                                        </p:tgtEl>
                                      </p:cBhvr>
                                    </p:animEffect>
                                    <p:anim calcmode="lin" valueType="num">
                                      <p:cBhvr>
                                        <p:cTn id="80"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85" dur="26">
                                          <p:stCondLst>
                                            <p:cond delay="650"/>
                                          </p:stCondLst>
                                        </p:cTn>
                                        <p:tgtEl>
                                          <p:spTgt spid="22"/>
                                        </p:tgtEl>
                                      </p:cBhvr>
                                      <p:to x="100000" y="60000"/>
                                    </p:animScale>
                                    <p:animScale>
                                      <p:cBhvr>
                                        <p:cTn id="86" dur="166" decel="50000">
                                          <p:stCondLst>
                                            <p:cond delay="676"/>
                                          </p:stCondLst>
                                        </p:cTn>
                                        <p:tgtEl>
                                          <p:spTgt spid="22"/>
                                        </p:tgtEl>
                                      </p:cBhvr>
                                      <p:to x="100000" y="100000"/>
                                    </p:animScale>
                                    <p:animScale>
                                      <p:cBhvr>
                                        <p:cTn id="87" dur="26">
                                          <p:stCondLst>
                                            <p:cond delay="1312"/>
                                          </p:stCondLst>
                                        </p:cTn>
                                        <p:tgtEl>
                                          <p:spTgt spid="22"/>
                                        </p:tgtEl>
                                      </p:cBhvr>
                                      <p:to x="100000" y="80000"/>
                                    </p:animScale>
                                    <p:animScale>
                                      <p:cBhvr>
                                        <p:cTn id="88" dur="166" decel="50000">
                                          <p:stCondLst>
                                            <p:cond delay="1338"/>
                                          </p:stCondLst>
                                        </p:cTn>
                                        <p:tgtEl>
                                          <p:spTgt spid="22"/>
                                        </p:tgtEl>
                                      </p:cBhvr>
                                      <p:to x="100000" y="100000"/>
                                    </p:animScale>
                                    <p:animScale>
                                      <p:cBhvr>
                                        <p:cTn id="89" dur="26">
                                          <p:stCondLst>
                                            <p:cond delay="1642"/>
                                          </p:stCondLst>
                                        </p:cTn>
                                        <p:tgtEl>
                                          <p:spTgt spid="22"/>
                                        </p:tgtEl>
                                      </p:cBhvr>
                                      <p:to x="100000" y="90000"/>
                                    </p:animScale>
                                    <p:animScale>
                                      <p:cBhvr>
                                        <p:cTn id="90" dur="166" decel="50000">
                                          <p:stCondLst>
                                            <p:cond delay="1668"/>
                                          </p:stCondLst>
                                        </p:cTn>
                                        <p:tgtEl>
                                          <p:spTgt spid="22"/>
                                        </p:tgtEl>
                                      </p:cBhvr>
                                      <p:to x="100000" y="100000"/>
                                    </p:animScale>
                                    <p:animScale>
                                      <p:cBhvr>
                                        <p:cTn id="91" dur="26">
                                          <p:stCondLst>
                                            <p:cond delay="1808"/>
                                          </p:stCondLst>
                                        </p:cTn>
                                        <p:tgtEl>
                                          <p:spTgt spid="22"/>
                                        </p:tgtEl>
                                      </p:cBhvr>
                                      <p:to x="100000" y="95000"/>
                                    </p:animScale>
                                    <p:animScale>
                                      <p:cBhvr>
                                        <p:cTn id="92" dur="166" decel="50000">
                                          <p:stCondLst>
                                            <p:cond delay="1834"/>
                                          </p:stCondLst>
                                        </p:cTn>
                                        <p:tgtEl>
                                          <p:spTgt spid="22"/>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down)">
                                      <p:cBhvr>
                                        <p:cTn id="97" dur="580">
                                          <p:stCondLst>
                                            <p:cond delay="0"/>
                                          </p:stCondLst>
                                        </p:cTn>
                                        <p:tgtEl>
                                          <p:spTgt spid="23"/>
                                        </p:tgtEl>
                                      </p:cBhvr>
                                    </p:animEffect>
                                    <p:anim calcmode="lin" valueType="num">
                                      <p:cBhvr>
                                        <p:cTn id="98"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103" dur="26">
                                          <p:stCondLst>
                                            <p:cond delay="650"/>
                                          </p:stCondLst>
                                        </p:cTn>
                                        <p:tgtEl>
                                          <p:spTgt spid="23"/>
                                        </p:tgtEl>
                                      </p:cBhvr>
                                      <p:to x="100000" y="60000"/>
                                    </p:animScale>
                                    <p:animScale>
                                      <p:cBhvr>
                                        <p:cTn id="104" dur="166" decel="50000">
                                          <p:stCondLst>
                                            <p:cond delay="676"/>
                                          </p:stCondLst>
                                        </p:cTn>
                                        <p:tgtEl>
                                          <p:spTgt spid="23"/>
                                        </p:tgtEl>
                                      </p:cBhvr>
                                      <p:to x="100000" y="100000"/>
                                    </p:animScale>
                                    <p:animScale>
                                      <p:cBhvr>
                                        <p:cTn id="105" dur="26">
                                          <p:stCondLst>
                                            <p:cond delay="1312"/>
                                          </p:stCondLst>
                                        </p:cTn>
                                        <p:tgtEl>
                                          <p:spTgt spid="23"/>
                                        </p:tgtEl>
                                      </p:cBhvr>
                                      <p:to x="100000" y="80000"/>
                                    </p:animScale>
                                    <p:animScale>
                                      <p:cBhvr>
                                        <p:cTn id="106" dur="166" decel="50000">
                                          <p:stCondLst>
                                            <p:cond delay="1338"/>
                                          </p:stCondLst>
                                        </p:cTn>
                                        <p:tgtEl>
                                          <p:spTgt spid="23"/>
                                        </p:tgtEl>
                                      </p:cBhvr>
                                      <p:to x="100000" y="100000"/>
                                    </p:animScale>
                                    <p:animScale>
                                      <p:cBhvr>
                                        <p:cTn id="107" dur="26">
                                          <p:stCondLst>
                                            <p:cond delay="1642"/>
                                          </p:stCondLst>
                                        </p:cTn>
                                        <p:tgtEl>
                                          <p:spTgt spid="23"/>
                                        </p:tgtEl>
                                      </p:cBhvr>
                                      <p:to x="100000" y="90000"/>
                                    </p:animScale>
                                    <p:animScale>
                                      <p:cBhvr>
                                        <p:cTn id="108" dur="166" decel="50000">
                                          <p:stCondLst>
                                            <p:cond delay="1668"/>
                                          </p:stCondLst>
                                        </p:cTn>
                                        <p:tgtEl>
                                          <p:spTgt spid="23"/>
                                        </p:tgtEl>
                                      </p:cBhvr>
                                      <p:to x="100000" y="100000"/>
                                    </p:animScale>
                                    <p:animScale>
                                      <p:cBhvr>
                                        <p:cTn id="109" dur="26">
                                          <p:stCondLst>
                                            <p:cond delay="1808"/>
                                          </p:stCondLst>
                                        </p:cTn>
                                        <p:tgtEl>
                                          <p:spTgt spid="23"/>
                                        </p:tgtEl>
                                      </p:cBhvr>
                                      <p:to x="100000" y="95000"/>
                                    </p:animScale>
                                    <p:animScale>
                                      <p:cBhvr>
                                        <p:cTn id="110" dur="166" decel="50000">
                                          <p:stCondLst>
                                            <p:cond delay="1834"/>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5" grpId="0"/>
      <p:bldP spid="19" grpId="0"/>
      <p:bldP spid="20" grpId="0"/>
      <p:bldP spid="21"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65643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flipV="1">
            <a:off x="0" y="1064062"/>
            <a:ext cx="9144000" cy="16221"/>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200095" y="66904"/>
            <a:ext cx="363034" cy="646331"/>
          </a:xfrm>
          <a:prstGeom prst="rect">
            <a:avLst/>
          </a:prstGeom>
          <a:noFill/>
        </p:spPr>
        <p:txBody>
          <a:bodyPr wrap="square" rtlCol="0">
            <a:spAutoFit/>
          </a:bodyPr>
          <a:lstStyle/>
          <a:p>
            <a:r>
              <a:rPr lang="en-AU" sz="1200" dirty="0"/>
              <a:t>24</a:t>
            </a:r>
          </a:p>
          <a:p>
            <a:r>
              <a:rPr lang="en-AU" sz="1200" dirty="0"/>
              <a:t>7</a:t>
            </a:r>
          </a:p>
          <a:p>
            <a:r>
              <a:rPr lang="en-AU" sz="1200" dirty="0"/>
              <a:t>30</a:t>
            </a:r>
          </a:p>
        </p:txBody>
      </p:sp>
      <p:cxnSp>
        <p:nvCxnSpPr>
          <p:cNvPr id="9" name="Straight Connector 8"/>
          <p:cNvCxnSpPr/>
          <p:nvPr/>
        </p:nvCxnSpPr>
        <p:spPr>
          <a:xfrm>
            <a:off x="2178050" y="1072172"/>
            <a:ext cx="0" cy="4628573"/>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7441866" y="66904"/>
            <a:ext cx="1188132" cy="461665"/>
          </a:xfrm>
          <a:prstGeom prst="rect">
            <a:avLst/>
          </a:prstGeom>
          <a:noFill/>
        </p:spPr>
        <p:txBody>
          <a:bodyPr wrap="square" rtlCol="0">
            <a:spAutoFit/>
          </a:bodyPr>
          <a:lstStyle/>
          <a:p>
            <a:r>
              <a:rPr lang="en-AU" sz="2400" dirty="0"/>
              <a:t>Date</a:t>
            </a:r>
          </a:p>
        </p:txBody>
      </p:sp>
      <p:sp>
        <p:nvSpPr>
          <p:cNvPr id="12" name="TextBox 11"/>
          <p:cNvSpPr txBox="1"/>
          <p:nvPr/>
        </p:nvSpPr>
        <p:spPr>
          <a:xfrm>
            <a:off x="381612" y="632406"/>
            <a:ext cx="6480453" cy="461665"/>
          </a:xfrm>
          <a:prstGeom prst="rect">
            <a:avLst/>
          </a:prstGeom>
          <a:noFill/>
        </p:spPr>
        <p:txBody>
          <a:bodyPr wrap="square" rtlCol="0">
            <a:spAutoFit/>
          </a:bodyPr>
          <a:lstStyle/>
          <a:p>
            <a:r>
              <a:rPr lang="en-AU" sz="2400" dirty="0"/>
              <a:t>EQ </a:t>
            </a:r>
            <a:r>
              <a:rPr lang="en-AU" sz="2400" dirty="0" smtClean="0"/>
              <a:t>– </a:t>
            </a:r>
            <a:r>
              <a:rPr lang="en-AU" sz="2400" dirty="0"/>
              <a:t>How do I plot a linear equation on a graph? </a:t>
            </a:r>
          </a:p>
        </p:txBody>
      </p:sp>
      <p:sp>
        <p:nvSpPr>
          <p:cNvPr id="2" name="TextBox 1"/>
          <p:cNvSpPr txBox="1"/>
          <p:nvPr/>
        </p:nvSpPr>
        <p:spPr>
          <a:xfrm>
            <a:off x="2320335" y="1145607"/>
            <a:ext cx="2201244" cy="338554"/>
          </a:xfrm>
          <a:prstGeom prst="rect">
            <a:avLst/>
          </a:prstGeom>
          <a:noFill/>
        </p:spPr>
        <p:txBody>
          <a:bodyPr wrap="none" rtlCol="0">
            <a:spAutoFit/>
          </a:bodyPr>
          <a:lstStyle/>
          <a:p>
            <a:r>
              <a:rPr lang="en-US" sz="1600" dirty="0" smtClean="0"/>
              <a:t>Equation 	y = 40x + 100</a:t>
            </a:r>
            <a:endParaRPr lang="en-AU" sz="1600" dirty="0"/>
          </a:p>
        </p:txBody>
      </p:sp>
      <p:sp>
        <p:nvSpPr>
          <p:cNvPr id="13" name="TextBox 12"/>
          <p:cNvSpPr txBox="1"/>
          <p:nvPr/>
        </p:nvSpPr>
        <p:spPr>
          <a:xfrm>
            <a:off x="667511" y="194767"/>
            <a:ext cx="2753446" cy="461665"/>
          </a:xfrm>
          <a:prstGeom prst="rect">
            <a:avLst/>
          </a:prstGeom>
          <a:noFill/>
        </p:spPr>
        <p:txBody>
          <a:bodyPr wrap="none" rtlCol="0">
            <a:spAutoFit/>
          </a:bodyPr>
          <a:lstStyle/>
          <a:p>
            <a:r>
              <a:rPr lang="en-AU" sz="2400" b="1" dirty="0" smtClean="0"/>
              <a:t>Linear Relationships</a:t>
            </a:r>
            <a:endParaRPr lang="en-AU" sz="2400" dirty="0"/>
          </a:p>
        </p:txBody>
      </p:sp>
      <p:graphicFrame>
        <p:nvGraphicFramePr>
          <p:cNvPr id="5" name="Table 4"/>
          <p:cNvGraphicFramePr>
            <a:graphicFrameLocks noGrp="1"/>
          </p:cNvGraphicFramePr>
          <p:nvPr>
            <p:extLst/>
          </p:nvPr>
        </p:nvGraphicFramePr>
        <p:xfrm>
          <a:off x="2411603" y="1542275"/>
          <a:ext cx="6313616" cy="753263"/>
        </p:xfrm>
        <a:graphic>
          <a:graphicData uri="http://schemas.openxmlformats.org/drawingml/2006/table">
            <a:tbl>
              <a:tblPr firstRow="1" bandRow="1">
                <a:tableStyleId>{5940675A-B579-460E-94D1-54222C63F5DA}</a:tableStyleId>
              </a:tblPr>
              <a:tblGrid>
                <a:gridCol w="1055078"/>
                <a:gridCol w="683288"/>
                <a:gridCol w="629240"/>
                <a:gridCol w="789202"/>
                <a:gridCol w="789202"/>
                <a:gridCol w="789202"/>
                <a:gridCol w="789202"/>
                <a:gridCol w="789202"/>
              </a:tblGrid>
              <a:tr h="382423">
                <a:tc>
                  <a:txBody>
                    <a:bodyPr/>
                    <a:lstStyle/>
                    <a:p>
                      <a:r>
                        <a:rPr lang="en-AU" sz="1800" dirty="0" smtClean="0"/>
                        <a:t>Hours (x)</a:t>
                      </a:r>
                      <a:endParaRPr lang="en-AU" sz="1800" dirty="0"/>
                    </a:p>
                  </a:txBody>
                  <a:tcPr/>
                </a:tc>
                <a:tc>
                  <a:txBody>
                    <a:bodyPr/>
                    <a:lstStyle/>
                    <a:p>
                      <a:r>
                        <a:rPr lang="en-AU" sz="1800" dirty="0" smtClean="0"/>
                        <a:t>0</a:t>
                      </a:r>
                      <a:endParaRPr lang="en-AU" sz="1800" dirty="0"/>
                    </a:p>
                  </a:txBody>
                  <a:tcPr/>
                </a:tc>
                <a:tc>
                  <a:txBody>
                    <a:bodyPr/>
                    <a:lstStyle/>
                    <a:p>
                      <a:r>
                        <a:rPr lang="en-AU" sz="1800" dirty="0" smtClean="0"/>
                        <a:t>1</a:t>
                      </a:r>
                      <a:endParaRPr lang="en-AU" sz="1800" dirty="0"/>
                    </a:p>
                  </a:txBody>
                  <a:tcPr/>
                </a:tc>
                <a:tc>
                  <a:txBody>
                    <a:bodyPr/>
                    <a:lstStyle/>
                    <a:p>
                      <a:r>
                        <a:rPr lang="en-AU" sz="1800" dirty="0" smtClean="0"/>
                        <a:t>2</a:t>
                      </a:r>
                      <a:endParaRPr lang="en-AU" sz="1800" dirty="0"/>
                    </a:p>
                  </a:txBody>
                  <a:tcPr/>
                </a:tc>
                <a:tc>
                  <a:txBody>
                    <a:bodyPr/>
                    <a:lstStyle/>
                    <a:p>
                      <a:r>
                        <a:rPr lang="en-AU" sz="1800" dirty="0" smtClean="0"/>
                        <a:t>3</a:t>
                      </a:r>
                      <a:endParaRPr lang="en-AU" sz="1800" dirty="0"/>
                    </a:p>
                  </a:txBody>
                  <a:tcPr/>
                </a:tc>
                <a:tc>
                  <a:txBody>
                    <a:bodyPr/>
                    <a:lstStyle/>
                    <a:p>
                      <a:r>
                        <a:rPr lang="en-AU" sz="1800" dirty="0" smtClean="0"/>
                        <a:t>4</a:t>
                      </a:r>
                      <a:endParaRPr lang="en-AU" sz="1800" dirty="0"/>
                    </a:p>
                  </a:txBody>
                  <a:tcPr/>
                </a:tc>
                <a:tc>
                  <a:txBody>
                    <a:bodyPr/>
                    <a:lstStyle/>
                    <a:p>
                      <a:r>
                        <a:rPr lang="en-AU" sz="1800" dirty="0" smtClean="0"/>
                        <a:t>5</a:t>
                      </a:r>
                      <a:endParaRPr lang="en-AU" sz="1800" dirty="0"/>
                    </a:p>
                  </a:txBody>
                  <a:tcPr/>
                </a:tc>
                <a:tc>
                  <a:txBody>
                    <a:bodyPr/>
                    <a:lstStyle/>
                    <a:p>
                      <a:r>
                        <a:rPr lang="en-AU" sz="1800" dirty="0" smtClean="0"/>
                        <a:t>6</a:t>
                      </a:r>
                      <a:endParaRPr lang="en-AU" sz="1800" dirty="0"/>
                    </a:p>
                  </a:txBody>
                  <a:tcPr/>
                </a:tc>
              </a:tr>
              <a:tr h="370840">
                <a:tc>
                  <a:txBody>
                    <a:bodyPr/>
                    <a:lstStyle/>
                    <a:p>
                      <a:r>
                        <a:rPr lang="en-AU" sz="1800" dirty="0" smtClean="0"/>
                        <a:t>Cost (y)</a:t>
                      </a:r>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c>
                  <a:txBody>
                    <a:bodyPr/>
                    <a:lstStyle/>
                    <a:p>
                      <a:endParaRPr lang="en-AU" sz="1800" dirty="0"/>
                    </a:p>
                  </a:txBody>
                  <a:tcPr/>
                </a:tc>
              </a:tr>
            </a:tbl>
          </a:graphicData>
        </a:graphic>
      </p:graphicFrame>
      <p:sp>
        <p:nvSpPr>
          <p:cNvPr id="16" name="TextBox 15"/>
          <p:cNvSpPr txBox="1"/>
          <p:nvPr/>
        </p:nvSpPr>
        <p:spPr>
          <a:xfrm>
            <a:off x="3485712" y="1926206"/>
            <a:ext cx="577518" cy="369332"/>
          </a:xfrm>
          <a:prstGeom prst="rect">
            <a:avLst/>
          </a:prstGeom>
          <a:noFill/>
        </p:spPr>
        <p:txBody>
          <a:bodyPr wrap="square" rtlCol="0">
            <a:spAutoFit/>
          </a:bodyPr>
          <a:lstStyle/>
          <a:p>
            <a:r>
              <a:rPr lang="en-US" dirty="0" smtClean="0"/>
              <a:t>100</a:t>
            </a:r>
            <a:endParaRPr lang="en-AU" dirty="0"/>
          </a:p>
        </p:txBody>
      </p:sp>
      <p:sp>
        <p:nvSpPr>
          <p:cNvPr id="17" name="TextBox 16"/>
          <p:cNvSpPr txBox="1"/>
          <p:nvPr/>
        </p:nvSpPr>
        <p:spPr>
          <a:xfrm>
            <a:off x="78310" y="1138722"/>
            <a:ext cx="2099740" cy="584775"/>
          </a:xfrm>
          <a:prstGeom prst="rect">
            <a:avLst/>
          </a:prstGeom>
          <a:noFill/>
        </p:spPr>
        <p:txBody>
          <a:bodyPr wrap="square" rtlCol="0">
            <a:spAutoFit/>
          </a:bodyPr>
          <a:lstStyle/>
          <a:p>
            <a:r>
              <a:rPr lang="en-US" sz="1600" dirty="0" smtClean="0"/>
              <a:t>How do I create a table from an equation?</a:t>
            </a:r>
            <a:endParaRPr lang="en-AU" sz="1600" dirty="0"/>
          </a:p>
        </p:txBody>
      </p:sp>
      <p:sp>
        <p:nvSpPr>
          <p:cNvPr id="18" name="TextBox 17"/>
          <p:cNvSpPr txBox="1"/>
          <p:nvPr/>
        </p:nvSpPr>
        <p:spPr>
          <a:xfrm>
            <a:off x="4119824" y="1918906"/>
            <a:ext cx="577518" cy="369332"/>
          </a:xfrm>
          <a:prstGeom prst="rect">
            <a:avLst/>
          </a:prstGeom>
          <a:noFill/>
        </p:spPr>
        <p:txBody>
          <a:bodyPr wrap="square" rtlCol="0">
            <a:spAutoFit/>
          </a:bodyPr>
          <a:lstStyle/>
          <a:p>
            <a:r>
              <a:rPr lang="en-US" dirty="0" smtClean="0"/>
              <a:t>140</a:t>
            </a:r>
            <a:endParaRPr lang="en-AU" dirty="0"/>
          </a:p>
        </p:txBody>
      </p:sp>
      <p:sp>
        <p:nvSpPr>
          <p:cNvPr id="19" name="TextBox 18"/>
          <p:cNvSpPr txBox="1"/>
          <p:nvPr/>
        </p:nvSpPr>
        <p:spPr>
          <a:xfrm>
            <a:off x="4848580" y="1911611"/>
            <a:ext cx="577518" cy="369332"/>
          </a:xfrm>
          <a:prstGeom prst="rect">
            <a:avLst/>
          </a:prstGeom>
          <a:noFill/>
        </p:spPr>
        <p:txBody>
          <a:bodyPr wrap="square" rtlCol="0">
            <a:spAutoFit/>
          </a:bodyPr>
          <a:lstStyle/>
          <a:p>
            <a:r>
              <a:rPr lang="en-US" dirty="0" smtClean="0"/>
              <a:t>180</a:t>
            </a:r>
            <a:endParaRPr lang="en-AU" dirty="0"/>
          </a:p>
        </p:txBody>
      </p:sp>
      <p:sp>
        <p:nvSpPr>
          <p:cNvPr id="20" name="TextBox 19"/>
          <p:cNvSpPr txBox="1"/>
          <p:nvPr/>
        </p:nvSpPr>
        <p:spPr>
          <a:xfrm>
            <a:off x="5603275" y="1926206"/>
            <a:ext cx="577518" cy="369332"/>
          </a:xfrm>
          <a:prstGeom prst="rect">
            <a:avLst/>
          </a:prstGeom>
          <a:noFill/>
        </p:spPr>
        <p:txBody>
          <a:bodyPr wrap="square" rtlCol="0">
            <a:spAutoFit/>
          </a:bodyPr>
          <a:lstStyle/>
          <a:p>
            <a:r>
              <a:rPr lang="en-US" dirty="0" smtClean="0"/>
              <a:t>220</a:t>
            </a:r>
            <a:endParaRPr lang="en-AU" dirty="0"/>
          </a:p>
        </p:txBody>
      </p:sp>
      <p:sp>
        <p:nvSpPr>
          <p:cNvPr id="21" name="TextBox 20"/>
          <p:cNvSpPr txBox="1"/>
          <p:nvPr/>
        </p:nvSpPr>
        <p:spPr>
          <a:xfrm>
            <a:off x="6405563" y="1926206"/>
            <a:ext cx="577518" cy="369332"/>
          </a:xfrm>
          <a:prstGeom prst="rect">
            <a:avLst/>
          </a:prstGeom>
          <a:noFill/>
        </p:spPr>
        <p:txBody>
          <a:bodyPr wrap="square" rtlCol="0">
            <a:spAutoFit/>
          </a:bodyPr>
          <a:lstStyle/>
          <a:p>
            <a:r>
              <a:rPr lang="en-US" dirty="0" smtClean="0"/>
              <a:t>260</a:t>
            </a:r>
            <a:endParaRPr lang="en-AU" dirty="0"/>
          </a:p>
        </p:txBody>
      </p:sp>
      <p:sp>
        <p:nvSpPr>
          <p:cNvPr id="22" name="TextBox 21"/>
          <p:cNvSpPr txBox="1"/>
          <p:nvPr/>
        </p:nvSpPr>
        <p:spPr>
          <a:xfrm>
            <a:off x="7207851" y="1911611"/>
            <a:ext cx="577518" cy="369332"/>
          </a:xfrm>
          <a:prstGeom prst="rect">
            <a:avLst/>
          </a:prstGeom>
          <a:noFill/>
        </p:spPr>
        <p:txBody>
          <a:bodyPr wrap="square" rtlCol="0">
            <a:spAutoFit/>
          </a:bodyPr>
          <a:lstStyle/>
          <a:p>
            <a:r>
              <a:rPr lang="en-US" dirty="0" smtClean="0"/>
              <a:t>300</a:t>
            </a:r>
            <a:endParaRPr lang="en-AU" dirty="0"/>
          </a:p>
        </p:txBody>
      </p:sp>
      <p:sp>
        <p:nvSpPr>
          <p:cNvPr id="23" name="TextBox 22"/>
          <p:cNvSpPr txBox="1"/>
          <p:nvPr/>
        </p:nvSpPr>
        <p:spPr>
          <a:xfrm>
            <a:off x="7994609" y="1911611"/>
            <a:ext cx="577518" cy="369332"/>
          </a:xfrm>
          <a:prstGeom prst="rect">
            <a:avLst/>
          </a:prstGeom>
          <a:noFill/>
        </p:spPr>
        <p:txBody>
          <a:bodyPr wrap="square" rtlCol="0">
            <a:spAutoFit/>
          </a:bodyPr>
          <a:lstStyle/>
          <a:p>
            <a:r>
              <a:rPr lang="en-US" dirty="0" smtClean="0"/>
              <a:t>340</a:t>
            </a:r>
            <a:endParaRPr lang="en-AU" dirty="0"/>
          </a:p>
        </p:txBody>
      </p:sp>
      <p:sp>
        <p:nvSpPr>
          <p:cNvPr id="24" name="TextBox 23"/>
          <p:cNvSpPr txBox="1"/>
          <p:nvPr/>
        </p:nvSpPr>
        <p:spPr>
          <a:xfrm>
            <a:off x="78310" y="2611158"/>
            <a:ext cx="2099740" cy="584775"/>
          </a:xfrm>
          <a:prstGeom prst="rect">
            <a:avLst/>
          </a:prstGeom>
          <a:noFill/>
        </p:spPr>
        <p:txBody>
          <a:bodyPr wrap="square" rtlCol="0">
            <a:spAutoFit/>
          </a:bodyPr>
          <a:lstStyle/>
          <a:p>
            <a:r>
              <a:rPr lang="en-US" sz="1600" dirty="0" smtClean="0"/>
              <a:t>How do I create a graph from a table?</a:t>
            </a:r>
            <a:endParaRPr lang="en-AU" sz="1600" dirty="0"/>
          </a:p>
        </p:txBody>
      </p:sp>
      <p:pic>
        <p:nvPicPr>
          <p:cNvPr id="25" name="Picture 24"/>
          <p:cNvPicPr>
            <a:picLocks noChangeAspect="1"/>
          </p:cNvPicPr>
          <p:nvPr/>
        </p:nvPicPr>
        <p:blipFill>
          <a:blip r:embed="rId2"/>
          <a:stretch>
            <a:fillRect/>
          </a:stretch>
        </p:blipFill>
        <p:spPr>
          <a:xfrm>
            <a:off x="2970349" y="2907073"/>
            <a:ext cx="4471517" cy="2681721"/>
          </a:xfrm>
          <a:prstGeom prst="rect">
            <a:avLst/>
          </a:prstGeom>
        </p:spPr>
      </p:pic>
      <p:sp>
        <p:nvSpPr>
          <p:cNvPr id="26" name="Right Arrow 25"/>
          <p:cNvSpPr/>
          <p:nvPr/>
        </p:nvSpPr>
        <p:spPr>
          <a:xfrm rot="5677093">
            <a:off x="2122729" y="3209308"/>
            <a:ext cx="2630605" cy="2096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TextBox 26"/>
          <p:cNvSpPr txBox="1"/>
          <p:nvPr/>
        </p:nvSpPr>
        <p:spPr>
          <a:xfrm>
            <a:off x="3828997" y="4451234"/>
            <a:ext cx="851515" cy="369332"/>
          </a:xfrm>
          <a:prstGeom prst="rect">
            <a:avLst/>
          </a:prstGeom>
          <a:noFill/>
        </p:spPr>
        <p:txBody>
          <a:bodyPr wrap="none" rtlCol="0">
            <a:spAutoFit/>
          </a:bodyPr>
          <a:lstStyle/>
          <a:p>
            <a:r>
              <a:rPr lang="en-AU" dirty="0" smtClean="0"/>
              <a:t>(1,140)</a:t>
            </a:r>
            <a:endParaRPr lang="en-AU" dirty="0"/>
          </a:p>
        </p:txBody>
      </p:sp>
      <p:sp>
        <p:nvSpPr>
          <p:cNvPr id="28" name="TextBox 27"/>
          <p:cNvSpPr txBox="1"/>
          <p:nvPr/>
        </p:nvSpPr>
        <p:spPr>
          <a:xfrm>
            <a:off x="4461914" y="4152851"/>
            <a:ext cx="851515" cy="369332"/>
          </a:xfrm>
          <a:prstGeom prst="rect">
            <a:avLst/>
          </a:prstGeom>
          <a:noFill/>
        </p:spPr>
        <p:txBody>
          <a:bodyPr wrap="none" rtlCol="0">
            <a:spAutoFit/>
          </a:bodyPr>
          <a:lstStyle/>
          <a:p>
            <a:r>
              <a:rPr lang="en-AU" dirty="0" smtClean="0"/>
              <a:t>(2,180)</a:t>
            </a:r>
            <a:endParaRPr lang="en-AU" dirty="0"/>
          </a:p>
        </p:txBody>
      </p:sp>
      <p:sp>
        <p:nvSpPr>
          <p:cNvPr id="29" name="TextBox 28"/>
          <p:cNvSpPr txBox="1"/>
          <p:nvPr/>
        </p:nvSpPr>
        <p:spPr>
          <a:xfrm>
            <a:off x="5045650" y="3922563"/>
            <a:ext cx="851515" cy="369332"/>
          </a:xfrm>
          <a:prstGeom prst="rect">
            <a:avLst/>
          </a:prstGeom>
          <a:noFill/>
        </p:spPr>
        <p:txBody>
          <a:bodyPr wrap="none" rtlCol="0">
            <a:spAutoFit/>
          </a:bodyPr>
          <a:lstStyle/>
          <a:p>
            <a:r>
              <a:rPr lang="en-AU" dirty="0" smtClean="0"/>
              <a:t>(3,220)</a:t>
            </a:r>
            <a:endParaRPr lang="en-AU" dirty="0"/>
          </a:p>
        </p:txBody>
      </p:sp>
      <p:sp>
        <p:nvSpPr>
          <p:cNvPr id="30" name="TextBox 29"/>
          <p:cNvSpPr txBox="1"/>
          <p:nvPr/>
        </p:nvSpPr>
        <p:spPr>
          <a:xfrm>
            <a:off x="5568411" y="3692275"/>
            <a:ext cx="851515" cy="369332"/>
          </a:xfrm>
          <a:prstGeom prst="rect">
            <a:avLst/>
          </a:prstGeom>
          <a:noFill/>
        </p:spPr>
        <p:txBody>
          <a:bodyPr wrap="none" rtlCol="0">
            <a:spAutoFit/>
          </a:bodyPr>
          <a:lstStyle/>
          <a:p>
            <a:r>
              <a:rPr lang="en-AU" dirty="0" smtClean="0"/>
              <a:t>(4,260)</a:t>
            </a:r>
            <a:endParaRPr lang="en-AU" dirty="0"/>
          </a:p>
        </p:txBody>
      </p:sp>
      <p:sp>
        <p:nvSpPr>
          <p:cNvPr id="31" name="TextBox 30"/>
          <p:cNvSpPr txBox="1"/>
          <p:nvPr/>
        </p:nvSpPr>
        <p:spPr>
          <a:xfrm>
            <a:off x="6205735" y="3461987"/>
            <a:ext cx="851515" cy="369332"/>
          </a:xfrm>
          <a:prstGeom prst="rect">
            <a:avLst/>
          </a:prstGeom>
          <a:noFill/>
        </p:spPr>
        <p:txBody>
          <a:bodyPr wrap="none" rtlCol="0">
            <a:spAutoFit/>
          </a:bodyPr>
          <a:lstStyle/>
          <a:p>
            <a:r>
              <a:rPr lang="en-AU" dirty="0" smtClean="0"/>
              <a:t>(5,300)</a:t>
            </a:r>
            <a:endParaRPr lang="en-AU" dirty="0"/>
          </a:p>
        </p:txBody>
      </p:sp>
      <p:sp>
        <p:nvSpPr>
          <p:cNvPr id="32" name="TextBox 31"/>
          <p:cNvSpPr txBox="1"/>
          <p:nvPr/>
        </p:nvSpPr>
        <p:spPr>
          <a:xfrm>
            <a:off x="6712475" y="3231699"/>
            <a:ext cx="851515" cy="369332"/>
          </a:xfrm>
          <a:prstGeom prst="rect">
            <a:avLst/>
          </a:prstGeom>
          <a:noFill/>
        </p:spPr>
        <p:txBody>
          <a:bodyPr wrap="none" rtlCol="0">
            <a:spAutoFit/>
          </a:bodyPr>
          <a:lstStyle/>
          <a:p>
            <a:r>
              <a:rPr lang="en-AU" dirty="0" smtClean="0"/>
              <a:t>(6,340)</a:t>
            </a:r>
            <a:endParaRPr lang="en-AU" dirty="0"/>
          </a:p>
        </p:txBody>
      </p:sp>
      <p:sp>
        <p:nvSpPr>
          <p:cNvPr id="33" name="TextBox 32"/>
          <p:cNvSpPr txBox="1"/>
          <p:nvPr/>
        </p:nvSpPr>
        <p:spPr>
          <a:xfrm>
            <a:off x="3196080" y="4703596"/>
            <a:ext cx="851515" cy="369332"/>
          </a:xfrm>
          <a:prstGeom prst="rect">
            <a:avLst/>
          </a:prstGeom>
          <a:noFill/>
        </p:spPr>
        <p:txBody>
          <a:bodyPr wrap="none" rtlCol="0">
            <a:spAutoFit/>
          </a:bodyPr>
          <a:lstStyle/>
          <a:p>
            <a:r>
              <a:rPr lang="en-AU" dirty="0" smtClean="0"/>
              <a:t>(0,100)</a:t>
            </a:r>
            <a:endParaRPr lang="en-AU" dirty="0"/>
          </a:p>
        </p:txBody>
      </p:sp>
      <p:sp>
        <p:nvSpPr>
          <p:cNvPr id="10" name="TextBox 9"/>
          <p:cNvSpPr txBox="1"/>
          <p:nvPr/>
        </p:nvSpPr>
        <p:spPr>
          <a:xfrm>
            <a:off x="7563989" y="3140016"/>
            <a:ext cx="1423164" cy="830997"/>
          </a:xfrm>
          <a:prstGeom prst="rect">
            <a:avLst/>
          </a:prstGeom>
          <a:noFill/>
        </p:spPr>
        <p:txBody>
          <a:bodyPr wrap="square" rtlCol="0">
            <a:spAutoFit/>
          </a:bodyPr>
          <a:lstStyle/>
          <a:p>
            <a:r>
              <a:rPr lang="en-US" sz="1600" dirty="0"/>
              <a:t>I</a:t>
            </a:r>
            <a:r>
              <a:rPr lang="en-US" sz="1600" dirty="0" smtClean="0"/>
              <a:t>f the job takes 2 hours, it’ll cost $_______</a:t>
            </a:r>
            <a:endParaRPr lang="en-AU" sz="1600" dirty="0"/>
          </a:p>
        </p:txBody>
      </p:sp>
      <p:sp>
        <p:nvSpPr>
          <p:cNvPr id="34" name="TextBox 33"/>
          <p:cNvSpPr txBox="1"/>
          <p:nvPr/>
        </p:nvSpPr>
        <p:spPr>
          <a:xfrm>
            <a:off x="7563989" y="4107229"/>
            <a:ext cx="1470007" cy="1569660"/>
          </a:xfrm>
          <a:prstGeom prst="rect">
            <a:avLst/>
          </a:prstGeom>
          <a:noFill/>
        </p:spPr>
        <p:txBody>
          <a:bodyPr wrap="square" rtlCol="0">
            <a:spAutoFit/>
          </a:bodyPr>
          <a:lstStyle/>
          <a:p>
            <a:r>
              <a:rPr lang="en-US" sz="1600" dirty="0"/>
              <a:t>I</a:t>
            </a:r>
            <a:r>
              <a:rPr lang="en-US" sz="1600" dirty="0" smtClean="0"/>
              <a:t>f the job can only cost a maximum of $300, it must be done in ______ hours </a:t>
            </a:r>
            <a:endParaRPr lang="en-AU" sz="1600" dirty="0"/>
          </a:p>
        </p:txBody>
      </p:sp>
    </p:spTree>
    <p:extLst>
      <p:ext uri="{BB962C8B-B14F-4D97-AF65-F5344CB8AC3E}">
        <p14:creationId xmlns:p14="http://schemas.microsoft.com/office/powerpoint/2010/main" val="298767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ppt_x"/>
                                          </p:val>
                                        </p:tav>
                                        <p:tav tm="100000">
                                          <p:val>
                                            <p:strVal val="#ppt_x"/>
                                          </p:val>
                                        </p:tav>
                                      </p:tavLst>
                                    </p:anim>
                                    <p:anim calcmode="lin" valueType="num">
                                      <p:cBhvr additive="base">
                                        <p:cTn id="24" dur="500" fill="hold"/>
                                        <p:tgtEl>
                                          <p:spTgt spid="2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ppt_x"/>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500" fill="hold"/>
                                        <p:tgtEl>
                                          <p:spTgt spid="31"/>
                                        </p:tgtEl>
                                        <p:attrNameLst>
                                          <p:attrName>ppt_x</p:attrName>
                                        </p:attrNameLst>
                                      </p:cBhvr>
                                      <p:tavLst>
                                        <p:tav tm="0">
                                          <p:val>
                                            <p:strVal val="#ppt_x"/>
                                          </p:val>
                                        </p:tav>
                                        <p:tav tm="100000">
                                          <p:val>
                                            <p:strVal val="#ppt_x"/>
                                          </p:val>
                                        </p:tav>
                                      </p:tavLst>
                                    </p:anim>
                                    <p:anim calcmode="lin" valueType="num">
                                      <p:cBhvr additive="base">
                                        <p:cTn id="36" dur="500" fill="hold"/>
                                        <p:tgtEl>
                                          <p:spTgt spid="3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additive="base">
                                        <p:cTn id="39" dur="500" fill="hold"/>
                                        <p:tgtEl>
                                          <p:spTgt spid="32"/>
                                        </p:tgtEl>
                                        <p:attrNameLst>
                                          <p:attrName>ppt_x</p:attrName>
                                        </p:attrNameLst>
                                      </p:cBhvr>
                                      <p:tavLst>
                                        <p:tav tm="0">
                                          <p:val>
                                            <p:strVal val="#ppt_x"/>
                                          </p:val>
                                        </p:tav>
                                        <p:tav tm="100000">
                                          <p:val>
                                            <p:strVal val="#ppt_x"/>
                                          </p:val>
                                        </p:tav>
                                      </p:tavLst>
                                    </p:anim>
                                    <p:anim calcmode="lin" valueType="num">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5"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2000"/>
                                        <p:tgtEl>
                                          <p:spTgt spid="10"/>
                                        </p:tgtEl>
                                      </p:cBhvr>
                                    </p:animEffect>
                                    <p:anim calcmode="lin" valueType="num">
                                      <p:cBhvr>
                                        <p:cTn id="46" dur="2000" fill="hold"/>
                                        <p:tgtEl>
                                          <p:spTgt spid="10"/>
                                        </p:tgtEl>
                                        <p:attrNameLst>
                                          <p:attrName>ppt_w</p:attrName>
                                        </p:attrNameLst>
                                      </p:cBhvr>
                                      <p:tavLst>
                                        <p:tav tm="0" fmla="#ppt_w*sin(2.5*pi*$)">
                                          <p:val>
                                            <p:fltVal val="0"/>
                                          </p:val>
                                        </p:tav>
                                        <p:tav tm="100000">
                                          <p:val>
                                            <p:fltVal val="1"/>
                                          </p:val>
                                        </p:tav>
                                      </p:tavLst>
                                    </p:anim>
                                    <p:anim calcmode="lin" valueType="num">
                                      <p:cBhvr>
                                        <p:cTn id="47"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45"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2000"/>
                                        <p:tgtEl>
                                          <p:spTgt spid="34"/>
                                        </p:tgtEl>
                                      </p:cBhvr>
                                    </p:animEffect>
                                    <p:anim calcmode="lin" valueType="num">
                                      <p:cBhvr>
                                        <p:cTn id="53" dur="2000" fill="hold"/>
                                        <p:tgtEl>
                                          <p:spTgt spid="34"/>
                                        </p:tgtEl>
                                        <p:attrNameLst>
                                          <p:attrName>ppt_w</p:attrName>
                                        </p:attrNameLst>
                                      </p:cBhvr>
                                      <p:tavLst>
                                        <p:tav tm="0" fmla="#ppt_w*sin(2.5*pi*$)">
                                          <p:val>
                                            <p:fltVal val="0"/>
                                          </p:val>
                                        </p:tav>
                                        <p:tav tm="100000">
                                          <p:val>
                                            <p:fltVal val="1"/>
                                          </p:val>
                                        </p:tav>
                                      </p:tavLst>
                                    </p:anim>
                                    <p:anim calcmode="lin" valueType="num">
                                      <p:cBhvr>
                                        <p:cTn id="54" dur="20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8" grpId="0"/>
      <p:bldP spid="29" grpId="0"/>
      <p:bldP spid="30" grpId="0"/>
      <p:bldP spid="31" grpId="0"/>
      <p:bldP spid="32" grpId="0"/>
      <p:bldP spid="33" grpId="0"/>
      <p:bldP spid="10"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4"/>
            <a:ext cx="7886700" cy="739218"/>
          </a:xfrm>
        </p:spPr>
        <p:txBody>
          <a:bodyPr/>
          <a:lstStyle/>
          <a:p>
            <a:pPr algn="ctr"/>
            <a:r>
              <a:rPr lang="en-US" dirty="0" smtClean="0"/>
              <a:t>Let’s try some together</a:t>
            </a:r>
            <a:endParaRPr lang="en-AU" dirty="0"/>
          </a:p>
        </p:txBody>
      </p:sp>
      <p:pic>
        <p:nvPicPr>
          <p:cNvPr id="5" name="Content Placeholder 4"/>
          <p:cNvPicPr>
            <a:picLocks noGrp="1" noChangeAspect="1"/>
          </p:cNvPicPr>
          <p:nvPr>
            <p:ph idx="1"/>
          </p:nvPr>
        </p:nvPicPr>
        <p:blipFill>
          <a:blip r:embed="rId2"/>
          <a:stretch>
            <a:fillRect/>
          </a:stretch>
        </p:blipFill>
        <p:spPr>
          <a:xfrm>
            <a:off x="356776" y="3702757"/>
            <a:ext cx="4976085" cy="1823534"/>
          </a:xfrm>
          <a:prstGeom prst="rect">
            <a:avLst/>
          </a:prstGeom>
        </p:spPr>
      </p:pic>
      <p:pic>
        <p:nvPicPr>
          <p:cNvPr id="4" name="Picture 3"/>
          <p:cNvPicPr>
            <a:picLocks noChangeAspect="1"/>
          </p:cNvPicPr>
          <p:nvPr/>
        </p:nvPicPr>
        <p:blipFill>
          <a:blip r:embed="rId3"/>
          <a:stretch>
            <a:fillRect/>
          </a:stretch>
        </p:blipFill>
        <p:spPr>
          <a:xfrm>
            <a:off x="356776" y="3261281"/>
            <a:ext cx="5492475" cy="441476"/>
          </a:xfrm>
          <a:prstGeom prst="rect">
            <a:avLst/>
          </a:prstGeom>
        </p:spPr>
      </p:pic>
      <p:pic>
        <p:nvPicPr>
          <p:cNvPr id="6" name="Picture 5"/>
          <p:cNvPicPr>
            <a:picLocks noChangeAspect="1"/>
          </p:cNvPicPr>
          <p:nvPr/>
        </p:nvPicPr>
        <p:blipFill>
          <a:blip r:embed="rId4"/>
          <a:stretch>
            <a:fillRect/>
          </a:stretch>
        </p:blipFill>
        <p:spPr>
          <a:xfrm>
            <a:off x="5919950" y="1071804"/>
            <a:ext cx="3084985" cy="4472119"/>
          </a:xfrm>
          <a:prstGeom prst="rect">
            <a:avLst/>
          </a:prstGeom>
        </p:spPr>
      </p:pic>
      <p:pic>
        <p:nvPicPr>
          <p:cNvPr id="8" name="Picture 7"/>
          <p:cNvPicPr>
            <a:picLocks noChangeAspect="1"/>
          </p:cNvPicPr>
          <p:nvPr/>
        </p:nvPicPr>
        <p:blipFill>
          <a:blip r:embed="rId5"/>
          <a:stretch>
            <a:fillRect/>
          </a:stretch>
        </p:blipFill>
        <p:spPr>
          <a:xfrm>
            <a:off x="333375" y="1043492"/>
            <a:ext cx="5586575" cy="376623"/>
          </a:xfrm>
          <a:prstGeom prst="rect">
            <a:avLst/>
          </a:prstGeom>
        </p:spPr>
      </p:pic>
      <p:pic>
        <p:nvPicPr>
          <p:cNvPr id="9" name="Picture 8"/>
          <p:cNvPicPr>
            <a:picLocks noChangeAspect="1"/>
          </p:cNvPicPr>
          <p:nvPr/>
        </p:nvPicPr>
        <p:blipFill>
          <a:blip r:embed="rId6"/>
          <a:stretch>
            <a:fillRect/>
          </a:stretch>
        </p:blipFill>
        <p:spPr>
          <a:xfrm>
            <a:off x="333374" y="1510987"/>
            <a:ext cx="5539281" cy="1318273"/>
          </a:xfrm>
          <a:prstGeom prst="rect">
            <a:avLst/>
          </a:prstGeom>
        </p:spPr>
      </p:pic>
    </p:spTree>
    <p:extLst>
      <p:ext uri="{BB962C8B-B14F-4D97-AF65-F5344CB8AC3E}">
        <p14:creationId xmlns:p14="http://schemas.microsoft.com/office/powerpoint/2010/main" val="219633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30977E4C-76EF-4FCD-9C02-C8D490E8EFBA}" vid="{C09BC989-AE4B-4384-86A8-BD46923AB8C4}"/>
    </a:ext>
  </a:extLst>
</a:theme>
</file>

<file path=docProps/app.xml><?xml version="1.0" encoding="utf-8"?>
<Properties xmlns="http://schemas.openxmlformats.org/officeDocument/2006/extended-properties" xmlns:vt="http://schemas.openxmlformats.org/officeDocument/2006/docPropsVTypes">
  <Template>Avid 2 - jw</Template>
  <TotalTime>140</TotalTime>
  <Words>612</Words>
  <Application>Microsoft Office PowerPoint</Application>
  <PresentationFormat>On-screen Show (16:10)</PresentationFormat>
  <Paragraphs>193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Cambria Math</vt:lpstr>
      <vt:lpstr>Times New Roman</vt:lpstr>
      <vt:lpstr>Office Theme</vt:lpstr>
      <vt:lpstr>My Linear Relationships Interactive Notebook</vt:lpstr>
      <vt:lpstr>From Last Lesson</vt:lpstr>
      <vt:lpstr>PowerPoint Presentation</vt:lpstr>
      <vt:lpstr>PowerPoint Presentation</vt:lpstr>
      <vt:lpstr>PowerPoint Presentation</vt:lpstr>
      <vt:lpstr>PowerPoint Presentation</vt:lpstr>
      <vt:lpstr>PowerPoint Presentation</vt:lpstr>
      <vt:lpstr>Let’s try some together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E4007446</dc:creator>
  <cp:lastModifiedBy>e4057735</cp:lastModifiedBy>
  <cp:revision>18</cp:revision>
  <dcterms:created xsi:type="dcterms:W3CDTF">2016-10-17T12:48:06Z</dcterms:created>
  <dcterms:modified xsi:type="dcterms:W3CDTF">2017-10-05T03:39:18Z</dcterms:modified>
</cp:coreProperties>
</file>
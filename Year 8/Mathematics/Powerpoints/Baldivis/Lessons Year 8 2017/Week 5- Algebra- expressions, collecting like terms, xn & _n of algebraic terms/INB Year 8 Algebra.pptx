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xls" ContentType="application/vnd.ms-excel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708" r:id="rId3"/>
    <p:sldMasterId id="2147483720" r:id="rId4"/>
  </p:sldMasterIdLst>
  <p:notesMasterIdLst>
    <p:notesMasterId r:id="rId37"/>
  </p:notesMasterIdLst>
  <p:sldIdLst>
    <p:sldId id="260" r:id="rId5"/>
    <p:sldId id="259" r:id="rId6"/>
    <p:sldId id="258" r:id="rId7"/>
    <p:sldId id="305" r:id="rId8"/>
    <p:sldId id="316" r:id="rId9"/>
    <p:sldId id="307" r:id="rId10"/>
    <p:sldId id="317" r:id="rId11"/>
    <p:sldId id="329" r:id="rId12"/>
    <p:sldId id="330" r:id="rId13"/>
    <p:sldId id="318" r:id="rId14"/>
    <p:sldId id="331" r:id="rId15"/>
    <p:sldId id="332" r:id="rId16"/>
    <p:sldId id="333" r:id="rId17"/>
    <p:sldId id="334" r:id="rId18"/>
    <p:sldId id="336" r:id="rId19"/>
    <p:sldId id="337" r:id="rId20"/>
    <p:sldId id="338" r:id="rId21"/>
    <p:sldId id="339" r:id="rId22"/>
    <p:sldId id="328" r:id="rId23"/>
    <p:sldId id="340" r:id="rId24"/>
    <p:sldId id="342" r:id="rId25"/>
    <p:sldId id="344" r:id="rId26"/>
    <p:sldId id="345" r:id="rId27"/>
    <p:sldId id="346" r:id="rId28"/>
    <p:sldId id="347" r:id="rId29"/>
    <p:sldId id="349" r:id="rId30"/>
    <p:sldId id="348" r:id="rId31"/>
    <p:sldId id="350" r:id="rId32"/>
    <p:sldId id="351" r:id="rId33"/>
    <p:sldId id="352" r:id="rId34"/>
    <p:sldId id="292" r:id="rId35"/>
    <p:sldId id="291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7" autoAdjust="0"/>
    <p:restoredTop sz="93357" autoAdjust="0"/>
  </p:normalViewPr>
  <p:slideViewPr>
    <p:cSldViewPr>
      <p:cViewPr>
        <p:scale>
          <a:sx n="75" d="100"/>
          <a:sy n="75" d="100"/>
        </p:scale>
        <p:origin x="1200" y="-1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1912F6-FDB7-44B5-B6C2-078B21714BB5}" type="datetimeFigureOut">
              <a:rPr lang="en-AU" smtClean="0"/>
              <a:t>19/05/2015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B4E6D-0DB4-482D-956D-DA514B72A1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8036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BB4E6D-0DB4-482D-956D-DA514B72A195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363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402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59046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665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73081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41178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31931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71430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1946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6856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20853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58649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480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055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062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03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3780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24829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393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2276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71208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466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4501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1209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8081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9320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0641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57160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3181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670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0694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361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7073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6768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14420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8057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5936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9239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9770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4559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64383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0316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4421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45385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475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300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13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249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19/05/2015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764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-2003_Worksheet1.xls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30.png"/><Relationship Id="rId5" Type="http://schemas.openxmlformats.org/officeDocument/2006/relationships/image" Target="../media/image8.png"/><Relationship Id="rId10" Type="http://schemas.openxmlformats.org/officeDocument/2006/relationships/image" Target="../media/image120.png"/><Relationship Id="rId9" Type="http://schemas.openxmlformats.org/officeDocument/2006/relationships/image" Target="../media/image1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0.png"/><Relationship Id="rId3" Type="http://schemas.openxmlformats.org/officeDocument/2006/relationships/image" Target="../media/image22.png"/><Relationship Id="rId7" Type="http://schemas.openxmlformats.org/officeDocument/2006/relationships/image" Target="../media/image101.png"/><Relationship Id="rId12" Type="http://schemas.openxmlformats.org/officeDocument/2006/relationships/image" Target="../media/image150.png"/><Relationship Id="rId17" Type="http://schemas.openxmlformats.org/officeDocument/2006/relationships/image" Target="../media/image20.png"/><Relationship Id="rId2" Type="http://schemas.openxmlformats.org/officeDocument/2006/relationships/image" Target="../media/image2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60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7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 smtClean="0"/>
              <a:t> </a:t>
            </a:r>
            <a:r>
              <a:rPr lang="en-AU" sz="4400" dirty="0" smtClean="0"/>
              <a:t>Algebra</a:t>
            </a:r>
            <a:br>
              <a:rPr lang="en-AU" sz="4400" dirty="0" smtClean="0"/>
            </a:br>
            <a:r>
              <a:rPr lang="en-AU" sz="4400" dirty="0" smtClean="0"/>
              <a:t>Interactive Notebook</a:t>
            </a:r>
            <a:endParaRPr lang="en-AU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672" y="4581128"/>
            <a:ext cx="6400800" cy="17526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AU" dirty="0" smtClean="0"/>
              <a:t>Your Name</a:t>
            </a:r>
          </a:p>
          <a:p>
            <a:pPr algn="l"/>
            <a:r>
              <a:rPr lang="en-AU" dirty="0" smtClean="0"/>
              <a:t>Class 8.4</a:t>
            </a:r>
          </a:p>
          <a:p>
            <a:pPr algn="l"/>
            <a:r>
              <a:rPr lang="en-AU" dirty="0" smtClean="0"/>
              <a:t>Mrs Riksman</a:t>
            </a:r>
          </a:p>
          <a:p>
            <a:pPr algn="l"/>
            <a:r>
              <a:rPr lang="en-AU" dirty="0" smtClean="0"/>
              <a:t>Term 2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3074" name="Picture 2" descr="https://encrypted-tbn3.gstatic.com/images?q=tbn:ANd9GcQtiNSsmHp5BOHFpLZRgA66InvbKd2UAiFQbbBJ1_XvAchg7m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916831"/>
            <a:ext cx="4176464" cy="2049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489272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0" y="389336"/>
            <a:ext cx="4470125" cy="1532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092489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58245" y="33837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8069" y="372391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64062" y="412262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7327" y="355445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278189" y="50782"/>
            <a:ext cx="1019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-1" y="733870"/>
            <a:ext cx="4470125" cy="1532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-2" y="6280308"/>
            <a:ext cx="4470126" cy="3220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489272" y="404664"/>
            <a:ext cx="465472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489272" y="733870"/>
            <a:ext cx="465472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470124" y="6312515"/>
            <a:ext cx="465472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084168" y="404664"/>
            <a:ext cx="0" cy="590785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08694" y="372391"/>
            <a:ext cx="804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Word</a:t>
            </a:r>
            <a:endParaRPr lang="en-AU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7113898" y="395316"/>
            <a:ext cx="1130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2037217" y="749198"/>
            <a:ext cx="243290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Parts of an Equation</a:t>
            </a:r>
          </a:p>
          <a:p>
            <a:r>
              <a:rPr lang="en-AU" dirty="0" smtClean="0"/>
              <a:t>Writing Algebraic Expressions</a:t>
            </a:r>
          </a:p>
          <a:p>
            <a:r>
              <a:rPr lang="en-AU" dirty="0" smtClean="0"/>
              <a:t>Simplifying expressions</a:t>
            </a:r>
          </a:p>
          <a:p>
            <a:r>
              <a:rPr lang="en-AU" dirty="0" smtClean="0"/>
              <a:t>Adding and Subtracting Like Terms</a:t>
            </a:r>
          </a:p>
          <a:p>
            <a:r>
              <a:rPr lang="en-AU" dirty="0" smtClean="0"/>
              <a:t>Simplifying expressions -multiplication</a:t>
            </a:r>
          </a:p>
          <a:p>
            <a:r>
              <a:rPr lang="en-AU" dirty="0" smtClean="0"/>
              <a:t>Simplifying expressions –division</a:t>
            </a:r>
          </a:p>
          <a:p>
            <a:r>
              <a:rPr lang="en-AU" dirty="0" smtClean="0"/>
              <a:t>Expanding Brackets</a:t>
            </a:r>
          </a:p>
          <a:p>
            <a:r>
              <a:rPr lang="en-AU" dirty="0" smtClean="0"/>
              <a:t>Expanding brackets and collecting like </a:t>
            </a:r>
            <a:r>
              <a:rPr lang="en-AU" dirty="0" smtClean="0"/>
              <a:t>terms</a:t>
            </a:r>
          </a:p>
          <a:p>
            <a:r>
              <a:rPr lang="en-AU" dirty="0" smtClean="0"/>
              <a:t>Factorising Expressions</a:t>
            </a:r>
            <a:endParaRPr lang="en-AU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1092490" y="749198"/>
            <a:ext cx="9255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21/4</a:t>
            </a:r>
          </a:p>
          <a:p>
            <a:pPr algn="ctr"/>
            <a:r>
              <a:rPr lang="en-AU" dirty="0" smtClean="0"/>
              <a:t>23/4</a:t>
            </a:r>
          </a:p>
          <a:p>
            <a:pPr algn="ctr"/>
            <a:endParaRPr lang="en-AU" dirty="0"/>
          </a:p>
          <a:p>
            <a:pPr algn="ctr"/>
            <a:r>
              <a:rPr lang="en-AU" dirty="0" smtClean="0"/>
              <a:t>28/4</a:t>
            </a:r>
          </a:p>
          <a:p>
            <a:pPr algn="ctr"/>
            <a:endParaRPr lang="en-AU" dirty="0"/>
          </a:p>
          <a:p>
            <a:pPr algn="ctr"/>
            <a:endParaRPr lang="en-AU" dirty="0" smtClean="0"/>
          </a:p>
          <a:p>
            <a:pPr algn="ctr"/>
            <a:r>
              <a:rPr lang="en-AU" dirty="0" smtClean="0"/>
              <a:t>30/4</a:t>
            </a:r>
          </a:p>
          <a:p>
            <a:pPr algn="ctr"/>
            <a:endParaRPr lang="en-AU" dirty="0"/>
          </a:p>
          <a:p>
            <a:pPr algn="ctr"/>
            <a:r>
              <a:rPr lang="en-AU" dirty="0" smtClean="0"/>
              <a:t>5/5</a:t>
            </a:r>
          </a:p>
          <a:p>
            <a:pPr algn="ctr"/>
            <a:endParaRPr lang="en-AU" dirty="0"/>
          </a:p>
          <a:p>
            <a:pPr algn="ctr"/>
            <a:r>
              <a:rPr lang="en-AU" dirty="0" smtClean="0"/>
              <a:t>7/5</a:t>
            </a:r>
          </a:p>
          <a:p>
            <a:pPr algn="ctr"/>
            <a:r>
              <a:rPr lang="en-AU" dirty="0" smtClean="0"/>
              <a:t>19/5</a:t>
            </a:r>
          </a:p>
          <a:p>
            <a:pPr algn="ctr"/>
            <a:endParaRPr lang="en-AU" dirty="0"/>
          </a:p>
          <a:p>
            <a:pPr algn="ctr"/>
            <a:r>
              <a:rPr lang="en-AU" dirty="0" smtClean="0"/>
              <a:t>20/5</a:t>
            </a:r>
            <a:endParaRPr lang="en-AU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-2" y="749198"/>
            <a:ext cx="109249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4-5</a:t>
            </a:r>
          </a:p>
          <a:p>
            <a:pPr algn="ctr"/>
            <a:r>
              <a:rPr lang="en-AU" dirty="0" smtClean="0"/>
              <a:t>6-7</a:t>
            </a:r>
          </a:p>
          <a:p>
            <a:pPr algn="ctr"/>
            <a:endParaRPr lang="en-AU" dirty="0"/>
          </a:p>
          <a:p>
            <a:pPr algn="ctr"/>
            <a:r>
              <a:rPr lang="en-AU" dirty="0" smtClean="0"/>
              <a:t>8-9</a:t>
            </a:r>
          </a:p>
          <a:p>
            <a:pPr algn="ctr"/>
            <a:endParaRPr lang="en-AU" dirty="0"/>
          </a:p>
          <a:p>
            <a:pPr algn="ctr"/>
            <a:endParaRPr lang="en-AU" dirty="0" smtClean="0"/>
          </a:p>
          <a:p>
            <a:pPr algn="ctr"/>
            <a:r>
              <a:rPr lang="en-AU" dirty="0" smtClean="0"/>
              <a:t>10-11</a:t>
            </a:r>
          </a:p>
          <a:p>
            <a:pPr algn="ctr"/>
            <a:endParaRPr lang="en-AU" dirty="0"/>
          </a:p>
          <a:p>
            <a:pPr algn="ctr"/>
            <a:r>
              <a:rPr lang="en-AU" dirty="0" smtClean="0"/>
              <a:t>12-13</a:t>
            </a:r>
          </a:p>
          <a:p>
            <a:pPr algn="ctr"/>
            <a:endParaRPr lang="en-AU" dirty="0"/>
          </a:p>
          <a:p>
            <a:pPr algn="ctr"/>
            <a:r>
              <a:rPr lang="en-AU" dirty="0" smtClean="0"/>
              <a:t>14-15</a:t>
            </a:r>
          </a:p>
          <a:p>
            <a:pPr algn="ctr"/>
            <a:r>
              <a:rPr lang="en-AU" dirty="0" smtClean="0"/>
              <a:t>16 -</a:t>
            </a:r>
            <a:r>
              <a:rPr lang="en-AU" dirty="0" smtClean="0"/>
              <a:t>17</a:t>
            </a:r>
          </a:p>
          <a:p>
            <a:pPr algn="ctr"/>
            <a:endParaRPr lang="en-AU" dirty="0"/>
          </a:p>
          <a:p>
            <a:pPr algn="ctr"/>
            <a:r>
              <a:rPr lang="en-AU" dirty="0" smtClean="0"/>
              <a:t>18-19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374312" y="-13817"/>
            <a:ext cx="21769" cy="68439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396081" y="601548"/>
            <a:ext cx="4747919" cy="191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396081" y="1196751"/>
            <a:ext cx="474791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417850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4572089" y="0"/>
            <a:ext cx="3384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Title:</a:t>
            </a:r>
            <a:endParaRPr lang="en-AU"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7956376" y="0"/>
            <a:ext cx="11876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Date:</a:t>
            </a:r>
            <a:endParaRPr lang="en-AU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7729713" y="16460"/>
            <a:ext cx="453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/>
              <a:t>24</a:t>
            </a:r>
          </a:p>
          <a:p>
            <a:r>
              <a:rPr lang="en-AU" sz="1200" dirty="0" smtClean="0"/>
              <a:t>7</a:t>
            </a:r>
          </a:p>
          <a:p>
            <a:r>
              <a:rPr lang="en-AU" sz="1200" dirty="0" smtClean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 </a:t>
            </a:r>
            <a:r>
              <a:rPr lang="en-AU" dirty="0">
                <a:solidFill>
                  <a:prstClr val="black"/>
                </a:solidFill>
              </a:rPr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915816" y="1916832"/>
            <a:ext cx="7431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457509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Title: Parts of an equation 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33384" y="488084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Date: 21/4/15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1063436"/>
            <a:ext cx="87399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EQ : </a:t>
            </a:r>
            <a:r>
              <a:rPr lang="en-AU" dirty="0" smtClean="0">
                <a:solidFill>
                  <a:prstClr val="black"/>
                </a:solidFill>
              </a:rPr>
              <a:t>Describe the difference between an expression and an equation. Label the different parts of an equation namely the constant, variable and co-efficient. </a:t>
            </a:r>
            <a:endParaRPr lang="en-AU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228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31" y="1916832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50669" y="1977094"/>
            <a:ext cx="62207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endParaRPr lang="en-AU" sz="2400" dirty="0" smtClean="0">
              <a:solidFill>
                <a:prstClr val="black"/>
              </a:solidFill>
            </a:endParaRPr>
          </a:p>
          <a:p>
            <a:endParaRPr lang="en-AU" sz="2400" dirty="0" smtClean="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615025" y="6376615"/>
            <a:ext cx="404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8604448" y="6309320"/>
            <a:ext cx="414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4088" y="-10543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24</a:t>
            </a:r>
          </a:p>
          <a:p>
            <a:r>
              <a:rPr lang="en-AU" dirty="0" smtClean="0"/>
              <a:t>7</a:t>
            </a:r>
          </a:p>
          <a:p>
            <a:r>
              <a:rPr lang="en-AU" dirty="0" smtClean="0"/>
              <a:t>30</a:t>
            </a:r>
          </a:p>
        </p:txBody>
      </p:sp>
      <p:pic>
        <p:nvPicPr>
          <p:cNvPr id="1026" name="Picture 11" descr="http://www.mathsisfun.com/algebra/images/variable-constant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4873" y="5424642"/>
            <a:ext cx="2857500" cy="130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915816" y="2505806"/>
            <a:ext cx="5959256" cy="3482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2696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2971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2971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2971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2971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2971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2971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2971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2971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29718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sz="2000" dirty="0">
                <a:latin typeface="+mn-lt"/>
              </a:rPr>
              <a:t>An </a:t>
            </a:r>
            <a:r>
              <a:rPr lang="en-US" sz="2000" b="1" dirty="0">
                <a:solidFill>
                  <a:srgbClr val="0070C0"/>
                </a:solidFill>
                <a:latin typeface="+mn-lt"/>
              </a:rPr>
              <a:t>expression</a:t>
            </a:r>
            <a:r>
              <a:rPr lang="en-US" sz="2000" dirty="0">
                <a:latin typeface="+mn-lt"/>
              </a:rPr>
              <a:t> is a group of terms (the terms are separated by + or – signs).   </a:t>
            </a:r>
            <a:endParaRPr lang="en-US" sz="2000" dirty="0" smtClean="0">
              <a:latin typeface="+mn-lt"/>
            </a:endParaRPr>
          </a:p>
          <a:p>
            <a:pPr lvl="0"/>
            <a:endParaRPr lang="en-US" sz="2000" dirty="0">
              <a:latin typeface="+mn-lt"/>
            </a:endParaRPr>
          </a:p>
          <a:p>
            <a:pPr lvl="0"/>
            <a:r>
              <a:rPr lang="en-US" sz="2000" dirty="0" smtClean="0">
                <a:latin typeface="+mn-lt"/>
              </a:rPr>
              <a:t>An </a:t>
            </a:r>
            <a:r>
              <a:rPr lang="en-US" sz="2000" b="1" dirty="0">
                <a:solidFill>
                  <a:srgbClr val="0070C0"/>
                </a:solidFill>
                <a:latin typeface="+mn-lt"/>
              </a:rPr>
              <a:t>equation</a:t>
            </a:r>
            <a:r>
              <a:rPr lang="en-US" sz="2000" dirty="0">
                <a:latin typeface="+mn-lt"/>
              </a:rPr>
              <a:t> says that two things are equal.  So that makes an equation a statement. An equation will have an equal sign </a:t>
            </a:r>
            <a:r>
              <a:rPr lang="en-US" sz="2000" dirty="0" smtClean="0">
                <a:latin typeface="+mn-lt"/>
              </a:rPr>
              <a:t>“=</a:t>
            </a:r>
          </a:p>
          <a:p>
            <a:pPr lvl="0"/>
            <a:endParaRPr kumimoji="0" lang="en-US" altLang="en-US" sz="2000" b="1" u="none" strike="noStrike" cap="none" normalizeH="0" baseline="0" dirty="0">
              <a:ln>
                <a:noFill/>
              </a:ln>
              <a:solidFill>
                <a:srgbClr val="4F81BD"/>
              </a:solidFill>
              <a:effectLst/>
              <a:latin typeface="+mn-lt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lvl="0"/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4F81BD"/>
                </a:solidFill>
                <a:effectLst/>
                <a:latin typeface="Cambria" panose="020405030504060302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Parts of an Equation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6725" algn="l"/>
                <a:tab pos="2971800" algn="ctr"/>
              </a:tabLs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Here we have an equation that says 4x-7 equals 5, and all its parts:</a:t>
            </a:r>
            <a:endParaRPr kumimoji="0" lang="en-AU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6725" algn="l"/>
                <a:tab pos="2971800" algn="ctr"/>
              </a:tabLst>
            </a:pPr>
            <a:endParaRPr kumimoji="0" lang="en-AU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2480768"/>
            <a:ext cx="29158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Describe the difference between an expression and an equation.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Label a diagram of an equation using the terms coefficient, variable and constant.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7460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8642511" y="6277189"/>
            <a:ext cx="351768" cy="3693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2923247" y="0"/>
            <a:ext cx="7432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504" y="242116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30679" y="251067"/>
            <a:ext cx="622075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endParaRPr lang="en-AU" sz="1400" dirty="0" smtClean="0">
              <a:solidFill>
                <a:prstClr val="black"/>
              </a:solidFill>
            </a:endParaRPr>
          </a:p>
          <a:p>
            <a:r>
              <a:rPr lang="en-AU" sz="2400" dirty="0">
                <a:solidFill>
                  <a:prstClr val="black"/>
                </a:solidFill>
              </a:rPr>
              <a:t>	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8667495" y="6184858"/>
            <a:ext cx="414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383341"/>
              </p:ext>
            </p:extLst>
          </p:nvPr>
        </p:nvGraphicFramePr>
        <p:xfrm>
          <a:off x="3030752" y="712732"/>
          <a:ext cx="6058815" cy="5570347"/>
        </p:xfrm>
        <a:graphic>
          <a:graphicData uri="http://schemas.openxmlformats.org/drawingml/2006/table">
            <a:tbl>
              <a:tblPr/>
              <a:tblGrid>
                <a:gridCol w="6058815"/>
              </a:tblGrid>
              <a:tr h="3015062"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 </a:t>
                      </a:r>
                      <a:r>
                        <a:rPr lang="en-AU" sz="2000" b="1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Variable</a:t>
                      </a: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is a symbol for a number we don't know yet. It is usually a letter like x or y</a:t>
                      </a:r>
                      <a:r>
                        <a:rPr lang="en-AU" sz="2000" kern="14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.</a:t>
                      </a:r>
                    </a:p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kern="14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endParaRPr lang="en-AU" sz="20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 number on its own is called a </a:t>
                      </a:r>
                      <a:r>
                        <a:rPr lang="en-AU" sz="2000" b="1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Constant</a:t>
                      </a:r>
                      <a:r>
                        <a:rPr lang="en-AU" sz="2000" kern="14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.</a:t>
                      </a:r>
                    </a:p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AU" sz="12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 </a:t>
                      </a:r>
                      <a:r>
                        <a:rPr lang="en-AU" sz="2000" b="1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Coefficient</a:t>
                      </a: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is a number used to multiply a variable (4x means 4 times x, so 4 is a coefficient</a:t>
                      </a:r>
                      <a:r>
                        <a:rPr lang="en-AU" sz="2000" kern="14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AU" sz="12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 </a:t>
                      </a:r>
                      <a:r>
                        <a:rPr lang="en-AU" sz="2000" b="1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Operator</a:t>
                      </a: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is a symbol (such as +, ×, </a:t>
                      </a:r>
                      <a:r>
                        <a:rPr lang="en-AU" sz="2000" kern="14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etc</a:t>
                      </a: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 that represents an operation (</a:t>
                      </a:r>
                      <a:r>
                        <a:rPr lang="en-AU" sz="2000" kern="14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ie</a:t>
                      </a: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you want to do something with the values).</a:t>
                      </a:r>
                      <a:endParaRPr lang="en-AU" sz="20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6843"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04940"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 </a:t>
                      </a:r>
                      <a:r>
                        <a:rPr lang="en-AU" sz="2000" b="1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Term</a:t>
                      </a: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is either a single number or a variable, or numbers and variables multiplied together</a:t>
                      </a:r>
                      <a:r>
                        <a:rPr lang="en-AU" sz="2000" kern="14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.</a:t>
                      </a:r>
                    </a:p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AU" sz="2000" kern="14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kern="14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 </a:t>
                      </a:r>
                      <a:r>
                        <a:rPr lang="en-AU" sz="2000" b="1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Expression</a:t>
                      </a:r>
                      <a:r>
                        <a:rPr lang="en-AU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is a group of terms (the terms are separated by + or - signs)</a:t>
                      </a:r>
                      <a:endParaRPr lang="en-AU" sz="20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Control 1"/>
          <p:cNvSpPr>
            <a:spLocks noChangeArrowheads="1" noChangeShapeType="1"/>
          </p:cNvSpPr>
          <p:nvPr/>
        </p:nvSpPr>
        <p:spPr bwMode="auto">
          <a:xfrm>
            <a:off x="5481638" y="4022725"/>
            <a:ext cx="2165350" cy="3171825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1" name="Picture 12" descr="http://www.mathsisfun.com/algebra/images/expression-term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725144"/>
            <a:ext cx="1924050" cy="126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-13855" y="774287"/>
            <a:ext cx="29158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Provide meanings for the following: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Constant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Coefficient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Operator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Term</a:t>
            </a:r>
          </a:p>
        </p:txBody>
      </p:sp>
    </p:spTree>
    <p:extLst>
      <p:ext uri="{BB962C8B-B14F-4D97-AF65-F5344CB8AC3E}">
        <p14:creationId xmlns:p14="http://schemas.microsoft.com/office/powerpoint/2010/main" val="115817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188640"/>
            <a:ext cx="81369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Tasks</a:t>
            </a:r>
          </a:p>
          <a:p>
            <a:endParaRPr lang="en-AU" sz="4000" dirty="0" smtClean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545758"/>
              </p:ext>
            </p:extLst>
          </p:nvPr>
        </p:nvGraphicFramePr>
        <p:xfrm>
          <a:off x="467544" y="1916830"/>
          <a:ext cx="8352929" cy="460681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392155"/>
                <a:gridCol w="1392155"/>
                <a:gridCol w="5568619"/>
              </a:tblGrid>
              <a:tr h="73208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Algebraic Expression</a:t>
                      </a:r>
                      <a:endParaRPr lang="en-AU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Each part of an expression separated by an operation</a:t>
                      </a:r>
                      <a:endParaRPr lang="en-AU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73208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Coefficient</a:t>
                      </a:r>
                      <a:endParaRPr lang="en-AU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A number that stands by itself</a:t>
                      </a:r>
                      <a:endParaRPr lang="en-AU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109812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Constant</a:t>
                      </a:r>
                      <a:endParaRPr lang="en-AU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A number that does not stand by itself. It is attached to the variable.</a:t>
                      </a:r>
                      <a:endParaRPr lang="en-AU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73208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Term</a:t>
                      </a:r>
                      <a:endParaRPr lang="en-AU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A letter that stands for a particular numerical value</a:t>
                      </a:r>
                      <a:endParaRPr lang="en-AU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109812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Variable</a:t>
                      </a:r>
                      <a:endParaRPr lang="en-AU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A number sentence without an equal sign, has at least one two terms and one operation</a:t>
                      </a:r>
                      <a:endParaRPr lang="en-AU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A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80267" y="763428"/>
            <a:ext cx="834020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Match the vocabulary to the correct definition. Write the answer in the left hand side of your notebook.</a:t>
            </a:r>
            <a:endParaRPr kumimoji="0" lang="en-AU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157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60648"/>
            <a:ext cx="856895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Identify each part of the algebraic expression as the coefficient, constant, or variable</a:t>
            </a:r>
            <a:r>
              <a:rPr lang="en-US" sz="2000" dirty="0" smtClean="0"/>
              <a:t>.</a:t>
            </a:r>
          </a:p>
          <a:p>
            <a:endParaRPr lang="en-AU" dirty="0"/>
          </a:p>
          <a:p>
            <a:r>
              <a:rPr lang="en-US" dirty="0"/>
              <a:t>1. 4x - 12</a:t>
            </a:r>
            <a:endParaRPr lang="en-AU" dirty="0"/>
          </a:p>
          <a:p>
            <a:r>
              <a:rPr lang="en-US" dirty="0"/>
              <a:t>	4 is a(n) </a:t>
            </a:r>
            <a:r>
              <a:rPr lang="en-US" dirty="0" smtClean="0"/>
              <a:t>___________________</a:t>
            </a:r>
          </a:p>
          <a:p>
            <a:endParaRPr lang="en-AU" dirty="0"/>
          </a:p>
          <a:p>
            <a:r>
              <a:rPr lang="en-US" dirty="0" smtClean="0"/>
              <a:t>	x </a:t>
            </a:r>
            <a:r>
              <a:rPr lang="en-US" dirty="0"/>
              <a:t>is a(n) ___________________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	12 is a(n) </a:t>
            </a:r>
            <a:r>
              <a:rPr lang="en-US" dirty="0" smtClean="0"/>
              <a:t>__________________</a:t>
            </a:r>
          </a:p>
          <a:p>
            <a:endParaRPr lang="en-AU" dirty="0"/>
          </a:p>
          <a:p>
            <a:r>
              <a:rPr lang="en-US" dirty="0"/>
              <a:t>2. a + 3b</a:t>
            </a:r>
            <a:endParaRPr lang="en-AU" dirty="0"/>
          </a:p>
          <a:p>
            <a:r>
              <a:rPr lang="en-US" dirty="0"/>
              <a:t>	a is a(n) ___________________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	3 is a(n) ___________________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	b is a(n) </a:t>
            </a:r>
            <a:r>
              <a:rPr lang="en-US" dirty="0" smtClean="0"/>
              <a:t>__________________</a:t>
            </a:r>
          </a:p>
          <a:p>
            <a:endParaRPr lang="en-AU" dirty="0"/>
          </a:p>
          <a:p>
            <a:r>
              <a:rPr lang="en-US" dirty="0"/>
              <a:t>3. 6y</a:t>
            </a:r>
            <a:endParaRPr lang="en-AU" dirty="0"/>
          </a:p>
          <a:p>
            <a:r>
              <a:rPr lang="en-US" dirty="0"/>
              <a:t>	6 is a(n) ___________________</a:t>
            </a:r>
            <a:endParaRPr lang="en-AU" dirty="0"/>
          </a:p>
          <a:p>
            <a:r>
              <a:rPr lang="en-US" dirty="0"/>
              <a:t> </a:t>
            </a:r>
            <a:endParaRPr lang="en-AU" dirty="0"/>
          </a:p>
          <a:p>
            <a:r>
              <a:rPr lang="en-US" dirty="0"/>
              <a:t>	y is a(n) ___________________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204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86721" y="641757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915816" y="1916832"/>
            <a:ext cx="7431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34133" y="483525"/>
            <a:ext cx="7439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Title: Writing Algebraic Expressions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6243023" y="454115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Date: 23/4/15 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1063436"/>
            <a:ext cx="8739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/>
              <a:t>: How can I use symbols to simplify problems with unknown values? </a:t>
            </a:r>
          </a:p>
          <a:p>
            <a:endParaRPr lang="en-AU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6228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31" y="1916832"/>
            <a:ext cx="29158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Question:</a:t>
            </a:r>
          </a:p>
          <a:p>
            <a:endParaRPr lang="en-AU" sz="2400" dirty="0"/>
          </a:p>
          <a:p>
            <a:endParaRPr lang="en-AU" sz="2400" dirty="0" smtClean="0"/>
          </a:p>
          <a:p>
            <a:endParaRPr lang="en-AU" sz="2400" dirty="0"/>
          </a:p>
          <a:p>
            <a:endParaRPr lang="en-AU" sz="2400" dirty="0" smtClean="0"/>
          </a:p>
          <a:p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923247" y="1916833"/>
            <a:ext cx="59692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Notes:</a:t>
            </a:r>
          </a:p>
          <a:p>
            <a:endParaRPr lang="en-AU" sz="2400" dirty="0" smtClean="0"/>
          </a:p>
          <a:p>
            <a:endParaRPr lang="en-AU" sz="2400" dirty="0" smtClean="0"/>
          </a:p>
          <a:p>
            <a:endParaRPr lang="en-AU" sz="2400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5364088" y="37839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24</a:t>
            </a:r>
          </a:p>
          <a:p>
            <a:r>
              <a:rPr lang="en-AU" dirty="0" smtClean="0"/>
              <a:t>7</a:t>
            </a:r>
          </a:p>
          <a:p>
            <a:r>
              <a:rPr lang="en-AU" dirty="0" smtClean="0"/>
              <a:t>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0825286"/>
                  </p:ext>
                </p:extLst>
              </p:nvPr>
            </p:nvGraphicFramePr>
            <p:xfrm>
              <a:off x="3120008" y="2389213"/>
              <a:ext cx="5340424" cy="24356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70212"/>
                    <a:gridCol w="2670212"/>
                  </a:tblGrid>
                  <a:tr h="305991">
                    <a:tc>
                      <a:txBody>
                        <a:bodyPr/>
                        <a:lstStyle/>
                        <a:p>
                          <a:r>
                            <a:rPr lang="en-AU" b="0" dirty="0" smtClean="0">
                              <a:solidFill>
                                <a:schemeClr val="tx1"/>
                              </a:solidFill>
                            </a:rPr>
                            <a:t>Sum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0599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Product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0599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Difference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0599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Quotient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÷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0599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The reciprocal of</a:t>
                          </a:r>
                          <a:r>
                            <a:rPr lang="en-AU" baseline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30599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The square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0825286"/>
                  </p:ext>
                </p:extLst>
              </p:nvPr>
            </p:nvGraphicFramePr>
            <p:xfrm>
              <a:off x="3120008" y="2389213"/>
              <a:ext cx="5340424" cy="24356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70212"/>
                    <a:gridCol w="2670212"/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AU" b="0" dirty="0" smtClean="0">
                              <a:solidFill>
                                <a:schemeClr val="tx1"/>
                              </a:solidFill>
                            </a:rPr>
                            <a:t>Sum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457" t="-8333" r="-1142" b="-593333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Product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457" t="-108333" r="-1142" b="-493333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Difference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457" t="-204918" r="-1142" b="-385246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Quotient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457" t="-310000" r="-1142" b="-291667"/>
                          </a:stretch>
                        </a:blipFill>
                      </a:tcPr>
                    </a:tc>
                  </a:tr>
                  <a:tr h="6068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28" t="-246000" r="-100911" b="-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457" t="-246000" r="-1142" b="-75000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28" t="-576667" r="-10091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457" t="-576667" r="-1142" b="-25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923247" y="4869160"/>
                <a:ext cx="611324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Write an algebraic expression for the following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/>
                  <a:t>The sum of </a:t>
                </a:r>
                <a:r>
                  <a:rPr lang="en-AU" i="1" dirty="0">
                    <a:latin typeface="Cambria Math" pitchFamily="18" charset="0"/>
                    <a:ea typeface="Cambria Math" pitchFamily="18" charset="0"/>
                  </a:rPr>
                  <a:t>a</a:t>
                </a:r>
                <a:r>
                  <a:rPr lang="en-AU" dirty="0"/>
                  <a:t> and </a:t>
                </a:r>
                <a:r>
                  <a:rPr lang="en-AU" i="1" dirty="0">
                    <a:latin typeface="Cambria Math" pitchFamily="18" charset="0"/>
                    <a:ea typeface="Cambria Math" pitchFamily="18" charset="0"/>
                  </a:rPr>
                  <a:t>b			</a:t>
                </a:r>
                <a:endParaRPr lang="en-AU" i="1" dirty="0" smtClean="0">
                  <a:latin typeface="Cambria Math" pitchFamily="18" charset="0"/>
                  <a:ea typeface="Cambria Math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Five </a:t>
                </a:r>
                <a:r>
                  <a:rPr lang="en-AU" dirty="0"/>
                  <a:t>more than double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/>
                  <a:t>			</a:t>
                </a:r>
                <a:endParaRPr lang="en-AU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/>
                  <a:t>Double the sum of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/>
                  <a:t> and 5		</a:t>
                </a:r>
                <a:endParaRPr lang="en-AU" dirty="0">
                  <a:solidFill>
                    <a:srgbClr val="FF000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247" y="4869160"/>
                <a:ext cx="6113249" cy="1477328"/>
              </a:xfrm>
              <a:prstGeom prst="rect">
                <a:avLst/>
              </a:prstGeom>
              <a:blipFill rotWithShape="0">
                <a:blip r:embed="rId3"/>
                <a:stretch>
                  <a:fillRect l="-898" t="-247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42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8760"/>
            <a:ext cx="7875275" cy="4799099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/>
              <a:t>Task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34644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 flipV="1">
            <a:off x="971599" y="825209"/>
            <a:ext cx="871834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960606"/>
              </p:ext>
            </p:extLst>
          </p:nvPr>
        </p:nvGraphicFramePr>
        <p:xfrm>
          <a:off x="971599" y="260648"/>
          <a:ext cx="12218188" cy="580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2" name="Worksheet" r:id="rId3" imgW="14299200" imgH="6884280" progId="Excel.Sheet.8">
                  <p:embed/>
                </p:oleObj>
              </mc:Choice>
              <mc:Fallback>
                <p:oleObj name="Worksheet" r:id="rId3" imgW="14299200" imgH="6884280" progId="Excel.Sheet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99" y="260648"/>
                        <a:ext cx="12218188" cy="58063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9499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86721" y="641757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 9</a:t>
            </a:r>
            <a:endParaRPr lang="en-AU" dirty="0">
              <a:solidFill>
                <a:prstClr val="black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915816" y="1916832"/>
            <a:ext cx="7431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34133" y="483525"/>
            <a:ext cx="7439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Title: </a:t>
            </a:r>
            <a:r>
              <a:rPr lang="en-AU" sz="2400" dirty="0"/>
              <a:t>Simplifying </a:t>
            </a:r>
            <a:r>
              <a:rPr lang="en-AU" sz="2400" dirty="0" smtClean="0"/>
              <a:t>Expressions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6243023" y="454115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Date: 28/4/15 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1063436"/>
            <a:ext cx="8739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EQ : </a:t>
            </a:r>
            <a:r>
              <a:rPr lang="en-AU" sz="2400" dirty="0" smtClean="0"/>
              <a:t>What </a:t>
            </a:r>
            <a:r>
              <a:rPr lang="en-AU" sz="2400" dirty="0"/>
              <a:t>is a ‘like term’ and how do I collect them? </a:t>
            </a: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228184" y="0"/>
            <a:ext cx="0" cy="98072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31" y="1916832"/>
            <a:ext cx="29158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endParaRPr lang="en-AU" sz="2400" dirty="0" smtClean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  <a:p>
            <a:endParaRPr lang="en-AU" sz="2400" dirty="0" smtClean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23247" y="1916833"/>
            <a:ext cx="59692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endParaRPr lang="en-AU" sz="2400" dirty="0" smtClean="0">
              <a:solidFill>
                <a:prstClr val="black"/>
              </a:solidFill>
            </a:endParaRPr>
          </a:p>
          <a:p>
            <a:endParaRPr lang="en-AU" sz="2400" dirty="0" smtClean="0">
              <a:solidFill>
                <a:prstClr val="black"/>
              </a:solidFill>
            </a:endParaRPr>
          </a:p>
          <a:p>
            <a:endParaRPr lang="en-AU" sz="2400" dirty="0" smtClean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96211" y="51159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24</a:t>
            </a:r>
          </a:p>
          <a:p>
            <a:r>
              <a:rPr lang="en-AU" dirty="0" smtClean="0">
                <a:solidFill>
                  <a:prstClr val="black"/>
                </a:solidFill>
              </a:rPr>
              <a:t>7</a:t>
            </a:r>
          </a:p>
          <a:p>
            <a:r>
              <a:rPr lang="en-AU" dirty="0" smtClean="0">
                <a:solidFill>
                  <a:prstClr val="black"/>
                </a:solidFill>
              </a:rPr>
              <a:t>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915816" y="2388761"/>
                <a:ext cx="6113249" cy="4616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AU" sz="2400" dirty="0"/>
                  <a:t>Like terms contain exactly the same variables with the same powers. The variables do not need to be in the same order.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AU" sz="2400" dirty="0"/>
                  <a:t>Like terms can be combined when they are added or subtracted to simplify the expression.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/>
                  <a:t>e.g. 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=  8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endParaRPr lang="en-AU" sz="2400" dirty="0" smtClean="0"/>
              </a:p>
              <a:p>
                <a:endParaRPr lang="en-AU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AU" sz="2400" i="1" dirty="0">
                    <a:solidFill>
                      <a:srgbClr val="FF0000"/>
                    </a:solidFill>
                  </a:rPr>
                  <a:t>Reminder: </a:t>
                </a:r>
                <a:r>
                  <a:rPr lang="en-AU" sz="2400" i="1" dirty="0" smtClean="0">
                    <a:solidFill>
                      <a:srgbClr val="FF0000"/>
                    </a:solidFill>
                  </a:rPr>
                  <a:t>Multiplication </a:t>
                </a:r>
                <a:r>
                  <a:rPr lang="en-AU" sz="2400" i="1" dirty="0">
                    <a:solidFill>
                      <a:srgbClr val="FF0000"/>
                    </a:solidFill>
                  </a:rPr>
                  <a:t>can be done in any order and you will get the same answer (The Distributive Law).</a:t>
                </a:r>
              </a:p>
              <a:p>
                <a:endParaRPr lang="en-AU" sz="2400" dirty="0"/>
              </a:p>
              <a:p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2388761"/>
                <a:ext cx="6113249" cy="4616648"/>
              </a:xfrm>
              <a:prstGeom prst="rect">
                <a:avLst/>
              </a:prstGeom>
              <a:blipFill rotWithShape="0">
                <a:blip r:embed="rId2"/>
                <a:stretch>
                  <a:fillRect l="-1296" t="-1057" r="-13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90170" y="2461204"/>
            <a:ext cx="27503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What are like terms?</a:t>
            </a:r>
          </a:p>
        </p:txBody>
      </p:sp>
    </p:spTree>
    <p:extLst>
      <p:ext uri="{BB962C8B-B14F-4D97-AF65-F5344CB8AC3E}">
        <p14:creationId xmlns:p14="http://schemas.microsoft.com/office/powerpoint/2010/main" val="1730670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8642511" y="6277189"/>
            <a:ext cx="351768" cy="3693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2923247" y="0"/>
            <a:ext cx="7432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504" y="242116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30679" y="251067"/>
            <a:ext cx="622075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endParaRPr lang="en-AU" sz="1400" dirty="0" smtClean="0">
              <a:solidFill>
                <a:prstClr val="black"/>
              </a:solidFill>
            </a:endParaRPr>
          </a:p>
          <a:p>
            <a:r>
              <a:rPr lang="en-AU" sz="2400" dirty="0">
                <a:solidFill>
                  <a:prstClr val="black"/>
                </a:solidFill>
              </a:rPr>
              <a:t>	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495" y="6184858"/>
            <a:ext cx="414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9</a:t>
            </a:r>
          </a:p>
        </p:txBody>
      </p:sp>
      <p:sp>
        <p:nvSpPr>
          <p:cNvPr id="5" name="Control 1"/>
          <p:cNvSpPr>
            <a:spLocks noChangeArrowheads="1" noChangeShapeType="1"/>
          </p:cNvSpPr>
          <p:nvPr/>
        </p:nvSpPr>
        <p:spPr bwMode="auto">
          <a:xfrm>
            <a:off x="5481638" y="4022725"/>
            <a:ext cx="2165350" cy="3171825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endParaRPr lang="en-AU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930679" y="703781"/>
                <a:ext cx="6151456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Important: the sign stay in front of the term even when it is moved. </a:t>
                </a:r>
                <a:r>
                  <a:rPr lang="en-AU" sz="2400" dirty="0" smtClean="0"/>
                  <a:t>	  </a:t>
                </a:r>
                <a:r>
                  <a:rPr lang="en-AU" sz="1400" dirty="0" smtClean="0">
                    <a:solidFill>
                      <a:srgbClr val="00B0F0"/>
                    </a:solidFill>
                  </a:rPr>
                  <a:t>The </a:t>
                </a:r>
                <a:r>
                  <a:rPr lang="en-AU" sz="1400" dirty="0">
                    <a:solidFill>
                      <a:srgbClr val="00B0F0"/>
                    </a:solidFill>
                  </a:rPr>
                  <a:t>– sign stays with the term</a:t>
                </a:r>
              </a:p>
              <a:p>
                <a:r>
                  <a:rPr lang="en-AU" sz="2400" dirty="0" smtClean="0"/>
                  <a:t>	e.g</a:t>
                </a:r>
                <a:r>
                  <a:rPr lang="en-AU" sz="2400" dirty="0"/>
                  <a:t>.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+ 7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− 2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sz="2400" dirty="0"/>
              </a:p>
              <a:p>
                <a:r>
                  <a:rPr lang="en-AU" sz="2400" dirty="0" smtClean="0"/>
                  <a:t>	=    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 – 2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 +7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 +3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sz="2400" dirty="0"/>
              </a:p>
              <a:p>
                <a:r>
                  <a:rPr lang="en-AU" sz="2400" dirty="0" smtClean="0"/>
                  <a:t>	=    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+10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sz="240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679" y="703781"/>
                <a:ext cx="6151456" cy="2215991"/>
              </a:xfrm>
              <a:prstGeom prst="rect">
                <a:avLst/>
              </a:prstGeom>
              <a:blipFill rotWithShape="0">
                <a:blip r:embed="rId2"/>
                <a:stretch>
                  <a:fillRect l="-1586" t="-219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0" y="815978"/>
            <a:ext cx="2987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about the operations?</a:t>
            </a:r>
            <a:endParaRPr lang="en-AU" dirty="0"/>
          </a:p>
        </p:txBody>
      </p:sp>
      <p:sp>
        <p:nvSpPr>
          <p:cNvPr id="17" name="Oval 16"/>
          <p:cNvSpPr/>
          <p:nvPr/>
        </p:nvSpPr>
        <p:spPr>
          <a:xfrm>
            <a:off x="5565894" y="1468535"/>
            <a:ext cx="878314" cy="360040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6312285" y="1377671"/>
            <a:ext cx="504056" cy="7200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667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try these together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−3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sz="2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55576" y="3212976"/>
                <a:ext cx="7488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212976"/>
                <a:ext cx="7488832" cy="400110"/>
              </a:xfrm>
              <a:prstGeom prst="rect">
                <a:avLst/>
              </a:prstGeom>
              <a:blipFill rotWithShape="0">
                <a:blip r:embed="rId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55576" y="5013176"/>
                <a:ext cx="77048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𝑎𝑐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−2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𝑐𝑎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−5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AU" sz="2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5013176"/>
                <a:ext cx="7704856" cy="4001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6825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268760"/>
            <a:ext cx="6261135" cy="504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462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705940" y="190625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solidFill>
                  <a:prstClr val="black"/>
                </a:solidFill>
              </a:rPr>
              <a:t>24</a:t>
            </a:r>
          </a:p>
          <a:p>
            <a:r>
              <a:rPr lang="en-AU" sz="1600" dirty="0" smtClean="0">
                <a:solidFill>
                  <a:prstClr val="black"/>
                </a:solidFill>
              </a:rPr>
              <a:t>7</a:t>
            </a:r>
          </a:p>
          <a:p>
            <a:r>
              <a:rPr lang="en-AU" sz="1600" dirty="0" smtClean="0">
                <a:solidFill>
                  <a:prstClr val="black"/>
                </a:solidFill>
              </a:rPr>
              <a:t>30</a:t>
            </a:r>
            <a:endParaRPr lang="en-AU" sz="1600" dirty="0">
              <a:solidFill>
                <a:prstClr val="black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7543" cy="4941168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35822" y="508951"/>
            <a:ext cx="2808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Date: 30/4/15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23337"/>
            <a:ext cx="61743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>
                <a:solidFill>
                  <a:prstClr val="black"/>
                </a:solidFill>
              </a:rPr>
              <a:t>Title: Simplifying Expressions with Multiplication</a:t>
            </a:r>
            <a:endParaRPr lang="en-AU" sz="2200" dirty="0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EQ – How do I simplify if the terms are multiplied? </a:t>
            </a:r>
            <a:endParaRPr lang="en-AU" sz="2400" dirty="0">
              <a:solidFill>
                <a:prstClr val="black"/>
              </a:solidFill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2923246" y="2348918"/>
            <a:ext cx="6220753" cy="1970595"/>
            <a:chOff x="2851847" y="1183236"/>
            <a:chExt cx="6220753" cy="19705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/>
                <p:cNvSpPr txBox="1"/>
                <p:nvPr/>
              </p:nvSpPr>
              <p:spPr>
                <a:xfrm>
                  <a:off x="2961755" y="1183236"/>
                  <a:ext cx="5832648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AU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AU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  <m:r>
                          <a:rPr lang="en-AU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𝑎𝑏</m:t>
                        </m:r>
                      </m:oMath>
                    </m:oMathPara>
                  </a14:m>
                  <a:endParaRPr lang="en-AU" sz="2000" dirty="0" smtClean="0">
                    <a:solidFill>
                      <a:prstClr val="black"/>
                    </a:solidFill>
                  </a:endParaRPr>
                </a:p>
                <a:p>
                  <a:pPr algn="ctr"/>
                  <a:r>
                    <a:rPr lang="en-AU" sz="2000" dirty="0" smtClean="0">
                      <a:solidFill>
                        <a:prstClr val="black"/>
                      </a:solidFill>
                    </a:rPr>
                    <a:t>When multiplying we do not need to write the ‘times’ sign.</a:t>
                  </a:r>
                </a:p>
                <a:p>
                  <a:endParaRPr lang="en-AU" sz="20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TextBox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1755" y="1183236"/>
                  <a:ext cx="5832648" cy="1323439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l="-209" r="-1151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/>
            <p:cNvSpPr txBox="1"/>
            <p:nvPr/>
          </p:nvSpPr>
          <p:spPr>
            <a:xfrm>
              <a:off x="2851847" y="2138168"/>
              <a:ext cx="622075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AU" sz="2000" dirty="0" smtClean="0">
                <a:solidFill>
                  <a:prstClr val="black"/>
                </a:solidFill>
              </a:endParaRPr>
            </a:p>
            <a:p>
              <a:pPr algn="ctr"/>
              <a:r>
                <a:rPr lang="en-AU" sz="2000" dirty="0" smtClean="0">
                  <a:solidFill>
                    <a:prstClr val="black"/>
                  </a:solidFill>
                </a:rPr>
                <a:t>Multiplication can be done </a:t>
              </a:r>
              <a:r>
                <a:rPr lang="en-AU" sz="2000" dirty="0" smtClean="0">
                  <a:solidFill>
                    <a:srgbClr val="FF0000"/>
                  </a:solidFill>
                </a:rPr>
                <a:t>in any order</a:t>
              </a:r>
              <a:r>
                <a:rPr lang="en-AU" sz="2000" dirty="0" smtClean="0">
                  <a:solidFill>
                    <a:prstClr val="black"/>
                  </a:solidFill>
                </a:rPr>
                <a:t> and the answer will be the same. </a:t>
              </a:r>
              <a:endParaRPr lang="en-AU" sz="2000" dirty="0">
                <a:solidFill>
                  <a:prstClr val="black"/>
                </a:solidFill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101014" y="2585881"/>
            <a:ext cx="28223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 smtClean="0">
              <a:solidFill>
                <a:srgbClr val="FF0000"/>
              </a:solidFill>
            </a:endParaRPr>
          </a:p>
          <a:p>
            <a:endParaRPr lang="en-AU" dirty="0" smtClean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 smtClean="0">
                <a:solidFill>
                  <a:srgbClr val="FF0000"/>
                </a:solidFill>
              </a:rPr>
              <a:t>Remember: The Distributive law</a:t>
            </a:r>
            <a:endParaRPr lang="en-AU" dirty="0">
              <a:solidFill>
                <a:srgbClr val="FF0000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2915816" y="4375837"/>
            <a:ext cx="6041535" cy="1963270"/>
            <a:chOff x="2835327" y="3165352"/>
            <a:chExt cx="6041535" cy="19632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998963" y="3165352"/>
                  <a:ext cx="5616624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𝑥𝑦</m:t>
                        </m:r>
                        <m:r>
                          <a:rPr lang="en-AU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×4</m:t>
                        </m:r>
                        <m:r>
                          <a:rPr lang="en-AU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AU" sz="2000" dirty="0" smtClean="0">
                    <a:solidFill>
                      <a:prstClr val="black"/>
                    </a:solidFill>
                    <a:ea typeface="Cambria Math" panose="02040503050406030204" pitchFamily="18" charset="0"/>
                  </a:endParaRPr>
                </a:p>
                <a:p>
                  <a:pPr algn="ctr"/>
                  <a:r>
                    <a:rPr lang="en-AU" sz="2000" dirty="0" smtClean="0">
                      <a:solidFill>
                        <a:prstClr val="black"/>
                      </a:solidFill>
                    </a:rPr>
                    <a:t>(This means </a:t>
                  </a:r>
                  <a14:m>
                    <m:oMath xmlns:m="http://schemas.openxmlformats.org/officeDocument/2006/math"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a14:m>
                  <a:r>
                    <a:rPr lang="en-AU" sz="2000" dirty="0" smtClean="0">
                      <a:solidFill>
                        <a:prstClr val="black"/>
                      </a:solidFill>
                    </a:rPr>
                    <a:t>)</a:t>
                  </a:r>
                  <a:endParaRPr lang="en-AU" sz="20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8963" y="3165352"/>
                  <a:ext cx="5616624" cy="707886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4655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/>
            <p:cNvSpPr txBox="1"/>
            <p:nvPr/>
          </p:nvSpPr>
          <p:spPr>
            <a:xfrm>
              <a:off x="2835327" y="3809264"/>
              <a:ext cx="604153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000" dirty="0" smtClean="0">
                  <a:solidFill>
                    <a:prstClr val="black"/>
                  </a:solidFill>
                </a:rPr>
                <a:t>Multiply the numbers first and then put the letters together.</a:t>
              </a:r>
              <a:endParaRPr lang="en-AU" sz="2000" dirty="0">
                <a:solidFill>
                  <a:prstClr val="black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3105306" y="4205292"/>
                  <a:ext cx="5760640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                                       </m:t>
                        </m:r>
                      </m:oMath>
                    </m:oMathPara>
                  </a14:m>
                  <a:endParaRPr lang="en-AU" i="1" dirty="0" smtClean="0">
                    <a:solidFill>
                      <a:prstClr val="black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AU" i="1" dirty="0" smtClean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r>
                    <a:rPr lang="en-AU" dirty="0" smtClean="0">
                      <a:solidFill>
                        <a:prstClr val="black"/>
                      </a:solidFill>
                    </a:rPr>
                    <a:t>                                       </a:t>
                  </a:r>
                  <a14:m>
                    <m:oMath xmlns:m="http://schemas.openxmlformats.org/officeDocument/2006/math">
                      <m:r>
                        <a:rPr lang="en-AU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=12</m:t>
                      </m:r>
                      <m:r>
                        <a:rPr lang="en-AU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𝑥𝑦𝑚</m:t>
                      </m:r>
                    </m:oMath>
                  </a14:m>
                  <a:endParaRPr lang="en-AU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5306" y="4205292"/>
                  <a:ext cx="5760640" cy="92333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TextBox 30"/>
          <p:cNvSpPr txBox="1"/>
          <p:nvPr/>
        </p:nvSpPr>
        <p:spPr>
          <a:xfrm>
            <a:off x="75315" y="2221164"/>
            <a:ext cx="2975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 smtClean="0">
              <a:solidFill>
                <a:prstClr val="black"/>
              </a:solidFill>
            </a:endParaRPr>
          </a:p>
          <a:p>
            <a:r>
              <a:rPr lang="en-AU" dirty="0" smtClean="0">
                <a:solidFill>
                  <a:prstClr val="black"/>
                </a:solidFill>
              </a:rPr>
              <a:t>What happens to the x sign?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2336" y="3303851"/>
            <a:ext cx="23042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 smtClean="0">
              <a:solidFill>
                <a:prstClr val="black"/>
              </a:solidFill>
            </a:endParaRPr>
          </a:p>
          <a:p>
            <a:endParaRPr lang="en-AU" dirty="0" smtClean="0">
              <a:solidFill>
                <a:prstClr val="black"/>
              </a:solidFill>
            </a:endParaRPr>
          </a:p>
          <a:p>
            <a:endParaRPr lang="en-AU" dirty="0">
              <a:solidFill>
                <a:prstClr val="black"/>
              </a:solidFill>
            </a:endParaRPr>
          </a:p>
          <a:p>
            <a:endParaRPr lang="en-AU" dirty="0" smtClean="0">
              <a:solidFill>
                <a:prstClr val="black"/>
              </a:solidFill>
            </a:endParaRPr>
          </a:p>
          <a:p>
            <a:r>
              <a:rPr lang="en-AU" dirty="0" smtClean="0">
                <a:solidFill>
                  <a:prstClr val="black"/>
                </a:solidFill>
              </a:rPr>
              <a:t>Examples:</a:t>
            </a:r>
            <a:endParaRPr lang="en-AU" dirty="0">
              <a:solidFill>
                <a:prstClr val="black"/>
              </a:solidFill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>
            <a:off x="6228184" y="0"/>
            <a:ext cx="0" cy="98072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31" y="1916832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30678" y="1916832"/>
            <a:ext cx="1231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</p:txBody>
      </p:sp>
    </p:spTree>
    <p:extLst>
      <p:ext uri="{BB962C8B-B14F-4D97-AF65-F5344CB8AC3E}">
        <p14:creationId xmlns:p14="http://schemas.microsoft.com/office/powerpoint/2010/main" val="388466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8642511" y="6277189"/>
            <a:ext cx="351768" cy="3693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2923247" y="0"/>
            <a:ext cx="7432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504" y="242116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30679" y="251067"/>
            <a:ext cx="622075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endParaRPr lang="en-AU" sz="1400" dirty="0" smtClean="0">
              <a:solidFill>
                <a:prstClr val="black"/>
              </a:solidFill>
            </a:endParaRPr>
          </a:p>
          <a:p>
            <a:r>
              <a:rPr lang="en-AU" sz="2400" dirty="0">
                <a:solidFill>
                  <a:prstClr val="black"/>
                </a:solidFill>
              </a:rPr>
              <a:t>	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9728" y="6231023"/>
            <a:ext cx="621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11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5" name="Control 1"/>
          <p:cNvSpPr>
            <a:spLocks noChangeArrowheads="1" noChangeShapeType="1"/>
          </p:cNvSpPr>
          <p:nvPr/>
        </p:nvSpPr>
        <p:spPr bwMode="auto">
          <a:xfrm>
            <a:off x="5481638" y="4022725"/>
            <a:ext cx="2165350" cy="3171825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endParaRPr lang="en-AU">
              <a:solidFill>
                <a:prstClr val="black"/>
              </a:solidFill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3023319" y="816181"/>
            <a:ext cx="6058815" cy="1737617"/>
            <a:chOff x="3042387" y="4878319"/>
            <a:chExt cx="5918489" cy="17376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3042387" y="4878319"/>
                  <a:ext cx="57606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dirty="0" smtClean="0">
                      <a:solidFill>
                        <a:prstClr val="black"/>
                      </a:solidFill>
                    </a:rPr>
                    <a:t>Something harder:  </a:t>
                  </a:r>
                  <a14:m>
                    <m:oMath xmlns:m="http://schemas.openxmlformats.org/officeDocument/2006/math">
                      <m:r>
                        <a:rPr lang="en-AU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  <m:r>
                        <a:rPr lang="en-AU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</m:t>
                      </m:r>
                      <m:r>
                        <a:rPr lang="en-AU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𝑥𝑦𝑧</m:t>
                      </m:r>
                    </m:oMath>
                  </a14:m>
                  <a:endParaRPr lang="en-AU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2387" y="4878319"/>
                  <a:ext cx="5760640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847" t="-8197" b="-24590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3069365" y="5369076"/>
                  <a:ext cx="58915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×3×2×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AU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9365" y="5369076"/>
                  <a:ext cx="5891511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3203848" y="6246604"/>
                  <a:ext cx="532859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=24</m:t>
                        </m:r>
                        <m:sSup>
                          <m:sSupPr>
                            <m:ctrlP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sSup>
                          <m:sSupPr>
                            <m:ctrlP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AU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3848" y="6246604"/>
                  <a:ext cx="5328592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3105305" y="5850576"/>
                  <a:ext cx="144186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AU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2=24</m:t>
                        </m:r>
                      </m:oMath>
                    </m:oMathPara>
                  </a14:m>
                  <a:endParaRPr lang="en-AU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5305" y="5850576"/>
                  <a:ext cx="1441863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4547169" y="5850576"/>
                  <a:ext cx="12844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AU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7169" y="5850576"/>
                  <a:ext cx="1284464" cy="369332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6015120" y="5836378"/>
                  <a:ext cx="10801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dirty="0" smtClean="0">
                      <a:solidFill>
                        <a:prstClr val="black"/>
                      </a:solidFill>
                    </a:rPr>
                    <a:t>Only 1 </a:t>
                  </a:r>
                  <a14:m>
                    <m:oMath xmlns:m="http://schemas.openxmlformats.org/officeDocument/2006/math">
                      <m:r>
                        <a:rPr lang="en-AU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endParaRPr lang="en-AU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5120" y="5836378"/>
                  <a:ext cx="1080120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l="-5085" t="-8197" b="-24590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7095240" y="5850576"/>
                  <a:ext cx="17077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AU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5240" y="5850576"/>
                  <a:ext cx="1707787" cy="369332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Arrow Connector 26"/>
            <p:cNvCxnSpPr/>
            <p:nvPr/>
          </p:nvCxnSpPr>
          <p:spPr>
            <a:xfrm flipV="1">
              <a:off x="4067944" y="5589240"/>
              <a:ext cx="479225" cy="26133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5403844" y="5643679"/>
              <a:ext cx="479225" cy="26133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H="1" flipV="1">
              <a:off x="7380312" y="5663824"/>
              <a:ext cx="339148" cy="19811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198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try these together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40363" y="1894808"/>
                <a:ext cx="75608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𝑏𝑐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  <m:r>
                        <a:rPr lang="en-AU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sz="2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63" y="1894808"/>
                <a:ext cx="7560840" cy="400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12371" y="3176417"/>
                <a:ext cx="7272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</m:t>
                      </m:r>
                      <m:r>
                        <a:rPr lang="en-AU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𝑦𝑧</m:t>
                      </m:r>
                    </m:oMath>
                  </m:oMathPara>
                </a14:m>
                <a:endParaRPr lang="en-AU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71" y="3176417"/>
                <a:ext cx="7272808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251"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0363" y="4427249"/>
                <a:ext cx="73448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AU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AU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n-AU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AU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63" y="4427249"/>
                <a:ext cx="7344816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7054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0" y="1340768"/>
            <a:ext cx="7704856" cy="8309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094215"/>
            <a:ext cx="8208746" cy="151216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37" y="3528634"/>
            <a:ext cx="7488832" cy="13675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37" y="4509120"/>
            <a:ext cx="7586601" cy="215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399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332656"/>
            <a:ext cx="8496944" cy="564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Tasks</a:t>
            </a:r>
          </a:p>
          <a:p>
            <a:pPr>
              <a:lnSpc>
                <a:spcPct val="150000"/>
              </a:lnSpc>
            </a:pPr>
            <a:r>
              <a:rPr lang="en-AU" sz="2000" dirty="0" smtClean="0"/>
              <a:t>4 Simplify each of these expressions by adding like terms</a:t>
            </a:r>
          </a:p>
          <a:p>
            <a:pPr marL="342900" indent="-342900">
              <a:lnSpc>
                <a:spcPct val="150000"/>
              </a:lnSpc>
              <a:buAutoNum type="alphaLcPeriod"/>
            </a:pPr>
            <a:r>
              <a:rPr lang="en-AU" i="1" dirty="0" smtClean="0"/>
              <a:t>2m + 5m		b. 4k + 7k			c. 2ab + 5ab</a:t>
            </a:r>
          </a:p>
          <a:p>
            <a:pPr marL="342900" indent="-342900">
              <a:lnSpc>
                <a:spcPct val="150000"/>
              </a:lnSpc>
              <a:buAutoNum type="alphaLcPeriod" startAt="4"/>
            </a:pPr>
            <a:r>
              <a:rPr lang="en-AU" i="1" dirty="0" smtClean="0"/>
              <a:t>5mn + 2nm		e. </a:t>
            </a:r>
            <a:r>
              <a:rPr lang="en-AU" i="1" dirty="0" err="1" smtClean="0"/>
              <a:t>xy</a:t>
            </a:r>
            <a:r>
              <a:rPr lang="en-AU" i="1" dirty="0" smtClean="0"/>
              <a:t> + </a:t>
            </a:r>
            <a:r>
              <a:rPr lang="en-AU" i="1" dirty="0" err="1" smtClean="0"/>
              <a:t>xy</a:t>
            </a:r>
            <a:r>
              <a:rPr lang="en-AU" i="1" dirty="0" smtClean="0"/>
              <a:t>			f. 3abc + 4abc + 2bac</a:t>
            </a:r>
            <a:endParaRPr lang="en-AU" i="1" dirty="0"/>
          </a:p>
          <a:p>
            <a:pPr marL="342900" indent="-342900">
              <a:lnSpc>
                <a:spcPct val="150000"/>
              </a:lnSpc>
              <a:buAutoNum type="alphaLcPeriod" startAt="4"/>
            </a:pPr>
            <a:endParaRPr lang="en-AU" i="1" dirty="0" smtClean="0"/>
          </a:p>
          <a:p>
            <a:pPr>
              <a:lnSpc>
                <a:spcPct val="150000"/>
              </a:lnSpc>
            </a:pPr>
            <a:r>
              <a:rPr lang="en-AU" sz="2000" dirty="0" smtClean="0"/>
              <a:t>5 Simplify these expressions by subtracting like terms</a:t>
            </a:r>
          </a:p>
          <a:p>
            <a:pPr>
              <a:lnSpc>
                <a:spcPct val="150000"/>
              </a:lnSpc>
            </a:pPr>
            <a:r>
              <a:rPr lang="en-AU" dirty="0" smtClean="0"/>
              <a:t> </a:t>
            </a:r>
            <a:r>
              <a:rPr lang="en-AU" i="1" dirty="0" smtClean="0"/>
              <a:t>a. 5m – 3m		b. 8d – 3d			c. 12mk – 7mk</a:t>
            </a:r>
          </a:p>
          <a:p>
            <a:pPr marL="342900" indent="-342900">
              <a:lnSpc>
                <a:spcPct val="150000"/>
              </a:lnSpc>
              <a:buAutoNum type="alphaLcPeriod" startAt="4"/>
            </a:pPr>
            <a:r>
              <a:rPr lang="en-AU" i="1" dirty="0" smtClean="0"/>
              <a:t>45abc – 12abc		e. 45fg – 13fg		f. 48mn – 29mn</a:t>
            </a:r>
          </a:p>
          <a:p>
            <a:pPr>
              <a:lnSpc>
                <a:spcPct val="150000"/>
              </a:lnSpc>
            </a:pPr>
            <a:endParaRPr lang="en-AU" i="1" dirty="0"/>
          </a:p>
          <a:p>
            <a:pPr>
              <a:lnSpc>
                <a:spcPct val="150000"/>
              </a:lnSpc>
            </a:pPr>
            <a:r>
              <a:rPr lang="en-AU" sz="2000" dirty="0" smtClean="0"/>
              <a:t>6 Simplify each of these by adding or subtracting like terms</a:t>
            </a:r>
          </a:p>
          <a:p>
            <a:pPr marL="342900" indent="-342900">
              <a:lnSpc>
                <a:spcPct val="150000"/>
              </a:lnSpc>
              <a:buAutoNum type="alphaLcPeriod"/>
            </a:pPr>
            <a:r>
              <a:rPr lang="en-AU" i="1" dirty="0" smtClean="0"/>
              <a:t>5m + 2m – 3m		b. 12a – 4a – 5a		c. 3x + 5x + 7x</a:t>
            </a:r>
          </a:p>
          <a:p>
            <a:pPr marL="342900" indent="-342900">
              <a:lnSpc>
                <a:spcPct val="150000"/>
              </a:lnSpc>
              <a:buAutoNum type="alphaLcPeriod" startAt="4"/>
            </a:pPr>
            <a:r>
              <a:rPr lang="en-AU" i="1" dirty="0" smtClean="0"/>
              <a:t>12f + 15f – 18f 		e. 8s</a:t>
            </a:r>
            <a:r>
              <a:rPr lang="en-AU" i="1" baseline="30000" dirty="0" smtClean="0"/>
              <a:t>2 </a:t>
            </a:r>
            <a:r>
              <a:rPr lang="en-AU" i="1" dirty="0" smtClean="0"/>
              <a:t> + 7s</a:t>
            </a:r>
            <a:r>
              <a:rPr lang="en-AU" i="1" baseline="30000" dirty="0" smtClean="0"/>
              <a:t>2</a:t>
            </a:r>
            <a:r>
              <a:rPr lang="en-AU" i="1" dirty="0" smtClean="0"/>
              <a:t> – 6s</a:t>
            </a:r>
            <a:r>
              <a:rPr lang="en-AU" i="1" baseline="30000" dirty="0" smtClean="0"/>
              <a:t>2		</a:t>
            </a:r>
            <a:r>
              <a:rPr lang="en-AU" i="1" dirty="0" smtClean="0"/>
              <a:t>f. 5mn + 6mn – 4nm</a:t>
            </a:r>
          </a:p>
          <a:p>
            <a:pPr marL="342900" indent="-342900">
              <a:lnSpc>
                <a:spcPct val="150000"/>
              </a:lnSpc>
              <a:buAutoNum type="alphaLcPeriod" startAt="7"/>
            </a:pPr>
            <a:r>
              <a:rPr lang="en-AU" i="1" dirty="0" smtClean="0"/>
              <a:t>3pq – 2pq + </a:t>
            </a:r>
            <a:r>
              <a:rPr lang="en-AU" i="1" dirty="0" err="1" smtClean="0"/>
              <a:t>pq</a:t>
            </a:r>
            <a:r>
              <a:rPr lang="en-AU" i="1" dirty="0" smtClean="0"/>
              <a:t>		h. 11abc + 3abc – 5abc 	</a:t>
            </a:r>
            <a:r>
              <a:rPr lang="en-AU" i="1" dirty="0" err="1" smtClean="0"/>
              <a:t>i</a:t>
            </a:r>
            <a:r>
              <a:rPr lang="en-AU" i="1" dirty="0" smtClean="0"/>
              <a:t>. 8p – 3p – 5p  </a:t>
            </a:r>
          </a:p>
        </p:txBody>
      </p:sp>
    </p:spTree>
    <p:extLst>
      <p:ext uri="{BB962C8B-B14F-4D97-AF65-F5344CB8AC3E}">
        <p14:creationId xmlns:p14="http://schemas.microsoft.com/office/powerpoint/2010/main" val="1792849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52120" y="24987"/>
            <a:ext cx="5760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solidFill>
                  <a:prstClr val="black"/>
                </a:solidFill>
              </a:rPr>
              <a:t>24</a:t>
            </a:r>
          </a:p>
          <a:p>
            <a:r>
              <a:rPr lang="en-AU" sz="2000" dirty="0" smtClean="0">
                <a:solidFill>
                  <a:prstClr val="black"/>
                </a:solidFill>
              </a:rPr>
              <a:t>7</a:t>
            </a:r>
          </a:p>
          <a:p>
            <a:r>
              <a:rPr lang="en-AU" sz="2000" dirty="0" smtClean="0">
                <a:solidFill>
                  <a:prstClr val="black"/>
                </a:solidFill>
              </a:rPr>
              <a:t>30</a:t>
            </a:r>
            <a:endParaRPr lang="en-AU" sz="2000" dirty="0">
              <a:solidFill>
                <a:prstClr val="black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4941168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83588" y="465911"/>
            <a:ext cx="2860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Date: 5/5/15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37330"/>
            <a:ext cx="49913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200" dirty="0" smtClean="0">
                <a:solidFill>
                  <a:prstClr val="black"/>
                </a:solidFill>
              </a:rPr>
              <a:t>Title: Simplifying Expressions with division</a:t>
            </a:r>
            <a:endParaRPr lang="en-AU" sz="2200" dirty="0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EQ – How do I simplify if the terms are divided? </a:t>
            </a:r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622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>
                    <a:solidFill>
                      <a:prstClr val="black"/>
                    </a:solidFill>
                  </a:rPr>
                  <a:t>Thus:                              </a:t>
                </a:r>
                <a14:m>
                  <m:oMath xmlns:m="http://schemas.openxmlformats.org/officeDocument/2006/math">
                    <m:r>
                      <a:rPr lang="en-AU" sz="24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622286"/>
              </a:xfrm>
              <a:prstGeom prst="rect">
                <a:avLst/>
              </a:prstGeom>
              <a:blipFill rotWithShape="0">
                <a:blip r:embed="rId2"/>
                <a:stretch>
                  <a:fillRect l="-8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209" y="2312016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>
                    <a:solidFill>
                      <a:prstClr val="black"/>
                    </a:solidFill>
                  </a:rPr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prstClr val="black"/>
                    </a:solidFill>
                  </a:rPr>
                  <a:t> sign?</a:t>
                </a:r>
                <a:endParaRPr lang="en-AU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" y="2312016"/>
                <a:ext cx="2975893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844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Examples: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1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412623" y="454477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2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463640" y="539418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3</a:t>
            </a:r>
            <a:endParaRPr lang="en-AU" dirty="0">
              <a:solidFill>
                <a:prstClr val="black"/>
              </a:solidFill>
            </a:endParaRPr>
          </a:p>
        </p:txBody>
      </p:sp>
      <p:cxnSp>
        <p:nvCxnSpPr>
          <p:cNvPr id="57" name="Straight Connector 56"/>
          <p:cNvCxnSpPr/>
          <p:nvPr/>
        </p:nvCxnSpPr>
        <p:spPr>
          <a:xfrm>
            <a:off x="6228184" y="0"/>
            <a:ext cx="0" cy="980728"/>
          </a:xfrm>
          <a:prstGeom prst="line">
            <a:avLst/>
          </a:prstGeom>
          <a:noFill/>
          <a:ln w="12700" cap="flat" cmpd="sng" algn="ctr">
            <a:solidFill>
              <a:srgbClr val="2683C6"/>
            </a:solidFill>
            <a:prstDash val="solid"/>
          </a:ln>
          <a:effectLst/>
        </p:spPr>
      </p:cxnSp>
      <p:grpSp>
        <p:nvGrpSpPr>
          <p:cNvPr id="13" name="Group 12"/>
          <p:cNvGrpSpPr/>
          <p:nvPr/>
        </p:nvGrpSpPr>
        <p:grpSpPr>
          <a:xfrm>
            <a:off x="0" y="1889414"/>
            <a:ext cx="8875036" cy="4508891"/>
            <a:chOff x="0" y="1889414"/>
            <a:chExt cx="8875036" cy="45088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/>
                <p:cNvSpPr txBox="1"/>
                <p:nvPr/>
              </p:nvSpPr>
              <p:spPr>
                <a:xfrm>
                  <a:off x="3042388" y="1939315"/>
                  <a:ext cx="5832648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</m:t>
                        </m:r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AU" dirty="0" smtClean="0">
                    <a:solidFill>
                      <a:prstClr val="black"/>
                    </a:solidFill>
                    <a:ea typeface="Cambria Math" panose="02040503050406030204" pitchFamily="18" charset="0"/>
                  </a:endParaRPr>
                </a:p>
                <a:p>
                  <a:pPr algn="ctr"/>
                  <a:r>
                    <a:rPr lang="en-AU" dirty="0" smtClean="0">
                      <a:solidFill>
                        <a:prstClr val="black"/>
                      </a:solidFill>
                    </a:rPr>
                    <a:t>When dividing we use a fraction line instead of </a:t>
                  </a:r>
                  <a14:m>
                    <m:oMath xmlns:m="http://schemas.openxmlformats.org/officeDocument/2006/math">
                      <m:r>
                        <a:rPr lang="en-AU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</m:oMath>
                  </a14:m>
                  <a:endParaRPr lang="en-AU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TextBox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2388" y="1939315"/>
                  <a:ext cx="5832648" cy="646331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4151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5284079" y="3197819"/>
                  <a:ext cx="1095107" cy="6182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𝑘𝑛</m:t>
                            </m:r>
                          </m:num>
                          <m:den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AU" dirty="0" smtClean="0">
                    <a:solidFill>
                      <a:prstClr val="black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4079" y="3197819"/>
                  <a:ext cx="1095107" cy="61824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/>
            <p:cNvSpPr txBox="1"/>
            <p:nvPr/>
          </p:nvSpPr>
          <p:spPr>
            <a:xfrm>
              <a:off x="3419872" y="3284984"/>
              <a:ext cx="1296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>
                  <a:solidFill>
                    <a:prstClr val="black"/>
                  </a:solidFill>
                </a:rPr>
                <a:t>Divide by 2</a:t>
              </a:r>
              <a:endParaRPr lang="en-AU" dirty="0">
                <a:solidFill>
                  <a:prstClr val="black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5004048" y="3180409"/>
                  <a:ext cx="27304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÷2</m:t>
                        </m:r>
                      </m:oMath>
                    </m:oMathPara>
                  </a14:m>
                  <a:endParaRPr lang="en-AU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4048" y="3180409"/>
                  <a:ext cx="273045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r="-88889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5003463" y="3459759"/>
                  <a:ext cx="27304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÷2</m:t>
                        </m:r>
                      </m:oMath>
                    </m:oMathPara>
                  </a14:m>
                  <a:endParaRPr lang="en-AU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3463" y="3459759"/>
                  <a:ext cx="273045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r="-88889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TextBox 32"/>
            <p:cNvSpPr txBox="1"/>
            <p:nvPr/>
          </p:nvSpPr>
          <p:spPr>
            <a:xfrm>
              <a:off x="6803662" y="3275093"/>
              <a:ext cx="1296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>
                  <a:solidFill>
                    <a:prstClr val="black"/>
                  </a:solidFill>
                </a:rPr>
                <a:t>Cancel out</a:t>
              </a:r>
              <a:endParaRPr lang="en-AU" dirty="0">
                <a:solidFill>
                  <a:prstClr val="black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6099155" y="3175142"/>
                  <a:ext cx="27304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</m:t>
                        </m:r>
                        <m: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AU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9155" y="3175142"/>
                  <a:ext cx="273045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r="-88636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6099154" y="3456818"/>
                  <a:ext cx="27304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</m:t>
                        </m:r>
                        <m: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AU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9154" y="3456818"/>
                  <a:ext cx="273045" cy="369332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r="-88636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Connector 36"/>
            <p:cNvCxnSpPr>
              <a:endCxn id="12" idx="0"/>
            </p:cNvCxnSpPr>
            <p:nvPr/>
          </p:nvCxnSpPr>
          <p:spPr>
            <a:xfrm flipV="1">
              <a:off x="5643456" y="3197819"/>
              <a:ext cx="188177" cy="30912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5669132" y="3555215"/>
              <a:ext cx="188177" cy="30912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V="1">
              <a:off x="5903406" y="3183621"/>
              <a:ext cx="188177" cy="30912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V="1">
              <a:off x="5794758" y="3571448"/>
              <a:ext cx="188177" cy="30912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5439537" y="3658095"/>
              <a:ext cx="1831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>
                  <a:solidFill>
                    <a:prstClr val="black"/>
                  </a:solidFill>
                </a:rPr>
                <a:t>2</a:t>
              </a:r>
              <a:endParaRPr lang="en-AU" dirty="0">
                <a:solidFill>
                  <a:prstClr val="black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5419462" y="4030685"/>
                  <a:ext cx="648072" cy="6347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AU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9462" y="4030685"/>
                  <a:ext cx="648072" cy="634789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6334472" y="3986014"/>
                  <a:ext cx="24308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AU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𝑚𝑒𝑎𝑛𝑠</m:t>
                        </m:r>
                        <m:r>
                          <a:rPr lang="en-AU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1</m:t>
                        </m:r>
                        <m:r>
                          <a:rPr lang="en-AU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AU" sz="1400" dirty="0" smtClean="0">
                    <a:solidFill>
                      <a:srgbClr val="FF0000"/>
                    </a:solidFill>
                  </a:endParaRPr>
                </a:p>
                <a:p>
                  <a:pPr algn="ctr"/>
                  <a:r>
                    <a:rPr lang="en-AU" sz="1400" dirty="0" smtClean="0">
                      <a:solidFill>
                        <a:srgbClr val="FF0000"/>
                      </a:solidFill>
                    </a:rPr>
                    <a:t>We don’t need to write the 1</a:t>
                  </a:r>
                  <a:endParaRPr lang="en-AU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4472" y="3986014"/>
                  <a:ext cx="2430828" cy="523220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 b="-10465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5379675" y="4799767"/>
                  <a:ext cx="903914" cy="6347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num>
                          <m:den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𝑎𝑐</m:t>
                            </m:r>
                          </m:den>
                        </m:f>
                      </m:oMath>
                    </m:oMathPara>
                  </a14:m>
                  <a:endParaRPr lang="en-AU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9675" y="4799767"/>
                  <a:ext cx="903914" cy="634789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TextBox 45"/>
            <p:cNvSpPr txBox="1"/>
            <p:nvPr/>
          </p:nvSpPr>
          <p:spPr>
            <a:xfrm>
              <a:off x="3275856" y="4941168"/>
              <a:ext cx="1271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>
                  <a:solidFill>
                    <a:prstClr val="black"/>
                  </a:solidFill>
                </a:rPr>
                <a:t>Divide by 5</a:t>
              </a:r>
              <a:endParaRPr lang="en-AU" dirty="0">
                <a:solidFill>
                  <a:prstClr val="black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5003148" y="4799767"/>
                  <a:ext cx="27304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÷5</m:t>
                        </m:r>
                      </m:oMath>
                    </m:oMathPara>
                  </a14:m>
                  <a:endParaRPr lang="en-AU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3148" y="4799767"/>
                  <a:ext cx="273045" cy="369332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r="-91111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5003147" y="5171693"/>
                  <a:ext cx="27304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÷5</m:t>
                        </m:r>
                      </m:oMath>
                    </m:oMathPara>
                  </a14:m>
                  <a:endParaRPr lang="en-AU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3147" y="5171693"/>
                  <a:ext cx="273045" cy="369332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 r="-91111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/>
            <p:cNvSpPr txBox="1"/>
            <p:nvPr/>
          </p:nvSpPr>
          <p:spPr>
            <a:xfrm>
              <a:off x="6901814" y="4881062"/>
              <a:ext cx="1296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>
                  <a:solidFill>
                    <a:prstClr val="black"/>
                  </a:solidFill>
                </a:rPr>
                <a:t>Cancel out </a:t>
              </a:r>
              <a:endParaRPr lang="en-AU" dirty="0">
                <a:solidFill>
                  <a:prstClr val="black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6165314" y="4793218"/>
                  <a:ext cx="27304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</m:t>
                        </m:r>
                        <m: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AU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5314" y="4793218"/>
                  <a:ext cx="273045" cy="369332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 r="-82222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6165314" y="5094736"/>
                  <a:ext cx="27304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</m:t>
                        </m:r>
                        <m: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AU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5314" y="5094736"/>
                  <a:ext cx="273045" cy="369332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 r="-82222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Connector 51"/>
            <p:cNvCxnSpPr/>
            <p:nvPr/>
          </p:nvCxnSpPr>
          <p:spPr>
            <a:xfrm flipV="1">
              <a:off x="5622645" y="4831821"/>
              <a:ext cx="188177" cy="30912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V="1">
              <a:off x="5606581" y="5163393"/>
              <a:ext cx="188177" cy="30912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V="1">
              <a:off x="5809317" y="4813954"/>
              <a:ext cx="188177" cy="30912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V="1">
              <a:off x="5794006" y="5144413"/>
              <a:ext cx="188177" cy="30912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4932040" y="5763516"/>
                  <a:ext cx="1233274" cy="6347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AU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oMath>
                    </m:oMathPara>
                  </a14:m>
                  <a:endParaRPr lang="en-AU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2040" y="5763516"/>
                  <a:ext cx="1233274" cy="634789"/>
                </a:xfrm>
                <a:prstGeom prst="rect">
                  <a:avLst/>
                </a:prstGeom>
                <a:blipFill rotWithShape="0"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TextBox 59"/>
            <p:cNvSpPr txBox="1"/>
            <p:nvPr/>
          </p:nvSpPr>
          <p:spPr>
            <a:xfrm>
              <a:off x="0" y="1889414"/>
              <a:ext cx="29158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22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Question: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2915816" y="1916832"/>
            <a:ext cx="14401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 smtClean="0"/>
              <a:t>Notes:</a:t>
            </a:r>
            <a:endParaRPr lang="en-AU" sz="22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8460431" y="6398305"/>
            <a:ext cx="683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5452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try these together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08517" y="1848042"/>
                <a:ext cx="7560840" cy="735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  <m:sSup>
                            <m:sSupPr>
                              <m:ctrlPr>
                                <a:rPr lang="en-AU" sz="20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0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0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2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AU" sz="2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AU" sz="2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𝑥𝑧</m:t>
                          </m:r>
                        </m:den>
                      </m:f>
                    </m:oMath>
                  </m:oMathPara>
                </a14:m>
                <a:endParaRPr lang="en-AU" sz="2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17" y="1848042"/>
                <a:ext cx="7560840" cy="73513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08517" y="3573695"/>
                <a:ext cx="2880320" cy="66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  <m:sSup>
                            <m:sSupPr>
                              <m:ctrlPr>
                                <a:rPr lang="en-AU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AU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AU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AU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17" y="3573695"/>
                <a:ext cx="2880320" cy="66499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08517" y="5229200"/>
                <a:ext cx="2520280" cy="665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−5</m:t>
                          </m:r>
                          <m:r>
                            <a:rPr lang="en-AU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AU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AU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17" y="5229200"/>
                <a:ext cx="2520280" cy="6656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809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592" y="1417638"/>
            <a:ext cx="7128792" cy="110951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22" y="2513559"/>
            <a:ext cx="7191470" cy="221158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5109586"/>
            <a:ext cx="7920880" cy="101444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8922" y="4581128"/>
            <a:ext cx="2438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Enrichment:</a:t>
            </a:r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9332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705940" y="190625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solidFill>
                  <a:prstClr val="black"/>
                </a:solidFill>
              </a:rPr>
              <a:t>24</a:t>
            </a:r>
          </a:p>
          <a:p>
            <a:r>
              <a:rPr lang="en-AU" sz="1600" dirty="0" smtClean="0">
                <a:solidFill>
                  <a:prstClr val="black"/>
                </a:solidFill>
              </a:rPr>
              <a:t>7</a:t>
            </a:r>
          </a:p>
          <a:p>
            <a:r>
              <a:rPr lang="en-AU" sz="1600" dirty="0" smtClean="0">
                <a:solidFill>
                  <a:prstClr val="black"/>
                </a:solidFill>
              </a:rPr>
              <a:t>30</a:t>
            </a:r>
            <a:endParaRPr lang="en-AU" sz="1600" dirty="0">
              <a:solidFill>
                <a:prstClr val="black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7543" cy="4941168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28184" y="519064"/>
            <a:ext cx="2808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Date: 07/05/15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54029" y="536252"/>
            <a:ext cx="6174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Title: Expanding Brackets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EQ – Describe how we use the distributive law to expand brackets 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33154" y="2348918"/>
            <a:ext cx="5832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000" dirty="0">
              <a:solidFill>
                <a:prstClr val="black"/>
              </a:solidFill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>
            <a:off x="6228184" y="0"/>
            <a:ext cx="0" cy="98072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31" y="1916832"/>
            <a:ext cx="29158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</a:p>
          <a:p>
            <a:r>
              <a:rPr lang="en-AU" sz="2200" dirty="0" smtClean="0">
                <a:solidFill>
                  <a:prstClr val="black"/>
                </a:solidFill>
              </a:rPr>
              <a:t>Describe what is meant by the “Distributive Law” </a:t>
            </a:r>
            <a:endParaRPr lang="en-AU" sz="2200" dirty="0">
              <a:solidFill>
                <a:prstClr val="black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12618" y="1916831"/>
            <a:ext cx="623881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/>
              <a:t>The </a:t>
            </a:r>
            <a:r>
              <a:rPr lang="en-AU" sz="2400" dirty="0"/>
              <a:t>"Distributive Law" is written as:</a:t>
            </a:r>
          </a:p>
          <a:p>
            <a:r>
              <a:rPr lang="pt-B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	a × (b + c)  =  a × b  +  a × c </a:t>
            </a:r>
            <a:endParaRPr lang="pt-BR" sz="24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pt-BR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pt-BR" sz="2400" dirty="0"/>
              <a:t>It means</a:t>
            </a:r>
          </a:p>
          <a:p>
            <a:endParaRPr lang="pt-BR" sz="24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pt-BR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pt-BR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AU" sz="2400" dirty="0" smtClean="0"/>
              <a:t>3 </a:t>
            </a:r>
            <a:r>
              <a:rPr lang="en-AU" sz="2400" dirty="0"/>
              <a:t>lots of </a:t>
            </a:r>
            <a:r>
              <a:rPr lang="en-AU" sz="2400" b="1" dirty="0"/>
              <a:t>(2+4)</a:t>
            </a:r>
            <a:r>
              <a:rPr lang="en-AU" sz="2400" dirty="0"/>
              <a:t> is the same as </a:t>
            </a:r>
            <a:r>
              <a:rPr lang="en-AU" sz="2400" b="1" dirty="0"/>
              <a:t>3 lots of 2</a:t>
            </a:r>
            <a:r>
              <a:rPr lang="en-AU" sz="2400" dirty="0"/>
              <a:t> plus </a:t>
            </a:r>
            <a:r>
              <a:rPr lang="en-AU" sz="2400" b="1" dirty="0"/>
              <a:t>3 lots of 4</a:t>
            </a:r>
            <a:endParaRPr lang="en-AU" sz="2400" dirty="0"/>
          </a:p>
          <a:p>
            <a:endParaRPr lang="en-AU" sz="2400" dirty="0" smtClean="0">
              <a:solidFill>
                <a:prstClr val="black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501" y="3887500"/>
            <a:ext cx="3249450" cy="99983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187" y="6315469"/>
            <a:ext cx="713294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72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flipH="1">
            <a:off x="2923247" y="0"/>
            <a:ext cx="7432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504" y="242116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30679" y="251067"/>
            <a:ext cx="5385737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endParaRPr lang="en-AU" sz="1400" dirty="0" smtClean="0">
              <a:solidFill>
                <a:prstClr val="black"/>
              </a:solidFill>
            </a:endParaRPr>
          </a:p>
          <a:p>
            <a:r>
              <a:rPr lang="en-AU" sz="2400" dirty="0" smtClean="0">
                <a:solidFill>
                  <a:prstClr val="black"/>
                </a:solidFill>
              </a:rPr>
              <a:t>The distributive law states that</a:t>
            </a:r>
          </a:p>
          <a:p>
            <a:r>
              <a:rPr lang="en-AU" sz="2400" dirty="0">
                <a:solidFill>
                  <a:prstClr val="black"/>
                </a:solidFill>
              </a:rPr>
              <a:t>	</a:t>
            </a:r>
            <a:endParaRPr lang="en-AU" sz="2400" dirty="0" smtClean="0">
              <a:solidFill>
                <a:prstClr val="black"/>
              </a:solidFill>
            </a:endParaRPr>
          </a:p>
          <a:p>
            <a:endParaRPr lang="en-AU" sz="2400" dirty="0" smtClean="0">
              <a:solidFill>
                <a:prstClr val="black"/>
              </a:solidFill>
            </a:endParaRPr>
          </a:p>
          <a:p>
            <a:r>
              <a:rPr lang="en-AU" sz="2400" i="1" dirty="0">
                <a:solidFill>
                  <a:prstClr val="black"/>
                </a:solidFill>
              </a:rPr>
              <a:t>	</a:t>
            </a:r>
            <a:r>
              <a:rPr lang="en-AU" sz="2400" i="1" dirty="0" smtClean="0">
                <a:solidFill>
                  <a:srgbClr val="0070C0"/>
                </a:solidFill>
              </a:rPr>
              <a:t>a(</a:t>
            </a:r>
            <a:r>
              <a:rPr lang="en-AU" sz="2400" i="1" dirty="0" err="1" smtClean="0">
                <a:solidFill>
                  <a:srgbClr val="0070C0"/>
                </a:solidFill>
              </a:rPr>
              <a:t>b+c</a:t>
            </a:r>
            <a:r>
              <a:rPr lang="en-AU" sz="2400" i="1" dirty="0" smtClean="0">
                <a:solidFill>
                  <a:srgbClr val="0070C0"/>
                </a:solidFill>
              </a:rPr>
              <a:t>)	 	= a x b + a x c </a:t>
            </a:r>
          </a:p>
          <a:p>
            <a:r>
              <a:rPr lang="en-AU" sz="2400" i="1" dirty="0">
                <a:solidFill>
                  <a:srgbClr val="0070C0"/>
                </a:solidFill>
              </a:rPr>
              <a:t>	</a:t>
            </a:r>
            <a:r>
              <a:rPr lang="en-AU" sz="2400" i="1" dirty="0" smtClean="0">
                <a:solidFill>
                  <a:srgbClr val="0070C0"/>
                </a:solidFill>
              </a:rPr>
              <a:t>	 	= ab + ac </a:t>
            </a:r>
          </a:p>
          <a:p>
            <a:endParaRPr lang="en-AU" sz="1400" dirty="0" smtClean="0">
              <a:solidFill>
                <a:prstClr val="black"/>
              </a:solidFill>
            </a:endParaRPr>
          </a:p>
          <a:p>
            <a:endParaRPr lang="en-AU" sz="1400" dirty="0">
              <a:solidFill>
                <a:prstClr val="black"/>
              </a:solidFill>
            </a:endParaRPr>
          </a:p>
          <a:p>
            <a:endParaRPr lang="en-AU" sz="1400" dirty="0" smtClean="0">
              <a:solidFill>
                <a:prstClr val="black"/>
              </a:solidFill>
            </a:endParaRPr>
          </a:p>
          <a:p>
            <a:r>
              <a:rPr lang="en-AU" sz="2400" dirty="0">
                <a:solidFill>
                  <a:prstClr val="black"/>
                </a:solidFill>
              </a:rPr>
              <a:t>	</a:t>
            </a:r>
            <a:r>
              <a:rPr lang="en-AU" sz="2400" i="1" dirty="0" smtClean="0">
                <a:solidFill>
                  <a:srgbClr val="0070C0"/>
                </a:solidFill>
              </a:rPr>
              <a:t>a(b-c</a:t>
            </a:r>
            <a:r>
              <a:rPr lang="en-AU" sz="2400" i="1" dirty="0">
                <a:solidFill>
                  <a:srgbClr val="0070C0"/>
                </a:solidFill>
              </a:rPr>
              <a:t>)	 </a:t>
            </a:r>
            <a:r>
              <a:rPr lang="en-AU" sz="2400" i="1" dirty="0" smtClean="0">
                <a:solidFill>
                  <a:srgbClr val="0070C0"/>
                </a:solidFill>
              </a:rPr>
              <a:t>	= </a:t>
            </a:r>
            <a:r>
              <a:rPr lang="en-AU" sz="2400" i="1" dirty="0">
                <a:solidFill>
                  <a:srgbClr val="0070C0"/>
                </a:solidFill>
              </a:rPr>
              <a:t>a x b </a:t>
            </a:r>
            <a:r>
              <a:rPr lang="en-AU" sz="2400" i="1" dirty="0" smtClean="0">
                <a:solidFill>
                  <a:srgbClr val="0070C0"/>
                </a:solidFill>
              </a:rPr>
              <a:t>- </a:t>
            </a:r>
            <a:r>
              <a:rPr lang="en-AU" sz="2400" i="1" dirty="0">
                <a:solidFill>
                  <a:srgbClr val="0070C0"/>
                </a:solidFill>
              </a:rPr>
              <a:t>a x c </a:t>
            </a:r>
          </a:p>
          <a:p>
            <a:r>
              <a:rPr lang="en-AU" sz="2400" i="1" dirty="0">
                <a:solidFill>
                  <a:srgbClr val="0070C0"/>
                </a:solidFill>
              </a:rPr>
              <a:t>		</a:t>
            </a:r>
            <a:r>
              <a:rPr lang="en-AU" sz="2400" i="1" dirty="0" smtClean="0">
                <a:solidFill>
                  <a:srgbClr val="0070C0"/>
                </a:solidFill>
              </a:rPr>
              <a:t>	 </a:t>
            </a:r>
            <a:r>
              <a:rPr lang="en-AU" sz="2400" i="1" dirty="0">
                <a:solidFill>
                  <a:srgbClr val="0070C0"/>
                </a:solidFill>
              </a:rPr>
              <a:t>= ab </a:t>
            </a:r>
            <a:r>
              <a:rPr lang="en-AU" sz="2400" i="1" dirty="0" smtClean="0">
                <a:solidFill>
                  <a:srgbClr val="0070C0"/>
                </a:solidFill>
              </a:rPr>
              <a:t>- </a:t>
            </a:r>
            <a:r>
              <a:rPr lang="en-AU" sz="2400" i="1" dirty="0">
                <a:solidFill>
                  <a:srgbClr val="0070C0"/>
                </a:solidFill>
              </a:rPr>
              <a:t>ac </a:t>
            </a:r>
            <a:endParaRPr lang="en-AU" sz="2400" i="1" dirty="0" smtClean="0">
              <a:solidFill>
                <a:srgbClr val="0070C0"/>
              </a:solidFill>
            </a:endParaRPr>
          </a:p>
          <a:p>
            <a:r>
              <a:rPr lang="en-AU" sz="2200" dirty="0" smtClean="0"/>
              <a:t>Examples:</a:t>
            </a:r>
          </a:p>
          <a:p>
            <a:r>
              <a:rPr lang="en-AU" sz="2200" dirty="0"/>
              <a:t>	</a:t>
            </a:r>
            <a:r>
              <a:rPr lang="en-AU" sz="2200" dirty="0" smtClean="0"/>
              <a:t>9(a + 7) 	= 9 x a + 9 x 7</a:t>
            </a:r>
          </a:p>
          <a:p>
            <a:r>
              <a:rPr lang="en-AU" sz="2200" dirty="0"/>
              <a:t>	</a:t>
            </a:r>
            <a:r>
              <a:rPr lang="en-AU" sz="2200" dirty="0" smtClean="0"/>
              <a:t>		= 9a + 63</a:t>
            </a:r>
          </a:p>
          <a:p>
            <a:endParaRPr lang="en-AU" sz="2200" dirty="0" smtClean="0"/>
          </a:p>
          <a:p>
            <a:r>
              <a:rPr lang="en-AU" sz="2200" dirty="0"/>
              <a:t>	</a:t>
            </a:r>
            <a:r>
              <a:rPr lang="en-AU" sz="2200" dirty="0" smtClean="0"/>
              <a:t>8(m – 10)	= 8 x m – 8 x 10</a:t>
            </a:r>
          </a:p>
          <a:p>
            <a:r>
              <a:rPr lang="en-AU" sz="2200" dirty="0"/>
              <a:t>	</a:t>
            </a:r>
            <a:r>
              <a:rPr lang="en-AU" sz="2200" dirty="0" smtClean="0"/>
              <a:t>		= 8m - 80</a:t>
            </a:r>
            <a:endParaRPr lang="en-AU" sz="2200" dirty="0"/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5" name="Control 1"/>
          <p:cNvSpPr>
            <a:spLocks noChangeArrowheads="1" noChangeShapeType="1"/>
          </p:cNvSpPr>
          <p:nvPr/>
        </p:nvSpPr>
        <p:spPr bwMode="auto">
          <a:xfrm>
            <a:off x="5481638" y="4022725"/>
            <a:ext cx="2165350" cy="3171825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endParaRPr lang="en-AU">
              <a:solidFill>
                <a:prstClr val="black"/>
              </a:solidFill>
            </a:endParaRPr>
          </a:p>
        </p:txBody>
      </p:sp>
      <p:sp>
        <p:nvSpPr>
          <p:cNvPr id="6" name="Curved Down Arrow 5"/>
          <p:cNvSpPr/>
          <p:nvPr/>
        </p:nvSpPr>
        <p:spPr>
          <a:xfrm>
            <a:off x="4031940" y="1565743"/>
            <a:ext cx="288032" cy="216024"/>
          </a:xfrm>
          <a:prstGeom prst="curvedDownArrow">
            <a:avLst/>
          </a:prstGeom>
          <a:solidFill>
            <a:srgbClr val="CC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7" name="Curved Down Arrow 6"/>
          <p:cNvSpPr/>
          <p:nvPr/>
        </p:nvSpPr>
        <p:spPr>
          <a:xfrm>
            <a:off x="3970987" y="2793675"/>
            <a:ext cx="648072" cy="432048"/>
          </a:xfrm>
          <a:prstGeom prst="curvedDownArrow">
            <a:avLst/>
          </a:prstGeom>
          <a:solidFill>
            <a:srgbClr val="C0000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9" name="Curved Down Arrow 18"/>
          <p:cNvSpPr/>
          <p:nvPr/>
        </p:nvSpPr>
        <p:spPr>
          <a:xfrm>
            <a:off x="4006991" y="2997208"/>
            <a:ext cx="288032" cy="216024"/>
          </a:xfrm>
          <a:prstGeom prst="curvedDownArrow">
            <a:avLst/>
          </a:prstGeom>
          <a:solidFill>
            <a:srgbClr val="CC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0" name="Curved Down Arrow 19"/>
          <p:cNvSpPr/>
          <p:nvPr/>
        </p:nvSpPr>
        <p:spPr>
          <a:xfrm>
            <a:off x="3973876" y="1349719"/>
            <a:ext cx="648072" cy="432048"/>
          </a:xfrm>
          <a:prstGeom prst="curvedDownArrow">
            <a:avLst/>
          </a:prstGeom>
          <a:solidFill>
            <a:srgbClr val="C0000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504" y="836712"/>
            <a:ext cx="26642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How do we use the distributive law to expand brackets?</a:t>
            </a:r>
            <a:endParaRPr lang="en-AU" sz="2200" dirty="0"/>
          </a:p>
        </p:txBody>
      </p:sp>
      <p:sp>
        <p:nvSpPr>
          <p:cNvPr id="3" name="TextBox 2"/>
          <p:cNvSpPr txBox="1"/>
          <p:nvPr/>
        </p:nvSpPr>
        <p:spPr>
          <a:xfrm>
            <a:off x="8639944" y="648866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07112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705940" y="190625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solidFill>
                  <a:prstClr val="black"/>
                </a:solidFill>
              </a:rPr>
              <a:t>24</a:t>
            </a:r>
          </a:p>
          <a:p>
            <a:r>
              <a:rPr lang="en-AU" sz="1600" dirty="0" smtClean="0">
                <a:solidFill>
                  <a:prstClr val="black"/>
                </a:solidFill>
              </a:rPr>
              <a:t>7</a:t>
            </a:r>
          </a:p>
          <a:p>
            <a:r>
              <a:rPr lang="en-AU" sz="1600" dirty="0" smtClean="0">
                <a:solidFill>
                  <a:prstClr val="black"/>
                </a:solidFill>
              </a:rPr>
              <a:t>30</a:t>
            </a:r>
            <a:endParaRPr lang="en-AU" sz="1600" dirty="0">
              <a:solidFill>
                <a:prstClr val="black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7543" cy="4941168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28184" y="519064"/>
            <a:ext cx="2808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Date</a:t>
            </a:r>
            <a:r>
              <a:rPr lang="en-AU" sz="2400" smtClean="0">
                <a:solidFill>
                  <a:prstClr val="black"/>
                </a:solidFill>
              </a:rPr>
              <a:t>: 19/05/15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54029" y="536252"/>
            <a:ext cx="63360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>
                <a:solidFill>
                  <a:prstClr val="black"/>
                </a:solidFill>
              </a:rPr>
              <a:t>Title: Expanding Brackets and Collecting like terms</a:t>
            </a:r>
            <a:endParaRPr lang="en-AU" sz="2200" dirty="0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EQ – Describe the two step process to expand and then collect like terms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33154" y="2348918"/>
            <a:ext cx="5832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000" dirty="0">
              <a:solidFill>
                <a:prstClr val="black"/>
              </a:solidFill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>
            <a:off x="6228184" y="0"/>
            <a:ext cx="0" cy="98072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31" y="1916832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12618" y="1916831"/>
            <a:ext cx="623881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r>
              <a:rPr lang="en-AU" sz="2200" dirty="0" smtClean="0">
                <a:solidFill>
                  <a:prstClr val="black"/>
                </a:solidFill>
              </a:rPr>
              <a:t>Using the example:</a:t>
            </a:r>
          </a:p>
          <a:p>
            <a:pPr algn="ctr"/>
            <a:r>
              <a:rPr lang="en-AU" sz="2200" dirty="0" smtClean="0">
                <a:solidFill>
                  <a:prstClr val="black"/>
                </a:solidFill>
              </a:rPr>
              <a:t> 7(9</a:t>
            </a:r>
            <a:r>
              <a:rPr lang="en-AU" sz="22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f</a:t>
            </a:r>
            <a:r>
              <a:rPr lang="en-AU" sz="2200" dirty="0" smtClean="0">
                <a:solidFill>
                  <a:prstClr val="black"/>
                </a:solidFill>
              </a:rPr>
              <a:t> + 10) + 2</a:t>
            </a:r>
            <a:r>
              <a:rPr lang="en-AU" sz="22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f</a:t>
            </a:r>
          </a:p>
          <a:p>
            <a:endParaRPr lang="en-AU" sz="2200" dirty="0" smtClean="0">
              <a:solidFill>
                <a:prstClr val="black"/>
              </a:solidFill>
            </a:endParaRPr>
          </a:p>
          <a:p>
            <a:r>
              <a:rPr lang="en-AU" sz="2200" dirty="0" smtClean="0">
                <a:solidFill>
                  <a:prstClr val="black"/>
                </a:solidFill>
              </a:rPr>
              <a:t>First we need to expand the brackets as shown using the distributive law.</a:t>
            </a:r>
          </a:p>
          <a:p>
            <a:r>
              <a:rPr lang="en-AU" sz="2200" dirty="0">
                <a:solidFill>
                  <a:prstClr val="black"/>
                </a:solidFill>
              </a:rPr>
              <a:t>	</a:t>
            </a:r>
            <a:r>
              <a:rPr lang="en-AU" sz="2200" dirty="0" smtClean="0">
                <a:solidFill>
                  <a:prstClr val="black"/>
                </a:solidFill>
              </a:rPr>
              <a:t> 	</a:t>
            </a:r>
          </a:p>
          <a:p>
            <a:pPr algn="ctr"/>
            <a:r>
              <a:rPr lang="en-AU" sz="2200" dirty="0">
                <a:solidFill>
                  <a:prstClr val="black"/>
                </a:solidFill>
              </a:rPr>
              <a:t>7(9</a:t>
            </a:r>
            <a:r>
              <a:rPr lang="en-AU" sz="2200" dirty="0">
                <a:solidFill>
                  <a:prstClr val="black"/>
                </a:solidFill>
                <a:latin typeface="Monotype Corsiva" panose="03010101010201010101" pitchFamily="66" charset="0"/>
              </a:rPr>
              <a:t>f</a:t>
            </a:r>
            <a:r>
              <a:rPr lang="en-AU" sz="2200" dirty="0">
                <a:solidFill>
                  <a:prstClr val="black"/>
                </a:solidFill>
              </a:rPr>
              <a:t> + 10</a:t>
            </a:r>
            <a:r>
              <a:rPr lang="en-AU" sz="2200" dirty="0" smtClean="0">
                <a:solidFill>
                  <a:prstClr val="black"/>
                </a:solidFill>
              </a:rPr>
              <a:t>) + 2</a:t>
            </a:r>
            <a:r>
              <a:rPr lang="en-AU" sz="22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f</a:t>
            </a:r>
          </a:p>
          <a:p>
            <a:pPr algn="ctr"/>
            <a:r>
              <a:rPr lang="en-AU" sz="22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= </a:t>
            </a:r>
            <a:r>
              <a:rPr lang="en-AU" sz="2200" dirty="0" smtClean="0">
                <a:solidFill>
                  <a:prstClr val="black"/>
                </a:solidFill>
              </a:rPr>
              <a:t>63</a:t>
            </a:r>
            <a:r>
              <a:rPr lang="en-AU" sz="22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f</a:t>
            </a:r>
            <a:r>
              <a:rPr lang="en-AU" sz="2200" dirty="0" smtClean="0">
                <a:solidFill>
                  <a:prstClr val="black"/>
                </a:solidFill>
              </a:rPr>
              <a:t> + 70 + 2</a:t>
            </a:r>
            <a:r>
              <a:rPr lang="en-AU" sz="22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f</a:t>
            </a:r>
          </a:p>
          <a:p>
            <a:r>
              <a:rPr lang="en-AU" sz="2200" dirty="0" smtClean="0">
                <a:solidFill>
                  <a:prstClr val="black"/>
                </a:solidFill>
              </a:rPr>
              <a:t>Then we need to collect the like terms in the expression.</a:t>
            </a:r>
            <a:endParaRPr lang="en-AU" sz="2200" dirty="0">
              <a:solidFill>
                <a:prstClr val="black"/>
              </a:solidFill>
            </a:endParaRPr>
          </a:p>
          <a:p>
            <a:pPr algn="ctr"/>
            <a:r>
              <a:rPr lang="en-AU" sz="2200" dirty="0">
                <a:solidFill>
                  <a:prstClr val="black"/>
                </a:solidFill>
              </a:rPr>
              <a:t>= </a:t>
            </a:r>
            <a:r>
              <a:rPr lang="en-AU" sz="2200" dirty="0" smtClean="0">
                <a:solidFill>
                  <a:prstClr val="black"/>
                </a:solidFill>
              </a:rPr>
              <a:t>65</a:t>
            </a:r>
            <a:r>
              <a:rPr lang="en-AU" sz="22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f</a:t>
            </a:r>
            <a:r>
              <a:rPr lang="en-AU" sz="2200" dirty="0" smtClean="0">
                <a:solidFill>
                  <a:prstClr val="black"/>
                </a:solidFill>
              </a:rPr>
              <a:t> </a:t>
            </a:r>
            <a:r>
              <a:rPr lang="en-AU" sz="2200" dirty="0">
                <a:solidFill>
                  <a:prstClr val="black"/>
                </a:solidFill>
              </a:rPr>
              <a:t>+ </a:t>
            </a:r>
            <a:r>
              <a:rPr lang="en-AU" sz="2200" dirty="0" smtClean="0">
                <a:solidFill>
                  <a:prstClr val="black"/>
                </a:solidFill>
              </a:rPr>
              <a:t>70</a:t>
            </a:r>
            <a:endParaRPr lang="en-AU" sz="2200" dirty="0">
              <a:solidFill>
                <a:prstClr val="black"/>
              </a:solidFill>
              <a:latin typeface="Monotype Corsiva" panose="03010101010201010101" pitchFamily="66" charset="0"/>
            </a:endParaRPr>
          </a:p>
          <a:p>
            <a:pPr algn="ctr"/>
            <a:endParaRPr lang="en-AU" sz="2200" dirty="0" smtClean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27113" y="6466461"/>
            <a:ext cx="477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17</a:t>
            </a:r>
            <a:endParaRPr lang="en-AU" dirty="0"/>
          </a:p>
        </p:txBody>
      </p:sp>
      <p:sp>
        <p:nvSpPr>
          <p:cNvPr id="17" name="Curved Down Arrow 16"/>
          <p:cNvSpPr/>
          <p:nvPr/>
        </p:nvSpPr>
        <p:spPr>
          <a:xfrm>
            <a:off x="5361161" y="4171393"/>
            <a:ext cx="288032" cy="216024"/>
          </a:xfrm>
          <a:prstGeom prst="curvedDownArrow">
            <a:avLst/>
          </a:prstGeom>
          <a:solidFill>
            <a:srgbClr val="CC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8" name="Curved Down Arrow 17"/>
          <p:cNvSpPr/>
          <p:nvPr/>
        </p:nvSpPr>
        <p:spPr>
          <a:xfrm>
            <a:off x="5290813" y="3955368"/>
            <a:ext cx="939698" cy="432048"/>
          </a:xfrm>
          <a:prstGeom prst="curvedDownArrow">
            <a:avLst/>
          </a:prstGeom>
          <a:solidFill>
            <a:srgbClr val="C0000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315" y="3284984"/>
            <a:ext cx="276849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What is the first step in expanding brackets?</a:t>
            </a:r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r>
              <a:rPr lang="en-AU" sz="2200" dirty="0" smtClean="0"/>
              <a:t>How do we collect terms?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1560739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flipH="1">
            <a:off x="2923247" y="0"/>
            <a:ext cx="7432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504" y="242116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30679" y="251067"/>
            <a:ext cx="538573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endParaRPr lang="en-AU" sz="1400" dirty="0" smtClean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5" name="Control 1"/>
          <p:cNvSpPr>
            <a:spLocks noChangeArrowheads="1" noChangeShapeType="1"/>
          </p:cNvSpPr>
          <p:nvPr/>
        </p:nvSpPr>
        <p:spPr bwMode="auto">
          <a:xfrm>
            <a:off x="5481638" y="4022725"/>
            <a:ext cx="2165350" cy="3171825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endParaRPr lang="en-AU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39944" y="648866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15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2923247" y="703781"/>
            <a:ext cx="6220753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We can also expand brackets containing more than two terms in the same way.</a:t>
            </a:r>
          </a:p>
          <a:p>
            <a:endParaRPr lang="en-AU" sz="1200" dirty="0" smtClean="0"/>
          </a:p>
          <a:p>
            <a:pPr algn="ctr"/>
            <a:endParaRPr lang="en-AU" sz="2200" dirty="0"/>
          </a:p>
          <a:p>
            <a:pPr algn="ctr"/>
            <a:r>
              <a:rPr lang="en-AU" sz="2200" dirty="0" smtClean="0"/>
              <a:t>2(3</a:t>
            </a:r>
            <a:r>
              <a:rPr lang="en-AU" sz="2200" dirty="0" smtClean="0">
                <a:latin typeface="Monotype Corsiva" panose="03010101010201010101" pitchFamily="66" charset="0"/>
              </a:rPr>
              <a:t>x</a:t>
            </a:r>
            <a:r>
              <a:rPr lang="en-AU" sz="2200" dirty="0" smtClean="0"/>
              <a:t> + 2</a:t>
            </a:r>
            <a:r>
              <a:rPr lang="en-AU" sz="2200" dirty="0" smtClean="0">
                <a:latin typeface="Monotype Corsiva" panose="03010101010201010101" pitchFamily="66" charset="0"/>
              </a:rPr>
              <a:t>y</a:t>
            </a:r>
            <a:r>
              <a:rPr lang="en-AU" sz="2200" dirty="0" smtClean="0"/>
              <a:t> + 4</a:t>
            </a:r>
            <a:r>
              <a:rPr lang="en-AU" sz="2200" dirty="0" smtClean="0">
                <a:latin typeface="Monotype Corsiva" panose="03010101010201010101" pitchFamily="66" charset="0"/>
              </a:rPr>
              <a:t>z</a:t>
            </a:r>
            <a:r>
              <a:rPr lang="en-AU" sz="2200" dirty="0" smtClean="0"/>
              <a:t>)</a:t>
            </a:r>
          </a:p>
          <a:p>
            <a:pPr algn="ctr"/>
            <a:r>
              <a:rPr lang="en-AU" sz="2200" dirty="0" smtClean="0"/>
              <a:t>= 6</a:t>
            </a:r>
            <a:r>
              <a:rPr lang="en-AU" sz="2200" dirty="0" smtClean="0">
                <a:latin typeface="Monotype Corsiva" panose="03010101010201010101" pitchFamily="66" charset="0"/>
              </a:rPr>
              <a:t>x</a:t>
            </a:r>
            <a:r>
              <a:rPr lang="en-AU" sz="2200" dirty="0" smtClean="0"/>
              <a:t> + 4</a:t>
            </a:r>
            <a:r>
              <a:rPr lang="en-AU" sz="2200" dirty="0" smtClean="0">
                <a:latin typeface="Monotype Corsiva" panose="03010101010201010101" pitchFamily="66" charset="0"/>
              </a:rPr>
              <a:t>y</a:t>
            </a:r>
            <a:r>
              <a:rPr lang="en-AU" sz="2200" dirty="0" smtClean="0"/>
              <a:t> + 8</a:t>
            </a:r>
            <a:r>
              <a:rPr lang="en-AU" sz="2200" dirty="0" smtClean="0">
                <a:latin typeface="Monotype Corsiva" panose="03010101010201010101" pitchFamily="66" charset="0"/>
              </a:rPr>
              <a:t>z</a:t>
            </a:r>
          </a:p>
          <a:p>
            <a:pPr algn="ctr"/>
            <a:endParaRPr lang="en-AU" sz="1200" dirty="0" smtClean="0">
              <a:latin typeface="Monotype Corsiva" panose="03010101010201010101" pitchFamily="66" charset="0"/>
            </a:endParaRPr>
          </a:p>
          <a:p>
            <a:r>
              <a:rPr lang="en-AU" sz="2200" u="sng" dirty="0" smtClean="0"/>
              <a:t>Remember the following important steps</a:t>
            </a:r>
            <a:r>
              <a:rPr lang="en-AU" sz="2200" dirty="0" smtClean="0"/>
              <a:t>:</a:t>
            </a:r>
          </a:p>
          <a:p>
            <a:pPr marL="457200" indent="-457200">
              <a:buAutoNum type="arabicPeriod"/>
            </a:pPr>
            <a:r>
              <a:rPr lang="en-AU" sz="2200" dirty="0" smtClean="0"/>
              <a:t>We multiply the coefficient by the number outside the brackets</a:t>
            </a:r>
          </a:p>
          <a:p>
            <a:pPr marL="457200" indent="-457200">
              <a:buAutoNum type="arabicPeriod"/>
            </a:pPr>
            <a:r>
              <a:rPr lang="en-AU" sz="2200" dirty="0" smtClean="0"/>
              <a:t>The operation in front of the term belongs to it</a:t>
            </a:r>
          </a:p>
          <a:p>
            <a:pPr marL="457200" indent="-457200">
              <a:buAutoNum type="arabicPeriod"/>
            </a:pPr>
            <a:r>
              <a:rPr lang="en-AU" sz="2200" dirty="0" smtClean="0"/>
              <a:t>Two positive or negative integers give a positive answer</a:t>
            </a:r>
          </a:p>
          <a:p>
            <a:pPr marL="457200" indent="-457200">
              <a:buAutoNum type="arabicPeriod"/>
            </a:pPr>
            <a:r>
              <a:rPr lang="en-AU" sz="2200" dirty="0" smtClean="0"/>
              <a:t>One positive and one negative integer give a negative answer</a:t>
            </a:r>
          </a:p>
          <a:p>
            <a:pPr marL="457200" indent="-457200">
              <a:buAutoNum type="arabicPeriod"/>
            </a:pPr>
            <a:r>
              <a:rPr lang="en-AU" sz="2200" dirty="0" smtClean="0"/>
              <a:t>Lastly don’t forget to add or subtract like terms  </a:t>
            </a:r>
            <a:endParaRPr lang="en-AU" sz="2200" dirty="0"/>
          </a:p>
        </p:txBody>
      </p:sp>
      <p:sp>
        <p:nvSpPr>
          <p:cNvPr id="14" name="Curved Down Arrow 13"/>
          <p:cNvSpPr/>
          <p:nvPr/>
        </p:nvSpPr>
        <p:spPr>
          <a:xfrm>
            <a:off x="5314791" y="1738873"/>
            <a:ext cx="288032" cy="216024"/>
          </a:xfrm>
          <a:prstGeom prst="curvedDownArrow">
            <a:avLst/>
          </a:prstGeom>
          <a:solidFill>
            <a:srgbClr val="CC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5" name="Curved Down Arrow 14"/>
          <p:cNvSpPr/>
          <p:nvPr/>
        </p:nvSpPr>
        <p:spPr>
          <a:xfrm>
            <a:off x="5276573" y="1534197"/>
            <a:ext cx="939698" cy="432048"/>
          </a:xfrm>
          <a:prstGeom prst="curvedDownArrow">
            <a:avLst/>
          </a:prstGeom>
          <a:solidFill>
            <a:srgbClr val="C0000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6" name="Curved Down Arrow 15"/>
          <p:cNvSpPr/>
          <p:nvPr/>
        </p:nvSpPr>
        <p:spPr>
          <a:xfrm>
            <a:off x="5276573" y="1508607"/>
            <a:ext cx="1417449" cy="432048"/>
          </a:xfrm>
          <a:prstGeom prst="curvedDownArrow">
            <a:avLst/>
          </a:prstGeom>
          <a:solidFill>
            <a:srgbClr val="C0000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859716"/>
            <a:ext cx="292324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 What are the important steps to remember when expanding brackets?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3212904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047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u="sng" dirty="0" smtClean="0"/>
              <a:t>Tasks:</a:t>
            </a:r>
          </a:p>
          <a:p>
            <a:endParaRPr lang="en-AU" dirty="0" smtClean="0"/>
          </a:p>
          <a:p>
            <a:r>
              <a:rPr lang="en-AU" sz="2200" b="1" dirty="0" smtClean="0">
                <a:solidFill>
                  <a:srgbClr val="0070C0"/>
                </a:solidFill>
              </a:rPr>
              <a:t>8. </a:t>
            </a:r>
            <a:r>
              <a:rPr lang="en-AU" sz="2200" dirty="0" smtClean="0"/>
              <a:t>Simplify the following by expanding and then collecting like terms</a:t>
            </a:r>
          </a:p>
          <a:p>
            <a:pPr>
              <a:lnSpc>
                <a:spcPct val="150000"/>
              </a:lnSpc>
            </a:pPr>
            <a:r>
              <a:rPr lang="en-AU" sz="2200" dirty="0"/>
              <a:t>	</a:t>
            </a:r>
            <a:r>
              <a:rPr lang="en-AU" sz="2200" b="1" dirty="0" smtClean="0">
                <a:solidFill>
                  <a:srgbClr val="0070C0"/>
                </a:solidFill>
              </a:rPr>
              <a:t>b</a:t>
            </a:r>
            <a:r>
              <a:rPr lang="en-AU" sz="2200" dirty="0" smtClean="0"/>
              <a:t> 8(2 + 5</a:t>
            </a:r>
            <a:r>
              <a:rPr lang="en-AU" sz="2200" dirty="0" smtClean="0">
                <a:latin typeface="Monotype Corsiva" panose="03010101010201010101" pitchFamily="66" charset="0"/>
              </a:rPr>
              <a:t>x</a:t>
            </a:r>
            <a:r>
              <a:rPr lang="en-AU" sz="2200" dirty="0" smtClean="0"/>
              <a:t>) + 4</a:t>
            </a:r>
            <a:r>
              <a:rPr lang="en-AU" sz="2200" dirty="0" smtClean="0">
                <a:latin typeface="Monotype Corsiva" panose="03010101010201010101" pitchFamily="66" charset="0"/>
              </a:rPr>
              <a:t>x</a:t>
            </a:r>
            <a:r>
              <a:rPr lang="en-AU" sz="2200" dirty="0" smtClean="0"/>
              <a:t>			</a:t>
            </a:r>
            <a:r>
              <a:rPr lang="en-AU" sz="2200" b="1" dirty="0" smtClean="0">
                <a:solidFill>
                  <a:srgbClr val="0070C0"/>
                </a:solidFill>
              </a:rPr>
              <a:t>c </a:t>
            </a:r>
            <a:r>
              <a:rPr lang="en-AU" sz="2200" dirty="0" smtClean="0"/>
              <a:t>4(2</a:t>
            </a:r>
            <a:r>
              <a:rPr lang="en-AU" sz="2200" dirty="0" smtClean="0">
                <a:latin typeface="Monotype Corsiva" panose="03010101010201010101" pitchFamily="66" charset="0"/>
              </a:rPr>
              <a:t>a</a:t>
            </a:r>
            <a:r>
              <a:rPr lang="en-AU" sz="2200" dirty="0" smtClean="0"/>
              <a:t> + 8) + 7</a:t>
            </a:r>
            <a:r>
              <a:rPr lang="en-AU" sz="2200" dirty="0" smtClean="0">
                <a:latin typeface="Monotype Corsiva" panose="03010101010201010101" pitchFamily="66" charset="0"/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en-AU" sz="2200" dirty="0" smtClean="0"/>
              <a:t>	</a:t>
            </a:r>
            <a:r>
              <a:rPr lang="en-AU" sz="2200" b="1" dirty="0" smtClean="0">
                <a:solidFill>
                  <a:srgbClr val="0070C0"/>
                </a:solidFill>
              </a:rPr>
              <a:t>d</a:t>
            </a:r>
            <a:r>
              <a:rPr lang="en-AU" sz="2200" dirty="0" smtClean="0"/>
              <a:t> 6(3</a:t>
            </a:r>
            <a:r>
              <a:rPr lang="en-AU" sz="2200" dirty="0" smtClean="0">
                <a:latin typeface="Monotype Corsiva" panose="03010101010201010101" pitchFamily="66" charset="0"/>
              </a:rPr>
              <a:t>v</a:t>
            </a:r>
            <a:r>
              <a:rPr lang="en-AU" sz="2200" dirty="0" smtClean="0"/>
              <a:t> + 10) + 6</a:t>
            </a:r>
            <a:r>
              <a:rPr lang="en-AU" sz="2200" dirty="0" smtClean="0">
                <a:latin typeface="Monotype Corsiva" panose="03010101010201010101" pitchFamily="66" charset="0"/>
              </a:rPr>
              <a:t>v</a:t>
            </a:r>
            <a:r>
              <a:rPr lang="en-AU" sz="2200" dirty="0" smtClean="0"/>
              <a:t>		</a:t>
            </a:r>
            <a:r>
              <a:rPr lang="en-AU" sz="2200" b="1" dirty="0" smtClean="0">
                <a:solidFill>
                  <a:srgbClr val="0070C0"/>
                </a:solidFill>
              </a:rPr>
              <a:t>e</a:t>
            </a:r>
            <a:r>
              <a:rPr lang="en-AU" sz="2200" dirty="0" smtClean="0"/>
              <a:t> 7(10</a:t>
            </a:r>
            <a:r>
              <a:rPr lang="en-AU" sz="2200" dirty="0" smtClean="0">
                <a:latin typeface="Monotype Corsiva" panose="03010101010201010101" pitchFamily="66" charset="0"/>
              </a:rPr>
              <a:t>a</a:t>
            </a:r>
            <a:r>
              <a:rPr lang="en-AU" sz="2200" dirty="0" smtClean="0"/>
              <a:t> + 10) + 6</a:t>
            </a:r>
            <a:r>
              <a:rPr lang="en-AU" sz="2200" dirty="0" smtClean="0">
                <a:latin typeface="Monotype Corsiva" panose="03010101010201010101" pitchFamily="66" charset="0"/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en-AU" sz="2200" dirty="0"/>
              <a:t>	</a:t>
            </a:r>
            <a:r>
              <a:rPr lang="en-AU" sz="2200" b="1" dirty="0" smtClean="0">
                <a:solidFill>
                  <a:srgbClr val="0070C0"/>
                </a:solidFill>
              </a:rPr>
              <a:t>f</a:t>
            </a:r>
            <a:r>
              <a:rPr lang="en-AU" sz="2200" dirty="0" smtClean="0"/>
              <a:t> 6(3</a:t>
            </a:r>
            <a:r>
              <a:rPr lang="en-AU" sz="2200" dirty="0" smtClean="0">
                <a:latin typeface="Monotype Corsiva" panose="03010101010201010101" pitchFamily="66" charset="0"/>
              </a:rPr>
              <a:t>q</a:t>
            </a:r>
            <a:r>
              <a:rPr lang="en-AU" sz="2200" dirty="0" smtClean="0"/>
              <a:t> – 5) + 2</a:t>
            </a:r>
            <a:r>
              <a:rPr lang="en-AU" sz="2200" dirty="0" smtClean="0">
                <a:latin typeface="Monotype Corsiva" panose="03010101010201010101" pitchFamily="66" charset="0"/>
              </a:rPr>
              <a:t>q</a:t>
            </a:r>
            <a:r>
              <a:rPr lang="en-AU" sz="2200" dirty="0" smtClean="0"/>
              <a:t>			</a:t>
            </a:r>
            <a:r>
              <a:rPr lang="en-AU" sz="2200" b="1" dirty="0" smtClean="0">
                <a:solidFill>
                  <a:srgbClr val="0070C0"/>
                </a:solidFill>
              </a:rPr>
              <a:t>g</a:t>
            </a:r>
            <a:r>
              <a:rPr lang="en-AU" sz="2200" dirty="0" smtClean="0"/>
              <a:t> 6(4</a:t>
            </a:r>
            <a:r>
              <a:rPr lang="en-AU" sz="2200" dirty="0" smtClean="0">
                <a:latin typeface="Monotype Corsiva" panose="03010101010201010101" pitchFamily="66" charset="0"/>
              </a:rPr>
              <a:t>m</a:t>
            </a:r>
            <a:r>
              <a:rPr lang="en-AU" sz="2200" dirty="0" smtClean="0"/>
              <a:t> – 5) + 8</a:t>
            </a:r>
            <a:r>
              <a:rPr lang="en-AU" sz="2200" dirty="0" smtClean="0">
                <a:latin typeface="Monotype Corsiva" panose="03010101010201010101" pitchFamily="66" charset="0"/>
              </a:rPr>
              <a:t>m</a:t>
            </a:r>
          </a:p>
          <a:p>
            <a:pPr>
              <a:lnSpc>
                <a:spcPct val="150000"/>
              </a:lnSpc>
            </a:pPr>
            <a:r>
              <a:rPr lang="en-AU" sz="2200" dirty="0"/>
              <a:t>	</a:t>
            </a:r>
            <a:r>
              <a:rPr lang="en-AU" sz="2200" b="1" dirty="0" smtClean="0">
                <a:solidFill>
                  <a:srgbClr val="0070C0"/>
                </a:solidFill>
              </a:rPr>
              <a:t>h</a:t>
            </a:r>
            <a:r>
              <a:rPr lang="en-AU" sz="2200" dirty="0" smtClean="0"/>
              <a:t> 4(8 + 7</a:t>
            </a:r>
            <a:r>
              <a:rPr lang="en-AU" sz="2200" dirty="0" smtClean="0">
                <a:latin typeface="Monotype Corsiva" panose="03010101010201010101" pitchFamily="66" charset="0"/>
              </a:rPr>
              <a:t>m</a:t>
            </a:r>
            <a:r>
              <a:rPr lang="en-AU" sz="2200" dirty="0" smtClean="0"/>
              <a:t>) – 6</a:t>
            </a:r>
            <a:r>
              <a:rPr lang="en-AU" sz="2200" dirty="0" smtClean="0">
                <a:latin typeface="Monotype Corsiva" panose="03010101010201010101" pitchFamily="66" charset="0"/>
              </a:rPr>
              <a:t>m </a:t>
            </a:r>
            <a:r>
              <a:rPr lang="en-AU" sz="2200" dirty="0" smtClean="0"/>
              <a:t>		</a:t>
            </a:r>
            <a:r>
              <a:rPr lang="en-AU" sz="2200" b="1" dirty="0" smtClean="0">
                <a:solidFill>
                  <a:srgbClr val="0070C0"/>
                </a:solidFill>
              </a:rPr>
              <a:t>I </a:t>
            </a:r>
            <a:r>
              <a:rPr lang="en-AU" sz="2200" dirty="0" smtClean="0"/>
              <a:t>-2(3</a:t>
            </a:r>
            <a:r>
              <a:rPr lang="en-AU" sz="2200" dirty="0" smtClean="0">
                <a:latin typeface="Monotype Corsiva" panose="03010101010201010101" pitchFamily="66" charset="0"/>
              </a:rPr>
              <a:t>b</a:t>
            </a:r>
            <a:r>
              <a:rPr lang="en-AU" sz="2200" dirty="0" smtClean="0"/>
              <a:t> – 2) + 7</a:t>
            </a:r>
            <a:r>
              <a:rPr lang="en-AU" sz="2200" dirty="0" smtClean="0">
                <a:latin typeface="Monotype Corsiva" panose="03010101010201010101" pitchFamily="66" charset="0"/>
              </a:rPr>
              <a:t>b</a:t>
            </a:r>
          </a:p>
          <a:p>
            <a:endParaRPr lang="en-AU" sz="2200" dirty="0"/>
          </a:p>
          <a:p>
            <a:r>
              <a:rPr lang="en-AU" sz="2200" b="1" dirty="0" smtClean="0">
                <a:solidFill>
                  <a:srgbClr val="0070C0"/>
                </a:solidFill>
              </a:rPr>
              <a:t>9</a:t>
            </a:r>
            <a:r>
              <a:rPr lang="en-AU" sz="2200" dirty="0" smtClean="0"/>
              <a:t>. Simplify the following</a:t>
            </a:r>
          </a:p>
          <a:p>
            <a:pPr>
              <a:lnSpc>
                <a:spcPct val="150000"/>
              </a:lnSpc>
            </a:pPr>
            <a:r>
              <a:rPr lang="en-AU" sz="2200" dirty="0"/>
              <a:t>	</a:t>
            </a:r>
            <a:r>
              <a:rPr lang="en-AU" sz="2200" b="1" dirty="0" smtClean="0">
                <a:solidFill>
                  <a:srgbClr val="0070C0"/>
                </a:solidFill>
              </a:rPr>
              <a:t>b</a:t>
            </a:r>
            <a:r>
              <a:rPr lang="en-AU" sz="2200" dirty="0" smtClean="0"/>
              <a:t> 7</a:t>
            </a:r>
            <a:r>
              <a:rPr lang="en-AU" sz="2200" dirty="0" smtClean="0">
                <a:latin typeface="Monotype Corsiva" panose="03010101010201010101" pitchFamily="66" charset="0"/>
              </a:rPr>
              <a:t>a</a:t>
            </a:r>
            <a:r>
              <a:rPr lang="en-AU" sz="2200" dirty="0" smtClean="0"/>
              <a:t>(2 – 3</a:t>
            </a:r>
            <a:r>
              <a:rPr lang="en-AU" sz="2200" dirty="0" smtClean="0">
                <a:latin typeface="Monotype Corsiva" panose="03010101010201010101" pitchFamily="66" charset="0"/>
              </a:rPr>
              <a:t>b</a:t>
            </a:r>
            <a:r>
              <a:rPr lang="en-AU" sz="2200" dirty="0" smtClean="0"/>
              <a:t> + 4</a:t>
            </a:r>
            <a:r>
              <a:rPr lang="en-AU" sz="2200" dirty="0" smtClean="0">
                <a:latin typeface="Monotype Corsiva" panose="03010101010201010101" pitchFamily="66" charset="0"/>
              </a:rPr>
              <a:t>y</a:t>
            </a:r>
            <a:r>
              <a:rPr lang="en-AU" sz="2200" dirty="0" smtClean="0"/>
              <a:t>)			</a:t>
            </a:r>
            <a:r>
              <a:rPr lang="en-AU" sz="2200" b="1" dirty="0" smtClean="0">
                <a:solidFill>
                  <a:srgbClr val="0070C0"/>
                </a:solidFill>
              </a:rPr>
              <a:t>c</a:t>
            </a:r>
            <a:r>
              <a:rPr lang="en-AU" sz="2200" dirty="0" smtClean="0"/>
              <a:t> 2</a:t>
            </a:r>
            <a:r>
              <a:rPr lang="en-AU" sz="2200" dirty="0" smtClean="0">
                <a:latin typeface="Monotype Corsiva" panose="03010101010201010101" pitchFamily="66" charset="0"/>
              </a:rPr>
              <a:t>q</a:t>
            </a:r>
            <a:r>
              <a:rPr lang="en-AU" sz="2200" dirty="0" smtClean="0"/>
              <a:t>(4</a:t>
            </a:r>
            <a:r>
              <a:rPr lang="en-AU" sz="2200" dirty="0" smtClean="0">
                <a:latin typeface="Monotype Corsiva" panose="03010101010201010101" pitchFamily="66" charset="0"/>
              </a:rPr>
              <a:t>z</a:t>
            </a:r>
            <a:r>
              <a:rPr lang="en-AU" sz="2200" dirty="0" smtClean="0"/>
              <a:t> + 2</a:t>
            </a:r>
            <a:r>
              <a:rPr lang="en-AU" sz="2200" dirty="0" smtClean="0">
                <a:latin typeface="Monotype Corsiva" panose="03010101010201010101" pitchFamily="66" charset="0"/>
              </a:rPr>
              <a:t>a</a:t>
            </a:r>
            <a:r>
              <a:rPr lang="en-AU" sz="2200" dirty="0" smtClean="0"/>
              <a:t> + 5)</a:t>
            </a:r>
          </a:p>
          <a:p>
            <a:pPr>
              <a:lnSpc>
                <a:spcPct val="150000"/>
              </a:lnSpc>
            </a:pPr>
            <a:r>
              <a:rPr lang="en-AU" sz="2200" dirty="0"/>
              <a:t>	</a:t>
            </a:r>
            <a:r>
              <a:rPr lang="en-AU" sz="2200" b="1" dirty="0" smtClean="0">
                <a:solidFill>
                  <a:srgbClr val="0070C0"/>
                </a:solidFill>
              </a:rPr>
              <a:t>d</a:t>
            </a:r>
            <a:r>
              <a:rPr lang="en-AU" sz="2200" dirty="0" smtClean="0"/>
              <a:t> -3(2+ 4</a:t>
            </a:r>
            <a:r>
              <a:rPr lang="en-AU" sz="2200" dirty="0" smtClean="0">
                <a:latin typeface="Monotype Corsiva" panose="03010101010201010101" pitchFamily="66" charset="0"/>
              </a:rPr>
              <a:t>k</a:t>
            </a:r>
            <a:r>
              <a:rPr lang="en-AU" sz="2200" dirty="0" smtClean="0"/>
              <a:t> + 2</a:t>
            </a:r>
            <a:r>
              <a:rPr lang="en-AU" sz="2200" dirty="0" smtClean="0">
                <a:latin typeface="Monotype Corsiva" panose="03010101010201010101" pitchFamily="66" charset="0"/>
              </a:rPr>
              <a:t>p</a:t>
            </a:r>
            <a:r>
              <a:rPr lang="en-AU" sz="2200" dirty="0" smtClean="0"/>
              <a:t>)			</a:t>
            </a:r>
            <a:r>
              <a:rPr lang="en-AU" sz="2200" b="1" dirty="0" smtClean="0">
                <a:solidFill>
                  <a:srgbClr val="0070C0"/>
                </a:solidFill>
              </a:rPr>
              <a:t>e </a:t>
            </a:r>
            <a:r>
              <a:rPr lang="en-AU" sz="2200" dirty="0" smtClean="0"/>
              <a:t>-5(1 + 5</a:t>
            </a:r>
            <a:r>
              <a:rPr lang="en-AU" sz="2200" dirty="0" smtClean="0">
                <a:latin typeface="Monotype Corsiva" panose="03010101010201010101" pitchFamily="66" charset="0"/>
              </a:rPr>
              <a:t>q</a:t>
            </a:r>
            <a:r>
              <a:rPr lang="en-AU" sz="2200" dirty="0" smtClean="0"/>
              <a:t> – 2</a:t>
            </a:r>
            <a:r>
              <a:rPr lang="en-AU" sz="2200" dirty="0" smtClean="0">
                <a:latin typeface="Monotype Corsiva" panose="03010101010201010101" pitchFamily="66" charset="0"/>
              </a:rPr>
              <a:t>r</a:t>
            </a:r>
            <a:r>
              <a:rPr lang="en-AU" sz="2200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AU" sz="2200" dirty="0"/>
              <a:t>	</a:t>
            </a:r>
            <a:r>
              <a:rPr lang="en-AU" sz="2200" b="1" dirty="0" smtClean="0">
                <a:solidFill>
                  <a:srgbClr val="0070C0"/>
                </a:solidFill>
              </a:rPr>
              <a:t>f </a:t>
            </a:r>
            <a:r>
              <a:rPr lang="en-AU" sz="2200" dirty="0" smtClean="0"/>
              <a:t>-7</a:t>
            </a:r>
            <a:r>
              <a:rPr lang="en-AU" sz="2200" dirty="0" smtClean="0">
                <a:latin typeface="Monotype Corsiva" panose="03010101010201010101" pitchFamily="66" charset="0"/>
              </a:rPr>
              <a:t>k</a:t>
            </a:r>
            <a:r>
              <a:rPr lang="en-AU" sz="2200" dirty="0" smtClean="0"/>
              <a:t>(</a:t>
            </a:r>
            <a:r>
              <a:rPr lang="en-AU" sz="2200" dirty="0" smtClean="0">
                <a:latin typeface="Monotype Corsiva" panose="03010101010201010101" pitchFamily="66" charset="0"/>
              </a:rPr>
              <a:t>r</a:t>
            </a:r>
            <a:r>
              <a:rPr lang="en-AU" sz="2200" dirty="0" smtClean="0"/>
              <a:t> + </a:t>
            </a:r>
            <a:r>
              <a:rPr lang="en-AU" sz="2200" dirty="0" smtClean="0">
                <a:latin typeface="Monotype Corsiva" panose="03010101010201010101" pitchFamily="66" charset="0"/>
              </a:rPr>
              <a:t>m</a:t>
            </a:r>
            <a:r>
              <a:rPr lang="en-AU" sz="2200" dirty="0" smtClean="0"/>
              <a:t> + </a:t>
            </a:r>
            <a:r>
              <a:rPr lang="en-AU" sz="2200" dirty="0" smtClean="0">
                <a:latin typeface="Monotype Corsiva" panose="03010101010201010101" pitchFamily="66" charset="0"/>
              </a:rPr>
              <a:t>s</a:t>
            </a:r>
            <a:r>
              <a:rPr lang="en-AU" sz="2200" dirty="0" smtClean="0"/>
              <a:t>)			</a:t>
            </a:r>
            <a:r>
              <a:rPr lang="en-AU" sz="2200" b="1" dirty="0" smtClean="0">
                <a:solidFill>
                  <a:srgbClr val="0070C0"/>
                </a:solidFill>
              </a:rPr>
              <a:t>g</a:t>
            </a:r>
            <a:r>
              <a:rPr lang="en-AU" sz="2200" dirty="0" smtClean="0"/>
              <a:t> 4(-2</a:t>
            </a:r>
            <a:r>
              <a:rPr lang="en-AU" sz="2200" dirty="0" smtClean="0">
                <a:latin typeface="Monotype Corsiva" panose="03010101010201010101" pitchFamily="66" charset="0"/>
              </a:rPr>
              <a:t>a</a:t>
            </a:r>
            <a:r>
              <a:rPr lang="en-AU" sz="2200" dirty="0" smtClean="0"/>
              <a:t> + </a:t>
            </a:r>
            <a:r>
              <a:rPr lang="en-AU" sz="2200" dirty="0" smtClean="0">
                <a:latin typeface="Monotype Corsiva" panose="03010101010201010101" pitchFamily="66" charset="0"/>
              </a:rPr>
              <a:t>b</a:t>
            </a:r>
            <a:r>
              <a:rPr lang="en-AU" sz="2200" dirty="0" smtClean="0"/>
              <a:t> – 3</a:t>
            </a:r>
            <a:r>
              <a:rPr lang="en-AU" sz="2200" dirty="0" smtClean="0">
                <a:latin typeface="Monotype Corsiva" panose="03010101010201010101" pitchFamily="66" charset="0"/>
              </a:rPr>
              <a:t>c</a:t>
            </a:r>
            <a:r>
              <a:rPr lang="en-AU" sz="2200" dirty="0" smtClean="0"/>
              <a:t>)</a:t>
            </a:r>
          </a:p>
          <a:p>
            <a:endParaRPr lang="en-AU" sz="2200" dirty="0"/>
          </a:p>
          <a:p>
            <a:r>
              <a:rPr lang="en-AU" sz="2200" b="1" i="1" dirty="0" smtClean="0"/>
              <a:t>Complete Exercise 5G page 295, questions 10 - 15</a:t>
            </a:r>
            <a:endParaRPr lang="en-AU" sz="2200" b="1" i="1" dirty="0"/>
          </a:p>
        </p:txBody>
      </p:sp>
    </p:spTree>
    <p:extLst>
      <p:ext uri="{BB962C8B-B14F-4D97-AF65-F5344CB8AC3E}">
        <p14:creationId xmlns:p14="http://schemas.microsoft.com/office/powerpoint/2010/main" val="813467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705940" y="190625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solidFill>
                  <a:prstClr val="black"/>
                </a:solidFill>
              </a:rPr>
              <a:t>24</a:t>
            </a:r>
          </a:p>
          <a:p>
            <a:r>
              <a:rPr lang="en-AU" sz="1600" dirty="0" smtClean="0">
                <a:solidFill>
                  <a:prstClr val="black"/>
                </a:solidFill>
              </a:rPr>
              <a:t>7</a:t>
            </a:r>
          </a:p>
          <a:p>
            <a:r>
              <a:rPr lang="en-AU" sz="1600" dirty="0" smtClean="0">
                <a:solidFill>
                  <a:prstClr val="black"/>
                </a:solidFill>
              </a:rPr>
              <a:t>30</a:t>
            </a:r>
            <a:endParaRPr lang="en-AU" sz="1600" dirty="0">
              <a:solidFill>
                <a:prstClr val="black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7543" cy="4941168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35822" y="508951"/>
            <a:ext cx="2808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Date: </a:t>
            </a:r>
            <a:r>
              <a:rPr lang="en-AU" sz="2400" dirty="0" smtClean="0">
                <a:solidFill>
                  <a:prstClr val="black"/>
                </a:solidFill>
              </a:rPr>
              <a:t>20</a:t>
            </a:r>
            <a:r>
              <a:rPr lang="en-AU" sz="2400" dirty="0" smtClean="0">
                <a:solidFill>
                  <a:prstClr val="black"/>
                </a:solidFill>
              </a:rPr>
              <a:t>/5/15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23337"/>
            <a:ext cx="61743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>
                <a:solidFill>
                  <a:prstClr val="black"/>
                </a:solidFill>
              </a:rPr>
              <a:t>Title: </a:t>
            </a:r>
            <a:r>
              <a:rPr lang="en-AU" sz="2200" dirty="0" smtClean="0">
                <a:solidFill>
                  <a:prstClr val="black"/>
                </a:solidFill>
              </a:rPr>
              <a:t>Factorising Expressions</a:t>
            </a:r>
            <a:endParaRPr lang="en-AU" sz="2200" dirty="0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EQ – </a:t>
            </a:r>
            <a:r>
              <a:rPr lang="en-AU" sz="2400" dirty="0" smtClean="0">
                <a:solidFill>
                  <a:prstClr val="black"/>
                </a:solidFill>
              </a:rPr>
              <a:t> </a:t>
            </a:r>
            <a:r>
              <a:rPr lang="en-AU" sz="2400" dirty="0"/>
              <a:t>How do I use the HCF to factorise expressions?</a:t>
            </a: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067" y="2426609"/>
            <a:ext cx="2975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solidFill>
                  <a:prstClr val="black"/>
                </a:solidFill>
              </a:rPr>
              <a:t>What is the HCF?</a:t>
            </a:r>
            <a:endParaRPr lang="en-AU" sz="2000" dirty="0" smtClean="0">
              <a:solidFill>
                <a:prstClr val="black"/>
              </a:solidFill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>
            <a:off x="6228184" y="0"/>
            <a:ext cx="0" cy="98072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31" y="1916832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30678" y="1916832"/>
            <a:ext cx="1231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0678" y="2378497"/>
            <a:ext cx="621332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The highest common factor (HCF) of a set of terms is the largest factor that divides into each term.</a:t>
            </a:r>
          </a:p>
          <a:p>
            <a:endParaRPr lang="en-AU" sz="1200" dirty="0"/>
          </a:p>
          <a:p>
            <a:r>
              <a:rPr lang="en-AU" sz="2000" dirty="0" smtClean="0"/>
              <a:t>To factorise an expression, first take the HCF of the terms outside the brackets and divide each term by it, leaving the result in brackets.</a:t>
            </a:r>
          </a:p>
          <a:p>
            <a:endParaRPr lang="en-AU" sz="800" dirty="0"/>
          </a:p>
          <a:p>
            <a:r>
              <a:rPr lang="en-AU" dirty="0" smtClean="0"/>
              <a:t>Example: 		Factorise 2p + 10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3" name="Table 2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0885430"/>
                  </p:ext>
                </p:extLst>
              </p:nvPr>
            </p:nvGraphicFramePr>
            <p:xfrm>
              <a:off x="4860032" y="4569689"/>
              <a:ext cx="3224862" cy="73152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246886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23" name="Table 2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0885430"/>
                  </p:ext>
                </p:extLst>
              </p:nvPr>
            </p:nvGraphicFramePr>
            <p:xfrm>
              <a:off x="4860032" y="4569689"/>
              <a:ext cx="3224862" cy="73152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565" t="-8197" r="-200565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101136" t="-8197" r="-101705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101136" t="-110000" r="-101705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7" name="TextBox 16"/>
          <p:cNvSpPr txBox="1"/>
          <p:nvPr/>
        </p:nvSpPr>
        <p:spPr>
          <a:xfrm>
            <a:off x="4788024" y="5229200"/>
            <a:ext cx="4824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 smtClean="0">
                <a:solidFill>
                  <a:srgbClr val="FF0000"/>
                </a:solidFill>
              </a:rPr>
              <a:t>Find the HCF of both terms</a:t>
            </a:r>
          </a:p>
          <a:p>
            <a:pPr marL="342900" indent="-342900">
              <a:buAutoNum type="arabicPeriod"/>
            </a:pPr>
            <a:r>
              <a:rPr lang="en-AU" dirty="0" smtClean="0">
                <a:solidFill>
                  <a:srgbClr val="0070C0"/>
                </a:solidFill>
              </a:rPr>
              <a:t>Divide each term by the HCF</a:t>
            </a:r>
          </a:p>
          <a:p>
            <a:pPr marL="342900" indent="-342900">
              <a:buAutoNum type="arabicPeriod"/>
            </a:pPr>
            <a:r>
              <a:rPr lang="en-AU" dirty="0" smtClean="0"/>
              <a:t>Write the expression using brackets</a:t>
            </a:r>
          </a:p>
          <a:p>
            <a:r>
              <a:rPr lang="en-AU" dirty="0"/>
              <a:t>	</a:t>
            </a:r>
            <a:r>
              <a:rPr lang="en-AU" dirty="0" smtClean="0"/>
              <a:t>2( p + 5)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8621092" y="6401549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19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522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flipH="1">
            <a:off x="2923247" y="0"/>
            <a:ext cx="7432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504" y="242116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930679" y="251067"/>
                <a:ext cx="5385737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Notes:</a:t>
                </a:r>
              </a:p>
              <a:p>
                <a:r>
                  <a:rPr lang="en-AU" sz="2000" dirty="0" smtClean="0">
                    <a:solidFill>
                      <a:prstClr val="black"/>
                    </a:solidFill>
                  </a:rPr>
                  <a:t>Example		</a:t>
                </a:r>
                <a:r>
                  <a:rPr lang="en-AU" sz="2000" dirty="0"/>
                  <a:t>Factorise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/>
                      </a:rPr>
                      <m:t>10</m:t>
                    </m:r>
                    <m:sSup>
                      <m:sSup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000" i="1">
                        <a:latin typeface="Cambria Math"/>
                      </a:rPr>
                      <m:t>+15</m:t>
                    </m:r>
                    <m:r>
                      <a:rPr lang="en-AU" sz="2000" i="1">
                        <a:latin typeface="Cambria Math"/>
                      </a:rPr>
                      <m:t>𝑥</m:t>
                    </m:r>
                  </m:oMath>
                </a14:m>
                <a:endParaRPr lang="en-AU" sz="2000" dirty="0"/>
              </a:p>
              <a:p>
                <a:endParaRPr lang="en-AU" sz="20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679" y="251067"/>
                <a:ext cx="5385737" cy="1077218"/>
              </a:xfrm>
              <a:prstGeom prst="rect">
                <a:avLst/>
              </a:prstGeom>
              <a:blipFill rotWithShape="0">
                <a:blip r:embed="rId2"/>
                <a:stretch>
                  <a:fillRect l="-1812" t="-45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rol 1"/>
          <p:cNvSpPr>
            <a:spLocks noChangeArrowheads="1" noChangeShapeType="1"/>
          </p:cNvSpPr>
          <p:nvPr/>
        </p:nvSpPr>
        <p:spPr bwMode="auto">
          <a:xfrm>
            <a:off x="5481638" y="4022725"/>
            <a:ext cx="2165350" cy="3171825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endParaRPr lang="en-AU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2828588"/>
            <a:ext cx="29232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 </a:t>
            </a:r>
            <a:endParaRPr lang="en-AU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909740"/>
                  </p:ext>
                </p:extLst>
              </p:nvPr>
            </p:nvGraphicFramePr>
            <p:xfrm>
              <a:off x="4860032" y="1124744"/>
              <a:ext cx="3224862" cy="73152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+15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909740"/>
                  </p:ext>
                </p:extLst>
              </p:nvPr>
            </p:nvGraphicFramePr>
            <p:xfrm>
              <a:off x="4860032" y="1124744"/>
              <a:ext cx="3224862" cy="73152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565" t="-1639" r="-200565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01136" t="-103333" r="-101705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200000" t="-103333" r="-1130" b="-33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Rectangle 5"/>
          <p:cNvSpPr/>
          <p:nvPr/>
        </p:nvSpPr>
        <p:spPr>
          <a:xfrm>
            <a:off x="4813649" y="1843702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>
              <a:buFontTx/>
              <a:buAutoNum type="arabicPeriod"/>
            </a:pPr>
            <a:r>
              <a:rPr lang="en-AU" dirty="0">
                <a:solidFill>
                  <a:srgbClr val="FF0000"/>
                </a:solidFill>
              </a:rPr>
              <a:t>Find the HCF of both terms</a:t>
            </a:r>
          </a:p>
          <a:p>
            <a:pPr marL="342900" lvl="0" indent="-342900">
              <a:buFontTx/>
              <a:buAutoNum type="arabicPeriod"/>
            </a:pPr>
            <a:r>
              <a:rPr lang="en-AU" dirty="0">
                <a:solidFill>
                  <a:srgbClr val="0070C0"/>
                </a:solidFill>
              </a:rPr>
              <a:t>Divide each term by the HCF</a:t>
            </a:r>
          </a:p>
          <a:p>
            <a:pPr marL="342900" lvl="0" indent="-342900">
              <a:buFontTx/>
              <a:buAutoNum type="arabicPeriod"/>
            </a:pPr>
            <a:r>
              <a:rPr lang="en-AU" dirty="0">
                <a:solidFill>
                  <a:prstClr val="black"/>
                </a:solidFill>
              </a:rPr>
              <a:t>Write the expression using brackets</a:t>
            </a:r>
          </a:p>
          <a:p>
            <a:pPr lvl="0"/>
            <a:r>
              <a:rPr lang="en-AU" dirty="0">
                <a:solidFill>
                  <a:prstClr val="black"/>
                </a:solidFill>
              </a:rPr>
              <a:t>	</a:t>
            </a:r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44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620688"/>
            <a:ext cx="8424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 smtClean="0"/>
              <a:t>Textbook Page 300</a:t>
            </a:r>
            <a:endParaRPr lang="en-AU" sz="32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1700808"/>
            <a:ext cx="8837714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10600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4071</TotalTime>
  <Words>1414</Words>
  <Application>Microsoft Office PowerPoint</Application>
  <PresentationFormat>On-screen Show (4:3)</PresentationFormat>
  <Paragraphs>458</Paragraphs>
  <Slides>32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5" baseType="lpstr">
      <vt:lpstr>MS Gothic</vt:lpstr>
      <vt:lpstr>Arial</vt:lpstr>
      <vt:lpstr>Calibri</vt:lpstr>
      <vt:lpstr>Calibri Light</vt:lpstr>
      <vt:lpstr>Cambria</vt:lpstr>
      <vt:lpstr>Cambria Math</vt:lpstr>
      <vt:lpstr>Monotype Corsiva</vt:lpstr>
      <vt:lpstr>Times New Roman</vt:lpstr>
      <vt:lpstr>Retrospect</vt:lpstr>
      <vt:lpstr>Office Theme</vt:lpstr>
      <vt:lpstr>2_Office Theme</vt:lpstr>
      <vt:lpstr>1_Office Theme</vt:lpstr>
      <vt:lpstr>Worksheet</vt:lpstr>
      <vt:lpstr> Algebra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try these together</vt:lpstr>
      <vt:lpstr>Task</vt:lpstr>
      <vt:lpstr>PowerPoint Presentation</vt:lpstr>
      <vt:lpstr>PowerPoint Presentation</vt:lpstr>
      <vt:lpstr>Let’s try these together</vt:lpstr>
      <vt:lpstr>Task</vt:lpstr>
      <vt:lpstr>PowerPoint Presentation</vt:lpstr>
      <vt:lpstr>PowerPoint Presentation</vt:lpstr>
      <vt:lpstr>Let’s try these together</vt:lpstr>
      <vt:lpstr>Task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e4058769</cp:lastModifiedBy>
  <cp:revision>127</cp:revision>
  <dcterms:created xsi:type="dcterms:W3CDTF">2014-05-14T02:58:57Z</dcterms:created>
  <dcterms:modified xsi:type="dcterms:W3CDTF">2015-05-19T14:25:39Z</dcterms:modified>
</cp:coreProperties>
</file>
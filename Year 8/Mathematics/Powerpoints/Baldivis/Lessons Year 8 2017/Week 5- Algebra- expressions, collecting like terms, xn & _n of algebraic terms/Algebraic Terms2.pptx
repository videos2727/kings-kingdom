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0" name="Shape 11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Shape 12"/>
          <p:cNvSpPr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Shape 21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hape 22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Shape 30"/>
          <p:cNvSpPr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hape 3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Shape 39"/>
          <p:cNvSpPr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hape 4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hape 48"/>
          <p:cNvSpPr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hape 49"/>
          <p:cNvSpPr/>
          <p:nvPr>
            <p:ph type="body" sz="quarter" idx="13"/>
          </p:nvPr>
        </p:nvSpPr>
        <p:spPr>
          <a:xfrm>
            <a:off x="4645025" y="1535112"/>
            <a:ext cx="4041775" cy="63976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hape 5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hape 5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Shape 73"/>
          <p:cNvSpPr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Shape 74"/>
          <p:cNvSpPr/>
          <p:nvPr>
            <p:ph type="body" sz="half" idx="13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hape 7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Shape 83"/>
          <p:cNvSpPr/>
          <p:nvPr>
            <p:ph type="pic" sz="half" idx="13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Shape 84"/>
          <p:cNvSpPr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hape 8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3" name="Shape 93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hape 94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title"/>
          </p:nvPr>
        </p:nvSpPr>
        <p:spPr>
          <a:xfrm>
            <a:off x="6629400" y="274638"/>
            <a:ext cx="2057400" cy="5851527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2" name="Shape 102"/>
          <p:cNvSpPr/>
          <p:nvPr>
            <p:ph type="body" idx="1"/>
          </p:nvPr>
        </p:nvSpPr>
        <p:spPr>
          <a:xfrm>
            <a:off x="457200" y="274638"/>
            <a:ext cx="6019800" cy="5851527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hape 10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/>
          <p:nvPr>
            <p:ph type="sldNum" sz="quarter" idx="2"/>
          </p:nvPr>
        </p:nvSpPr>
        <p:spPr>
          <a:xfrm>
            <a:off x="8422821" y="6404293"/>
            <a:ext cx="263980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/>
        </p:nvSpPr>
        <p:spPr>
          <a:xfrm>
            <a:off x="353938" y="345262"/>
            <a:ext cx="8156261" cy="624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In your groups of 2-3, come up with everything you know about the following 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mathematical terms:</a:t>
            </a:r>
          </a:p>
        </p:txBody>
      </p:sp>
      <p:pic>
        <p:nvPicPr>
          <p:cNvPr id="113" name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4730" y="1118427"/>
            <a:ext cx="798534" cy="1553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image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882" y="1131993"/>
            <a:ext cx="798533" cy="25641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image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87448" y="2951470"/>
            <a:ext cx="2103629" cy="6248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" name="image4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36659" y="3855453"/>
            <a:ext cx="3086925" cy="3625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" name="image5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93087" y="4618447"/>
            <a:ext cx="2500522" cy="5258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image6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72671" y="5240358"/>
            <a:ext cx="2995386" cy="7041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/>
          <p:nvPr/>
        </p:nvSpPr>
        <p:spPr>
          <a:xfrm>
            <a:off x="8748462" y="6488667"/>
            <a:ext cx="54977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21" name="Shape 121"/>
          <p:cNvSpPr/>
          <p:nvPr/>
        </p:nvSpPr>
        <p:spPr>
          <a:xfrm>
            <a:off x="0" y="980728"/>
            <a:ext cx="9144001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" name="Shape 122"/>
          <p:cNvSpPr/>
          <p:nvPr/>
        </p:nvSpPr>
        <p:spPr>
          <a:xfrm>
            <a:off x="0" y="1916832"/>
            <a:ext cx="9144001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" name="Shape 123"/>
          <p:cNvSpPr/>
          <p:nvPr/>
        </p:nvSpPr>
        <p:spPr>
          <a:xfrm>
            <a:off x="93469" y="149729"/>
            <a:ext cx="576067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124" name="Shape 124"/>
          <p:cNvSpPr/>
          <p:nvPr/>
        </p:nvSpPr>
        <p:spPr>
          <a:xfrm flipH="1">
            <a:off x="2915816" y="1916831"/>
            <a:ext cx="1" cy="511257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" name="Shape 125"/>
          <p:cNvSpPr/>
          <p:nvPr/>
        </p:nvSpPr>
        <p:spPr>
          <a:xfrm>
            <a:off x="7439175" y="106353"/>
            <a:ext cx="1584178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26" name="Shape 126"/>
          <p:cNvSpPr/>
          <p:nvPr/>
        </p:nvSpPr>
        <p:spPr>
          <a:xfrm>
            <a:off x="981577" y="298230"/>
            <a:ext cx="3800087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Introduction to Algebra</a:t>
            </a:r>
          </a:p>
        </p:txBody>
      </p:sp>
      <p:sp>
        <p:nvSpPr>
          <p:cNvPr id="127" name="Shape 127"/>
          <p:cNvSpPr/>
          <p:nvPr/>
        </p:nvSpPr>
        <p:spPr>
          <a:xfrm>
            <a:off x="61859" y="1037249"/>
            <a:ext cx="8774567" cy="802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are some of the keywords that I need to know when solving algebraic equations?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/>
        </p:nvSpPr>
        <p:spPr>
          <a:xfrm>
            <a:off x="8748462" y="6488667"/>
            <a:ext cx="54977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30" name="Shape 130"/>
          <p:cNvSpPr/>
          <p:nvPr/>
        </p:nvSpPr>
        <p:spPr>
          <a:xfrm>
            <a:off x="-1" y="980728"/>
            <a:ext cx="9144001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" name="Shape 131"/>
          <p:cNvSpPr/>
          <p:nvPr/>
        </p:nvSpPr>
        <p:spPr>
          <a:xfrm>
            <a:off x="-1" y="1916832"/>
            <a:ext cx="9144001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" name="Shape 132"/>
          <p:cNvSpPr/>
          <p:nvPr/>
        </p:nvSpPr>
        <p:spPr>
          <a:xfrm>
            <a:off x="93469" y="149729"/>
            <a:ext cx="576067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133" name="Shape 133"/>
          <p:cNvSpPr/>
          <p:nvPr/>
        </p:nvSpPr>
        <p:spPr>
          <a:xfrm flipH="1">
            <a:off x="2915816" y="1916832"/>
            <a:ext cx="1" cy="5112569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Shape 134"/>
          <p:cNvSpPr/>
          <p:nvPr/>
        </p:nvSpPr>
        <p:spPr>
          <a:xfrm>
            <a:off x="7439175" y="106353"/>
            <a:ext cx="1584178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35" name="Shape 135"/>
          <p:cNvSpPr/>
          <p:nvPr/>
        </p:nvSpPr>
        <p:spPr>
          <a:xfrm>
            <a:off x="981576" y="298230"/>
            <a:ext cx="3800087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Introduction to Algebra</a:t>
            </a:r>
          </a:p>
        </p:txBody>
      </p:sp>
      <p:sp>
        <p:nvSpPr>
          <p:cNvPr id="136" name="Shape 136"/>
          <p:cNvSpPr/>
          <p:nvPr/>
        </p:nvSpPr>
        <p:spPr>
          <a:xfrm>
            <a:off x="84090" y="1047459"/>
            <a:ext cx="8759305" cy="802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are some of the keywords that I need to know when solving algebraic equations? </a:t>
            </a:r>
          </a:p>
        </p:txBody>
      </p:sp>
      <p:sp>
        <p:nvSpPr>
          <p:cNvPr id="137" name="Shape 137"/>
          <p:cNvSpPr/>
          <p:nvPr/>
        </p:nvSpPr>
        <p:spPr>
          <a:xfrm>
            <a:off x="3135750" y="2189045"/>
            <a:ext cx="1208741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Consider:  </a:t>
            </a:r>
          </a:p>
        </p:txBody>
      </p:sp>
      <p:pic>
        <p:nvPicPr>
          <p:cNvPr id="138" name="image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41125" y="2814634"/>
            <a:ext cx="2679702" cy="3810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/>
          <p:nvPr/>
        </p:nvSpPr>
        <p:spPr>
          <a:xfrm>
            <a:off x="8748462" y="6488667"/>
            <a:ext cx="54977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41" name="Shape 141"/>
          <p:cNvSpPr/>
          <p:nvPr/>
        </p:nvSpPr>
        <p:spPr>
          <a:xfrm>
            <a:off x="-1" y="980728"/>
            <a:ext cx="9144001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" name="Shape 142"/>
          <p:cNvSpPr/>
          <p:nvPr/>
        </p:nvSpPr>
        <p:spPr>
          <a:xfrm>
            <a:off x="-1" y="1916832"/>
            <a:ext cx="9144001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" name="Shape 143"/>
          <p:cNvSpPr/>
          <p:nvPr/>
        </p:nvSpPr>
        <p:spPr>
          <a:xfrm>
            <a:off x="93469" y="149729"/>
            <a:ext cx="576067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144" name="Shape 144"/>
          <p:cNvSpPr/>
          <p:nvPr/>
        </p:nvSpPr>
        <p:spPr>
          <a:xfrm flipH="1">
            <a:off x="2915816" y="1916832"/>
            <a:ext cx="1" cy="5112569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Shape 145"/>
          <p:cNvSpPr/>
          <p:nvPr/>
        </p:nvSpPr>
        <p:spPr>
          <a:xfrm>
            <a:off x="7439175" y="106353"/>
            <a:ext cx="1584178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46" name="Shape 146"/>
          <p:cNvSpPr/>
          <p:nvPr/>
        </p:nvSpPr>
        <p:spPr>
          <a:xfrm>
            <a:off x="981576" y="298230"/>
            <a:ext cx="3800087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Introduction to Algebra</a:t>
            </a:r>
          </a:p>
        </p:txBody>
      </p:sp>
      <p:sp>
        <p:nvSpPr>
          <p:cNvPr id="147" name="Shape 147"/>
          <p:cNvSpPr/>
          <p:nvPr/>
        </p:nvSpPr>
        <p:spPr>
          <a:xfrm>
            <a:off x="75314" y="1091238"/>
            <a:ext cx="8819706" cy="802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are some of the keywords that I need to know when solving algebraic equations? </a:t>
            </a:r>
          </a:p>
        </p:txBody>
      </p:sp>
      <p:sp>
        <p:nvSpPr>
          <p:cNvPr id="148" name="Shape 148"/>
          <p:cNvSpPr/>
          <p:nvPr/>
        </p:nvSpPr>
        <p:spPr>
          <a:xfrm>
            <a:off x="3135750" y="2189045"/>
            <a:ext cx="1208741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Consider:  </a:t>
            </a:r>
          </a:p>
        </p:txBody>
      </p:sp>
      <p:pic>
        <p:nvPicPr>
          <p:cNvPr id="149" name="image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41125" y="2814634"/>
            <a:ext cx="2679702" cy="381002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Shape 150"/>
          <p:cNvSpPr/>
          <p:nvPr/>
        </p:nvSpPr>
        <p:spPr>
          <a:xfrm>
            <a:off x="3083097" y="3557070"/>
            <a:ext cx="6079774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This is an algebraic </a:t>
            </a:r>
            <a:r>
              <a:rPr>
                <a:solidFill>
                  <a:schemeClr val="accent1"/>
                </a:solidFill>
              </a:rPr>
              <a:t>equation</a:t>
            </a:r>
            <a:r>
              <a:t>. An </a:t>
            </a:r>
            <a:r>
              <a:rPr>
                <a:solidFill>
                  <a:schemeClr val="accent1"/>
                </a:solidFill>
              </a:rPr>
              <a:t>equation</a:t>
            </a:r>
            <a:r>
              <a:t> is a statement 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saying that </a:t>
            </a:r>
            <a:r>
              <a:rPr i="1"/>
              <a:t>“this</a:t>
            </a:r>
            <a:r>
              <a:t> equals </a:t>
            </a:r>
            <a:r>
              <a:rPr i="1"/>
              <a:t>that</a:t>
            </a:r>
            <a:r>
              <a:t>” or </a:t>
            </a:r>
            <a:r>
              <a:rPr b="1"/>
              <a:t>what is on the left side</a:t>
            </a:r>
            <a:endParaRPr b="1"/>
          </a:p>
          <a:p>
            <a:pPr>
              <a:defRPr b="1">
                <a:latin typeface="+mj-lt"/>
                <a:ea typeface="+mj-ea"/>
                <a:cs typeface="+mj-cs"/>
                <a:sym typeface="Calibri"/>
              </a:defRPr>
            </a:pPr>
            <a:r>
              <a:t>(4x - 7) is equal to what is on the right (5)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/>
          <p:nvPr/>
        </p:nvSpPr>
        <p:spPr>
          <a:xfrm>
            <a:off x="8748462" y="6488667"/>
            <a:ext cx="54977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53" name="Shape 153"/>
          <p:cNvSpPr/>
          <p:nvPr/>
        </p:nvSpPr>
        <p:spPr>
          <a:xfrm>
            <a:off x="-1" y="980728"/>
            <a:ext cx="9144001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Shape 154"/>
          <p:cNvSpPr/>
          <p:nvPr/>
        </p:nvSpPr>
        <p:spPr>
          <a:xfrm>
            <a:off x="-1" y="1916832"/>
            <a:ext cx="9144001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Shape 155"/>
          <p:cNvSpPr/>
          <p:nvPr/>
        </p:nvSpPr>
        <p:spPr>
          <a:xfrm>
            <a:off x="93469" y="149729"/>
            <a:ext cx="576067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156" name="Shape 156"/>
          <p:cNvSpPr/>
          <p:nvPr/>
        </p:nvSpPr>
        <p:spPr>
          <a:xfrm flipH="1">
            <a:off x="2915816" y="1916832"/>
            <a:ext cx="1" cy="5112569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" name="Shape 157"/>
          <p:cNvSpPr/>
          <p:nvPr/>
        </p:nvSpPr>
        <p:spPr>
          <a:xfrm>
            <a:off x="7439175" y="106353"/>
            <a:ext cx="1584178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58" name="Shape 158"/>
          <p:cNvSpPr/>
          <p:nvPr/>
        </p:nvSpPr>
        <p:spPr>
          <a:xfrm>
            <a:off x="981576" y="298230"/>
            <a:ext cx="3800087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Introduction to Algebra</a:t>
            </a:r>
          </a:p>
        </p:txBody>
      </p:sp>
      <p:sp>
        <p:nvSpPr>
          <p:cNvPr id="159" name="Shape 159"/>
          <p:cNvSpPr/>
          <p:nvPr/>
        </p:nvSpPr>
        <p:spPr>
          <a:xfrm>
            <a:off x="75314" y="1091238"/>
            <a:ext cx="8828722" cy="802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are some of the keywords that I need to know when solving algebraic equations? </a:t>
            </a:r>
          </a:p>
        </p:txBody>
      </p:sp>
      <p:sp>
        <p:nvSpPr>
          <p:cNvPr id="160" name="Shape 160"/>
          <p:cNvSpPr/>
          <p:nvPr/>
        </p:nvSpPr>
        <p:spPr>
          <a:xfrm>
            <a:off x="3039219" y="2020044"/>
            <a:ext cx="1208742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Consider:  </a:t>
            </a:r>
          </a:p>
        </p:txBody>
      </p:sp>
      <p:pic>
        <p:nvPicPr>
          <p:cNvPr id="161" name="image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49900" y="2677509"/>
            <a:ext cx="2679702" cy="381002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Shape 162"/>
          <p:cNvSpPr/>
          <p:nvPr/>
        </p:nvSpPr>
        <p:spPr>
          <a:xfrm>
            <a:off x="2979634" y="3520089"/>
            <a:ext cx="6225439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So that we can talk about equations, there are names for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the different parts (better than “that thingy there”, which</a:t>
            </a:r>
          </a:p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t>I’ve heard some of you say before!!!)</a:t>
            </a:r>
          </a:p>
        </p:txBody>
      </p:sp>
      <p:pic>
        <p:nvPicPr>
          <p:cNvPr id="163" name="image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63841" y="4623292"/>
            <a:ext cx="3552941" cy="17820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/>
          <p:nvPr/>
        </p:nvSpPr>
        <p:spPr>
          <a:xfrm>
            <a:off x="8748462" y="6488667"/>
            <a:ext cx="54977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66" name="Shape 166"/>
          <p:cNvSpPr/>
          <p:nvPr/>
        </p:nvSpPr>
        <p:spPr>
          <a:xfrm>
            <a:off x="-1" y="980728"/>
            <a:ext cx="9144001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" name="Shape 167"/>
          <p:cNvSpPr/>
          <p:nvPr/>
        </p:nvSpPr>
        <p:spPr>
          <a:xfrm>
            <a:off x="-1" y="1916832"/>
            <a:ext cx="9144001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Shape 168"/>
          <p:cNvSpPr/>
          <p:nvPr/>
        </p:nvSpPr>
        <p:spPr>
          <a:xfrm>
            <a:off x="93469" y="149729"/>
            <a:ext cx="576067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169" name="Shape 169"/>
          <p:cNvSpPr/>
          <p:nvPr/>
        </p:nvSpPr>
        <p:spPr>
          <a:xfrm flipH="1">
            <a:off x="2915816" y="1916832"/>
            <a:ext cx="1" cy="5112569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Shape 170"/>
          <p:cNvSpPr/>
          <p:nvPr/>
        </p:nvSpPr>
        <p:spPr>
          <a:xfrm>
            <a:off x="7439175" y="106353"/>
            <a:ext cx="1584178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71" name="Shape 171"/>
          <p:cNvSpPr/>
          <p:nvPr/>
        </p:nvSpPr>
        <p:spPr>
          <a:xfrm>
            <a:off x="981576" y="298230"/>
            <a:ext cx="3800087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Introduction to Algebra</a:t>
            </a:r>
          </a:p>
        </p:txBody>
      </p:sp>
      <p:sp>
        <p:nvSpPr>
          <p:cNvPr id="172" name="Shape 172"/>
          <p:cNvSpPr/>
          <p:nvPr/>
        </p:nvSpPr>
        <p:spPr>
          <a:xfrm>
            <a:off x="92865" y="1037249"/>
            <a:ext cx="8859503" cy="802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are some of the keywords that I need to know when solving algebraic equations? </a:t>
            </a:r>
          </a:p>
        </p:txBody>
      </p:sp>
      <p:pic>
        <p:nvPicPr>
          <p:cNvPr id="173" name="image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27179" y="3535524"/>
            <a:ext cx="5653000" cy="31600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image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02212" y="2064758"/>
            <a:ext cx="2646860" cy="13276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/>
          <p:nvPr/>
        </p:nvSpPr>
        <p:spPr>
          <a:xfrm>
            <a:off x="8748462" y="6488667"/>
            <a:ext cx="549777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77" name="Shape 177"/>
          <p:cNvSpPr/>
          <p:nvPr/>
        </p:nvSpPr>
        <p:spPr>
          <a:xfrm>
            <a:off x="0" y="980728"/>
            <a:ext cx="9144001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Shape 178"/>
          <p:cNvSpPr/>
          <p:nvPr/>
        </p:nvSpPr>
        <p:spPr>
          <a:xfrm>
            <a:off x="0" y="1916832"/>
            <a:ext cx="9144001" cy="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9" name="Shape 179"/>
          <p:cNvSpPr/>
          <p:nvPr/>
        </p:nvSpPr>
        <p:spPr>
          <a:xfrm>
            <a:off x="93469" y="149729"/>
            <a:ext cx="576067" cy="815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24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7</a:t>
            </a:r>
          </a:p>
          <a:p>
            <a:pPr>
              <a:defRPr sz="1600">
                <a:latin typeface="+mj-lt"/>
                <a:ea typeface="+mj-ea"/>
                <a:cs typeface="+mj-cs"/>
                <a:sym typeface="Calibri"/>
              </a:defRPr>
            </a:pPr>
            <a:r>
              <a:t>30</a:t>
            </a:r>
          </a:p>
        </p:txBody>
      </p:sp>
      <p:sp>
        <p:nvSpPr>
          <p:cNvPr id="180" name="Shape 180"/>
          <p:cNvSpPr/>
          <p:nvPr/>
        </p:nvSpPr>
        <p:spPr>
          <a:xfrm flipH="1">
            <a:off x="2915816" y="1916831"/>
            <a:ext cx="1" cy="5112571"/>
          </a:xfrm>
          <a:prstGeom prst="line">
            <a:avLst/>
          </a:prstGeom>
          <a:ln>
            <a:solidFill>
              <a:srgbClr val="BE4B4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" name="Shape 181"/>
          <p:cNvSpPr/>
          <p:nvPr/>
        </p:nvSpPr>
        <p:spPr>
          <a:xfrm>
            <a:off x="7439175" y="106353"/>
            <a:ext cx="1584178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82" name="Shape 182"/>
          <p:cNvSpPr/>
          <p:nvPr/>
        </p:nvSpPr>
        <p:spPr>
          <a:xfrm>
            <a:off x="981577" y="298230"/>
            <a:ext cx="3800087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Introduction to Algebra</a:t>
            </a:r>
          </a:p>
        </p:txBody>
      </p:sp>
      <p:sp>
        <p:nvSpPr>
          <p:cNvPr id="183" name="Shape 183"/>
          <p:cNvSpPr/>
          <p:nvPr/>
        </p:nvSpPr>
        <p:spPr>
          <a:xfrm>
            <a:off x="174350" y="1037249"/>
            <a:ext cx="8795300" cy="802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EQ – What are some of the keywords that I need to know when solving algebraic equations? </a:t>
            </a:r>
          </a:p>
        </p:txBody>
      </p:sp>
      <p:sp>
        <p:nvSpPr>
          <p:cNvPr id="184" name="Shape 184"/>
          <p:cNvSpPr/>
          <p:nvPr/>
        </p:nvSpPr>
        <p:spPr>
          <a:xfrm>
            <a:off x="112384" y="2105130"/>
            <a:ext cx="949781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Finally…</a:t>
            </a:r>
          </a:p>
        </p:txBody>
      </p:sp>
      <p:pic>
        <p:nvPicPr>
          <p:cNvPr id="185" name="image1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82611" y="2189045"/>
            <a:ext cx="6106923" cy="12839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/>
          <p:nvPr>
            <p:ph type="title"/>
          </p:nvPr>
        </p:nvSpPr>
        <p:spPr>
          <a:xfrm>
            <a:off x="467543" y="332656"/>
            <a:ext cx="8229601" cy="1143001"/>
          </a:xfrm>
          <a:prstGeom prst="rect">
            <a:avLst/>
          </a:prstGeom>
        </p:spPr>
        <p:txBody>
          <a:bodyPr/>
          <a:lstStyle/>
          <a:p>
            <a:pPr/>
            <a:r>
              <a:t>Task </a:t>
            </a:r>
          </a:p>
        </p:txBody>
      </p:sp>
      <p:sp>
        <p:nvSpPr>
          <p:cNvPr id="188" name="Shape 188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/>
            <a:r>
              <a:t> 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/>
          <p:nvPr>
            <p:ph type="title"/>
          </p:nvPr>
        </p:nvSpPr>
        <p:spPr>
          <a:xfrm>
            <a:off x="467543" y="332656"/>
            <a:ext cx="8229601" cy="1143001"/>
          </a:xfrm>
          <a:prstGeom prst="rect">
            <a:avLst/>
          </a:prstGeom>
        </p:spPr>
        <p:txBody>
          <a:bodyPr/>
          <a:lstStyle/>
          <a:p>
            <a:pPr/>
            <a:r>
              <a:t>Task </a:t>
            </a:r>
          </a:p>
        </p:txBody>
      </p:sp>
      <p:sp>
        <p:nvSpPr>
          <p:cNvPr id="191" name="Shape 191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/>
            <a:r>
              <a:t>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Screen Shot 2017-02-27 at 1.38.0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7109" y="373428"/>
            <a:ext cx="8656372" cy="60183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pPr/>
            <a:r>
              <a:t>Notes Review</a:t>
            </a:r>
          </a:p>
        </p:txBody>
      </p:sp>
      <p:sp>
        <p:nvSpPr>
          <p:cNvPr id="196" name="Shape 196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24, 7 ,30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Date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Title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Essential question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Notes complete 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Notes complete with colour and diagrams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Questions completed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Contents page filled in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sz="2900"/>
            </a:pPr>
            <a:r>
              <a:t>Formula page filled 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/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pPr/>
            <a:r>
              <a:t>Homework</a:t>
            </a:r>
          </a:p>
        </p:txBody>
      </p:sp>
      <p:sp>
        <p:nvSpPr>
          <p:cNvPr id="199" name="Shape 199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Review your notes and write a summary answering the essential question.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
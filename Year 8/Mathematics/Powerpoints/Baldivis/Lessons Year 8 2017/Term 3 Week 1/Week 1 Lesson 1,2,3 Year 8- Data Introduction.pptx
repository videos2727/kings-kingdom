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6" r:id="rId3"/>
    <p:sldId id="264" r:id="rId4"/>
    <p:sldId id="265" r:id="rId5"/>
    <p:sldId id="267" r:id="rId6"/>
    <p:sldId id="259" r:id="rId7"/>
    <p:sldId id="269" r:id="rId8"/>
    <p:sldId id="270" r:id="rId9"/>
    <p:sldId id="271" r:id="rId10"/>
    <p:sldId id="272" r:id="rId11"/>
    <p:sldId id="273" r:id="rId12"/>
    <p:sldId id="261" r:id="rId13"/>
    <p:sldId id="260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Data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623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85972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462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Let’s get writing!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What words do you associate with data? Do a </a:t>
            </a:r>
            <a:r>
              <a:rPr lang="en-US" sz="3600" dirty="0" err="1" smtClean="0"/>
              <a:t>quickwrite</a:t>
            </a:r>
            <a:r>
              <a:rPr lang="en-US" sz="3600" dirty="0" smtClean="0"/>
              <a:t> for 2 mins and see what you can come up with.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00894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782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0343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315" y="2020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02479" y="1303653"/>
            <a:ext cx="16207" cy="57259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74481" y="11749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21421" y="200688"/>
            <a:ext cx="1794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 Data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787473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different types of data?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1954536" y="2462378"/>
            <a:ext cx="73486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/>
              <a:t>Categorical data: </a:t>
            </a:r>
            <a:r>
              <a:rPr lang="en-AU" dirty="0" smtClean="0"/>
              <a:t>Described using words (</a:t>
            </a:r>
            <a:r>
              <a:rPr lang="en-AU" dirty="0" err="1" smtClean="0"/>
              <a:t>Eg</a:t>
            </a:r>
            <a:r>
              <a:rPr lang="en-AU" dirty="0" smtClean="0"/>
              <a:t> type of pet)</a:t>
            </a:r>
          </a:p>
          <a:p>
            <a:endParaRPr lang="en-AU" b="1" dirty="0"/>
          </a:p>
          <a:p>
            <a:r>
              <a:rPr lang="en-AU" b="1" dirty="0" smtClean="0"/>
              <a:t>Numerical data: </a:t>
            </a:r>
            <a:r>
              <a:rPr lang="en-AU" dirty="0" smtClean="0"/>
              <a:t>Expressed </a:t>
            </a:r>
            <a:r>
              <a:rPr lang="en-AU" dirty="0"/>
              <a:t>as </a:t>
            </a:r>
            <a:r>
              <a:rPr lang="en-AU" dirty="0" smtClean="0"/>
              <a:t>numbers</a:t>
            </a:r>
            <a:r>
              <a:rPr lang="en-AU" dirty="0"/>
              <a:t> </a:t>
            </a:r>
            <a:r>
              <a:rPr lang="en-AU" dirty="0" smtClean="0"/>
              <a:t>(</a:t>
            </a:r>
            <a:r>
              <a:rPr lang="en-AU" dirty="0" err="1" smtClean="0"/>
              <a:t>Eg</a:t>
            </a:r>
            <a:r>
              <a:rPr lang="en-AU" dirty="0" smtClean="0"/>
              <a:t> number of pets)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Discrete </a:t>
            </a:r>
            <a:r>
              <a:rPr lang="en-AU" b="1" dirty="0" smtClean="0"/>
              <a:t>data: </a:t>
            </a:r>
            <a:r>
              <a:rPr lang="en-AU" dirty="0" smtClean="0"/>
              <a:t>Not ordered, only whole numbers (</a:t>
            </a:r>
            <a:r>
              <a:rPr lang="en-AU" dirty="0" err="1" smtClean="0"/>
              <a:t>Eg</a:t>
            </a:r>
            <a:r>
              <a:rPr lang="en-AU" dirty="0" smtClean="0"/>
              <a:t> rolling a dice)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 smtClean="0"/>
              <a:t>Continuous data: </a:t>
            </a:r>
            <a:r>
              <a:rPr lang="en-AU" dirty="0" smtClean="0"/>
              <a:t>Ordered, includes decimals (</a:t>
            </a:r>
            <a:r>
              <a:rPr lang="en-AU" dirty="0" err="1"/>
              <a:t>E</a:t>
            </a:r>
            <a:r>
              <a:rPr lang="en-AU" dirty="0" err="1" smtClean="0"/>
              <a:t>g</a:t>
            </a:r>
            <a:r>
              <a:rPr lang="en-AU" dirty="0" smtClean="0"/>
              <a:t> height)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7359" y="1405646"/>
            <a:ext cx="76566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 smtClean="0"/>
              <a:t>Data is facts and statistics used for reference or analysis. </a:t>
            </a:r>
            <a:r>
              <a:rPr lang="en-US" i="1" dirty="0" smtClean="0"/>
              <a:t>Large amounts of data can be used to help us understand the world and predict the future.</a:t>
            </a:r>
            <a:r>
              <a:rPr lang="en-US" dirty="0" smtClean="0"/>
              <a:t> Data is displayed using graphs and tables so it is easy to see patterns.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75315" y="1405646"/>
            <a:ext cx="160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Insert question here</a:t>
            </a:r>
            <a:endParaRPr lang="en-AU" b="1" i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45" y="2462378"/>
            <a:ext cx="160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Insert question here</a:t>
            </a:r>
            <a:endParaRPr lang="en-AU" b="1" i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198" y="4073108"/>
            <a:ext cx="3522973" cy="258731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19942257">
            <a:off x="1549203" y="4464168"/>
            <a:ext cx="394038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Be careful of categorical data that uses numbers!</a:t>
            </a:r>
            <a:endParaRPr lang="en-US" sz="3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562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Categorical or Numerical?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089" y="1453820"/>
            <a:ext cx="6202053" cy="4160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78" y="5739393"/>
            <a:ext cx="6215295" cy="35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1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Discrete or Continuous?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319" y="1423154"/>
            <a:ext cx="6347359" cy="4710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319" y="6133171"/>
            <a:ext cx="6110869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type of graph should you use for each of the types?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4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782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0343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315" y="2020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02479" y="1303653"/>
            <a:ext cx="16207" cy="57259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74481" y="11749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21421" y="200688"/>
            <a:ext cx="1794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 Data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787473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potential issues when collecting data?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75315" y="1405646"/>
            <a:ext cx="160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Insert question here</a:t>
            </a:r>
            <a:endParaRPr lang="en-AU" b="1" i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31" y="2935873"/>
            <a:ext cx="7109973" cy="1926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37331" y="1405646"/>
            <a:ext cx="6994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Collecting data can be prone to bias. Bias is when something is unfair because of particular reason.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74755" y="2499258"/>
            <a:ext cx="4731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You do not need to copy paragraph below!</a:t>
            </a:r>
            <a:endParaRPr lang="en-A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937331" y="2119260"/>
            <a:ext cx="6994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Have you come across bias before? Do a quick write for the word bias.</a:t>
            </a:r>
            <a:endParaRPr lang="en-AU" i="1" dirty="0"/>
          </a:p>
        </p:txBody>
      </p:sp>
      <p:sp>
        <p:nvSpPr>
          <p:cNvPr id="17" name="TextBox 16"/>
          <p:cNvSpPr txBox="1"/>
          <p:nvPr/>
        </p:nvSpPr>
        <p:spPr>
          <a:xfrm>
            <a:off x="1937331" y="4862121"/>
            <a:ext cx="69947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Some reasons for bias</a:t>
            </a:r>
          </a:p>
          <a:p>
            <a:r>
              <a:rPr lang="en-US" dirty="0" smtClean="0"/>
              <a:t>Group</a:t>
            </a:r>
            <a:r>
              <a:rPr lang="en-US" dirty="0" smtClean="0"/>
              <a:t>: 			</a:t>
            </a:r>
            <a:r>
              <a:rPr lang="en-US" dirty="0" smtClean="0"/>
              <a:t>	Survey </a:t>
            </a:r>
            <a:r>
              <a:rPr lang="en-US" dirty="0" smtClean="0"/>
              <a:t>Question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People who choose to be involved     - Limited or poor options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Only people who are available	 - Leading questions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Age				  - Confusing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Gender			  - Offering reward for particular 				     response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4862121"/>
            <a:ext cx="160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Insert question here</a:t>
            </a:r>
            <a:endParaRPr lang="en-AU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45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84" y="264765"/>
            <a:ext cx="8147360" cy="6271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1932" y="230893"/>
            <a:ext cx="327845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and decide what makes it biased.</a:t>
            </a:r>
            <a:endParaRPr lang="en-AU" sz="1600" b="1" dirty="0"/>
          </a:p>
        </p:txBody>
      </p:sp>
    </p:spTree>
    <p:extLst>
      <p:ext uri="{BB962C8B-B14F-4D97-AF65-F5344CB8AC3E}">
        <p14:creationId xmlns:p14="http://schemas.microsoft.com/office/powerpoint/2010/main" val="159796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726418"/>
            <a:ext cx="7968940" cy="51357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94490"/>
            <a:ext cx="7607238" cy="23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85" y="2488059"/>
            <a:ext cx="8164429" cy="302646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Now you have a go!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Turn to page 178 in the Dwyer book (or see below)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506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782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0343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315" y="2020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562296" y="1293575"/>
            <a:ext cx="16207" cy="57259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74481" y="11749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21421" y="200688"/>
            <a:ext cx="1794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 Data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4" y="841770"/>
            <a:ext cx="8779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different ways of collecting data for large groups?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1624264" y="1351133"/>
            <a:ext cx="723097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In a </a:t>
            </a:r>
            <a:r>
              <a:rPr lang="en-AU" b="1" dirty="0" smtClean="0"/>
              <a:t>census</a:t>
            </a:r>
            <a:r>
              <a:rPr lang="en-AU" dirty="0" smtClean="0"/>
              <a:t> (or population survey), everyone in a population </a:t>
            </a:r>
            <a:r>
              <a:rPr lang="en-AU" dirty="0"/>
              <a:t>is surveyed. </a:t>
            </a:r>
            <a:endParaRPr lang="en-AU" dirty="0" smtClean="0"/>
          </a:p>
          <a:p>
            <a:endParaRPr lang="en-AU" dirty="0"/>
          </a:p>
          <a:p>
            <a:r>
              <a:rPr lang="en-AU" dirty="0" smtClean="0"/>
              <a:t>In </a:t>
            </a:r>
            <a:r>
              <a:rPr lang="en-AU" dirty="0"/>
              <a:t>a </a:t>
            </a:r>
            <a:r>
              <a:rPr lang="en-AU" b="1" dirty="0"/>
              <a:t>sample</a:t>
            </a:r>
            <a:r>
              <a:rPr lang="en-AU" dirty="0"/>
              <a:t>, </a:t>
            </a:r>
            <a:r>
              <a:rPr lang="en-AU" dirty="0" smtClean="0"/>
              <a:t>a section </a:t>
            </a:r>
            <a:r>
              <a:rPr lang="en-AU" dirty="0"/>
              <a:t>of the population is surveyed</a:t>
            </a:r>
            <a:r>
              <a:rPr lang="en-AU" dirty="0" smtClean="0"/>
              <a:t>.</a:t>
            </a:r>
          </a:p>
          <a:p>
            <a:r>
              <a:rPr lang="en-AU" dirty="0" smtClean="0"/>
              <a:t>	</a:t>
            </a:r>
          </a:p>
          <a:p>
            <a:r>
              <a:rPr lang="en-AU" b="1" dirty="0" smtClean="0"/>
              <a:t>A </a:t>
            </a:r>
            <a:r>
              <a:rPr lang="en-AU" b="1" dirty="0"/>
              <a:t>census is more accurate but samples </a:t>
            </a:r>
            <a:r>
              <a:rPr lang="en-AU" b="1" dirty="0" smtClean="0"/>
              <a:t>are quicker and cheaper.</a:t>
            </a:r>
            <a:endParaRPr lang="en-AU" b="1" dirty="0"/>
          </a:p>
          <a:p>
            <a:endParaRPr lang="en-AU" dirty="0"/>
          </a:p>
          <a:p>
            <a:r>
              <a:rPr lang="en-AU" dirty="0" smtClean="0"/>
              <a:t>There are three types of samples that can be used.</a:t>
            </a:r>
          </a:p>
          <a:p>
            <a:endParaRPr lang="en-AU" b="1" dirty="0" smtClean="0"/>
          </a:p>
          <a:p>
            <a:r>
              <a:rPr lang="en-AU" b="1" dirty="0" smtClean="0"/>
              <a:t>1) Random: </a:t>
            </a:r>
            <a:r>
              <a:rPr lang="en-AU" dirty="0" smtClean="0"/>
              <a:t>Random groups </a:t>
            </a:r>
          </a:p>
          <a:p>
            <a:r>
              <a:rPr lang="en-AU" i="1" dirty="0" smtClean="0"/>
              <a:t>Everyone is randomly chosen.</a:t>
            </a:r>
          </a:p>
          <a:p>
            <a:endParaRPr lang="en-AU" dirty="0"/>
          </a:p>
          <a:p>
            <a:r>
              <a:rPr lang="en-AU" b="1" dirty="0" smtClean="0"/>
              <a:t>2) Stratified: </a:t>
            </a:r>
            <a:r>
              <a:rPr lang="en-AU" dirty="0" smtClean="0"/>
              <a:t>Proportional Groups</a:t>
            </a:r>
          </a:p>
          <a:p>
            <a:r>
              <a:rPr lang="en-AU" i="1" dirty="0" smtClean="0"/>
              <a:t>In stratified, people are organised into groups and a proportionate number of each group is sampled. </a:t>
            </a:r>
            <a:r>
              <a:rPr lang="en-AU" i="1" dirty="0" err="1" smtClean="0"/>
              <a:t>Eg</a:t>
            </a:r>
            <a:r>
              <a:rPr lang="en-AU" i="1" dirty="0" smtClean="0"/>
              <a:t> if there is 30 male teachers and 70 female teachers the a sample of 10 teachers should have 3 males and 7 females.</a:t>
            </a:r>
          </a:p>
          <a:p>
            <a:endParaRPr lang="en-AU" dirty="0"/>
          </a:p>
          <a:p>
            <a:r>
              <a:rPr lang="en-AU" b="1" dirty="0" smtClean="0"/>
              <a:t>3) Systematic: </a:t>
            </a:r>
            <a:r>
              <a:rPr lang="en-AU" dirty="0" smtClean="0"/>
              <a:t>Systematic Groups</a:t>
            </a:r>
          </a:p>
          <a:p>
            <a:r>
              <a:rPr lang="en-AU" i="1" dirty="0" smtClean="0"/>
              <a:t>When people surveyed are chosen using a system.</a:t>
            </a:r>
          </a:p>
          <a:p>
            <a:r>
              <a:rPr lang="en-AU" i="1" dirty="0" err="1" smtClean="0"/>
              <a:t>Eg</a:t>
            </a:r>
            <a:r>
              <a:rPr lang="en-AU" i="1" dirty="0" smtClean="0"/>
              <a:t> – When arranged in a sequence, every 20</a:t>
            </a:r>
            <a:r>
              <a:rPr lang="en-AU" i="1" baseline="30000" dirty="0" smtClean="0"/>
              <a:t>th</a:t>
            </a:r>
            <a:r>
              <a:rPr lang="en-AU" i="1" dirty="0" smtClean="0"/>
              <a:t> person from a list is surveyed.</a:t>
            </a:r>
          </a:p>
          <a:p>
            <a:endParaRPr lang="en-AU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-30016" y="1367000"/>
            <a:ext cx="160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Insert question here</a:t>
            </a:r>
            <a:endParaRPr lang="en-AU" b="1" i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38120" y="2989925"/>
            <a:ext cx="160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Insert question here</a:t>
            </a:r>
            <a:endParaRPr lang="en-AU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26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Time to collect some data!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7185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Have a go at writing your own survey question to ask the rest of the class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547" y="2885111"/>
            <a:ext cx="5628306" cy="2052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0213544">
            <a:off x="586166" y="3284238"/>
            <a:ext cx="222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good way to collect data is using a frequency table</a:t>
            </a:r>
            <a:endParaRPr lang="en-AU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26564" y="5260245"/>
            <a:ext cx="7886700" cy="871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Was your survey question biased? What about your sample group?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9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2204</TotalTime>
  <Words>426</Words>
  <Application>Microsoft Office PowerPoint</Application>
  <PresentationFormat>On-screen Show (4:3)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My Data Interactive Notebook</vt:lpstr>
      <vt:lpstr>Interactive Notebooks!</vt:lpstr>
      <vt:lpstr>PowerPoint Presentation</vt:lpstr>
      <vt:lpstr>PowerPoint Presentation</vt:lpstr>
      <vt:lpstr>Let’s get writing!</vt:lpstr>
      <vt:lpstr>PowerPoint Presentation</vt:lpstr>
      <vt:lpstr>Categorical or Numerical?</vt:lpstr>
      <vt:lpstr>Discrete or Continuous?</vt:lpstr>
      <vt:lpstr>PowerPoint Presentation</vt:lpstr>
      <vt:lpstr>PowerPoint Presentation</vt:lpstr>
      <vt:lpstr>PowerPoint Presentation</vt:lpstr>
      <vt:lpstr>Now you have a go!</vt:lpstr>
      <vt:lpstr>PowerPoint Presentation</vt:lpstr>
      <vt:lpstr>Time to collect some data!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e4057735</cp:lastModifiedBy>
  <cp:revision>51</cp:revision>
  <dcterms:created xsi:type="dcterms:W3CDTF">2016-04-30T07:20:25Z</dcterms:created>
  <dcterms:modified xsi:type="dcterms:W3CDTF">2017-07-18T09:25:39Z</dcterms:modified>
</cp:coreProperties>
</file>
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63" r:id="rId2"/>
    <p:sldId id="278" r:id="rId3"/>
    <p:sldId id="275" r:id="rId4"/>
    <p:sldId id="279" r:id="rId5"/>
    <p:sldId id="276" r:id="rId6"/>
    <p:sldId id="280" r:id="rId7"/>
    <p:sldId id="281" r:id="rId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74" d="100"/>
          <a:sy n="74" d="100"/>
        </p:scale>
        <p:origin x="129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47BE6B-52E9-4DB5-9634-6473640C7AC5}" type="datetimeFigureOut">
              <a:rPr lang="en-AU" smtClean="0"/>
              <a:t>19/09/2017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2F4BB7-8858-40E3-A382-04ACA57A5EF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79023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47BE6B-52E9-4DB5-9634-6473640C7AC5}" type="datetimeFigureOut">
              <a:rPr lang="en-AU" smtClean="0"/>
              <a:t>19/09/2017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2F4BB7-8858-40E3-A382-04ACA57A5EF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586585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47BE6B-52E9-4DB5-9634-6473640C7AC5}" type="datetimeFigureOut">
              <a:rPr lang="en-AU" smtClean="0"/>
              <a:t>19/09/2017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2F4BB7-8858-40E3-A382-04ACA57A5EF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727491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47BE6B-52E9-4DB5-9634-6473640C7AC5}" type="datetimeFigureOut">
              <a:rPr lang="en-AU" smtClean="0"/>
              <a:t>19/09/2017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2F4BB7-8858-40E3-A382-04ACA57A5EF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698393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47BE6B-52E9-4DB5-9634-6473640C7AC5}" type="datetimeFigureOut">
              <a:rPr lang="en-AU" smtClean="0"/>
              <a:t>19/09/2017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2F4BB7-8858-40E3-A382-04ACA57A5EF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079763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47BE6B-52E9-4DB5-9634-6473640C7AC5}" type="datetimeFigureOut">
              <a:rPr lang="en-AU" smtClean="0"/>
              <a:t>19/09/2017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2F4BB7-8858-40E3-A382-04ACA57A5EF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204197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47BE6B-52E9-4DB5-9634-6473640C7AC5}" type="datetimeFigureOut">
              <a:rPr lang="en-AU" smtClean="0"/>
              <a:t>19/09/2017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2F4BB7-8858-40E3-A382-04ACA57A5EF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012156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47BE6B-52E9-4DB5-9634-6473640C7AC5}" type="datetimeFigureOut">
              <a:rPr lang="en-AU" smtClean="0"/>
              <a:t>19/09/2017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2F4BB7-8858-40E3-A382-04ACA57A5EF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415298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47BE6B-52E9-4DB5-9634-6473640C7AC5}" type="datetimeFigureOut">
              <a:rPr lang="en-AU" smtClean="0"/>
              <a:t>19/09/2017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2F4BB7-8858-40E3-A382-04ACA57A5EF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008563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47BE6B-52E9-4DB5-9634-6473640C7AC5}" type="datetimeFigureOut">
              <a:rPr lang="en-AU" smtClean="0"/>
              <a:t>19/09/2017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2F4BB7-8858-40E3-A382-04ACA57A5EF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202662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47BE6B-52E9-4DB5-9634-6473640C7AC5}" type="datetimeFigureOut">
              <a:rPr lang="en-AU" smtClean="0"/>
              <a:t>19/09/2017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2F4BB7-8858-40E3-A382-04ACA57A5EF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573161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747BE6B-52E9-4DB5-9634-6473640C7AC5}" type="datetimeFigureOut">
              <a:rPr lang="en-AU" smtClean="0"/>
              <a:t>19/09/2017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92F4BB7-8858-40E3-A382-04ACA57A5EF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331597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42181" y="548481"/>
            <a:ext cx="8206283" cy="752285"/>
          </a:xfrm>
        </p:spPr>
        <p:txBody>
          <a:bodyPr>
            <a:normAutofit/>
          </a:bodyPr>
          <a:lstStyle/>
          <a:p>
            <a:r>
              <a:rPr lang="en-AU" sz="4800" dirty="0" smtClean="0">
                <a:latin typeface="+mn-lt"/>
              </a:rPr>
              <a:t>Data and Time Revision</a:t>
            </a:r>
            <a:endParaRPr lang="en-AU" sz="4800" dirty="0">
              <a:latin typeface="+mn-lt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63081" y="4078694"/>
            <a:ext cx="6858000" cy="1655762"/>
          </a:xfrm>
        </p:spPr>
        <p:txBody>
          <a:bodyPr>
            <a:normAutofit fontScale="77500" lnSpcReduction="20000"/>
          </a:bodyPr>
          <a:lstStyle/>
          <a:p>
            <a:pPr algn="l"/>
            <a:r>
              <a:rPr lang="en-AU" dirty="0" smtClean="0"/>
              <a:t>Name </a:t>
            </a:r>
          </a:p>
          <a:p>
            <a:pPr algn="l"/>
            <a:r>
              <a:rPr lang="en-AU" dirty="0" smtClean="0"/>
              <a:t>Class </a:t>
            </a:r>
          </a:p>
          <a:p>
            <a:pPr algn="l"/>
            <a:r>
              <a:rPr lang="en-AU" dirty="0" smtClean="0"/>
              <a:t>Teacher </a:t>
            </a:r>
          </a:p>
          <a:p>
            <a:pPr algn="l"/>
            <a:r>
              <a:rPr lang="en-AU" dirty="0" smtClean="0"/>
              <a:t>Semester 2</a:t>
            </a:r>
          </a:p>
          <a:p>
            <a:pPr algn="l"/>
            <a:r>
              <a:rPr lang="en-AU" dirty="0" smtClean="0"/>
              <a:t>Term 3</a:t>
            </a:r>
          </a:p>
          <a:p>
            <a:pPr algn="l"/>
            <a:endParaRPr lang="en-AU" dirty="0" smtClean="0"/>
          </a:p>
        </p:txBody>
      </p:sp>
      <p:sp>
        <p:nvSpPr>
          <p:cNvPr id="13" name="TextBox 12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1</a:t>
            </a:r>
          </a:p>
        </p:txBody>
      </p:sp>
      <p:pic>
        <p:nvPicPr>
          <p:cNvPr id="1026" name="Picture 2" descr="Image result for graph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18623" y="2018506"/>
            <a:ext cx="2746917" cy="20601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108414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9552" y="260648"/>
            <a:ext cx="8216153" cy="61984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69333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628650" y="223459"/>
            <a:ext cx="7886700" cy="690941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 smtClean="0"/>
              <a:t>Statistics Revision</a:t>
            </a:r>
            <a:endParaRPr lang="en-AU" dirty="0"/>
          </a:p>
        </p:txBody>
      </p:sp>
      <p:sp>
        <p:nvSpPr>
          <p:cNvPr id="4" name="Rectangle 3"/>
          <p:cNvSpPr/>
          <p:nvPr/>
        </p:nvSpPr>
        <p:spPr>
          <a:xfrm>
            <a:off x="417893" y="914400"/>
            <a:ext cx="7348691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lang="en-AU" b="1" dirty="0" smtClean="0"/>
              <a:t>Categorical data: </a:t>
            </a:r>
            <a:r>
              <a:rPr lang="en-AU" dirty="0" smtClean="0"/>
              <a:t>Described using words (</a:t>
            </a:r>
            <a:r>
              <a:rPr lang="en-AU" dirty="0" err="1" smtClean="0"/>
              <a:t>Eg</a:t>
            </a:r>
            <a:r>
              <a:rPr lang="en-AU" dirty="0" smtClean="0"/>
              <a:t> type of pet</a:t>
            </a:r>
            <a:r>
              <a:rPr lang="en-AU" dirty="0" smtClean="0"/>
              <a:t>)</a:t>
            </a:r>
            <a:endParaRPr lang="en-AU" b="1" dirty="0"/>
          </a:p>
          <a:p>
            <a:pPr>
              <a:spcBef>
                <a:spcPts val="600"/>
              </a:spcBef>
            </a:pPr>
            <a:r>
              <a:rPr lang="en-AU" b="1" dirty="0" smtClean="0"/>
              <a:t>Discrete Numerical </a:t>
            </a:r>
            <a:r>
              <a:rPr lang="en-AU" b="1" dirty="0" smtClean="0"/>
              <a:t>data: </a:t>
            </a:r>
            <a:r>
              <a:rPr lang="en-AU" dirty="0" smtClean="0"/>
              <a:t>Expressed </a:t>
            </a:r>
            <a:r>
              <a:rPr lang="en-AU" dirty="0"/>
              <a:t>as </a:t>
            </a:r>
            <a:r>
              <a:rPr lang="en-AU" dirty="0" smtClean="0"/>
              <a:t>whole numbers </a:t>
            </a:r>
            <a:r>
              <a:rPr lang="en-AU" dirty="0" smtClean="0"/>
              <a:t>(</a:t>
            </a:r>
            <a:r>
              <a:rPr lang="en-AU" dirty="0" err="1" smtClean="0"/>
              <a:t>Eg</a:t>
            </a:r>
            <a:r>
              <a:rPr lang="en-AU" dirty="0" smtClean="0"/>
              <a:t> number of </a:t>
            </a:r>
            <a:r>
              <a:rPr lang="en-AU" dirty="0" smtClean="0"/>
              <a:t>pets)</a:t>
            </a:r>
          </a:p>
          <a:p>
            <a:pPr>
              <a:spcBef>
                <a:spcPts val="600"/>
              </a:spcBef>
            </a:pPr>
            <a:r>
              <a:rPr lang="en-AU" b="1" dirty="0" smtClean="0"/>
              <a:t>Continuous </a:t>
            </a:r>
            <a:r>
              <a:rPr lang="en-AU" b="1" dirty="0" smtClean="0"/>
              <a:t>data: </a:t>
            </a:r>
            <a:r>
              <a:rPr lang="en-AU" dirty="0" smtClean="0"/>
              <a:t>Ordered numbers, </a:t>
            </a:r>
            <a:r>
              <a:rPr lang="en-AU" dirty="0" smtClean="0"/>
              <a:t>includes decimals (</a:t>
            </a:r>
            <a:r>
              <a:rPr lang="en-AU" dirty="0" err="1"/>
              <a:t>E</a:t>
            </a:r>
            <a:r>
              <a:rPr lang="en-AU" dirty="0" err="1" smtClean="0"/>
              <a:t>g</a:t>
            </a:r>
            <a:r>
              <a:rPr lang="en-AU" dirty="0" smtClean="0"/>
              <a:t> height)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7893" y="2027465"/>
            <a:ext cx="82109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Biased data </a:t>
            </a:r>
            <a:r>
              <a:rPr lang="en-US" dirty="0" smtClean="0"/>
              <a:t>is when </a:t>
            </a:r>
            <a:r>
              <a:rPr lang="en-US" dirty="0" smtClean="0"/>
              <a:t>the data</a:t>
            </a:r>
            <a:r>
              <a:rPr lang="en-US" dirty="0" smtClean="0"/>
              <a:t> </a:t>
            </a:r>
            <a:r>
              <a:rPr lang="en-US" dirty="0" smtClean="0"/>
              <a:t>is unfair because of particular reason.</a:t>
            </a:r>
            <a:endParaRPr lang="en-AU" dirty="0"/>
          </a:p>
        </p:txBody>
      </p:sp>
      <p:sp>
        <p:nvSpPr>
          <p:cNvPr id="6" name="Rectangle 5"/>
          <p:cNvSpPr/>
          <p:nvPr/>
        </p:nvSpPr>
        <p:spPr>
          <a:xfrm>
            <a:off x="417893" y="2398659"/>
            <a:ext cx="7230978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lang="en-AU" dirty="0"/>
              <a:t>In a </a:t>
            </a:r>
            <a:r>
              <a:rPr lang="en-AU" b="1" dirty="0" smtClean="0"/>
              <a:t>census</a:t>
            </a:r>
            <a:r>
              <a:rPr lang="en-AU" dirty="0" smtClean="0"/>
              <a:t> (or population survey), everyone in a population </a:t>
            </a:r>
            <a:r>
              <a:rPr lang="en-AU" dirty="0"/>
              <a:t>is surveyed. </a:t>
            </a:r>
          </a:p>
          <a:p>
            <a:pPr>
              <a:spcBef>
                <a:spcPts val="600"/>
              </a:spcBef>
            </a:pPr>
            <a:r>
              <a:rPr lang="en-AU" dirty="0" smtClean="0"/>
              <a:t>In </a:t>
            </a:r>
            <a:r>
              <a:rPr lang="en-AU" dirty="0"/>
              <a:t>a </a:t>
            </a:r>
            <a:r>
              <a:rPr lang="en-AU" b="1" dirty="0"/>
              <a:t>sample</a:t>
            </a:r>
            <a:r>
              <a:rPr lang="en-AU" dirty="0"/>
              <a:t>, </a:t>
            </a:r>
            <a:r>
              <a:rPr lang="en-AU" dirty="0" smtClean="0"/>
              <a:t>a section </a:t>
            </a:r>
            <a:r>
              <a:rPr lang="en-AU" dirty="0"/>
              <a:t>of the population is surveyed</a:t>
            </a:r>
            <a:r>
              <a:rPr lang="en-AU" dirty="0" smtClean="0"/>
              <a:t>.</a:t>
            </a:r>
            <a:r>
              <a:rPr lang="en-AU" dirty="0" smtClean="0"/>
              <a:t>	</a:t>
            </a:r>
          </a:p>
          <a:p>
            <a:pPr>
              <a:spcBef>
                <a:spcPts val="600"/>
              </a:spcBef>
            </a:pPr>
            <a:r>
              <a:rPr lang="en-AU" i="1" dirty="0" smtClean="0"/>
              <a:t>A </a:t>
            </a:r>
            <a:r>
              <a:rPr lang="en-AU" i="1" dirty="0"/>
              <a:t>c</a:t>
            </a:r>
            <a:r>
              <a:rPr lang="en-AU" i="1" dirty="0" smtClean="0"/>
              <a:t>ensus is </a:t>
            </a:r>
            <a:r>
              <a:rPr lang="en-AU" i="1" dirty="0"/>
              <a:t>more accurate but </a:t>
            </a:r>
            <a:r>
              <a:rPr lang="en-AU" i="1" dirty="0" smtClean="0"/>
              <a:t>samples are </a:t>
            </a:r>
            <a:r>
              <a:rPr lang="en-AU" i="1" dirty="0" smtClean="0"/>
              <a:t>quicker and cheaper</a:t>
            </a:r>
            <a:r>
              <a:rPr lang="en-AU" i="1" dirty="0" smtClean="0"/>
              <a:t>.</a:t>
            </a:r>
            <a:endParaRPr lang="en-AU" i="1" dirty="0"/>
          </a:p>
        </p:txBody>
      </p:sp>
      <p:sp>
        <p:nvSpPr>
          <p:cNvPr id="7" name="TextBox 6"/>
          <p:cNvSpPr txBox="1"/>
          <p:nvPr/>
        </p:nvSpPr>
        <p:spPr>
          <a:xfrm>
            <a:off x="417893" y="5447965"/>
            <a:ext cx="7989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Outliers </a:t>
            </a:r>
            <a:r>
              <a:rPr lang="en-US" b="1" dirty="0" smtClean="0"/>
              <a:t>are extreme values</a:t>
            </a:r>
            <a:r>
              <a:rPr lang="en-US" dirty="0" smtClean="0"/>
              <a:t>. They may be a mistake and we should remove them</a:t>
            </a:r>
            <a:endParaRPr lang="en-US" dirty="0" smtClean="0"/>
          </a:p>
        </p:txBody>
      </p:sp>
      <p:sp>
        <p:nvSpPr>
          <p:cNvPr id="8" name="TextBox 7"/>
          <p:cNvSpPr txBox="1"/>
          <p:nvPr/>
        </p:nvSpPr>
        <p:spPr>
          <a:xfrm>
            <a:off x="417893" y="5867192"/>
            <a:ext cx="798905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The mean and range </a:t>
            </a:r>
            <a:r>
              <a:rPr lang="en-US" b="1" dirty="0" smtClean="0"/>
              <a:t>are</a:t>
            </a:r>
            <a:r>
              <a:rPr lang="en-US" dirty="0" smtClean="0"/>
              <a:t> significantly affected by outliers.</a:t>
            </a:r>
          </a:p>
          <a:p>
            <a:r>
              <a:rPr lang="en-US" dirty="0" smtClean="0"/>
              <a:t>The median and mode </a:t>
            </a:r>
            <a:r>
              <a:rPr lang="en-US" b="1" dirty="0" smtClean="0"/>
              <a:t>are not </a:t>
            </a:r>
            <a:r>
              <a:rPr lang="en-US" dirty="0" smtClean="0"/>
              <a:t>significantly affected by outliers.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7893" y="3509862"/>
            <a:ext cx="8442772" cy="18882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</a:pPr>
            <a:r>
              <a:rPr lang="en-US" b="1" dirty="0" smtClean="0"/>
              <a:t>Mean</a:t>
            </a:r>
            <a:r>
              <a:rPr lang="en-US" altLang="en-US" dirty="0" smtClean="0"/>
              <a:t> </a:t>
            </a:r>
            <a:r>
              <a:rPr lang="en-US" altLang="en-US" dirty="0"/>
              <a:t>is the </a:t>
            </a:r>
            <a:r>
              <a:rPr lang="en-US" altLang="en-US" b="1" dirty="0" smtClean="0"/>
              <a:t>average</a:t>
            </a:r>
            <a:r>
              <a:rPr lang="en-US" altLang="en-US" dirty="0" smtClean="0"/>
              <a:t>. </a:t>
            </a:r>
            <a:r>
              <a:rPr lang="en-US" altLang="en-US" i="1" dirty="0" smtClean="0"/>
              <a:t>Add </a:t>
            </a:r>
            <a:r>
              <a:rPr lang="en-US" altLang="en-US" i="1" dirty="0"/>
              <a:t>all the scores </a:t>
            </a:r>
            <a:r>
              <a:rPr lang="en-US" altLang="en-US" i="1" dirty="0" smtClean="0"/>
              <a:t>and divide </a:t>
            </a:r>
            <a:r>
              <a:rPr lang="en-US" altLang="en-US" i="1" dirty="0"/>
              <a:t>by </a:t>
            </a:r>
            <a:r>
              <a:rPr lang="en-US" altLang="en-US" i="1" dirty="0" smtClean="0"/>
              <a:t>how many there are.</a:t>
            </a:r>
            <a:endParaRPr lang="en-US" altLang="en-US" dirty="0" smtClean="0"/>
          </a:p>
          <a:p>
            <a:pPr>
              <a:lnSpc>
                <a:spcPct val="115000"/>
              </a:lnSpc>
              <a:spcBef>
                <a:spcPts val="600"/>
              </a:spcBef>
            </a:pPr>
            <a:r>
              <a:rPr lang="en-US" altLang="en-US" b="1" dirty="0" smtClean="0"/>
              <a:t>Median</a:t>
            </a:r>
            <a:r>
              <a:rPr lang="en-US" altLang="en-US" dirty="0" smtClean="0"/>
              <a:t> </a:t>
            </a:r>
            <a:r>
              <a:rPr lang="en-US" altLang="en-US" dirty="0"/>
              <a:t>is the </a:t>
            </a:r>
            <a:r>
              <a:rPr lang="en-US" altLang="en-US" b="1" dirty="0"/>
              <a:t>middle</a:t>
            </a:r>
            <a:r>
              <a:rPr lang="en-US" altLang="en-US" dirty="0"/>
              <a:t> value of </a:t>
            </a:r>
            <a:r>
              <a:rPr lang="en-US" altLang="en-US" b="1" dirty="0"/>
              <a:t>ordered</a:t>
            </a:r>
            <a:r>
              <a:rPr lang="en-US" altLang="en-US" dirty="0"/>
              <a:t> </a:t>
            </a:r>
            <a:r>
              <a:rPr lang="en-US" altLang="en-US" dirty="0" smtClean="0"/>
              <a:t>data. </a:t>
            </a:r>
            <a:r>
              <a:rPr lang="en-US" altLang="en-US" i="1" dirty="0" smtClean="0"/>
              <a:t>If </a:t>
            </a:r>
            <a:r>
              <a:rPr lang="en-US" altLang="en-US" i="1" dirty="0"/>
              <a:t>there are two middle values then the average of them is taken, by adding them together and dividing by 2</a:t>
            </a:r>
            <a:r>
              <a:rPr lang="en-US" altLang="en-US" i="1" dirty="0" smtClean="0"/>
              <a:t>.</a:t>
            </a:r>
          </a:p>
          <a:p>
            <a:pPr>
              <a:lnSpc>
                <a:spcPct val="135000"/>
              </a:lnSpc>
              <a:spcBef>
                <a:spcPts val="600"/>
              </a:spcBef>
            </a:pPr>
            <a:r>
              <a:rPr lang="en-US" altLang="en-US" b="1" dirty="0" smtClean="0"/>
              <a:t>Mode</a:t>
            </a:r>
            <a:r>
              <a:rPr lang="en-US" altLang="en-US" dirty="0" smtClean="0"/>
              <a:t> </a:t>
            </a:r>
            <a:r>
              <a:rPr lang="en-US" altLang="en-US" dirty="0"/>
              <a:t>is the </a:t>
            </a:r>
            <a:r>
              <a:rPr lang="en-US" altLang="en-US" b="1" dirty="0"/>
              <a:t>most </a:t>
            </a:r>
            <a:r>
              <a:rPr lang="en-US" altLang="en-US" b="1" dirty="0" smtClean="0"/>
              <a:t>common </a:t>
            </a:r>
            <a:r>
              <a:rPr lang="en-US" altLang="en-US" dirty="0" smtClean="0"/>
              <a:t>vale. </a:t>
            </a:r>
            <a:r>
              <a:rPr lang="en-US" altLang="en-US" i="1" dirty="0" smtClean="0"/>
              <a:t>There </a:t>
            </a:r>
            <a:r>
              <a:rPr lang="en-US" altLang="en-US" i="1" dirty="0"/>
              <a:t>may be several modes or no </a:t>
            </a:r>
            <a:r>
              <a:rPr lang="en-US" altLang="en-US" i="1" dirty="0" smtClean="0"/>
              <a:t>mode.</a:t>
            </a:r>
            <a:endParaRPr lang="en-US" altLang="en-US" dirty="0" smtClean="0"/>
          </a:p>
          <a:p>
            <a:pPr>
              <a:spcBef>
                <a:spcPts val="600"/>
              </a:spcBef>
            </a:pPr>
            <a:r>
              <a:rPr lang="en-AU" b="1" dirty="0"/>
              <a:t>Range</a:t>
            </a:r>
            <a:r>
              <a:rPr lang="en-AU" dirty="0"/>
              <a:t> is the </a:t>
            </a:r>
            <a:r>
              <a:rPr lang="en-AU" dirty="0" smtClean="0"/>
              <a:t>difference between </a:t>
            </a:r>
            <a:r>
              <a:rPr lang="en-AU" dirty="0"/>
              <a:t>the </a:t>
            </a:r>
            <a:r>
              <a:rPr lang="en-AU" dirty="0" smtClean="0"/>
              <a:t>largest </a:t>
            </a:r>
            <a:r>
              <a:rPr lang="en-AU" dirty="0"/>
              <a:t>and </a:t>
            </a:r>
            <a:r>
              <a:rPr lang="en-AU" dirty="0" smtClean="0"/>
              <a:t>smallest values</a:t>
            </a:r>
            <a:r>
              <a:rPr lang="en-US" dirty="0" smtClean="0"/>
              <a:t>. </a:t>
            </a:r>
            <a:r>
              <a:rPr lang="en-AU" b="1" i="1" dirty="0" smtClean="0"/>
              <a:t>Maximum  </a:t>
            </a:r>
            <a:r>
              <a:rPr lang="en-AU" b="1" i="1" dirty="0"/>
              <a:t>– </a:t>
            </a:r>
            <a:r>
              <a:rPr lang="en-AU" b="1" i="1" dirty="0" smtClean="0"/>
              <a:t>Minimum</a:t>
            </a:r>
            <a:endParaRPr lang="en-AU" b="1" i="1" dirty="0"/>
          </a:p>
        </p:txBody>
      </p:sp>
    </p:spTree>
    <p:extLst>
      <p:ext uri="{BB962C8B-B14F-4D97-AF65-F5344CB8AC3E}">
        <p14:creationId xmlns:p14="http://schemas.microsoft.com/office/powerpoint/2010/main" val="24361658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7" grpId="0"/>
      <p:bldP spid="8" grpId="0"/>
      <p:bldP spid="10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133308"/>
            <a:ext cx="7886700" cy="678062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 smtClean="0"/>
              <a:t>Histograms &amp; Stem and Leaf Plots</a:t>
            </a:r>
            <a:endParaRPr lang="en-AU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5016" y="1313644"/>
            <a:ext cx="3956230" cy="2738069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740" y="4212280"/>
            <a:ext cx="8308214" cy="2416935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71246" y="1013841"/>
            <a:ext cx="3609606" cy="3037872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5016" y="1013841"/>
            <a:ext cx="4342596" cy="2998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59709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19553" y="1642056"/>
            <a:ext cx="3476141" cy="340002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781094"/>
          </a:xfrm>
        </p:spPr>
        <p:txBody>
          <a:bodyPr/>
          <a:lstStyle/>
          <a:p>
            <a:pPr algn="ctr"/>
            <a:r>
              <a:rPr lang="en-US" dirty="0" smtClean="0"/>
              <a:t>Now try these</a:t>
            </a:r>
            <a:endParaRPr lang="en-AU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9447" y="1146221"/>
            <a:ext cx="4623514" cy="4623514"/>
          </a:xfrm>
          <a:prstGeom prst="rect">
            <a:avLst/>
          </a:prstGeom>
        </p:spPr>
      </p:pic>
      <p:cxnSp>
        <p:nvCxnSpPr>
          <p:cNvPr id="6" name="Straight Connector 5"/>
          <p:cNvCxnSpPr/>
          <p:nvPr/>
        </p:nvCxnSpPr>
        <p:spPr>
          <a:xfrm>
            <a:off x="5080916" y="1313646"/>
            <a:ext cx="38637" cy="4636394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177508" y="1107224"/>
            <a:ext cx="34899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This histogram represents how long some adults took to run 100m .</a:t>
            </a:r>
            <a:endParaRPr lang="en-AU" dirty="0"/>
          </a:p>
        </p:txBody>
      </p:sp>
      <p:sp>
        <p:nvSpPr>
          <p:cNvPr id="8" name="TextBox 7"/>
          <p:cNvSpPr txBox="1"/>
          <p:nvPr/>
        </p:nvSpPr>
        <p:spPr>
          <a:xfrm>
            <a:off x="5177508" y="5042077"/>
            <a:ext cx="378618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lphaLcParenR"/>
            </a:pPr>
            <a:r>
              <a:rPr lang="en-US" dirty="0" smtClean="0"/>
              <a:t>What type of data is this?</a:t>
            </a:r>
          </a:p>
          <a:p>
            <a:pPr marL="342900" indent="-342900">
              <a:buAutoNum type="alphaLcParenR"/>
            </a:pPr>
            <a:r>
              <a:rPr lang="en-US" dirty="0" smtClean="0"/>
              <a:t>Is this a sample or a census? Why?</a:t>
            </a:r>
          </a:p>
          <a:p>
            <a:pPr marL="342900" indent="-342900">
              <a:buAutoNum type="alphaLcParenR"/>
            </a:pPr>
            <a:r>
              <a:rPr lang="en-US" dirty="0" smtClean="0"/>
              <a:t>How many people did the run?</a:t>
            </a:r>
          </a:p>
          <a:p>
            <a:pPr marL="342900" indent="-342900">
              <a:buAutoNum type="alphaLcParenR"/>
            </a:pPr>
            <a:r>
              <a:rPr lang="en-US" dirty="0" smtClean="0"/>
              <a:t>What is the range of the times?</a:t>
            </a:r>
          </a:p>
          <a:p>
            <a:pPr marL="342900" indent="-342900">
              <a:buAutoNum type="alphaLcParenR"/>
            </a:pPr>
            <a:r>
              <a:rPr lang="en-US" dirty="0" smtClean="0"/>
              <a:t>Are there any potential outliers? 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40808" y="4734300"/>
            <a:ext cx="2191823" cy="30777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1400" dirty="0" smtClean="0"/>
              <a:t>Seconds taken to run 100m</a:t>
            </a:r>
            <a:endParaRPr lang="en-AU" sz="1400" dirty="0"/>
          </a:p>
        </p:txBody>
      </p:sp>
      <p:sp>
        <p:nvSpPr>
          <p:cNvPr id="10" name="TextBox 9"/>
          <p:cNvSpPr txBox="1"/>
          <p:nvPr/>
        </p:nvSpPr>
        <p:spPr>
          <a:xfrm>
            <a:off x="399447" y="5642241"/>
            <a:ext cx="37861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e)   What is the mean call time?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1650111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9624" y="236338"/>
            <a:ext cx="7886700" cy="729578"/>
          </a:xfrm>
        </p:spPr>
        <p:txBody>
          <a:bodyPr/>
          <a:lstStyle/>
          <a:p>
            <a:pPr algn="ctr"/>
            <a:r>
              <a:rPr lang="en-US" dirty="0" smtClean="0"/>
              <a:t>Time</a:t>
            </a:r>
            <a:endParaRPr lang="en-AU" dirty="0"/>
          </a:p>
        </p:txBody>
      </p:sp>
      <p:sp>
        <p:nvSpPr>
          <p:cNvPr id="3" name="Rectangle 2"/>
          <p:cNvSpPr/>
          <p:nvPr/>
        </p:nvSpPr>
        <p:spPr>
          <a:xfrm>
            <a:off x="479624" y="817706"/>
            <a:ext cx="2353728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smtClean="0"/>
              <a:t>24hr time</a:t>
            </a:r>
            <a:endParaRPr lang="en-US" dirty="0" smtClean="0"/>
          </a:p>
          <a:p>
            <a:r>
              <a:rPr lang="en-US" dirty="0" smtClean="0"/>
              <a:t>1am	0000hrs</a:t>
            </a:r>
          </a:p>
          <a:p>
            <a:r>
              <a:rPr lang="en-US" dirty="0" smtClean="0"/>
              <a:t>1am	0100hrs</a:t>
            </a:r>
          </a:p>
          <a:p>
            <a:r>
              <a:rPr lang="en-US" dirty="0" smtClean="0"/>
              <a:t>2am	0200hrs</a:t>
            </a:r>
          </a:p>
          <a:p>
            <a:r>
              <a:rPr lang="en-US" dirty="0" smtClean="0"/>
              <a:t>2:25am	0225hrs</a:t>
            </a:r>
          </a:p>
          <a:p>
            <a:endParaRPr lang="en-US" dirty="0"/>
          </a:p>
          <a:p>
            <a:r>
              <a:rPr lang="en-US" dirty="0" smtClean="0"/>
              <a:t>12pm	1200hrs</a:t>
            </a:r>
          </a:p>
          <a:p>
            <a:r>
              <a:rPr lang="en-US" dirty="0" smtClean="0"/>
              <a:t>1pm	1300hrs</a:t>
            </a:r>
          </a:p>
          <a:p>
            <a:endParaRPr lang="en-US" dirty="0"/>
          </a:p>
          <a:p>
            <a:r>
              <a:rPr lang="en-US" dirty="0" smtClean="0"/>
              <a:t>8pm	2000hrs</a:t>
            </a:r>
          </a:p>
          <a:p>
            <a:endParaRPr lang="en-US" dirty="0"/>
          </a:p>
          <a:p>
            <a:r>
              <a:rPr lang="en-US" dirty="0" smtClean="0"/>
              <a:t>11:59pm	2359hrs</a:t>
            </a:r>
            <a:endParaRPr lang="en-US" dirty="0" smtClean="0"/>
          </a:p>
        </p:txBody>
      </p:sp>
      <p:sp>
        <p:nvSpPr>
          <p:cNvPr id="4" name="Rectangle 3"/>
          <p:cNvSpPr/>
          <p:nvPr/>
        </p:nvSpPr>
        <p:spPr>
          <a:xfrm>
            <a:off x="2662953" y="817706"/>
            <a:ext cx="6171954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/>
              <a:t>E</a:t>
            </a:r>
            <a:r>
              <a:rPr lang="en-US" b="1" dirty="0" smtClean="0"/>
              <a:t>lapsed Time</a:t>
            </a:r>
            <a:endParaRPr lang="en-US" b="1" dirty="0" smtClean="0"/>
          </a:p>
          <a:p>
            <a:endParaRPr lang="en-US" dirty="0" smtClean="0"/>
          </a:p>
          <a:p>
            <a:r>
              <a:rPr lang="en-US" dirty="0" smtClean="0"/>
              <a:t>Step 1) 	Calculate number of hours </a:t>
            </a:r>
            <a:r>
              <a:rPr lang="en-US" b="1" dirty="0" smtClean="0"/>
              <a:t>without</a:t>
            </a:r>
            <a:r>
              <a:rPr lang="en-US" dirty="0" smtClean="0"/>
              <a:t> going over.</a:t>
            </a:r>
          </a:p>
          <a:p>
            <a:r>
              <a:rPr lang="en-US" dirty="0" smtClean="0"/>
              <a:t>	</a:t>
            </a:r>
            <a:r>
              <a:rPr lang="en-US" i="1" dirty="0" err="1" smtClean="0"/>
              <a:t>Eg</a:t>
            </a:r>
            <a:r>
              <a:rPr lang="en-US" i="1" dirty="0" smtClean="0"/>
              <a:t> There are </a:t>
            </a:r>
            <a:r>
              <a:rPr lang="en-US" b="1" i="1" dirty="0" smtClean="0"/>
              <a:t>5 hours</a:t>
            </a:r>
            <a:r>
              <a:rPr lang="en-US" i="1" dirty="0" smtClean="0"/>
              <a:t> from 3:50am until 8:50am</a:t>
            </a:r>
          </a:p>
          <a:p>
            <a:r>
              <a:rPr lang="en-US" dirty="0"/>
              <a:t>Step </a:t>
            </a:r>
            <a:r>
              <a:rPr lang="en-US" dirty="0" smtClean="0"/>
              <a:t>2) </a:t>
            </a:r>
            <a:r>
              <a:rPr lang="en-US" dirty="0"/>
              <a:t>	</a:t>
            </a:r>
            <a:r>
              <a:rPr lang="en-US" dirty="0" smtClean="0"/>
              <a:t>Add the minutes until the next hour and the minutes 	until the chosen time.</a:t>
            </a:r>
            <a:endParaRPr lang="en-US" dirty="0"/>
          </a:p>
          <a:p>
            <a:r>
              <a:rPr lang="en-US" dirty="0"/>
              <a:t>	</a:t>
            </a:r>
            <a:r>
              <a:rPr lang="en-US" dirty="0" smtClean="0"/>
              <a:t>     </a:t>
            </a:r>
            <a:r>
              <a:rPr lang="en-US" i="1" dirty="0" smtClean="0"/>
              <a:t>There </a:t>
            </a:r>
            <a:r>
              <a:rPr lang="en-US" i="1" dirty="0"/>
              <a:t>are </a:t>
            </a:r>
            <a:r>
              <a:rPr lang="en-US" b="1" i="1" dirty="0" smtClean="0"/>
              <a:t>10 minutes </a:t>
            </a:r>
            <a:r>
              <a:rPr lang="en-US" i="1" dirty="0" smtClean="0"/>
              <a:t>from 8:50am </a:t>
            </a:r>
            <a:r>
              <a:rPr lang="en-US" i="1" dirty="0"/>
              <a:t>until </a:t>
            </a:r>
            <a:r>
              <a:rPr lang="en-US" i="1" dirty="0" smtClean="0"/>
              <a:t>9:00am</a:t>
            </a:r>
          </a:p>
          <a:p>
            <a:r>
              <a:rPr lang="en-US" i="1" dirty="0" smtClean="0"/>
              <a:t>  	</a:t>
            </a:r>
            <a:r>
              <a:rPr lang="en-US" b="1" i="1" dirty="0" smtClean="0"/>
              <a:t> +</a:t>
            </a:r>
            <a:r>
              <a:rPr lang="en-US" i="1" dirty="0" smtClean="0"/>
              <a:t>  There are </a:t>
            </a:r>
            <a:r>
              <a:rPr lang="en-US" b="1" i="1" dirty="0" smtClean="0"/>
              <a:t>30 minutes </a:t>
            </a:r>
            <a:r>
              <a:rPr lang="en-US" i="1" dirty="0" smtClean="0"/>
              <a:t>from 9:00am until 9:30am</a:t>
            </a:r>
          </a:p>
          <a:p>
            <a:r>
              <a:rPr lang="en-US" i="1" dirty="0"/>
              <a:t>	</a:t>
            </a:r>
            <a:r>
              <a:rPr lang="en-US" b="1" i="1" dirty="0" smtClean="0"/>
              <a:t>=</a:t>
            </a:r>
            <a:r>
              <a:rPr lang="en-US" i="1" dirty="0" smtClean="0"/>
              <a:t>  There are </a:t>
            </a:r>
            <a:r>
              <a:rPr lang="en-US" b="1" i="1" dirty="0" smtClean="0"/>
              <a:t>40 minutes </a:t>
            </a:r>
            <a:r>
              <a:rPr lang="en-US" i="1" dirty="0" smtClean="0"/>
              <a:t>from 8:50am until 9:30am</a:t>
            </a:r>
            <a:endParaRPr lang="en-US" i="1" dirty="0"/>
          </a:p>
          <a:p>
            <a:pPr>
              <a:lnSpc>
                <a:spcPct val="200000"/>
              </a:lnSpc>
            </a:pPr>
            <a:r>
              <a:rPr lang="en-US" dirty="0" smtClean="0"/>
              <a:t>Step 3) 	Put them together</a:t>
            </a:r>
          </a:p>
          <a:p>
            <a:r>
              <a:rPr lang="en-US" dirty="0"/>
              <a:t>	</a:t>
            </a:r>
            <a:r>
              <a:rPr lang="en-US" i="1" dirty="0" smtClean="0"/>
              <a:t>There are </a:t>
            </a:r>
            <a:r>
              <a:rPr lang="en-US" b="1" i="1" dirty="0" smtClean="0"/>
              <a:t>5hrs and 40 mins</a:t>
            </a:r>
            <a:r>
              <a:rPr lang="en-US" i="1" dirty="0" smtClean="0"/>
              <a:t> from 3:50am until 9:30am</a:t>
            </a:r>
            <a:endParaRPr lang="en-US" dirty="0" smtClean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624" y="4234026"/>
            <a:ext cx="7260579" cy="195575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662953" y="5820449"/>
            <a:ext cx="15896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= 365 days</a:t>
            </a:r>
            <a:endParaRPr lang="en-AU" dirty="0"/>
          </a:p>
        </p:txBody>
      </p:sp>
      <p:sp>
        <p:nvSpPr>
          <p:cNvPr id="7" name="TextBox 6"/>
          <p:cNvSpPr txBox="1"/>
          <p:nvPr/>
        </p:nvSpPr>
        <p:spPr>
          <a:xfrm>
            <a:off x="754732" y="6189781"/>
            <a:ext cx="22331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1 fortnight= 2 weeks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9333454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6" grpId="0"/>
      <p:bldP spid="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49" y="159065"/>
            <a:ext cx="7886700" cy="459121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 smtClean="0"/>
              <a:t>Try these</a:t>
            </a:r>
            <a:endParaRPr lang="en-AU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649" y="655871"/>
            <a:ext cx="6003971" cy="5043335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49" y="5699206"/>
            <a:ext cx="6003971" cy="847499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25764" y="4956030"/>
            <a:ext cx="2428875" cy="1590675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32619" y="655871"/>
            <a:ext cx="2322019" cy="430015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761408" y="785611"/>
            <a:ext cx="2193230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u="sng" dirty="0" smtClean="0"/>
              <a:t>Conversions</a:t>
            </a:r>
          </a:p>
          <a:p>
            <a:endParaRPr lang="en-US" dirty="0"/>
          </a:p>
          <a:p>
            <a:r>
              <a:rPr lang="en-US" dirty="0" smtClean="0"/>
              <a:t>120s= ______ mins</a:t>
            </a:r>
          </a:p>
          <a:p>
            <a:endParaRPr lang="en-US" dirty="0"/>
          </a:p>
          <a:p>
            <a:r>
              <a:rPr lang="en-US" dirty="0" smtClean="0"/>
              <a:t>4mins = ________s</a:t>
            </a:r>
          </a:p>
          <a:p>
            <a:endParaRPr lang="en-US" dirty="0"/>
          </a:p>
          <a:p>
            <a:r>
              <a:rPr lang="en-US" dirty="0" smtClean="0"/>
              <a:t>360mins = ____ </a:t>
            </a:r>
            <a:r>
              <a:rPr lang="en-US" dirty="0" err="1" smtClean="0"/>
              <a:t>hrs</a:t>
            </a:r>
            <a:endParaRPr lang="en-US" dirty="0" smtClean="0"/>
          </a:p>
          <a:p>
            <a:endParaRPr lang="en-US" dirty="0"/>
          </a:p>
          <a:p>
            <a:r>
              <a:rPr lang="en-US" dirty="0" smtClean="0"/>
              <a:t>5 days = _______ </a:t>
            </a:r>
            <a:r>
              <a:rPr lang="en-US" dirty="0" err="1" smtClean="0"/>
              <a:t>hrs</a:t>
            </a:r>
            <a:endParaRPr lang="en-US" dirty="0" smtClean="0"/>
          </a:p>
          <a:p>
            <a:endParaRPr lang="en-US" dirty="0"/>
          </a:p>
          <a:p>
            <a:r>
              <a:rPr lang="en-US" dirty="0" smtClean="0"/>
              <a:t>2 fortnights = ___</a:t>
            </a:r>
            <a:r>
              <a:rPr lang="en-US" dirty="0" err="1" smtClean="0"/>
              <a:t>wks</a:t>
            </a:r>
            <a:endParaRPr lang="en-US" dirty="0" smtClean="0"/>
          </a:p>
          <a:p>
            <a:endParaRPr lang="en-US" dirty="0"/>
          </a:p>
          <a:p>
            <a:r>
              <a:rPr lang="en-US" dirty="0" smtClean="0"/>
              <a:t>3 </a:t>
            </a:r>
            <a:r>
              <a:rPr lang="en-US" dirty="0" err="1" smtClean="0"/>
              <a:t>yrs</a:t>
            </a:r>
            <a:r>
              <a:rPr lang="en-US" dirty="0" smtClean="0"/>
              <a:t> = ________days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2468866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2865</TotalTime>
  <Words>327</Words>
  <Application>Microsoft Office PowerPoint</Application>
  <PresentationFormat>On-screen Show (4:3)</PresentationFormat>
  <Paragraphs>71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Office Theme</vt:lpstr>
      <vt:lpstr>Data and Time Revision</vt:lpstr>
      <vt:lpstr>PowerPoint Presentation</vt:lpstr>
      <vt:lpstr>Statistics Revision</vt:lpstr>
      <vt:lpstr>Histograms &amp; Stem and Leaf Plots</vt:lpstr>
      <vt:lpstr>Now try these</vt:lpstr>
      <vt:lpstr>Time</vt:lpstr>
      <vt:lpstr>Try these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E4007446</dc:creator>
  <cp:lastModifiedBy>e4057735</cp:lastModifiedBy>
  <cp:revision>69</cp:revision>
  <dcterms:created xsi:type="dcterms:W3CDTF">2016-04-30T07:20:25Z</dcterms:created>
  <dcterms:modified xsi:type="dcterms:W3CDTF">2017-09-19T08:39:17Z</dcterms:modified>
</cp:coreProperties>
</file>
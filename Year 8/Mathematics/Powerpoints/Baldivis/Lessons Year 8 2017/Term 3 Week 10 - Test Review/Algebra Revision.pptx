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7" r:id="rId2"/>
    <p:sldId id="269" r:id="rId3"/>
    <p:sldId id="259" r:id="rId4"/>
    <p:sldId id="273" r:id="rId5"/>
    <p:sldId id="274" r:id="rId6"/>
    <p:sldId id="275" r:id="rId7"/>
    <p:sldId id="276" r:id="rId8"/>
    <p:sldId id="263" r:id="rId9"/>
    <p:sldId id="264" r:id="rId10"/>
    <p:sldId id="278" r:id="rId11"/>
    <p:sldId id="279" r:id="rId12"/>
    <p:sldId id="280" r:id="rId13"/>
    <p:sldId id="265" r:id="rId14"/>
    <p:sldId id="282" r:id="rId15"/>
    <p:sldId id="266" r:id="rId16"/>
    <p:sldId id="267" r:id="rId17"/>
    <p:sldId id="28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0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AA09B-5CA3-4974-A3EC-0343C7D66456}" type="datetimeFigureOut">
              <a:rPr lang="en-AU" smtClean="0"/>
              <a:t>18/9/17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78E62-5243-42CD-8F99-4BA5725108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29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94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26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62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7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8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8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06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72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26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0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08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13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78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49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60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62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22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5805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6759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53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143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54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992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13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3179D-3BE7-4670-9691-E5200D097C1D}" type="datetimeFigureOut">
              <a:rPr lang="en-AU" smtClean="0"/>
              <a:t>18/9/17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0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 Revision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980060"/>
            <a:ext cx="12192000" cy="6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83038"/>
            <a:ext cx="12192000" cy="186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6662" y="25832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343065" y="178303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99248" y="446821"/>
            <a:ext cx="3193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Solving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43114" y="1151248"/>
            <a:ext cx="10025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/>
              <a:t>–  How do I find an unknown value in an algebraic equation?  </a:t>
            </a:r>
            <a:endParaRPr lang="en-A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211641" y="1960133"/>
            <a:ext cx="23125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variable and how do we solve equations involving them?	</a:t>
            </a:r>
            <a:endParaRPr lang="en-AU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  <a:p>
            <a:r>
              <a:rPr lang="en-AU" dirty="0"/>
              <a:t>Examples</a:t>
            </a:r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524164" y="1834532"/>
            <a:ext cx="966783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To solve an equation with a variable, we </a:t>
            </a:r>
            <a:r>
              <a:rPr lang="en-AU" b="1" i="1" dirty="0"/>
              <a:t>rearrange the equation </a:t>
            </a:r>
            <a:r>
              <a:rPr lang="en-AU" i="1" dirty="0"/>
              <a:t>so our unknown value is </a:t>
            </a:r>
            <a:r>
              <a:rPr lang="en-AU" b="1" i="1" dirty="0"/>
              <a:t>by itself </a:t>
            </a:r>
            <a:r>
              <a:rPr lang="en-AU" i="1" dirty="0"/>
              <a:t>on one side of the equals sign. </a:t>
            </a:r>
            <a:r>
              <a:rPr lang="en-US" b="1" i="1" dirty="0"/>
              <a:t>If you do something on one side of the equals sign, do it on the </a:t>
            </a:r>
            <a:r>
              <a:rPr lang="en-US" b="1" i="1" dirty="0" smtClean="0"/>
              <a:t>other!</a:t>
            </a:r>
            <a:r>
              <a:rPr lang="en-AU" b="1" i="1" dirty="0" smtClean="0"/>
              <a:t> </a:t>
            </a:r>
            <a:r>
              <a:rPr lang="en-AU" dirty="0" smtClean="0"/>
              <a:t>We </a:t>
            </a:r>
            <a:r>
              <a:rPr lang="en-AU" dirty="0"/>
              <a:t>do this by doing </a:t>
            </a:r>
            <a:r>
              <a:rPr lang="en-AU" b="1" dirty="0"/>
              <a:t>the inverse action</a:t>
            </a:r>
            <a:r>
              <a:rPr lang="en-AU" dirty="0"/>
              <a:t>.</a:t>
            </a:r>
          </a:p>
          <a:p>
            <a:endParaRPr lang="en-AU" sz="1600" dirty="0"/>
          </a:p>
          <a:p>
            <a:r>
              <a:rPr lang="en-AU" sz="1600" dirty="0"/>
              <a:t>x + 2 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</a:t>
            </a:r>
            <a:r>
              <a:rPr lang="en-AU" sz="1600" dirty="0">
                <a:solidFill>
                  <a:srgbClr val="0070C0"/>
                </a:solidFill>
              </a:rPr>
              <a:t>I</a:t>
            </a:r>
            <a:r>
              <a:rPr lang="en-AU" sz="1600" dirty="0">
                <a:solidFill>
                  <a:srgbClr val="0070C0"/>
                </a:solidFill>
              </a:rPr>
              <a:t>nverse of + is -</a:t>
            </a:r>
            <a:endParaRPr lang="en-AU" sz="1600" dirty="0">
              <a:solidFill>
                <a:srgbClr val="0070C0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x + 2 =   4</a:t>
            </a:r>
          </a:p>
          <a:p>
            <a:r>
              <a:rPr lang="en-AU" sz="1600" dirty="0"/>
              <a:t> </a:t>
            </a:r>
            <a:r>
              <a:rPr lang="en-AU" sz="1600" dirty="0"/>
              <a:t> </a:t>
            </a:r>
            <a:r>
              <a:rPr lang="en-AU" sz="1600" dirty="0" smtClean="0"/>
              <a:t>   </a:t>
            </a:r>
            <a:r>
              <a:rPr lang="en-AU" sz="1600" dirty="0" smtClean="0">
                <a:solidFill>
                  <a:srgbClr val="0070C0"/>
                </a:solidFill>
              </a:rPr>
              <a:t>-</a:t>
            </a:r>
            <a:r>
              <a:rPr lang="en-AU" sz="1600" dirty="0">
                <a:solidFill>
                  <a:srgbClr val="0070C0"/>
                </a:solidFill>
              </a:rPr>
              <a:t>2     </a:t>
            </a:r>
            <a:r>
              <a:rPr lang="en-AU" sz="1600" dirty="0" smtClean="0">
                <a:solidFill>
                  <a:srgbClr val="0070C0"/>
                </a:solidFill>
              </a:rPr>
              <a:t>-</a:t>
            </a:r>
            <a:r>
              <a:rPr lang="en-AU" sz="1600" dirty="0">
                <a:solidFill>
                  <a:srgbClr val="0070C0"/>
                </a:solidFill>
              </a:rPr>
              <a:t>2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    x    =   2</a:t>
            </a:r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2+2=4 </a:t>
            </a:r>
          </a:p>
        </p:txBody>
      </p:sp>
      <p:pic>
        <p:nvPicPr>
          <p:cNvPr id="1030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368" y="5135352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555812" y="2860374"/>
            <a:ext cx="267899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x ÷</a:t>
            </a:r>
            <a:r>
              <a:rPr lang="en-AU" sz="1600" dirty="0"/>
              <a:t> 3 </a:t>
            </a:r>
            <a:r>
              <a:rPr lang="en-AU" sz="1600" dirty="0"/>
              <a:t>= 4</a:t>
            </a:r>
          </a:p>
          <a:p>
            <a:r>
              <a:rPr lang="en-AU" sz="1600" dirty="0">
                <a:solidFill>
                  <a:srgbClr val="0070C0"/>
                </a:solidFill>
              </a:rPr>
              <a:t>Think: </a:t>
            </a:r>
            <a:r>
              <a:rPr lang="en-AU" sz="1600" dirty="0">
                <a:solidFill>
                  <a:srgbClr val="0070C0"/>
                </a:solidFill>
              </a:rPr>
              <a:t>I</a:t>
            </a:r>
            <a:r>
              <a:rPr lang="en-AU" sz="1600" dirty="0">
                <a:solidFill>
                  <a:srgbClr val="0070C0"/>
                </a:solidFill>
              </a:rPr>
              <a:t>nverse </a:t>
            </a:r>
            <a:r>
              <a:rPr lang="en-AU" sz="1600" dirty="0">
                <a:solidFill>
                  <a:srgbClr val="0070C0"/>
                </a:solidFill>
              </a:rPr>
              <a:t>of ÷ </a:t>
            </a:r>
            <a:r>
              <a:rPr lang="en-AU" sz="1600" dirty="0">
                <a:solidFill>
                  <a:srgbClr val="0070C0"/>
                </a:solidFill>
              </a:rPr>
              <a:t>is x</a:t>
            </a:r>
            <a:endParaRPr lang="en-AU" sz="1600" dirty="0">
              <a:solidFill>
                <a:srgbClr val="0070C0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x </a:t>
            </a:r>
            <a:r>
              <a:rPr lang="en-AU" sz="1600" dirty="0"/>
              <a:t>÷</a:t>
            </a:r>
            <a:r>
              <a:rPr lang="en-AU" sz="1600" dirty="0"/>
              <a:t> 3  </a:t>
            </a:r>
            <a:r>
              <a:rPr lang="en-AU" sz="1600" dirty="0"/>
              <a:t>= 4 </a:t>
            </a:r>
            <a:endParaRPr lang="en-AU" sz="1600" dirty="0"/>
          </a:p>
          <a:p>
            <a:r>
              <a:rPr lang="en-AU" sz="1600" dirty="0"/>
              <a:t> </a:t>
            </a:r>
            <a:r>
              <a:rPr lang="en-AU" sz="1600" dirty="0"/>
              <a:t> </a:t>
            </a:r>
            <a:r>
              <a:rPr lang="en-AU" sz="1600" dirty="0" smtClean="0"/>
              <a:t>  </a:t>
            </a:r>
            <a:r>
              <a:rPr lang="en-AU" sz="1600" dirty="0" smtClean="0">
                <a:solidFill>
                  <a:srgbClr val="00B0F0"/>
                </a:solidFill>
              </a:rPr>
              <a:t>x3 </a:t>
            </a:r>
            <a:r>
              <a:rPr lang="en-AU" sz="1600" dirty="0" smtClean="0"/>
              <a:t>   </a:t>
            </a:r>
            <a:r>
              <a:rPr lang="en-AU" sz="1600" dirty="0" smtClean="0">
                <a:solidFill>
                  <a:srgbClr val="00B0F0"/>
                </a:solidFill>
              </a:rPr>
              <a:t>x3</a:t>
            </a:r>
            <a:endParaRPr lang="en-AU" sz="1600" dirty="0">
              <a:solidFill>
                <a:srgbClr val="00B0F0"/>
              </a:solidFill>
            </a:endParaRPr>
          </a:p>
          <a:p>
            <a:endParaRPr lang="en-AU" sz="1600" dirty="0"/>
          </a:p>
          <a:p>
            <a:r>
              <a:rPr lang="en-AU" sz="1600" dirty="0"/>
              <a:t>    x    =  12</a:t>
            </a:r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CHECK YOUR ANSWER!!</a:t>
            </a:r>
          </a:p>
          <a:p>
            <a:endParaRPr lang="en-AU" sz="1600" dirty="0"/>
          </a:p>
          <a:p>
            <a:r>
              <a:rPr lang="en-AU" sz="1600" dirty="0"/>
              <a:t>  </a:t>
            </a:r>
            <a:r>
              <a:rPr lang="en-AU" sz="1600" dirty="0"/>
              <a:t>12</a:t>
            </a:r>
            <a:r>
              <a:rPr lang="en-AU" sz="1600" dirty="0"/>
              <a:t> ÷ </a:t>
            </a:r>
            <a:r>
              <a:rPr lang="en-AU" sz="1600" dirty="0"/>
              <a:t>3 = 4 </a:t>
            </a:r>
            <a:endParaRPr lang="en-AU" sz="1600" dirty="0"/>
          </a:p>
        </p:txBody>
      </p:sp>
      <p:pic>
        <p:nvPicPr>
          <p:cNvPr id="42" name="Picture 6" descr="https://openclipart.org/image/2400px/svg_to_png/167549/Kliponious-green-tic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186" y="5116821"/>
            <a:ext cx="511870" cy="58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nut 7"/>
          <p:cNvSpPr/>
          <p:nvPr/>
        </p:nvSpPr>
        <p:spPr>
          <a:xfrm>
            <a:off x="3309584" y="3906061"/>
            <a:ext cx="357202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Donut 42"/>
          <p:cNvSpPr/>
          <p:nvPr/>
        </p:nvSpPr>
        <p:spPr>
          <a:xfrm>
            <a:off x="2821396" y="3900717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Donut 43"/>
          <p:cNvSpPr/>
          <p:nvPr/>
        </p:nvSpPr>
        <p:spPr>
          <a:xfrm>
            <a:off x="6803558" y="3885609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Donut 44"/>
          <p:cNvSpPr/>
          <p:nvPr/>
        </p:nvSpPr>
        <p:spPr>
          <a:xfrm>
            <a:off x="7231324" y="3885609"/>
            <a:ext cx="360040" cy="360040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32220" y="2896361"/>
            <a:ext cx="16890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The inverse functions are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:</a:t>
            </a:r>
          </a:p>
          <a:p>
            <a:r>
              <a:rPr lang="en-AU" b="1" dirty="0">
                <a:ln>
                  <a:solidFill>
                    <a:schemeClr val="accent1"/>
                  </a:solidFill>
                </a:ln>
              </a:rPr>
              <a:t>     </a:t>
            </a:r>
            <a:r>
              <a:rPr lang="en-AU" b="1" dirty="0" smtClean="0">
                <a:ln>
                  <a:solidFill>
                    <a:schemeClr val="accent1"/>
                  </a:solidFill>
                </a:ln>
              </a:rPr>
              <a:t> +       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-</a:t>
            </a:r>
          </a:p>
          <a:p>
            <a:pPr marL="285750" indent="-285750" algn="ctr">
              <a:buFontTx/>
              <a:buChar char="-"/>
            </a:pPr>
            <a:r>
              <a:rPr lang="en-AU" b="1" dirty="0">
                <a:ln>
                  <a:solidFill>
                    <a:schemeClr val="accent1"/>
                  </a:solidFill>
                </a:ln>
              </a:rPr>
              <a:t>   +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x      ÷</a:t>
            </a:r>
          </a:p>
          <a:p>
            <a:pPr algn="ctr"/>
            <a:r>
              <a:rPr lang="en-AU" b="1" dirty="0">
                <a:ln>
                  <a:solidFill>
                    <a:schemeClr val="accent1"/>
                  </a:solidFill>
                </a:ln>
              </a:rPr>
              <a:t>÷      </a:t>
            </a:r>
            <a:r>
              <a:rPr lang="en-AU" b="1" dirty="0">
                <a:ln>
                  <a:solidFill>
                    <a:schemeClr val="accent1"/>
                  </a:solidFill>
                </a:ln>
              </a:rPr>
              <a:t>x</a:t>
            </a:r>
            <a:endParaRPr lang="en-AU" b="1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94570" y="6040652"/>
            <a:ext cx="692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 you do something on one side of the equals sign, do it on the other!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76433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n + 4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7051FD-1F73-4DD5-9721-8535DFED57EC}"/>
              </a:ext>
            </a:extLst>
          </p:cNvPr>
          <p:cNvSpPr txBox="1"/>
          <p:nvPr/>
        </p:nvSpPr>
        <p:spPr>
          <a:xfrm>
            <a:off x="7905550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5 + k = 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8F769B9-A3A3-41BB-BAA2-961E06011F73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1535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2781822" y="1944718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cap="rnd">
                <a:solidFill>
                  <a:srgbClr val="339966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 dirty="0">
                <a:latin typeface="Times New Roman" charset="0"/>
              </a:rPr>
              <a:t>1) Undo the </a:t>
            </a:r>
            <a:r>
              <a:rPr lang="en-US" altLang="x-none" sz="4000" dirty="0">
                <a:solidFill>
                  <a:srgbClr val="FF0000"/>
                </a:solidFill>
                <a:latin typeface="Impact" charset="0"/>
              </a:rPr>
              <a:t>addition or subtraction</a:t>
            </a:r>
            <a:r>
              <a:rPr lang="en-US" altLang="x-none" sz="4000" dirty="0">
                <a:latin typeface="Times New Roman" charset="0"/>
              </a:rPr>
              <a:t> operation </a:t>
            </a:r>
            <a:r>
              <a:rPr lang="en-US" altLang="x-none" sz="4000" b="1" dirty="0">
                <a:solidFill>
                  <a:srgbClr val="FF0000"/>
                </a:solidFill>
                <a:latin typeface="Impact" charset="0"/>
              </a:rPr>
              <a:t>first</a:t>
            </a:r>
            <a:r>
              <a:rPr lang="en-US" altLang="x-none" sz="4000" dirty="0">
                <a:latin typeface="Times New Roman" charset="0"/>
              </a:rPr>
              <a:t>, by using inverse  operations.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858022" y="4383118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cap="rnd">
                <a:solidFill>
                  <a:srgbClr val="339966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 dirty="0">
                <a:latin typeface="Times New Roman" charset="0"/>
              </a:rPr>
              <a:t>2) Undo the </a:t>
            </a:r>
            <a:r>
              <a:rPr lang="en-US" altLang="x-none" sz="4000" dirty="0">
                <a:solidFill>
                  <a:srgbClr val="0066CC"/>
                </a:solidFill>
                <a:latin typeface="Impact" charset="0"/>
              </a:rPr>
              <a:t>multiplication or division</a:t>
            </a:r>
            <a:r>
              <a:rPr lang="en-US" altLang="x-none" sz="4000" b="1" dirty="0">
                <a:solidFill>
                  <a:srgbClr val="009900"/>
                </a:solidFill>
                <a:latin typeface="Times New Roman" charset="0"/>
              </a:rPr>
              <a:t> </a:t>
            </a:r>
            <a:r>
              <a:rPr lang="en-US" altLang="x-none" sz="4000" dirty="0">
                <a:latin typeface="Times New Roman" charset="0"/>
              </a:rPr>
              <a:t>operation</a:t>
            </a:r>
            <a:r>
              <a:rPr lang="en-US" altLang="x-none" sz="4000" b="1" dirty="0">
                <a:solidFill>
                  <a:srgbClr val="009900"/>
                </a:solidFill>
                <a:latin typeface="Times New Roman" charset="0"/>
              </a:rPr>
              <a:t> </a:t>
            </a:r>
            <a:r>
              <a:rPr lang="en-US" altLang="x-none" sz="4000" dirty="0">
                <a:solidFill>
                  <a:srgbClr val="0066CC"/>
                </a:solidFill>
                <a:latin typeface="Impact" charset="0"/>
              </a:rPr>
              <a:t>second</a:t>
            </a:r>
            <a:r>
              <a:rPr lang="en-US" altLang="x-none" sz="4000" dirty="0">
                <a:latin typeface="Times New Roman" charset="0"/>
              </a:rPr>
              <a:t>, by using inverse operations.</a:t>
            </a:r>
          </a:p>
        </p:txBody>
      </p:sp>
    </p:spTree>
    <p:extLst>
      <p:ext uri="{BB962C8B-B14F-4D97-AF65-F5344CB8AC3E}">
        <p14:creationId xmlns:p14="http://schemas.microsoft.com/office/powerpoint/2010/main" val="132187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1728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Solving Two-Step</a:t>
            </a:r>
          </a:p>
          <a:p>
            <a:r>
              <a:rPr lang="en-US" sz="2800" b="1" dirty="0" smtClean="0"/>
              <a:t>Equations</a:t>
            </a:r>
            <a:endParaRPr lang="en-US" sz="2800" b="1" dirty="0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859022" y="1802845"/>
            <a:ext cx="50955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5400" smtClean="0">
                <a:latin typeface="Impact" charset="0"/>
              </a:rPr>
              <a:t>Solve: 3x </a:t>
            </a:r>
            <a:r>
              <a:rPr lang="en-US" altLang="x-none" sz="5400" b="1">
                <a:latin typeface="Impact" charset="0"/>
              </a:rPr>
              <a:t>+</a:t>
            </a:r>
            <a:r>
              <a:rPr lang="en-US" altLang="x-none" sz="5400">
                <a:latin typeface="Impact" charset="0"/>
              </a:rPr>
              <a:t> 4 </a:t>
            </a:r>
            <a:r>
              <a:rPr lang="en-US" altLang="x-none" sz="5400" b="1">
                <a:latin typeface="Impact" charset="0"/>
              </a:rPr>
              <a:t>=</a:t>
            </a:r>
            <a:r>
              <a:rPr lang="en-US" altLang="x-none" sz="5400">
                <a:latin typeface="Impact" charset="0"/>
              </a:rPr>
              <a:t> 16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435275" y="4070751"/>
            <a:ext cx="4364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Addition</a:t>
            </a:r>
            <a:r>
              <a:rPr lang="en-US" altLang="x-none" sz="2400" dirty="0">
                <a:latin typeface="Times New Roman" charset="0"/>
              </a:rPr>
              <a:t> or </a:t>
            </a:r>
            <a:r>
              <a:rPr lang="en-US" altLang="x-none" sz="2400" dirty="0">
                <a:solidFill>
                  <a:srgbClr val="FF0000"/>
                </a:solidFill>
                <a:latin typeface="Impact" charset="0"/>
              </a:rPr>
              <a:t>Subtraction</a:t>
            </a:r>
            <a:r>
              <a:rPr lang="en-US" altLang="x-none" sz="2400" dirty="0">
                <a:latin typeface="Times New Roman" charset="0"/>
              </a:rPr>
              <a:t> 1</a:t>
            </a:r>
            <a:r>
              <a:rPr lang="en-US" altLang="x-none" sz="2400" baseline="30000" dirty="0">
                <a:latin typeface="Times New Roman" charset="0"/>
              </a:rPr>
              <a:t>st</a:t>
            </a:r>
            <a:r>
              <a:rPr lang="en-US" altLang="x-none" sz="2400" dirty="0">
                <a:latin typeface="Times New Roman" charset="0"/>
              </a:rPr>
              <a:t> </a:t>
            </a:r>
          </a:p>
        </p:txBody>
      </p:sp>
      <p:sp>
        <p:nvSpPr>
          <p:cNvPr id="18" name="Text Box 52"/>
          <p:cNvSpPr txBox="1">
            <a:spLocks noChangeArrowheads="1"/>
          </p:cNvSpPr>
          <p:nvPr/>
        </p:nvSpPr>
        <p:spPr bwMode="auto">
          <a:xfrm>
            <a:off x="3236722" y="3643712"/>
            <a:ext cx="207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 dirty="0">
                <a:latin typeface="Times New Roman" charset="0"/>
              </a:rPr>
              <a:t>3x </a:t>
            </a:r>
            <a:r>
              <a:rPr lang="en-US" altLang="x-none" sz="3200" b="1" dirty="0">
                <a:latin typeface="Times New Roman" charset="0"/>
              </a:rPr>
              <a:t>+</a:t>
            </a:r>
            <a:r>
              <a:rPr lang="en-US" altLang="x-none" sz="3200" dirty="0">
                <a:latin typeface="Times New Roman" charset="0"/>
              </a:rPr>
              <a:t> 4 </a:t>
            </a:r>
            <a:r>
              <a:rPr lang="en-US" altLang="x-none" sz="3200" b="1" dirty="0">
                <a:latin typeface="Times New Roman" charset="0"/>
              </a:rPr>
              <a:t>=</a:t>
            </a:r>
            <a:r>
              <a:rPr lang="en-US" altLang="x-none" sz="3200" dirty="0">
                <a:latin typeface="Times New Roman" charset="0"/>
              </a:rPr>
              <a:t> 16</a:t>
            </a:r>
          </a:p>
        </p:txBody>
      </p:sp>
      <p:sp>
        <p:nvSpPr>
          <p:cNvPr id="19" name="Text Box 53"/>
          <p:cNvSpPr txBox="1">
            <a:spLocks noChangeArrowheads="1"/>
          </p:cNvSpPr>
          <p:nvPr/>
        </p:nvSpPr>
        <p:spPr bwMode="auto">
          <a:xfrm>
            <a:off x="3951098" y="4070751"/>
            <a:ext cx="1266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 dirty="0">
                <a:solidFill>
                  <a:schemeClr val="accent2"/>
                </a:solidFill>
                <a:latin typeface="Times New Roman" charset="0"/>
              </a:rPr>
              <a:t>-4    -4</a:t>
            </a:r>
          </a:p>
        </p:txBody>
      </p:sp>
      <p:sp>
        <p:nvSpPr>
          <p:cNvPr id="20" name="Line 54"/>
          <p:cNvSpPr>
            <a:spLocks noChangeShapeType="1"/>
          </p:cNvSpPr>
          <p:nvPr/>
        </p:nvSpPr>
        <p:spPr bwMode="auto">
          <a:xfrm>
            <a:off x="3325622" y="459145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55"/>
          <p:cNvSpPr txBox="1">
            <a:spLocks noChangeArrowheads="1"/>
          </p:cNvSpPr>
          <p:nvPr/>
        </p:nvSpPr>
        <p:spPr bwMode="auto">
          <a:xfrm>
            <a:off x="3859022" y="46343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3x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12</a:t>
            </a:r>
          </a:p>
        </p:txBody>
      </p:sp>
      <p:sp>
        <p:nvSpPr>
          <p:cNvPr id="22" name="Line 56"/>
          <p:cNvSpPr>
            <a:spLocks noChangeShapeType="1"/>
          </p:cNvSpPr>
          <p:nvPr/>
        </p:nvSpPr>
        <p:spPr bwMode="auto">
          <a:xfrm>
            <a:off x="3859022" y="513755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57"/>
          <p:cNvSpPr>
            <a:spLocks noChangeShapeType="1"/>
          </p:cNvSpPr>
          <p:nvPr/>
        </p:nvSpPr>
        <p:spPr bwMode="auto">
          <a:xfrm>
            <a:off x="4760722" y="513755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 Box 58"/>
          <p:cNvSpPr txBox="1">
            <a:spLocks noChangeArrowheads="1"/>
          </p:cNvSpPr>
          <p:nvPr/>
        </p:nvSpPr>
        <p:spPr bwMode="auto">
          <a:xfrm>
            <a:off x="3935222" y="508040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5" name="Text Box 59"/>
          <p:cNvSpPr txBox="1">
            <a:spLocks noChangeArrowheads="1"/>
          </p:cNvSpPr>
          <p:nvPr/>
        </p:nvSpPr>
        <p:spPr bwMode="auto">
          <a:xfrm>
            <a:off x="4786122" y="5086751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32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26" name="Text Box 60"/>
          <p:cNvSpPr txBox="1">
            <a:spLocks noChangeArrowheads="1"/>
          </p:cNvSpPr>
          <p:nvPr/>
        </p:nvSpPr>
        <p:spPr bwMode="auto">
          <a:xfrm>
            <a:off x="4074922" y="5701112"/>
            <a:ext cx="1460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x-none" sz="3200">
                <a:latin typeface="Times New Roman" charset="0"/>
              </a:rPr>
              <a:t>x </a:t>
            </a:r>
            <a:r>
              <a:rPr lang="en-US" altLang="x-none" sz="3200" b="1">
                <a:latin typeface="Times New Roman" charset="0"/>
              </a:rPr>
              <a:t>=</a:t>
            </a:r>
            <a:r>
              <a:rPr lang="en-US" altLang="x-none" sz="3200">
                <a:latin typeface="Times New Roman" charset="0"/>
              </a:rPr>
              <a:t> 4</a:t>
            </a:r>
          </a:p>
        </p:txBody>
      </p:sp>
      <p:sp>
        <p:nvSpPr>
          <p:cNvPr id="27" name="Oval 61"/>
          <p:cNvSpPr>
            <a:spLocks noChangeArrowheads="1"/>
          </p:cNvSpPr>
          <p:nvPr/>
        </p:nvSpPr>
        <p:spPr bwMode="auto">
          <a:xfrm>
            <a:off x="3782822" y="5747150"/>
            <a:ext cx="1676400" cy="533400"/>
          </a:xfrm>
          <a:prstGeom prst="ellipse">
            <a:avLst/>
          </a:prstGeom>
          <a:noFill/>
          <a:ln w="38100" cap="rnd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62"/>
          <p:cNvSpPr>
            <a:spLocks noChangeShapeType="1"/>
          </p:cNvSpPr>
          <p:nvPr/>
        </p:nvSpPr>
        <p:spPr bwMode="auto">
          <a:xfrm>
            <a:off x="4151122" y="3689750"/>
            <a:ext cx="2286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63"/>
          <p:cNvSpPr>
            <a:spLocks noChangeShapeType="1"/>
          </p:cNvSpPr>
          <p:nvPr/>
        </p:nvSpPr>
        <p:spPr bwMode="auto">
          <a:xfrm>
            <a:off x="3998722" y="4680350"/>
            <a:ext cx="152400" cy="9144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6435275" y="5112105"/>
            <a:ext cx="4900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charset="0"/>
              </a:rPr>
              <a:t> Undo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Multiplication</a:t>
            </a:r>
            <a:r>
              <a:rPr lang="en-US" altLang="x-none" sz="2400" dirty="0" smtClean="0">
                <a:latin typeface="Times New Roman" charset="0"/>
              </a:rPr>
              <a:t> </a:t>
            </a:r>
            <a:r>
              <a:rPr lang="en-US" altLang="x-none" sz="2400" dirty="0">
                <a:latin typeface="Times New Roman" charset="0"/>
              </a:rPr>
              <a:t>or </a:t>
            </a:r>
            <a:r>
              <a:rPr lang="en-US" altLang="x-none" sz="2400" dirty="0" smtClean="0">
                <a:solidFill>
                  <a:srgbClr val="FF0000"/>
                </a:solidFill>
                <a:latin typeface="Impact" charset="0"/>
              </a:rPr>
              <a:t>Division </a:t>
            </a:r>
            <a:r>
              <a:rPr lang="en-US" altLang="x-none" sz="2400" dirty="0" smtClean="0">
                <a:latin typeface="Times New Roman" charset="0"/>
              </a:rPr>
              <a:t>2</a:t>
            </a:r>
            <a:r>
              <a:rPr lang="en-US" altLang="x-none" sz="2400" baseline="30000" dirty="0" smtClean="0">
                <a:latin typeface="Times New Roman" charset="0"/>
              </a:rPr>
              <a:t>nd</a:t>
            </a:r>
            <a:r>
              <a:rPr lang="en-US" altLang="x-none" sz="2400" dirty="0" smtClean="0">
                <a:latin typeface="Times New Roman" charset="0"/>
              </a:rPr>
              <a:t> </a:t>
            </a:r>
            <a:endParaRPr lang="en-US" altLang="x-none" sz="24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8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utoUpdateAnimBg="0"/>
      <p:bldP spid="20" grpId="0" animBg="1"/>
      <p:bldP spid="21" grpId="0" autoUpdateAnimBg="0"/>
      <p:bldP spid="22" grpId="0" animBg="1"/>
      <p:bldP spid="23" grpId="0" animBg="1"/>
      <p:bldP spid="24" grpId="0" autoUpdateAnimBg="0"/>
      <p:bldP spid="25" grpId="0" autoUpdateAnimBg="0"/>
      <p:bldP spid="26" grpId="0" autoUpdateAnimBg="0"/>
      <p:bldP spid="27" grpId="0" animBg="1"/>
      <p:bldP spid="28" grpId="0" animBg="1"/>
      <p:bldP spid="29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3"/>
            <a:ext cx="11728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2106317"/>
            <a:ext cx="1697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 Review</a:t>
            </a:r>
            <a:endParaRPr lang="en-US" sz="2800" b="1" dirty="0"/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314166" y="1962890"/>
            <a:ext cx="13853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800" dirty="0">
                <a:latin typeface="Times New Roman" charset="0"/>
              </a:rPr>
              <a:t>1)</a:t>
            </a:r>
            <a:r>
              <a:rPr lang="en-US" altLang="x-none" sz="2800" dirty="0">
                <a:solidFill>
                  <a:srgbClr val="CC0000"/>
                </a:solidFill>
                <a:latin typeface="Times New Roman" charset="0"/>
              </a:rPr>
              <a:t> </a:t>
            </a:r>
            <a:r>
              <a:rPr lang="en-US" altLang="x-none" sz="2800" dirty="0">
                <a:solidFill>
                  <a:srgbClr val="FF0000"/>
                </a:solidFill>
                <a:latin typeface="Impact" charset="0"/>
              </a:rPr>
              <a:t>GOAL</a:t>
            </a:r>
            <a:r>
              <a:rPr lang="en-US" altLang="x-none" sz="2800" dirty="0">
                <a:latin typeface="Times New Roman" charset="0"/>
              </a:rPr>
              <a:t>: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699482" y="2072334"/>
            <a:ext cx="6538411" cy="41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solidFill>
                  <a:srgbClr val="FF0000"/>
                </a:solidFill>
                <a:latin typeface="Impact" charset="0"/>
              </a:rPr>
              <a:t>Get the variable</a:t>
            </a:r>
            <a:r>
              <a:rPr lang="en-US" altLang="x-none" sz="2800" dirty="0">
                <a:latin typeface="Times New Roman" charset="0"/>
              </a:rPr>
              <a:t> on one side </a:t>
            </a:r>
            <a:r>
              <a:rPr lang="en-US" altLang="x-none" sz="2800" dirty="0" smtClean="0">
                <a:latin typeface="Times New Roman" charset="0"/>
              </a:rPr>
              <a:t>of </a:t>
            </a:r>
            <a:r>
              <a:rPr lang="en-US" altLang="x-none" sz="2800" dirty="0">
                <a:latin typeface="Times New Roman" charset="0"/>
              </a:rPr>
              <a:t>the equation.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301686" y="2956068"/>
            <a:ext cx="6778330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>
                <a:latin typeface="Times New Roman" charset="0"/>
              </a:rPr>
              <a:t>2) You always perform the </a:t>
            </a:r>
            <a:r>
              <a:rPr lang="en-US" altLang="x-none" sz="2800">
                <a:solidFill>
                  <a:srgbClr val="9900FF"/>
                </a:solidFill>
                <a:latin typeface="Impact" charset="0"/>
              </a:rPr>
              <a:t>same operation</a:t>
            </a:r>
            <a:r>
              <a:rPr lang="en-US" altLang="x-none" sz="2800">
                <a:latin typeface="Times New Roman" charset="0"/>
              </a:rPr>
              <a:t> to</a:t>
            </a:r>
          </a:p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solidFill>
                  <a:srgbClr val="9900FF"/>
                </a:solidFill>
                <a:latin typeface="Impact" charset="0"/>
              </a:rPr>
              <a:t>both sides</a:t>
            </a:r>
            <a:r>
              <a:rPr lang="en-US" altLang="x-none" sz="2800" dirty="0">
                <a:latin typeface="Times New Roman" charset="0"/>
              </a:rPr>
              <a:t> of an equation.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2301686" y="4095497"/>
            <a:ext cx="8153400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>
                <a:latin typeface="Times New Roman" charset="0"/>
              </a:rPr>
              <a:t>3) To undo an operation you perform its </a:t>
            </a:r>
            <a:r>
              <a:rPr lang="en-US" altLang="x-none" sz="2800">
                <a:solidFill>
                  <a:schemeClr val="accent2"/>
                </a:solidFill>
                <a:latin typeface="Impact" charset="0"/>
              </a:rPr>
              <a:t>opposite operation</a:t>
            </a:r>
            <a:r>
              <a:rPr lang="en-US" altLang="x-none" sz="2800">
                <a:latin typeface="Times New Roman" charset="0"/>
              </a:rPr>
              <a:t> to both sides of the equation.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301686" y="5234926"/>
            <a:ext cx="8643938" cy="7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75000"/>
              </a:lnSpc>
            </a:pPr>
            <a:r>
              <a:rPr lang="en-US" altLang="x-none" sz="2800" dirty="0">
                <a:latin typeface="Times New Roman" charset="0"/>
              </a:rPr>
              <a:t>4) It is easier if you undo </a:t>
            </a:r>
            <a:r>
              <a:rPr lang="en-US" altLang="x-none" sz="2800" dirty="0">
                <a:solidFill>
                  <a:srgbClr val="CC0000"/>
                </a:solidFill>
                <a:latin typeface="Impact" charset="0"/>
              </a:rPr>
              <a:t>addition or subtraction</a:t>
            </a:r>
            <a:r>
              <a:rPr lang="en-US" altLang="x-none" sz="2800" dirty="0">
                <a:latin typeface="Times New Roman" charset="0"/>
              </a:rPr>
              <a:t> before you undo </a:t>
            </a:r>
            <a:r>
              <a:rPr lang="en-US" altLang="x-none" sz="2800" dirty="0">
                <a:solidFill>
                  <a:srgbClr val="CC0000"/>
                </a:solidFill>
                <a:latin typeface="Impact" charset="0"/>
              </a:rPr>
              <a:t>multiplication or division.</a:t>
            </a:r>
            <a:endParaRPr lang="en-US" altLang="x-none" sz="2800" dirty="0">
              <a:solidFill>
                <a:srgbClr val="CC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93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7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770" decel="100000"/>
                                        <p:tgtEl>
                                          <p:spTgt spid="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7150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791222" y="1671506"/>
            <a:ext cx="37578" cy="51864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575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Two-Step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71" y="1078504"/>
            <a:ext cx="11594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What are the steps involved in solving two-step algebraic equations?</a:t>
            </a:r>
            <a:endParaRPr lang="en-AU" sz="2400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2799567" y="1782846"/>
            <a:ext cx="4038600" cy="777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smtClean="0">
                <a:solidFill>
                  <a:schemeClr val="tx2"/>
                </a:solidFill>
              </a:rPr>
              <a:t>  </a:t>
            </a:r>
            <a:r>
              <a:rPr lang="en-US" altLang="x-none" sz="4000" smtClean="0">
                <a:solidFill>
                  <a:schemeClr val="tx2"/>
                </a:solidFill>
              </a:rPr>
              <a:t>2x</a:t>
            </a:r>
            <a:r>
              <a:rPr lang="en-US" altLang="x-none" sz="4000" smtClean="0"/>
              <a:t> + </a:t>
            </a:r>
            <a:r>
              <a:rPr lang="en-US" altLang="x-none" sz="4000" smtClean="0">
                <a:solidFill>
                  <a:schemeClr val="tx2"/>
                </a:solidFill>
              </a:rPr>
              <a:t>4 = 10 	</a:t>
            </a:r>
            <a:endParaRPr lang="en-US" altLang="x-none" sz="4000">
              <a:solidFill>
                <a:schemeClr val="tx2"/>
              </a:solidFill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152367" y="1782845"/>
            <a:ext cx="426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3200">
                <a:latin typeface="Times New Roman" charset="0"/>
              </a:rPr>
              <a:t> Get the variable alone.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875767" y="2392446"/>
            <a:ext cx="2927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600">
                <a:solidFill>
                  <a:srgbClr val="9900CC"/>
                </a:solidFill>
                <a:latin typeface="Times New Roman" charset="0"/>
              </a:rPr>
              <a:t>   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- 4     - 4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	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2799567" y="3154445"/>
            <a:ext cx="2743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3256767" y="3078246"/>
            <a:ext cx="2209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2x</a:t>
            </a:r>
            <a:r>
              <a:rPr lang="en-US" altLang="x-none" sz="4000">
                <a:latin typeface="Times New Roman" charset="0"/>
              </a:rPr>
              <a:t> </a:t>
            </a:r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    = 6 	</a:t>
            </a: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 flipH="1">
            <a:off x="4094967" y="1859045"/>
            <a:ext cx="3048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6228567" y="3230645"/>
            <a:ext cx="3506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+4 and </a:t>
            </a:r>
            <a:r>
              <a:rPr lang="en-US" altLang="x-none" sz="3200">
                <a:solidFill>
                  <a:srgbClr val="FF0000"/>
                </a:solidFill>
                <a:latin typeface="Times New Roman" charset="0"/>
              </a:rPr>
              <a:t>-4</a:t>
            </a:r>
            <a:r>
              <a:rPr lang="en-US" altLang="x-none" sz="3200">
                <a:latin typeface="Times New Roman" charset="0"/>
              </a:rPr>
              <a:t> cancel out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256767" y="3078246"/>
            <a:ext cx="2286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4000">
                <a:solidFill>
                  <a:schemeClr val="tx2"/>
                </a:solidFill>
                <a:latin typeface="Times New Roman" charset="0"/>
              </a:rPr>
              <a:t>__        __    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2           2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304767" y="3916445"/>
            <a:ext cx="384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Divide both sides by 2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3332967" y="4373646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x      = 3</a:t>
            </a:r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3409167" y="3230645"/>
            <a:ext cx="76200" cy="990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Oval 14"/>
          <p:cNvSpPr>
            <a:spLocks noChangeArrowheads="1"/>
          </p:cNvSpPr>
          <p:nvPr/>
        </p:nvSpPr>
        <p:spPr bwMode="auto">
          <a:xfrm>
            <a:off x="3028167" y="4373645"/>
            <a:ext cx="2590800" cy="685800"/>
          </a:xfrm>
          <a:prstGeom prst="ellipse">
            <a:avLst/>
          </a:prstGeom>
          <a:noFill/>
          <a:ln w="3810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6228568" y="5516645"/>
            <a:ext cx="3108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Show your check.</a:t>
            </a: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2494767" y="5059446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 2</a:t>
            </a:r>
            <a:r>
              <a:rPr lang="en-US" altLang="x-none" sz="4000">
                <a:solidFill>
                  <a:srgbClr val="9900CC"/>
                </a:solidFill>
                <a:latin typeface="Times New Roman" charset="0"/>
              </a:rPr>
              <a:t>(3)</a:t>
            </a:r>
            <a:r>
              <a:rPr lang="en-US" altLang="x-none" sz="4000">
                <a:latin typeface="Times New Roman" charset="0"/>
              </a:rPr>
              <a:t> +4 = 10</a:t>
            </a: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6228568" y="6278645"/>
            <a:ext cx="31988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Finish your check.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3332967" y="5669046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6 + 4 = 10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3561567" y="6278646"/>
            <a:ext cx="342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4000">
                <a:latin typeface="Times New Roman" charset="0"/>
              </a:rPr>
              <a:t>  10 = 10</a:t>
            </a: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6228568" y="4678445"/>
            <a:ext cx="4384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3200">
                <a:latin typeface="Times New Roman" charset="0"/>
              </a:rPr>
              <a:t>2 divided by 2 cancel to 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286" y="1863445"/>
            <a:ext cx="1680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Example 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885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800"/>
                            </p:stCondLst>
                            <p:childTnLst>
                              <p:par>
                                <p:cTn id="10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00"/>
                            </p:stCondLst>
                            <p:childTnLst>
                              <p:par>
                                <p:cTn id="1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95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50"/>
                            </p:stCondLst>
                            <p:childTnLst>
                              <p:par>
                                <p:cTn id="5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autoUpdateAnimBg="0"/>
      <p:bldP spid="14" grpId="0" autoUpdateAnimBg="0"/>
      <p:bldP spid="15" grpId="0" animBg="1"/>
      <p:bldP spid="16" grpId="0" autoUpdateAnimBg="0"/>
      <p:bldP spid="17" grpId="0" animBg="1"/>
      <p:bldP spid="18" grpId="0" autoUpdateAnimBg="0"/>
      <p:bldP spid="19" grpId="0" autoUpdateAnimBg="0"/>
      <p:bldP spid="20" grpId="0" autoUpdateAnimBg="0"/>
      <p:bldP spid="21" grpId="0" autoUpdateAnimBg="0"/>
      <p:bldP spid="22" grpId="0" animBg="1"/>
      <p:bldP spid="23" grpId="0" animBg="1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</a:rPr>
              <a:t>3n + 1 = 13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7051FD-1F73-4DD5-9721-8535DFED57EC}"/>
              </a:ext>
            </a:extLst>
          </p:cNvPr>
          <p:cNvSpPr txBox="1"/>
          <p:nvPr/>
        </p:nvSpPr>
        <p:spPr>
          <a:xfrm>
            <a:off x="5045019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5k - 3 = 27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20DC260-D3E7-4241-9DDE-9A8CE0015BEE}"/>
              </a:ext>
            </a:extLst>
          </p:cNvPr>
          <p:cNvSpPr txBox="1"/>
          <p:nvPr/>
        </p:nvSpPr>
        <p:spPr>
          <a:xfrm>
            <a:off x="8998634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70C0"/>
                </a:solidFill>
                <a:latin typeface="Calibri" panose="020F0502020204030204"/>
              </a:rPr>
              <a:t>6a + 3 = 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D1CE9B0-72A7-45F2-8847-A652CE35492F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9517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70C0"/>
                </a:solidFill>
                <a:latin typeface="Calibri" panose="020F0502020204030204"/>
              </a:rPr>
              <a:t>n   + 3 = 5</a:t>
            </a:r>
          </a:p>
          <a:p>
            <a:pPr defTabSz="914126"/>
            <a:r>
              <a:rPr lang="en-US" sz="3600" b="1" dirty="0">
                <a:solidFill>
                  <a:srgbClr val="0070C0"/>
                </a:solidFill>
                <a:latin typeface="Calibri" panose="020F0502020204030204"/>
              </a:rPr>
              <a:t>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9EE537E2-871A-4858-8E8F-80A833A07B0B}"/>
              </a:ext>
            </a:extLst>
          </p:cNvPr>
          <p:cNvCxnSpPr>
            <a:cxnSpLocks/>
          </p:cNvCxnSpPr>
          <p:nvPr/>
        </p:nvCxnSpPr>
        <p:spPr>
          <a:xfrm>
            <a:off x="957942" y="2097905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68BF5ED-3243-4F90-B8EF-A74AA4E4EE1B}"/>
              </a:ext>
            </a:extLst>
          </p:cNvPr>
          <p:cNvSpPr txBox="1"/>
          <p:nvPr/>
        </p:nvSpPr>
        <p:spPr>
          <a:xfrm>
            <a:off x="5287323" y="1513131"/>
            <a:ext cx="2101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7030A0"/>
                </a:solidFill>
                <a:latin typeface="Calibri" panose="020F0502020204030204"/>
              </a:rPr>
              <a:t>c    - 4 = 2</a:t>
            </a:r>
          </a:p>
          <a:p>
            <a:pPr defTabSz="914126"/>
            <a:r>
              <a:rPr lang="en-US" sz="3600" b="1" dirty="0">
                <a:solidFill>
                  <a:srgbClr val="7030A0"/>
                </a:solidFill>
                <a:latin typeface="Calibri" panose="020F0502020204030204"/>
              </a:rPr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B24EC8A-FF8A-4B72-AAA5-4F7F72E5F58B}"/>
              </a:ext>
            </a:extLst>
          </p:cNvPr>
          <p:cNvCxnSpPr>
            <a:cxnSpLocks/>
          </p:cNvCxnSpPr>
          <p:nvPr/>
        </p:nvCxnSpPr>
        <p:spPr>
          <a:xfrm>
            <a:off x="5153861" y="2097905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50EC583-CA4B-455D-A1C1-B192321C19E3}"/>
              </a:ext>
            </a:extLst>
          </p:cNvPr>
          <p:cNvSpPr txBox="1"/>
          <p:nvPr/>
        </p:nvSpPr>
        <p:spPr>
          <a:xfrm>
            <a:off x="9394637" y="1497740"/>
            <a:ext cx="2608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FF0000"/>
                </a:solidFill>
                <a:latin typeface="Calibri" panose="020F0502020204030204"/>
              </a:rPr>
              <a:t>h    + 9 = 12</a:t>
            </a:r>
          </a:p>
          <a:p>
            <a:pPr defTabSz="914126"/>
            <a:r>
              <a:rPr lang="en-US" sz="3600" b="1" dirty="0">
                <a:solidFill>
                  <a:srgbClr val="FF0000"/>
                </a:solidFill>
                <a:latin typeface="Calibri" panose="020F0502020204030204"/>
              </a:rPr>
              <a:t>7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2B8ED3A8-B590-4638-B777-A33EDD1D940B}"/>
              </a:ext>
            </a:extLst>
          </p:cNvPr>
          <p:cNvCxnSpPr>
            <a:cxnSpLocks/>
          </p:cNvCxnSpPr>
          <p:nvPr/>
        </p:nvCxnSpPr>
        <p:spPr>
          <a:xfrm>
            <a:off x="9261175" y="2082514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E8196514-004C-476B-851F-B4B40D0D5AEA}"/>
              </a:ext>
            </a:extLst>
          </p:cNvPr>
          <p:cNvSpPr txBox="1"/>
          <p:nvPr/>
        </p:nvSpPr>
        <p:spPr>
          <a:xfrm>
            <a:off x="8890782" y="741871"/>
            <a:ext cx="3156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B/C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89626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93256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493256"/>
            <a:ext cx="0" cy="53647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752741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</a:t>
            </a:r>
            <a:r>
              <a:rPr lang="en-US" sz="2800" b="1" dirty="0" smtClean="0"/>
              <a:t>hat happens when there are brackets? 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3471" y="1019969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we solve more advanced multi-step equations?</a:t>
            </a:r>
            <a:endParaRPr lang="en-AU" sz="2400" dirty="0"/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>
          <a:xfrm>
            <a:off x="2412250" y="1611537"/>
            <a:ext cx="10502900" cy="12549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800" smtClean="0">
                <a:latin typeface="+mn-lt"/>
              </a:rPr>
              <a:t>REVIEW: Simplify Using the Distributive Property.</a:t>
            </a:r>
            <a:endParaRPr lang="en-US" altLang="x-none" sz="2800">
              <a:latin typeface="+mn-lt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490081" y="2216844"/>
            <a:ext cx="785177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Distributive Property – </a:t>
            </a:r>
            <a:r>
              <a:rPr lang="en-US" altLang="x-none" sz="2800" i="1" dirty="0">
                <a:solidFill>
                  <a:srgbClr val="0066FF"/>
                </a:solidFill>
              </a:rPr>
              <a:t>Multiply </a:t>
            </a:r>
            <a:r>
              <a:rPr lang="en-US" altLang="x-none" sz="2800" i="1" dirty="0" smtClean="0">
                <a:solidFill>
                  <a:srgbClr val="0066FF"/>
                </a:solidFill>
              </a:rPr>
              <a:t>everything </a:t>
            </a:r>
            <a:r>
              <a:rPr lang="en-US" altLang="x-none" sz="2800" i="1" dirty="0">
                <a:solidFill>
                  <a:srgbClr val="0066FF"/>
                </a:solidFill>
              </a:rPr>
              <a:t>in the parentheses.</a:t>
            </a:r>
          </a:p>
          <a:p>
            <a:pPr>
              <a:spcBef>
                <a:spcPct val="50000"/>
              </a:spcBef>
            </a:pPr>
            <a:r>
              <a:rPr lang="en-US" altLang="x-none" sz="2800" dirty="0"/>
              <a:t>a </a:t>
            </a:r>
            <a:r>
              <a:rPr lang="en-US" altLang="x-none" sz="2800" dirty="0" smtClean="0"/>
              <a:t>(b </a:t>
            </a:r>
            <a:r>
              <a:rPr lang="en-US" altLang="x-none" sz="2800" dirty="0"/>
              <a:t>+ c ) =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4798294" y="3298898"/>
            <a:ext cx="27003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ab + ac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490081" y="4371953"/>
            <a:ext cx="4129380" cy="53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Example 1:  -3 ( x </a:t>
            </a:r>
            <a:r>
              <a:rPr lang="en-US" altLang="x-none" sz="2800" dirty="0" smtClean="0"/>
              <a:t>+ 5 </a:t>
            </a:r>
            <a:r>
              <a:rPr lang="en-US" altLang="x-none" sz="2800" dirty="0"/>
              <a:t>)</a:t>
            </a:r>
          </a:p>
        </p:txBody>
      </p:sp>
      <p:sp>
        <p:nvSpPr>
          <p:cNvPr id="18" name="Freeform 10"/>
          <p:cNvSpPr>
            <a:spLocks/>
          </p:cNvSpPr>
          <p:nvPr/>
        </p:nvSpPr>
        <p:spPr bwMode="auto">
          <a:xfrm>
            <a:off x="4847802" y="4324034"/>
            <a:ext cx="550863" cy="234950"/>
          </a:xfrm>
          <a:custGeom>
            <a:avLst/>
            <a:gdLst>
              <a:gd name="T0" fmla="*/ 0 w 347"/>
              <a:gd name="T1" fmla="*/ 120 h 148"/>
              <a:gd name="T2" fmla="*/ 100 w 347"/>
              <a:gd name="T3" fmla="*/ 29 h 148"/>
              <a:gd name="T4" fmla="*/ 274 w 347"/>
              <a:gd name="T5" fmla="*/ 20 h 148"/>
              <a:gd name="T6" fmla="*/ 347 w 347"/>
              <a:gd name="T7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7" h="148">
                <a:moveTo>
                  <a:pt x="0" y="120"/>
                </a:moveTo>
                <a:cubicBezTo>
                  <a:pt x="27" y="83"/>
                  <a:pt x="54" y="46"/>
                  <a:pt x="100" y="29"/>
                </a:cubicBezTo>
                <a:cubicBezTo>
                  <a:pt x="146" y="12"/>
                  <a:pt x="233" y="0"/>
                  <a:pt x="274" y="20"/>
                </a:cubicBezTo>
                <a:cubicBezTo>
                  <a:pt x="315" y="40"/>
                  <a:pt x="331" y="94"/>
                  <a:pt x="347" y="14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0" name="Freeform 13"/>
          <p:cNvSpPr>
            <a:spLocks/>
          </p:cNvSpPr>
          <p:nvPr/>
        </p:nvSpPr>
        <p:spPr bwMode="auto">
          <a:xfrm>
            <a:off x="4839865" y="4216451"/>
            <a:ext cx="1117600" cy="320675"/>
          </a:xfrm>
          <a:custGeom>
            <a:avLst/>
            <a:gdLst>
              <a:gd name="T0" fmla="*/ 0 w 704"/>
              <a:gd name="T1" fmla="*/ 193 h 202"/>
              <a:gd name="T2" fmla="*/ 137 w 704"/>
              <a:gd name="T3" fmla="*/ 29 h 202"/>
              <a:gd name="T4" fmla="*/ 512 w 704"/>
              <a:gd name="T5" fmla="*/ 29 h 202"/>
              <a:gd name="T6" fmla="*/ 704 w 704"/>
              <a:gd name="T7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4" h="202">
                <a:moveTo>
                  <a:pt x="0" y="193"/>
                </a:moveTo>
                <a:cubicBezTo>
                  <a:pt x="26" y="124"/>
                  <a:pt x="52" y="56"/>
                  <a:pt x="137" y="29"/>
                </a:cubicBezTo>
                <a:cubicBezTo>
                  <a:pt x="222" y="2"/>
                  <a:pt x="418" y="0"/>
                  <a:pt x="512" y="29"/>
                </a:cubicBezTo>
                <a:cubicBezTo>
                  <a:pt x="606" y="58"/>
                  <a:pt x="655" y="130"/>
                  <a:pt x="704" y="20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2490081" y="5434853"/>
            <a:ext cx="4397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2:   -7 ( 2a – 4 )</a:t>
            </a:r>
          </a:p>
        </p:txBody>
      </p:sp>
      <p:sp>
        <p:nvSpPr>
          <p:cNvPr id="23" name="Freeform 16"/>
          <p:cNvSpPr>
            <a:spLocks/>
          </p:cNvSpPr>
          <p:nvPr/>
        </p:nvSpPr>
        <p:spPr bwMode="auto">
          <a:xfrm>
            <a:off x="4921727" y="5379281"/>
            <a:ext cx="550862" cy="234950"/>
          </a:xfrm>
          <a:custGeom>
            <a:avLst/>
            <a:gdLst>
              <a:gd name="T0" fmla="*/ 0 w 347"/>
              <a:gd name="T1" fmla="*/ 120 h 148"/>
              <a:gd name="T2" fmla="*/ 100 w 347"/>
              <a:gd name="T3" fmla="*/ 29 h 148"/>
              <a:gd name="T4" fmla="*/ 274 w 347"/>
              <a:gd name="T5" fmla="*/ 20 h 148"/>
              <a:gd name="T6" fmla="*/ 347 w 347"/>
              <a:gd name="T7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7" h="148">
                <a:moveTo>
                  <a:pt x="0" y="120"/>
                </a:moveTo>
                <a:cubicBezTo>
                  <a:pt x="27" y="83"/>
                  <a:pt x="54" y="46"/>
                  <a:pt x="100" y="29"/>
                </a:cubicBezTo>
                <a:cubicBezTo>
                  <a:pt x="146" y="12"/>
                  <a:pt x="233" y="0"/>
                  <a:pt x="274" y="20"/>
                </a:cubicBezTo>
                <a:cubicBezTo>
                  <a:pt x="315" y="40"/>
                  <a:pt x="331" y="94"/>
                  <a:pt x="347" y="148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6647559" y="5434853"/>
            <a:ext cx="25281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smtClean="0"/>
              <a:t>= -14a + 28</a:t>
            </a:r>
            <a:endParaRPr lang="en-US" altLang="x-none" sz="2800"/>
          </a:p>
        </p:txBody>
      </p:sp>
      <p:sp>
        <p:nvSpPr>
          <p:cNvPr id="25" name="Freeform 18"/>
          <p:cNvSpPr>
            <a:spLocks/>
          </p:cNvSpPr>
          <p:nvPr/>
        </p:nvSpPr>
        <p:spPr bwMode="auto">
          <a:xfrm>
            <a:off x="4929262" y="5265477"/>
            <a:ext cx="1219200" cy="320675"/>
          </a:xfrm>
          <a:custGeom>
            <a:avLst/>
            <a:gdLst>
              <a:gd name="T0" fmla="*/ 0 w 704"/>
              <a:gd name="T1" fmla="*/ 193 h 202"/>
              <a:gd name="T2" fmla="*/ 137 w 704"/>
              <a:gd name="T3" fmla="*/ 29 h 202"/>
              <a:gd name="T4" fmla="*/ 512 w 704"/>
              <a:gd name="T5" fmla="*/ 29 h 202"/>
              <a:gd name="T6" fmla="*/ 704 w 704"/>
              <a:gd name="T7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4" h="202">
                <a:moveTo>
                  <a:pt x="0" y="193"/>
                </a:moveTo>
                <a:cubicBezTo>
                  <a:pt x="26" y="124"/>
                  <a:pt x="52" y="56"/>
                  <a:pt x="137" y="29"/>
                </a:cubicBezTo>
                <a:cubicBezTo>
                  <a:pt x="222" y="2"/>
                  <a:pt x="418" y="0"/>
                  <a:pt x="512" y="29"/>
                </a:cubicBezTo>
                <a:cubicBezTo>
                  <a:pt x="606" y="58"/>
                  <a:pt x="655" y="130"/>
                  <a:pt x="704" y="20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7" name="Text Box 20"/>
          <p:cNvSpPr txBox="1">
            <a:spLocks noChangeArrowheads="1"/>
          </p:cNvSpPr>
          <p:nvPr/>
        </p:nvSpPr>
        <p:spPr bwMode="auto">
          <a:xfrm>
            <a:off x="6792249" y="3289525"/>
            <a:ext cx="3627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>
                <a:solidFill>
                  <a:srgbClr val="FF0000"/>
                </a:solidFill>
              </a:rPr>
              <a:t>OR</a:t>
            </a:r>
            <a:r>
              <a:rPr lang="en-US" altLang="x-none" sz="2800" dirty="0"/>
              <a:t>   a ( b – c ) =</a:t>
            </a:r>
          </a:p>
        </p:txBody>
      </p:sp>
      <p:sp>
        <p:nvSpPr>
          <p:cNvPr id="28" name="Text Box 21"/>
          <p:cNvSpPr txBox="1">
            <a:spLocks noChangeArrowheads="1"/>
          </p:cNvSpPr>
          <p:nvPr/>
        </p:nvSpPr>
        <p:spPr bwMode="auto">
          <a:xfrm>
            <a:off x="10071925" y="3287058"/>
            <a:ext cx="1916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ab – ac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17207" y="4411385"/>
            <a:ext cx="1829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= -3x - 15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327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16" grpId="0" autoUpdateAnimBg="0"/>
      <p:bldP spid="17" grpId="0" autoUpdateAnimBg="0"/>
      <p:bldP spid="18" grpId="0" animBg="1"/>
      <p:bldP spid="20" grpId="0" animBg="1"/>
      <p:bldP spid="22" grpId="0" autoUpdateAnimBg="0"/>
      <p:bldP spid="23" grpId="0" animBg="1"/>
      <p:bldP spid="24" grpId="0" autoUpdateAnimBg="0"/>
      <p:bldP spid="25" grpId="0" animBg="1"/>
      <p:bldP spid="27" grpId="0" autoUpdateAnimBg="0"/>
      <p:bldP spid="28" grpId="0" autoUpdateAnimBg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29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1222" y="1522922"/>
            <a:ext cx="0" cy="53350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71" y="1043820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we solve more advanced multi-step equations?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1752741"/>
            <a:ext cx="16977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</a:t>
            </a:r>
            <a:r>
              <a:rPr lang="en-US" sz="2800" b="1" dirty="0" smtClean="0"/>
              <a:t>hat happens when there are brackets? </a:t>
            </a:r>
            <a:endParaRPr lang="en-US" sz="2800" b="1" dirty="0"/>
          </a:p>
        </p:txBody>
      </p:sp>
      <p:sp>
        <p:nvSpPr>
          <p:cNvPr id="16" name="Rectangle 4"/>
          <p:cNvSpPr txBox="1">
            <a:spLocks noChangeArrowheads="1"/>
          </p:cNvSpPr>
          <p:nvPr/>
        </p:nvSpPr>
        <p:spPr>
          <a:xfrm>
            <a:off x="2062163" y="1568575"/>
            <a:ext cx="7869237" cy="5460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800" smtClean="0">
                <a:latin typeface="+mn-lt"/>
              </a:rPr>
              <a:t>REVIEW: Simplify Using Combining Like Terms</a:t>
            </a:r>
            <a:endParaRPr lang="en-US" altLang="x-none" sz="2800">
              <a:latin typeface="+mn-lt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2074863" y="2264431"/>
            <a:ext cx="97472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u="sng"/>
              <a:t>Like Terms</a:t>
            </a:r>
            <a:r>
              <a:rPr lang="en-US" altLang="x-none" sz="2800"/>
              <a:t> must have the same variables and the same powers on the letters.  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062163" y="3396318"/>
            <a:ext cx="923862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i="1" dirty="0">
                <a:solidFill>
                  <a:srgbClr val="0066FF"/>
                </a:solidFill>
              </a:rPr>
              <a:t>Combine like terms by adding or subtracting the coefficients (numbers in front of the variables).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2176462" y="4469469"/>
            <a:ext cx="528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1:  3x + 5 – 7x + 9</a:t>
            </a: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4380574" y="4919293"/>
            <a:ext cx="174888" cy="33356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>
            <a:off x="4666108" y="4906453"/>
            <a:ext cx="1086065" cy="3853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4144962" y="5152285"/>
            <a:ext cx="81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-4x</a:t>
            </a: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5177092" y="4906453"/>
            <a:ext cx="297125" cy="33356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5562094" y="4887684"/>
            <a:ext cx="938096" cy="344022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791074" y="5137154"/>
            <a:ext cx="9223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+ 14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2185987" y="5679144"/>
            <a:ext cx="5283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Example 2:  3 – 6y – 7 – 9y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380574" y="6122944"/>
            <a:ext cx="184147" cy="33197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4666107" y="6101528"/>
            <a:ext cx="1047304" cy="3375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4125119" y="6334780"/>
            <a:ext cx="81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 -4</a:t>
            </a: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5102757" y="6081529"/>
            <a:ext cx="237989" cy="331179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H="1">
            <a:off x="5332683" y="6100299"/>
            <a:ext cx="1121298" cy="338806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612481" y="6334780"/>
            <a:ext cx="16113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15y</a:t>
            </a:r>
          </a:p>
        </p:txBody>
      </p:sp>
    </p:spTree>
    <p:extLst>
      <p:ext uri="{BB962C8B-B14F-4D97-AF65-F5344CB8AC3E}">
        <p14:creationId xmlns:p14="http://schemas.microsoft.com/office/powerpoint/2010/main" val="156743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1022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827127" y="1510222"/>
            <a:ext cx="0" cy="53477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1" y="1078503"/>
            <a:ext cx="1061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we solve more advanced multi-step equations?</a:t>
            </a:r>
            <a:endParaRPr lang="en-AU" sz="24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071538" y="1916632"/>
            <a:ext cx="64611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u="sng" dirty="0"/>
              <a:t>Example:</a:t>
            </a:r>
            <a:r>
              <a:rPr lang="en-US" altLang="x-none" sz="2800" dirty="0"/>
              <a:t>  3 </a:t>
            </a:r>
            <a:r>
              <a:rPr lang="en-US" altLang="x-none" sz="2800" dirty="0" smtClean="0"/>
              <a:t>( x </a:t>
            </a:r>
            <a:r>
              <a:rPr lang="en-US" altLang="x-none" sz="2800" dirty="0"/>
              <a:t>– 2 ) + 4x = 8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510139" y="1627982"/>
            <a:ext cx="4373251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400" dirty="0">
                <a:solidFill>
                  <a:srgbClr val="0066FF"/>
                </a:solidFill>
              </a:rPr>
              <a:t>FIRST - Use the Distributive Property to get rid of the parentheses.</a:t>
            </a:r>
          </a:p>
        </p:txBody>
      </p:sp>
      <p:sp>
        <p:nvSpPr>
          <p:cNvPr id="16" name="Freeform 6"/>
          <p:cNvSpPr>
            <a:spLocks/>
          </p:cNvSpPr>
          <p:nvPr/>
        </p:nvSpPr>
        <p:spPr bwMode="auto">
          <a:xfrm>
            <a:off x="3095805" y="1910868"/>
            <a:ext cx="481012" cy="203200"/>
          </a:xfrm>
          <a:custGeom>
            <a:avLst/>
            <a:gdLst>
              <a:gd name="T0" fmla="*/ 0 w 303"/>
              <a:gd name="T1" fmla="*/ 119 h 155"/>
              <a:gd name="T2" fmla="*/ 128 w 303"/>
              <a:gd name="T3" fmla="*/ 9 h 155"/>
              <a:gd name="T4" fmla="*/ 274 w 303"/>
              <a:gd name="T5" fmla="*/ 64 h 155"/>
              <a:gd name="T6" fmla="*/ 302 w 303"/>
              <a:gd name="T7" fmla="*/ 155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3" h="155">
                <a:moveTo>
                  <a:pt x="0" y="119"/>
                </a:moveTo>
                <a:cubicBezTo>
                  <a:pt x="41" y="68"/>
                  <a:pt x="82" y="18"/>
                  <a:pt x="128" y="9"/>
                </a:cubicBezTo>
                <a:cubicBezTo>
                  <a:pt x="174" y="0"/>
                  <a:pt x="245" y="40"/>
                  <a:pt x="274" y="64"/>
                </a:cubicBezTo>
                <a:cubicBezTo>
                  <a:pt x="303" y="88"/>
                  <a:pt x="302" y="121"/>
                  <a:pt x="302" y="155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7" name="Freeform 7"/>
          <p:cNvSpPr>
            <a:spLocks/>
          </p:cNvSpPr>
          <p:nvPr/>
        </p:nvSpPr>
        <p:spPr bwMode="auto">
          <a:xfrm>
            <a:off x="3057064" y="1792360"/>
            <a:ext cx="1082675" cy="288925"/>
          </a:xfrm>
          <a:custGeom>
            <a:avLst/>
            <a:gdLst>
              <a:gd name="T0" fmla="*/ 0 w 682"/>
              <a:gd name="T1" fmla="*/ 148 h 182"/>
              <a:gd name="T2" fmla="*/ 165 w 682"/>
              <a:gd name="T3" fmla="*/ 20 h 182"/>
              <a:gd name="T4" fmla="*/ 512 w 682"/>
              <a:gd name="T5" fmla="*/ 29 h 182"/>
              <a:gd name="T6" fmla="*/ 682 w 682"/>
              <a:gd name="T7" fmla="*/ 182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2" h="182">
                <a:moveTo>
                  <a:pt x="0" y="148"/>
                </a:moveTo>
                <a:cubicBezTo>
                  <a:pt x="30" y="127"/>
                  <a:pt x="80" y="40"/>
                  <a:pt x="165" y="20"/>
                </a:cubicBezTo>
                <a:cubicBezTo>
                  <a:pt x="250" y="0"/>
                  <a:pt x="426" y="2"/>
                  <a:pt x="512" y="29"/>
                </a:cubicBezTo>
                <a:cubicBezTo>
                  <a:pt x="598" y="56"/>
                  <a:pt x="647" y="150"/>
                  <a:pt x="682" y="182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3451144" y="2606339"/>
            <a:ext cx="9429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3x 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3953785" y="2605555"/>
            <a:ext cx="9286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6 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557631" y="2606951"/>
            <a:ext cx="1987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+ 4x = 8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832189" y="2954874"/>
            <a:ext cx="3806566" cy="954107"/>
          </a:xfrm>
          <a:prstGeom prst="rect">
            <a:avLst/>
          </a:prstGeom>
          <a:noFill/>
          <a:ln w="38100">
            <a:solidFill>
              <a:srgbClr val="0066FF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>
                <a:solidFill>
                  <a:srgbClr val="0066FF"/>
                </a:solidFill>
              </a:rPr>
              <a:t>Copy the rest of the problem.</a:t>
            </a:r>
            <a:r>
              <a:rPr lang="en-US" altLang="x-none" sz="2800"/>
              <a:t> 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212167" y="2739429"/>
            <a:ext cx="2105025" cy="138499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SECOND: Combine like terms.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786240" y="3040308"/>
            <a:ext cx="115888" cy="3635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 flipH="1">
            <a:off x="3971791" y="2971558"/>
            <a:ext cx="1103313" cy="4508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3717321" y="3330902"/>
            <a:ext cx="900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7x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4260665" y="3316259"/>
            <a:ext cx="2381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– 6 = 8</a:t>
            </a: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485671" y="3013552"/>
            <a:ext cx="183419" cy="46518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5398665" y="2991463"/>
            <a:ext cx="401441" cy="50838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4199449" y="3926535"/>
            <a:ext cx="1885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/>
              <a:t>+ 6 </a:t>
            </a:r>
            <a:r>
              <a:rPr lang="en-US" altLang="x-none" sz="2800" dirty="0" smtClean="0"/>
              <a:t>+ </a:t>
            </a:r>
            <a:r>
              <a:rPr lang="en-US" altLang="x-none" sz="2800" dirty="0"/>
              <a:t>6</a:t>
            </a:r>
            <a:endParaRPr lang="en-US" altLang="x-none" sz="2800" b="1" i="1" dirty="0">
              <a:solidFill>
                <a:srgbClr val="0066FF"/>
              </a:solidFill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4052440" y="4389581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5018452" y="4389581"/>
            <a:ext cx="755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250102" y="4553924"/>
            <a:ext cx="1595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7x = 14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7715977" y="4730040"/>
            <a:ext cx="41060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dirty="0">
                <a:solidFill>
                  <a:srgbClr val="0066FF"/>
                </a:solidFill>
              </a:rPr>
              <a:t>Divide both sides by 7.</a:t>
            </a:r>
          </a:p>
        </p:txBody>
      </p:sp>
      <p:sp>
        <p:nvSpPr>
          <p:cNvPr id="35" name="Line 24"/>
          <p:cNvSpPr>
            <a:spLocks noChangeShapeType="1"/>
          </p:cNvSpPr>
          <p:nvPr/>
        </p:nvSpPr>
        <p:spPr bwMode="auto">
          <a:xfrm>
            <a:off x="5098113" y="4991650"/>
            <a:ext cx="4778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4302100" y="5007278"/>
            <a:ext cx="4778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37" name="Text Box 26"/>
          <p:cNvSpPr txBox="1">
            <a:spLocks noChangeArrowheads="1"/>
          </p:cNvSpPr>
          <p:nvPr/>
        </p:nvSpPr>
        <p:spPr bwMode="auto">
          <a:xfrm>
            <a:off x="4330761" y="4971965"/>
            <a:ext cx="18303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/>
              <a:t>7      7</a:t>
            </a: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4250102" y="5670500"/>
            <a:ext cx="1524000" cy="523220"/>
          </a:xfrm>
          <a:prstGeom prst="rect">
            <a:avLst/>
          </a:prstGeom>
          <a:solidFill>
            <a:srgbClr val="FFFF00"/>
          </a:solidFill>
          <a:ln w="762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sz="2800"/>
              <a:t>x = 2</a:t>
            </a: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7755149" y="4053393"/>
            <a:ext cx="3867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b="1" i="1" dirty="0">
                <a:solidFill>
                  <a:srgbClr val="0066FF"/>
                </a:solidFill>
              </a:rPr>
              <a:t>Add 6 to both sides.</a:t>
            </a:r>
          </a:p>
        </p:txBody>
      </p:sp>
      <p:grpSp>
        <p:nvGrpSpPr>
          <p:cNvPr id="40" name="Group 31"/>
          <p:cNvGrpSpPr>
            <a:grpSpLocks/>
          </p:cNvGrpSpPr>
          <p:nvPr/>
        </p:nvGrpSpPr>
        <p:grpSpPr bwMode="auto">
          <a:xfrm>
            <a:off x="1216998" y="4352037"/>
            <a:ext cx="2816225" cy="1931988"/>
            <a:chOff x="137" y="2542"/>
            <a:chExt cx="1774" cy="1217"/>
          </a:xfrm>
        </p:grpSpPr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>
              <a:off x="137" y="2615"/>
              <a:ext cx="1325" cy="1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x-none" sz="2800"/>
                <a:t>Now it’s a regular 2-step equation.</a:t>
              </a: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flipV="1">
              <a:off x="1472" y="2542"/>
              <a:ext cx="439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</p:grp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4653590" y="3493382"/>
            <a:ext cx="126348" cy="80914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  <p:sp>
        <p:nvSpPr>
          <p:cNvPr id="44" name="Line 33"/>
          <p:cNvSpPr>
            <a:spLocks noChangeShapeType="1"/>
          </p:cNvSpPr>
          <p:nvPr/>
        </p:nvSpPr>
        <p:spPr bwMode="auto">
          <a:xfrm>
            <a:off x="4340456" y="4577462"/>
            <a:ext cx="246063" cy="7985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179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 animBg="1"/>
      <p:bldP spid="21" grpId="1" animBg="1"/>
      <p:bldP spid="22" grpId="0" animBg="1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4" grpId="0"/>
      <p:bldP spid="35" grpId="0" animBg="1"/>
      <p:bldP spid="36" grpId="0" animBg="1"/>
      <p:bldP spid="37" grpId="0"/>
      <p:bldP spid="38" grpId="0" animBg="1"/>
      <p:bldP spid="39" grpId="0"/>
      <p:bldP spid="43" grpId="0" animBg="1"/>
      <p:bldP spid="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502" y="1718130"/>
            <a:ext cx="311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Calibri" panose="020F0502020204030204"/>
              </a:rPr>
              <a:t>2(3f – 1) = 21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68BF5ED-3243-4F90-B8EF-A74AA4E4EE1B}"/>
              </a:ext>
            </a:extLst>
          </p:cNvPr>
          <p:cNvSpPr txBox="1"/>
          <p:nvPr/>
        </p:nvSpPr>
        <p:spPr>
          <a:xfrm>
            <a:off x="4703288" y="1718128"/>
            <a:ext cx="300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2(4 -2s) = 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50EC583-CA4B-455D-A1C1-B192321C19E3}"/>
              </a:ext>
            </a:extLst>
          </p:cNvPr>
          <p:cNvSpPr txBox="1"/>
          <p:nvPr/>
        </p:nvSpPr>
        <p:spPr>
          <a:xfrm>
            <a:off x="8714523" y="1718128"/>
            <a:ext cx="3074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libri" panose="020F0502020204030204"/>
              </a:rPr>
              <a:t>7(2 -3w) = 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233A6C-7F6C-4814-9926-8251A2FC27F9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B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180897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980729"/>
            <a:ext cx="1219200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46454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6541" y="1233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91716" y="1646454"/>
            <a:ext cx="0" cy="5211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01686" y="288324"/>
            <a:ext cx="5790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Multi-Step Algebraic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0237893" y="27432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0" y="1078503"/>
            <a:ext cx="1141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we solve more advanced multi-step equations </a:t>
            </a:r>
            <a:r>
              <a:rPr lang="en-AU" sz="2400" dirty="0" err="1" smtClean="0"/>
              <a:t>cont</a:t>
            </a:r>
            <a:r>
              <a:rPr lang="mr-IN" sz="2400" dirty="0" smtClean="0"/>
              <a:t>…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0" y="1878675"/>
            <a:ext cx="139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Variables on both sides</a:t>
            </a:r>
            <a:endParaRPr lang="en-US"/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3392807" y="1854514"/>
            <a:ext cx="4462873" cy="3555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3" charset="2"/>
              <a:buNone/>
            </a:pPr>
            <a:endParaRPr lang="en-US" altLang="x-none" dirty="0" smtClean="0"/>
          </a:p>
          <a:p>
            <a:pPr>
              <a:buFont typeface="Wingdings 3" charset="2"/>
              <a:buNone/>
            </a:pPr>
            <a:r>
              <a:rPr lang="en-US" altLang="x-none" u="sng" dirty="0" smtClean="0"/>
              <a:t>  + </a:t>
            </a:r>
            <a:r>
              <a:rPr lang="en-US" altLang="x-none" u="sng" dirty="0" smtClean="0"/>
              <a:t>2</a:t>
            </a:r>
            <a:r>
              <a:rPr lang="en-US" altLang="x-none" i="1" u="sng" dirty="0" smtClean="0"/>
              <a:t>x</a:t>
            </a:r>
            <a:r>
              <a:rPr lang="en-US" altLang="x-none" u="sng" dirty="0" smtClean="0"/>
              <a:t>       + 2</a:t>
            </a:r>
            <a:r>
              <a:rPr lang="en-US" altLang="x-none" i="1" u="sng" dirty="0" smtClean="0"/>
              <a:t>x</a:t>
            </a:r>
            <a:r>
              <a:rPr lang="en-US" altLang="x-none" u="sng" dirty="0" smtClean="0"/>
              <a:t>         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 9 = 6</a:t>
            </a:r>
            <a:r>
              <a:rPr lang="en-US" altLang="x-none" i="1" dirty="0" smtClean="0"/>
              <a:t>x</a:t>
            </a:r>
            <a:r>
              <a:rPr lang="en-US" altLang="x-none" dirty="0" smtClean="0"/>
              <a:t> – 15</a:t>
            </a:r>
            <a:endParaRPr lang="en-US" altLang="x-none" u="sng" dirty="0" smtClean="0"/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</a:t>
            </a:r>
            <a:r>
              <a:rPr lang="en-US" altLang="x-none" u="sng" dirty="0" smtClean="0"/>
              <a:t>+ 15         + 15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24 = 6</a:t>
            </a:r>
            <a:r>
              <a:rPr lang="en-US" altLang="x-none" i="1" dirty="0" smtClean="0"/>
              <a:t>x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6      6</a:t>
            </a:r>
          </a:p>
          <a:p>
            <a:pPr>
              <a:buFont typeface="Wingdings 3" charset="2"/>
              <a:buNone/>
            </a:pPr>
            <a:r>
              <a:rPr lang="en-US" altLang="x-none" dirty="0" smtClean="0"/>
              <a:t>          4 = </a:t>
            </a:r>
            <a:r>
              <a:rPr lang="en-US" altLang="x-none" i="1" dirty="0" smtClean="0"/>
              <a:t>x</a:t>
            </a:r>
          </a:p>
          <a:p>
            <a:pPr>
              <a:buFont typeface="Wingdings 3" charset="2"/>
              <a:buNone/>
            </a:pPr>
            <a:endParaRPr lang="en-US" altLang="x-none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930458" y="4402888"/>
            <a:ext cx="533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164349" y="4402888"/>
            <a:ext cx="5334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675793" y="5298522"/>
            <a:ext cx="312420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charset="0"/>
              </a:defRPr>
            </a:lvl9pPr>
          </a:lstStyle>
          <a:p>
            <a:r>
              <a:rPr lang="en-US" altLang="x-none" sz="2500" dirty="0"/>
              <a:t>– 2(4) + 9 = 4(4) – 15</a:t>
            </a:r>
          </a:p>
          <a:p>
            <a:r>
              <a:rPr lang="en-US" altLang="x-none" sz="2800" dirty="0"/>
              <a:t>    – </a:t>
            </a:r>
            <a:r>
              <a:rPr lang="en-US" altLang="x-none" sz="2500" dirty="0"/>
              <a:t>8 + 9 = 16 – 15</a:t>
            </a:r>
          </a:p>
          <a:p>
            <a:r>
              <a:rPr lang="en-US" altLang="x-none" sz="2500" dirty="0"/>
              <a:t>              1 = 1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46700" y="1912070"/>
            <a:ext cx="52094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Example: </a:t>
            </a:r>
            <a:r>
              <a:rPr lang="en-US" altLang="x-none" sz="2800" dirty="0"/>
              <a:t>– 2</a:t>
            </a:r>
            <a:r>
              <a:rPr lang="en-US" altLang="x-none" sz="2800" i="1" dirty="0"/>
              <a:t>x</a:t>
            </a:r>
            <a:r>
              <a:rPr lang="en-US" altLang="x-none" sz="2800" dirty="0"/>
              <a:t> + 9 = 4</a:t>
            </a:r>
            <a:r>
              <a:rPr lang="en-US" altLang="x-none" sz="2800" i="1" dirty="0"/>
              <a:t>x</a:t>
            </a:r>
            <a:r>
              <a:rPr lang="en-US" altLang="x-none" sz="2800" dirty="0"/>
              <a:t> – </a:t>
            </a:r>
            <a:r>
              <a:rPr lang="en-US" altLang="x-none" sz="2800" dirty="0" smtClean="0"/>
              <a:t>15</a:t>
            </a:r>
            <a:endParaRPr lang="en-US" altLang="x-none" sz="2800" dirty="0"/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968875" y="1948576"/>
            <a:ext cx="320733" cy="76371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64806" y="2970624"/>
            <a:ext cx="320733" cy="7637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56528" y="1971008"/>
            <a:ext cx="38655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Move the variables to one side by </a:t>
            </a:r>
            <a:r>
              <a:rPr lang="en-US" sz="2400" dirty="0" smtClean="0"/>
              <a:t>adding </a:t>
            </a:r>
            <a:r>
              <a:rPr lang="en-US" sz="2400" dirty="0" smtClean="0"/>
              <a:t>2x </a:t>
            </a:r>
            <a:r>
              <a:rPr lang="en-US" sz="2400" dirty="0" smtClean="0"/>
              <a:t>to </a:t>
            </a:r>
            <a:r>
              <a:rPr lang="en-US" sz="2400" dirty="0" smtClean="0"/>
              <a:t>both sides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7959556" y="3593741"/>
            <a:ext cx="3546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 solve like a regular two-step equation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396" y="5298522"/>
            <a:ext cx="2161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Don’t forget to check</a:t>
            </a:r>
          </a:p>
          <a:p>
            <a:r>
              <a:rPr lang="en-US" dirty="0" smtClean="0"/>
              <a:t>your work: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5105400" y="4009239"/>
            <a:ext cx="248516" cy="7637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38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21" grpId="0"/>
      <p:bldP spid="24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502" y="1718130"/>
            <a:ext cx="311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f + 13 = 1 + 5f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68BF5ED-3243-4F90-B8EF-A74AA4E4EE1B}"/>
              </a:ext>
            </a:extLst>
          </p:cNvPr>
          <p:cNvSpPr txBox="1"/>
          <p:nvPr/>
        </p:nvSpPr>
        <p:spPr>
          <a:xfrm>
            <a:off x="4365663" y="1718129"/>
            <a:ext cx="300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libri" panose="020F0502020204030204"/>
              </a:rPr>
              <a:t>3t – 2 = 5t - 10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50EC583-CA4B-455D-A1C1-B192321C19E3}"/>
              </a:ext>
            </a:extLst>
          </p:cNvPr>
          <p:cNvSpPr txBox="1"/>
          <p:nvPr/>
        </p:nvSpPr>
        <p:spPr>
          <a:xfrm>
            <a:off x="8039273" y="1718128"/>
            <a:ext cx="37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C00000"/>
                </a:solidFill>
                <a:latin typeface="Calibri" panose="020F0502020204030204"/>
              </a:rPr>
              <a:t>4w + 3 = 10w - 21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C83F8CA-3FB9-4EF0-9BE0-D83B71728D75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A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18288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855" y="1718126"/>
            <a:ext cx="367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4(2a - 1) = 3(a + 2)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50EC583-CA4B-455D-A1C1-B192321C19E3}"/>
              </a:ext>
            </a:extLst>
          </p:cNvPr>
          <p:cNvSpPr txBox="1"/>
          <p:nvPr/>
        </p:nvSpPr>
        <p:spPr>
          <a:xfrm>
            <a:off x="7484434" y="1718126"/>
            <a:ext cx="37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C00000"/>
                </a:solidFill>
                <a:latin typeface="Calibri" panose="020F0502020204030204"/>
              </a:rPr>
              <a:t>6(c - 5) = 5(c - 4)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5A224EF-378D-4672-9971-0BD44DB62F68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A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206214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8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88408" y="268358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Your turn</a:t>
            </a:r>
            <a:endParaRPr lang="en-US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47" y="1083548"/>
            <a:ext cx="10058400" cy="561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8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77</TotalTime>
  <Words>1114</Words>
  <Application>Microsoft Macintosh PowerPoint</Application>
  <PresentationFormat>Widescreen</PresentationFormat>
  <Paragraphs>251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Calibri</vt:lpstr>
      <vt:lpstr>Century Gothic</vt:lpstr>
      <vt:lpstr>DJB Fancy Nancy</vt:lpstr>
      <vt:lpstr>Impact</vt:lpstr>
      <vt:lpstr>Kiwi School Handwriting</vt:lpstr>
      <vt:lpstr>Mangal</vt:lpstr>
      <vt:lpstr>Times New Roman</vt:lpstr>
      <vt:lpstr>Wingdings 3</vt:lpstr>
      <vt:lpstr>Arial</vt:lpstr>
      <vt:lpstr>Vapor Trail</vt:lpstr>
      <vt:lpstr>Algebra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Revision</dc:title>
  <dc:creator>Nine Labuschagne</dc:creator>
  <cp:lastModifiedBy>SUMMERS Brad [Baldivis Secondary College]</cp:lastModifiedBy>
  <cp:revision>14</cp:revision>
  <dcterms:created xsi:type="dcterms:W3CDTF">2017-08-29T05:56:27Z</dcterms:created>
  <dcterms:modified xsi:type="dcterms:W3CDTF">2017-09-18T02:55:19Z</dcterms:modified>
</cp:coreProperties>
</file>
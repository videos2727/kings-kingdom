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4" r:id="rId2"/>
    <p:sldId id="285" r:id="rId3"/>
    <p:sldId id="286" r:id="rId4"/>
    <p:sldId id="283" r:id="rId5"/>
    <p:sldId id="287" r:id="rId6"/>
    <p:sldId id="296" r:id="rId7"/>
    <p:sldId id="257" r:id="rId8"/>
    <p:sldId id="297" r:id="rId9"/>
    <p:sldId id="298" r:id="rId10"/>
    <p:sldId id="289" r:id="rId11"/>
    <p:sldId id="290" r:id="rId12"/>
    <p:sldId id="291" r:id="rId13"/>
    <p:sldId id="292" r:id="rId14"/>
    <p:sldId id="259" r:id="rId15"/>
    <p:sldId id="288" r:id="rId16"/>
    <p:sldId id="293" r:id="rId17"/>
    <p:sldId id="299" r:id="rId18"/>
    <p:sldId id="300" r:id="rId19"/>
    <p:sldId id="301" r:id="rId20"/>
    <p:sldId id="294" r:id="rId21"/>
    <p:sldId id="29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99"/>
  </p:normalViewPr>
  <p:slideViewPr>
    <p:cSldViewPr>
      <p:cViewPr>
        <p:scale>
          <a:sx n="127" d="100"/>
          <a:sy n="127" d="100"/>
        </p:scale>
        <p:origin x="1200" y="-7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06/11/2017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06/11/2017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6864" cy="1962843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/>
            </a:r>
            <a:br>
              <a:rPr lang="en-AU" dirty="0" smtClean="0"/>
            </a:br>
            <a:r>
              <a:rPr lang="en-AU" smtClean="0"/>
              <a:t>Interactive Notebook-</a:t>
            </a:r>
            <a:br>
              <a:rPr lang="en-AU" smtClean="0"/>
            </a:br>
            <a:r>
              <a:rPr lang="en-AU" smtClean="0"/>
              <a:t>VOLUME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</a:t>
            </a:r>
          </a:p>
          <a:p>
            <a:pPr algn="l"/>
            <a:r>
              <a:rPr lang="en-AU" dirty="0" smtClean="0"/>
              <a:t>Term 4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Mental maths-</a:t>
            </a:r>
          </a:p>
          <a:p>
            <a:pPr algn="ctr">
              <a:buNone/>
            </a:pPr>
            <a:r>
              <a:rPr lang="en-GB" b="1" dirty="0" smtClean="0">
                <a:latin typeface="Comic Sans MS" pitchFamily="66" charset="0"/>
              </a:rPr>
              <a:t>72</a:t>
            </a:r>
          </a:p>
          <a:p>
            <a:pPr>
              <a:buNone/>
            </a:pPr>
            <a:r>
              <a:rPr lang="en-GB" dirty="0" smtClean="0"/>
              <a:t>Is the answer, so,</a:t>
            </a:r>
          </a:p>
          <a:p>
            <a:pPr>
              <a:buNone/>
            </a:pPr>
            <a:r>
              <a:rPr lang="en-GB" b="1" dirty="0" smtClean="0"/>
              <a:t>what is the question?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smtClean="0"/>
              <a:t>With your partner, think of as many and tricky questions as you can</a:t>
            </a:r>
            <a:r>
              <a:rPr lang="mr-IN" dirty="0" smtClean="0"/>
              <a:t>…</a:t>
            </a:r>
            <a:r>
              <a:rPr lang="en-GB" dirty="0" smtClean="0"/>
              <a:t>. Write then on your sticky notes and place on the board under Easy, Medium  or extra Hard!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Did you use indices, square roots, decimals, BIMDAS?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</a:t>
            </a:r>
            <a:r>
              <a:rPr lang="en-AU" sz="2400" b="1" dirty="0" smtClean="0"/>
              <a:t>points of confusion </a:t>
            </a:r>
            <a:r>
              <a:rPr lang="en-AU" sz="2400" dirty="0" smtClean="0"/>
              <a:t>for calculating </a:t>
            </a:r>
            <a:r>
              <a:rPr lang="en-AU" sz="2400" b="1" dirty="0" smtClean="0"/>
              <a:t>Volume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27784" y="2132856"/>
            <a:ext cx="843375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Firstly we can see Volume as a </a:t>
            </a:r>
            <a:r>
              <a:rPr lang="en-US" sz="2800" b="1" dirty="0" smtClean="0"/>
              <a:t>3-D</a:t>
            </a:r>
            <a:r>
              <a:rPr lang="en-US" sz="2800" dirty="0" smtClean="0"/>
              <a:t> object </a:t>
            </a:r>
          </a:p>
          <a:p>
            <a:r>
              <a:rPr lang="en-US" sz="2800" dirty="0" smtClean="0"/>
              <a:t>Say of a </a:t>
            </a:r>
            <a:r>
              <a:rPr lang="en-US" sz="2800" b="1" dirty="0" smtClean="0"/>
              <a:t>rectangular </a:t>
            </a:r>
            <a:r>
              <a:rPr lang="en-US" sz="2800" dirty="0" smtClean="0"/>
              <a:t>tissue box</a:t>
            </a:r>
            <a:r>
              <a:rPr lang="mr-IN" sz="2800" dirty="0" smtClean="0"/>
              <a:t>…</a:t>
            </a:r>
            <a:r>
              <a:rPr lang="en-AU" sz="2800" dirty="0" smtClean="0"/>
              <a:t>.</a:t>
            </a:r>
          </a:p>
          <a:p>
            <a:pPr algn="ctr"/>
            <a:r>
              <a:rPr lang="en-US" sz="2800" dirty="0" smtClean="0"/>
              <a:t>How many small cubes will fit </a:t>
            </a:r>
          </a:p>
          <a:p>
            <a:pPr algn="ctr"/>
            <a:r>
              <a:rPr lang="en-US" sz="2800" dirty="0" smtClean="0"/>
              <a:t>in it?</a:t>
            </a:r>
          </a:p>
          <a:p>
            <a:pPr algn="ctr"/>
            <a:r>
              <a:rPr lang="en-US" sz="2800" dirty="0" smtClean="0"/>
              <a:t>How many cm cubes?</a:t>
            </a:r>
          </a:p>
          <a:p>
            <a:pPr algn="ctr"/>
            <a:r>
              <a:rPr lang="en-US" sz="2800" dirty="0" smtClean="0"/>
              <a:t>Estimate</a:t>
            </a:r>
            <a:r>
              <a:rPr lang="mr-IN" sz="2800" dirty="0" smtClean="0"/>
              <a:t>……</a:t>
            </a:r>
            <a:r>
              <a:rPr lang="en-AU" sz="2800" dirty="0" smtClean="0"/>
              <a:t>..</a:t>
            </a:r>
            <a:endParaRPr lang="en-US" sz="2800" dirty="0"/>
          </a:p>
          <a:p>
            <a:r>
              <a:rPr lang="en-US" sz="2800" b="1" dirty="0" smtClean="0"/>
              <a:t>1-D</a:t>
            </a:r>
            <a:r>
              <a:rPr lang="en-US" sz="2800" dirty="0" smtClean="0"/>
              <a:t> = length, </a:t>
            </a:r>
          </a:p>
          <a:p>
            <a:r>
              <a:rPr lang="en-US" sz="2800" b="1" dirty="0" smtClean="0"/>
              <a:t>2-D</a:t>
            </a:r>
            <a:r>
              <a:rPr lang="en-US" sz="2800" dirty="0" smtClean="0"/>
              <a:t> = area, so</a:t>
            </a:r>
            <a:r>
              <a:rPr lang="en-US" sz="2800" b="1" dirty="0" smtClean="0"/>
              <a:t> </a:t>
            </a:r>
          </a:p>
          <a:p>
            <a:r>
              <a:rPr lang="en-US" sz="2800" b="1" dirty="0" smtClean="0"/>
              <a:t>3-D </a:t>
            </a:r>
            <a:r>
              <a:rPr lang="en-US" sz="2800" dirty="0" smtClean="0"/>
              <a:t>= volume or capacity</a:t>
            </a:r>
          </a:p>
          <a:p>
            <a:endParaRPr lang="en-US" sz="2800" dirty="0"/>
          </a:p>
          <a:p>
            <a:r>
              <a:rPr lang="en-US" sz="2800" b="1" dirty="0" smtClean="0"/>
              <a:t>Capacity</a:t>
            </a:r>
            <a:r>
              <a:rPr lang="en-US" sz="2800" dirty="0" smtClean="0"/>
              <a:t> is used to measure liquids.</a:t>
            </a:r>
          </a:p>
          <a:p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763687" y="355246"/>
            <a:ext cx="3143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Comic Sans MS" charset="0"/>
                <a:ea typeface="Comic Sans MS" charset="0"/>
                <a:cs typeface="Comic Sans MS" charset="0"/>
              </a:rPr>
              <a:t>VOLUME</a:t>
            </a:r>
            <a:endParaRPr lang="en-US" sz="2800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471" y="2132855"/>
            <a:ext cx="1886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real-world examples can you think of?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5248894"/>
            <a:ext cx="1979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do we use   capacity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everyday shape is a rectangular prism?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585" y="1600200"/>
            <a:ext cx="3232830" cy="4525963"/>
          </a:xfrm>
        </p:spPr>
      </p:pic>
    </p:spTree>
    <p:extLst>
      <p:ext uri="{BB962C8B-B14F-4D97-AF65-F5344CB8AC3E}">
        <p14:creationId xmlns:p14="http://schemas.microsoft.com/office/powerpoint/2010/main" val="12769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Check units are the same</a:t>
            </a:r>
            <a:endParaRPr lang="en-GB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When calculating the volume of our tissue box, we need to measure the </a:t>
            </a:r>
          </a:p>
          <a:p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Length x width x height    = formula </a:t>
            </a:r>
            <a:r>
              <a:rPr lang="en-GB" b="1" dirty="0" smtClean="0">
                <a:latin typeface="Comic Sans MS" charset="0"/>
                <a:ea typeface="Comic Sans MS" charset="0"/>
                <a:cs typeface="Comic Sans MS" charset="0"/>
              </a:rPr>
              <a:t>L X W x H</a:t>
            </a:r>
          </a:p>
          <a:p>
            <a:endParaRPr lang="en-GB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All units must be the </a:t>
            </a:r>
            <a:r>
              <a:rPr lang="en-GB" u="sng" dirty="0" smtClean="0">
                <a:latin typeface="Comic Sans MS" charset="0"/>
                <a:ea typeface="Comic Sans MS" charset="0"/>
                <a:cs typeface="Comic Sans MS" charset="0"/>
              </a:rPr>
              <a:t>same unit </a:t>
            </a:r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first!</a:t>
            </a:r>
            <a:endParaRPr lang="en-GB" dirty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GB" b="1" dirty="0" smtClean="0">
                <a:latin typeface="Comic Sans MS" charset="0"/>
                <a:ea typeface="Comic Sans MS" charset="0"/>
                <a:cs typeface="Comic Sans MS" charset="0"/>
              </a:rPr>
              <a:t>21cm long x 11cm </a:t>
            </a:r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wide x 10cms high =        </a:t>
            </a:r>
            <a:r>
              <a:rPr lang="en-GB" b="1" dirty="0" smtClean="0">
                <a:latin typeface="Comic Sans MS" charset="0"/>
                <a:ea typeface="Comic Sans MS" charset="0"/>
                <a:cs typeface="Comic Sans MS" charset="0"/>
              </a:rPr>
              <a:t>231</a:t>
            </a:r>
            <a:r>
              <a:rPr lang="en-GB" dirty="0" smtClean="0">
                <a:latin typeface="Comic Sans MS" charset="0"/>
                <a:ea typeface="Comic Sans MS" charset="0"/>
                <a:cs typeface="Comic Sans MS" charset="0"/>
              </a:rPr>
              <a:t> x 10= </a:t>
            </a:r>
            <a:r>
              <a:rPr lang="mr-IN" dirty="0" smtClean="0">
                <a:latin typeface="Comic Sans MS" charset="0"/>
                <a:ea typeface="Comic Sans MS" charset="0"/>
                <a:cs typeface="Comic Sans MS" charset="0"/>
              </a:rPr>
              <a:t>……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.  </a:t>
            </a:r>
            <a:r>
              <a:rPr lang="en-AU" dirty="0">
                <a:latin typeface="Comic Sans MS" charset="0"/>
                <a:ea typeface="Comic Sans MS" charset="0"/>
                <a:cs typeface="Comic Sans MS" charset="0"/>
              </a:rPr>
              <a:t>(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revise how to  </a:t>
            </a:r>
            <a:r>
              <a:rPr lang="en-AU" b="1" dirty="0" smtClean="0">
                <a:latin typeface="Comic Sans MS" charset="0"/>
                <a:ea typeface="Comic Sans MS" charset="0"/>
                <a:cs typeface="Comic Sans MS" charset="0"/>
              </a:rPr>
              <a:t>x11 rule</a:t>
            </a:r>
            <a:r>
              <a:rPr lang="mr-IN" b="1" dirty="0" smtClean="0">
                <a:latin typeface="Comic Sans MS" charset="0"/>
                <a:ea typeface="Comic Sans MS" charset="0"/>
                <a:cs typeface="Comic Sans MS" charset="0"/>
              </a:rPr>
              <a:t>…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.)</a:t>
            </a:r>
          </a:p>
          <a:p>
            <a:pPr algn="ctr"/>
            <a:endParaRPr lang="en-AU" sz="72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Comic Sans MS" charset="0"/>
                <a:ea typeface="Comic Sans MS" charset="0"/>
                <a:cs typeface="Comic Sans MS" charset="0"/>
              </a:rPr>
              <a:t>x11</a:t>
            </a:r>
            <a:endParaRPr lang="en-US" u="sng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21 x 11 = 231</a:t>
            </a:r>
          </a:p>
          <a:p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32 x 11  = 352</a:t>
            </a:r>
          </a:p>
          <a:p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45 x 11=  495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Who gets the rule?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05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Investigate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weird &amp; wonderful tissue boxes on your </a:t>
            </a:r>
            <a:r>
              <a:rPr lang="en-US" dirty="0" err="1" smtClean="0">
                <a:latin typeface="Comic Sans MS" charset="0"/>
                <a:ea typeface="Comic Sans MS" charset="0"/>
                <a:cs typeface="Comic Sans MS" charset="0"/>
              </a:rPr>
              <a:t>i</a:t>
            </a:r>
            <a:r>
              <a:rPr lang="en-US" dirty="0">
                <a:latin typeface="Comic Sans MS" charset="0"/>
                <a:ea typeface="Comic Sans MS" charset="0"/>
                <a:cs typeface="Comic Sans MS" charset="0"/>
              </a:rPr>
              <a:t>-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pad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971" y="1600200"/>
            <a:ext cx="4580058" cy="4525963"/>
          </a:xfrm>
        </p:spPr>
      </p:pic>
    </p:spTree>
    <p:extLst>
      <p:ext uri="{BB962C8B-B14F-4D97-AF65-F5344CB8AC3E}">
        <p14:creationId xmlns:p14="http://schemas.microsoft.com/office/powerpoint/2010/main" val="121831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What is missing?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2310 </a:t>
            </a:r>
          </a:p>
          <a:p>
            <a:pPr marL="0" indent="0" algn="ctr">
              <a:buNone/>
            </a:pP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cm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Did you get this correct?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Is it complete?</a:t>
            </a:r>
          </a:p>
          <a:p>
            <a:pPr algn="ctr"/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64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Comic Sans MS" charset="0"/>
                <a:ea typeface="Comic Sans MS" charset="0"/>
                <a:cs typeface="Comic Sans MS" charset="0"/>
              </a:rPr>
              <a:t>Problem example</a:t>
            </a:r>
            <a:endParaRPr lang="en-US" u="sng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A tissue box measures </a:t>
            </a:r>
          </a:p>
          <a:p>
            <a:pPr marL="0" indent="0" algn="ctr">
              <a:buNone/>
            </a:pPr>
            <a:r>
              <a:rPr lang="en-US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1.2 m x 25 cm x 3000 mm.</a:t>
            </a:r>
          </a:p>
          <a:p>
            <a:pPr marL="0" indent="0" algn="ctr">
              <a:buNone/>
            </a:pP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Which unit should we convert to?</a:t>
            </a:r>
          </a:p>
          <a:p>
            <a:pPr marL="0" indent="0" algn="ctr">
              <a:buNone/>
            </a:pP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What can we use to convert units?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86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Conversion caterpillar!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>
                <a:latin typeface="Comic Sans MS" charset="0"/>
                <a:ea typeface="Comic Sans MS" charset="0"/>
                <a:cs typeface="Comic Sans MS" charset="0"/>
              </a:rPr>
              <a:t>D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raw your own </a:t>
            </a:r>
            <a:r>
              <a:rPr lang="en-US" u="sng" dirty="0" smtClean="0">
                <a:latin typeface="Comic Sans MS" charset="0"/>
                <a:ea typeface="Comic Sans MS" charset="0"/>
                <a:cs typeface="Comic Sans MS" charset="0"/>
              </a:rPr>
              <a:t>conversion caterpil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lar in a </a:t>
            </a:r>
            <a:r>
              <a:rPr lang="en-US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quick-write.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  </a:t>
            </a: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Here</a:t>
            </a: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(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Km, m, cm, mm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[Hide units for extension students]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2 minutes</a:t>
            </a:r>
            <a:r>
              <a:rPr lang="mr-IN" dirty="0" smtClean="0">
                <a:latin typeface="Comic Sans MS" charset="0"/>
                <a:ea typeface="Comic Sans MS" charset="0"/>
                <a:cs typeface="Comic Sans MS" charset="0"/>
              </a:rPr>
              <a:t>……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go</a:t>
            </a:r>
            <a:r>
              <a:rPr lang="mr-IN" dirty="0" smtClean="0">
                <a:latin typeface="Comic Sans MS" charset="0"/>
                <a:ea typeface="Comic Sans MS" charset="0"/>
                <a:cs typeface="Comic Sans MS" charset="0"/>
              </a:rPr>
              <a:t>…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.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07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Answer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Does yours look like this?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2540000"/>
            <a:ext cx="7264400" cy="1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12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5400" dirty="0" smtClean="0">
                <a:latin typeface="Comic Sans MS" charset="0"/>
                <a:ea typeface="Comic Sans MS" charset="0"/>
                <a:cs typeface="Comic Sans MS" charset="0"/>
              </a:rPr>
              <a:t>Capacity- extension</a:t>
            </a:r>
            <a:endParaRPr lang="en-GB" sz="5400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80" y="2204864"/>
            <a:ext cx="5472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latin typeface="Comic Sans MS" charset="0"/>
                <a:ea typeface="Comic Sans MS" charset="0"/>
                <a:cs typeface="Comic Sans MS" charset="0"/>
              </a:rPr>
              <a:t>What would a Capacity conversion Caterpillar look like?   </a:t>
            </a:r>
          </a:p>
          <a:p>
            <a:r>
              <a:rPr lang="en-US" sz="4000" dirty="0" smtClean="0">
                <a:latin typeface="Comic Sans MS" charset="0"/>
                <a:ea typeface="Comic Sans MS" charset="0"/>
                <a:cs typeface="Comic Sans MS" charset="0"/>
              </a:rPr>
              <a:t>Have ago here</a:t>
            </a:r>
            <a:r>
              <a:rPr lang="mr-IN" sz="4000" dirty="0" smtClean="0">
                <a:latin typeface="Comic Sans MS" charset="0"/>
                <a:ea typeface="Comic Sans MS" charset="0"/>
                <a:cs typeface="Comic Sans MS" charset="0"/>
              </a:rPr>
              <a:t>…</a:t>
            </a:r>
            <a:r>
              <a:rPr lang="en-AU" sz="4000" dirty="0" smtClean="0">
                <a:latin typeface="Comic Sans MS" charset="0"/>
                <a:ea typeface="Comic Sans MS" charset="0"/>
                <a:cs typeface="Comic Sans MS" charset="0"/>
              </a:rPr>
              <a:t> you have 5 minutes.</a:t>
            </a:r>
            <a:endParaRPr lang="en-US" sz="4000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Calculating Volumes of other 3-D shapes 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If we know the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area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of the face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of a shape , we can just multiply that by the length or height.</a:t>
            </a:r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Such as a circular prism (cylinder) or cube</a:t>
            </a:r>
          </a:p>
          <a:p>
            <a:r>
              <a:rPr lang="en-US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or hexagonal prism.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Composite shapes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Remember how we divided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composite shapes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up into shapes we know (such as a triangle and a rectangle) to find the area of composite shapes, then added these two areas together?</a:t>
            </a:r>
          </a:p>
          <a:p>
            <a:endParaRPr lang="en-US" dirty="0"/>
          </a:p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Now, we just need to do the same </a:t>
            </a:r>
            <a:r>
              <a:rPr lang="en-US" dirty="0" err="1" smtClean="0">
                <a:latin typeface="Comic Sans MS" charset="0"/>
                <a:ea typeface="Comic Sans MS" charset="0"/>
                <a:cs typeface="Comic Sans MS" charset="0"/>
              </a:rPr>
              <a:t>ie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, for a kennel. </a:t>
            </a:r>
          </a:p>
          <a:p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73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EXTENSION: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>
              <a:latin typeface="Comic Sans MS" charset="0"/>
              <a:ea typeface="Comic Sans MS" charset="0"/>
              <a:cs typeface="Comic Sans MS" charset="0"/>
            </a:endParaRPr>
          </a:p>
          <a:p>
            <a:endParaRPr lang="en-US" sz="2800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r>
              <a:rPr lang="en-US" sz="2800" dirty="0" smtClean="0">
                <a:latin typeface="Comic Sans MS" charset="0"/>
                <a:ea typeface="Comic Sans MS" charset="0"/>
                <a:cs typeface="Comic Sans MS" charset="0"/>
              </a:rPr>
              <a:t>First 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find the </a:t>
            </a:r>
            <a:r>
              <a:rPr lang="en-US" sz="2800" b="1" dirty="0">
                <a:latin typeface="Comic Sans MS" charset="0"/>
                <a:ea typeface="Comic Sans MS" charset="0"/>
                <a:cs typeface="Comic Sans MS" charset="0"/>
              </a:rPr>
              <a:t>volume of the triangular roof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, then find the </a:t>
            </a:r>
            <a:r>
              <a:rPr lang="en-US" sz="2800" b="1" dirty="0">
                <a:latin typeface="Comic Sans MS" charset="0"/>
                <a:ea typeface="Comic Sans MS" charset="0"/>
                <a:cs typeface="Comic Sans MS" charset="0"/>
              </a:rPr>
              <a:t>volume of the rectangular prism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, then </a:t>
            </a:r>
            <a:r>
              <a:rPr lang="en-US" sz="2800" b="1" u="sng" dirty="0">
                <a:latin typeface="Comic Sans MS" charset="0"/>
                <a:ea typeface="Comic Sans MS" charset="0"/>
                <a:cs typeface="Comic Sans MS" charset="0"/>
              </a:rPr>
              <a:t>add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the </a:t>
            </a:r>
            <a:r>
              <a:rPr lang="en-US" sz="2800" b="1" u="sng" dirty="0">
                <a:latin typeface="Comic Sans MS" charset="0"/>
                <a:ea typeface="Comic Sans MS" charset="0"/>
                <a:cs typeface="Comic Sans MS" charset="0"/>
              </a:rPr>
              <a:t>two</a:t>
            </a:r>
            <a:r>
              <a:rPr lang="en-US" sz="2800" dirty="0">
                <a:latin typeface="Comic Sans MS" charset="0"/>
                <a:ea typeface="Comic Sans MS" charset="0"/>
                <a:cs typeface="Comic Sans MS" charset="0"/>
              </a:rPr>
              <a:t> together.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196752"/>
            <a:ext cx="3763426" cy="357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5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Naplan</a:t>
            </a:r>
            <a:r>
              <a:rPr lang="en-US" dirty="0" smtClean="0"/>
              <a:t> Style Question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21" y="1600200"/>
            <a:ext cx="7451758" cy="4525963"/>
          </a:xfrm>
        </p:spPr>
      </p:pic>
    </p:spTree>
    <p:extLst>
      <p:ext uri="{BB962C8B-B14F-4D97-AF65-F5344CB8AC3E}">
        <p14:creationId xmlns:p14="http://schemas.microsoft.com/office/powerpoint/2010/main" val="906291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Answer</a:t>
            </a:r>
            <a:endParaRPr lang="en-US" b="1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First find the </a:t>
            </a:r>
            <a:r>
              <a:rPr lang="en-US" b="1" u="sng" dirty="0" smtClean="0">
                <a:latin typeface="Comic Sans MS" charset="0"/>
                <a:ea typeface="Comic Sans MS" charset="0"/>
                <a:cs typeface="Comic Sans MS" charset="0"/>
              </a:rPr>
              <a:t>base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,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12cm - 2(3) = 6 cm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10 - 2 (3) = 4 cm </a:t>
            </a: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6 x 4 = 24cm</a:t>
            </a:r>
            <a:r>
              <a:rPr lang="en-US" baseline="30000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2</a:t>
            </a:r>
          </a:p>
          <a:p>
            <a:pPr marL="0" indent="0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Then, find the </a:t>
            </a:r>
            <a:r>
              <a:rPr lang="en-US" b="1" u="sng" dirty="0" smtClean="0">
                <a:latin typeface="Comic Sans MS" charset="0"/>
                <a:ea typeface="Comic Sans MS" charset="0"/>
                <a:cs typeface="Comic Sans MS" charset="0"/>
              </a:rPr>
              <a:t>height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  =</a:t>
            </a:r>
            <a:r>
              <a:rPr lang="en-US" b="1" dirty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3cm</a:t>
            </a: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So, 24cm</a:t>
            </a:r>
            <a:r>
              <a:rPr lang="en-US" baseline="30000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2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x 3cm</a:t>
            </a:r>
            <a:r>
              <a:rPr lang="en-US" baseline="30000" dirty="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1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=</a:t>
            </a:r>
          </a:p>
          <a:p>
            <a:pPr marL="0" indent="0" algn="ctr">
              <a:buNone/>
            </a:pPr>
            <a:endParaRPr lang="en-US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marL="0" indent="0" algn="ctr">
              <a:buNone/>
            </a:pP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****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72 </a:t>
            </a:r>
            <a:r>
              <a:rPr lang="en-US" b="1" smtClean="0">
                <a:latin typeface="Comic Sans MS" charset="0"/>
                <a:ea typeface="Comic Sans MS" charset="0"/>
                <a:cs typeface="Comic Sans MS" charset="0"/>
              </a:rPr>
              <a:t>cm</a:t>
            </a:r>
            <a:r>
              <a:rPr lang="en-US" b="1" baseline="30000" smtClean="0">
                <a:solidFill>
                  <a:srgbClr val="FF0000"/>
                </a:solidFill>
                <a:latin typeface="Comic Sans MS" charset="0"/>
                <a:ea typeface="Comic Sans MS" charset="0"/>
                <a:cs typeface="Comic Sans MS" charset="0"/>
              </a:rPr>
              <a:t>3</a:t>
            </a:r>
            <a:r>
              <a:rPr lang="en-US" b="1" baseline="30000" smtClean="0">
                <a:latin typeface="Comic Sans MS" charset="0"/>
                <a:ea typeface="Comic Sans MS" charset="0"/>
                <a:cs typeface="Comic Sans MS" charset="0"/>
              </a:rPr>
              <a:t> </a:t>
            </a:r>
            <a:r>
              <a:rPr lang="en-US" smtClean="0">
                <a:latin typeface="Comic Sans MS" charset="0"/>
                <a:ea typeface="Comic Sans MS" charset="0"/>
                <a:cs typeface="Comic Sans MS" charset="0"/>
              </a:rPr>
              <a:t>**** 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93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LHS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u="sng" dirty="0" smtClean="0">
                <a:latin typeface="Comic Sans MS" charset="0"/>
                <a:ea typeface="Comic Sans MS" charset="0"/>
                <a:cs typeface="Comic Sans MS" charset="0"/>
              </a:rPr>
              <a:t>Your turn</a:t>
            </a:r>
          </a:p>
          <a:p>
            <a:pPr marL="0" indent="0" algn="ctr">
              <a:buNone/>
            </a:pPr>
            <a:endParaRPr lang="en-US" u="sng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Pearson,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fluency pp311-313</a:t>
            </a:r>
          </a:p>
          <a:p>
            <a:pPr marL="0" indent="0" algn="ctr">
              <a:buNone/>
            </a:pPr>
            <a:r>
              <a:rPr lang="en-US" b="1" u="sng" dirty="0" smtClean="0">
                <a:latin typeface="Comic Sans MS" charset="0"/>
                <a:ea typeface="Comic Sans MS" charset="0"/>
                <a:cs typeface="Comic Sans MS" charset="0"/>
              </a:rPr>
              <a:t>Ext: 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Reasoning. Pp. 314-315</a:t>
            </a:r>
            <a:endParaRPr lang="en-AU" dirty="0" smtClean="0">
              <a:latin typeface="Comic Sans MS" charset="0"/>
              <a:ea typeface="Comic Sans MS" charset="0"/>
              <a:cs typeface="Comic Sans MS" charset="0"/>
            </a:endParaRPr>
          </a:p>
          <a:p>
            <a:pPr marL="0" indent="0" algn="ctr">
              <a:buNone/>
            </a:pPr>
            <a:r>
              <a:rPr lang="en-AU" u="sng" dirty="0" smtClean="0">
                <a:latin typeface="Comic Sans MS" charset="0"/>
                <a:ea typeface="Comic Sans MS" charset="0"/>
                <a:cs typeface="Comic Sans MS" charset="0"/>
              </a:rPr>
              <a:t>And/or</a:t>
            </a:r>
            <a:endParaRPr lang="en-AU" u="sng" dirty="0">
              <a:latin typeface="Comic Sans MS" charset="0"/>
              <a:ea typeface="Comic Sans MS" charset="0"/>
              <a:cs typeface="Comic Sans MS" charset="0"/>
            </a:endParaRPr>
          </a:p>
          <a:p>
            <a:pPr algn="ctr"/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Cambridge Essentials, 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Easy: </a:t>
            </a:r>
            <a:r>
              <a:rPr lang="en-AU" dirty="0" err="1" smtClean="0">
                <a:latin typeface="Comic Sans MS" charset="0"/>
                <a:ea typeface="Comic Sans MS" charset="0"/>
                <a:cs typeface="Comic Sans MS" charset="0"/>
              </a:rPr>
              <a:t>pps</a:t>
            </a:r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 222</a:t>
            </a:r>
          </a:p>
          <a:p>
            <a:pPr algn="ctr"/>
            <a:r>
              <a:rPr lang="en-AU" dirty="0" smtClean="0">
                <a:latin typeface="Comic Sans MS" charset="0"/>
                <a:ea typeface="Comic Sans MS" charset="0"/>
                <a:cs typeface="Comic Sans MS" charset="0"/>
              </a:rPr>
              <a:t>Medium: pps223, Enrichment p. </a:t>
            </a:r>
            <a:r>
              <a:rPr lang="en-AU" smtClean="0">
                <a:latin typeface="Comic Sans MS" charset="0"/>
                <a:ea typeface="Comic Sans MS" charset="0"/>
                <a:cs typeface="Comic Sans MS" charset="0"/>
              </a:rPr>
              <a:t>224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7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Summar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y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What can you </a:t>
            </a:r>
            <a:r>
              <a:rPr lang="en-US" dirty="0">
                <a:latin typeface="Comic Sans MS" charset="0"/>
                <a:ea typeface="Comic Sans MS" charset="0"/>
                <a:cs typeface="Comic Sans MS" charset="0"/>
              </a:rPr>
              <a:t>w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rite in this section to help you remember what to do?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Don’t forget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Math space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 homework!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For  </a:t>
            </a:r>
            <a:r>
              <a:rPr lang="en-US" b="1" dirty="0" smtClean="0">
                <a:latin typeface="Comic Sans MS" charset="0"/>
                <a:ea typeface="Comic Sans MS" charset="0"/>
                <a:cs typeface="Comic Sans MS" charset="0"/>
              </a:rPr>
              <a:t>10 </a:t>
            </a:r>
            <a:r>
              <a:rPr lang="en-US" b="1" dirty="0" err="1" smtClean="0">
                <a:latin typeface="Comic Sans MS" charset="0"/>
                <a:ea typeface="Comic Sans MS" charset="0"/>
                <a:cs typeface="Comic Sans MS" charset="0"/>
              </a:rPr>
              <a:t>Vivos</a:t>
            </a:r>
            <a:r>
              <a:rPr lang="en-US" dirty="0" smtClean="0">
                <a:latin typeface="Comic Sans MS" charset="0"/>
                <a:ea typeface="Comic Sans MS" charset="0"/>
                <a:cs typeface="Comic Sans MS" charset="0"/>
              </a:rPr>
              <a:t>, How much liquid is in the beaker on the first slide? </a:t>
            </a:r>
            <a:endParaRPr lang="en-US" dirty="0">
              <a:latin typeface="Comic Sans MS" charset="0"/>
              <a:ea typeface="Comic Sans MS" charset="0"/>
              <a:cs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52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100</TotalTime>
  <Words>631</Words>
  <Application>Microsoft Macintosh PowerPoint</Application>
  <PresentationFormat>On-screen Show (4:3)</PresentationFormat>
  <Paragraphs>145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Comic Sans MS</vt:lpstr>
      <vt:lpstr>Mangal</vt:lpstr>
      <vt:lpstr>Martina</vt:lpstr>
      <vt:lpstr>Office Theme</vt:lpstr>
      <vt:lpstr> Interactive Notebook- VOLUME</vt:lpstr>
      <vt:lpstr>PowerPoint Presentation</vt:lpstr>
      <vt:lpstr>PowerPoint Presentation</vt:lpstr>
      <vt:lpstr>Warm up</vt:lpstr>
      <vt:lpstr>PowerPoint Presentation</vt:lpstr>
      <vt:lpstr>What everyday shape is a rectangular prism?</vt:lpstr>
      <vt:lpstr>Check units are the same</vt:lpstr>
      <vt:lpstr>x11</vt:lpstr>
      <vt:lpstr>Investigate weird &amp; wonderful tissue boxes on your i-pad </vt:lpstr>
      <vt:lpstr>What is missing?</vt:lpstr>
      <vt:lpstr>Problem example</vt:lpstr>
      <vt:lpstr>Conversion caterpillar!</vt:lpstr>
      <vt:lpstr>Answer</vt:lpstr>
      <vt:lpstr>Capacity- extension</vt:lpstr>
      <vt:lpstr>Calculating Volumes of other 3-D shapes </vt:lpstr>
      <vt:lpstr>Composite shapes</vt:lpstr>
      <vt:lpstr>EXTENSION:</vt:lpstr>
      <vt:lpstr>Naplan Style Question</vt:lpstr>
      <vt:lpstr>Answer</vt:lpstr>
      <vt:lpstr>LHS</vt:lpstr>
      <vt:lpstr>Summary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PATERSON Anne [Baldivis Secondary College]</cp:lastModifiedBy>
  <cp:revision>21</cp:revision>
  <dcterms:created xsi:type="dcterms:W3CDTF">2017-08-30T11:53:26Z</dcterms:created>
  <dcterms:modified xsi:type="dcterms:W3CDTF">2017-11-06T00:00:43Z</dcterms:modified>
</cp:coreProperties>
</file>
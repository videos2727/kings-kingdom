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63" r:id="rId2"/>
    <p:sldId id="270" r:id="rId3"/>
    <p:sldId id="267" r:id="rId4"/>
    <p:sldId id="292" r:id="rId5"/>
    <p:sldId id="293" r:id="rId6"/>
    <p:sldId id="294" r:id="rId7"/>
    <p:sldId id="285" r:id="rId8"/>
    <p:sldId id="272" r:id="rId9"/>
    <p:sldId id="295" r:id="rId10"/>
    <p:sldId id="298" r:id="rId11"/>
    <p:sldId id="296" r:id="rId12"/>
    <p:sldId id="297" r:id="rId13"/>
    <p:sldId id="299" r:id="rId14"/>
    <p:sldId id="314" r:id="rId15"/>
    <p:sldId id="312" r:id="rId16"/>
    <p:sldId id="310" r:id="rId17"/>
    <p:sldId id="315" r:id="rId18"/>
    <p:sldId id="316" r:id="rId19"/>
    <p:sldId id="317" r:id="rId20"/>
    <p:sldId id="318" r:id="rId21"/>
    <p:sldId id="325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407" autoAdjust="0"/>
    <p:restoredTop sz="94660"/>
  </p:normalViewPr>
  <p:slideViewPr>
    <p:cSldViewPr snapToGrid="0">
      <p:cViewPr>
        <p:scale>
          <a:sx n="89" d="100"/>
          <a:sy n="89" d="100"/>
        </p:scale>
        <p:origin x="1640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4" Type="http://schemas.openxmlformats.org/officeDocument/2006/relationships/image" Target="../media/image18.wmf"/><Relationship Id="rId1" Type="http://schemas.openxmlformats.org/officeDocument/2006/relationships/image" Target="../media/image15.wmf"/><Relationship Id="rId2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F15141B4-DC84-8744-B84E-635943E56352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lIns="90487" tIns="44450" rIns="90487" bIns="44450"/>
          <a:lstStyle/>
          <a:p>
            <a:endParaRPr lang="en-US" altLang="en-US"/>
          </a:p>
        </p:txBody>
      </p:sp>
      <p:sp>
        <p:nvSpPr>
          <p:cNvPr id="2253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713471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fld id="{5FBAC653-07B6-014C-AE33-AF5E8DB3BD8A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228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6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0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65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74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83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97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41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21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52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85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26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316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E3467A-D65B-A045-8784-A792D1B56D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54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1" Type="http://schemas.openxmlformats.org/officeDocument/2006/relationships/tags" Target="../tags/tag1.xml"/><Relationship Id="rId2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png"/><Relationship Id="rId1" Type="http://schemas.openxmlformats.org/officeDocument/2006/relationships/tags" Target="../tags/tag4.xml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4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5.bin"/><Relationship Id="rId10" Type="http://schemas.openxmlformats.org/officeDocument/2006/relationships/image" Target="../media/image18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9.png"/><Relationship Id="rId1" Type="http://schemas.openxmlformats.org/officeDocument/2006/relationships/tags" Target="../tags/tag5.xml"/><Relationship Id="rId2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548481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 smtClean="0">
                <a:latin typeface="+mn-lt"/>
              </a:rPr>
              <a:t>My Linear Relationships</a:t>
            </a:r>
            <a:br>
              <a:rPr lang="en-AU" sz="4800" dirty="0" smtClean="0">
                <a:latin typeface="+mn-lt"/>
              </a:rPr>
            </a:br>
            <a:r>
              <a:rPr lang="en-AU" sz="4800" dirty="0" smtClean="0">
                <a:latin typeface="+mn-lt"/>
              </a:rPr>
              <a:t>Interactive Notebook</a:t>
            </a:r>
            <a:endParaRPr lang="en-AU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4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178" y="2466562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13377" y="946268"/>
            <a:ext cx="411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omplete the tasks on this side (left) of your page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Your book, your responsibility!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1" name="Right Arrow 20"/>
          <p:cNvSpPr/>
          <p:nvPr/>
        </p:nvSpPr>
        <p:spPr>
          <a:xfrm rot="11903126">
            <a:off x="4850327" y="200197"/>
            <a:ext cx="2290349" cy="1224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7101243" y="996695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should be ticking these off!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6177598" y="2023099"/>
            <a:ext cx="2868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Write your notes on this side (right) of your page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9137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21" grpId="0" animBg="1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477" y="1175354"/>
            <a:ext cx="7994489" cy="83863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Before we start, some quick mental </a:t>
            </a:r>
            <a:r>
              <a:rPr lang="en-US" dirty="0" err="1" smtClean="0"/>
              <a:t>maths</a:t>
            </a:r>
            <a:r>
              <a:rPr lang="mr-IN" dirty="0" smtClean="0"/>
              <a:t>…</a:t>
            </a:r>
            <a:r>
              <a:rPr lang="en-CA" dirty="0" smtClean="0"/>
              <a:t>Your job:</a:t>
            </a:r>
            <a:br>
              <a:rPr lang="en-CA" dirty="0" smtClean="0"/>
            </a:br>
            <a:r>
              <a:rPr lang="en-CA" dirty="0"/>
              <a:t/>
            </a:r>
            <a:br>
              <a:rPr lang="en-CA" dirty="0"/>
            </a:b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381966" y="2407534"/>
            <a:ext cx="85305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600" dirty="0" smtClean="0"/>
              <a:t>Find a partner</a:t>
            </a:r>
          </a:p>
          <a:p>
            <a:pPr marL="285750" indent="-285750">
              <a:buFont typeface="Arial" charset="0"/>
              <a:buChar char="•"/>
            </a:pPr>
            <a:r>
              <a:rPr lang="en-US" sz="3600" dirty="0" smtClean="0"/>
              <a:t>Record your answers to the following head scratchers on a piece of paper</a:t>
            </a:r>
          </a:p>
          <a:p>
            <a:pPr marL="285750" indent="-285750">
              <a:buFont typeface="Arial" charset="0"/>
              <a:buChar char="•"/>
            </a:pPr>
            <a:r>
              <a:rPr lang="en-US" sz="3600" dirty="0" smtClean="0"/>
              <a:t>Don’t shout answers out!!!</a:t>
            </a:r>
          </a:p>
        </p:txBody>
      </p:sp>
    </p:spTree>
    <p:extLst>
      <p:ext uri="{BB962C8B-B14F-4D97-AF65-F5344CB8AC3E}">
        <p14:creationId xmlns:p14="http://schemas.microsoft.com/office/powerpoint/2010/main" val="400894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455" y="1157468"/>
            <a:ext cx="6534355" cy="405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40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0" y="0"/>
            <a:ext cx="56813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91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0"/>
            <a:ext cx="5079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3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799733" cy="867326"/>
          </a:xfrm>
        </p:spPr>
        <p:txBody>
          <a:bodyPr>
            <a:normAutofit/>
          </a:bodyPr>
          <a:lstStyle/>
          <a:p>
            <a:pPr algn="ctr"/>
            <a:r>
              <a:rPr lang="en-CA" sz="3600" dirty="0" smtClean="0"/>
              <a:t>From last class</a:t>
            </a:r>
            <a:endParaRPr lang="en-US" sz="36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628" y="2777923"/>
            <a:ext cx="5614676" cy="2984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8650" y="1608881"/>
            <a:ext cx="3620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On the LHS of your INB: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190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</a:t>
            </a:r>
            <a:r>
              <a:rPr lang="en-AU" sz="2400" dirty="0" smtClean="0"/>
              <a:t> </a:t>
            </a:r>
            <a:r>
              <a:rPr lang="en-AU" sz="2400" dirty="0" smtClean="0"/>
              <a:t>gradient </a:t>
            </a:r>
            <a:r>
              <a:rPr lang="en-AU" sz="2400" dirty="0" smtClean="0"/>
              <a:t>and y-intercepts and </a:t>
            </a:r>
            <a:r>
              <a:rPr lang="en-AU" sz="2400" dirty="0" smtClean="0"/>
              <a:t>how do we </a:t>
            </a:r>
            <a:r>
              <a:rPr lang="en-AU" sz="2400" smtClean="0"/>
              <a:t>measure </a:t>
            </a:r>
            <a:r>
              <a:rPr lang="en-AU" sz="2400" smtClean="0"/>
              <a:t>them</a:t>
            </a:r>
            <a:r>
              <a:rPr lang="en-AU" sz="240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18149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PQuestion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x-none"/>
              <a:t>What is the meaning of this sign?</a:t>
            </a:r>
          </a:p>
        </p:txBody>
      </p:sp>
      <p:pic>
        <p:nvPicPr>
          <p:cNvPr id="307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66800"/>
            <a:ext cx="2133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TPAnswers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3200400"/>
            <a:ext cx="4114800" cy="2895600"/>
          </a:xfrm>
        </p:spPr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altLang="x-none"/>
              <a:t>Icy Road Ahead</a:t>
            </a:r>
          </a:p>
          <a:p>
            <a:pPr marL="609600" indent="-609600">
              <a:buFontTx/>
              <a:buAutoNum type="arabicPeriod"/>
            </a:pPr>
            <a:r>
              <a:rPr lang="en-US" altLang="x-none"/>
              <a:t>Steep Road Ahead</a:t>
            </a:r>
          </a:p>
          <a:p>
            <a:pPr marL="609600" indent="-609600">
              <a:buFontTx/>
              <a:buAutoNum type="arabicPeriod"/>
            </a:pPr>
            <a:r>
              <a:rPr lang="en-US" altLang="x-none"/>
              <a:t>Curvy Road Ahead</a:t>
            </a:r>
          </a:p>
          <a:p>
            <a:pPr marL="609600" indent="-609600">
              <a:buFontTx/>
              <a:buAutoNum type="arabicPeriod"/>
            </a:pPr>
            <a:r>
              <a:rPr lang="en-US" altLang="x-none"/>
              <a:t>Trucks Entering Highway Ahead</a:t>
            </a:r>
          </a:p>
        </p:txBody>
      </p:sp>
      <p:sp>
        <p:nvSpPr>
          <p:cNvPr id="89205" name="CorShape1"/>
          <p:cNvSpPr>
            <a:spLocks/>
          </p:cNvSpPr>
          <p:nvPr>
            <p:custDataLst>
              <p:tags r:id="rId3"/>
            </p:custDataLst>
          </p:nvPr>
        </p:nvSpPr>
        <p:spPr bwMode="auto">
          <a:xfrm rot="10800000">
            <a:off x="223838" y="3927475"/>
            <a:ext cx="292100" cy="292100"/>
          </a:xfrm>
          <a:custGeom>
            <a:avLst/>
            <a:gdLst>
              <a:gd name="T0" fmla="*/ 816 w 960"/>
              <a:gd name="T1" fmla="*/ 672 h 1104"/>
              <a:gd name="T2" fmla="*/ 960 w 960"/>
              <a:gd name="T3" fmla="*/ 336 h 1104"/>
              <a:gd name="T4" fmla="*/ 576 w 960"/>
              <a:gd name="T5" fmla="*/ 0 h 1104"/>
              <a:gd name="T6" fmla="*/ 0 w 960"/>
              <a:gd name="T7" fmla="*/ 912 h 1104"/>
              <a:gd name="T8" fmla="*/ 0 w 960"/>
              <a:gd name="T9" fmla="*/ 1104 h 1104"/>
              <a:gd name="T10" fmla="*/ 624 w 960"/>
              <a:gd name="T11" fmla="*/ 336 h 1104"/>
              <a:gd name="T12" fmla="*/ 816 w 960"/>
              <a:gd name="T13" fmla="*/ 672 h 1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60" h="1104">
                <a:moveTo>
                  <a:pt x="816" y="672"/>
                </a:moveTo>
                <a:lnTo>
                  <a:pt x="960" y="336"/>
                </a:lnTo>
                <a:lnTo>
                  <a:pt x="576" y="0"/>
                </a:lnTo>
                <a:lnTo>
                  <a:pt x="0" y="912"/>
                </a:lnTo>
                <a:lnTo>
                  <a:pt x="0" y="1104"/>
                </a:lnTo>
                <a:lnTo>
                  <a:pt x="624" y="336"/>
                </a:lnTo>
                <a:lnTo>
                  <a:pt x="816" y="672"/>
                </a:lnTo>
                <a:close/>
              </a:path>
            </a:pathLst>
          </a:custGeom>
          <a:solidFill>
            <a:srgbClr val="00C800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964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0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228600"/>
            <a:ext cx="8915400" cy="838200"/>
          </a:xfrm>
          <a:noFill/>
        </p:spPr>
        <p:txBody>
          <a:bodyPr lIns="90487" tIns="44450" rIns="90487" bIns="44450">
            <a:normAutofit fontScale="90000"/>
          </a:bodyPr>
          <a:lstStyle/>
          <a:p>
            <a:r>
              <a:rPr lang="en-US" altLang="x-none">
                <a:solidFill>
                  <a:schemeClr val="tx1"/>
                </a:solidFill>
              </a:rPr>
              <a:t>What does the 7% mean?</a:t>
            </a:r>
            <a:endParaRPr lang="en-US" altLang="x-none" sz="4000">
              <a:solidFill>
                <a:schemeClr val="tx1"/>
              </a:solidFill>
            </a:endParaRPr>
          </a:p>
        </p:txBody>
      </p:sp>
      <p:sp>
        <p:nvSpPr>
          <p:cNvPr id="86026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3581400" y="1219200"/>
            <a:ext cx="5562600" cy="2971800"/>
          </a:xfrm>
        </p:spPr>
        <p:txBody>
          <a:bodyPr/>
          <a:lstStyle/>
          <a:p>
            <a:r>
              <a:rPr lang="en-US" altLang="x-none"/>
              <a:t>7% is the slope of the road. </a:t>
            </a:r>
            <a:br>
              <a:rPr lang="en-US" altLang="x-none"/>
            </a:br>
            <a:r>
              <a:rPr lang="en-US" altLang="x-none"/>
              <a:t>It means the road drops 7 feet vertically for every 100 feet horizontally.</a:t>
            </a:r>
          </a:p>
          <a:p>
            <a:endParaRPr lang="en-US" altLang="x-none"/>
          </a:p>
        </p:txBody>
      </p:sp>
      <p:grpSp>
        <p:nvGrpSpPr>
          <p:cNvPr id="4100" name="Group 12"/>
          <p:cNvGrpSpPr>
            <a:grpSpLocks/>
          </p:cNvGrpSpPr>
          <p:nvPr/>
        </p:nvGrpSpPr>
        <p:grpSpPr bwMode="auto">
          <a:xfrm>
            <a:off x="304800" y="1143000"/>
            <a:ext cx="3200400" cy="3200400"/>
            <a:chOff x="1632" y="720"/>
            <a:chExt cx="2400" cy="2400"/>
          </a:xfrm>
        </p:grpSpPr>
        <p:pic>
          <p:nvPicPr>
            <p:cNvPr id="4108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2" y="720"/>
              <a:ext cx="2400" cy="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9" name="Text Box 11"/>
            <p:cNvSpPr txBox="1">
              <a:spLocks noChangeArrowheads="1"/>
            </p:cNvSpPr>
            <p:nvPr/>
          </p:nvSpPr>
          <p:spPr bwMode="auto">
            <a:xfrm>
              <a:off x="2582" y="2380"/>
              <a:ext cx="595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r>
                <a:rPr lang="en-US" altLang="x-none" sz="3600"/>
                <a:t>7%</a:t>
              </a:r>
            </a:p>
          </p:txBody>
        </p:sp>
      </p:grpSp>
      <p:sp>
        <p:nvSpPr>
          <p:cNvPr id="86031" name="Rectangle 15"/>
          <p:cNvSpPr>
            <a:spLocks noChangeArrowheads="1"/>
          </p:cNvSpPr>
          <p:nvPr/>
        </p:nvSpPr>
        <p:spPr bwMode="auto">
          <a:xfrm>
            <a:off x="1219200" y="4876800"/>
            <a:ext cx="69342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r>
              <a:rPr lang="en-US" altLang="x-none" sz="4000"/>
              <a:t>So, what is slope???</a:t>
            </a:r>
          </a:p>
          <a:p>
            <a:pPr algn="ctr"/>
            <a:r>
              <a:rPr lang="en-US" altLang="x-none" sz="4000" b="1" u="sng">
                <a:solidFill>
                  <a:schemeClr val="hlink"/>
                </a:solidFill>
              </a:rPr>
              <a:t>Slope</a:t>
            </a:r>
            <a:r>
              <a:rPr lang="en-US" altLang="x-none" sz="4000"/>
              <a:t> is the steepness of a line.</a:t>
            </a: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4038600" y="3048000"/>
            <a:ext cx="4191000" cy="1752600"/>
            <a:chOff x="2544" y="1920"/>
            <a:chExt cx="2640" cy="1104"/>
          </a:xfrm>
        </p:grpSpPr>
        <p:sp>
          <p:nvSpPr>
            <p:cNvPr id="4103" name="Line 13"/>
            <p:cNvSpPr>
              <a:spLocks noChangeShapeType="1"/>
            </p:cNvSpPr>
            <p:nvPr/>
          </p:nvSpPr>
          <p:spPr bwMode="auto">
            <a:xfrm>
              <a:off x="4464" y="2208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" name="Line 14"/>
            <p:cNvSpPr>
              <a:spLocks noChangeShapeType="1"/>
            </p:cNvSpPr>
            <p:nvPr/>
          </p:nvSpPr>
          <p:spPr bwMode="auto">
            <a:xfrm flipH="1">
              <a:off x="3024" y="2688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" name="Text Box 16"/>
            <p:cNvSpPr txBox="1">
              <a:spLocks noChangeArrowheads="1"/>
            </p:cNvSpPr>
            <p:nvPr/>
          </p:nvSpPr>
          <p:spPr bwMode="auto">
            <a:xfrm>
              <a:off x="4550" y="2234"/>
              <a:ext cx="5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r>
                <a:rPr lang="en-US" altLang="x-none"/>
                <a:t>7 feet</a:t>
              </a:r>
            </a:p>
          </p:txBody>
        </p:sp>
        <p:sp>
          <p:nvSpPr>
            <p:cNvPr id="4106" name="Text Box 17"/>
            <p:cNvSpPr txBox="1">
              <a:spLocks noChangeArrowheads="1"/>
            </p:cNvSpPr>
            <p:nvPr/>
          </p:nvSpPr>
          <p:spPr bwMode="auto">
            <a:xfrm>
              <a:off x="3456" y="2736"/>
              <a:ext cx="7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charset="0"/>
                </a:defRPr>
              </a:lvl9pPr>
            </a:lstStyle>
            <a:p>
              <a:r>
                <a:rPr lang="en-US" altLang="x-none"/>
                <a:t>100 feet</a:t>
              </a:r>
            </a:p>
          </p:txBody>
        </p:sp>
        <p:sp>
          <p:nvSpPr>
            <p:cNvPr id="4107" name="Line 18"/>
            <p:cNvSpPr>
              <a:spLocks noChangeShapeType="1"/>
            </p:cNvSpPr>
            <p:nvPr/>
          </p:nvSpPr>
          <p:spPr bwMode="auto">
            <a:xfrm flipV="1">
              <a:off x="2544" y="1920"/>
              <a:ext cx="2640" cy="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59142056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031384" y="1414401"/>
                <a:ext cx="7792432" cy="1827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Gradient is a measure of </a:t>
                </a:r>
                <a:r>
                  <a:rPr lang="en-US" sz="2400" b="1" dirty="0" smtClean="0"/>
                  <a:t>slope</a:t>
                </a:r>
                <a:r>
                  <a:rPr lang="en-US" sz="2400" dirty="0" smtClean="0"/>
                  <a:t>. It is the ratio of the change in </a:t>
                </a:r>
                <a:r>
                  <a:rPr lang="en-US" sz="2400" i="1" dirty="0" smtClean="0"/>
                  <a:t>y</a:t>
                </a:r>
                <a:r>
                  <a:rPr lang="en-US" sz="2400" dirty="0" smtClean="0"/>
                  <a:t> over the change in </a:t>
                </a:r>
                <a:r>
                  <a:rPr lang="en-US" sz="2400" i="1" dirty="0" smtClean="0"/>
                  <a:t>x.</a:t>
                </a:r>
                <a:endParaRPr lang="en-US" sz="2400" i="1" dirty="0"/>
              </a:p>
              <a:p>
                <a:r>
                  <a:rPr lang="en-US" sz="2400" dirty="0" smtClean="0"/>
                  <a:t>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CA" sz="2800" b="0" i="0" smtClean="0">
                            <a:latin typeface="Cambria Math" charset="0"/>
                          </a:rPr>
                          <m:t>rise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 sz="2800" b="0" i="0" smtClean="0">
                            <a:latin typeface="Cambria Math" charset="0"/>
                          </a:rPr>
                          <m:t>run</m:t>
                        </m:r>
                      </m:den>
                    </m:f>
                  </m:oMath>
                </a14:m>
                <a:r>
                  <a:rPr lang="en-US" sz="2400" dirty="0" smtClean="0"/>
                  <a:t>                Rise </a:t>
                </a:r>
                <a:r>
                  <a:rPr lang="en-CA" sz="2400" dirty="0" smtClean="0"/>
                  <a:t>= </a:t>
                </a:r>
                <a:r>
                  <a:rPr lang="en-US" sz="2400" dirty="0" smtClean="0"/>
                  <a:t>change in </a:t>
                </a:r>
                <a:r>
                  <a:rPr lang="en-US" sz="2400" i="1" dirty="0" smtClean="0"/>
                  <a:t>y</a:t>
                </a:r>
              </a:p>
              <a:p>
                <a:r>
                  <a:rPr lang="en-US" sz="2400" i="1" dirty="0"/>
                  <a:t> </a:t>
                </a:r>
                <a:r>
                  <a:rPr lang="en-US" sz="2400" i="1" dirty="0" smtClean="0"/>
                  <a:t>                                          </a:t>
                </a:r>
                <a:r>
                  <a:rPr lang="en-US" sz="2400" dirty="0" smtClean="0"/>
                  <a:t>Run = change in </a:t>
                </a:r>
                <a:r>
                  <a:rPr lang="en-US" sz="2400" i="1" dirty="0" smtClean="0"/>
                  <a:t>x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384" y="1414401"/>
                <a:ext cx="7792432" cy="1827103"/>
              </a:xfrm>
              <a:prstGeom prst="rect">
                <a:avLst/>
              </a:prstGeom>
              <a:blipFill rotWithShape="0">
                <a:blip r:embed="rId2"/>
                <a:stretch>
                  <a:fillRect l="-1174" t="-2667" r="-109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3877771" y="3944616"/>
            <a:ext cx="2257425" cy="1768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V="1">
            <a:off x="4877896" y="4016053"/>
            <a:ext cx="0" cy="1593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1"/>
          <p:cNvSpPr>
            <a:spLocks noChangeShapeType="1"/>
          </p:cNvSpPr>
          <p:nvPr/>
        </p:nvSpPr>
        <p:spPr bwMode="auto">
          <a:xfrm>
            <a:off x="4006359" y="5230491"/>
            <a:ext cx="2000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4588971" y="3944616"/>
            <a:ext cx="285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x-none" sz="1800" i="1">
                <a:solidFill>
                  <a:srgbClr val="010066"/>
                </a:solidFill>
                <a:latin typeface="Times New Roman" charset="0"/>
              </a:rPr>
              <a:t>y</a:t>
            </a:r>
            <a:endParaRPr lang="en-GB" altLang="x-none" sz="1800" i="1">
              <a:solidFill>
                <a:srgbClr val="010066"/>
              </a:solidFill>
              <a:latin typeface="Times New Roman" charset="0"/>
            </a:endParaRPr>
          </a:p>
        </p:txBody>
      </p: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5876434" y="5230491"/>
            <a:ext cx="285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x-none" sz="1800" i="1">
                <a:solidFill>
                  <a:srgbClr val="010066"/>
                </a:solidFill>
                <a:latin typeface="Times New Roman" charset="0"/>
              </a:rPr>
              <a:t>x</a:t>
            </a:r>
            <a:endParaRPr lang="en-GB" altLang="x-none" sz="1800" i="1">
              <a:solidFill>
                <a:srgbClr val="010066"/>
              </a:solidFill>
              <a:latin typeface="Times New Roman" charset="0"/>
            </a:endParaRPr>
          </a:p>
        </p:txBody>
      </p: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3961909" y="3458841"/>
            <a:ext cx="211455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x-none" sz="2000" b="1">
                <a:sym typeface="Symbol" charset="2"/>
              </a:rPr>
              <a:t>a</a:t>
            </a:r>
            <a:r>
              <a:rPr lang="en-GB" altLang="x-none" sz="2000" b="1">
                <a:sym typeface="Symbol" charset="2"/>
              </a:rPr>
              <a:t> horizontal line</a:t>
            </a: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4115896" y="5833741"/>
            <a:ext cx="1806575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x-none" sz="2000" b="1">
                <a:sym typeface="Symbol" charset="2"/>
              </a:rPr>
              <a:t>Zero gradient</a:t>
            </a:r>
            <a:endParaRPr lang="en-GB" altLang="x-none" sz="2000" b="1">
              <a:solidFill>
                <a:srgbClr val="010066"/>
              </a:solidFill>
            </a:endParaRPr>
          </a:p>
        </p:txBody>
      </p:sp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6576521" y="3458841"/>
            <a:ext cx="2525713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x-none" sz="2000" b="1">
                <a:sym typeface="Symbol" charset="2"/>
              </a:rPr>
              <a:t>a</a:t>
            </a:r>
            <a:r>
              <a:rPr lang="en-GB" altLang="x-none" sz="2000" b="1">
                <a:sym typeface="Symbol" charset="2"/>
              </a:rPr>
              <a:t> downwards slope</a:t>
            </a: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6682884" y="5833741"/>
            <a:ext cx="2314575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x-none" sz="2000" b="1">
                <a:sym typeface="Symbol" charset="2"/>
              </a:rPr>
              <a:t>Negative gradient</a:t>
            </a:r>
            <a:endParaRPr lang="en-GB" altLang="x-none" sz="2000" b="1">
              <a:solidFill>
                <a:srgbClr val="010066"/>
              </a:solidFill>
            </a:endParaRPr>
          </a:p>
        </p:txBody>
      </p:sp>
      <p:grpSp>
        <p:nvGrpSpPr>
          <p:cNvPr id="27" name="Group 29"/>
          <p:cNvGrpSpPr>
            <a:grpSpLocks/>
          </p:cNvGrpSpPr>
          <p:nvPr/>
        </p:nvGrpSpPr>
        <p:grpSpPr bwMode="auto">
          <a:xfrm>
            <a:off x="1074246" y="3944616"/>
            <a:ext cx="2411413" cy="1768475"/>
            <a:chOff x="384" y="2112"/>
            <a:chExt cx="1689" cy="1200"/>
          </a:xfrm>
        </p:grpSpPr>
        <p:sp>
          <p:nvSpPr>
            <p:cNvPr id="28" name="Rectangle 30"/>
            <p:cNvSpPr>
              <a:spLocks noChangeArrowheads="1"/>
            </p:cNvSpPr>
            <p:nvPr/>
          </p:nvSpPr>
          <p:spPr bwMode="auto">
            <a:xfrm>
              <a:off x="384" y="2112"/>
              <a:ext cx="1680" cy="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31"/>
            <p:cNvSpPr>
              <a:spLocks noChangeShapeType="1"/>
            </p:cNvSpPr>
            <p:nvPr/>
          </p:nvSpPr>
          <p:spPr bwMode="auto">
            <a:xfrm flipV="1">
              <a:off x="1128" y="2160"/>
              <a:ext cx="0" cy="10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>
              <a:off x="480" y="2985"/>
              <a:ext cx="14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Box 33"/>
            <p:cNvSpPr txBox="1">
              <a:spLocks noChangeArrowheads="1"/>
            </p:cNvSpPr>
            <p:nvPr/>
          </p:nvSpPr>
          <p:spPr bwMode="auto">
            <a:xfrm>
              <a:off x="912" y="2112"/>
              <a:ext cx="20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x-none" sz="1800" i="1">
                  <a:solidFill>
                    <a:srgbClr val="010066"/>
                  </a:solidFill>
                  <a:latin typeface="Times New Roman" charset="0"/>
                </a:rPr>
                <a:t>y</a:t>
              </a:r>
              <a:endParaRPr lang="en-GB" altLang="x-none" sz="1800" i="1">
                <a:solidFill>
                  <a:srgbClr val="010066"/>
                </a:solidFill>
                <a:latin typeface="Times New Roman" charset="0"/>
              </a:endParaRPr>
            </a:p>
          </p:txBody>
        </p:sp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1873" y="2984"/>
              <a:ext cx="20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x-none" sz="1800" i="1">
                  <a:solidFill>
                    <a:srgbClr val="010066"/>
                  </a:solidFill>
                  <a:latin typeface="Times New Roman" charset="0"/>
                </a:rPr>
                <a:t>x</a:t>
              </a:r>
              <a:endParaRPr lang="en-GB" altLang="x-none" sz="1800" i="1">
                <a:solidFill>
                  <a:srgbClr val="010066"/>
                </a:solidFill>
                <a:latin typeface="Times New Roman" charset="0"/>
              </a:endParaRPr>
            </a:p>
          </p:txBody>
        </p:sp>
      </p:grpSp>
      <p:sp>
        <p:nvSpPr>
          <p:cNvPr id="33" name="Text Box 35"/>
          <p:cNvSpPr txBox="1">
            <a:spLocks noChangeArrowheads="1"/>
          </p:cNvSpPr>
          <p:nvPr/>
        </p:nvSpPr>
        <p:spPr bwMode="auto">
          <a:xfrm>
            <a:off x="1115521" y="3458841"/>
            <a:ext cx="2328863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x-none" sz="2000" b="1">
                <a:sym typeface="Symbol" charset="2"/>
              </a:rPr>
              <a:t>a</a:t>
            </a:r>
            <a:r>
              <a:rPr lang="en-GB" altLang="x-none" sz="2000" b="1">
                <a:sym typeface="Symbol" charset="2"/>
              </a:rPr>
              <a:t>n upwards slope</a:t>
            </a:r>
            <a:endParaRPr lang="en-GB" altLang="x-none" sz="2000" b="1">
              <a:solidFill>
                <a:srgbClr val="010066"/>
              </a:solidFill>
            </a:endParaRP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1166321" y="5833741"/>
            <a:ext cx="2228850" cy="3968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x-none" sz="2000" b="1">
                <a:sym typeface="Symbol" charset="2"/>
              </a:rPr>
              <a:t>Positive gradient</a:t>
            </a:r>
            <a:endParaRPr lang="en-GB" altLang="x-none" sz="2000" b="1">
              <a:solidFill>
                <a:srgbClr val="010066"/>
              </a:solidFill>
            </a:endParaRPr>
          </a:p>
        </p:txBody>
      </p:sp>
      <p:sp>
        <p:nvSpPr>
          <p:cNvPr id="35" name="Line 37"/>
          <p:cNvSpPr>
            <a:spLocks noChangeShapeType="1"/>
          </p:cNvSpPr>
          <p:nvPr/>
        </p:nvSpPr>
        <p:spPr bwMode="auto">
          <a:xfrm flipV="1">
            <a:off x="1517159" y="4052566"/>
            <a:ext cx="1524000" cy="1414462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38"/>
          <p:cNvSpPr>
            <a:spLocks noChangeShapeType="1"/>
          </p:cNvSpPr>
          <p:nvPr/>
        </p:nvSpPr>
        <p:spPr bwMode="auto">
          <a:xfrm>
            <a:off x="4066684" y="4617716"/>
            <a:ext cx="19050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 Box 41"/>
          <p:cNvSpPr txBox="1">
            <a:spLocks noChangeArrowheads="1"/>
          </p:cNvSpPr>
          <p:nvPr/>
        </p:nvSpPr>
        <p:spPr bwMode="auto">
          <a:xfrm>
            <a:off x="1777765" y="6392316"/>
            <a:ext cx="645349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x-none" sz="2400" dirty="0">
                <a:solidFill>
                  <a:srgbClr val="010066"/>
                </a:solidFill>
              </a:rPr>
              <a:t>If a line is vertical, its gradient cannot be specified</a:t>
            </a:r>
            <a:r>
              <a:rPr lang="en-US" altLang="x-none" dirty="0">
                <a:solidFill>
                  <a:srgbClr val="010066"/>
                </a:solidFill>
              </a:rPr>
              <a:t>.</a:t>
            </a:r>
            <a:endParaRPr lang="en-GB" altLang="x-none" dirty="0">
              <a:solidFill>
                <a:srgbClr val="010066"/>
              </a:solidFill>
            </a:endParaRPr>
          </a:p>
        </p:txBody>
      </p:sp>
      <p:sp>
        <p:nvSpPr>
          <p:cNvPr id="38" name="AutoShape 43"/>
          <p:cNvSpPr>
            <a:spLocks noChangeArrowheads="1"/>
          </p:cNvSpPr>
          <p:nvPr/>
        </p:nvSpPr>
        <p:spPr bwMode="auto">
          <a:xfrm>
            <a:off x="1031384" y="3346128"/>
            <a:ext cx="2519362" cy="3024188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39"/>
          <p:cNvSpPr>
            <a:spLocks noChangeShapeType="1"/>
          </p:cNvSpPr>
          <p:nvPr/>
        </p:nvSpPr>
        <p:spPr bwMode="auto">
          <a:xfrm>
            <a:off x="6930534" y="4200203"/>
            <a:ext cx="1828800" cy="1344613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Line 46"/>
          <p:cNvSpPr>
            <a:spLocks noChangeShapeType="1"/>
          </p:cNvSpPr>
          <p:nvPr/>
        </p:nvSpPr>
        <p:spPr bwMode="auto">
          <a:xfrm flipV="1">
            <a:off x="7667134" y="4009703"/>
            <a:ext cx="0" cy="1593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47"/>
          <p:cNvSpPr>
            <a:spLocks noChangeShapeType="1"/>
          </p:cNvSpPr>
          <p:nvPr/>
        </p:nvSpPr>
        <p:spPr bwMode="auto">
          <a:xfrm>
            <a:off x="6795596" y="5224141"/>
            <a:ext cx="2000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Text Box 48"/>
          <p:cNvSpPr txBox="1">
            <a:spLocks noChangeArrowheads="1"/>
          </p:cNvSpPr>
          <p:nvPr/>
        </p:nvSpPr>
        <p:spPr bwMode="auto">
          <a:xfrm>
            <a:off x="7378209" y="3938266"/>
            <a:ext cx="285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x-none" sz="1800" i="1">
                <a:solidFill>
                  <a:srgbClr val="010066"/>
                </a:solidFill>
                <a:latin typeface="Times New Roman" charset="0"/>
              </a:rPr>
              <a:t>y</a:t>
            </a:r>
            <a:endParaRPr lang="en-GB" altLang="x-none" sz="1800" i="1">
              <a:solidFill>
                <a:srgbClr val="010066"/>
              </a:solidFill>
              <a:latin typeface="Times New Roman" charset="0"/>
            </a:endParaRPr>
          </a:p>
        </p:txBody>
      </p:sp>
      <p:sp>
        <p:nvSpPr>
          <p:cNvPr id="43" name="Text Box 49"/>
          <p:cNvSpPr txBox="1">
            <a:spLocks noChangeArrowheads="1"/>
          </p:cNvSpPr>
          <p:nvPr/>
        </p:nvSpPr>
        <p:spPr bwMode="auto">
          <a:xfrm>
            <a:off x="8665671" y="5224141"/>
            <a:ext cx="285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x-none" sz="1800" i="1">
                <a:solidFill>
                  <a:srgbClr val="010066"/>
                </a:solidFill>
                <a:latin typeface="Times New Roman" charset="0"/>
              </a:rPr>
              <a:t>x</a:t>
            </a:r>
            <a:endParaRPr lang="en-GB" altLang="x-none" sz="1800" i="1">
              <a:solidFill>
                <a:srgbClr val="010066"/>
              </a:solidFill>
              <a:latin typeface="Times New Roman" charset="0"/>
            </a:endParaRPr>
          </a:p>
        </p:txBody>
      </p:sp>
      <p:sp>
        <p:nvSpPr>
          <p:cNvPr id="44" name="AutoShape 51"/>
          <p:cNvSpPr>
            <a:spLocks noChangeArrowheads="1"/>
          </p:cNvSpPr>
          <p:nvPr/>
        </p:nvSpPr>
        <p:spPr bwMode="auto">
          <a:xfrm>
            <a:off x="3803159" y="3344541"/>
            <a:ext cx="2519362" cy="302418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AutoShape 52"/>
          <p:cNvSpPr>
            <a:spLocks noChangeArrowheads="1"/>
          </p:cNvSpPr>
          <p:nvPr/>
        </p:nvSpPr>
        <p:spPr bwMode="auto">
          <a:xfrm>
            <a:off x="6574934" y="3344541"/>
            <a:ext cx="2519362" cy="3024187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</a:t>
            </a:r>
            <a:r>
              <a:rPr lang="en-AU" sz="2400" dirty="0" smtClean="0"/>
              <a:t> </a:t>
            </a:r>
            <a:r>
              <a:rPr lang="en-AU" sz="2400" dirty="0" smtClean="0"/>
              <a:t>gradient </a:t>
            </a:r>
            <a:r>
              <a:rPr lang="en-AU" sz="2400" dirty="0" smtClean="0"/>
              <a:t>and y-intercepts and </a:t>
            </a:r>
            <a:r>
              <a:rPr lang="en-AU" sz="2400" dirty="0" smtClean="0"/>
              <a:t>how do we measure </a:t>
            </a:r>
            <a:r>
              <a:rPr lang="en-AU" sz="2400" dirty="0" smtClean="0"/>
              <a:t>them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759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 animBg="1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33" grpId="0" animBg="1"/>
      <p:bldP spid="34" grpId="0" animBg="1"/>
      <p:bldP spid="35" grpId="0" animBg="1"/>
      <p:bldP spid="36" grpId="0" animBg="1"/>
      <p:bldP spid="37" grpId="0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44" grpId="0" animBg="1"/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pic>
        <p:nvPicPr>
          <p:cNvPr id="1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595" y="2497518"/>
            <a:ext cx="6138863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218459" y="1583265"/>
            <a:ext cx="4993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Consider the following line on </a:t>
            </a:r>
            <a:r>
              <a:rPr lang="en-US" sz="2400" smtClean="0"/>
              <a:t>a graph: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360150" y="5853994"/>
            <a:ext cx="5880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How do we calculate the gradient of this line?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</a:t>
            </a:r>
            <a:r>
              <a:rPr lang="en-AU" sz="2400" dirty="0" smtClean="0"/>
              <a:t> </a:t>
            </a:r>
            <a:r>
              <a:rPr lang="en-AU" sz="2400" dirty="0" smtClean="0"/>
              <a:t>gradient </a:t>
            </a:r>
            <a:r>
              <a:rPr lang="en-AU" sz="2400" dirty="0" smtClean="0"/>
              <a:t>and y-intercepts and </a:t>
            </a:r>
            <a:r>
              <a:rPr lang="en-AU" sz="2400" dirty="0" smtClean="0"/>
              <a:t>how do we </a:t>
            </a:r>
            <a:r>
              <a:rPr lang="en-AU" sz="2400" smtClean="0"/>
              <a:t>measure </a:t>
            </a:r>
            <a:r>
              <a:rPr lang="en-AU" sz="2400" smtClean="0"/>
              <a:t>them</a:t>
            </a:r>
            <a:r>
              <a:rPr lang="en-AU" sz="240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0761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 Box 21"/>
          <p:cNvSpPr txBox="1">
            <a:spLocks noChangeArrowheads="1"/>
          </p:cNvSpPr>
          <p:nvPr/>
        </p:nvSpPr>
        <p:spPr bwMode="auto">
          <a:xfrm>
            <a:off x="838200" y="2116397"/>
            <a:ext cx="830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Start with the lower point and count how much you rise and run to get to the other point!</a:t>
            </a:r>
          </a:p>
        </p:txBody>
      </p: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522" y="3349457"/>
            <a:ext cx="3248025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4"/>
          <p:cNvSpPr>
            <a:spLocks noChangeShapeType="1"/>
          </p:cNvSpPr>
          <p:nvPr/>
        </p:nvSpPr>
        <p:spPr bwMode="auto">
          <a:xfrm flipV="1">
            <a:off x="2313322" y="4622632"/>
            <a:ext cx="0" cy="8286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2313322" y="4621045"/>
            <a:ext cx="15875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2922922" y="4111457"/>
            <a:ext cx="340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altLang="x-none" b="1">
                <a:solidFill>
                  <a:schemeClr val="hlink"/>
                </a:solidFill>
                <a:latin typeface="+mn-lt"/>
              </a:rPr>
              <a:t>6</a:t>
            </a:r>
            <a:endParaRPr lang="en-US" altLang="x-none">
              <a:latin typeface="+mn-lt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1932322" y="4873457"/>
            <a:ext cx="340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altLang="x-none" b="1">
                <a:solidFill>
                  <a:schemeClr val="hlink"/>
                </a:solidFill>
                <a:latin typeface="+mn-lt"/>
              </a:rPr>
              <a:t>3</a:t>
            </a:r>
          </a:p>
        </p:txBody>
      </p:sp>
      <p:sp>
        <p:nvSpPr>
          <p:cNvPr id="20" name="Oval 18"/>
          <p:cNvSpPr>
            <a:spLocks noChangeArrowheads="1"/>
          </p:cNvSpPr>
          <p:nvPr/>
        </p:nvSpPr>
        <p:spPr bwMode="auto">
          <a:xfrm>
            <a:off x="2237122" y="5406857"/>
            <a:ext cx="152400" cy="1524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endParaRPr lang="x-none" altLang="x-none">
              <a:solidFill>
                <a:srgbClr val="0000CC"/>
              </a:solidFill>
              <a:latin typeface="+mn-lt"/>
            </a:endParaRPr>
          </a:p>
        </p:txBody>
      </p:sp>
      <p:sp>
        <p:nvSpPr>
          <p:cNvPr id="21" name="Oval 19"/>
          <p:cNvSpPr>
            <a:spLocks noChangeArrowheads="1"/>
          </p:cNvSpPr>
          <p:nvPr/>
        </p:nvSpPr>
        <p:spPr bwMode="auto">
          <a:xfrm>
            <a:off x="3896060" y="4535320"/>
            <a:ext cx="152400" cy="1524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endParaRPr lang="x-none" altLang="x-none">
              <a:solidFill>
                <a:srgbClr val="0000CC"/>
              </a:solidFill>
              <a:latin typeface="+mn-lt"/>
            </a:endParaRPr>
          </a:p>
        </p:txBody>
      </p:sp>
      <p:sp>
        <p:nvSpPr>
          <p:cNvPr id="22" name="Rectangle 24"/>
          <p:cNvSpPr>
            <a:spLocks noChangeArrowheads="1"/>
          </p:cNvSpPr>
          <p:nvPr/>
        </p:nvSpPr>
        <p:spPr bwMode="auto">
          <a:xfrm>
            <a:off x="4827922" y="3927307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run</a:t>
            </a: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H="1">
            <a:off x="4904122" y="3927307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24" name="Rectangle 26"/>
          <p:cNvSpPr>
            <a:spLocks noChangeArrowheads="1"/>
          </p:cNvSpPr>
          <p:nvPr/>
        </p:nvSpPr>
        <p:spPr bwMode="auto">
          <a:xfrm>
            <a:off x="5970922" y="3317707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3</a:t>
            </a:r>
          </a:p>
        </p:txBody>
      </p:sp>
      <p:sp>
        <p:nvSpPr>
          <p:cNvPr id="25" name="Rectangle 27"/>
          <p:cNvSpPr>
            <a:spLocks noChangeArrowheads="1"/>
          </p:cNvSpPr>
          <p:nvPr/>
        </p:nvSpPr>
        <p:spPr bwMode="auto">
          <a:xfrm>
            <a:off x="5970922" y="3927307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6</a:t>
            </a: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 flipH="1">
            <a:off x="6275722" y="3927307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5513722" y="3651082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=</a:t>
            </a:r>
          </a:p>
        </p:txBody>
      </p:sp>
      <p:sp>
        <p:nvSpPr>
          <p:cNvPr id="28" name="Rectangle 31"/>
          <p:cNvSpPr>
            <a:spLocks noChangeArrowheads="1"/>
          </p:cNvSpPr>
          <p:nvPr/>
        </p:nvSpPr>
        <p:spPr bwMode="auto">
          <a:xfrm>
            <a:off x="6428122" y="3651082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=</a:t>
            </a:r>
          </a:p>
        </p:txBody>
      </p:sp>
      <p:graphicFrame>
        <p:nvGraphicFramePr>
          <p:cNvPr id="2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2468686"/>
              </p:ext>
            </p:extLst>
          </p:nvPr>
        </p:nvGraphicFramePr>
        <p:xfrm>
          <a:off x="7207585" y="3346282"/>
          <a:ext cx="439737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4" imgW="152334" imgH="393529" progId="Equation.DSMT4">
                  <p:embed/>
                </p:oleObj>
              </mc:Choice>
              <mc:Fallback>
                <p:oleObj name="Equation" r:id="rId4" imgW="152334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585" y="3346282"/>
                        <a:ext cx="439737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4"/>
          <p:cNvSpPr>
            <a:spLocks noChangeArrowheads="1"/>
          </p:cNvSpPr>
          <p:nvPr/>
        </p:nvSpPr>
        <p:spPr bwMode="auto">
          <a:xfrm>
            <a:off x="4827922" y="3317707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rise</a:t>
            </a:r>
          </a:p>
        </p:txBody>
      </p:sp>
      <p:sp>
        <p:nvSpPr>
          <p:cNvPr id="31" name="Text Box 37"/>
          <p:cNvSpPr txBox="1">
            <a:spLocks noChangeArrowheads="1"/>
          </p:cNvSpPr>
          <p:nvPr/>
        </p:nvSpPr>
        <p:spPr bwMode="auto">
          <a:xfrm>
            <a:off x="4827922" y="4994107"/>
            <a:ext cx="4572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r>
              <a:rPr lang="en-US" altLang="x-none">
                <a:latin typeface="+mn-lt"/>
              </a:rPr>
              <a:t>Notice the slope is positive AND the line increases!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</a:t>
            </a:r>
            <a:r>
              <a:rPr lang="en-AU" sz="2400" dirty="0" smtClean="0"/>
              <a:t> </a:t>
            </a:r>
            <a:r>
              <a:rPr lang="en-AU" sz="2400" dirty="0" smtClean="0"/>
              <a:t>gradient </a:t>
            </a:r>
            <a:r>
              <a:rPr lang="en-AU" sz="2400" dirty="0" smtClean="0"/>
              <a:t>and y-intercepts and </a:t>
            </a:r>
            <a:r>
              <a:rPr lang="en-AU" sz="2400" dirty="0" smtClean="0"/>
              <a:t>how do we </a:t>
            </a:r>
            <a:r>
              <a:rPr lang="en-AU" sz="2400" smtClean="0"/>
              <a:t>measure </a:t>
            </a:r>
            <a:r>
              <a:rPr lang="en-AU" sz="2400" smtClean="0"/>
              <a:t>them</a:t>
            </a:r>
            <a:r>
              <a:rPr lang="en-AU" sz="240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1789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9" dur="1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2" grpId="0" build="p" autoUpdateAnimBg="0"/>
      <p:bldP spid="23" grpId="0" animBg="1"/>
      <p:bldP spid="24" grpId="0" build="p" autoUpdateAnimBg="0"/>
      <p:bldP spid="25" grpId="0" build="p" autoUpdateAnimBg="0"/>
      <p:bldP spid="26" grpId="0" animBg="1"/>
      <p:bldP spid="30" grpId="0" build="p" autoUpdateAnimBg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8704" y="196770"/>
            <a:ext cx="137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Your Turn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95" y="855080"/>
            <a:ext cx="4876800" cy="1130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95" y="2182025"/>
            <a:ext cx="5803900" cy="1536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95" y="4003072"/>
            <a:ext cx="628650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98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049740" y="1597860"/>
            <a:ext cx="7685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For those of us who work better with numbers, there is another way to calculate the gradient. </a:t>
            </a:r>
            <a:endParaRPr lang="en-US" sz="2400" dirty="0"/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1018362" y="2555861"/>
            <a:ext cx="8534400" cy="1143000"/>
          </a:xfrm>
          <a:prstGeom prst="rect">
            <a:avLst/>
          </a:prstGeom>
          <a:noFill/>
        </p:spPr>
        <p:txBody>
          <a:bodyPr lIns="90487" tIns="44450" rIns="90487" bIns="4445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400" dirty="0" smtClean="0">
                <a:latin typeface="+mn-lt"/>
              </a:rPr>
              <a:t>Ex) Find the slope of the line that passes through the points (-2, -2) and (4, 1).</a:t>
            </a:r>
            <a:endParaRPr lang="en-US" altLang="x-none" sz="2400" dirty="0">
              <a:latin typeface="+mn-lt"/>
            </a:endParaRPr>
          </a:p>
        </p:txBody>
      </p:sp>
      <p:graphicFrame>
        <p:nvGraphicFramePr>
          <p:cNvPr id="1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752762"/>
              </p:ext>
            </p:extLst>
          </p:nvPr>
        </p:nvGraphicFramePr>
        <p:xfrm>
          <a:off x="1189795" y="5267774"/>
          <a:ext cx="26670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8" name="Equation" r:id="rId3" imgW="914400" imgH="419040" progId="Equation.DSMT4">
                  <p:embed/>
                </p:oleObj>
              </mc:Choice>
              <mc:Fallback>
                <p:oleObj name="Equation" r:id="rId3" imgW="914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795" y="5267774"/>
                        <a:ext cx="2667000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002331"/>
              </p:ext>
            </p:extLst>
          </p:nvPr>
        </p:nvGraphicFramePr>
        <p:xfrm>
          <a:off x="2941820" y="3060077"/>
          <a:ext cx="24828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Equation" r:id="rId5" imgW="850531" imgH="431613" progId="Equation.DSMT4">
                  <p:embed/>
                </p:oleObj>
              </mc:Choice>
              <mc:Fallback>
                <p:oleObj name="Equation" r:id="rId5" imgW="850531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820" y="3060077"/>
                        <a:ext cx="248285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209501"/>
              </p:ext>
            </p:extLst>
          </p:nvPr>
        </p:nvGraphicFramePr>
        <p:xfrm>
          <a:off x="4123964" y="5250311"/>
          <a:ext cx="17526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name="Equation" r:id="rId7" imgW="583947" imgH="418918" progId="Equation.DSMT4">
                  <p:embed/>
                </p:oleObj>
              </mc:Choice>
              <mc:Fallback>
                <p:oleObj name="Equation" r:id="rId7" imgW="583947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3964" y="5250311"/>
                        <a:ext cx="17526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334317"/>
              </p:ext>
            </p:extLst>
          </p:nvPr>
        </p:nvGraphicFramePr>
        <p:xfrm>
          <a:off x="6143733" y="5217537"/>
          <a:ext cx="16764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Equation" r:id="rId9" imgW="520474" imgH="393529" progId="Equation.DSMT4">
                  <p:embed/>
                </p:oleObj>
              </mc:Choice>
              <mc:Fallback>
                <p:oleObj name="Equation" r:id="rId9" imgW="520474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733" y="5217537"/>
                        <a:ext cx="1676400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5"/>
          <p:cNvSpPr>
            <a:spLocks noChangeArrowheads="1"/>
          </p:cNvSpPr>
          <p:nvPr/>
        </p:nvSpPr>
        <p:spPr bwMode="auto">
          <a:xfrm>
            <a:off x="0" y="4236370"/>
            <a:ext cx="9144000" cy="90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 dirty="0">
                <a:latin typeface="+mn-lt"/>
              </a:rPr>
              <a:t>y</a:t>
            </a:r>
            <a:r>
              <a:rPr lang="en-US" altLang="x-none" baseline="-25000" dirty="0">
                <a:latin typeface="+mn-lt"/>
              </a:rPr>
              <a:t>2</a:t>
            </a:r>
            <a:r>
              <a:rPr lang="en-US" altLang="x-none" dirty="0">
                <a:latin typeface="+mn-lt"/>
              </a:rPr>
              <a:t> is the y coordinate of the 2</a:t>
            </a:r>
            <a:r>
              <a:rPr lang="en-US" altLang="x-none" baseline="30000" dirty="0">
                <a:latin typeface="+mn-lt"/>
              </a:rPr>
              <a:t>nd</a:t>
            </a:r>
            <a:r>
              <a:rPr lang="en-US" altLang="x-none" dirty="0">
                <a:latin typeface="+mn-lt"/>
              </a:rPr>
              <a:t> ordered pair (y</a:t>
            </a:r>
            <a:r>
              <a:rPr lang="en-US" altLang="x-none" baseline="-25000" dirty="0">
                <a:latin typeface="+mn-lt"/>
              </a:rPr>
              <a:t>2</a:t>
            </a:r>
            <a:r>
              <a:rPr lang="en-US" altLang="x-none" dirty="0">
                <a:latin typeface="+mn-lt"/>
              </a:rPr>
              <a:t> = 1)</a:t>
            </a:r>
          </a:p>
          <a:p>
            <a:pPr algn="ctr">
              <a:spcBef>
                <a:spcPct val="20000"/>
              </a:spcBef>
            </a:pPr>
            <a:r>
              <a:rPr lang="en-US" altLang="x-none" dirty="0">
                <a:latin typeface="+mn-lt"/>
              </a:rPr>
              <a:t>y</a:t>
            </a:r>
            <a:r>
              <a:rPr lang="en-US" altLang="x-none" baseline="-25000" dirty="0">
                <a:latin typeface="+mn-lt"/>
              </a:rPr>
              <a:t>1</a:t>
            </a:r>
            <a:r>
              <a:rPr lang="en-US" altLang="x-none" dirty="0">
                <a:latin typeface="+mn-lt"/>
              </a:rPr>
              <a:t> is the y coordinate of the 1</a:t>
            </a:r>
            <a:r>
              <a:rPr lang="en-US" altLang="x-none" baseline="30000" dirty="0">
                <a:latin typeface="+mn-lt"/>
              </a:rPr>
              <a:t>st</a:t>
            </a:r>
            <a:r>
              <a:rPr lang="en-US" altLang="x-none" dirty="0">
                <a:latin typeface="+mn-lt"/>
              </a:rPr>
              <a:t> ordered pair (y</a:t>
            </a:r>
            <a:r>
              <a:rPr lang="en-US" altLang="x-none" baseline="-25000" dirty="0">
                <a:latin typeface="+mn-lt"/>
              </a:rPr>
              <a:t>1</a:t>
            </a:r>
            <a:r>
              <a:rPr lang="en-US" altLang="x-none" dirty="0">
                <a:latin typeface="+mn-lt"/>
              </a:rPr>
              <a:t> = -2)</a:t>
            </a:r>
          </a:p>
        </p:txBody>
      </p:sp>
      <p:sp>
        <p:nvSpPr>
          <p:cNvPr id="3" name="Left Arrow 2"/>
          <p:cNvSpPr/>
          <p:nvPr/>
        </p:nvSpPr>
        <p:spPr>
          <a:xfrm>
            <a:off x="5640222" y="3307247"/>
            <a:ext cx="431639" cy="19724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Arrow 24"/>
          <p:cNvSpPr/>
          <p:nvPr/>
        </p:nvSpPr>
        <p:spPr>
          <a:xfrm>
            <a:off x="5640221" y="3812307"/>
            <a:ext cx="431639" cy="19724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552094" y="3230868"/>
            <a:ext cx="1268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Change in </a:t>
            </a:r>
            <a:r>
              <a:rPr lang="en-US" i="1" smtClean="0"/>
              <a:t>y</a:t>
            </a:r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554963" y="3698861"/>
            <a:ext cx="1264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Change in </a:t>
            </a:r>
            <a:r>
              <a:rPr lang="en-US" i="1" dirty="0" smtClean="0"/>
              <a:t>x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</a:t>
            </a:r>
            <a:r>
              <a:rPr lang="en-AU" sz="2400" dirty="0" smtClean="0"/>
              <a:t> </a:t>
            </a:r>
            <a:r>
              <a:rPr lang="en-AU" sz="2400" dirty="0" smtClean="0"/>
              <a:t>gradient </a:t>
            </a:r>
            <a:r>
              <a:rPr lang="en-AU" sz="2400" dirty="0" smtClean="0"/>
              <a:t>and y-intercepts and </a:t>
            </a:r>
            <a:r>
              <a:rPr lang="en-AU" sz="2400" dirty="0" smtClean="0"/>
              <a:t>how do we </a:t>
            </a:r>
            <a:r>
              <a:rPr lang="en-AU" sz="2400" smtClean="0"/>
              <a:t>measure </a:t>
            </a:r>
            <a:r>
              <a:rPr lang="en-AU" sz="2400" smtClean="0"/>
              <a:t>them</a:t>
            </a:r>
            <a:r>
              <a:rPr lang="en-AU" sz="240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3469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  <p:bldP spid="24" grpId="1"/>
      <p:bldP spid="3" grpId="0" animBg="1"/>
      <p:bldP spid="25" grpId="0" animBg="1"/>
      <p:bldP spid="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81965" y="393539"/>
            <a:ext cx="7847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Use the formula method to find the gradient of the following: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81" y="1004263"/>
            <a:ext cx="5562278" cy="54783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417516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089412" y="1552622"/>
            <a:ext cx="6965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Last lesson when we created a rule, we used the form:</a:t>
            </a:r>
            <a:endParaRPr lang="en-US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016" y="2116397"/>
            <a:ext cx="1738530" cy="11659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296" y="3384467"/>
            <a:ext cx="2851147" cy="3085348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686374"/>
              </p:ext>
            </p:extLst>
          </p:nvPr>
        </p:nvGraphicFramePr>
        <p:xfrm>
          <a:off x="4660754" y="3462474"/>
          <a:ext cx="398533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066"/>
                <a:gridCol w="797066"/>
                <a:gridCol w="797066"/>
                <a:gridCol w="797066"/>
                <a:gridCol w="797066"/>
              </a:tblGrid>
              <a:tr h="32412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2412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Curved Up Arrow 14"/>
          <p:cNvSpPr/>
          <p:nvPr/>
        </p:nvSpPr>
        <p:spPr>
          <a:xfrm>
            <a:off x="5793890" y="4232260"/>
            <a:ext cx="803056" cy="22445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59473" y="4421128"/>
            <a:ext cx="483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+2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890" y="5311988"/>
            <a:ext cx="2048902" cy="385132"/>
          </a:xfrm>
          <a:prstGeom prst="rect">
            <a:avLst/>
          </a:prstGeom>
        </p:spPr>
      </p:pic>
      <p:sp>
        <p:nvSpPr>
          <p:cNvPr id="24" name="Right Arrow 23"/>
          <p:cNvSpPr/>
          <p:nvPr/>
        </p:nvSpPr>
        <p:spPr>
          <a:xfrm rot="3713896">
            <a:off x="5987718" y="4910658"/>
            <a:ext cx="563611" cy="2669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TextBox 24"/>
          <p:cNvSpPr txBox="1"/>
          <p:nvPr/>
        </p:nvSpPr>
        <p:spPr>
          <a:xfrm>
            <a:off x="6321524" y="5273721"/>
            <a:ext cx="266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7458129" y="5250198"/>
            <a:ext cx="323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876401" y="5657671"/>
            <a:ext cx="52872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Look at the graph and the table. What do the coefficient and constant represent on the graph?</a:t>
            </a:r>
            <a:endParaRPr lang="en-US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</a:t>
            </a:r>
            <a:r>
              <a:rPr lang="en-AU" sz="2400" dirty="0" smtClean="0"/>
              <a:t> </a:t>
            </a:r>
            <a:r>
              <a:rPr lang="en-AU" sz="2400" dirty="0" smtClean="0"/>
              <a:t>gradient </a:t>
            </a:r>
            <a:r>
              <a:rPr lang="en-AU" sz="2400" dirty="0" smtClean="0"/>
              <a:t>and y-intercepts and </a:t>
            </a:r>
            <a:r>
              <a:rPr lang="en-AU" sz="2400" dirty="0" smtClean="0"/>
              <a:t>how do we </a:t>
            </a:r>
            <a:r>
              <a:rPr lang="en-AU" sz="2400" smtClean="0"/>
              <a:t>measure </a:t>
            </a:r>
            <a:r>
              <a:rPr lang="en-AU" sz="2400" smtClean="0"/>
              <a:t>them</a:t>
            </a:r>
            <a:r>
              <a:rPr lang="en-AU" sz="240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08827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9" grpId="0"/>
      <p:bldP spid="24" grpId="0" animBg="1"/>
      <p:bldP spid="25" grpId="0"/>
      <p:bldP spid="2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1230028" y="1534037"/>
                <a:ext cx="7582589" cy="998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 smtClean="0"/>
                  <a:t>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CA" sz="2400">
                            <a:latin typeface="Cambria Math" charset="0"/>
                          </a:rPr>
                          <m:t>rise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 sz="2400">
                            <a:latin typeface="Cambria Math" charset="0"/>
                          </a:rPr>
                          <m:t>run</m:t>
                        </m:r>
                      </m:den>
                    </m:f>
                  </m:oMath>
                </a14:m>
                <a:r>
                  <a:rPr lang="en-US" sz="2400" dirty="0" smtClean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2400" dirty="0" smtClean="0"/>
                  <a:t> = 2 which is the same as the coefficient</a:t>
                </a:r>
              </a:p>
              <a:p>
                <a:r>
                  <a:rPr lang="en-US" sz="2400" dirty="0" smtClean="0"/>
                  <a:t>The constant is 1, which is where the line crosses the </a:t>
                </a:r>
                <a:r>
                  <a:rPr lang="en-US" sz="2400" i="1" dirty="0" smtClean="0"/>
                  <a:t>y</a:t>
                </a:r>
                <a:r>
                  <a:rPr lang="en-US" sz="2400" dirty="0" smtClean="0"/>
                  <a:t> axis </a:t>
                </a:r>
                <a:endParaRPr lang="en-US" sz="2400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028" y="1534037"/>
                <a:ext cx="7582589" cy="998991"/>
              </a:xfrm>
              <a:prstGeom prst="rect">
                <a:avLst/>
              </a:prstGeom>
              <a:blipFill rotWithShape="0">
                <a:blip r:embed="rId2"/>
                <a:stretch>
                  <a:fillRect l="-1286" r="-241" b="-12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142" y="2636066"/>
            <a:ext cx="2851147" cy="3085348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666753"/>
              </p:ext>
            </p:extLst>
          </p:nvPr>
        </p:nvGraphicFramePr>
        <p:xfrm>
          <a:off x="4635092" y="2756418"/>
          <a:ext cx="398533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066"/>
                <a:gridCol w="797066"/>
                <a:gridCol w="797066"/>
                <a:gridCol w="797066"/>
                <a:gridCol w="797066"/>
              </a:tblGrid>
              <a:tr h="32412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2412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Curved Up Arrow 14"/>
          <p:cNvSpPr/>
          <p:nvPr/>
        </p:nvSpPr>
        <p:spPr>
          <a:xfrm>
            <a:off x="5768228" y="3526204"/>
            <a:ext cx="803056" cy="22445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33811" y="3715072"/>
            <a:ext cx="483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+2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228" y="4605932"/>
            <a:ext cx="2048902" cy="385132"/>
          </a:xfrm>
          <a:prstGeom prst="rect">
            <a:avLst/>
          </a:prstGeom>
        </p:spPr>
      </p:pic>
      <p:sp>
        <p:nvSpPr>
          <p:cNvPr id="18" name="Right Arrow 17"/>
          <p:cNvSpPr/>
          <p:nvPr/>
        </p:nvSpPr>
        <p:spPr>
          <a:xfrm rot="3713896">
            <a:off x="5962056" y="4204602"/>
            <a:ext cx="563611" cy="2669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/>
          <p:cNvSpPr txBox="1"/>
          <p:nvPr/>
        </p:nvSpPr>
        <p:spPr>
          <a:xfrm>
            <a:off x="6295862" y="4567665"/>
            <a:ext cx="266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7432467" y="4544142"/>
            <a:ext cx="323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14426" y="5705736"/>
            <a:ext cx="8029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rule for a straight line graph is given by </a:t>
            </a:r>
            <a:r>
              <a:rPr lang="en-US" sz="2400" i="1" dirty="0" smtClean="0"/>
              <a:t>y = mx + c</a:t>
            </a:r>
            <a:r>
              <a:rPr lang="en-US" sz="2400" dirty="0" smtClean="0"/>
              <a:t> where:</a:t>
            </a:r>
            <a:r>
              <a:rPr lang="en-US" sz="2400" dirty="0"/>
              <a:t> </a:t>
            </a:r>
            <a:endParaRPr lang="en-US" sz="2400" dirty="0" smtClean="0"/>
          </a:p>
          <a:p>
            <a:pPr marL="342900" indent="-342900">
              <a:buFont typeface="Arial" charset="0"/>
              <a:buChar char="•"/>
            </a:pPr>
            <a:r>
              <a:rPr lang="en-US" sz="2400" i="1" dirty="0" smtClean="0"/>
              <a:t>m</a:t>
            </a:r>
            <a:r>
              <a:rPr lang="en-US" sz="2400" dirty="0" smtClean="0"/>
              <a:t> is the gradient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i="1" dirty="0" smtClean="0"/>
              <a:t>c</a:t>
            </a:r>
            <a:r>
              <a:rPr lang="en-US" sz="2400" dirty="0" smtClean="0"/>
              <a:t> is the y-intercept (where the line passes thru the </a:t>
            </a:r>
            <a:r>
              <a:rPr lang="en-US" sz="2400" i="1" dirty="0" smtClean="0"/>
              <a:t>y</a:t>
            </a:r>
            <a:r>
              <a:rPr lang="en-US" sz="2400" dirty="0" smtClean="0"/>
              <a:t> </a:t>
            </a:r>
            <a:r>
              <a:rPr lang="mr-IN" sz="2400" dirty="0" smtClean="0"/>
              <a:t>–</a:t>
            </a:r>
            <a:r>
              <a:rPr lang="en-US" sz="2400" dirty="0" smtClean="0"/>
              <a:t> axis)</a:t>
            </a:r>
            <a:endParaRPr lang="en-US" sz="2400" i="1" dirty="0"/>
          </a:p>
        </p:txBody>
      </p:sp>
      <p:sp>
        <p:nvSpPr>
          <p:cNvPr id="28" name="TextBox 27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</a:t>
            </a:r>
            <a:r>
              <a:rPr lang="en-AU" sz="2400" dirty="0" smtClean="0"/>
              <a:t> </a:t>
            </a:r>
            <a:r>
              <a:rPr lang="en-AU" sz="2400" dirty="0" smtClean="0"/>
              <a:t>gradient </a:t>
            </a:r>
            <a:r>
              <a:rPr lang="en-AU" sz="2400" dirty="0" smtClean="0"/>
              <a:t>and y-intercepts and </a:t>
            </a:r>
            <a:r>
              <a:rPr lang="en-AU" sz="2400" dirty="0" smtClean="0"/>
              <a:t>how do we </a:t>
            </a:r>
            <a:r>
              <a:rPr lang="en-AU" sz="2400" smtClean="0"/>
              <a:t>measure </a:t>
            </a:r>
            <a:r>
              <a:rPr lang="en-AU" sz="2400" smtClean="0"/>
              <a:t>them</a:t>
            </a:r>
            <a:r>
              <a:rPr lang="en-AU" sz="240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8249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8" grpId="0" animBg="1"/>
      <p:bldP spid="19" grpId="0"/>
      <p:bldP spid="20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48437" y="1449135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</a:t>
            </a:r>
            <a:r>
              <a:rPr lang="en-AU" sz="2400" dirty="0" smtClean="0"/>
              <a:t> </a:t>
            </a:r>
            <a:r>
              <a:rPr lang="en-AU" sz="2400" dirty="0" smtClean="0"/>
              <a:t>gradient </a:t>
            </a:r>
            <a:r>
              <a:rPr lang="en-AU" sz="2400" dirty="0" smtClean="0"/>
              <a:t>and y-intercepts and </a:t>
            </a:r>
            <a:r>
              <a:rPr lang="en-AU" sz="2400" dirty="0" smtClean="0"/>
              <a:t>how do we </a:t>
            </a:r>
            <a:r>
              <a:rPr lang="en-AU" sz="2400" smtClean="0"/>
              <a:t>measure </a:t>
            </a:r>
            <a:r>
              <a:rPr lang="en-AU" sz="2400" smtClean="0"/>
              <a:t>them</a:t>
            </a:r>
            <a:r>
              <a:rPr lang="en-AU" sz="2400" smtClean="0"/>
              <a:t>?</a:t>
            </a:r>
            <a:endParaRPr lang="en-AU" sz="2400" dirty="0"/>
          </a:p>
        </p:txBody>
      </p:sp>
      <p:grpSp>
        <p:nvGrpSpPr>
          <p:cNvPr id="14" name="Group 692"/>
          <p:cNvGrpSpPr>
            <a:grpSpLocks/>
          </p:cNvGrpSpPr>
          <p:nvPr/>
        </p:nvGrpSpPr>
        <p:grpSpPr bwMode="auto">
          <a:xfrm>
            <a:off x="1417639" y="2149735"/>
            <a:ext cx="2355850" cy="2200275"/>
            <a:chOff x="-339213" y="1628750"/>
            <a:chExt cx="2354933" cy="2200360"/>
          </a:xfrm>
        </p:grpSpPr>
        <p:sp>
          <p:nvSpPr>
            <p:cNvPr id="15" name="Rectangle 14"/>
            <p:cNvSpPr>
              <a:spLocks noChangeAspect="1"/>
            </p:cNvSpPr>
            <p:nvPr/>
          </p:nvSpPr>
          <p:spPr bwMode="auto">
            <a:xfrm>
              <a:off x="1009637" y="2922612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" name="Rectangle 15"/>
            <p:cNvSpPr>
              <a:spLocks noChangeAspect="1"/>
            </p:cNvSpPr>
            <p:nvPr/>
          </p:nvSpPr>
          <p:spPr bwMode="auto">
            <a:xfrm>
              <a:off x="1369858" y="2922612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" name="Rectangle 16"/>
            <p:cNvSpPr>
              <a:spLocks noChangeAspect="1"/>
            </p:cNvSpPr>
            <p:nvPr/>
          </p:nvSpPr>
          <p:spPr bwMode="auto">
            <a:xfrm>
              <a:off x="1009637" y="2563823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" name="Rectangle 17"/>
            <p:cNvSpPr>
              <a:spLocks noChangeAspect="1"/>
            </p:cNvSpPr>
            <p:nvPr/>
          </p:nvSpPr>
          <p:spPr bwMode="auto">
            <a:xfrm>
              <a:off x="1369858" y="2563823"/>
              <a:ext cx="358635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" name="Rectangle 18"/>
            <p:cNvSpPr>
              <a:spLocks noChangeAspect="1"/>
            </p:cNvSpPr>
            <p:nvPr/>
          </p:nvSpPr>
          <p:spPr bwMode="auto">
            <a:xfrm>
              <a:off x="1009637" y="2203447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" name="Rectangle 19"/>
            <p:cNvSpPr>
              <a:spLocks noChangeAspect="1"/>
            </p:cNvSpPr>
            <p:nvPr/>
          </p:nvSpPr>
          <p:spPr bwMode="auto">
            <a:xfrm>
              <a:off x="1369858" y="2203447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" name="Rectangle 20"/>
            <p:cNvSpPr>
              <a:spLocks noChangeAspect="1"/>
            </p:cNvSpPr>
            <p:nvPr/>
          </p:nvSpPr>
          <p:spPr bwMode="auto">
            <a:xfrm>
              <a:off x="1009637" y="1843070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" name="Rectangle 21"/>
            <p:cNvSpPr>
              <a:spLocks noChangeAspect="1"/>
            </p:cNvSpPr>
            <p:nvPr/>
          </p:nvSpPr>
          <p:spPr bwMode="auto">
            <a:xfrm>
              <a:off x="1369858" y="1843070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3" name="Rectangle 22"/>
            <p:cNvSpPr>
              <a:spLocks noChangeAspect="1"/>
            </p:cNvSpPr>
            <p:nvPr/>
          </p:nvSpPr>
          <p:spPr bwMode="auto">
            <a:xfrm>
              <a:off x="-72617" y="2209797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4" name="Rectangle 23"/>
            <p:cNvSpPr>
              <a:spLocks noChangeAspect="1"/>
            </p:cNvSpPr>
            <p:nvPr/>
          </p:nvSpPr>
          <p:spPr bwMode="auto">
            <a:xfrm>
              <a:off x="287605" y="2209797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5" name="Rectangle 24"/>
            <p:cNvSpPr>
              <a:spLocks noChangeAspect="1"/>
            </p:cNvSpPr>
            <p:nvPr/>
          </p:nvSpPr>
          <p:spPr bwMode="auto">
            <a:xfrm>
              <a:off x="-72617" y="1849421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" name="Rectangle 25"/>
            <p:cNvSpPr>
              <a:spLocks noChangeAspect="1"/>
            </p:cNvSpPr>
            <p:nvPr/>
          </p:nvSpPr>
          <p:spPr bwMode="auto">
            <a:xfrm>
              <a:off x="287605" y="1849421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" name="Rectangle 26"/>
            <p:cNvSpPr>
              <a:spLocks noChangeAspect="1"/>
            </p:cNvSpPr>
            <p:nvPr/>
          </p:nvSpPr>
          <p:spPr bwMode="auto">
            <a:xfrm>
              <a:off x="-72617" y="2928962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" name="Rectangle 27"/>
            <p:cNvSpPr>
              <a:spLocks noChangeAspect="1"/>
            </p:cNvSpPr>
            <p:nvPr/>
          </p:nvSpPr>
          <p:spPr bwMode="auto">
            <a:xfrm>
              <a:off x="287605" y="2928962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" name="Rectangle 28"/>
            <p:cNvSpPr>
              <a:spLocks noChangeAspect="1"/>
            </p:cNvSpPr>
            <p:nvPr/>
          </p:nvSpPr>
          <p:spPr bwMode="auto">
            <a:xfrm>
              <a:off x="-72617" y="2568586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" name="Rectangle 29"/>
            <p:cNvSpPr>
              <a:spLocks noChangeAspect="1"/>
            </p:cNvSpPr>
            <p:nvPr/>
          </p:nvSpPr>
          <p:spPr bwMode="auto">
            <a:xfrm>
              <a:off x="287605" y="2568586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" name="Rectangle 30"/>
            <p:cNvSpPr>
              <a:spLocks noChangeAspect="1"/>
            </p:cNvSpPr>
            <p:nvPr/>
          </p:nvSpPr>
          <p:spPr bwMode="auto">
            <a:xfrm>
              <a:off x="649414" y="2922612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" name="Rectangle 31"/>
            <p:cNvSpPr>
              <a:spLocks noChangeAspect="1"/>
            </p:cNvSpPr>
            <p:nvPr/>
          </p:nvSpPr>
          <p:spPr bwMode="auto">
            <a:xfrm>
              <a:off x="649414" y="2563823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" name="Rectangle 32"/>
            <p:cNvSpPr>
              <a:spLocks noChangeAspect="1"/>
            </p:cNvSpPr>
            <p:nvPr/>
          </p:nvSpPr>
          <p:spPr bwMode="auto">
            <a:xfrm>
              <a:off x="649414" y="2203447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" name="Rectangle 33"/>
            <p:cNvSpPr>
              <a:spLocks noChangeAspect="1"/>
            </p:cNvSpPr>
            <p:nvPr/>
          </p:nvSpPr>
          <p:spPr bwMode="auto">
            <a:xfrm>
              <a:off x="649414" y="1843070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5" name="Rectangle 34"/>
            <p:cNvSpPr>
              <a:spLocks noChangeAspect="1"/>
            </p:cNvSpPr>
            <p:nvPr/>
          </p:nvSpPr>
          <p:spPr bwMode="auto">
            <a:xfrm>
              <a:off x="1009637" y="3282989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6" name="Rectangle 35"/>
            <p:cNvSpPr>
              <a:spLocks noChangeAspect="1"/>
            </p:cNvSpPr>
            <p:nvPr/>
          </p:nvSpPr>
          <p:spPr bwMode="auto">
            <a:xfrm>
              <a:off x="1369858" y="3282989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7" name="Rectangle 36"/>
            <p:cNvSpPr>
              <a:spLocks noChangeAspect="1"/>
            </p:cNvSpPr>
            <p:nvPr/>
          </p:nvSpPr>
          <p:spPr bwMode="auto">
            <a:xfrm>
              <a:off x="-72617" y="3289339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8" name="Rectangle 37"/>
            <p:cNvSpPr>
              <a:spLocks noChangeAspect="1"/>
            </p:cNvSpPr>
            <p:nvPr/>
          </p:nvSpPr>
          <p:spPr bwMode="auto">
            <a:xfrm>
              <a:off x="287605" y="3289339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9" name="Rectangle 38"/>
            <p:cNvSpPr>
              <a:spLocks noChangeAspect="1"/>
            </p:cNvSpPr>
            <p:nvPr/>
          </p:nvSpPr>
          <p:spPr bwMode="auto">
            <a:xfrm>
              <a:off x="649414" y="3282989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rot="5400000" flipH="1" flipV="1">
              <a:off x="-359481" y="2636058"/>
              <a:ext cx="2016203" cy="15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-72617" y="2922612"/>
              <a:ext cx="2088337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16200000" flipV="1">
              <a:off x="558169" y="1751825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16200000" flipV="1">
              <a:off x="558169" y="2113789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16200000" flipV="1">
              <a:off x="558169" y="2472578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16200000" flipV="1">
              <a:off x="558169" y="2831367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V="1">
              <a:off x="558169" y="3191743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V="1">
              <a:off x="558169" y="3552119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668"/>
            <p:cNvSpPr txBox="1">
              <a:spLocks noChangeArrowheads="1"/>
            </p:cNvSpPr>
            <p:nvPr/>
          </p:nvSpPr>
          <p:spPr bwMode="auto">
            <a:xfrm>
              <a:off x="35370" y="34290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49" name="TextBox 669"/>
            <p:cNvSpPr txBox="1">
              <a:spLocks noChangeArrowheads="1"/>
            </p:cNvSpPr>
            <p:nvPr/>
          </p:nvSpPr>
          <p:spPr bwMode="auto">
            <a:xfrm>
              <a:off x="35370" y="30689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50" name="TextBox 672"/>
            <p:cNvSpPr txBox="1">
              <a:spLocks noChangeArrowheads="1"/>
            </p:cNvSpPr>
            <p:nvPr/>
          </p:nvSpPr>
          <p:spPr bwMode="auto">
            <a:xfrm>
              <a:off x="35370" y="23488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" name="TextBox 673"/>
            <p:cNvSpPr txBox="1">
              <a:spLocks noChangeArrowheads="1"/>
            </p:cNvSpPr>
            <p:nvPr/>
          </p:nvSpPr>
          <p:spPr bwMode="auto">
            <a:xfrm>
              <a:off x="35370" y="19888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2" name="TextBox 674"/>
            <p:cNvSpPr txBox="1">
              <a:spLocks noChangeArrowheads="1"/>
            </p:cNvSpPr>
            <p:nvPr/>
          </p:nvSpPr>
          <p:spPr bwMode="auto">
            <a:xfrm>
              <a:off x="35370" y="16287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 rot="5400000" flipH="1" flipV="1">
              <a:off x="184418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5400000" flipH="1" flipV="1">
              <a:off x="543054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 flipH="1" flipV="1">
              <a:off x="901689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 flipH="1" flipV="1">
              <a:off x="1261912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 flipH="1" flipV="1">
              <a:off x="1623721" y="3005166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685"/>
            <p:cNvSpPr txBox="1">
              <a:spLocks noChangeArrowheads="1"/>
            </p:cNvSpPr>
            <p:nvPr/>
          </p:nvSpPr>
          <p:spPr bwMode="auto">
            <a:xfrm>
              <a:off x="-339213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59" name="TextBox 686"/>
            <p:cNvSpPr txBox="1">
              <a:spLocks noChangeArrowheads="1"/>
            </p:cNvSpPr>
            <p:nvPr/>
          </p:nvSpPr>
          <p:spPr bwMode="auto">
            <a:xfrm>
              <a:off x="4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60" name="TextBox 687"/>
            <p:cNvSpPr txBox="1">
              <a:spLocks noChangeArrowheads="1"/>
            </p:cNvSpPr>
            <p:nvPr/>
          </p:nvSpPr>
          <p:spPr bwMode="auto">
            <a:xfrm>
              <a:off x="40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endParaRPr lang="en-US" altLang="x-none" sz="2000">
                <a:solidFill>
                  <a:schemeClr val="tx1"/>
                </a:solidFill>
              </a:endParaRPr>
            </a:p>
          </p:txBody>
        </p:sp>
        <p:sp>
          <p:nvSpPr>
            <p:cNvPr id="61" name="TextBox 688"/>
            <p:cNvSpPr txBox="1">
              <a:spLocks noChangeArrowheads="1"/>
            </p:cNvSpPr>
            <p:nvPr/>
          </p:nvSpPr>
          <p:spPr bwMode="auto">
            <a:xfrm>
              <a:off x="76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2" name="TextBox 689"/>
            <p:cNvSpPr txBox="1">
              <a:spLocks noChangeArrowheads="1"/>
            </p:cNvSpPr>
            <p:nvPr/>
          </p:nvSpPr>
          <p:spPr bwMode="auto">
            <a:xfrm>
              <a:off x="1119260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3" name="TextBox 690"/>
            <p:cNvSpPr txBox="1">
              <a:spLocks noChangeArrowheads="1"/>
            </p:cNvSpPr>
            <p:nvPr/>
          </p:nvSpPr>
          <p:spPr bwMode="auto">
            <a:xfrm>
              <a:off x="1460987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4" name="Straight Connector 63"/>
            <p:cNvCxnSpPr/>
            <p:nvPr/>
          </p:nvCxnSpPr>
          <p:spPr>
            <a:xfrm rot="5400000" flipH="1" flipV="1">
              <a:off x="-177391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Straight Connector 64"/>
          <p:cNvCxnSpPr/>
          <p:nvPr/>
        </p:nvCxnSpPr>
        <p:spPr>
          <a:xfrm rot="5400000" flipH="1" flipV="1">
            <a:off x="1367633" y="2161641"/>
            <a:ext cx="1630362" cy="16065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865314" y="4567497"/>
            <a:ext cx="1460500" cy="6461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/>
                </a:solidFill>
              </a:rPr>
              <a:t>c = 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6751" y="4567497"/>
            <a:ext cx="1458913" cy="6461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/>
                </a:solidFill>
              </a:rPr>
              <a:t>c = 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6489" y="4567497"/>
            <a:ext cx="1460500" cy="6461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/>
                </a:solidFill>
              </a:rPr>
              <a:t>c = -1 </a:t>
            </a:r>
          </a:p>
        </p:txBody>
      </p:sp>
      <p:grpSp>
        <p:nvGrpSpPr>
          <p:cNvPr id="69" name="Group 692"/>
          <p:cNvGrpSpPr>
            <a:grpSpLocks/>
          </p:cNvGrpSpPr>
          <p:nvPr/>
        </p:nvGrpSpPr>
        <p:grpSpPr bwMode="auto">
          <a:xfrm>
            <a:off x="3994151" y="2117985"/>
            <a:ext cx="2355850" cy="2200275"/>
            <a:chOff x="-339213" y="1628750"/>
            <a:chExt cx="2354933" cy="2200360"/>
          </a:xfrm>
        </p:grpSpPr>
        <p:sp>
          <p:nvSpPr>
            <p:cNvPr id="70" name="Rectangle 69"/>
            <p:cNvSpPr>
              <a:spLocks noChangeAspect="1"/>
            </p:cNvSpPr>
            <p:nvPr/>
          </p:nvSpPr>
          <p:spPr bwMode="auto">
            <a:xfrm>
              <a:off x="1009637" y="2922612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1" name="Rectangle 70"/>
            <p:cNvSpPr>
              <a:spLocks noChangeAspect="1"/>
            </p:cNvSpPr>
            <p:nvPr/>
          </p:nvSpPr>
          <p:spPr bwMode="auto">
            <a:xfrm>
              <a:off x="1369859" y="2922612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2" name="Rectangle 71"/>
            <p:cNvSpPr>
              <a:spLocks noChangeAspect="1"/>
            </p:cNvSpPr>
            <p:nvPr/>
          </p:nvSpPr>
          <p:spPr bwMode="auto">
            <a:xfrm>
              <a:off x="1009637" y="2563823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3" name="Rectangle 72"/>
            <p:cNvSpPr>
              <a:spLocks noChangeAspect="1"/>
            </p:cNvSpPr>
            <p:nvPr/>
          </p:nvSpPr>
          <p:spPr bwMode="auto">
            <a:xfrm>
              <a:off x="1369859" y="2563823"/>
              <a:ext cx="358635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4" name="Rectangle 73"/>
            <p:cNvSpPr>
              <a:spLocks noChangeAspect="1"/>
            </p:cNvSpPr>
            <p:nvPr/>
          </p:nvSpPr>
          <p:spPr bwMode="auto">
            <a:xfrm>
              <a:off x="1009637" y="2203447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5" name="Rectangle 74"/>
            <p:cNvSpPr>
              <a:spLocks noChangeAspect="1"/>
            </p:cNvSpPr>
            <p:nvPr/>
          </p:nvSpPr>
          <p:spPr bwMode="auto">
            <a:xfrm>
              <a:off x="1369859" y="2203447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6" name="Rectangle 75"/>
            <p:cNvSpPr>
              <a:spLocks noChangeAspect="1"/>
            </p:cNvSpPr>
            <p:nvPr/>
          </p:nvSpPr>
          <p:spPr bwMode="auto">
            <a:xfrm>
              <a:off x="1009637" y="1843070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7" name="Rectangle 76"/>
            <p:cNvSpPr>
              <a:spLocks noChangeAspect="1"/>
            </p:cNvSpPr>
            <p:nvPr/>
          </p:nvSpPr>
          <p:spPr bwMode="auto">
            <a:xfrm>
              <a:off x="1369859" y="1843070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8" name="Rectangle 77"/>
            <p:cNvSpPr>
              <a:spLocks noChangeAspect="1"/>
            </p:cNvSpPr>
            <p:nvPr/>
          </p:nvSpPr>
          <p:spPr bwMode="auto">
            <a:xfrm>
              <a:off x="-72617" y="2209797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9" name="Rectangle 78"/>
            <p:cNvSpPr>
              <a:spLocks noChangeAspect="1"/>
            </p:cNvSpPr>
            <p:nvPr/>
          </p:nvSpPr>
          <p:spPr bwMode="auto">
            <a:xfrm>
              <a:off x="287606" y="2209797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0" name="Rectangle 79"/>
            <p:cNvSpPr>
              <a:spLocks noChangeAspect="1"/>
            </p:cNvSpPr>
            <p:nvPr/>
          </p:nvSpPr>
          <p:spPr bwMode="auto">
            <a:xfrm>
              <a:off x="-72617" y="1849421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1" name="Rectangle 80"/>
            <p:cNvSpPr>
              <a:spLocks noChangeAspect="1"/>
            </p:cNvSpPr>
            <p:nvPr/>
          </p:nvSpPr>
          <p:spPr bwMode="auto">
            <a:xfrm>
              <a:off x="287606" y="1849421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2" name="Rectangle 81"/>
            <p:cNvSpPr>
              <a:spLocks noChangeAspect="1"/>
            </p:cNvSpPr>
            <p:nvPr/>
          </p:nvSpPr>
          <p:spPr bwMode="auto">
            <a:xfrm>
              <a:off x="-72617" y="2928962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3" name="Rectangle 82"/>
            <p:cNvSpPr>
              <a:spLocks noChangeAspect="1"/>
            </p:cNvSpPr>
            <p:nvPr/>
          </p:nvSpPr>
          <p:spPr bwMode="auto">
            <a:xfrm>
              <a:off x="287606" y="2928962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4" name="Rectangle 83"/>
            <p:cNvSpPr>
              <a:spLocks noChangeAspect="1"/>
            </p:cNvSpPr>
            <p:nvPr/>
          </p:nvSpPr>
          <p:spPr bwMode="auto">
            <a:xfrm>
              <a:off x="-72617" y="2568586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5" name="Rectangle 84"/>
            <p:cNvSpPr>
              <a:spLocks noChangeAspect="1"/>
            </p:cNvSpPr>
            <p:nvPr/>
          </p:nvSpPr>
          <p:spPr bwMode="auto">
            <a:xfrm>
              <a:off x="287606" y="2568586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6" name="Rectangle 85"/>
            <p:cNvSpPr>
              <a:spLocks noChangeAspect="1"/>
            </p:cNvSpPr>
            <p:nvPr/>
          </p:nvSpPr>
          <p:spPr bwMode="auto">
            <a:xfrm>
              <a:off x="649415" y="2922612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7" name="Rectangle 86"/>
            <p:cNvSpPr>
              <a:spLocks noChangeAspect="1"/>
            </p:cNvSpPr>
            <p:nvPr/>
          </p:nvSpPr>
          <p:spPr bwMode="auto">
            <a:xfrm>
              <a:off x="649415" y="2563823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8" name="Rectangle 87"/>
            <p:cNvSpPr>
              <a:spLocks noChangeAspect="1"/>
            </p:cNvSpPr>
            <p:nvPr/>
          </p:nvSpPr>
          <p:spPr bwMode="auto">
            <a:xfrm>
              <a:off x="649415" y="2203447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9" name="Rectangle 88"/>
            <p:cNvSpPr>
              <a:spLocks noChangeAspect="1"/>
            </p:cNvSpPr>
            <p:nvPr/>
          </p:nvSpPr>
          <p:spPr bwMode="auto">
            <a:xfrm>
              <a:off x="649415" y="1843070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0" name="Rectangle 89"/>
            <p:cNvSpPr>
              <a:spLocks noChangeAspect="1"/>
            </p:cNvSpPr>
            <p:nvPr/>
          </p:nvSpPr>
          <p:spPr bwMode="auto">
            <a:xfrm>
              <a:off x="1009637" y="3282989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1" name="Rectangle 90"/>
            <p:cNvSpPr>
              <a:spLocks noChangeAspect="1"/>
            </p:cNvSpPr>
            <p:nvPr/>
          </p:nvSpPr>
          <p:spPr bwMode="auto">
            <a:xfrm>
              <a:off x="1369859" y="3282989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2" name="Rectangle 91"/>
            <p:cNvSpPr>
              <a:spLocks noChangeAspect="1"/>
            </p:cNvSpPr>
            <p:nvPr/>
          </p:nvSpPr>
          <p:spPr bwMode="auto">
            <a:xfrm>
              <a:off x="-72617" y="3289339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3" name="Rectangle 92"/>
            <p:cNvSpPr>
              <a:spLocks noChangeAspect="1"/>
            </p:cNvSpPr>
            <p:nvPr/>
          </p:nvSpPr>
          <p:spPr bwMode="auto">
            <a:xfrm>
              <a:off x="287606" y="3289339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4" name="Rectangle 93"/>
            <p:cNvSpPr>
              <a:spLocks noChangeAspect="1"/>
            </p:cNvSpPr>
            <p:nvPr/>
          </p:nvSpPr>
          <p:spPr bwMode="auto">
            <a:xfrm>
              <a:off x="649415" y="3282989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95" name="Straight Arrow Connector 94"/>
            <p:cNvCxnSpPr/>
            <p:nvPr/>
          </p:nvCxnSpPr>
          <p:spPr>
            <a:xfrm rot="5400000" flipH="1" flipV="1">
              <a:off x="-359481" y="2636058"/>
              <a:ext cx="2016203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 flipV="1">
              <a:off x="-72617" y="2922612"/>
              <a:ext cx="2088337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16200000" flipV="1">
              <a:off x="558170" y="1751824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rot="16200000" flipV="1">
              <a:off x="558170" y="2113788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rot="16200000" flipV="1">
              <a:off x="558170" y="2472577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V="1">
              <a:off x="558170" y="2831366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rot="16200000" flipV="1">
              <a:off x="558170" y="3191742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rot="16200000" flipV="1">
              <a:off x="558170" y="3552118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206"/>
            <p:cNvSpPr txBox="1">
              <a:spLocks noChangeArrowheads="1"/>
            </p:cNvSpPr>
            <p:nvPr/>
          </p:nvSpPr>
          <p:spPr bwMode="auto">
            <a:xfrm>
              <a:off x="35370" y="34290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104" name="TextBox 207"/>
            <p:cNvSpPr txBox="1">
              <a:spLocks noChangeArrowheads="1"/>
            </p:cNvSpPr>
            <p:nvPr/>
          </p:nvSpPr>
          <p:spPr bwMode="auto">
            <a:xfrm>
              <a:off x="35370" y="30689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105" name="TextBox 208"/>
            <p:cNvSpPr txBox="1">
              <a:spLocks noChangeArrowheads="1"/>
            </p:cNvSpPr>
            <p:nvPr/>
          </p:nvSpPr>
          <p:spPr bwMode="auto">
            <a:xfrm>
              <a:off x="35370" y="23488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6" name="TextBox 209"/>
            <p:cNvSpPr txBox="1">
              <a:spLocks noChangeArrowheads="1"/>
            </p:cNvSpPr>
            <p:nvPr/>
          </p:nvSpPr>
          <p:spPr bwMode="auto">
            <a:xfrm>
              <a:off x="35370" y="19888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7" name="TextBox 210"/>
            <p:cNvSpPr txBox="1">
              <a:spLocks noChangeArrowheads="1"/>
            </p:cNvSpPr>
            <p:nvPr/>
          </p:nvSpPr>
          <p:spPr bwMode="auto">
            <a:xfrm>
              <a:off x="35370" y="16287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08" name="Straight Connector 107"/>
            <p:cNvCxnSpPr/>
            <p:nvPr/>
          </p:nvCxnSpPr>
          <p:spPr>
            <a:xfrm rot="5400000" flipH="1" flipV="1">
              <a:off x="184419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rot="5400000" flipH="1" flipV="1">
              <a:off x="543055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rot="5400000" flipH="1" flipV="1">
              <a:off x="901690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rot="5400000" flipH="1" flipV="1">
              <a:off x="1261912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rot="5400000" flipH="1" flipV="1">
              <a:off x="1623721" y="3005166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216"/>
            <p:cNvSpPr txBox="1">
              <a:spLocks noChangeArrowheads="1"/>
            </p:cNvSpPr>
            <p:nvPr/>
          </p:nvSpPr>
          <p:spPr bwMode="auto">
            <a:xfrm>
              <a:off x="-339213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114" name="TextBox 217"/>
            <p:cNvSpPr txBox="1">
              <a:spLocks noChangeArrowheads="1"/>
            </p:cNvSpPr>
            <p:nvPr/>
          </p:nvSpPr>
          <p:spPr bwMode="auto">
            <a:xfrm>
              <a:off x="4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115" name="TextBox 218"/>
            <p:cNvSpPr txBox="1">
              <a:spLocks noChangeArrowheads="1"/>
            </p:cNvSpPr>
            <p:nvPr/>
          </p:nvSpPr>
          <p:spPr bwMode="auto">
            <a:xfrm>
              <a:off x="40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endParaRPr lang="en-US" altLang="x-none" sz="2000">
                <a:solidFill>
                  <a:schemeClr val="tx1"/>
                </a:solidFill>
              </a:endParaRPr>
            </a:p>
          </p:txBody>
        </p:sp>
        <p:sp>
          <p:nvSpPr>
            <p:cNvPr id="116" name="TextBox 219"/>
            <p:cNvSpPr txBox="1">
              <a:spLocks noChangeArrowheads="1"/>
            </p:cNvSpPr>
            <p:nvPr/>
          </p:nvSpPr>
          <p:spPr bwMode="auto">
            <a:xfrm>
              <a:off x="76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7" name="TextBox 220"/>
            <p:cNvSpPr txBox="1">
              <a:spLocks noChangeArrowheads="1"/>
            </p:cNvSpPr>
            <p:nvPr/>
          </p:nvSpPr>
          <p:spPr bwMode="auto">
            <a:xfrm>
              <a:off x="1119260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8" name="TextBox 221"/>
            <p:cNvSpPr txBox="1">
              <a:spLocks noChangeArrowheads="1"/>
            </p:cNvSpPr>
            <p:nvPr/>
          </p:nvSpPr>
          <p:spPr bwMode="auto">
            <a:xfrm>
              <a:off x="1460987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19" name="Straight Connector 118"/>
            <p:cNvCxnSpPr/>
            <p:nvPr/>
          </p:nvCxnSpPr>
          <p:spPr>
            <a:xfrm rot="5400000" flipH="1" flipV="1">
              <a:off x="-177390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0" name="Straight Connector 119"/>
          <p:cNvCxnSpPr/>
          <p:nvPr/>
        </p:nvCxnSpPr>
        <p:spPr>
          <a:xfrm flipV="1">
            <a:off x="4246564" y="2873635"/>
            <a:ext cx="1816100" cy="9048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692"/>
          <p:cNvGrpSpPr>
            <a:grpSpLocks/>
          </p:cNvGrpSpPr>
          <p:nvPr/>
        </p:nvGrpSpPr>
        <p:grpSpPr bwMode="auto">
          <a:xfrm>
            <a:off x="6902451" y="2116397"/>
            <a:ext cx="2355850" cy="2200275"/>
            <a:chOff x="-339213" y="1628750"/>
            <a:chExt cx="2354933" cy="2200360"/>
          </a:xfrm>
        </p:grpSpPr>
        <p:sp>
          <p:nvSpPr>
            <p:cNvPr id="122" name="Rectangle 121"/>
            <p:cNvSpPr>
              <a:spLocks noChangeAspect="1"/>
            </p:cNvSpPr>
            <p:nvPr/>
          </p:nvSpPr>
          <p:spPr bwMode="auto">
            <a:xfrm>
              <a:off x="1009637" y="2922613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3" name="Rectangle 122"/>
            <p:cNvSpPr>
              <a:spLocks noChangeAspect="1"/>
            </p:cNvSpPr>
            <p:nvPr/>
          </p:nvSpPr>
          <p:spPr bwMode="auto">
            <a:xfrm>
              <a:off x="1369859" y="2922613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4" name="Rectangle 123"/>
            <p:cNvSpPr>
              <a:spLocks noChangeAspect="1"/>
            </p:cNvSpPr>
            <p:nvPr/>
          </p:nvSpPr>
          <p:spPr bwMode="auto">
            <a:xfrm>
              <a:off x="1009637" y="2563824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5" name="Rectangle 124"/>
            <p:cNvSpPr>
              <a:spLocks noChangeAspect="1"/>
            </p:cNvSpPr>
            <p:nvPr/>
          </p:nvSpPr>
          <p:spPr bwMode="auto">
            <a:xfrm>
              <a:off x="1369859" y="2563824"/>
              <a:ext cx="358635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6" name="Rectangle 125"/>
            <p:cNvSpPr>
              <a:spLocks noChangeAspect="1"/>
            </p:cNvSpPr>
            <p:nvPr/>
          </p:nvSpPr>
          <p:spPr bwMode="auto">
            <a:xfrm>
              <a:off x="1009637" y="2203447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7" name="Rectangle 126"/>
            <p:cNvSpPr>
              <a:spLocks noChangeAspect="1"/>
            </p:cNvSpPr>
            <p:nvPr/>
          </p:nvSpPr>
          <p:spPr bwMode="auto">
            <a:xfrm>
              <a:off x="1369859" y="2203447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8" name="Rectangle 127"/>
            <p:cNvSpPr>
              <a:spLocks noChangeAspect="1"/>
            </p:cNvSpPr>
            <p:nvPr/>
          </p:nvSpPr>
          <p:spPr bwMode="auto">
            <a:xfrm>
              <a:off x="1009637" y="1843071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9" name="Rectangle 128"/>
            <p:cNvSpPr>
              <a:spLocks noChangeAspect="1"/>
            </p:cNvSpPr>
            <p:nvPr/>
          </p:nvSpPr>
          <p:spPr bwMode="auto">
            <a:xfrm>
              <a:off x="1369859" y="1843071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0" name="Rectangle 129"/>
            <p:cNvSpPr>
              <a:spLocks noChangeAspect="1"/>
            </p:cNvSpPr>
            <p:nvPr/>
          </p:nvSpPr>
          <p:spPr bwMode="auto">
            <a:xfrm>
              <a:off x="-72617" y="2209797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1" name="Rectangle 130"/>
            <p:cNvSpPr>
              <a:spLocks noChangeAspect="1"/>
            </p:cNvSpPr>
            <p:nvPr/>
          </p:nvSpPr>
          <p:spPr bwMode="auto">
            <a:xfrm>
              <a:off x="287606" y="2209797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2" name="Rectangle 131"/>
            <p:cNvSpPr>
              <a:spLocks noChangeAspect="1"/>
            </p:cNvSpPr>
            <p:nvPr/>
          </p:nvSpPr>
          <p:spPr bwMode="auto">
            <a:xfrm>
              <a:off x="-72617" y="1849422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3" name="Rectangle 132"/>
            <p:cNvSpPr>
              <a:spLocks noChangeAspect="1"/>
            </p:cNvSpPr>
            <p:nvPr/>
          </p:nvSpPr>
          <p:spPr bwMode="auto">
            <a:xfrm>
              <a:off x="287606" y="1849422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4" name="Rectangle 133"/>
            <p:cNvSpPr>
              <a:spLocks noChangeAspect="1"/>
            </p:cNvSpPr>
            <p:nvPr/>
          </p:nvSpPr>
          <p:spPr bwMode="auto">
            <a:xfrm>
              <a:off x="-72617" y="2928963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5" name="Rectangle 134"/>
            <p:cNvSpPr>
              <a:spLocks noChangeAspect="1"/>
            </p:cNvSpPr>
            <p:nvPr/>
          </p:nvSpPr>
          <p:spPr bwMode="auto">
            <a:xfrm>
              <a:off x="287606" y="2928963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6" name="Rectangle 135"/>
            <p:cNvSpPr>
              <a:spLocks noChangeAspect="1"/>
            </p:cNvSpPr>
            <p:nvPr/>
          </p:nvSpPr>
          <p:spPr bwMode="auto">
            <a:xfrm>
              <a:off x="-72617" y="2568586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7" name="Rectangle 136"/>
            <p:cNvSpPr>
              <a:spLocks noChangeAspect="1"/>
            </p:cNvSpPr>
            <p:nvPr/>
          </p:nvSpPr>
          <p:spPr bwMode="auto">
            <a:xfrm>
              <a:off x="287606" y="2568586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8" name="Rectangle 137"/>
            <p:cNvSpPr>
              <a:spLocks noChangeAspect="1"/>
            </p:cNvSpPr>
            <p:nvPr/>
          </p:nvSpPr>
          <p:spPr bwMode="auto">
            <a:xfrm>
              <a:off x="649415" y="2922613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9" name="Rectangle 138"/>
            <p:cNvSpPr>
              <a:spLocks noChangeAspect="1"/>
            </p:cNvSpPr>
            <p:nvPr/>
          </p:nvSpPr>
          <p:spPr bwMode="auto">
            <a:xfrm>
              <a:off x="649415" y="2563824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0" name="Rectangle 139"/>
            <p:cNvSpPr>
              <a:spLocks noChangeAspect="1"/>
            </p:cNvSpPr>
            <p:nvPr/>
          </p:nvSpPr>
          <p:spPr bwMode="auto">
            <a:xfrm>
              <a:off x="649415" y="2203447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1" name="Rectangle 140"/>
            <p:cNvSpPr>
              <a:spLocks noChangeAspect="1"/>
            </p:cNvSpPr>
            <p:nvPr/>
          </p:nvSpPr>
          <p:spPr bwMode="auto">
            <a:xfrm>
              <a:off x="649415" y="1843071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2" name="Rectangle 141"/>
            <p:cNvSpPr>
              <a:spLocks noChangeAspect="1"/>
            </p:cNvSpPr>
            <p:nvPr/>
          </p:nvSpPr>
          <p:spPr bwMode="auto">
            <a:xfrm>
              <a:off x="1009637" y="3282989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3" name="Rectangle 142"/>
            <p:cNvSpPr>
              <a:spLocks noChangeAspect="1"/>
            </p:cNvSpPr>
            <p:nvPr/>
          </p:nvSpPr>
          <p:spPr bwMode="auto">
            <a:xfrm>
              <a:off x="1369859" y="3282989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4" name="Rectangle 143"/>
            <p:cNvSpPr>
              <a:spLocks noChangeAspect="1"/>
            </p:cNvSpPr>
            <p:nvPr/>
          </p:nvSpPr>
          <p:spPr bwMode="auto">
            <a:xfrm>
              <a:off x="-72617" y="3289339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5" name="Rectangle 144"/>
            <p:cNvSpPr>
              <a:spLocks noChangeAspect="1"/>
            </p:cNvSpPr>
            <p:nvPr/>
          </p:nvSpPr>
          <p:spPr bwMode="auto">
            <a:xfrm>
              <a:off x="287606" y="3289339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6" name="Rectangle 145"/>
            <p:cNvSpPr>
              <a:spLocks noChangeAspect="1"/>
            </p:cNvSpPr>
            <p:nvPr/>
          </p:nvSpPr>
          <p:spPr bwMode="auto">
            <a:xfrm>
              <a:off x="649415" y="3282989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147" name="Straight Arrow Connector 146"/>
            <p:cNvCxnSpPr/>
            <p:nvPr/>
          </p:nvCxnSpPr>
          <p:spPr>
            <a:xfrm rot="5400000" flipH="1" flipV="1">
              <a:off x="-359481" y="2636058"/>
              <a:ext cx="2016203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/>
            <p:cNvCxnSpPr/>
            <p:nvPr/>
          </p:nvCxnSpPr>
          <p:spPr>
            <a:xfrm flipV="1">
              <a:off x="-72617" y="2922613"/>
              <a:ext cx="2088337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 rot="16200000" flipV="1">
              <a:off x="558170" y="1751825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 rot="16200000" flipV="1">
              <a:off x="558170" y="2113789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 rot="16200000" flipV="1">
              <a:off x="558170" y="2472578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 rot="16200000" flipV="1">
              <a:off x="558170" y="2831367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 rot="16200000" flipV="1">
              <a:off x="558170" y="3191742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 rot="16200000" flipV="1">
              <a:off x="558170" y="3552119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258"/>
            <p:cNvSpPr txBox="1">
              <a:spLocks noChangeArrowheads="1"/>
            </p:cNvSpPr>
            <p:nvPr/>
          </p:nvSpPr>
          <p:spPr bwMode="auto">
            <a:xfrm>
              <a:off x="35370" y="34290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156" name="TextBox 259"/>
            <p:cNvSpPr txBox="1">
              <a:spLocks noChangeArrowheads="1"/>
            </p:cNvSpPr>
            <p:nvPr/>
          </p:nvSpPr>
          <p:spPr bwMode="auto">
            <a:xfrm>
              <a:off x="35370" y="30689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157" name="TextBox 260"/>
            <p:cNvSpPr txBox="1">
              <a:spLocks noChangeArrowheads="1"/>
            </p:cNvSpPr>
            <p:nvPr/>
          </p:nvSpPr>
          <p:spPr bwMode="auto">
            <a:xfrm>
              <a:off x="35370" y="23488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8" name="TextBox 261"/>
            <p:cNvSpPr txBox="1">
              <a:spLocks noChangeArrowheads="1"/>
            </p:cNvSpPr>
            <p:nvPr/>
          </p:nvSpPr>
          <p:spPr bwMode="auto">
            <a:xfrm>
              <a:off x="35370" y="19888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9" name="TextBox 262"/>
            <p:cNvSpPr txBox="1">
              <a:spLocks noChangeArrowheads="1"/>
            </p:cNvSpPr>
            <p:nvPr/>
          </p:nvSpPr>
          <p:spPr bwMode="auto">
            <a:xfrm>
              <a:off x="35370" y="16287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60" name="Straight Connector 159"/>
            <p:cNvCxnSpPr/>
            <p:nvPr/>
          </p:nvCxnSpPr>
          <p:spPr>
            <a:xfrm rot="5400000" flipH="1" flipV="1">
              <a:off x="184419" y="3006754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 rot="5400000" flipH="1" flipV="1">
              <a:off x="543055" y="3006754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 rot="5400000" flipH="1" flipV="1">
              <a:off x="901690" y="3006754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>
            <a:xfrm rot="5400000" flipH="1" flipV="1">
              <a:off x="1261912" y="3006754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 rot="5400000" flipH="1" flipV="1">
              <a:off x="1623721" y="3005166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268"/>
            <p:cNvSpPr txBox="1">
              <a:spLocks noChangeArrowheads="1"/>
            </p:cNvSpPr>
            <p:nvPr/>
          </p:nvSpPr>
          <p:spPr bwMode="auto">
            <a:xfrm>
              <a:off x="-339213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166" name="TextBox 269"/>
            <p:cNvSpPr txBox="1">
              <a:spLocks noChangeArrowheads="1"/>
            </p:cNvSpPr>
            <p:nvPr/>
          </p:nvSpPr>
          <p:spPr bwMode="auto">
            <a:xfrm>
              <a:off x="4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167" name="TextBox 270"/>
            <p:cNvSpPr txBox="1">
              <a:spLocks noChangeArrowheads="1"/>
            </p:cNvSpPr>
            <p:nvPr/>
          </p:nvSpPr>
          <p:spPr bwMode="auto">
            <a:xfrm>
              <a:off x="40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endParaRPr lang="en-US" altLang="x-none" sz="2000">
                <a:solidFill>
                  <a:schemeClr val="tx1"/>
                </a:solidFill>
              </a:endParaRPr>
            </a:p>
          </p:txBody>
        </p:sp>
        <p:sp>
          <p:nvSpPr>
            <p:cNvPr id="168" name="TextBox 271"/>
            <p:cNvSpPr txBox="1">
              <a:spLocks noChangeArrowheads="1"/>
            </p:cNvSpPr>
            <p:nvPr/>
          </p:nvSpPr>
          <p:spPr bwMode="auto">
            <a:xfrm>
              <a:off x="76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9" name="TextBox 272"/>
            <p:cNvSpPr txBox="1">
              <a:spLocks noChangeArrowheads="1"/>
            </p:cNvSpPr>
            <p:nvPr/>
          </p:nvSpPr>
          <p:spPr bwMode="auto">
            <a:xfrm>
              <a:off x="1119260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0" name="TextBox 273"/>
            <p:cNvSpPr txBox="1">
              <a:spLocks noChangeArrowheads="1"/>
            </p:cNvSpPr>
            <p:nvPr/>
          </p:nvSpPr>
          <p:spPr bwMode="auto">
            <a:xfrm>
              <a:off x="1460987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71" name="Straight Connector 170"/>
            <p:cNvCxnSpPr/>
            <p:nvPr/>
          </p:nvCxnSpPr>
          <p:spPr>
            <a:xfrm rot="5400000" flipH="1" flipV="1">
              <a:off x="-177390" y="3006754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2" name="Straight Connector 171"/>
          <p:cNvCxnSpPr/>
          <p:nvPr/>
        </p:nvCxnSpPr>
        <p:spPr>
          <a:xfrm flipV="1">
            <a:off x="7745414" y="2332297"/>
            <a:ext cx="685800" cy="17843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2352" y="1543601"/>
            <a:ext cx="15918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400" u="sng" dirty="0">
                <a:solidFill>
                  <a:srgbClr val="FF0000"/>
                </a:solidFill>
              </a:rPr>
              <a:t>Y- Intercept:</a:t>
            </a:r>
            <a:endParaRPr lang="en-GB" sz="2400" dirty="0"/>
          </a:p>
          <a:p>
            <a:pPr>
              <a:buClr>
                <a:schemeClr val="accent1">
                  <a:lumMod val="75000"/>
                </a:schemeClr>
              </a:buClr>
              <a:defRPr/>
            </a:pPr>
            <a:r>
              <a:rPr lang="en-GB" sz="2400" dirty="0"/>
              <a:t>C stands for the Intercept</a:t>
            </a:r>
          </a:p>
        </p:txBody>
      </p:sp>
    </p:spTree>
    <p:extLst>
      <p:ext uri="{BB962C8B-B14F-4D97-AF65-F5344CB8AC3E}">
        <p14:creationId xmlns:p14="http://schemas.microsoft.com/office/powerpoint/2010/main" val="22674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36663" y="1597651"/>
            <a:ext cx="8713787" cy="6084888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  <a:defRPr/>
            </a:pPr>
            <a:r>
              <a:rPr lang="en-GB" u="sng" smtClean="0">
                <a:solidFill>
                  <a:srgbClr val="FF0000"/>
                </a:solidFill>
              </a:rPr>
              <a:t>Example:</a:t>
            </a:r>
            <a:endParaRPr lang="en-GB" sz="2000" smtClean="0"/>
          </a:p>
          <a:p>
            <a:pPr marL="0" indent="0">
              <a:buClr>
                <a:schemeClr val="accent1">
                  <a:lumMod val="75000"/>
                </a:schemeClr>
              </a:buClr>
              <a:buFont typeface="Arial" charset="0"/>
              <a:buNone/>
              <a:defRPr/>
            </a:pPr>
            <a:r>
              <a:rPr lang="en-GB" sz="2000" dirty="0" smtClean="0"/>
              <a:t>Find the Gradient and y intercept of these linear functions.</a:t>
            </a:r>
          </a:p>
          <a:p>
            <a:pPr marL="0" indent="0">
              <a:buClr>
                <a:schemeClr val="accent1">
                  <a:lumMod val="75000"/>
                </a:schemeClr>
              </a:buClr>
              <a:buFont typeface="Arial" charset="0"/>
              <a:buNone/>
              <a:defRPr/>
            </a:pPr>
            <a:endParaRPr lang="en-GB" sz="2000" dirty="0" smtClean="0"/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Arial" charset="0"/>
              <a:buAutoNum type="alphaLcParenR"/>
              <a:defRPr/>
            </a:pPr>
            <a:r>
              <a:rPr lang="en-GB" sz="2000" dirty="0" smtClean="0"/>
              <a:t>y =3x – 4</a:t>
            </a: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Arial" charset="0"/>
              <a:buAutoNum type="alphaLcParenR"/>
              <a:defRPr/>
            </a:pPr>
            <a:endParaRPr lang="en-GB" sz="2000" dirty="0" smtClean="0"/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Arial" charset="0"/>
              <a:buAutoNum type="alphaLcParenR"/>
              <a:defRPr/>
            </a:pPr>
            <a:endParaRPr lang="en-GB" sz="2000" dirty="0" smtClean="0"/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Arial" charset="0"/>
              <a:buAutoNum type="alphaLcParenR"/>
              <a:defRPr/>
            </a:pPr>
            <a:r>
              <a:rPr lang="en-GB" sz="2000" dirty="0" smtClean="0"/>
              <a:t>y = ½x + 5</a:t>
            </a:r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</p:txBody>
      </p:sp>
      <p:sp>
        <p:nvSpPr>
          <p:cNvPr id="15" name="Rectangle 14"/>
          <p:cNvSpPr/>
          <p:nvPr/>
        </p:nvSpPr>
        <p:spPr>
          <a:xfrm>
            <a:off x="3036888" y="2713664"/>
            <a:ext cx="2057400" cy="7207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2000" dirty="0"/>
              <a:t>Gradient</a:t>
            </a:r>
          </a:p>
          <a:p>
            <a:pPr algn="ctr">
              <a:defRPr/>
            </a:pPr>
            <a:r>
              <a:rPr lang="en-GB" sz="2000" dirty="0"/>
              <a:t>= </a:t>
            </a:r>
            <a:r>
              <a:rPr lang="en-GB" sz="2000" dirty="0" smtClean="0"/>
              <a:t>3</a:t>
            </a:r>
            <a:endParaRPr lang="en-GB" sz="2000" dirty="0"/>
          </a:p>
        </p:txBody>
      </p:sp>
      <p:sp>
        <p:nvSpPr>
          <p:cNvPr id="16" name="Rectangle 15"/>
          <p:cNvSpPr/>
          <p:nvPr/>
        </p:nvSpPr>
        <p:spPr>
          <a:xfrm>
            <a:off x="5195888" y="2713664"/>
            <a:ext cx="2057400" cy="7207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2000" dirty="0"/>
              <a:t>Y-intercept</a:t>
            </a:r>
          </a:p>
          <a:p>
            <a:pPr algn="ctr">
              <a:defRPr/>
            </a:pPr>
            <a:r>
              <a:rPr lang="en-GB" sz="2000" dirty="0"/>
              <a:t>= </a:t>
            </a:r>
            <a:r>
              <a:rPr lang="en-GB" sz="2000" dirty="0" smtClean="0"/>
              <a:t>-4</a:t>
            </a:r>
            <a:endParaRPr lang="en-GB" sz="2000" dirty="0"/>
          </a:p>
        </p:txBody>
      </p:sp>
      <p:sp>
        <p:nvSpPr>
          <p:cNvPr id="17" name="Rectangle 16"/>
          <p:cNvSpPr/>
          <p:nvPr/>
        </p:nvSpPr>
        <p:spPr>
          <a:xfrm>
            <a:off x="3036888" y="3794751"/>
            <a:ext cx="2057400" cy="7191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2000" dirty="0"/>
              <a:t>Gradient</a:t>
            </a:r>
          </a:p>
          <a:p>
            <a:pPr algn="ctr">
              <a:defRPr/>
            </a:pPr>
            <a:r>
              <a:rPr lang="en-GB" sz="2000" dirty="0"/>
              <a:t>= ½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5888" y="3794751"/>
            <a:ext cx="2057400" cy="7191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2000" dirty="0"/>
              <a:t>Y-intercept</a:t>
            </a:r>
          </a:p>
          <a:p>
            <a:pPr algn="ctr">
              <a:defRPr/>
            </a:pPr>
            <a:r>
              <a:rPr lang="en-GB" sz="2000" dirty="0"/>
              <a:t>= 5</a:t>
            </a:r>
          </a:p>
        </p:txBody>
      </p:sp>
      <p:grpSp>
        <p:nvGrpSpPr>
          <p:cNvPr id="19" name="Group 16"/>
          <p:cNvGrpSpPr>
            <a:grpSpLocks/>
          </p:cNvGrpSpPr>
          <p:nvPr/>
        </p:nvGrpSpPr>
        <p:grpSpPr bwMode="auto">
          <a:xfrm rot="-934487">
            <a:off x="6202363" y="5513388"/>
            <a:ext cx="2971800" cy="990600"/>
            <a:chOff x="1944" y="1113"/>
            <a:chExt cx="1872" cy="624"/>
          </a:xfrm>
        </p:grpSpPr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1944" y="1113"/>
              <a:ext cx="1872" cy="6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GB" sz="2000"/>
            </a:p>
          </p:txBody>
        </p:sp>
        <p:sp>
          <p:nvSpPr>
            <p:cNvPr id="21" name="Text Box 9"/>
            <p:cNvSpPr txBox="1">
              <a:spLocks noChangeArrowheads="1"/>
            </p:cNvSpPr>
            <p:nvPr/>
          </p:nvSpPr>
          <p:spPr bwMode="auto">
            <a:xfrm>
              <a:off x="2154" y="1193"/>
              <a:ext cx="1450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GB" sz="3600" i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y</a:t>
              </a:r>
              <a:r>
                <a:rPr lang="en-GB" sz="36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= </a:t>
              </a:r>
              <a:r>
                <a:rPr lang="en-GB" sz="3600" i="1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mx</a:t>
              </a:r>
              <a:r>
                <a:rPr lang="en-GB" sz="36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+ </a:t>
              </a:r>
              <a:r>
                <a:rPr lang="en-GB" sz="3600" i="1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</a:t>
            </a:r>
            <a:r>
              <a:rPr lang="en-AU" sz="2400" dirty="0" smtClean="0"/>
              <a:t> </a:t>
            </a:r>
            <a:r>
              <a:rPr lang="en-AU" sz="2400" dirty="0" smtClean="0"/>
              <a:t>gradient </a:t>
            </a:r>
            <a:r>
              <a:rPr lang="en-AU" sz="2400" dirty="0" smtClean="0"/>
              <a:t>and y-intercepts and </a:t>
            </a:r>
            <a:r>
              <a:rPr lang="en-AU" sz="2400" dirty="0" smtClean="0"/>
              <a:t>how do we </a:t>
            </a:r>
            <a:r>
              <a:rPr lang="en-AU" sz="2400" smtClean="0"/>
              <a:t>measure </a:t>
            </a:r>
            <a:r>
              <a:rPr lang="en-AU" sz="2400" smtClean="0"/>
              <a:t>them</a:t>
            </a:r>
            <a:r>
              <a:rPr lang="en-AU" sz="240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30732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41" name="Content Placeholder 2"/>
          <p:cNvSpPr txBox="1">
            <a:spLocks/>
          </p:cNvSpPr>
          <p:nvPr/>
        </p:nvSpPr>
        <p:spPr>
          <a:xfrm>
            <a:off x="900857" y="1573484"/>
            <a:ext cx="8918575" cy="563149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>
                  <a:lumMod val="75000"/>
                </a:schemeClr>
              </a:buClr>
              <a:buFont typeface="Arial" charset="0"/>
              <a:buNone/>
              <a:defRPr/>
            </a:pPr>
            <a:r>
              <a:rPr lang="en-GB" sz="2400" dirty="0" smtClean="0"/>
              <a:t>Find the Gradient and y intercept of these lines.</a:t>
            </a:r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</p:txBody>
      </p:sp>
      <p:cxnSp>
        <p:nvCxnSpPr>
          <p:cNvPr id="142" name="Straight Connector 141"/>
          <p:cNvCxnSpPr/>
          <p:nvPr/>
        </p:nvCxnSpPr>
        <p:spPr>
          <a:xfrm rot="5400000" flipH="1" flipV="1">
            <a:off x="1011188" y="4219690"/>
            <a:ext cx="1630362" cy="16065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Group 314"/>
          <p:cNvGrpSpPr>
            <a:grpSpLocks/>
          </p:cNvGrpSpPr>
          <p:nvPr/>
        </p:nvGrpSpPr>
        <p:grpSpPr bwMode="auto">
          <a:xfrm>
            <a:off x="756394" y="2044021"/>
            <a:ext cx="3457575" cy="4152900"/>
            <a:chOff x="35370" y="1956561"/>
            <a:chExt cx="3456480" cy="4152923"/>
          </a:xfrm>
        </p:grpSpPr>
        <p:sp>
          <p:nvSpPr>
            <p:cNvPr id="144" name="Rectangle 143"/>
            <p:cNvSpPr>
              <a:spLocks noChangeAspect="1"/>
            </p:cNvSpPr>
            <p:nvPr/>
          </p:nvSpPr>
          <p:spPr bwMode="auto">
            <a:xfrm>
              <a:off x="1384318" y="5733245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5" name="Rectangle 144"/>
            <p:cNvSpPr>
              <a:spLocks noChangeAspect="1"/>
            </p:cNvSpPr>
            <p:nvPr/>
          </p:nvSpPr>
          <p:spPr bwMode="auto">
            <a:xfrm>
              <a:off x="1744567" y="5733245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6" name="Rectangle 145"/>
            <p:cNvSpPr>
              <a:spLocks noChangeAspect="1"/>
            </p:cNvSpPr>
            <p:nvPr/>
          </p:nvSpPr>
          <p:spPr bwMode="auto">
            <a:xfrm>
              <a:off x="1384318" y="5372880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7" name="Rectangle 146"/>
            <p:cNvSpPr>
              <a:spLocks noChangeAspect="1"/>
            </p:cNvSpPr>
            <p:nvPr/>
          </p:nvSpPr>
          <p:spPr bwMode="auto">
            <a:xfrm>
              <a:off x="1744567" y="5372880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8" name="Rectangle 147"/>
            <p:cNvSpPr>
              <a:spLocks noChangeAspect="1"/>
            </p:cNvSpPr>
            <p:nvPr/>
          </p:nvSpPr>
          <p:spPr bwMode="auto">
            <a:xfrm>
              <a:off x="1384318" y="5029978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9" name="Rectangle 148"/>
            <p:cNvSpPr>
              <a:spLocks noChangeAspect="1"/>
            </p:cNvSpPr>
            <p:nvPr/>
          </p:nvSpPr>
          <p:spPr bwMode="auto">
            <a:xfrm>
              <a:off x="1744567" y="5029978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0" name="Rectangle 149"/>
            <p:cNvSpPr>
              <a:spLocks noChangeAspect="1"/>
            </p:cNvSpPr>
            <p:nvPr/>
          </p:nvSpPr>
          <p:spPr bwMode="auto">
            <a:xfrm>
              <a:off x="1024070" y="5733245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1" name="Rectangle 150"/>
            <p:cNvSpPr>
              <a:spLocks noChangeAspect="1"/>
            </p:cNvSpPr>
            <p:nvPr/>
          </p:nvSpPr>
          <p:spPr bwMode="auto">
            <a:xfrm>
              <a:off x="1024070" y="5372880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2" name="Rectangle 151"/>
            <p:cNvSpPr>
              <a:spLocks noChangeAspect="1"/>
            </p:cNvSpPr>
            <p:nvPr/>
          </p:nvSpPr>
          <p:spPr bwMode="auto">
            <a:xfrm>
              <a:off x="1024070" y="5029978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3" name="Rectangle 152"/>
            <p:cNvSpPr>
              <a:spLocks noChangeAspect="1"/>
            </p:cNvSpPr>
            <p:nvPr/>
          </p:nvSpPr>
          <p:spPr bwMode="auto">
            <a:xfrm>
              <a:off x="1382731" y="2877316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4" name="Rectangle 153"/>
            <p:cNvSpPr>
              <a:spLocks noChangeAspect="1"/>
            </p:cNvSpPr>
            <p:nvPr/>
          </p:nvSpPr>
          <p:spPr bwMode="auto">
            <a:xfrm>
              <a:off x="1742979" y="2877316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5" name="Rectangle 154"/>
            <p:cNvSpPr>
              <a:spLocks noChangeAspect="1"/>
            </p:cNvSpPr>
            <p:nvPr/>
          </p:nvSpPr>
          <p:spPr bwMode="auto">
            <a:xfrm>
              <a:off x="1382731" y="2516952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6" name="Rectangle 155"/>
            <p:cNvSpPr>
              <a:spLocks noChangeAspect="1"/>
            </p:cNvSpPr>
            <p:nvPr/>
          </p:nvSpPr>
          <p:spPr bwMode="auto">
            <a:xfrm>
              <a:off x="1742979" y="2516952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7" name="Rectangle 156"/>
            <p:cNvSpPr>
              <a:spLocks noChangeAspect="1"/>
            </p:cNvSpPr>
            <p:nvPr/>
          </p:nvSpPr>
          <p:spPr bwMode="auto">
            <a:xfrm>
              <a:off x="1382731" y="2156587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8" name="Rectangle 157"/>
            <p:cNvSpPr>
              <a:spLocks noChangeAspect="1"/>
            </p:cNvSpPr>
            <p:nvPr/>
          </p:nvSpPr>
          <p:spPr bwMode="auto">
            <a:xfrm>
              <a:off x="1742979" y="2156587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9" name="Rectangle 158"/>
            <p:cNvSpPr>
              <a:spLocks noChangeAspect="1"/>
            </p:cNvSpPr>
            <p:nvPr/>
          </p:nvSpPr>
          <p:spPr bwMode="auto">
            <a:xfrm>
              <a:off x="1022482" y="2877316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0" name="Rectangle 159"/>
            <p:cNvSpPr>
              <a:spLocks noChangeAspect="1"/>
            </p:cNvSpPr>
            <p:nvPr/>
          </p:nvSpPr>
          <p:spPr bwMode="auto">
            <a:xfrm>
              <a:off x="1022482" y="2516952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1" name="Rectangle 160"/>
            <p:cNvSpPr>
              <a:spLocks noChangeAspect="1"/>
            </p:cNvSpPr>
            <p:nvPr/>
          </p:nvSpPr>
          <p:spPr bwMode="auto">
            <a:xfrm>
              <a:off x="1022482" y="2156587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2" name="Rectangle 161"/>
            <p:cNvSpPr>
              <a:spLocks noChangeAspect="1"/>
            </p:cNvSpPr>
            <p:nvPr/>
          </p:nvSpPr>
          <p:spPr bwMode="auto">
            <a:xfrm>
              <a:off x="2463476" y="2877316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3" name="Rectangle 162"/>
            <p:cNvSpPr>
              <a:spLocks noChangeAspect="1"/>
            </p:cNvSpPr>
            <p:nvPr/>
          </p:nvSpPr>
          <p:spPr bwMode="auto">
            <a:xfrm>
              <a:off x="2823725" y="2877316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4" name="Rectangle 163"/>
            <p:cNvSpPr>
              <a:spLocks noChangeAspect="1"/>
            </p:cNvSpPr>
            <p:nvPr/>
          </p:nvSpPr>
          <p:spPr bwMode="auto">
            <a:xfrm>
              <a:off x="2463476" y="2516952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5" name="Rectangle 164"/>
            <p:cNvSpPr>
              <a:spLocks noChangeAspect="1"/>
            </p:cNvSpPr>
            <p:nvPr/>
          </p:nvSpPr>
          <p:spPr bwMode="auto">
            <a:xfrm>
              <a:off x="2823725" y="2516952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6" name="Rectangle 165"/>
            <p:cNvSpPr>
              <a:spLocks noChangeAspect="1"/>
            </p:cNvSpPr>
            <p:nvPr/>
          </p:nvSpPr>
          <p:spPr bwMode="auto">
            <a:xfrm>
              <a:off x="2463476" y="2156587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7" name="Rectangle 166"/>
            <p:cNvSpPr>
              <a:spLocks noChangeAspect="1"/>
            </p:cNvSpPr>
            <p:nvPr/>
          </p:nvSpPr>
          <p:spPr bwMode="auto">
            <a:xfrm>
              <a:off x="2823725" y="2156587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8" name="Rectangle 167"/>
            <p:cNvSpPr>
              <a:spLocks noChangeAspect="1"/>
            </p:cNvSpPr>
            <p:nvPr/>
          </p:nvSpPr>
          <p:spPr bwMode="auto">
            <a:xfrm>
              <a:off x="2103228" y="2877316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9" name="Rectangle 168"/>
            <p:cNvSpPr>
              <a:spLocks noChangeAspect="1"/>
            </p:cNvSpPr>
            <p:nvPr/>
          </p:nvSpPr>
          <p:spPr bwMode="auto">
            <a:xfrm>
              <a:off x="2103228" y="2516952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0" name="Rectangle 169"/>
            <p:cNvSpPr>
              <a:spLocks noChangeAspect="1"/>
            </p:cNvSpPr>
            <p:nvPr/>
          </p:nvSpPr>
          <p:spPr bwMode="auto">
            <a:xfrm>
              <a:off x="2103228" y="2156587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1" name="Rectangle 170"/>
            <p:cNvSpPr>
              <a:spLocks noChangeAspect="1"/>
            </p:cNvSpPr>
            <p:nvPr/>
          </p:nvSpPr>
          <p:spPr bwMode="auto">
            <a:xfrm>
              <a:off x="2463476" y="3950472"/>
              <a:ext cx="361835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2" name="Rectangle 171"/>
            <p:cNvSpPr>
              <a:spLocks noChangeAspect="1"/>
            </p:cNvSpPr>
            <p:nvPr/>
          </p:nvSpPr>
          <p:spPr bwMode="auto">
            <a:xfrm>
              <a:off x="2825311" y="3950472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3" name="Rectangle 172"/>
            <p:cNvSpPr>
              <a:spLocks noChangeAspect="1"/>
            </p:cNvSpPr>
            <p:nvPr/>
          </p:nvSpPr>
          <p:spPr bwMode="auto">
            <a:xfrm>
              <a:off x="2463476" y="3590108"/>
              <a:ext cx="361835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4" name="Rectangle 173"/>
            <p:cNvSpPr>
              <a:spLocks noChangeAspect="1"/>
            </p:cNvSpPr>
            <p:nvPr/>
          </p:nvSpPr>
          <p:spPr bwMode="auto">
            <a:xfrm>
              <a:off x="2825311" y="3590108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5" name="Rectangle 174"/>
            <p:cNvSpPr>
              <a:spLocks noChangeAspect="1"/>
            </p:cNvSpPr>
            <p:nvPr/>
          </p:nvSpPr>
          <p:spPr bwMode="auto">
            <a:xfrm>
              <a:off x="2463476" y="3229743"/>
              <a:ext cx="361835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6" name="Rectangle 175"/>
            <p:cNvSpPr>
              <a:spLocks noChangeAspect="1"/>
            </p:cNvSpPr>
            <p:nvPr/>
          </p:nvSpPr>
          <p:spPr bwMode="auto">
            <a:xfrm>
              <a:off x="2825311" y="3229743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7" name="Rectangle 176"/>
            <p:cNvSpPr>
              <a:spLocks noChangeAspect="1"/>
            </p:cNvSpPr>
            <p:nvPr/>
          </p:nvSpPr>
          <p:spPr bwMode="auto">
            <a:xfrm>
              <a:off x="2103228" y="3950472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8" name="Rectangle 177"/>
            <p:cNvSpPr>
              <a:spLocks noChangeAspect="1"/>
            </p:cNvSpPr>
            <p:nvPr/>
          </p:nvSpPr>
          <p:spPr bwMode="auto">
            <a:xfrm>
              <a:off x="2103228" y="3590108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9" name="Rectangle 178"/>
            <p:cNvSpPr>
              <a:spLocks noChangeAspect="1"/>
            </p:cNvSpPr>
            <p:nvPr/>
          </p:nvSpPr>
          <p:spPr bwMode="auto">
            <a:xfrm>
              <a:off x="2103228" y="3229743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0" name="Rectangle 179"/>
            <p:cNvSpPr>
              <a:spLocks noChangeAspect="1"/>
            </p:cNvSpPr>
            <p:nvPr/>
          </p:nvSpPr>
          <p:spPr bwMode="auto">
            <a:xfrm>
              <a:off x="2463476" y="5022041"/>
              <a:ext cx="361835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1" name="Rectangle 180"/>
            <p:cNvSpPr>
              <a:spLocks noChangeAspect="1"/>
            </p:cNvSpPr>
            <p:nvPr/>
          </p:nvSpPr>
          <p:spPr bwMode="auto">
            <a:xfrm>
              <a:off x="2825311" y="5022041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2" name="Rectangle 181"/>
            <p:cNvSpPr>
              <a:spLocks noChangeAspect="1"/>
            </p:cNvSpPr>
            <p:nvPr/>
          </p:nvSpPr>
          <p:spPr bwMode="auto">
            <a:xfrm>
              <a:off x="2463476" y="4661676"/>
              <a:ext cx="361835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3" name="Rectangle 182"/>
            <p:cNvSpPr>
              <a:spLocks noChangeAspect="1"/>
            </p:cNvSpPr>
            <p:nvPr/>
          </p:nvSpPr>
          <p:spPr bwMode="auto">
            <a:xfrm>
              <a:off x="2825311" y="4661676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4" name="Rectangle 183"/>
            <p:cNvSpPr>
              <a:spLocks noChangeAspect="1"/>
            </p:cNvSpPr>
            <p:nvPr/>
          </p:nvSpPr>
          <p:spPr bwMode="auto">
            <a:xfrm>
              <a:off x="2463476" y="4301312"/>
              <a:ext cx="361835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5" name="Rectangle 184"/>
            <p:cNvSpPr>
              <a:spLocks noChangeAspect="1"/>
            </p:cNvSpPr>
            <p:nvPr/>
          </p:nvSpPr>
          <p:spPr bwMode="auto">
            <a:xfrm>
              <a:off x="2825311" y="4301312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6" name="Rectangle 185"/>
            <p:cNvSpPr>
              <a:spLocks noChangeAspect="1"/>
            </p:cNvSpPr>
            <p:nvPr/>
          </p:nvSpPr>
          <p:spPr bwMode="auto">
            <a:xfrm>
              <a:off x="2103228" y="5022041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7" name="Rectangle 186"/>
            <p:cNvSpPr>
              <a:spLocks noChangeAspect="1"/>
            </p:cNvSpPr>
            <p:nvPr/>
          </p:nvSpPr>
          <p:spPr bwMode="auto">
            <a:xfrm>
              <a:off x="2103228" y="4661676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8" name="Rectangle 187"/>
            <p:cNvSpPr>
              <a:spLocks noChangeAspect="1"/>
            </p:cNvSpPr>
            <p:nvPr/>
          </p:nvSpPr>
          <p:spPr bwMode="auto">
            <a:xfrm>
              <a:off x="2103228" y="4301312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9" name="Rectangle 188"/>
            <p:cNvSpPr>
              <a:spLocks noChangeAspect="1"/>
            </p:cNvSpPr>
            <p:nvPr/>
          </p:nvSpPr>
          <p:spPr bwMode="auto">
            <a:xfrm>
              <a:off x="2463476" y="5733245"/>
              <a:ext cx="361835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0" name="Rectangle 189"/>
            <p:cNvSpPr>
              <a:spLocks noChangeAspect="1"/>
            </p:cNvSpPr>
            <p:nvPr/>
          </p:nvSpPr>
          <p:spPr bwMode="auto">
            <a:xfrm>
              <a:off x="2825311" y="5733245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1" name="Rectangle 190"/>
            <p:cNvSpPr>
              <a:spLocks noChangeAspect="1"/>
            </p:cNvSpPr>
            <p:nvPr/>
          </p:nvSpPr>
          <p:spPr bwMode="auto">
            <a:xfrm>
              <a:off x="2463476" y="5372880"/>
              <a:ext cx="361835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2" name="Rectangle 191"/>
            <p:cNvSpPr>
              <a:spLocks noChangeAspect="1"/>
            </p:cNvSpPr>
            <p:nvPr/>
          </p:nvSpPr>
          <p:spPr bwMode="auto">
            <a:xfrm>
              <a:off x="2825311" y="5372880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3" name="Rectangle 192"/>
            <p:cNvSpPr>
              <a:spLocks noChangeAspect="1"/>
            </p:cNvSpPr>
            <p:nvPr/>
          </p:nvSpPr>
          <p:spPr bwMode="auto">
            <a:xfrm>
              <a:off x="2103228" y="5733245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4" name="Rectangle 193"/>
            <p:cNvSpPr>
              <a:spLocks noChangeAspect="1"/>
            </p:cNvSpPr>
            <p:nvPr/>
          </p:nvSpPr>
          <p:spPr bwMode="auto">
            <a:xfrm>
              <a:off x="2103228" y="5372880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5" name="Rectangle 194"/>
            <p:cNvSpPr>
              <a:spLocks noChangeAspect="1"/>
            </p:cNvSpPr>
            <p:nvPr/>
          </p:nvSpPr>
          <p:spPr bwMode="auto">
            <a:xfrm>
              <a:off x="303573" y="2877316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6" name="Rectangle 195"/>
            <p:cNvSpPr>
              <a:spLocks noChangeAspect="1"/>
            </p:cNvSpPr>
            <p:nvPr/>
          </p:nvSpPr>
          <p:spPr bwMode="auto">
            <a:xfrm>
              <a:off x="663821" y="2877316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7" name="Rectangle 196"/>
            <p:cNvSpPr>
              <a:spLocks noChangeAspect="1"/>
            </p:cNvSpPr>
            <p:nvPr/>
          </p:nvSpPr>
          <p:spPr bwMode="auto">
            <a:xfrm>
              <a:off x="303573" y="2516952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8" name="Rectangle 197"/>
            <p:cNvSpPr>
              <a:spLocks noChangeAspect="1"/>
            </p:cNvSpPr>
            <p:nvPr/>
          </p:nvSpPr>
          <p:spPr bwMode="auto">
            <a:xfrm>
              <a:off x="663821" y="2516952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9" name="Rectangle 198"/>
            <p:cNvSpPr>
              <a:spLocks noChangeAspect="1"/>
            </p:cNvSpPr>
            <p:nvPr/>
          </p:nvSpPr>
          <p:spPr bwMode="auto">
            <a:xfrm>
              <a:off x="303573" y="2156587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0" name="Rectangle 199"/>
            <p:cNvSpPr>
              <a:spLocks noChangeAspect="1"/>
            </p:cNvSpPr>
            <p:nvPr/>
          </p:nvSpPr>
          <p:spPr bwMode="auto">
            <a:xfrm>
              <a:off x="663821" y="2156587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1" name="Rectangle 200"/>
            <p:cNvSpPr>
              <a:spLocks noChangeAspect="1"/>
            </p:cNvSpPr>
            <p:nvPr/>
          </p:nvSpPr>
          <p:spPr bwMode="auto">
            <a:xfrm>
              <a:off x="303573" y="5750707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2" name="Rectangle 201"/>
            <p:cNvSpPr>
              <a:spLocks noChangeAspect="1"/>
            </p:cNvSpPr>
            <p:nvPr/>
          </p:nvSpPr>
          <p:spPr bwMode="auto">
            <a:xfrm>
              <a:off x="663821" y="5750707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3" name="Rectangle 202"/>
            <p:cNvSpPr>
              <a:spLocks noChangeAspect="1"/>
            </p:cNvSpPr>
            <p:nvPr/>
          </p:nvSpPr>
          <p:spPr bwMode="auto">
            <a:xfrm>
              <a:off x="303573" y="5390343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4" name="Rectangle 203"/>
            <p:cNvSpPr>
              <a:spLocks noChangeAspect="1"/>
            </p:cNvSpPr>
            <p:nvPr/>
          </p:nvSpPr>
          <p:spPr bwMode="auto">
            <a:xfrm>
              <a:off x="663821" y="5390343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5" name="Rectangle 204"/>
            <p:cNvSpPr>
              <a:spLocks noChangeAspect="1"/>
            </p:cNvSpPr>
            <p:nvPr/>
          </p:nvSpPr>
          <p:spPr bwMode="auto">
            <a:xfrm>
              <a:off x="303573" y="5029978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6" name="Rectangle 205"/>
            <p:cNvSpPr>
              <a:spLocks noChangeAspect="1"/>
            </p:cNvSpPr>
            <p:nvPr/>
          </p:nvSpPr>
          <p:spPr bwMode="auto">
            <a:xfrm>
              <a:off x="663821" y="5029978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7" name="Rectangle 206"/>
            <p:cNvSpPr>
              <a:spLocks noChangeAspect="1"/>
            </p:cNvSpPr>
            <p:nvPr/>
          </p:nvSpPr>
          <p:spPr bwMode="auto">
            <a:xfrm>
              <a:off x="1384318" y="4309249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8" name="Rectangle 207"/>
            <p:cNvSpPr>
              <a:spLocks noChangeAspect="1"/>
            </p:cNvSpPr>
            <p:nvPr/>
          </p:nvSpPr>
          <p:spPr bwMode="auto">
            <a:xfrm>
              <a:off x="1744567" y="4309249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9" name="Rectangle 208"/>
            <p:cNvSpPr>
              <a:spLocks noChangeAspect="1"/>
            </p:cNvSpPr>
            <p:nvPr/>
          </p:nvSpPr>
          <p:spPr bwMode="auto">
            <a:xfrm>
              <a:off x="1384318" y="3950472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0" name="Rectangle 209"/>
            <p:cNvSpPr>
              <a:spLocks noChangeAspect="1"/>
            </p:cNvSpPr>
            <p:nvPr/>
          </p:nvSpPr>
          <p:spPr bwMode="auto">
            <a:xfrm>
              <a:off x="1744567" y="3950472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1" name="Rectangle 210"/>
            <p:cNvSpPr>
              <a:spLocks noChangeAspect="1"/>
            </p:cNvSpPr>
            <p:nvPr/>
          </p:nvSpPr>
          <p:spPr bwMode="auto">
            <a:xfrm>
              <a:off x="1384318" y="3590108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2" name="Rectangle 211"/>
            <p:cNvSpPr>
              <a:spLocks noChangeAspect="1"/>
            </p:cNvSpPr>
            <p:nvPr/>
          </p:nvSpPr>
          <p:spPr bwMode="auto">
            <a:xfrm>
              <a:off x="1744567" y="3590108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3" name="Rectangle 212"/>
            <p:cNvSpPr>
              <a:spLocks noChangeAspect="1"/>
            </p:cNvSpPr>
            <p:nvPr/>
          </p:nvSpPr>
          <p:spPr bwMode="auto">
            <a:xfrm>
              <a:off x="1384318" y="3229743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4" name="Rectangle 213"/>
            <p:cNvSpPr>
              <a:spLocks noChangeAspect="1"/>
            </p:cNvSpPr>
            <p:nvPr/>
          </p:nvSpPr>
          <p:spPr bwMode="auto">
            <a:xfrm>
              <a:off x="1744567" y="3229743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5" name="Rectangle 214"/>
            <p:cNvSpPr>
              <a:spLocks noChangeAspect="1"/>
            </p:cNvSpPr>
            <p:nvPr/>
          </p:nvSpPr>
          <p:spPr bwMode="auto">
            <a:xfrm>
              <a:off x="301986" y="3596458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6" name="Rectangle 215"/>
            <p:cNvSpPr>
              <a:spLocks noChangeAspect="1"/>
            </p:cNvSpPr>
            <p:nvPr/>
          </p:nvSpPr>
          <p:spPr bwMode="auto">
            <a:xfrm>
              <a:off x="662234" y="3596458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7" name="Rectangle 216"/>
            <p:cNvSpPr>
              <a:spLocks noChangeAspect="1"/>
            </p:cNvSpPr>
            <p:nvPr/>
          </p:nvSpPr>
          <p:spPr bwMode="auto">
            <a:xfrm>
              <a:off x="301986" y="3236093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8" name="Rectangle 217"/>
            <p:cNvSpPr>
              <a:spLocks noChangeAspect="1"/>
            </p:cNvSpPr>
            <p:nvPr/>
          </p:nvSpPr>
          <p:spPr bwMode="auto">
            <a:xfrm>
              <a:off x="662234" y="3236093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9" name="Rectangle 218"/>
            <p:cNvSpPr>
              <a:spLocks noChangeAspect="1"/>
            </p:cNvSpPr>
            <p:nvPr/>
          </p:nvSpPr>
          <p:spPr bwMode="auto">
            <a:xfrm>
              <a:off x="301986" y="4315599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0" name="Rectangle 219"/>
            <p:cNvSpPr>
              <a:spLocks noChangeAspect="1"/>
            </p:cNvSpPr>
            <p:nvPr/>
          </p:nvSpPr>
          <p:spPr bwMode="auto">
            <a:xfrm>
              <a:off x="662234" y="4315599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1" name="Rectangle 220"/>
            <p:cNvSpPr>
              <a:spLocks noChangeAspect="1"/>
            </p:cNvSpPr>
            <p:nvPr/>
          </p:nvSpPr>
          <p:spPr bwMode="auto">
            <a:xfrm>
              <a:off x="301986" y="3955235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2" name="Rectangle 221"/>
            <p:cNvSpPr>
              <a:spLocks noChangeAspect="1"/>
            </p:cNvSpPr>
            <p:nvPr/>
          </p:nvSpPr>
          <p:spPr bwMode="auto">
            <a:xfrm>
              <a:off x="662234" y="3955235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3" name="Rectangle 222"/>
            <p:cNvSpPr>
              <a:spLocks noChangeAspect="1"/>
            </p:cNvSpPr>
            <p:nvPr/>
          </p:nvSpPr>
          <p:spPr bwMode="auto">
            <a:xfrm>
              <a:off x="1024070" y="4309249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4" name="Rectangle 223"/>
            <p:cNvSpPr>
              <a:spLocks noChangeAspect="1"/>
            </p:cNvSpPr>
            <p:nvPr/>
          </p:nvSpPr>
          <p:spPr bwMode="auto">
            <a:xfrm>
              <a:off x="1024070" y="3950472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5" name="Rectangle 224"/>
            <p:cNvSpPr>
              <a:spLocks noChangeAspect="1"/>
            </p:cNvSpPr>
            <p:nvPr/>
          </p:nvSpPr>
          <p:spPr bwMode="auto">
            <a:xfrm>
              <a:off x="1024070" y="3590108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6" name="Rectangle 225"/>
            <p:cNvSpPr>
              <a:spLocks noChangeAspect="1"/>
            </p:cNvSpPr>
            <p:nvPr/>
          </p:nvSpPr>
          <p:spPr bwMode="auto">
            <a:xfrm>
              <a:off x="1024070" y="3229743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7" name="Rectangle 226"/>
            <p:cNvSpPr>
              <a:spLocks noChangeAspect="1"/>
            </p:cNvSpPr>
            <p:nvPr/>
          </p:nvSpPr>
          <p:spPr bwMode="auto">
            <a:xfrm>
              <a:off x="1384318" y="4669614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8" name="Rectangle 227"/>
            <p:cNvSpPr>
              <a:spLocks noChangeAspect="1"/>
            </p:cNvSpPr>
            <p:nvPr/>
          </p:nvSpPr>
          <p:spPr bwMode="auto">
            <a:xfrm>
              <a:off x="1744567" y="4669614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9" name="Rectangle 228"/>
            <p:cNvSpPr>
              <a:spLocks noChangeAspect="1"/>
            </p:cNvSpPr>
            <p:nvPr/>
          </p:nvSpPr>
          <p:spPr bwMode="auto">
            <a:xfrm>
              <a:off x="301986" y="4675964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30" name="Rectangle 229"/>
            <p:cNvSpPr>
              <a:spLocks noChangeAspect="1"/>
            </p:cNvSpPr>
            <p:nvPr/>
          </p:nvSpPr>
          <p:spPr bwMode="auto">
            <a:xfrm>
              <a:off x="662234" y="4675964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31" name="Rectangle 230"/>
            <p:cNvSpPr>
              <a:spLocks noChangeAspect="1"/>
            </p:cNvSpPr>
            <p:nvPr/>
          </p:nvSpPr>
          <p:spPr bwMode="auto">
            <a:xfrm>
              <a:off x="1024070" y="4669614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32" name="Straight Arrow Connector 231"/>
            <p:cNvCxnSpPr/>
            <p:nvPr/>
          </p:nvCxnSpPr>
          <p:spPr bwMode="auto">
            <a:xfrm flipH="1" flipV="1">
              <a:off x="1024070" y="1956561"/>
              <a:ext cx="15870" cy="415292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/>
            <p:cNvCxnSpPr/>
            <p:nvPr/>
          </p:nvCxnSpPr>
          <p:spPr bwMode="auto">
            <a:xfrm>
              <a:off x="301986" y="4310837"/>
              <a:ext cx="3189864" cy="47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 bwMode="auto">
            <a:xfrm rot="16200000" flipV="1">
              <a:off x="948688" y="2786063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/>
          </p:nvCxnSpPr>
          <p:spPr bwMode="auto">
            <a:xfrm rot="16200000" flipV="1">
              <a:off x="932818" y="3500442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 bwMode="auto">
            <a:xfrm rot="16200000" flipV="1">
              <a:off x="951862" y="2065334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 bwMode="auto">
            <a:xfrm rot="16200000" flipV="1">
              <a:off x="932818" y="4217996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 bwMode="auto">
            <a:xfrm rot="16200000" flipV="1">
              <a:off x="916948" y="5641992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 bwMode="auto">
            <a:xfrm rot="16200000" flipV="1">
              <a:off x="932818" y="4938725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TextBox 668"/>
            <p:cNvSpPr txBox="1">
              <a:spLocks noChangeArrowheads="1"/>
            </p:cNvSpPr>
            <p:nvPr/>
          </p:nvSpPr>
          <p:spPr bwMode="auto">
            <a:xfrm>
              <a:off x="410099" y="4815627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241" name="TextBox 672"/>
            <p:cNvSpPr txBox="1">
              <a:spLocks noChangeArrowheads="1"/>
            </p:cNvSpPr>
            <p:nvPr/>
          </p:nvSpPr>
          <p:spPr bwMode="auto">
            <a:xfrm>
              <a:off x="389357" y="2677286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42" name="TextBox 673"/>
            <p:cNvSpPr txBox="1">
              <a:spLocks noChangeArrowheads="1"/>
            </p:cNvSpPr>
            <p:nvPr/>
          </p:nvSpPr>
          <p:spPr bwMode="auto">
            <a:xfrm>
              <a:off x="410099" y="3375483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3" name="TextBox 674"/>
            <p:cNvSpPr txBox="1">
              <a:spLocks noChangeArrowheads="1"/>
            </p:cNvSpPr>
            <p:nvPr/>
          </p:nvSpPr>
          <p:spPr bwMode="auto">
            <a:xfrm>
              <a:off x="389357" y="195656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244" name="Straight Connector 243"/>
            <p:cNvCxnSpPr/>
            <p:nvPr/>
          </p:nvCxnSpPr>
          <p:spPr bwMode="auto">
            <a:xfrm rot="5400000" flipH="1" flipV="1">
              <a:off x="917711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 bwMode="auto">
            <a:xfrm rot="5400000" flipH="1" flipV="1">
              <a:off x="3093484" y="4391800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/>
          </p:nvCxnSpPr>
          <p:spPr bwMode="auto">
            <a:xfrm rot="5400000" flipH="1" flipV="1">
              <a:off x="1636621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 bwMode="auto">
            <a:xfrm rot="5400000" flipH="1" flipV="1">
              <a:off x="2372987" y="4364812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TextBox 685"/>
            <p:cNvSpPr txBox="1">
              <a:spLocks noChangeArrowheads="1"/>
            </p:cNvSpPr>
            <p:nvPr/>
          </p:nvSpPr>
          <p:spPr bwMode="auto">
            <a:xfrm>
              <a:off x="35370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249" name="TextBox 686"/>
            <p:cNvSpPr txBox="1">
              <a:spLocks noChangeArrowheads="1"/>
            </p:cNvSpPr>
            <p:nvPr/>
          </p:nvSpPr>
          <p:spPr bwMode="auto">
            <a:xfrm>
              <a:off x="428626" y="5533584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-4</a:t>
              </a:r>
            </a:p>
          </p:txBody>
        </p:sp>
        <p:sp>
          <p:nvSpPr>
            <p:cNvPr id="250" name="TextBox 688"/>
            <p:cNvSpPr txBox="1">
              <a:spLocks noChangeArrowheads="1"/>
            </p:cNvSpPr>
            <p:nvPr/>
          </p:nvSpPr>
          <p:spPr bwMode="auto">
            <a:xfrm>
              <a:off x="2229737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1" name="TextBox 689"/>
            <p:cNvSpPr txBox="1">
              <a:spLocks noChangeArrowheads="1"/>
            </p:cNvSpPr>
            <p:nvPr/>
          </p:nvSpPr>
          <p:spPr bwMode="auto">
            <a:xfrm>
              <a:off x="1494411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2" name="TextBox 690"/>
            <p:cNvSpPr txBox="1">
              <a:spLocks noChangeArrowheads="1"/>
            </p:cNvSpPr>
            <p:nvPr/>
          </p:nvSpPr>
          <p:spPr bwMode="auto">
            <a:xfrm>
              <a:off x="2948874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253" name="Straight Connector 252"/>
            <p:cNvCxnSpPr/>
            <p:nvPr/>
          </p:nvCxnSpPr>
          <p:spPr bwMode="auto">
            <a:xfrm rot="5400000" flipH="1" flipV="1">
              <a:off x="197215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4" name="Straight Connector 253"/>
          <p:cNvCxnSpPr>
            <a:endCxn id="350" idx="0"/>
          </p:cNvCxnSpPr>
          <p:nvPr/>
        </p:nvCxnSpPr>
        <p:spPr>
          <a:xfrm flipV="1">
            <a:off x="1024682" y="2244046"/>
            <a:ext cx="1619250" cy="32337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/>
          <p:nvPr/>
        </p:nvCxnSpPr>
        <p:spPr>
          <a:xfrm rot="5400000" flipH="1" flipV="1">
            <a:off x="5857826" y="4219690"/>
            <a:ext cx="1630362" cy="16065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" name="Group 319"/>
          <p:cNvGrpSpPr>
            <a:grpSpLocks/>
          </p:cNvGrpSpPr>
          <p:nvPr/>
        </p:nvGrpSpPr>
        <p:grpSpPr bwMode="auto">
          <a:xfrm>
            <a:off x="5603032" y="2044021"/>
            <a:ext cx="3455987" cy="4152900"/>
            <a:chOff x="35370" y="1956561"/>
            <a:chExt cx="3456480" cy="4152923"/>
          </a:xfrm>
        </p:grpSpPr>
        <p:sp>
          <p:nvSpPr>
            <p:cNvPr id="257" name="Rectangle 256"/>
            <p:cNvSpPr>
              <a:spLocks noChangeAspect="1"/>
            </p:cNvSpPr>
            <p:nvPr/>
          </p:nvSpPr>
          <p:spPr bwMode="auto">
            <a:xfrm>
              <a:off x="1384937" y="5733245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58" name="Rectangle 257"/>
            <p:cNvSpPr>
              <a:spLocks noChangeAspect="1"/>
            </p:cNvSpPr>
            <p:nvPr/>
          </p:nvSpPr>
          <p:spPr bwMode="auto">
            <a:xfrm>
              <a:off x="1745351" y="5733245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59" name="Rectangle 258"/>
            <p:cNvSpPr>
              <a:spLocks noChangeAspect="1"/>
            </p:cNvSpPr>
            <p:nvPr/>
          </p:nvSpPr>
          <p:spPr bwMode="auto">
            <a:xfrm>
              <a:off x="1384937" y="5372880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0" name="Rectangle 259"/>
            <p:cNvSpPr>
              <a:spLocks noChangeAspect="1"/>
            </p:cNvSpPr>
            <p:nvPr/>
          </p:nvSpPr>
          <p:spPr bwMode="auto">
            <a:xfrm>
              <a:off x="1745351" y="5372880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1" name="Rectangle 260"/>
            <p:cNvSpPr>
              <a:spLocks noChangeAspect="1"/>
            </p:cNvSpPr>
            <p:nvPr/>
          </p:nvSpPr>
          <p:spPr bwMode="auto">
            <a:xfrm>
              <a:off x="1384937" y="5029978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2" name="Rectangle 261"/>
            <p:cNvSpPr>
              <a:spLocks noChangeAspect="1"/>
            </p:cNvSpPr>
            <p:nvPr/>
          </p:nvSpPr>
          <p:spPr bwMode="auto">
            <a:xfrm>
              <a:off x="1745351" y="5029978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3" name="Rectangle 262"/>
            <p:cNvSpPr>
              <a:spLocks noChangeAspect="1"/>
            </p:cNvSpPr>
            <p:nvPr/>
          </p:nvSpPr>
          <p:spPr bwMode="auto">
            <a:xfrm>
              <a:off x="1024523" y="5733245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4" name="Rectangle 263"/>
            <p:cNvSpPr>
              <a:spLocks noChangeAspect="1"/>
            </p:cNvSpPr>
            <p:nvPr/>
          </p:nvSpPr>
          <p:spPr bwMode="auto">
            <a:xfrm>
              <a:off x="1024523" y="5372880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5" name="Rectangle 264"/>
            <p:cNvSpPr>
              <a:spLocks noChangeAspect="1"/>
            </p:cNvSpPr>
            <p:nvPr/>
          </p:nvSpPr>
          <p:spPr bwMode="auto">
            <a:xfrm>
              <a:off x="1024523" y="5029978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6" name="Rectangle 265"/>
            <p:cNvSpPr>
              <a:spLocks noChangeAspect="1"/>
            </p:cNvSpPr>
            <p:nvPr/>
          </p:nvSpPr>
          <p:spPr bwMode="auto">
            <a:xfrm>
              <a:off x="1383349" y="2877316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7" name="Rectangle 266"/>
            <p:cNvSpPr>
              <a:spLocks noChangeAspect="1"/>
            </p:cNvSpPr>
            <p:nvPr/>
          </p:nvSpPr>
          <p:spPr bwMode="auto">
            <a:xfrm>
              <a:off x="1743764" y="2877316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8" name="Rectangle 267"/>
            <p:cNvSpPr>
              <a:spLocks noChangeAspect="1"/>
            </p:cNvSpPr>
            <p:nvPr/>
          </p:nvSpPr>
          <p:spPr bwMode="auto">
            <a:xfrm>
              <a:off x="1383349" y="2516952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9" name="Rectangle 268"/>
            <p:cNvSpPr>
              <a:spLocks noChangeAspect="1"/>
            </p:cNvSpPr>
            <p:nvPr/>
          </p:nvSpPr>
          <p:spPr bwMode="auto">
            <a:xfrm>
              <a:off x="1743764" y="2516952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0" name="Rectangle 269"/>
            <p:cNvSpPr>
              <a:spLocks noChangeAspect="1"/>
            </p:cNvSpPr>
            <p:nvPr/>
          </p:nvSpPr>
          <p:spPr bwMode="auto">
            <a:xfrm>
              <a:off x="1383349" y="2156587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1" name="Rectangle 270"/>
            <p:cNvSpPr>
              <a:spLocks noChangeAspect="1"/>
            </p:cNvSpPr>
            <p:nvPr/>
          </p:nvSpPr>
          <p:spPr bwMode="auto">
            <a:xfrm>
              <a:off x="1743764" y="2156587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2" name="Rectangle 271"/>
            <p:cNvSpPr>
              <a:spLocks noChangeAspect="1"/>
            </p:cNvSpPr>
            <p:nvPr/>
          </p:nvSpPr>
          <p:spPr bwMode="auto">
            <a:xfrm>
              <a:off x="1022936" y="2877316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3" name="Rectangle 272"/>
            <p:cNvSpPr>
              <a:spLocks noChangeAspect="1"/>
            </p:cNvSpPr>
            <p:nvPr/>
          </p:nvSpPr>
          <p:spPr bwMode="auto">
            <a:xfrm>
              <a:off x="1022936" y="2516952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4" name="Rectangle 273"/>
            <p:cNvSpPr>
              <a:spLocks noChangeAspect="1"/>
            </p:cNvSpPr>
            <p:nvPr/>
          </p:nvSpPr>
          <p:spPr bwMode="auto">
            <a:xfrm>
              <a:off x="1022936" y="2156587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5" name="Rectangle 274"/>
            <p:cNvSpPr>
              <a:spLocks noChangeAspect="1"/>
            </p:cNvSpPr>
            <p:nvPr/>
          </p:nvSpPr>
          <p:spPr bwMode="auto">
            <a:xfrm>
              <a:off x="2463003" y="2877316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6" name="Rectangle 275"/>
            <p:cNvSpPr>
              <a:spLocks noChangeAspect="1"/>
            </p:cNvSpPr>
            <p:nvPr/>
          </p:nvSpPr>
          <p:spPr bwMode="auto">
            <a:xfrm>
              <a:off x="2823418" y="2877316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7" name="Rectangle 276"/>
            <p:cNvSpPr>
              <a:spLocks noChangeAspect="1"/>
            </p:cNvSpPr>
            <p:nvPr/>
          </p:nvSpPr>
          <p:spPr bwMode="auto">
            <a:xfrm>
              <a:off x="2463003" y="2516952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8" name="Rectangle 277"/>
            <p:cNvSpPr>
              <a:spLocks noChangeAspect="1"/>
            </p:cNvSpPr>
            <p:nvPr/>
          </p:nvSpPr>
          <p:spPr bwMode="auto">
            <a:xfrm>
              <a:off x="2823418" y="2516952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9" name="Rectangle 278"/>
            <p:cNvSpPr>
              <a:spLocks noChangeAspect="1"/>
            </p:cNvSpPr>
            <p:nvPr/>
          </p:nvSpPr>
          <p:spPr bwMode="auto">
            <a:xfrm>
              <a:off x="2463003" y="2156587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0" name="Rectangle 279"/>
            <p:cNvSpPr>
              <a:spLocks noChangeAspect="1"/>
            </p:cNvSpPr>
            <p:nvPr/>
          </p:nvSpPr>
          <p:spPr bwMode="auto">
            <a:xfrm>
              <a:off x="2823418" y="2156587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1" name="Rectangle 280"/>
            <p:cNvSpPr>
              <a:spLocks noChangeAspect="1"/>
            </p:cNvSpPr>
            <p:nvPr/>
          </p:nvSpPr>
          <p:spPr bwMode="auto">
            <a:xfrm>
              <a:off x="2102590" y="2877316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2" name="Rectangle 281"/>
            <p:cNvSpPr>
              <a:spLocks noChangeAspect="1"/>
            </p:cNvSpPr>
            <p:nvPr/>
          </p:nvSpPr>
          <p:spPr bwMode="auto">
            <a:xfrm>
              <a:off x="2102590" y="2516952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3" name="Rectangle 282"/>
            <p:cNvSpPr>
              <a:spLocks noChangeAspect="1"/>
            </p:cNvSpPr>
            <p:nvPr/>
          </p:nvSpPr>
          <p:spPr bwMode="auto">
            <a:xfrm>
              <a:off x="2102590" y="2156587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4" name="Rectangle 283"/>
            <p:cNvSpPr>
              <a:spLocks noChangeAspect="1"/>
            </p:cNvSpPr>
            <p:nvPr/>
          </p:nvSpPr>
          <p:spPr bwMode="auto">
            <a:xfrm>
              <a:off x="2464591" y="3950472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5" name="Rectangle 284"/>
            <p:cNvSpPr>
              <a:spLocks noChangeAspect="1"/>
            </p:cNvSpPr>
            <p:nvPr/>
          </p:nvSpPr>
          <p:spPr bwMode="auto">
            <a:xfrm>
              <a:off x="2825005" y="3950472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6" name="Rectangle 285"/>
            <p:cNvSpPr>
              <a:spLocks noChangeAspect="1"/>
            </p:cNvSpPr>
            <p:nvPr/>
          </p:nvSpPr>
          <p:spPr bwMode="auto">
            <a:xfrm>
              <a:off x="2464591" y="3590108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7" name="Rectangle 286"/>
            <p:cNvSpPr>
              <a:spLocks noChangeAspect="1"/>
            </p:cNvSpPr>
            <p:nvPr/>
          </p:nvSpPr>
          <p:spPr bwMode="auto">
            <a:xfrm>
              <a:off x="2825005" y="3590108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8" name="Rectangle 287"/>
            <p:cNvSpPr>
              <a:spLocks noChangeAspect="1"/>
            </p:cNvSpPr>
            <p:nvPr/>
          </p:nvSpPr>
          <p:spPr bwMode="auto">
            <a:xfrm>
              <a:off x="2464591" y="3229743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9" name="Rectangle 288"/>
            <p:cNvSpPr>
              <a:spLocks noChangeAspect="1"/>
            </p:cNvSpPr>
            <p:nvPr/>
          </p:nvSpPr>
          <p:spPr bwMode="auto">
            <a:xfrm>
              <a:off x="2825005" y="3229743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0" name="Rectangle 289"/>
            <p:cNvSpPr>
              <a:spLocks noChangeAspect="1"/>
            </p:cNvSpPr>
            <p:nvPr/>
          </p:nvSpPr>
          <p:spPr bwMode="auto">
            <a:xfrm>
              <a:off x="2104177" y="3950472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1" name="Rectangle 290"/>
            <p:cNvSpPr>
              <a:spLocks noChangeAspect="1"/>
            </p:cNvSpPr>
            <p:nvPr/>
          </p:nvSpPr>
          <p:spPr bwMode="auto">
            <a:xfrm>
              <a:off x="2104177" y="3590108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2" name="Rectangle 291"/>
            <p:cNvSpPr>
              <a:spLocks noChangeAspect="1"/>
            </p:cNvSpPr>
            <p:nvPr/>
          </p:nvSpPr>
          <p:spPr bwMode="auto">
            <a:xfrm>
              <a:off x="2104177" y="3229743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3" name="Rectangle 292"/>
            <p:cNvSpPr>
              <a:spLocks noChangeAspect="1"/>
            </p:cNvSpPr>
            <p:nvPr/>
          </p:nvSpPr>
          <p:spPr bwMode="auto">
            <a:xfrm>
              <a:off x="2464591" y="5022041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4" name="Rectangle 293"/>
            <p:cNvSpPr>
              <a:spLocks noChangeAspect="1"/>
            </p:cNvSpPr>
            <p:nvPr/>
          </p:nvSpPr>
          <p:spPr bwMode="auto">
            <a:xfrm>
              <a:off x="2825005" y="5022041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5" name="Rectangle 294"/>
            <p:cNvSpPr>
              <a:spLocks noChangeAspect="1"/>
            </p:cNvSpPr>
            <p:nvPr/>
          </p:nvSpPr>
          <p:spPr bwMode="auto">
            <a:xfrm>
              <a:off x="2464591" y="4661676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6" name="Rectangle 295"/>
            <p:cNvSpPr>
              <a:spLocks noChangeAspect="1"/>
            </p:cNvSpPr>
            <p:nvPr/>
          </p:nvSpPr>
          <p:spPr bwMode="auto">
            <a:xfrm>
              <a:off x="2825005" y="4661676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7" name="Rectangle 296"/>
            <p:cNvSpPr>
              <a:spLocks noChangeAspect="1"/>
            </p:cNvSpPr>
            <p:nvPr/>
          </p:nvSpPr>
          <p:spPr bwMode="auto">
            <a:xfrm>
              <a:off x="2464591" y="4301312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8" name="Rectangle 297"/>
            <p:cNvSpPr>
              <a:spLocks noChangeAspect="1"/>
            </p:cNvSpPr>
            <p:nvPr/>
          </p:nvSpPr>
          <p:spPr bwMode="auto">
            <a:xfrm>
              <a:off x="2825005" y="4301312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9" name="Rectangle 298"/>
            <p:cNvSpPr>
              <a:spLocks noChangeAspect="1"/>
            </p:cNvSpPr>
            <p:nvPr/>
          </p:nvSpPr>
          <p:spPr bwMode="auto">
            <a:xfrm>
              <a:off x="2104177" y="5022041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0" name="Rectangle 299"/>
            <p:cNvSpPr>
              <a:spLocks noChangeAspect="1"/>
            </p:cNvSpPr>
            <p:nvPr/>
          </p:nvSpPr>
          <p:spPr bwMode="auto">
            <a:xfrm>
              <a:off x="2104177" y="4661676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1" name="Rectangle 300"/>
            <p:cNvSpPr>
              <a:spLocks noChangeAspect="1"/>
            </p:cNvSpPr>
            <p:nvPr/>
          </p:nvSpPr>
          <p:spPr bwMode="auto">
            <a:xfrm>
              <a:off x="2104177" y="4301312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2" name="Rectangle 301"/>
            <p:cNvSpPr>
              <a:spLocks noChangeAspect="1"/>
            </p:cNvSpPr>
            <p:nvPr/>
          </p:nvSpPr>
          <p:spPr bwMode="auto">
            <a:xfrm>
              <a:off x="2464591" y="5733245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3" name="Rectangle 302"/>
            <p:cNvSpPr>
              <a:spLocks noChangeAspect="1"/>
            </p:cNvSpPr>
            <p:nvPr/>
          </p:nvSpPr>
          <p:spPr bwMode="auto">
            <a:xfrm>
              <a:off x="2825005" y="5733245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4" name="Rectangle 303"/>
            <p:cNvSpPr>
              <a:spLocks noChangeAspect="1"/>
            </p:cNvSpPr>
            <p:nvPr/>
          </p:nvSpPr>
          <p:spPr bwMode="auto">
            <a:xfrm>
              <a:off x="2464591" y="5372880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5" name="Rectangle 304"/>
            <p:cNvSpPr>
              <a:spLocks noChangeAspect="1"/>
            </p:cNvSpPr>
            <p:nvPr/>
          </p:nvSpPr>
          <p:spPr bwMode="auto">
            <a:xfrm>
              <a:off x="2825005" y="5372880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6" name="Rectangle 305"/>
            <p:cNvSpPr>
              <a:spLocks noChangeAspect="1"/>
            </p:cNvSpPr>
            <p:nvPr/>
          </p:nvSpPr>
          <p:spPr bwMode="auto">
            <a:xfrm>
              <a:off x="2104177" y="5733245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7" name="Rectangle 306"/>
            <p:cNvSpPr>
              <a:spLocks noChangeAspect="1"/>
            </p:cNvSpPr>
            <p:nvPr/>
          </p:nvSpPr>
          <p:spPr bwMode="auto">
            <a:xfrm>
              <a:off x="2104177" y="5372880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8" name="Rectangle 307"/>
            <p:cNvSpPr>
              <a:spLocks noChangeAspect="1"/>
            </p:cNvSpPr>
            <p:nvPr/>
          </p:nvSpPr>
          <p:spPr bwMode="auto">
            <a:xfrm>
              <a:off x="303695" y="2877316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9" name="Rectangle 308"/>
            <p:cNvSpPr>
              <a:spLocks noChangeAspect="1"/>
            </p:cNvSpPr>
            <p:nvPr/>
          </p:nvSpPr>
          <p:spPr bwMode="auto">
            <a:xfrm>
              <a:off x="662521" y="2877316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0" name="Rectangle 309"/>
            <p:cNvSpPr>
              <a:spLocks noChangeAspect="1"/>
            </p:cNvSpPr>
            <p:nvPr/>
          </p:nvSpPr>
          <p:spPr bwMode="auto">
            <a:xfrm>
              <a:off x="303695" y="2516952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1" name="Rectangle 310"/>
            <p:cNvSpPr>
              <a:spLocks noChangeAspect="1"/>
            </p:cNvSpPr>
            <p:nvPr/>
          </p:nvSpPr>
          <p:spPr bwMode="auto">
            <a:xfrm>
              <a:off x="662521" y="2516952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2" name="Rectangle 311"/>
            <p:cNvSpPr>
              <a:spLocks noChangeAspect="1"/>
            </p:cNvSpPr>
            <p:nvPr/>
          </p:nvSpPr>
          <p:spPr bwMode="auto">
            <a:xfrm>
              <a:off x="303695" y="2156587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3" name="Rectangle 312"/>
            <p:cNvSpPr>
              <a:spLocks noChangeAspect="1"/>
            </p:cNvSpPr>
            <p:nvPr/>
          </p:nvSpPr>
          <p:spPr bwMode="auto">
            <a:xfrm>
              <a:off x="662521" y="2156587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4" name="Rectangle 313"/>
            <p:cNvSpPr>
              <a:spLocks noChangeAspect="1"/>
            </p:cNvSpPr>
            <p:nvPr/>
          </p:nvSpPr>
          <p:spPr bwMode="auto">
            <a:xfrm>
              <a:off x="303695" y="5750707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5" name="Rectangle 314"/>
            <p:cNvSpPr>
              <a:spLocks noChangeAspect="1"/>
            </p:cNvSpPr>
            <p:nvPr/>
          </p:nvSpPr>
          <p:spPr bwMode="auto">
            <a:xfrm>
              <a:off x="664110" y="5750707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6" name="Rectangle 315"/>
            <p:cNvSpPr>
              <a:spLocks noChangeAspect="1"/>
            </p:cNvSpPr>
            <p:nvPr/>
          </p:nvSpPr>
          <p:spPr bwMode="auto">
            <a:xfrm>
              <a:off x="303695" y="5390343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7" name="Rectangle 316"/>
            <p:cNvSpPr>
              <a:spLocks noChangeAspect="1"/>
            </p:cNvSpPr>
            <p:nvPr/>
          </p:nvSpPr>
          <p:spPr bwMode="auto">
            <a:xfrm>
              <a:off x="664110" y="5390343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8" name="Rectangle 317"/>
            <p:cNvSpPr>
              <a:spLocks noChangeAspect="1"/>
            </p:cNvSpPr>
            <p:nvPr/>
          </p:nvSpPr>
          <p:spPr bwMode="auto">
            <a:xfrm>
              <a:off x="303695" y="5029978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9" name="Rectangle 318"/>
            <p:cNvSpPr>
              <a:spLocks noChangeAspect="1"/>
            </p:cNvSpPr>
            <p:nvPr/>
          </p:nvSpPr>
          <p:spPr bwMode="auto">
            <a:xfrm>
              <a:off x="664110" y="5029978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0" name="Rectangle 319"/>
            <p:cNvSpPr>
              <a:spLocks noChangeAspect="1"/>
            </p:cNvSpPr>
            <p:nvPr/>
          </p:nvSpPr>
          <p:spPr bwMode="auto">
            <a:xfrm>
              <a:off x="1384937" y="4309249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1" name="Rectangle 320"/>
            <p:cNvSpPr>
              <a:spLocks noChangeAspect="1"/>
            </p:cNvSpPr>
            <p:nvPr/>
          </p:nvSpPr>
          <p:spPr bwMode="auto">
            <a:xfrm>
              <a:off x="1745351" y="4309249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2" name="Rectangle 321"/>
            <p:cNvSpPr>
              <a:spLocks noChangeAspect="1"/>
            </p:cNvSpPr>
            <p:nvPr/>
          </p:nvSpPr>
          <p:spPr bwMode="auto">
            <a:xfrm>
              <a:off x="1384937" y="3950472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3" name="Rectangle 322"/>
            <p:cNvSpPr>
              <a:spLocks noChangeAspect="1"/>
            </p:cNvSpPr>
            <p:nvPr/>
          </p:nvSpPr>
          <p:spPr bwMode="auto">
            <a:xfrm>
              <a:off x="1745351" y="3950472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4" name="Rectangle 323"/>
            <p:cNvSpPr>
              <a:spLocks noChangeAspect="1"/>
            </p:cNvSpPr>
            <p:nvPr/>
          </p:nvSpPr>
          <p:spPr bwMode="auto">
            <a:xfrm>
              <a:off x="1384937" y="3590108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5" name="Rectangle 324"/>
            <p:cNvSpPr>
              <a:spLocks noChangeAspect="1"/>
            </p:cNvSpPr>
            <p:nvPr/>
          </p:nvSpPr>
          <p:spPr bwMode="auto">
            <a:xfrm>
              <a:off x="1745351" y="3590108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6" name="Rectangle 325"/>
            <p:cNvSpPr>
              <a:spLocks noChangeAspect="1"/>
            </p:cNvSpPr>
            <p:nvPr/>
          </p:nvSpPr>
          <p:spPr bwMode="auto">
            <a:xfrm>
              <a:off x="1384937" y="3229743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7" name="Rectangle 326"/>
            <p:cNvSpPr>
              <a:spLocks noChangeAspect="1"/>
            </p:cNvSpPr>
            <p:nvPr/>
          </p:nvSpPr>
          <p:spPr bwMode="auto">
            <a:xfrm>
              <a:off x="1745351" y="3229743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8" name="Rectangle 327"/>
            <p:cNvSpPr>
              <a:spLocks noChangeAspect="1"/>
            </p:cNvSpPr>
            <p:nvPr/>
          </p:nvSpPr>
          <p:spPr bwMode="auto">
            <a:xfrm>
              <a:off x="302108" y="3596458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9" name="Rectangle 328"/>
            <p:cNvSpPr>
              <a:spLocks noChangeAspect="1"/>
            </p:cNvSpPr>
            <p:nvPr/>
          </p:nvSpPr>
          <p:spPr bwMode="auto">
            <a:xfrm>
              <a:off x="662521" y="3596458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0" name="Rectangle 329"/>
            <p:cNvSpPr>
              <a:spLocks noChangeAspect="1"/>
            </p:cNvSpPr>
            <p:nvPr/>
          </p:nvSpPr>
          <p:spPr bwMode="auto">
            <a:xfrm>
              <a:off x="302108" y="3236093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1" name="Rectangle 330"/>
            <p:cNvSpPr>
              <a:spLocks noChangeAspect="1"/>
            </p:cNvSpPr>
            <p:nvPr/>
          </p:nvSpPr>
          <p:spPr bwMode="auto">
            <a:xfrm>
              <a:off x="662521" y="3236093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2" name="Rectangle 331"/>
            <p:cNvSpPr>
              <a:spLocks noChangeAspect="1"/>
            </p:cNvSpPr>
            <p:nvPr/>
          </p:nvSpPr>
          <p:spPr bwMode="auto">
            <a:xfrm>
              <a:off x="302108" y="4315599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3" name="Rectangle 332"/>
            <p:cNvSpPr>
              <a:spLocks noChangeAspect="1"/>
            </p:cNvSpPr>
            <p:nvPr/>
          </p:nvSpPr>
          <p:spPr bwMode="auto">
            <a:xfrm>
              <a:off x="662521" y="4315599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4" name="Rectangle 333"/>
            <p:cNvSpPr>
              <a:spLocks noChangeAspect="1"/>
            </p:cNvSpPr>
            <p:nvPr/>
          </p:nvSpPr>
          <p:spPr bwMode="auto">
            <a:xfrm>
              <a:off x="302108" y="3955235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5" name="Rectangle 334"/>
            <p:cNvSpPr>
              <a:spLocks noChangeAspect="1"/>
            </p:cNvSpPr>
            <p:nvPr/>
          </p:nvSpPr>
          <p:spPr bwMode="auto">
            <a:xfrm>
              <a:off x="662521" y="3955235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6" name="Rectangle 335"/>
            <p:cNvSpPr>
              <a:spLocks noChangeAspect="1"/>
            </p:cNvSpPr>
            <p:nvPr/>
          </p:nvSpPr>
          <p:spPr bwMode="auto">
            <a:xfrm>
              <a:off x="1024523" y="4309249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7" name="Rectangle 336"/>
            <p:cNvSpPr>
              <a:spLocks noChangeAspect="1"/>
            </p:cNvSpPr>
            <p:nvPr/>
          </p:nvSpPr>
          <p:spPr bwMode="auto">
            <a:xfrm>
              <a:off x="1024523" y="3950472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8" name="Rectangle 337"/>
            <p:cNvSpPr>
              <a:spLocks noChangeAspect="1"/>
            </p:cNvSpPr>
            <p:nvPr/>
          </p:nvSpPr>
          <p:spPr bwMode="auto">
            <a:xfrm>
              <a:off x="1024523" y="3590108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9" name="Rectangle 338"/>
            <p:cNvSpPr>
              <a:spLocks noChangeAspect="1"/>
            </p:cNvSpPr>
            <p:nvPr/>
          </p:nvSpPr>
          <p:spPr bwMode="auto">
            <a:xfrm>
              <a:off x="1024523" y="3229743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0" name="Rectangle 339"/>
            <p:cNvSpPr>
              <a:spLocks noChangeAspect="1"/>
            </p:cNvSpPr>
            <p:nvPr/>
          </p:nvSpPr>
          <p:spPr bwMode="auto">
            <a:xfrm>
              <a:off x="1384937" y="4669614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1" name="Rectangle 340"/>
            <p:cNvSpPr>
              <a:spLocks noChangeAspect="1"/>
            </p:cNvSpPr>
            <p:nvPr/>
          </p:nvSpPr>
          <p:spPr bwMode="auto">
            <a:xfrm>
              <a:off x="1745351" y="4669614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2" name="Rectangle 341"/>
            <p:cNvSpPr>
              <a:spLocks noChangeAspect="1"/>
            </p:cNvSpPr>
            <p:nvPr/>
          </p:nvSpPr>
          <p:spPr bwMode="auto">
            <a:xfrm>
              <a:off x="302108" y="4675964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3" name="Rectangle 342"/>
            <p:cNvSpPr>
              <a:spLocks noChangeAspect="1"/>
            </p:cNvSpPr>
            <p:nvPr/>
          </p:nvSpPr>
          <p:spPr bwMode="auto">
            <a:xfrm>
              <a:off x="662521" y="4675964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4" name="Rectangle 343"/>
            <p:cNvSpPr>
              <a:spLocks noChangeAspect="1"/>
            </p:cNvSpPr>
            <p:nvPr/>
          </p:nvSpPr>
          <p:spPr bwMode="auto">
            <a:xfrm>
              <a:off x="1024523" y="4669614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45" name="Straight Arrow Connector 344"/>
            <p:cNvCxnSpPr/>
            <p:nvPr/>
          </p:nvCxnSpPr>
          <p:spPr bwMode="auto">
            <a:xfrm flipH="1" flipV="1">
              <a:off x="1024523" y="1956561"/>
              <a:ext cx="14290" cy="415292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Arrow Connector 345"/>
            <p:cNvCxnSpPr/>
            <p:nvPr/>
          </p:nvCxnSpPr>
          <p:spPr bwMode="auto">
            <a:xfrm>
              <a:off x="302108" y="4310837"/>
              <a:ext cx="3189742" cy="47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/>
          </p:nvCxnSpPr>
          <p:spPr bwMode="auto">
            <a:xfrm rot="16200000" flipV="1">
              <a:off x="947519" y="2786021"/>
              <a:ext cx="0" cy="1825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/>
          </p:nvCxnSpPr>
          <p:spPr bwMode="auto">
            <a:xfrm rot="16200000" flipV="1">
              <a:off x="933229" y="3500401"/>
              <a:ext cx="0" cy="182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/>
          </p:nvCxnSpPr>
          <p:spPr bwMode="auto">
            <a:xfrm rot="16200000" flipV="1">
              <a:off x="952282" y="2065293"/>
              <a:ext cx="0" cy="182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/>
          </p:nvCxnSpPr>
          <p:spPr bwMode="auto">
            <a:xfrm rot="16200000" flipV="1">
              <a:off x="933229" y="4217955"/>
              <a:ext cx="0" cy="182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/>
          </p:nvCxnSpPr>
          <p:spPr bwMode="auto">
            <a:xfrm rot="16200000" flipV="1">
              <a:off x="917352" y="5641951"/>
              <a:ext cx="0" cy="182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/>
          </p:nvCxnSpPr>
          <p:spPr bwMode="auto">
            <a:xfrm rot="16200000" flipV="1">
              <a:off x="933229" y="4938684"/>
              <a:ext cx="0" cy="182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3" name="TextBox 668"/>
            <p:cNvSpPr txBox="1">
              <a:spLocks noChangeArrowheads="1"/>
            </p:cNvSpPr>
            <p:nvPr/>
          </p:nvSpPr>
          <p:spPr bwMode="auto">
            <a:xfrm>
              <a:off x="410099" y="4815627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354" name="TextBox 672"/>
            <p:cNvSpPr txBox="1">
              <a:spLocks noChangeArrowheads="1"/>
            </p:cNvSpPr>
            <p:nvPr/>
          </p:nvSpPr>
          <p:spPr bwMode="auto">
            <a:xfrm>
              <a:off x="389357" y="2677286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5" name="TextBox 673"/>
            <p:cNvSpPr txBox="1">
              <a:spLocks noChangeArrowheads="1"/>
            </p:cNvSpPr>
            <p:nvPr/>
          </p:nvSpPr>
          <p:spPr bwMode="auto">
            <a:xfrm>
              <a:off x="410099" y="3375483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6" name="TextBox 674"/>
            <p:cNvSpPr txBox="1">
              <a:spLocks noChangeArrowheads="1"/>
            </p:cNvSpPr>
            <p:nvPr/>
          </p:nvSpPr>
          <p:spPr bwMode="auto">
            <a:xfrm>
              <a:off x="389357" y="195656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357" name="Straight Connector 356"/>
            <p:cNvCxnSpPr/>
            <p:nvPr/>
          </p:nvCxnSpPr>
          <p:spPr bwMode="auto">
            <a:xfrm rot="5400000" flipH="1" flipV="1">
              <a:off x="918157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/>
          </p:nvCxnSpPr>
          <p:spPr bwMode="auto">
            <a:xfrm rot="5400000" flipH="1" flipV="1">
              <a:off x="3093343" y="4391800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/>
          </p:nvCxnSpPr>
          <p:spPr bwMode="auto">
            <a:xfrm rot="5400000" flipH="1" flipV="1">
              <a:off x="1637398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/>
          </p:nvCxnSpPr>
          <p:spPr bwMode="auto">
            <a:xfrm rot="5400000" flipH="1" flipV="1">
              <a:off x="2374103" y="4364812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TextBox 685"/>
            <p:cNvSpPr txBox="1">
              <a:spLocks noChangeArrowheads="1"/>
            </p:cNvSpPr>
            <p:nvPr/>
          </p:nvSpPr>
          <p:spPr bwMode="auto">
            <a:xfrm>
              <a:off x="35370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362" name="TextBox 686"/>
            <p:cNvSpPr txBox="1">
              <a:spLocks noChangeArrowheads="1"/>
            </p:cNvSpPr>
            <p:nvPr/>
          </p:nvSpPr>
          <p:spPr bwMode="auto">
            <a:xfrm>
              <a:off x="428626" y="5533584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-4</a:t>
              </a:r>
            </a:p>
          </p:txBody>
        </p:sp>
        <p:sp>
          <p:nvSpPr>
            <p:cNvPr id="363" name="TextBox 688"/>
            <p:cNvSpPr txBox="1">
              <a:spLocks noChangeArrowheads="1"/>
            </p:cNvSpPr>
            <p:nvPr/>
          </p:nvSpPr>
          <p:spPr bwMode="auto">
            <a:xfrm>
              <a:off x="2229737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64" name="TextBox 689"/>
            <p:cNvSpPr txBox="1">
              <a:spLocks noChangeArrowheads="1"/>
            </p:cNvSpPr>
            <p:nvPr/>
          </p:nvSpPr>
          <p:spPr bwMode="auto">
            <a:xfrm>
              <a:off x="1494411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5" name="TextBox 690"/>
            <p:cNvSpPr txBox="1">
              <a:spLocks noChangeArrowheads="1"/>
            </p:cNvSpPr>
            <p:nvPr/>
          </p:nvSpPr>
          <p:spPr bwMode="auto">
            <a:xfrm>
              <a:off x="2948874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366" name="Straight Connector 365"/>
            <p:cNvCxnSpPr/>
            <p:nvPr/>
          </p:nvCxnSpPr>
          <p:spPr bwMode="auto">
            <a:xfrm rot="5400000" flipH="1" flipV="1">
              <a:off x="197330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7" name="Straight Connector 366"/>
          <p:cNvCxnSpPr/>
          <p:nvPr/>
        </p:nvCxnSpPr>
        <p:spPr>
          <a:xfrm>
            <a:off x="6231682" y="2244046"/>
            <a:ext cx="1298575" cy="39528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Arrow Connector 367"/>
          <p:cNvCxnSpPr/>
          <p:nvPr/>
        </p:nvCxnSpPr>
        <p:spPr>
          <a:xfrm flipV="1">
            <a:off x="2089894" y="3317196"/>
            <a:ext cx="360363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Arrow Connector 368"/>
          <p:cNvCxnSpPr/>
          <p:nvPr/>
        </p:nvCxnSpPr>
        <p:spPr>
          <a:xfrm flipH="1" flipV="1">
            <a:off x="2448669" y="2604409"/>
            <a:ext cx="1588" cy="71278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Rectangle 369"/>
          <p:cNvSpPr/>
          <p:nvPr/>
        </p:nvSpPr>
        <p:spPr>
          <a:xfrm>
            <a:off x="3421807" y="2444071"/>
            <a:ext cx="2057400" cy="879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Gradient</a:t>
            </a:r>
          </a:p>
          <a:p>
            <a:pPr algn="ctr">
              <a:defRPr/>
            </a:pPr>
            <a:r>
              <a:rPr lang="en-GB" dirty="0"/>
              <a:t>= 2</a:t>
            </a:r>
          </a:p>
        </p:txBody>
      </p:sp>
      <p:sp>
        <p:nvSpPr>
          <p:cNvPr id="371" name="Multiply 370"/>
          <p:cNvSpPr/>
          <p:nvPr/>
        </p:nvSpPr>
        <p:spPr>
          <a:xfrm>
            <a:off x="1581894" y="3863296"/>
            <a:ext cx="327025" cy="344488"/>
          </a:xfrm>
          <a:prstGeom prst="mathMultiply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372" name="Straight Arrow Connector 371"/>
          <p:cNvCxnSpPr/>
          <p:nvPr/>
        </p:nvCxnSpPr>
        <p:spPr>
          <a:xfrm flipV="1">
            <a:off x="6593632" y="3323546"/>
            <a:ext cx="360362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/>
          <p:cNvCxnSpPr/>
          <p:nvPr/>
        </p:nvCxnSpPr>
        <p:spPr>
          <a:xfrm>
            <a:off x="6953994" y="3323546"/>
            <a:ext cx="0" cy="103822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Rectangle 373"/>
          <p:cNvSpPr/>
          <p:nvPr/>
        </p:nvSpPr>
        <p:spPr>
          <a:xfrm>
            <a:off x="3421807" y="3423559"/>
            <a:ext cx="2057400" cy="8794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Y-intercept</a:t>
            </a:r>
          </a:p>
          <a:p>
            <a:pPr algn="ctr">
              <a:defRPr/>
            </a:pPr>
            <a:r>
              <a:rPr lang="en-GB" dirty="0"/>
              <a:t>= 1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2464544" y="6020709"/>
            <a:ext cx="2057400" cy="879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y=2x + 1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7762032" y="2461534"/>
            <a:ext cx="2057400" cy="879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Gradient</a:t>
            </a:r>
          </a:p>
          <a:p>
            <a:pPr algn="ctr">
              <a:defRPr/>
            </a:pPr>
            <a:r>
              <a:rPr lang="en-GB" dirty="0"/>
              <a:t>= -3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7762032" y="3439434"/>
            <a:ext cx="2057400" cy="8794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Y-intercept</a:t>
            </a:r>
          </a:p>
          <a:p>
            <a:pPr algn="ctr">
              <a:defRPr/>
            </a:pPr>
            <a:r>
              <a:rPr lang="en-GB" dirty="0"/>
              <a:t>= 3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6806357" y="6038171"/>
            <a:ext cx="2057400" cy="8794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y=-3x + 3</a:t>
            </a:r>
          </a:p>
        </p:txBody>
      </p:sp>
      <p:sp>
        <p:nvSpPr>
          <p:cNvPr id="379" name="Multiply 378"/>
          <p:cNvSpPr/>
          <p:nvPr/>
        </p:nvSpPr>
        <p:spPr>
          <a:xfrm>
            <a:off x="6445994" y="3172734"/>
            <a:ext cx="325438" cy="344487"/>
          </a:xfrm>
          <a:prstGeom prst="mathMultiply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80" name="TextBox 379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</a:t>
            </a:r>
            <a:r>
              <a:rPr lang="en-AU" sz="2400" dirty="0" smtClean="0"/>
              <a:t>are</a:t>
            </a:r>
            <a:r>
              <a:rPr lang="en-AU" sz="2400" dirty="0" smtClean="0"/>
              <a:t> </a:t>
            </a:r>
            <a:r>
              <a:rPr lang="en-AU" sz="2400" dirty="0" smtClean="0"/>
              <a:t>gradient </a:t>
            </a:r>
            <a:r>
              <a:rPr lang="en-AU" sz="2400" dirty="0" smtClean="0"/>
              <a:t>and y-intercepts and </a:t>
            </a:r>
            <a:r>
              <a:rPr lang="en-AU" sz="2400" dirty="0" smtClean="0"/>
              <a:t>how do we </a:t>
            </a:r>
            <a:r>
              <a:rPr lang="en-AU" sz="2400" smtClean="0"/>
              <a:t>measure </a:t>
            </a:r>
            <a:r>
              <a:rPr lang="en-AU" sz="2400" smtClean="0"/>
              <a:t>them</a:t>
            </a:r>
            <a:r>
              <a:rPr lang="en-AU" sz="240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54236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" grpId="0" animBg="1"/>
      <p:bldP spid="374" grpId="0" animBg="1"/>
      <p:bldP spid="375" grpId="0" animBg="1"/>
      <p:bldP spid="376" grpId="0" animBg="1"/>
      <p:bldP spid="377" grpId="0" animBg="1"/>
      <p:bldP spid="37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4481" y="671332"/>
            <a:ext cx="64300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Work </a:t>
            </a:r>
            <a:r>
              <a:rPr lang="en-US" sz="3200" dirty="0" smtClean="0"/>
              <a:t>Gradient Handout (on Connect)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872538CF94F94D3A860906549B66A903"/>
  <p:tag name="SLIDEID" val="872538CF94F94D3A860906549B66A903"/>
  <p:tag name="SLIDEORDER" val="1"/>
  <p:tag name="SLIDETYPE" val="Q"/>
  <p:tag name="DEMOGRAPHIC" val="False"/>
  <p:tag name="SPEEDSCORING" val="False"/>
  <p:tag name="VALUES" val="Incorrect¤Correct¤Incorrect¤Incorrect"/>
  <p:tag name="QUESTIONALIAS" val="What is the meaning of this sign?"/>
  <p:tag name="ANSWERSALIAS" val="Icy Road Ahead¤Steep Road Ahead¤Curvy Road Ahead¤Trucks Entering Highway Ahea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LENGTH" val="81"/>
  <p:tag name="FONTSIZE" val="32"/>
  <p:tag name="BULLETTYPE" val="ppBulletArabicPeriod"/>
  <p:tag name="ANSWERTEXT" val="Icy Road Ahead&#13;&#10;Steep Road Ahead&#13;&#10;Curvy Road Ahead&#13;&#10;Trucks Entering Highway Ahea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RSHAPE" val="True"/>
  <p:tag name="SHAPETYPE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3285</TotalTime>
  <Words>894</Words>
  <Application>Microsoft Macintosh PowerPoint</Application>
  <PresentationFormat>On-screen Show (4:3)</PresentationFormat>
  <Paragraphs>257</Paragraphs>
  <Slides>22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Calibri</vt:lpstr>
      <vt:lpstr>Calibri Light</vt:lpstr>
      <vt:lpstr>Cambria Math</vt:lpstr>
      <vt:lpstr>Mangal</vt:lpstr>
      <vt:lpstr>Times</vt:lpstr>
      <vt:lpstr>Arial</vt:lpstr>
      <vt:lpstr>Symbol</vt:lpstr>
      <vt:lpstr>Times New Roman</vt:lpstr>
      <vt:lpstr>Office Theme</vt:lpstr>
      <vt:lpstr>Equation</vt:lpstr>
      <vt:lpstr>My Linear Relationships Interactive Notebook</vt:lpstr>
      <vt:lpstr>PowerPoint Presentation</vt:lpstr>
      <vt:lpstr>Before we start, some quick mental maths…Your job:  </vt:lpstr>
      <vt:lpstr>PowerPoint Presentation</vt:lpstr>
      <vt:lpstr>PowerPoint Presentation</vt:lpstr>
      <vt:lpstr>PowerPoint Presentation</vt:lpstr>
      <vt:lpstr>From last class</vt:lpstr>
      <vt:lpstr>PowerPoint Presentation</vt:lpstr>
      <vt:lpstr>What is the meaning of this sign?</vt:lpstr>
      <vt:lpstr>What does the 7% mean?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SUMMERS Brad [Baldivis Secondary College]</cp:lastModifiedBy>
  <cp:revision>107</cp:revision>
  <dcterms:created xsi:type="dcterms:W3CDTF">2016-04-30T07:20:25Z</dcterms:created>
  <dcterms:modified xsi:type="dcterms:W3CDTF">2017-10-16T05:46:57Z</dcterms:modified>
</cp:coreProperties>
</file>
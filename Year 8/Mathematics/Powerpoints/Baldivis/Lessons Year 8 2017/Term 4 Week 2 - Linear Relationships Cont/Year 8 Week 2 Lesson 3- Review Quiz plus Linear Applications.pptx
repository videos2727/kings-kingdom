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63" r:id="rId2"/>
    <p:sldId id="266" r:id="rId3"/>
    <p:sldId id="264" r:id="rId4"/>
    <p:sldId id="270" r:id="rId5"/>
    <p:sldId id="308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272" r:id="rId18"/>
    <p:sldId id="309" r:id="rId19"/>
    <p:sldId id="310" r:id="rId20"/>
    <p:sldId id="313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6" autoAdjust="0"/>
    <p:restoredTop sz="94660"/>
  </p:normalViewPr>
  <p:slideViewPr>
    <p:cSldViewPr snapToGrid="0">
      <p:cViewPr>
        <p:scale>
          <a:sx n="110" d="100"/>
          <a:sy n="110" d="100"/>
        </p:scale>
        <p:origin x="1160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16/10/17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073" y="682911"/>
            <a:ext cx="3988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 example</a:t>
            </a:r>
          </a:p>
          <a:p>
            <a:r>
              <a:rPr lang="en-US" sz="2800" dirty="0" smtClean="0"/>
              <a:t>Linear: ___________</a:t>
            </a:r>
          </a:p>
          <a:p>
            <a:r>
              <a:rPr lang="en-US" sz="2800" dirty="0" smtClean="0"/>
              <a:t>Origin: ___________</a:t>
            </a:r>
          </a:p>
          <a:p>
            <a:r>
              <a:rPr lang="en-US" sz="2800" dirty="0" smtClean="0"/>
              <a:t>Coordinates: __________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597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965" y="567160"/>
            <a:ext cx="794023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For this activity you will need: a whiteboard and a marker to record your answers</a:t>
            </a:r>
          </a:p>
          <a:p>
            <a:endParaRPr lang="en-US" sz="3200" dirty="0"/>
          </a:p>
          <a:p>
            <a:r>
              <a:rPr lang="en-US" sz="3200" dirty="0" smtClean="0"/>
              <a:t>(or something similar if not available)</a:t>
            </a:r>
          </a:p>
          <a:p>
            <a:endParaRPr lang="en-US" sz="3200" dirty="0"/>
          </a:p>
          <a:p>
            <a:r>
              <a:rPr lang="en-US" sz="3200" dirty="0" smtClean="0"/>
              <a:t>You will need to record which answers you get right and the dollar value associated with each answer.</a:t>
            </a:r>
          </a:p>
          <a:p>
            <a:endParaRPr lang="en-US" sz="3200" dirty="0"/>
          </a:p>
          <a:p>
            <a:r>
              <a:rPr lang="en-US" sz="3200" dirty="0" smtClean="0"/>
              <a:t>The person with the most money at the end wins!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7422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E8687-8E27-FA45-B744-2C14FEC2E1F0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0910F-01E9-CC45-88BA-B34BB46E990A}" type="slidenum">
              <a:rPr lang="en-US" altLang="x-none"/>
              <a:pPr/>
              <a:t>6</a:t>
            </a:fld>
            <a:endParaRPr lang="en-US" altLang="x-none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7348" name="Picture 4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349" name="AutoShape 5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What is the mathematical keyword used to describe the </a:t>
            </a:r>
          </a:p>
          <a:p>
            <a:pPr algn="ctr"/>
            <a:r>
              <a:rPr lang="en-GB" altLang="x-none" sz="2000" b="1">
                <a:latin typeface="Garamond" charset="0"/>
              </a:rPr>
              <a:t>slope (flatness and steepness) of a linear graph?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7350" name="AutoShape 6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origin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7351" name="AutoShape 7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intercept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7353" name="AutoShape 9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x-axis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8" name="Rectangle 14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9" name="Rectangle 15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60" name="Rectangle 16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63" name="Rectangle 19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52" name="AutoShape 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gradient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7365" name="Text Box 21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57366" name="AutoShape 22"/>
          <p:cNvSpPr>
            <a:spLocks noChangeArrowheads="1"/>
          </p:cNvSpPr>
          <p:nvPr/>
        </p:nvSpPr>
        <p:spPr bwMode="auto">
          <a:xfrm>
            <a:off x="107950" y="5734050"/>
            <a:ext cx="45704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C                    gradient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7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6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2857E-8CC2-094A-B9BF-E9DAA1005F2D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2BA9-D820-2B43-B54C-2A3558F9AFF6}" type="slidenum">
              <a:rPr lang="en-US" altLang="x-none"/>
              <a:pPr/>
              <a:t>7</a:t>
            </a:fld>
            <a:endParaRPr lang="en-US" altLang="x-none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8371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372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Linear graphs are :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8373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straight lines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8374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        circles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8375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none of the above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78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79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0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2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3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4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5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6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         curves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8387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58388" name="AutoShape 20"/>
          <p:cNvSpPr>
            <a:spLocks noChangeArrowheads="1"/>
          </p:cNvSpPr>
          <p:nvPr/>
        </p:nvSpPr>
        <p:spPr bwMode="auto">
          <a:xfrm>
            <a:off x="107950" y="5084763"/>
            <a:ext cx="45704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A               straight lines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58389" name="Rectangle 21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4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8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B2C79-6F90-3A4D-8AC7-73A1730F47B1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8FB4B0-A5E3-964D-97F6-EBCD3FD05034}" type="slidenum">
              <a:rPr lang="en-US" altLang="x-none"/>
              <a:pPr/>
              <a:t>8</a:t>
            </a:fld>
            <a:endParaRPr lang="en-US" altLang="x-none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59395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396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Look at y = 3x + 1. What is the value of the gradient?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9397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1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9398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4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9399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3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8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09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10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2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59411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59412" name="AutoShape 20"/>
          <p:cNvSpPr>
            <a:spLocks noChangeArrowheads="1"/>
          </p:cNvSpPr>
          <p:nvPr/>
        </p:nvSpPr>
        <p:spPr bwMode="auto">
          <a:xfrm>
            <a:off x="4572000" y="5734050"/>
            <a:ext cx="43926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D                3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5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53C15-9FA4-1349-A401-A1F301D99BE1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B04D-BDB1-F545-8791-4870C3677825}" type="slidenum">
              <a:rPr lang="en-US" altLang="x-none"/>
              <a:pPr/>
              <a:t>9</a:t>
            </a:fld>
            <a:endParaRPr lang="en-US" altLang="x-none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0419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420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What is the mathematical keyword used to describe </a:t>
            </a:r>
          </a:p>
          <a:p>
            <a:pPr algn="ctr"/>
            <a:r>
              <a:rPr lang="en-GB" altLang="x-none" sz="2000" b="1">
                <a:latin typeface="Garamond" charset="0"/>
              </a:rPr>
              <a:t>where a linear graph crosses the y-axis?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0421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parallel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0422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intercept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0423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x-axis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25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26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27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28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29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0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1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2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3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4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gradient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0435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0436" name="AutoShape 20"/>
          <p:cNvSpPr>
            <a:spLocks noChangeArrowheads="1"/>
          </p:cNvSpPr>
          <p:nvPr/>
        </p:nvSpPr>
        <p:spPr bwMode="auto">
          <a:xfrm>
            <a:off x="4697413" y="5084763"/>
            <a:ext cx="4211637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B                intercept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0437" name="Rectangle 21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34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8FEA0-3700-4441-B37A-D89F991A2B1F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5E444-5EAA-B341-8D4D-A01C6618DC7F}" type="slidenum">
              <a:rPr lang="en-US" altLang="x-none"/>
              <a:pPr/>
              <a:t>10</a:t>
            </a:fld>
            <a:endParaRPr lang="en-US" altLang="x-none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1443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4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Which pair of linear graphs have the same gradient (slope)?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1445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                     A     y = 2x + 1   &amp;    y = 3x + 1               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1446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B    y = 3x +2  &amp; y = 3x +3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47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all of the above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1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8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y = x - 2   &amp;   y = 2x + 5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1459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1460" name="AutoShape 20"/>
          <p:cNvSpPr>
            <a:spLocks noChangeArrowheads="1"/>
          </p:cNvSpPr>
          <p:nvPr/>
        </p:nvSpPr>
        <p:spPr bwMode="auto">
          <a:xfrm>
            <a:off x="4572000" y="5084763"/>
            <a:ext cx="43926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GB" altLang="x-none" b="1">
              <a:latin typeface="Garamond" charset="0"/>
            </a:endParaRPr>
          </a:p>
          <a:p>
            <a:pPr algn="ctr"/>
            <a:r>
              <a:rPr lang="en-GB" altLang="x-none" b="1">
                <a:latin typeface="Garamond" charset="0"/>
              </a:rPr>
              <a:t>B    y = 3x + 2  &amp;   y = 3x +3</a:t>
            </a:r>
            <a:endParaRPr lang="en-US" altLang="x-none" b="1">
              <a:latin typeface="Garamond" charset="0"/>
            </a:endParaRPr>
          </a:p>
          <a:p>
            <a:pPr algn="ctr"/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1461" name="Rectangle 21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837C-1449-FB40-AD84-BE6C4D650E2D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29168-8109-CC48-9092-7150451F7F99}" type="slidenum">
              <a:rPr lang="en-US" altLang="x-none"/>
              <a:pPr/>
              <a:t>11</a:t>
            </a:fld>
            <a:endParaRPr lang="en-US" altLang="x-none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2467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468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Look at y =x + 1. When x is 3, what would y be?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2469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4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2470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1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2471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2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6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7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8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79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80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81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82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3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2483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2484" name="AutoShape 20"/>
          <p:cNvSpPr>
            <a:spLocks noChangeArrowheads="1"/>
          </p:cNvSpPr>
          <p:nvPr/>
        </p:nvSpPr>
        <p:spPr bwMode="auto">
          <a:xfrm>
            <a:off x="34925" y="5084763"/>
            <a:ext cx="45704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A               4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2485" name="Rectangle 21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76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8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BF076-70D6-2841-9E9F-62BF5A40C24E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0205D-BA74-314F-9203-32DA9065D2EE}" type="slidenum">
              <a:rPr lang="en-US" altLang="x-none"/>
              <a:pPr/>
              <a:t>12</a:t>
            </a:fld>
            <a:endParaRPr lang="en-US" altLang="x-none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3491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492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What is the name of the point where the x-axis and</a:t>
            </a:r>
          </a:p>
          <a:p>
            <a:pPr algn="ctr"/>
            <a:r>
              <a:rPr lang="en-GB" altLang="x-none" sz="2000" b="1">
                <a:latin typeface="Garamond" charset="0"/>
              </a:rPr>
              <a:t> the y axis meet?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3493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origin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3494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intercept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3495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parallel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0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3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4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5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6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slope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3508" name="AutoShape 20"/>
          <p:cNvSpPr>
            <a:spLocks noChangeArrowheads="1"/>
          </p:cNvSpPr>
          <p:nvPr/>
        </p:nvSpPr>
        <p:spPr bwMode="auto">
          <a:xfrm>
            <a:off x="34925" y="5084763"/>
            <a:ext cx="45704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A                origin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3509" name="Rectangle 21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98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3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AF1F-8EA5-C64A-91CA-EA439CE758D8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1F332-1279-0241-B528-023501F7459F}" type="slidenum">
              <a:rPr lang="en-US" altLang="x-none"/>
              <a:pPr/>
              <a:t>13</a:t>
            </a:fld>
            <a:endParaRPr lang="en-US" altLang="x-none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80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4515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21590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516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When linear graphs cross the y - axis at different points,</a:t>
            </a:r>
          </a:p>
          <a:p>
            <a:pPr algn="ctr"/>
            <a:r>
              <a:rPr lang="en-GB" altLang="x-none" sz="2000" b="1">
                <a:latin typeface="Garamond" charset="0"/>
              </a:rPr>
              <a:t> we say the graphs have the different………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4517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origins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4518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intercepts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4519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lengths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1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2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3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4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5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6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7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8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29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30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gradients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4531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4532" name="AutoShape 20"/>
          <p:cNvSpPr>
            <a:spLocks noChangeArrowheads="1"/>
          </p:cNvSpPr>
          <p:nvPr/>
        </p:nvSpPr>
        <p:spPr bwMode="auto">
          <a:xfrm>
            <a:off x="4572000" y="5083175"/>
            <a:ext cx="4464050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solidFill>
                  <a:schemeClr val="bg1"/>
                </a:solidFill>
                <a:latin typeface="Garamond" charset="0"/>
              </a:rPr>
              <a:t>B                   intercepts</a:t>
            </a:r>
            <a:endParaRPr lang="en-US" altLang="x-none" sz="20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4533" name="Rectangle 2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456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3F799-D21C-FC44-9F1F-8E958C939F9E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9E7AC-9097-2048-B133-D3A59C670D51}" type="slidenum">
              <a:rPr lang="en-US" altLang="x-none"/>
              <a:pPr/>
              <a:t>14</a:t>
            </a:fld>
            <a:endParaRPr lang="en-US" altLang="x-none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5539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540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Look at y = 2x + 2. If  x is 7, what would y be?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5541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2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5542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7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5543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16 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46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48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49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0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1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2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3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4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14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5555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5556" name="AutoShape 20"/>
          <p:cNvSpPr>
            <a:spLocks noChangeArrowheads="1"/>
          </p:cNvSpPr>
          <p:nvPr/>
        </p:nvSpPr>
        <p:spPr bwMode="auto">
          <a:xfrm>
            <a:off x="4610100" y="5734050"/>
            <a:ext cx="43545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C                16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5557" name="Rectangle 21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90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5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069B7-463C-824A-B047-E50ADA18FD7D}" type="datetime1">
              <a:rPr lang="en-GB" altLang="x-none"/>
              <a:pPr/>
              <a:t>16/10/2017</a:t>
            </a:fld>
            <a:endParaRPr lang="en-US" altLang="x-none" dirty="0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5F3CA-C74D-394D-843C-33B32B130295}" type="slidenum">
              <a:rPr lang="en-US" altLang="x-none"/>
              <a:pPr/>
              <a:t>15</a:t>
            </a:fld>
            <a:endParaRPr lang="en-US" altLang="x-none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6563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564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When a linear graph slopes downwards from left</a:t>
            </a:r>
          </a:p>
          <a:p>
            <a:pPr algn="ctr"/>
            <a:r>
              <a:rPr lang="en-GB" altLang="x-none" sz="2000" b="1">
                <a:latin typeface="Garamond" charset="0"/>
              </a:rPr>
              <a:t> to right, it means the gradient is……….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6565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</a:t>
            </a:r>
            <a:r>
              <a:rPr lang="en-GB" altLang="x-none" sz="2000" b="1">
                <a:latin typeface="Garamond" charset="0"/>
              </a:rPr>
              <a:t>0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6566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positive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6567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none of the above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69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0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1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2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4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6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7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8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  negative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6579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6580" name="AutoShape 20"/>
          <p:cNvSpPr>
            <a:spLocks noChangeArrowheads="1"/>
          </p:cNvSpPr>
          <p:nvPr/>
        </p:nvSpPr>
        <p:spPr bwMode="auto">
          <a:xfrm>
            <a:off x="92075" y="5730875"/>
            <a:ext cx="4570413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C                negative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6581" name="Rectangle 21"/>
          <p:cNvSpPr>
            <a:spLocks noChangeArrowheads="1"/>
          </p:cNvSpPr>
          <p:nvPr/>
        </p:nvSpPr>
        <p:spPr bwMode="auto">
          <a:xfrm>
            <a:off x="8101013" y="549275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44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8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4E6E-A388-FD4C-AC7F-74482EB3A42A}" type="datetime1">
              <a:rPr lang="en-GB" altLang="x-none"/>
              <a:pPr/>
              <a:t>16/10/2017</a:t>
            </a:fld>
            <a:endParaRPr lang="en-US" altLang="x-none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x-none"/>
              <a:t>Presented By J. Mills-Dadson</a:t>
            </a:r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F5273-8BA0-E54E-829C-63B4F336FBFF}" type="slidenum">
              <a:rPr lang="en-US" altLang="x-none"/>
              <a:pPr/>
              <a:t>16</a:t>
            </a:fld>
            <a:endParaRPr lang="en-US" altLang="x-none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25" y="3789363"/>
            <a:ext cx="9652000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7587" name="Picture 3" descr="casestudies_hothou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8" y="0"/>
            <a:ext cx="9144001" cy="4437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588" name="AutoShape 4"/>
          <p:cNvSpPr>
            <a:spLocks noChangeArrowheads="1"/>
          </p:cNvSpPr>
          <p:nvPr/>
        </p:nvSpPr>
        <p:spPr bwMode="auto">
          <a:xfrm>
            <a:off x="323850" y="4076700"/>
            <a:ext cx="8135938" cy="898525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Look at y = -2x – 2. If x is 10, what would y be?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7589" name="AutoShape 5"/>
          <p:cNvSpPr>
            <a:spLocks noChangeArrowheads="1"/>
          </p:cNvSpPr>
          <p:nvPr/>
        </p:nvSpPr>
        <p:spPr bwMode="auto">
          <a:xfrm>
            <a:off x="106363" y="5084763"/>
            <a:ext cx="4465637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A                      </a:t>
            </a:r>
            <a:r>
              <a:rPr lang="en-GB" altLang="x-none" sz="2000" b="1">
                <a:latin typeface="Garamond" charset="0"/>
              </a:rPr>
              <a:t>-10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7590" name="AutoShape 6"/>
          <p:cNvSpPr>
            <a:spLocks noChangeArrowheads="1"/>
          </p:cNvSpPr>
          <p:nvPr/>
        </p:nvSpPr>
        <p:spPr bwMode="auto">
          <a:xfrm>
            <a:off x="4645025" y="5084763"/>
            <a:ext cx="4319588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B               -2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7591" name="AutoShape 7"/>
          <p:cNvSpPr>
            <a:spLocks noChangeArrowheads="1"/>
          </p:cNvSpPr>
          <p:nvPr/>
        </p:nvSpPr>
        <p:spPr bwMode="auto">
          <a:xfrm>
            <a:off x="4716463" y="5734050"/>
            <a:ext cx="4248150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sz="2000" b="1">
                <a:latin typeface="Garamond" charset="0"/>
              </a:rPr>
              <a:t>D                -22     </a:t>
            </a:r>
            <a:endParaRPr lang="en-US" altLang="x-none" sz="2000" b="1">
              <a:latin typeface="Garamond" charset="0"/>
            </a:endParaRP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8101013" y="547688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900,000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8101013" y="9810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800,000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5" name="Rectangle 11"/>
          <p:cNvSpPr>
            <a:spLocks noChangeArrowheads="1"/>
          </p:cNvSpPr>
          <p:nvPr/>
        </p:nvSpPr>
        <p:spPr bwMode="auto">
          <a:xfrm>
            <a:off x="8101013" y="14128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700,000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6" name="Rectangle 12"/>
          <p:cNvSpPr>
            <a:spLocks noChangeArrowheads="1"/>
          </p:cNvSpPr>
          <p:nvPr/>
        </p:nvSpPr>
        <p:spPr bwMode="auto">
          <a:xfrm>
            <a:off x="8101013" y="18446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600,000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7" name="Rectangle 13"/>
          <p:cNvSpPr>
            <a:spLocks noChangeArrowheads="1"/>
          </p:cNvSpPr>
          <p:nvPr/>
        </p:nvSpPr>
        <p:spPr bwMode="auto">
          <a:xfrm>
            <a:off x="8101013" y="2276475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500,000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8" name="Rectangle 14"/>
          <p:cNvSpPr>
            <a:spLocks noChangeArrowheads="1"/>
          </p:cNvSpPr>
          <p:nvPr/>
        </p:nvSpPr>
        <p:spPr bwMode="auto">
          <a:xfrm>
            <a:off x="8101013" y="27098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400,000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599" name="Rectangle 15"/>
          <p:cNvSpPr>
            <a:spLocks noChangeArrowheads="1"/>
          </p:cNvSpPr>
          <p:nvPr/>
        </p:nvSpPr>
        <p:spPr bwMode="auto">
          <a:xfrm>
            <a:off x="8101013" y="31416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300,000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600" name="Rectangle 16"/>
          <p:cNvSpPr>
            <a:spLocks noChangeArrowheads="1"/>
          </p:cNvSpPr>
          <p:nvPr/>
        </p:nvSpPr>
        <p:spPr bwMode="auto">
          <a:xfrm>
            <a:off x="8101013" y="35734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200,000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601" name="Rectangle 17"/>
          <p:cNvSpPr>
            <a:spLocks noChangeArrowheads="1"/>
          </p:cNvSpPr>
          <p:nvPr/>
        </p:nvSpPr>
        <p:spPr bwMode="auto">
          <a:xfrm>
            <a:off x="8101013" y="4005263"/>
            <a:ext cx="914400" cy="431800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100,000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602" name="AutoShape 18"/>
          <p:cNvSpPr>
            <a:spLocks noChangeArrowheads="1"/>
          </p:cNvSpPr>
          <p:nvPr/>
        </p:nvSpPr>
        <p:spPr bwMode="auto">
          <a:xfrm>
            <a:off x="73025" y="5734050"/>
            <a:ext cx="4570413" cy="609600"/>
          </a:xfrm>
          <a:prstGeom prst="flowChartPreparation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C              -18</a:t>
            </a:r>
            <a:endParaRPr lang="en-US" altLang="x-none" b="1">
              <a:latin typeface="Garamond" charset="0"/>
            </a:endParaRPr>
          </a:p>
        </p:txBody>
      </p:sp>
      <p:sp>
        <p:nvSpPr>
          <p:cNvPr id="67603" name="Text Box 19"/>
          <p:cNvSpPr txBox="1">
            <a:spLocks noChangeArrowheads="1"/>
          </p:cNvSpPr>
          <p:nvPr/>
        </p:nvSpPr>
        <p:spPr bwMode="auto">
          <a:xfrm>
            <a:off x="3759200" y="-26988"/>
            <a:ext cx="1965325" cy="76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x-none" sz="4400" b="1">
                <a:solidFill>
                  <a:schemeClr val="bg1"/>
                </a:solidFill>
                <a:latin typeface="Garamond" charset="0"/>
              </a:rPr>
              <a:t>Plenary</a:t>
            </a:r>
            <a:endParaRPr lang="en-US" altLang="x-none" sz="4400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7604" name="AutoShape 20"/>
          <p:cNvSpPr>
            <a:spLocks noChangeArrowheads="1"/>
          </p:cNvSpPr>
          <p:nvPr/>
        </p:nvSpPr>
        <p:spPr bwMode="auto">
          <a:xfrm>
            <a:off x="4643438" y="5734050"/>
            <a:ext cx="4321175" cy="609600"/>
          </a:xfrm>
          <a:prstGeom prst="flowChartPreparation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solidFill>
                  <a:schemeClr val="bg1"/>
                </a:solidFill>
                <a:latin typeface="Garamond" charset="0"/>
              </a:rPr>
              <a:t>C                -22</a:t>
            </a:r>
            <a:endParaRPr lang="en-US" altLang="x-none" b="1">
              <a:solidFill>
                <a:schemeClr val="bg1"/>
              </a:solidFill>
              <a:latin typeface="Garamond" charset="0"/>
            </a:endParaRPr>
          </a:p>
        </p:txBody>
      </p:sp>
      <p:sp>
        <p:nvSpPr>
          <p:cNvPr id="67605" name="Rectangle 21"/>
          <p:cNvSpPr>
            <a:spLocks noChangeArrowheads="1"/>
          </p:cNvSpPr>
          <p:nvPr/>
        </p:nvSpPr>
        <p:spPr bwMode="auto">
          <a:xfrm>
            <a:off x="8101013" y="115888"/>
            <a:ext cx="914400" cy="4318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altLang="x-none" b="1">
                <a:latin typeface="Garamond" charset="0"/>
              </a:rPr>
              <a:t>1,000,000</a:t>
            </a:r>
            <a:endParaRPr lang="en-US" altLang="x-none" b="1">
              <a:latin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86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67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0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solve real-world linear applications?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84" y="1537464"/>
            <a:ext cx="7787022" cy="24283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84" y="4418622"/>
            <a:ext cx="7787022" cy="49246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484" y="5040629"/>
            <a:ext cx="7787022" cy="80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49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solve real-world linear applications?</a:t>
            </a:r>
            <a:endParaRPr lang="en-AU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24" y="1667242"/>
            <a:ext cx="6209551" cy="16195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624" y="3358050"/>
            <a:ext cx="6209551" cy="12470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29" y="4676410"/>
            <a:ext cx="6218046" cy="108139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129" y="5837916"/>
            <a:ext cx="6218046" cy="831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we solve real-world linear applications?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7991" y="1565038"/>
            <a:ext cx="4545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Take the following table of values</a:t>
            </a:r>
            <a:r>
              <a:rPr lang="mr-IN" sz="2400" dirty="0" smtClean="0"/>
              <a:t>…</a:t>
            </a: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2176049"/>
            <a:ext cx="4102100" cy="736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3067725"/>
            <a:ext cx="3810000" cy="482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839" y="1565038"/>
            <a:ext cx="3644900" cy="30988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3705401"/>
            <a:ext cx="3810000" cy="5207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4350425"/>
            <a:ext cx="3937000" cy="533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5002548"/>
            <a:ext cx="1600200" cy="622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192" y="5703521"/>
            <a:ext cx="4089400" cy="546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589" y="5104049"/>
            <a:ext cx="3073400" cy="153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48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33509" y="0"/>
            <a:ext cx="1832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Application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54" y="611985"/>
            <a:ext cx="7212856" cy="38585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54" y="4546598"/>
            <a:ext cx="85471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0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03820"/>
          </a:xfrm>
        </p:spPr>
        <p:txBody>
          <a:bodyPr/>
          <a:lstStyle/>
          <a:p>
            <a:pPr algn="ctr"/>
            <a:r>
              <a:rPr lang="en-US" dirty="0" smtClean="0"/>
              <a:t>Learning Logs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28263" y="1458410"/>
            <a:ext cx="83916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In the LHS of your INB, write at least 5 sentences on what you’ve learned about Linear Relationships so far: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What does gradient mean?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what is the coefficient and constant and how do they relate to gradient and </a:t>
            </a:r>
            <a:r>
              <a:rPr lang="en-US" sz="2800" i="1" dirty="0" smtClean="0"/>
              <a:t>y</a:t>
            </a:r>
            <a:r>
              <a:rPr lang="en-US" sz="2800" dirty="0" smtClean="0"/>
              <a:t>-intercept?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800" dirty="0" smtClean="0"/>
              <a:t>What is the proper form for writing linear rules?</a:t>
            </a:r>
          </a:p>
          <a:p>
            <a:pPr marL="285750" indent="-285750">
              <a:buFont typeface="Arial" charset="0"/>
              <a:buChar char="•"/>
            </a:pPr>
            <a:endParaRPr lang="en-US" sz="2800" dirty="0"/>
          </a:p>
          <a:p>
            <a:pPr marL="285750" indent="-285750">
              <a:buFont typeface="Arial" charset="0"/>
              <a:buChar char="•"/>
            </a:pPr>
            <a:r>
              <a:rPr lang="en-US" sz="2800" dirty="0" err="1" smtClean="0"/>
              <a:t>Etc</a:t>
            </a:r>
            <a:r>
              <a:rPr lang="mr-IN" sz="2800" dirty="0" smtClean="0"/>
              <a:t>……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0894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3379</TotalTime>
  <Words>831</Words>
  <Application>Microsoft Macintosh PowerPoint</Application>
  <PresentationFormat>On-screen Show (4:3)</PresentationFormat>
  <Paragraphs>316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Calibri Light</vt:lpstr>
      <vt:lpstr>Mangal</vt:lpstr>
      <vt:lpstr>Arial</vt:lpstr>
      <vt:lpstr>Calibri</vt:lpstr>
      <vt:lpstr>Garamond</vt:lpstr>
      <vt:lpstr>Office Theme</vt:lpstr>
      <vt:lpstr>My Linear Relationships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Logs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SUMMERS Brad [Baldivis Secondary College]</cp:lastModifiedBy>
  <cp:revision>95</cp:revision>
  <dcterms:created xsi:type="dcterms:W3CDTF">2016-04-30T07:20:25Z</dcterms:created>
  <dcterms:modified xsi:type="dcterms:W3CDTF">2017-10-16T13:14:46Z</dcterms:modified>
</cp:coreProperties>
</file>
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63" r:id="rId2"/>
    <p:sldId id="266" r:id="rId3"/>
    <p:sldId id="264" r:id="rId4"/>
    <p:sldId id="270" r:id="rId5"/>
    <p:sldId id="267" r:id="rId6"/>
    <p:sldId id="285" r:id="rId7"/>
    <p:sldId id="272" r:id="rId8"/>
    <p:sldId id="286" r:id="rId9"/>
    <p:sldId id="287" r:id="rId10"/>
    <p:sldId id="271" r:id="rId11"/>
    <p:sldId id="289" r:id="rId12"/>
    <p:sldId id="288" r:id="rId13"/>
    <p:sldId id="290" r:id="rId14"/>
    <p:sldId id="291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053" autoAdjust="0"/>
    <p:restoredTop sz="94660"/>
  </p:normalViewPr>
  <p:slideViewPr>
    <p:cSldViewPr snapToGrid="0">
      <p:cViewPr>
        <p:scale>
          <a:sx n="110" d="100"/>
          <a:sy n="110" d="100"/>
        </p:scale>
        <p:origin x="920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4FA37-DCEE-4A8B-895D-A9C4F8DA3AB0}" type="datetimeFigureOut">
              <a:rPr lang="en-AU" smtClean="0"/>
              <a:t>15/10/17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521593-C239-4F23-953F-DEA9A7F7D4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2235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268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15/10/17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902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15/10/17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8658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15/10/17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2749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15/10/17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9839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15/10/17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7976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15/10/17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0419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15/10/17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1215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15/10/17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1529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15/10/17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0856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15/10/17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0266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15/10/17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7316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47BE6B-52E9-4DB5-9634-6473640C7AC5}" type="datetimeFigureOut">
              <a:rPr lang="en-AU" smtClean="0"/>
              <a:t>15/10/17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315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2181" y="548481"/>
            <a:ext cx="8206283" cy="1470025"/>
          </a:xfrm>
        </p:spPr>
        <p:txBody>
          <a:bodyPr>
            <a:normAutofit/>
          </a:bodyPr>
          <a:lstStyle/>
          <a:p>
            <a:r>
              <a:rPr lang="en-AU" sz="4800" dirty="0" smtClean="0">
                <a:latin typeface="+mn-lt"/>
              </a:rPr>
              <a:t>My Linear Relationships</a:t>
            </a:r>
            <a:br>
              <a:rPr lang="en-AU" sz="4800" dirty="0" smtClean="0">
                <a:latin typeface="+mn-lt"/>
              </a:rPr>
            </a:br>
            <a:r>
              <a:rPr lang="en-AU" sz="4800" dirty="0" smtClean="0">
                <a:latin typeface="+mn-lt"/>
              </a:rPr>
              <a:t>Interactive Notebook</a:t>
            </a:r>
            <a:endParaRPr lang="en-AU" sz="4800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3081" y="4078694"/>
            <a:ext cx="6858000" cy="16557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Semester 2</a:t>
            </a:r>
          </a:p>
          <a:p>
            <a:pPr algn="l"/>
            <a:r>
              <a:rPr lang="en-AU" dirty="0" smtClean="0"/>
              <a:t>Term 4</a:t>
            </a:r>
          </a:p>
          <a:p>
            <a:pPr algn="l"/>
            <a:endParaRPr lang="en-AU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5178" y="2466562"/>
            <a:ext cx="4320480" cy="3574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10841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Interactive Notebooks!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57634"/>
            <a:ext cx="7886700" cy="5177342"/>
          </a:xfrm>
        </p:spPr>
        <p:txBody>
          <a:bodyPr>
            <a:normAutofit/>
          </a:bodyPr>
          <a:lstStyle/>
          <a:p>
            <a:r>
              <a:rPr lang="en-US" dirty="0" smtClean="0"/>
              <a:t>Cover Page</a:t>
            </a:r>
          </a:p>
          <a:p>
            <a:r>
              <a:rPr lang="en-US" dirty="0" smtClean="0"/>
              <a:t>Contents Page</a:t>
            </a:r>
          </a:p>
          <a:p>
            <a:r>
              <a:rPr lang="en-US" dirty="0" smtClean="0"/>
              <a:t>Glossary</a:t>
            </a:r>
          </a:p>
          <a:p>
            <a:r>
              <a:rPr lang="en-US" dirty="0" smtClean="0"/>
              <a:t>24/7/30</a:t>
            </a:r>
          </a:p>
          <a:p>
            <a:r>
              <a:rPr lang="en-US" dirty="0" smtClean="0"/>
              <a:t>EQ</a:t>
            </a:r>
          </a:p>
          <a:p>
            <a:r>
              <a:rPr lang="en-US" dirty="0" smtClean="0"/>
              <a:t>Questions</a:t>
            </a:r>
          </a:p>
          <a:p>
            <a:r>
              <a:rPr lang="en-US" dirty="0" smtClean="0"/>
              <a:t>Notes</a:t>
            </a:r>
          </a:p>
          <a:p>
            <a:r>
              <a:rPr lang="en-US" dirty="0" smtClean="0"/>
              <a:t>Summaries</a:t>
            </a:r>
          </a:p>
          <a:p>
            <a:r>
              <a:rPr lang="en-US" dirty="0" smtClean="0"/>
              <a:t>Work page</a:t>
            </a:r>
          </a:p>
          <a:p>
            <a:r>
              <a:rPr lang="en-US" dirty="0" smtClean="0"/>
              <a:t>Presentation!!!</a:t>
            </a:r>
            <a:endParaRPr lang="en-AU" dirty="0"/>
          </a:p>
        </p:txBody>
      </p:sp>
      <p:pic>
        <p:nvPicPr>
          <p:cNvPr id="2050" name="Picture 2" descr="Image result for open notebook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3218" y="1332741"/>
            <a:ext cx="3389972" cy="4268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 rot="20602649">
            <a:off x="4241910" y="4362736"/>
            <a:ext cx="4750425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Your book, your responsibility!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84157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  <p:sp>
        <p:nvSpPr>
          <p:cNvPr id="13" name="TextBox 12"/>
          <p:cNvSpPr txBox="1"/>
          <p:nvPr/>
        </p:nvSpPr>
        <p:spPr>
          <a:xfrm>
            <a:off x="4694073" y="682911"/>
            <a:ext cx="398860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For example</a:t>
            </a:r>
          </a:p>
          <a:p>
            <a:r>
              <a:rPr lang="en-US" sz="2800" dirty="0" smtClean="0"/>
              <a:t>Linear: ___________</a:t>
            </a:r>
          </a:p>
          <a:p>
            <a:r>
              <a:rPr lang="en-US" sz="2800" dirty="0" smtClean="0"/>
              <a:t>Origin: ___________</a:t>
            </a:r>
          </a:p>
          <a:p>
            <a:r>
              <a:rPr lang="en-US" sz="2800" dirty="0" smtClean="0"/>
              <a:t>Coordinates: __________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859729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213377" y="946268"/>
            <a:ext cx="41114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</a:t>
            </a:r>
            <a:r>
              <a:rPr lang="en-US" sz="2800" dirty="0" smtClean="0"/>
              <a:t>omplete the tasks on this side (left) of your page</a:t>
            </a:r>
            <a:endParaRPr lang="en-AU" sz="2800" dirty="0"/>
          </a:p>
        </p:txBody>
      </p:sp>
      <p:sp>
        <p:nvSpPr>
          <p:cNvPr id="14" name="Title 2"/>
          <p:cNvSpPr txBox="1">
            <a:spLocks/>
          </p:cNvSpPr>
          <p:nvPr/>
        </p:nvSpPr>
        <p:spPr>
          <a:xfrm>
            <a:off x="4572089" y="5600296"/>
            <a:ext cx="4561918" cy="114300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 smtClean="0"/>
              <a:t>Have YOU been doing your summaries?</a:t>
            </a:r>
            <a:endParaRPr lang="en-AU" sz="3200" dirty="0"/>
          </a:p>
        </p:txBody>
      </p:sp>
      <p:pic>
        <p:nvPicPr>
          <p:cNvPr id="16" name="Picture 15" descr="Image result for finger you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470" y="2856048"/>
            <a:ext cx="2857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/>
          <p:cNvSpPr txBox="1"/>
          <p:nvPr/>
        </p:nvSpPr>
        <p:spPr>
          <a:xfrm>
            <a:off x="26173" y="5807659"/>
            <a:ext cx="51175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Your book, your responsibility!</a:t>
            </a:r>
            <a:endParaRPr lang="en-AU" sz="2800" dirty="0"/>
          </a:p>
        </p:txBody>
      </p:sp>
      <p:sp>
        <p:nvSpPr>
          <p:cNvPr id="18" name="TextBox 17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1" name="Right Arrow 20"/>
          <p:cNvSpPr/>
          <p:nvPr/>
        </p:nvSpPr>
        <p:spPr>
          <a:xfrm rot="11903126">
            <a:off x="4850327" y="200197"/>
            <a:ext cx="2290349" cy="12242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/>
          <p:cNvSpPr txBox="1"/>
          <p:nvPr/>
        </p:nvSpPr>
        <p:spPr>
          <a:xfrm>
            <a:off x="7101243" y="996695"/>
            <a:ext cx="1755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You should be ticking these off!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6177598" y="2023099"/>
            <a:ext cx="28683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Write your notes on this side (right) of your page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91377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18" grpId="0"/>
      <p:bldP spid="21" grpId="0" animBg="1"/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03820"/>
          </a:xfrm>
        </p:spPr>
        <p:txBody>
          <a:bodyPr/>
          <a:lstStyle/>
          <a:p>
            <a:pPr algn="ctr"/>
            <a:r>
              <a:rPr lang="en-US" dirty="0" smtClean="0"/>
              <a:t>From last lesson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337931" y="1068947"/>
            <a:ext cx="4347793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Consider the equation </a:t>
            </a:r>
            <a:r>
              <a:rPr lang="en-US" sz="2400" i="1" dirty="0" smtClean="0"/>
              <a:t>y = 2x + 1</a:t>
            </a:r>
            <a:endParaRPr lang="en-US" sz="2400" dirty="0"/>
          </a:p>
          <a:p>
            <a:pPr marL="342900" indent="-342900">
              <a:buAutoNum type="alphaLcParenR"/>
            </a:pPr>
            <a:r>
              <a:rPr lang="en-US" dirty="0" smtClean="0"/>
              <a:t>Create a table using x values from -2 to 2</a:t>
            </a:r>
          </a:p>
          <a:p>
            <a:pPr marL="342900" indent="-342900">
              <a:buAutoNum type="alphaLcParenR"/>
            </a:pPr>
            <a:r>
              <a:rPr lang="en-US" dirty="0" smtClean="0"/>
              <a:t>Draw a graph using this table</a:t>
            </a:r>
          </a:p>
          <a:p>
            <a:pPr marL="342900" indent="-342900">
              <a:buAutoNum type="alphaLcParenR"/>
            </a:pPr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083313"/>
            <a:ext cx="4431833" cy="42445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1679713" y="2498087"/>
            <a:ext cx="1064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y = 2x + 1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339548" y="491987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339548" y="477078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66602"/>
              </p:ext>
            </p:extLst>
          </p:nvPr>
        </p:nvGraphicFramePr>
        <p:xfrm>
          <a:off x="106017" y="3016506"/>
          <a:ext cx="446598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4331"/>
                <a:gridCol w="744331"/>
                <a:gridCol w="744331"/>
                <a:gridCol w="744331"/>
                <a:gridCol w="744331"/>
                <a:gridCol w="744331"/>
              </a:tblGrid>
              <a:tr h="35946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0610026"/>
              </p:ext>
            </p:extLst>
          </p:nvPr>
        </p:nvGraphicFramePr>
        <p:xfrm>
          <a:off x="106017" y="3384366"/>
          <a:ext cx="446598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4331"/>
                <a:gridCol w="744331"/>
                <a:gridCol w="744331"/>
                <a:gridCol w="744331"/>
                <a:gridCol w="744331"/>
                <a:gridCol w="744331"/>
              </a:tblGrid>
              <a:tr h="35946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1" name="Oval 20"/>
          <p:cNvSpPr/>
          <p:nvPr/>
        </p:nvSpPr>
        <p:spPr>
          <a:xfrm>
            <a:off x="5903844" y="5367130"/>
            <a:ext cx="129209" cy="12920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6314662" y="4581939"/>
            <a:ext cx="129209" cy="12920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6658707" y="3819938"/>
            <a:ext cx="129209" cy="12920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7079975" y="3016506"/>
            <a:ext cx="129209" cy="12920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7467601" y="2232400"/>
            <a:ext cx="129209" cy="12920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/>
          <p:cNvCxnSpPr/>
          <p:nvPr/>
        </p:nvCxnSpPr>
        <p:spPr>
          <a:xfrm flipV="1">
            <a:off x="5657631" y="1997765"/>
            <a:ext cx="2035256" cy="40452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402381" y="3129993"/>
            <a:ext cx="1064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y = 2x + 1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948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799733" cy="867326"/>
          </a:xfrm>
        </p:spPr>
        <p:txBody>
          <a:bodyPr>
            <a:normAutofit/>
          </a:bodyPr>
          <a:lstStyle/>
          <a:p>
            <a:pPr algn="ctr"/>
            <a:r>
              <a:rPr lang="en-US" sz="3600" dirty="0" smtClean="0"/>
              <a:t>Think </a:t>
            </a:r>
            <a:r>
              <a:rPr lang="mr-IN" sz="3600" dirty="0" smtClean="0"/>
              <a:t>–</a:t>
            </a:r>
            <a:r>
              <a:rPr lang="en-US" sz="3600" dirty="0" smtClean="0"/>
              <a:t> Pair - Share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215513" y="1093307"/>
            <a:ext cx="87098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Each of the following tables describes a linear relationship between </a:t>
            </a:r>
            <a:r>
              <a:rPr lang="en-US" sz="2400" i="1" dirty="0" smtClean="0"/>
              <a:t>x</a:t>
            </a:r>
            <a:r>
              <a:rPr lang="en-US" sz="2400" dirty="0" smtClean="0"/>
              <a:t> and </a:t>
            </a:r>
            <a:r>
              <a:rPr lang="en-US" sz="2400" i="1" dirty="0" smtClean="0"/>
              <a:t>y</a:t>
            </a:r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752" y="2273300"/>
            <a:ext cx="1179596" cy="22987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535" y="2266950"/>
            <a:ext cx="1177911" cy="23050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7883" y="2247900"/>
            <a:ext cx="1162050" cy="23241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8650" y="226695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539016" y="224790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2.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608489" y="224790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3.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85195" y="4768275"/>
            <a:ext cx="895880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400" dirty="0" smtClean="0"/>
              <a:t>Find a partner, and discuss the relationship between </a:t>
            </a:r>
            <a:r>
              <a:rPr lang="en-US" sz="2400" i="1" dirty="0" smtClean="0"/>
              <a:t>x </a:t>
            </a:r>
            <a:r>
              <a:rPr lang="en-US" sz="2400" dirty="0" smtClean="0"/>
              <a:t>and </a:t>
            </a:r>
            <a:r>
              <a:rPr lang="en-US" sz="2400" i="1" dirty="0" smtClean="0"/>
              <a:t>y</a:t>
            </a:r>
            <a:r>
              <a:rPr lang="en-US" sz="2400" dirty="0" smtClean="0"/>
              <a:t>, using mathematical language (i.e. </a:t>
            </a:r>
            <a:r>
              <a:rPr lang="mr-IN" sz="2400" dirty="0" smtClean="0"/>
              <a:t>–</a:t>
            </a:r>
            <a:r>
              <a:rPr lang="en-US" sz="2400" dirty="0" smtClean="0"/>
              <a:t> as </a:t>
            </a:r>
            <a:r>
              <a:rPr lang="en-US" sz="2400" i="1" dirty="0" smtClean="0"/>
              <a:t>x</a:t>
            </a:r>
            <a:r>
              <a:rPr lang="en-US" sz="2400" dirty="0" smtClean="0"/>
              <a:t> increases, y</a:t>
            </a:r>
            <a:r>
              <a:rPr lang="mr-IN" sz="2400" dirty="0" smtClean="0"/>
              <a:t>…</a:t>
            </a:r>
            <a:r>
              <a:rPr lang="en-CA" sz="2400" dirty="0" smtClean="0"/>
              <a:t>..)</a:t>
            </a:r>
          </a:p>
          <a:p>
            <a:pPr marL="285750" indent="-285750">
              <a:buFont typeface="Arial" charset="0"/>
              <a:buChar char="•"/>
            </a:pPr>
            <a:r>
              <a:rPr lang="en-CA" sz="2400" dirty="0" smtClean="0"/>
              <a:t>Write a rule for each table</a:t>
            </a:r>
          </a:p>
          <a:p>
            <a:pPr marL="285750" indent="-285750">
              <a:buFont typeface="Arial" charset="0"/>
              <a:buChar char="•"/>
            </a:pPr>
            <a:r>
              <a:rPr lang="en-CA" sz="2400" dirty="0" smtClean="0"/>
              <a:t>As a class, discuss your strategy for writing each rule. What patterns did you notice and how did they help determine the rule?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31909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4405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8022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2087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63278" y="1480227"/>
            <a:ext cx="24713" cy="53777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6394" y="227081"/>
            <a:ext cx="31004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Relationships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91552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you find a rule from a table of values?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262270" y="1583265"/>
            <a:ext cx="73820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A </a:t>
            </a:r>
            <a:r>
              <a:rPr lang="en-US" sz="2400" b="1" i="1" dirty="0" smtClean="0"/>
              <a:t>rule</a:t>
            </a:r>
            <a:r>
              <a:rPr lang="en-US" sz="2400" dirty="0" smtClean="0"/>
              <a:t> must be true for every pair of coordinates (</a:t>
            </a:r>
            <a:r>
              <a:rPr lang="en-US" sz="2400" i="1" dirty="0" err="1" smtClean="0"/>
              <a:t>x,y</a:t>
            </a:r>
            <a:r>
              <a:rPr lang="en-US" sz="2400" dirty="0" smtClean="0"/>
              <a:t>) in a table or graph. Rules are written in the following form:</a:t>
            </a:r>
            <a:endParaRPr lang="en-US" sz="2400" dirty="0"/>
          </a:p>
        </p:txBody>
      </p:sp>
      <p:sp>
        <p:nvSpPr>
          <p:cNvPr id="18" name="TextBox 17"/>
          <p:cNvSpPr txBox="1"/>
          <p:nvPr/>
        </p:nvSpPr>
        <p:spPr>
          <a:xfrm>
            <a:off x="1177193" y="6211669"/>
            <a:ext cx="738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The constant will </a:t>
            </a:r>
            <a:r>
              <a:rPr lang="en-US" sz="2400" smtClean="0"/>
              <a:t>be the value of </a:t>
            </a:r>
            <a:r>
              <a:rPr lang="en-US" sz="2400" i="1" smtClean="0"/>
              <a:t>y</a:t>
            </a:r>
            <a:r>
              <a:rPr lang="en-US" sz="2400" smtClean="0"/>
              <a:t> when </a:t>
            </a:r>
            <a:r>
              <a:rPr lang="en-US" sz="2400" i="1" smtClean="0"/>
              <a:t>x</a:t>
            </a:r>
            <a:r>
              <a:rPr lang="en-US" sz="2400" smtClean="0"/>
              <a:t> = 0</a:t>
            </a:r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7873" y="2537444"/>
            <a:ext cx="2027507" cy="135976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38353" y="4282153"/>
            <a:ext cx="73820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The </a:t>
            </a:r>
            <a:r>
              <a:rPr lang="en-US" sz="2400" b="1" dirty="0" smtClean="0"/>
              <a:t>coefficient</a:t>
            </a:r>
            <a:r>
              <a:rPr lang="en-US" sz="2400" dirty="0" smtClean="0"/>
              <a:t> of </a:t>
            </a:r>
            <a:r>
              <a:rPr lang="en-US" sz="2400" i="1" dirty="0" smtClean="0"/>
              <a:t>x</a:t>
            </a:r>
            <a:r>
              <a:rPr lang="en-US" sz="2400" dirty="0" smtClean="0"/>
              <a:t> will be the increase or decrease in </a:t>
            </a:r>
            <a:r>
              <a:rPr lang="en-US" sz="2400" i="1" dirty="0" smtClean="0"/>
              <a:t>y</a:t>
            </a:r>
            <a:r>
              <a:rPr lang="en-US" sz="2400" dirty="0" smtClean="0"/>
              <a:t> as </a:t>
            </a:r>
            <a:r>
              <a:rPr lang="en-US" sz="2400" i="1" dirty="0" smtClean="0"/>
              <a:t>x</a:t>
            </a:r>
            <a:r>
              <a:rPr lang="en-US" sz="2400" dirty="0" smtClean="0"/>
              <a:t> increases </a:t>
            </a:r>
            <a:r>
              <a:rPr lang="en-US" sz="2400" u="sng" dirty="0" smtClean="0"/>
              <a:t>by 1</a:t>
            </a:r>
            <a:r>
              <a:rPr lang="en-US" sz="2400" dirty="0" smtClean="0"/>
              <a:t>. 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400" dirty="0" smtClean="0"/>
              <a:t>If </a:t>
            </a:r>
            <a:r>
              <a:rPr lang="en-US" sz="2400" i="1" dirty="0" smtClean="0"/>
              <a:t>y</a:t>
            </a:r>
            <a:r>
              <a:rPr lang="en-US" sz="2400" dirty="0" smtClean="0"/>
              <a:t> increases, the </a:t>
            </a:r>
            <a:r>
              <a:rPr lang="en-US" sz="2400" b="1" dirty="0" smtClean="0"/>
              <a:t>coefficient</a:t>
            </a:r>
            <a:r>
              <a:rPr lang="en-US" sz="2400" dirty="0" smtClean="0"/>
              <a:t> is positive.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400" dirty="0" smtClean="0"/>
              <a:t>If </a:t>
            </a:r>
            <a:r>
              <a:rPr lang="en-US" sz="2400" i="1" dirty="0" smtClean="0"/>
              <a:t>y </a:t>
            </a:r>
            <a:r>
              <a:rPr lang="en-US" sz="2400" dirty="0" smtClean="0"/>
              <a:t>decreases, the </a:t>
            </a:r>
            <a:r>
              <a:rPr lang="en-US" sz="2400" b="1" dirty="0" smtClean="0"/>
              <a:t>coefficient</a:t>
            </a:r>
            <a:r>
              <a:rPr lang="en-US" sz="2400" dirty="0" smtClean="0"/>
              <a:t> is negative.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81498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4405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8022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2087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63278" y="1480227"/>
            <a:ext cx="24713" cy="53777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6394" y="227081"/>
            <a:ext cx="31004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Relationships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91552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you find a rule from a table of values?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1213290" y="1571442"/>
            <a:ext cx="48217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Write a rule from the following table:</a:t>
            </a:r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-13913" y="1617608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0937477"/>
              </p:ext>
            </p:extLst>
          </p:nvPr>
        </p:nvGraphicFramePr>
        <p:xfrm>
          <a:off x="1213290" y="2177414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Curved Up Arrow 14"/>
          <p:cNvSpPr/>
          <p:nvPr/>
        </p:nvSpPr>
        <p:spPr>
          <a:xfrm>
            <a:off x="2773792" y="3035618"/>
            <a:ext cx="934278" cy="248478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Curved Up Arrow 18"/>
          <p:cNvSpPr/>
          <p:nvPr/>
        </p:nvSpPr>
        <p:spPr>
          <a:xfrm>
            <a:off x="3902956" y="3047939"/>
            <a:ext cx="934278" cy="248478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Curved Up Arrow 20"/>
          <p:cNvSpPr/>
          <p:nvPr/>
        </p:nvSpPr>
        <p:spPr>
          <a:xfrm>
            <a:off x="4953774" y="3072787"/>
            <a:ext cx="934278" cy="248478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Curved Up Arrow 21"/>
          <p:cNvSpPr/>
          <p:nvPr/>
        </p:nvSpPr>
        <p:spPr>
          <a:xfrm>
            <a:off x="6004592" y="3077757"/>
            <a:ext cx="934278" cy="248478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32380" y="3367174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+2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4105977" y="3350470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+2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179574" y="3350470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+2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6203304" y="3338735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+2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498" y="4914113"/>
            <a:ext cx="2344178" cy="440635"/>
          </a:xfrm>
          <a:prstGeom prst="rect">
            <a:avLst/>
          </a:prstGeom>
        </p:spPr>
      </p:pic>
      <p:sp>
        <p:nvSpPr>
          <p:cNvPr id="26" name="Right Arrow 25"/>
          <p:cNvSpPr/>
          <p:nvPr/>
        </p:nvSpPr>
        <p:spPr>
          <a:xfrm rot="3713896">
            <a:off x="2967917" y="4193776"/>
            <a:ext cx="1317038" cy="1955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TextBox 26"/>
          <p:cNvSpPr txBox="1"/>
          <p:nvPr/>
        </p:nvSpPr>
        <p:spPr>
          <a:xfrm>
            <a:off x="3902956" y="487986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2</a:t>
            </a:r>
            <a:endParaRPr lang="en-US" sz="2400" dirty="0"/>
          </a:p>
        </p:txBody>
      </p:sp>
      <p:sp>
        <p:nvSpPr>
          <p:cNvPr id="28" name="TextBox 27"/>
          <p:cNvSpPr txBox="1"/>
          <p:nvPr/>
        </p:nvSpPr>
        <p:spPr>
          <a:xfrm>
            <a:off x="1122744" y="5433561"/>
            <a:ext cx="7900607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400" dirty="0" smtClean="0"/>
              <a:t>As </a:t>
            </a:r>
            <a:r>
              <a:rPr lang="en-US" sz="2400" i="1" dirty="0" smtClean="0"/>
              <a:t>x</a:t>
            </a:r>
            <a:r>
              <a:rPr lang="en-US" sz="2400" dirty="0" smtClean="0"/>
              <a:t> increases by 1, </a:t>
            </a:r>
            <a:r>
              <a:rPr lang="en-US" sz="2400" i="1" dirty="0" smtClean="0"/>
              <a:t>y</a:t>
            </a:r>
            <a:r>
              <a:rPr lang="en-US" sz="2400" dirty="0" smtClean="0"/>
              <a:t> increases by 2, so the </a:t>
            </a:r>
            <a:r>
              <a:rPr lang="en-US" sz="2400" b="1" dirty="0" smtClean="0"/>
              <a:t>coefficient</a:t>
            </a:r>
            <a:r>
              <a:rPr lang="en-US" sz="2400" dirty="0" smtClean="0"/>
              <a:t> is 2.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 smtClean="0"/>
              <a:t>When </a:t>
            </a:r>
            <a:r>
              <a:rPr lang="en-US" sz="2400" i="1" dirty="0" smtClean="0"/>
              <a:t>x</a:t>
            </a:r>
            <a:r>
              <a:rPr lang="en-US" sz="2400" dirty="0" smtClean="0"/>
              <a:t> = 0, </a:t>
            </a:r>
            <a:r>
              <a:rPr lang="en-US" sz="2400" i="1" dirty="0" smtClean="0"/>
              <a:t>y </a:t>
            </a:r>
            <a:r>
              <a:rPr lang="en-CA" sz="2400" dirty="0" smtClean="0"/>
              <a:t>= 3, so the </a:t>
            </a:r>
            <a:r>
              <a:rPr lang="en-CA" sz="2400" b="1" dirty="0" smtClean="0"/>
              <a:t>constant</a:t>
            </a:r>
            <a:r>
              <a:rPr lang="en-CA" sz="2400" dirty="0" smtClean="0"/>
              <a:t> is 3.</a:t>
            </a:r>
          </a:p>
          <a:p>
            <a:pPr marL="285750" indent="-285750">
              <a:buFont typeface="Arial" charset="0"/>
              <a:buChar char="•"/>
            </a:pPr>
            <a:r>
              <a:rPr lang="en-CA" sz="2400" dirty="0" smtClean="0"/>
              <a:t>Therefore the rule is </a:t>
            </a:r>
            <a:r>
              <a:rPr lang="en-CA" sz="2800" i="1" dirty="0" smtClean="0"/>
              <a:t>y</a:t>
            </a:r>
            <a:r>
              <a:rPr lang="en-CA" sz="2800" dirty="0" smtClean="0"/>
              <a:t> = 2</a:t>
            </a:r>
            <a:r>
              <a:rPr lang="en-CA" sz="2800" i="1" dirty="0" smtClean="0"/>
              <a:t>x</a:t>
            </a:r>
            <a:r>
              <a:rPr lang="en-CA" sz="2800" dirty="0" smtClean="0"/>
              <a:t> + 3</a:t>
            </a:r>
            <a:endParaRPr lang="en-US" sz="2800" dirty="0" smtClean="0"/>
          </a:p>
          <a:p>
            <a:pPr marL="285750" indent="-285750">
              <a:buFont typeface="Arial" charset="0"/>
              <a:buChar char="•"/>
            </a:pPr>
            <a:endParaRPr lang="en-US" dirty="0"/>
          </a:p>
        </p:txBody>
      </p:sp>
      <p:sp>
        <p:nvSpPr>
          <p:cNvPr id="29" name="Right Arrow 28"/>
          <p:cNvSpPr/>
          <p:nvPr/>
        </p:nvSpPr>
        <p:spPr>
          <a:xfrm rot="4417563">
            <a:off x="4250408" y="3957809"/>
            <a:ext cx="1643073" cy="1876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TextBox 29"/>
          <p:cNvSpPr txBox="1"/>
          <p:nvPr/>
        </p:nvSpPr>
        <p:spPr>
          <a:xfrm>
            <a:off x="5179574" y="488257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3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85376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9" dur="20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4" dur="20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9" grpId="0" animBg="1"/>
      <p:bldP spid="21" grpId="0" animBg="1"/>
      <p:bldP spid="22" grpId="0" animBg="1"/>
      <p:bldP spid="16" grpId="0"/>
      <p:bldP spid="23" grpId="0"/>
      <p:bldP spid="24" grpId="0"/>
      <p:bldP spid="25" grpId="0"/>
      <p:bldP spid="26" grpId="1" animBg="1"/>
      <p:bldP spid="27" grpId="0"/>
      <p:bldP spid="29" grpId="1" animBg="1"/>
      <p:bldP spid="3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4405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8022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2087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63278" y="1480227"/>
            <a:ext cx="24713" cy="53777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6394" y="227081"/>
            <a:ext cx="31004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Relationships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91552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you find a rule from a table of values?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1196232" y="1525248"/>
            <a:ext cx="48217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Write a rule from the following table:</a:t>
            </a:r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-13913" y="1583265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053727"/>
              </p:ext>
            </p:extLst>
          </p:nvPr>
        </p:nvGraphicFramePr>
        <p:xfrm>
          <a:off x="1343175" y="2044386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Curved Up Arrow 14"/>
          <p:cNvSpPr/>
          <p:nvPr/>
        </p:nvSpPr>
        <p:spPr>
          <a:xfrm>
            <a:off x="2903677" y="2902590"/>
            <a:ext cx="934278" cy="248478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Curved Up Arrow 18"/>
          <p:cNvSpPr/>
          <p:nvPr/>
        </p:nvSpPr>
        <p:spPr>
          <a:xfrm>
            <a:off x="4032841" y="2914911"/>
            <a:ext cx="934278" cy="248478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Curved Up Arrow 20"/>
          <p:cNvSpPr/>
          <p:nvPr/>
        </p:nvSpPr>
        <p:spPr>
          <a:xfrm>
            <a:off x="5083659" y="2939759"/>
            <a:ext cx="934278" cy="248478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Curved Up Arrow 21"/>
          <p:cNvSpPr/>
          <p:nvPr/>
        </p:nvSpPr>
        <p:spPr>
          <a:xfrm>
            <a:off x="6134477" y="2944729"/>
            <a:ext cx="934278" cy="248478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162265" y="323414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</a:t>
            </a:r>
            <a:r>
              <a:rPr lang="en-US" dirty="0"/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35862" y="3217442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</a:t>
            </a:r>
            <a:r>
              <a:rPr lang="en-US" dirty="0"/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9459" y="3217442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</a:t>
            </a:r>
            <a:r>
              <a:rPr lang="en-US" dirty="0"/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3189" y="3205707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-1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383" y="4781085"/>
            <a:ext cx="2344178" cy="440635"/>
          </a:xfrm>
          <a:prstGeom prst="rect">
            <a:avLst/>
          </a:prstGeom>
        </p:spPr>
      </p:pic>
      <p:sp>
        <p:nvSpPr>
          <p:cNvPr id="26" name="Right Arrow 25"/>
          <p:cNvSpPr/>
          <p:nvPr/>
        </p:nvSpPr>
        <p:spPr>
          <a:xfrm rot="3713896">
            <a:off x="3097802" y="4060748"/>
            <a:ext cx="1317038" cy="1955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TextBox 26"/>
          <p:cNvSpPr txBox="1"/>
          <p:nvPr/>
        </p:nvSpPr>
        <p:spPr>
          <a:xfrm>
            <a:off x="3973851" y="4749548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smtClean="0"/>
              <a:t>-1</a:t>
            </a:r>
            <a:endParaRPr lang="en-US" sz="2400" dirty="0"/>
          </a:p>
        </p:txBody>
      </p:sp>
      <p:sp>
        <p:nvSpPr>
          <p:cNvPr id="28" name="TextBox 27"/>
          <p:cNvSpPr txBox="1"/>
          <p:nvPr/>
        </p:nvSpPr>
        <p:spPr>
          <a:xfrm>
            <a:off x="1213290" y="5234609"/>
            <a:ext cx="7900607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400" dirty="0" smtClean="0"/>
              <a:t>This time, as </a:t>
            </a:r>
            <a:r>
              <a:rPr lang="en-US" sz="2400" i="1" dirty="0" smtClean="0"/>
              <a:t>x</a:t>
            </a:r>
            <a:r>
              <a:rPr lang="en-US" sz="2400" dirty="0" smtClean="0"/>
              <a:t> increases by 1, </a:t>
            </a:r>
            <a:r>
              <a:rPr lang="en-US" sz="2400" i="1" dirty="0" smtClean="0"/>
              <a:t>y</a:t>
            </a:r>
            <a:r>
              <a:rPr lang="en-US" sz="2400" dirty="0" smtClean="0"/>
              <a:t> </a:t>
            </a:r>
            <a:r>
              <a:rPr lang="en-US" sz="2400" u="sng" dirty="0" smtClean="0"/>
              <a:t>decreases</a:t>
            </a:r>
            <a:r>
              <a:rPr lang="en-US" sz="2400" dirty="0" smtClean="0"/>
              <a:t> by 1, so the </a:t>
            </a:r>
            <a:r>
              <a:rPr lang="en-US" sz="2400" b="1" dirty="0" smtClean="0"/>
              <a:t>coefficient</a:t>
            </a:r>
            <a:r>
              <a:rPr lang="en-US" sz="2400" dirty="0" smtClean="0"/>
              <a:t> is -1.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 smtClean="0"/>
              <a:t>When </a:t>
            </a:r>
            <a:r>
              <a:rPr lang="en-US" sz="2400" i="1" dirty="0" smtClean="0"/>
              <a:t>x</a:t>
            </a:r>
            <a:r>
              <a:rPr lang="en-US" sz="2400" dirty="0" smtClean="0"/>
              <a:t> = 0, </a:t>
            </a:r>
            <a:r>
              <a:rPr lang="en-US" sz="2400" i="1" dirty="0" smtClean="0"/>
              <a:t>y </a:t>
            </a:r>
            <a:r>
              <a:rPr lang="en-CA" sz="2400" dirty="0" smtClean="0"/>
              <a:t>= -1, so the </a:t>
            </a:r>
            <a:r>
              <a:rPr lang="en-CA" sz="2400" b="1" dirty="0" smtClean="0"/>
              <a:t>constant</a:t>
            </a:r>
            <a:r>
              <a:rPr lang="en-CA" sz="2400" dirty="0" smtClean="0"/>
              <a:t> is -1.</a:t>
            </a:r>
          </a:p>
          <a:p>
            <a:pPr marL="285750" indent="-285750">
              <a:buFont typeface="Arial" charset="0"/>
              <a:buChar char="•"/>
            </a:pPr>
            <a:r>
              <a:rPr lang="en-CA" sz="2400" dirty="0" smtClean="0"/>
              <a:t>Therefore the rule is </a:t>
            </a:r>
            <a:r>
              <a:rPr lang="en-CA" sz="2800" i="1" dirty="0" smtClean="0"/>
              <a:t>y</a:t>
            </a:r>
            <a:r>
              <a:rPr lang="en-CA" sz="2800" dirty="0" smtClean="0"/>
              <a:t> = -</a:t>
            </a:r>
            <a:r>
              <a:rPr lang="en-CA" sz="2800" i="1" dirty="0" smtClean="0"/>
              <a:t>x</a:t>
            </a:r>
            <a:r>
              <a:rPr lang="en-CA" sz="2800" dirty="0" smtClean="0"/>
              <a:t> </a:t>
            </a:r>
            <a:r>
              <a:rPr lang="en-CA" sz="2800" dirty="0"/>
              <a:t>-</a:t>
            </a:r>
            <a:r>
              <a:rPr lang="en-CA" sz="2800" dirty="0" smtClean="0"/>
              <a:t> 1</a:t>
            </a:r>
            <a:endParaRPr lang="en-US" sz="2800" dirty="0" smtClean="0"/>
          </a:p>
          <a:p>
            <a:pPr marL="285750" indent="-285750">
              <a:buFont typeface="Arial" charset="0"/>
              <a:buChar char="•"/>
            </a:pPr>
            <a:endParaRPr lang="en-US" dirty="0"/>
          </a:p>
        </p:txBody>
      </p:sp>
      <p:sp>
        <p:nvSpPr>
          <p:cNvPr id="29" name="Right Arrow 28"/>
          <p:cNvSpPr/>
          <p:nvPr/>
        </p:nvSpPr>
        <p:spPr>
          <a:xfrm rot="4417563">
            <a:off x="4380293" y="3824781"/>
            <a:ext cx="1643073" cy="1876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TextBox 29"/>
          <p:cNvSpPr txBox="1"/>
          <p:nvPr/>
        </p:nvSpPr>
        <p:spPr>
          <a:xfrm>
            <a:off x="5289186" y="4760055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smtClean="0"/>
              <a:t>-1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48882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9" dur="20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4" dur="20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9" grpId="0" animBg="1"/>
      <p:bldP spid="21" grpId="0" animBg="1"/>
      <p:bldP spid="22" grpId="0" animBg="1"/>
      <p:bldP spid="16" grpId="0"/>
      <p:bldP spid="23" grpId="0"/>
      <p:bldP spid="24" grpId="0"/>
      <p:bldP spid="25" grpId="0"/>
      <p:bldP spid="26" grpId="0" animBg="1"/>
      <p:bldP spid="27" grpId="0"/>
      <p:bldP spid="29" grpId="0" animBg="1"/>
      <p:bldP spid="3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Do you understand? </a:t>
            </a:r>
            <a:endParaRPr lang="en-AU" dirty="0"/>
          </a:p>
        </p:txBody>
      </p:sp>
      <p:pic>
        <p:nvPicPr>
          <p:cNvPr id="4" name="Picture 4" descr="Image result for i understa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5787" y="1784436"/>
            <a:ext cx="4292425" cy="4292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3972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8700" y="677642"/>
            <a:ext cx="2172423" cy="398803"/>
          </a:xfrm>
        </p:spPr>
        <p:txBody>
          <a:bodyPr>
            <a:noAutofit/>
          </a:bodyPr>
          <a:lstStyle/>
          <a:p>
            <a:pPr algn="ctr"/>
            <a:r>
              <a:rPr lang="en-US" sz="4000" dirty="0" smtClean="0"/>
              <a:t>Your turn</a:t>
            </a:r>
            <a:endParaRPr lang="en-US" sz="4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" y="1957730"/>
            <a:ext cx="8966200" cy="264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637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4405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8022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2087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63278" y="1480227"/>
            <a:ext cx="24713" cy="53777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6394" y="227081"/>
            <a:ext cx="31004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Relationships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91552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you find a rule from a table of values?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1047712" y="1583265"/>
            <a:ext cx="78388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What happens when the value of </a:t>
            </a:r>
            <a:r>
              <a:rPr lang="en-US" sz="2400" i="1" dirty="0" smtClean="0"/>
              <a:t>y</a:t>
            </a:r>
            <a:r>
              <a:rPr lang="en-US" sz="2400" dirty="0" smtClean="0"/>
              <a:t> when </a:t>
            </a:r>
            <a:r>
              <a:rPr lang="en-US" sz="2400" i="1" dirty="0" smtClean="0"/>
              <a:t>x</a:t>
            </a:r>
            <a:r>
              <a:rPr lang="en-US" sz="2400" dirty="0" smtClean="0"/>
              <a:t> = 0 isn’t given!?!? </a:t>
            </a:r>
            <a:endParaRPr lang="en-US" sz="2400" dirty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1499938"/>
              </p:ext>
            </p:extLst>
          </p:nvPr>
        </p:nvGraphicFramePr>
        <p:xfrm>
          <a:off x="1162232" y="2153458"/>
          <a:ext cx="6147260" cy="862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9452"/>
                <a:gridCol w="1229452"/>
                <a:gridCol w="1229452"/>
                <a:gridCol w="1229452"/>
                <a:gridCol w="1229452"/>
              </a:tblGrid>
              <a:tr h="43104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  <a:tr h="43104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Curved Up Arrow 14"/>
          <p:cNvSpPr/>
          <p:nvPr/>
        </p:nvSpPr>
        <p:spPr>
          <a:xfrm>
            <a:off x="3045490" y="3058161"/>
            <a:ext cx="1129164" cy="26920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Curved Up Arrow 18"/>
          <p:cNvSpPr/>
          <p:nvPr/>
        </p:nvSpPr>
        <p:spPr>
          <a:xfrm>
            <a:off x="4281002" y="3058161"/>
            <a:ext cx="1050818" cy="22363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Curved Up Arrow 20"/>
          <p:cNvSpPr/>
          <p:nvPr/>
        </p:nvSpPr>
        <p:spPr>
          <a:xfrm>
            <a:off x="5495567" y="3058161"/>
            <a:ext cx="1209839" cy="267754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405724" y="3318741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+</a:t>
            </a:r>
            <a:r>
              <a:rPr lang="en-US" dirty="0"/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20302" y="3313328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+2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868341" y="3286918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+</a:t>
            </a:r>
            <a:r>
              <a:rPr lang="en-US" dirty="0"/>
              <a:t>2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1" y="4341770"/>
            <a:ext cx="2344178" cy="440635"/>
          </a:xfrm>
          <a:prstGeom prst="rect">
            <a:avLst/>
          </a:prstGeom>
        </p:spPr>
      </p:pic>
      <p:sp>
        <p:nvSpPr>
          <p:cNvPr id="26" name="Right Arrow 25"/>
          <p:cNvSpPr/>
          <p:nvPr/>
        </p:nvSpPr>
        <p:spPr>
          <a:xfrm rot="3533021">
            <a:off x="3553009" y="3873889"/>
            <a:ext cx="691857" cy="1972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TextBox 26"/>
          <p:cNvSpPr txBox="1"/>
          <p:nvPr/>
        </p:nvSpPr>
        <p:spPr>
          <a:xfrm>
            <a:off x="4060111" y="429620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5353" y="4782405"/>
            <a:ext cx="79006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400" dirty="0" smtClean="0"/>
              <a:t>We need to substitute another pair of coordinates to find the constant. We’ll use the first pair, (2,5).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5726" y="5637942"/>
            <a:ext cx="4409151" cy="1131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44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20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9" grpId="0" animBg="1"/>
      <p:bldP spid="21" grpId="0" animBg="1"/>
      <p:bldP spid="16" grpId="0"/>
      <p:bldP spid="23" grpId="0"/>
      <p:bldP spid="24" grpId="0"/>
      <p:bldP spid="26" grpId="0" animBg="1"/>
      <p:bldP spid="2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8700" y="677642"/>
            <a:ext cx="2172423" cy="398803"/>
          </a:xfrm>
        </p:spPr>
        <p:txBody>
          <a:bodyPr>
            <a:noAutofit/>
          </a:bodyPr>
          <a:lstStyle/>
          <a:p>
            <a:pPr algn="ctr"/>
            <a:r>
              <a:rPr lang="en-US" sz="4000" dirty="0" smtClean="0"/>
              <a:t>Your turn</a:t>
            </a:r>
            <a:endParaRPr lang="en-US" sz="4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97" y="1793433"/>
            <a:ext cx="8957735" cy="2628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2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4300" y="515597"/>
            <a:ext cx="4591533" cy="445102"/>
          </a:xfrm>
        </p:spPr>
        <p:txBody>
          <a:bodyPr>
            <a:noAutofit/>
          </a:bodyPr>
          <a:lstStyle/>
          <a:p>
            <a:pPr algn="ctr"/>
            <a:r>
              <a:rPr lang="en-US" sz="4000" smtClean="0"/>
              <a:t>Further Application</a:t>
            </a:r>
            <a:endParaRPr lang="en-US" sz="4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96" y="1507763"/>
            <a:ext cx="8835709" cy="4522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762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2902</TotalTime>
  <Words>631</Words>
  <Application>Microsoft Macintosh PowerPoint</Application>
  <PresentationFormat>On-screen Show (4:3)</PresentationFormat>
  <Paragraphs>169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Calibri</vt:lpstr>
      <vt:lpstr>Calibri Light</vt:lpstr>
      <vt:lpstr>Mangal</vt:lpstr>
      <vt:lpstr>Arial</vt:lpstr>
      <vt:lpstr>Office Theme</vt:lpstr>
      <vt:lpstr>My Linear Relationships Interactive Notebook</vt:lpstr>
      <vt:lpstr>Interactive Notebooks!</vt:lpstr>
      <vt:lpstr>PowerPoint Presentation</vt:lpstr>
      <vt:lpstr>PowerPoint Presentation</vt:lpstr>
      <vt:lpstr>From last lesson</vt:lpstr>
      <vt:lpstr>Think – Pair - Share</vt:lpstr>
      <vt:lpstr>PowerPoint Presentation</vt:lpstr>
      <vt:lpstr>PowerPoint Presentation</vt:lpstr>
      <vt:lpstr>PowerPoint Presentation</vt:lpstr>
      <vt:lpstr>Do you understand? </vt:lpstr>
      <vt:lpstr>Your turn</vt:lpstr>
      <vt:lpstr>PowerPoint Presentation</vt:lpstr>
      <vt:lpstr>Your turn</vt:lpstr>
      <vt:lpstr>Further Application</vt:lpstr>
    </vt:vector>
  </TitlesOfParts>
  <LinksUpToDate>false</LinksUpToDate>
  <SharedDoc>false</SharedDoc>
  <HyperlinksChanged>false</HyperlinksChanged>
  <AppVersion>15.0034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SUMMERS Brad [Baldivis Secondary College]</cp:lastModifiedBy>
  <cp:revision>86</cp:revision>
  <dcterms:created xsi:type="dcterms:W3CDTF">2016-04-30T07:20:25Z</dcterms:created>
  <dcterms:modified xsi:type="dcterms:W3CDTF">2017-10-15T10:23:48Z</dcterms:modified>
</cp:coreProperties>
</file>
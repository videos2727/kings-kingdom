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1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CDC4CB-A308-E142-BDBA-0C8610BC2AA7}">
          <p14:sldIdLst>
            <p14:sldId id="258"/>
            <p14:sldId id="261"/>
            <p14:sldId id="260"/>
            <p14:sldId id="262"/>
            <p14:sldId id="263"/>
          </p14:sldIdLst>
        </p14:section>
        <p14:section name="Untitled Section" id="{387758F6-58CA-AB4B-911A-E75B6C57903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6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92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7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0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2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5D98-D805-7E44-8E56-44EA59905C8E}" type="datetimeFigureOut">
              <a:rPr lang="en-US" smtClean="0"/>
              <a:t>6/4/17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C1CD4-C0AC-CD4B-8D90-97D544603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9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</a:t>
            </a:r>
            <a:r>
              <a:rPr lang="en-AU" sz="2800" dirty="0" smtClean="0"/>
              <a:t>Profit &amp; Loss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487" y="980729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–How can we express Profit &amp; loss as a % of cost price CP or selling price SP?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953000" y="2021938"/>
            <a:ext cx="6553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Mia bought a block of land for $120 000, however, due to financial difficulty, had to sell it quickly and sold it for $100,000.</a:t>
            </a:r>
          </a:p>
          <a:p>
            <a:r>
              <a:rPr lang="en-US" dirty="0" smtClean="0"/>
              <a:t>This is a</a:t>
            </a:r>
            <a:r>
              <a:rPr lang="en-US" u="sng" dirty="0" smtClean="0"/>
              <a:t> </a:t>
            </a:r>
            <a:r>
              <a:rPr lang="en-US" u="sng" dirty="0" smtClean="0">
                <a:solidFill>
                  <a:srgbClr val="FF0000"/>
                </a:solidFill>
              </a:rPr>
              <a:t>LOSS</a:t>
            </a:r>
            <a:r>
              <a:rPr lang="en-US" u="sng" dirty="0" smtClean="0"/>
              <a:t> </a:t>
            </a:r>
            <a:r>
              <a:rPr lang="en-US" dirty="0" smtClean="0"/>
              <a:t>of $20,000</a:t>
            </a:r>
          </a:p>
          <a:p>
            <a:endParaRPr lang="en-US" dirty="0" smtClean="0"/>
          </a:p>
          <a:p>
            <a:r>
              <a:rPr lang="en-US" dirty="0" smtClean="0"/>
              <a:t>1.         What % of the buying price is this?</a:t>
            </a:r>
          </a:p>
          <a:p>
            <a:endParaRPr lang="en-US" dirty="0"/>
          </a:p>
          <a:p>
            <a:r>
              <a:rPr lang="en-US" dirty="0" smtClean="0"/>
              <a:t>20 000 x 100/120 000    = 16.67% Mia made a 16.67</a:t>
            </a:r>
            <a:r>
              <a:rPr lang="en-US" u="sng" dirty="0" smtClean="0"/>
              <a:t>% LOSS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AutoNum type="arabicPeriod" startAt="2"/>
            </a:pPr>
            <a:r>
              <a:rPr lang="en-US" dirty="0" smtClean="0"/>
              <a:t>What % of the selling price is this?</a:t>
            </a:r>
          </a:p>
          <a:p>
            <a:pPr marL="342900" indent="-342900">
              <a:buAutoNum type="arabicPeriod" startAt="2"/>
            </a:pPr>
            <a:endParaRPr lang="en-US" dirty="0"/>
          </a:p>
          <a:p>
            <a:r>
              <a:rPr lang="en-US" dirty="0" smtClean="0"/>
              <a:t>20 000 x 100/ 100 000 = </a:t>
            </a:r>
            <a:r>
              <a:rPr lang="en-US" u="sng" dirty="0" smtClean="0"/>
              <a:t>20% LOSS</a:t>
            </a:r>
            <a:r>
              <a:rPr lang="en-US" dirty="0" smtClean="0"/>
              <a:t>,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SUMMARY: Don’t forget to include the words Profit or Loss in your final answer.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9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2800" y="914400"/>
            <a:ext cx="8636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Profit = selling price- cost price</a:t>
            </a:r>
          </a:p>
          <a:p>
            <a:r>
              <a:rPr lang="en-US" dirty="0" smtClean="0"/>
              <a:t>			</a:t>
            </a:r>
            <a:r>
              <a:rPr lang="en-US" b="1" dirty="0" smtClean="0">
                <a:solidFill>
                  <a:srgbClr val="7030A0"/>
                </a:solidFill>
              </a:rPr>
              <a:t>% Profit = profit/original value x 100%</a:t>
            </a:r>
          </a:p>
          <a:p>
            <a:endParaRPr lang="en-US" dirty="0"/>
          </a:p>
          <a:p>
            <a:r>
              <a:rPr lang="en-US" dirty="0" smtClean="0"/>
              <a:t>Loss = cost price- selling price</a:t>
            </a:r>
          </a:p>
          <a:p>
            <a:endParaRPr lang="en-US" dirty="0"/>
          </a:p>
          <a:p>
            <a:r>
              <a:rPr lang="en-US" dirty="0" smtClean="0"/>
              <a:t>			</a:t>
            </a:r>
            <a:r>
              <a:rPr lang="en-US" b="1" dirty="0" smtClean="0">
                <a:solidFill>
                  <a:srgbClr val="7030A0"/>
                </a:solidFill>
              </a:rPr>
              <a:t>% Loss = Loss/original value x 100%</a:t>
            </a:r>
          </a:p>
          <a:p>
            <a:r>
              <a:rPr lang="en-US" dirty="0" smtClean="0"/>
              <a:t>Enrichment: </a:t>
            </a:r>
            <a:r>
              <a:rPr lang="en-US" u="sng" dirty="0" smtClean="0"/>
              <a:t>Commission</a:t>
            </a:r>
          </a:p>
          <a:p>
            <a:r>
              <a:rPr lang="en-US" dirty="0" smtClean="0"/>
              <a:t>Many people who work in sales jobs are paid commission</a:t>
            </a:r>
          </a:p>
          <a:p>
            <a:r>
              <a:rPr lang="en-US" dirty="0" smtClean="0"/>
              <a:t>That is a certain % of the total amount of their sales  sometimes but not always  added to a retainer (flat rate).</a:t>
            </a:r>
          </a:p>
          <a:p>
            <a:r>
              <a:rPr lang="en-US" dirty="0" smtClean="0"/>
              <a:t>For example, </a:t>
            </a:r>
          </a:p>
          <a:p>
            <a:r>
              <a:rPr lang="en-US" dirty="0" smtClean="0"/>
              <a:t>Real Estate/Automotive </a:t>
            </a:r>
          </a:p>
          <a:p>
            <a:r>
              <a:rPr lang="en-US" dirty="0" smtClean="0"/>
              <a:t>Sales people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7030A0"/>
                </a:solidFill>
              </a:rPr>
              <a:t>% change = </a:t>
            </a:r>
          </a:p>
          <a:p>
            <a:r>
              <a:rPr lang="en-US" b="1" dirty="0" smtClean="0">
                <a:solidFill>
                  <a:srgbClr val="7030A0"/>
                </a:solidFill>
              </a:rPr>
              <a:t>change/original value x 100 %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13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</a:t>
            </a:r>
            <a:r>
              <a:rPr lang="en-AU" sz="2800" dirty="0" smtClean="0"/>
              <a:t>Profit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5487" y="98072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to </a:t>
            </a:r>
            <a:r>
              <a:rPr lang="en-AU" sz="2400" dirty="0" smtClean="0"/>
              <a:t>find the PROFIT to add </a:t>
            </a:r>
            <a:r>
              <a:rPr lang="en-AU" sz="2400" dirty="0"/>
              <a:t>% to an existing amount?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5747331" y="2378497"/>
            <a:ext cx="3215844" cy="5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 flipH="1">
            <a:off x="4826000" y="2378498"/>
            <a:ext cx="54446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Ella bought a 2 bedroom unit 12 years ago for $95 000, and recently sold it for $280 000 (after deducting costs). </a:t>
            </a:r>
          </a:p>
          <a:p>
            <a:endParaRPr lang="en-US" dirty="0"/>
          </a:p>
          <a:p>
            <a:r>
              <a:rPr lang="en-US" dirty="0" smtClean="0"/>
              <a:t>Did She make  a PROFIT or a </a:t>
            </a:r>
            <a:r>
              <a:rPr lang="en-US" dirty="0"/>
              <a:t>L</a:t>
            </a:r>
            <a:r>
              <a:rPr lang="en-US" dirty="0" smtClean="0"/>
              <a:t>OSS?</a:t>
            </a:r>
          </a:p>
          <a:p>
            <a:r>
              <a:rPr lang="en-US" dirty="0"/>
              <a:t> </a:t>
            </a:r>
            <a:r>
              <a:rPr lang="en-US" dirty="0" smtClean="0"/>
              <a:t>A profit. </a:t>
            </a:r>
          </a:p>
          <a:p>
            <a:r>
              <a:rPr lang="en-US" dirty="0"/>
              <a:t> </a:t>
            </a:r>
            <a:r>
              <a:rPr lang="en-US" dirty="0" smtClean="0"/>
              <a:t>$280 000 is more than $95 000.</a:t>
            </a:r>
          </a:p>
          <a:p>
            <a:r>
              <a:rPr lang="en-US" dirty="0"/>
              <a:t> </a:t>
            </a:r>
            <a:r>
              <a:rPr lang="en-US" dirty="0" smtClean="0"/>
              <a:t>$280 000 - $95 000 = $185 000 PROFIT</a:t>
            </a:r>
          </a:p>
          <a:p>
            <a:r>
              <a:rPr lang="en-US" dirty="0" smtClean="0"/>
              <a:t>185 000/ 95 000  x 100 = 195 % (% of the BP)</a:t>
            </a:r>
          </a:p>
          <a:p>
            <a:r>
              <a:rPr lang="en-US" dirty="0" smtClean="0"/>
              <a:t>$95 000/ 280 000 x 100 = 33.9% (of SP)</a:t>
            </a:r>
          </a:p>
          <a:p>
            <a:endParaRPr lang="en-US" dirty="0"/>
          </a:p>
          <a:p>
            <a:r>
              <a:rPr lang="en-US" dirty="0" smtClean="0"/>
              <a:t>Which % profit sounds better for Ella? </a:t>
            </a:r>
          </a:p>
          <a:p>
            <a:r>
              <a:rPr lang="en-US" dirty="0" smtClean="0"/>
              <a:t>(195 % of the BP)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3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2699330" y="635000"/>
            <a:ext cx="66732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Australia’s population in early 2010 was</a:t>
            </a:r>
          </a:p>
          <a:p>
            <a:r>
              <a:rPr lang="en-US" dirty="0" smtClean="0"/>
              <a:t>22003926</a:t>
            </a:r>
          </a:p>
          <a:p>
            <a:r>
              <a:rPr lang="en-US" dirty="0" smtClean="0"/>
              <a:t>And growth was 1.8% per year.</a:t>
            </a:r>
          </a:p>
          <a:p>
            <a:r>
              <a:rPr lang="en-US" dirty="0" smtClean="0"/>
              <a:t>How much should it be this year?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1961, the TFR per woman was 3.6 babies.</a:t>
            </a:r>
          </a:p>
          <a:p>
            <a:r>
              <a:rPr lang="en-US" dirty="0" smtClean="0"/>
              <a:t>In 2010 the TFR per woman was 1.74 babies what is the % decrease?</a:t>
            </a:r>
          </a:p>
          <a:p>
            <a:endParaRPr lang="en-US" dirty="0" smtClean="0"/>
          </a:p>
          <a:p>
            <a:r>
              <a:rPr lang="en-US" dirty="0" smtClean="0"/>
              <a:t>3.6 – 1.74 = 1.86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8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Answer to Australia’s </a:t>
            </a:r>
            <a:r>
              <a:rPr lang="en-US" dirty="0" smtClean="0"/>
              <a:t>Population decline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1.86/3.6 x 100 %</a:t>
            </a:r>
          </a:p>
          <a:p>
            <a:pPr algn="ctr"/>
            <a:r>
              <a:rPr lang="en-US" dirty="0" smtClean="0"/>
              <a:t>= 51.66 %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7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337</Words>
  <Application>Microsoft Macintosh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Answer to Australia’s Population decline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PATERSON Anne</dc:creator>
  <cp:lastModifiedBy>PATERSON Anne</cp:lastModifiedBy>
  <cp:revision>8</cp:revision>
  <dcterms:created xsi:type="dcterms:W3CDTF">2017-06-03T03:19:29Z</dcterms:created>
  <dcterms:modified xsi:type="dcterms:W3CDTF">2017-06-04T01:40:30Z</dcterms:modified>
</cp:coreProperties>
</file>
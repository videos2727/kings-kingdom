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9" r:id="rId2"/>
    <p:sldId id="285" r:id="rId3"/>
    <p:sldId id="302" r:id="rId4"/>
    <p:sldId id="257" r:id="rId5"/>
    <p:sldId id="301" r:id="rId6"/>
    <p:sldId id="291" r:id="rId7"/>
    <p:sldId id="259" r:id="rId8"/>
    <p:sldId id="300" r:id="rId9"/>
    <p:sldId id="293" r:id="rId10"/>
    <p:sldId id="309" r:id="rId11"/>
    <p:sldId id="305" r:id="rId12"/>
    <p:sldId id="310" r:id="rId13"/>
    <p:sldId id="313" r:id="rId14"/>
    <p:sldId id="311" r:id="rId15"/>
    <p:sldId id="314" r:id="rId16"/>
    <p:sldId id="306" r:id="rId17"/>
    <p:sldId id="307" r:id="rId18"/>
    <p:sldId id="30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63" autoAdjust="0"/>
    <p:restoredTop sz="91569"/>
  </p:normalViewPr>
  <p:slideViewPr>
    <p:cSldViewPr>
      <p:cViewPr varScale="1">
        <p:scale>
          <a:sx n="117" d="100"/>
          <a:sy n="117" d="100"/>
        </p:scale>
        <p:origin x="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06/11/2017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37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294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Semester </a:t>
            </a:r>
            <a:r>
              <a:rPr lang="en-AU" dirty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8" name="Picture 4" descr="Image result for australian coi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489363"/>
            <a:ext cx="2736305" cy="93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Image result for cards"/>
          <p:cNvSpPr>
            <a:spLocks noChangeAspect="1" noChangeArrowheads="1"/>
          </p:cNvSpPr>
          <p:nvPr/>
        </p:nvSpPr>
        <p:spPr bwMode="auto">
          <a:xfrm>
            <a:off x="155575" y="-144463"/>
            <a:ext cx="1557234" cy="15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56" y="3328276"/>
            <a:ext cx="3158654" cy="2452602"/>
          </a:xfrm>
          <a:prstGeom prst="rect">
            <a:avLst/>
          </a:prstGeom>
        </p:spPr>
      </p:pic>
      <p:pic>
        <p:nvPicPr>
          <p:cNvPr id="1032" name="Picture 8" descr="Image result for d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73961"/>
            <a:ext cx="2903886" cy="193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74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5219809" y="4149080"/>
            <a:ext cx="3744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Open to your glossary and write down the following definitions.</a:t>
            </a:r>
            <a:endParaRPr lang="en-AU" sz="2800" dirty="0"/>
          </a:p>
        </p:txBody>
      </p:sp>
      <p:sp>
        <p:nvSpPr>
          <p:cNvPr id="3" name="Up Arrow 2"/>
          <p:cNvSpPr/>
          <p:nvPr/>
        </p:nvSpPr>
        <p:spPr>
          <a:xfrm rot="18873195">
            <a:off x="5638414" y="834147"/>
            <a:ext cx="2016224" cy="329204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3543" y="176573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27584" y="1765737"/>
            <a:ext cx="0" cy="51196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127" y="1057851"/>
            <a:ext cx="897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EQ </a:t>
            </a:r>
            <a:r>
              <a:rPr lang="mr-IN" sz="20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 How can we use probability language when building two-way tables and Venn Diagrams?</a:t>
            </a:r>
            <a:endParaRPr lang="en-AU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25713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Probability Review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5616" y="1950403"/>
            <a:ext cx="5420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First, a review of some key terms.....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837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Arial" charset="0"/>
                <a:ea typeface="Arial" charset="0"/>
                <a:cs typeface="Arial" charset="0"/>
              </a:rPr>
              <a:t>Probability </a:t>
            </a:r>
            <a:r>
              <a:rPr lang="en-GB" sz="6600" dirty="0">
                <a:latin typeface="Arial" charset="0"/>
                <a:ea typeface="Arial" charset="0"/>
                <a:cs typeface="Arial" charset="0"/>
              </a:rPr>
              <a:t>E</a:t>
            </a:r>
            <a:r>
              <a:rPr lang="en-GB" sz="6600" dirty="0" smtClean="0">
                <a:latin typeface="Arial" charset="0"/>
                <a:ea typeface="Arial" charset="0"/>
                <a:cs typeface="Arial" charset="0"/>
              </a:rPr>
              <a:t>xperiment</a:t>
            </a:r>
            <a:endParaRPr lang="en-GB" sz="6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33" y="2132856"/>
            <a:ext cx="8229600" cy="4525963"/>
          </a:xfrm>
        </p:spPr>
        <p:txBody>
          <a:bodyPr>
            <a:normAutofit/>
          </a:bodyPr>
          <a:lstStyle/>
          <a:p>
            <a:endParaRPr lang="en-AU" sz="1270" dirty="0" smtClean="0"/>
          </a:p>
          <a:p>
            <a:pPr marL="0" indent="0" algn="ctr">
              <a:buNone/>
            </a:pPr>
            <a:r>
              <a:rPr lang="en-AU" dirty="0">
                <a:latin typeface="Arial" charset="0"/>
                <a:ea typeface="Arial" charset="0"/>
                <a:cs typeface="Arial" charset="0"/>
              </a:rPr>
              <a:t>A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AU" b="1" dirty="0" smtClean="0">
                <a:latin typeface="Arial" charset="0"/>
                <a:ea typeface="Arial" charset="0"/>
                <a:cs typeface="Arial" charset="0"/>
              </a:rPr>
              <a:t>probability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AU" b="1" dirty="0" smtClean="0">
                <a:latin typeface="Arial" charset="0"/>
                <a:ea typeface="Arial" charset="0"/>
                <a:cs typeface="Arial" charset="0"/>
              </a:rPr>
              <a:t>experiment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 is a where chance affects the result of that activity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. </a:t>
            </a:r>
          </a:p>
          <a:p>
            <a:pPr marL="0" indent="0" algn="ctr">
              <a:buNone/>
            </a:pPr>
            <a:endParaRPr lang="en-US" sz="3600" i="1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AU" i="1" dirty="0" smtClean="0">
                <a:latin typeface="Arial" charset="0"/>
                <a:ea typeface="Arial" charset="0"/>
                <a:cs typeface="Arial" charset="0"/>
              </a:rPr>
              <a:t>Rolling a fair die is a probability experiment.</a:t>
            </a:r>
          </a:p>
          <a:p>
            <a:pPr algn="ctr"/>
            <a:endParaRPr lang="en-AU" sz="1270" dirty="0" smtClean="0"/>
          </a:p>
          <a:p>
            <a:pPr algn="ctr"/>
            <a:endParaRPr lang="en-AU" sz="1270" dirty="0" smtClean="0"/>
          </a:p>
          <a:p>
            <a:pPr algn="ctr"/>
            <a:endParaRPr lang="en-GB" sz="1270" dirty="0" smtClean="0"/>
          </a:p>
          <a:p>
            <a:endParaRPr lang="en-GB" sz="127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 smtClean="0">
                <a:latin typeface="Arial" charset="0"/>
                <a:ea typeface="Arial" charset="0"/>
                <a:cs typeface="Arial" charset="0"/>
              </a:rPr>
              <a:t>Outcome</a:t>
            </a:r>
            <a:endParaRPr lang="en-GB" sz="6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33" y="2132856"/>
            <a:ext cx="8229600" cy="4525963"/>
          </a:xfrm>
        </p:spPr>
        <p:txBody>
          <a:bodyPr>
            <a:normAutofit/>
          </a:bodyPr>
          <a:lstStyle/>
          <a:p>
            <a:endParaRPr lang="en-AU" sz="1270" dirty="0" smtClean="0"/>
          </a:p>
          <a:p>
            <a:pPr marL="0" indent="0" algn="ctr">
              <a:buNone/>
            </a:pPr>
            <a:r>
              <a:rPr lang="en-AU" dirty="0">
                <a:latin typeface="Arial" charset="0"/>
                <a:ea typeface="Arial" charset="0"/>
                <a:cs typeface="Arial" charset="0"/>
              </a:rPr>
              <a:t>A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n </a:t>
            </a:r>
            <a:r>
              <a:rPr lang="en-AU" b="1" dirty="0" smtClean="0">
                <a:latin typeface="Arial" charset="0"/>
                <a:ea typeface="Arial" charset="0"/>
                <a:cs typeface="Arial" charset="0"/>
              </a:rPr>
              <a:t>outcome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 is a possible result for a probability experiment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. </a:t>
            </a:r>
          </a:p>
          <a:p>
            <a:pPr marL="0" indent="0" algn="ctr">
              <a:buNone/>
            </a:pPr>
            <a:endParaRPr lang="en-US" sz="3600" i="1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AU" i="1" dirty="0" smtClean="0">
                <a:latin typeface="Arial" charset="0"/>
                <a:ea typeface="Arial" charset="0"/>
                <a:cs typeface="Arial" charset="0"/>
              </a:rPr>
              <a:t>Rolling a 3 is a possible outcome for rolling a fair die</a:t>
            </a:r>
            <a:r>
              <a:rPr lang="en-AU" i="1" dirty="0">
                <a:latin typeface="Arial" charset="0"/>
                <a:ea typeface="Arial" charset="0"/>
                <a:cs typeface="Arial" charset="0"/>
              </a:rPr>
              <a:t>.</a:t>
            </a:r>
            <a:endParaRPr lang="en-AU" i="1" dirty="0" smtClean="0">
              <a:latin typeface="Arial" charset="0"/>
              <a:ea typeface="Arial" charset="0"/>
              <a:cs typeface="Arial" charset="0"/>
            </a:endParaRPr>
          </a:p>
          <a:p>
            <a:pPr algn="ctr"/>
            <a:endParaRPr lang="en-AU" sz="1270" dirty="0" smtClean="0"/>
          </a:p>
          <a:p>
            <a:pPr algn="ctr"/>
            <a:endParaRPr lang="en-AU" sz="1270" dirty="0" smtClean="0"/>
          </a:p>
          <a:p>
            <a:pPr algn="ctr"/>
            <a:endParaRPr lang="en-GB" sz="1270" dirty="0" smtClean="0"/>
          </a:p>
          <a:p>
            <a:endParaRPr lang="en-GB" sz="1270" dirty="0" smtClean="0"/>
          </a:p>
        </p:txBody>
      </p:sp>
    </p:spTree>
    <p:extLst>
      <p:ext uri="{BB962C8B-B14F-4D97-AF65-F5344CB8AC3E}">
        <p14:creationId xmlns:p14="http://schemas.microsoft.com/office/powerpoint/2010/main" val="208717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sample space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is the set of all possible outcomes for a probability experiment.  </a:t>
            </a:r>
          </a:p>
          <a:p>
            <a:pPr marL="0" indent="0">
              <a:buNone/>
            </a:pPr>
            <a:endParaRPr lang="en-US" i="1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i="1" dirty="0" smtClean="0">
                <a:latin typeface="Arial" charset="0"/>
                <a:ea typeface="Arial" charset="0"/>
                <a:cs typeface="Arial" charset="0"/>
              </a:rPr>
              <a:t>The sample space for rolling a fair die is 1-6 </a:t>
            </a:r>
          </a:p>
          <a:p>
            <a:pPr marL="0" indent="0" algn="ctr">
              <a:buNone/>
            </a:pPr>
            <a:endParaRPr lang="en-US" i="1" dirty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i="1" dirty="0" smtClean="0">
                <a:latin typeface="Arial" charset="0"/>
                <a:ea typeface="Arial" charset="0"/>
                <a:cs typeface="Arial" charset="0"/>
              </a:rPr>
              <a:t>It is written like this S: {1, 2, 3, 4, 5, 6</a:t>
            </a:r>
            <a:r>
              <a:rPr lang="en-US" i="1" dirty="0">
                <a:latin typeface="Arial" charset="0"/>
                <a:ea typeface="Arial" charset="0"/>
                <a:cs typeface="Arial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23528" y="125760"/>
            <a:ext cx="8301608" cy="1291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 smtClean="0">
                <a:latin typeface="Arial" charset="0"/>
                <a:ea typeface="Arial" charset="0"/>
                <a:cs typeface="Arial" charset="0"/>
              </a:rPr>
              <a:t> Sample Space</a:t>
            </a:r>
            <a:endParaRPr lang="en-GB" sz="5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Arial" charset="0"/>
                <a:ea typeface="Arial" charset="0"/>
                <a:cs typeface="Arial" charset="0"/>
              </a:rPr>
              <a:t> Event</a:t>
            </a:r>
            <a:endParaRPr lang="en-GB" sz="5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1520" y="2204864"/>
                <a:ext cx="8712968" cy="386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latin typeface="Arial" charset="0"/>
                    <a:ea typeface="Arial" charset="0"/>
                    <a:cs typeface="Arial" charset="0"/>
                  </a:rPr>
                  <a:t>A probability </a:t>
                </a:r>
                <a:r>
                  <a:rPr lang="en-US" sz="3200" b="1" dirty="0" smtClean="0">
                    <a:latin typeface="Arial" charset="0"/>
                    <a:ea typeface="Arial" charset="0"/>
                    <a:cs typeface="Arial" charset="0"/>
                  </a:rPr>
                  <a:t>event</a:t>
                </a:r>
                <a:r>
                  <a:rPr lang="en-US" sz="3200" dirty="0" smtClean="0">
                    <a:latin typeface="Arial" charset="0"/>
                    <a:ea typeface="Arial" charset="0"/>
                    <a:cs typeface="Arial" charset="0"/>
                  </a:rPr>
                  <a:t> is an outcome that we are trying to find the likelihood of in this case.</a:t>
                </a:r>
              </a:p>
              <a:p>
                <a:pPr algn="ctr"/>
                <a:endParaRPr lang="en-US" sz="3200" dirty="0">
                  <a:latin typeface="Arial" charset="0"/>
                  <a:ea typeface="Arial" charset="0"/>
                  <a:cs typeface="Arial" charset="0"/>
                </a:endParaRPr>
              </a:p>
              <a:p>
                <a:r>
                  <a:rPr lang="en-US" sz="3200" i="1" dirty="0">
                    <a:latin typeface="Arial" charset="0"/>
                    <a:ea typeface="Arial" charset="0"/>
                    <a:cs typeface="Arial" charset="0"/>
                  </a:rPr>
                  <a:t>T</a:t>
                </a:r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he probability of the event ‘rolling a 3’ is 1 in 6</a:t>
                </a:r>
              </a:p>
              <a:p>
                <a:endParaRPr lang="en-US" sz="3200" i="1" dirty="0" smtClean="0">
                  <a:latin typeface="Arial" charset="0"/>
                  <a:ea typeface="Arial" charset="0"/>
                  <a:cs typeface="Arial" charset="0"/>
                </a:endParaRPr>
              </a:p>
              <a:p>
                <a:pPr algn="ctr"/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It is written like this: P(3)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 </a:t>
                </a:r>
              </a:p>
              <a:p>
                <a:endParaRPr lang="en-US" sz="40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04864"/>
                <a:ext cx="8712968" cy="3868560"/>
              </a:xfrm>
              <a:prstGeom prst="rect">
                <a:avLst/>
              </a:prstGeom>
              <a:blipFill rotWithShape="0">
                <a:blip r:embed="rId2"/>
                <a:stretch>
                  <a:fillRect l="-1748" t="-2050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Arial" charset="0"/>
                <a:ea typeface="Arial" charset="0"/>
                <a:cs typeface="Arial" charset="0"/>
              </a:rPr>
              <a:t> Complement</a:t>
            </a:r>
            <a:endParaRPr lang="en-GB" sz="5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1520" y="2204864"/>
                <a:ext cx="8712968" cy="3999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latin typeface="Arial" charset="0"/>
                    <a:ea typeface="Arial" charset="0"/>
                    <a:cs typeface="Arial" charset="0"/>
                  </a:rPr>
                  <a:t>The </a:t>
                </a:r>
                <a:r>
                  <a:rPr lang="en-US" sz="3200" b="1" dirty="0" smtClean="0">
                    <a:latin typeface="Arial" charset="0"/>
                    <a:ea typeface="Arial" charset="0"/>
                    <a:cs typeface="Arial" charset="0"/>
                  </a:rPr>
                  <a:t>complement</a:t>
                </a:r>
                <a:r>
                  <a:rPr lang="en-US" sz="3200" dirty="0" smtClean="0">
                    <a:latin typeface="Arial" charset="0"/>
                    <a:ea typeface="Arial" charset="0"/>
                    <a:cs typeface="Arial" charset="0"/>
                  </a:rPr>
                  <a:t> of an event is the likelihood of that outcome not happening. </a:t>
                </a:r>
              </a:p>
              <a:p>
                <a:pPr algn="ctr"/>
                <a:endParaRPr lang="en-US" sz="3200" i="1" dirty="0">
                  <a:latin typeface="Arial" charset="0"/>
                  <a:ea typeface="Arial" charset="0"/>
                  <a:cs typeface="Arial" charset="0"/>
                </a:endParaRPr>
              </a:p>
              <a:p>
                <a:pPr algn="ctr"/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The complement of P(3) is 5 in 6</a:t>
                </a:r>
              </a:p>
              <a:p>
                <a:pPr algn="ctr"/>
                <a:endParaRPr lang="en-US" sz="4000" dirty="0" smtClean="0"/>
              </a:p>
              <a:p>
                <a:pPr algn="ctr"/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It is written like </a:t>
                </a:r>
                <a:r>
                  <a:rPr lang="en-US" sz="3200" i="1" dirty="0">
                    <a:latin typeface="Arial" charset="0"/>
                    <a:ea typeface="Arial" charset="0"/>
                    <a:cs typeface="Arial" charset="0"/>
                  </a:rPr>
                  <a:t>this: </a:t>
                </a:r>
                <a:r>
                  <a:rPr lang="en-US" sz="3200" i="1" dirty="0" smtClean="0">
                    <a:latin typeface="Arial" charset="0"/>
                    <a:ea typeface="Arial" charset="0"/>
                    <a:cs typeface="Arial" charset="0"/>
                  </a:rPr>
                  <a:t>P(3’)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3200" i="1" dirty="0">
                    <a:latin typeface="Arial" charset="0"/>
                    <a:ea typeface="Arial" charset="0"/>
                    <a:cs typeface="Arial" charset="0"/>
                  </a:rPr>
                  <a:t> 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04864"/>
                <a:ext cx="8712968" cy="3999749"/>
              </a:xfrm>
              <a:prstGeom prst="rect">
                <a:avLst/>
              </a:prstGeom>
              <a:blipFill rotWithShape="0">
                <a:blip r:embed="rId2"/>
                <a:stretch>
                  <a:fillRect t="-1982" r="-11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39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72816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trial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is the action of performing a probability experiment once.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i="1" dirty="0" smtClean="0">
                <a:latin typeface="Arial" charset="0"/>
                <a:ea typeface="Arial" charset="0"/>
                <a:cs typeface="Arial" charset="0"/>
              </a:rPr>
              <a:t>In 6 trials, the outcome of rolling a 3 was obtained once. </a:t>
            </a:r>
            <a:endParaRPr lang="en-US" i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287016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Arial" charset="0"/>
                <a:ea typeface="Arial" charset="0"/>
                <a:cs typeface="Arial" charset="0"/>
              </a:rPr>
              <a:t> Trial</a:t>
            </a:r>
            <a:endParaRPr lang="en-GB" sz="5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99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33828" y="9599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391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518017" y="1792585"/>
            <a:ext cx="19341" cy="5038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179178" y="5173456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25713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Probability Review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78465" y="3509772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2 red, 1 blue, 1 yellow.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70339" y="3844143"/>
                <a:ext cx="2885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339" y="3844143"/>
                <a:ext cx="2885084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480" t="-4444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79912" y="4386430"/>
                <a:ext cx="211731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0.25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386430"/>
                <a:ext cx="2117311" cy="5186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386768" y="4317840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00B0F0"/>
                </a:solidFill>
              </a:rPr>
              <a:t>P</a:t>
            </a:r>
            <a:r>
              <a:rPr lang="en-AU" sz="1400" dirty="0" smtClean="0">
                <a:solidFill>
                  <a:srgbClr val="00B0F0"/>
                </a:solidFill>
              </a:rPr>
              <a:t>robability</a:t>
            </a:r>
            <a:endParaRPr lang="en-AU" sz="1400" dirty="0">
              <a:solidFill>
                <a:srgbClr val="00B0F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44801" y="498817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00B0F0"/>
                </a:solidFill>
              </a:rPr>
              <a:t>E</a:t>
            </a:r>
            <a:r>
              <a:rPr lang="en-AU" sz="1400" dirty="0" smtClean="0">
                <a:solidFill>
                  <a:srgbClr val="00B0F0"/>
                </a:solidFill>
              </a:rPr>
              <a:t>vent</a:t>
            </a:r>
            <a:endParaRPr lang="en-AU" sz="1400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5619" y="4104860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00B0F0"/>
                </a:solidFill>
              </a:rPr>
              <a:t>One ball is blue</a:t>
            </a:r>
            <a:endParaRPr lang="en-AU" sz="1400" dirty="0">
              <a:solidFill>
                <a:srgbClr val="00B0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91060" y="5044605"/>
            <a:ext cx="1750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00B0F0"/>
                </a:solidFill>
              </a:rPr>
              <a:t>4</a:t>
            </a:r>
            <a:r>
              <a:rPr lang="en-AU" sz="1400" dirty="0" smtClean="0">
                <a:solidFill>
                  <a:srgbClr val="00B0F0"/>
                </a:solidFill>
              </a:rPr>
              <a:t> possible outcomes</a:t>
            </a:r>
            <a:endParaRPr lang="en-AU" sz="1400" dirty="0">
              <a:solidFill>
                <a:srgbClr val="00B0F0"/>
              </a:solidFill>
            </a:endParaRPr>
          </a:p>
        </p:txBody>
      </p:sp>
      <p:cxnSp>
        <p:nvCxnSpPr>
          <p:cNvPr id="21" name="Straight Arrow Connector 20"/>
          <p:cNvCxnSpPr>
            <a:endCxn id="16" idx="1"/>
          </p:cNvCxnSpPr>
          <p:nvPr/>
        </p:nvCxnSpPr>
        <p:spPr>
          <a:xfrm>
            <a:off x="3312037" y="4520797"/>
            <a:ext cx="467875" cy="124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656810" y="4876893"/>
            <a:ext cx="408603" cy="179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370338" y="4340623"/>
            <a:ext cx="547447" cy="156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521927" y="4893346"/>
            <a:ext cx="424300" cy="152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47028" y="2085162"/>
            <a:ext cx="6355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	</a:t>
            </a:r>
            <a:r>
              <a:rPr lang="en-US" dirty="0" smtClean="0"/>
              <a:t>        Unlikely</a:t>
            </a:r>
            <a:r>
              <a:rPr lang="en-US" dirty="0"/>
              <a:t>		</a:t>
            </a:r>
            <a:r>
              <a:rPr lang="en-US" dirty="0" smtClean="0"/>
              <a:t>         Likely</a:t>
            </a:r>
            <a:endParaRPr lang="en-US" dirty="0"/>
          </a:p>
          <a:p>
            <a:r>
              <a:rPr lang="en-US" dirty="0" smtClean="0"/>
              <a:t>       0 _____________________0.5_____________________ </a:t>
            </a:r>
            <a:r>
              <a:rPr lang="en-US" dirty="0"/>
              <a:t>1</a:t>
            </a:r>
          </a:p>
          <a:p>
            <a:r>
              <a:rPr lang="en-US" dirty="0"/>
              <a:t>Impossible	</a:t>
            </a:r>
            <a:r>
              <a:rPr lang="en-US" dirty="0" smtClean="0"/>
              <a:t>            </a:t>
            </a:r>
            <a:r>
              <a:rPr lang="en-US" dirty="0" smtClean="0"/>
              <a:t>As likely as not</a:t>
            </a:r>
            <a:r>
              <a:rPr lang="en-US" dirty="0"/>
              <a:t>		</a:t>
            </a:r>
            <a:r>
              <a:rPr lang="en-US" dirty="0" smtClean="0"/>
              <a:t>Certain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63224" y="1715830"/>
            <a:ext cx="642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can place probabilities on a line from 0 to 1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078628" y="5315233"/>
            <a:ext cx="6449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We can calculate the complement of an event (</a:t>
            </a:r>
            <a:r>
              <a:rPr lang="en-US" b="1" dirty="0" err="1" smtClean="0"/>
              <a:t>eg</a:t>
            </a:r>
            <a:r>
              <a:rPr lang="en-US" b="1" dirty="0" smtClean="0"/>
              <a:t> not a 3) by </a:t>
            </a:r>
            <a:r>
              <a:rPr lang="en-US" b="1" dirty="0" smtClean="0"/>
              <a:t>subtracting </a:t>
            </a:r>
            <a:r>
              <a:rPr lang="en-US" b="1" dirty="0" smtClean="0"/>
              <a:t>the probability of an event from one.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460304" y="5970064"/>
                <a:ext cx="305641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0.75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304" y="5970064"/>
                <a:ext cx="3056414" cy="5186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521670" y="4389986"/>
                <a:ext cx="228145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𝑟𝑒𝑑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0.5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670" y="4389986"/>
                <a:ext cx="2281458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41494" y="6096017"/>
                <a:ext cx="32599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1 −0.5=0.5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50%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494" y="6096017"/>
                <a:ext cx="3259995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121" t="-4444" r="-1682" b="-1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0705" y="1958901"/>
            <a:ext cx="1608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different ways we can express probability?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2063224" y="3102277"/>
            <a:ext cx="642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</a:t>
            </a:r>
            <a:r>
              <a:rPr lang="en-US" b="1" dirty="0" smtClean="0"/>
              <a:t>can write </a:t>
            </a:r>
            <a:r>
              <a:rPr lang="en-US" b="1" dirty="0"/>
              <a:t>probabilities </a:t>
            </a:r>
            <a:r>
              <a:rPr lang="en-US" b="1" dirty="0" smtClean="0"/>
              <a:t>as a fraction, decimal or </a:t>
            </a:r>
            <a:r>
              <a:rPr lang="en-US" b="1" dirty="0" smtClean="0"/>
              <a:t>percentage.</a:t>
            </a:r>
            <a:endParaRPr lang="en-US" b="1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3099302" y="6414408"/>
            <a:ext cx="315045" cy="19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374734" y="6500073"/>
            <a:ext cx="18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00B0F0"/>
                </a:solidFill>
              </a:rPr>
              <a:t>Complement of event</a:t>
            </a:r>
            <a:endParaRPr lang="en-AU" sz="1400" dirty="0">
              <a:solidFill>
                <a:srgbClr val="00B0F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 flipV="1">
            <a:off x="4717328" y="6123397"/>
            <a:ext cx="542692" cy="483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20405" y="6500073"/>
            <a:ext cx="2035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F0"/>
                </a:solidFill>
              </a:rPr>
              <a:t>Three balls are not blue</a:t>
            </a:r>
            <a:endParaRPr lang="en-AU" sz="1400" dirty="0">
              <a:solidFill>
                <a:srgbClr val="00B0F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30271" y="382303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F0"/>
                </a:solidFill>
              </a:rPr>
              <a:t>Sample Space</a:t>
            </a:r>
            <a:endParaRPr lang="en-AU" sz="1400" dirty="0">
              <a:solidFill>
                <a:srgbClr val="00B0F0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861111" y="3972413"/>
            <a:ext cx="52659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815" y="970668"/>
            <a:ext cx="897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EQ </a:t>
            </a:r>
            <a:r>
              <a:rPr lang="mr-IN" sz="20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 How can we use probability language when building two-way tables and Venn Diagrams?</a:t>
            </a:r>
            <a:endParaRPr lang="en-AU" sz="2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97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4" grpId="1"/>
      <p:bldP spid="16" grpId="0"/>
      <p:bldP spid="17" grpId="0"/>
      <p:bldP spid="18" grpId="0"/>
      <p:bldP spid="19" grpId="0"/>
      <p:bldP spid="20" grpId="0"/>
      <p:bldP spid="5" grpId="0"/>
      <p:bldP spid="10" grpId="0"/>
      <p:bldP spid="27" grpId="0"/>
      <p:bldP spid="28" grpId="0"/>
      <p:bldP spid="29" grpId="0"/>
      <p:bldP spid="31" grpId="0"/>
      <p:bldP spid="32" grpId="0"/>
      <p:bldP spid="35" grpId="0"/>
      <p:bldP spid="41" grpId="0"/>
      <p:bldP spid="44" grpId="0"/>
      <p:bldP spid="46" grpId="0"/>
      <p:bldP spid="4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" y="27338"/>
            <a:ext cx="7344816" cy="21725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1" y="2198035"/>
            <a:ext cx="6630551" cy="10388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1" y="3230125"/>
            <a:ext cx="6772944" cy="5913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1" y="3814730"/>
            <a:ext cx="7350631" cy="74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" y="5375603"/>
            <a:ext cx="7808440" cy="5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" y="5912505"/>
            <a:ext cx="7926695" cy="10137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" y="4517676"/>
            <a:ext cx="751114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6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9606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87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543" y="-349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6985" y="820814"/>
            <a:ext cx="897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EQ </a:t>
            </a:r>
            <a:r>
              <a:rPr lang="mr-IN" sz="20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 How can we use probability language when building two-way tables and Venn Diagrams?</a:t>
            </a:r>
            <a:endParaRPr lang="en-AU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099" y="30604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Probability Review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5" y="1681180"/>
            <a:ext cx="9067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Two-way </a:t>
            </a:r>
            <a:r>
              <a:rPr lang="en-US" sz="2400" dirty="0" smtClean="0"/>
              <a:t>tables lists </a:t>
            </a:r>
            <a:r>
              <a:rPr lang="en-US" sz="2400" dirty="0"/>
              <a:t>the number of outcomes (or people) in different categories, </a:t>
            </a:r>
            <a:r>
              <a:rPr lang="en-US" sz="2400" u="sng" dirty="0"/>
              <a:t>with totals at the </a:t>
            </a:r>
            <a:r>
              <a:rPr lang="en-US" sz="2400" u="sng" dirty="0" smtClean="0"/>
              <a:t>bottom</a:t>
            </a:r>
            <a:r>
              <a:rPr lang="en-US" sz="2400" dirty="0" smtClean="0"/>
              <a:t>. We </a:t>
            </a:r>
            <a:r>
              <a:rPr lang="en-US" sz="2400" dirty="0" smtClean="0"/>
              <a:t>display them like </a:t>
            </a:r>
            <a:r>
              <a:rPr lang="en-US" sz="2400" dirty="0" smtClean="0"/>
              <a:t>this</a:t>
            </a:r>
            <a:r>
              <a:rPr lang="en-US" sz="2400" dirty="0" smtClean="0"/>
              <a:t>: </a:t>
            </a:r>
            <a:endParaRPr lang="en-AU" sz="24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1416"/>
              </p:ext>
            </p:extLst>
          </p:nvPr>
        </p:nvGraphicFramePr>
        <p:xfrm>
          <a:off x="1395707" y="2837355"/>
          <a:ext cx="4942682" cy="29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27"/>
                <a:gridCol w="827047"/>
                <a:gridCol w="988536"/>
                <a:gridCol w="988536"/>
                <a:gridCol w="988536"/>
              </a:tblGrid>
              <a:tr h="58931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Event 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A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A’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Total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rowSpan="3">
                  <a:txBody>
                    <a:bodyPr/>
                    <a:lstStyle/>
                    <a:p>
                      <a:pPr algn="ctr"/>
                      <a:endParaRPr lang="en-US" sz="24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B’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Total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77402" y="5968923"/>
                <a:ext cx="1900216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𝐻𝑜𝑤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𝑚𝑎𝑛𝑦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US" sz="2400" dirty="0" smtClean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02" y="5968923"/>
                <a:ext cx="1900216" cy="614848"/>
              </a:xfrm>
              <a:prstGeom prst="rect">
                <a:avLst/>
              </a:prstGeom>
              <a:blipFill rotWithShape="0">
                <a:blip r:embed="rId2"/>
                <a:stretch>
                  <a:fillRect l="-2572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543012" y="409699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13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3543012" y="465702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27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4574927" y="407980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17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5556804" y="462406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r>
              <a:rPr lang="en-US" sz="2400" dirty="0" smtClean="0"/>
              <a:t>0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 rot="2118287">
            <a:off x="6600243" y="261263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Not A</a:t>
            </a:r>
            <a:endParaRPr lang="en-AU" sz="2400" b="1" dirty="0"/>
          </a:p>
        </p:txBody>
      </p:sp>
      <p:sp>
        <p:nvSpPr>
          <p:cNvPr id="24" name="Left Arrow 23"/>
          <p:cNvSpPr/>
          <p:nvPr/>
        </p:nvSpPr>
        <p:spPr>
          <a:xfrm rot="20271546">
            <a:off x="5033298" y="2982106"/>
            <a:ext cx="1795968" cy="4793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/>
          <p:cNvSpPr txBox="1"/>
          <p:nvPr/>
        </p:nvSpPr>
        <p:spPr>
          <a:xfrm>
            <a:off x="3592552" y="521705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072006" y="5911478"/>
                <a:ext cx="1818043" cy="617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06" y="5911478"/>
                <a:ext cx="1818043" cy="617157"/>
              </a:xfrm>
              <a:prstGeom prst="rect">
                <a:avLst/>
              </a:prstGeom>
              <a:blipFill rotWithShape="0">
                <a:blip r:embed="rId3"/>
                <a:stretch>
                  <a:fillRect l="-5034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560160" y="407980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30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4587032" y="465701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23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4587032" y="523423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5506005" y="523423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  <a:r>
              <a:rPr lang="en-US" sz="2400" dirty="0" smtClean="0"/>
              <a:t>0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728692" y="5913415"/>
                <a:ext cx="2472800" cy="616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 and B)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692" y="5913415"/>
                <a:ext cx="2472800" cy="616387"/>
              </a:xfrm>
              <a:prstGeom prst="rect">
                <a:avLst/>
              </a:prstGeom>
              <a:blipFill rotWithShape="0"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338389" y="5973602"/>
                <a:ext cx="232108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(B’)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389" y="5973602"/>
                <a:ext cx="2321080" cy="622414"/>
              </a:xfrm>
              <a:prstGeom prst="rect">
                <a:avLst/>
              </a:prstGeom>
              <a:blipFill rotWithShape="0"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23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4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0808"/>
            <a:ext cx="9144000" cy="4173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3848" y="404664"/>
            <a:ext cx="23181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Your turn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2579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3543" y="176573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127" y="1057851"/>
            <a:ext cx="897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EQ </a:t>
            </a:r>
            <a:r>
              <a:rPr lang="mr-IN" sz="20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 How can we use probability language when building two-way tables and Venn Diagrams?</a:t>
            </a:r>
            <a:endParaRPr lang="en-AU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25713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Probability Review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1904414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Venn Diagram is a pictorial representation of a two-way table, without the total row and column. Take the following two-way table: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22" y="2874087"/>
            <a:ext cx="4943450" cy="14858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2349" y="3485698"/>
            <a:ext cx="3260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This can be displayed as a Venn Diagram as so: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35" y="4482577"/>
            <a:ext cx="4820828" cy="229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8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3543" y="176573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127" y="1057851"/>
            <a:ext cx="897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EQ </a:t>
            </a:r>
            <a:r>
              <a:rPr lang="mr-IN" sz="20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AU" sz="2000" dirty="0" smtClean="0">
                <a:latin typeface="Arial" charset="0"/>
                <a:ea typeface="Arial" charset="0"/>
                <a:cs typeface="Arial" charset="0"/>
              </a:rPr>
              <a:t> How can we use probability language when building two-way tables and Venn Diagrams?</a:t>
            </a:r>
            <a:endParaRPr lang="en-AU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25713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Probability Review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31" y="1927523"/>
            <a:ext cx="8057208" cy="6067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31" y="2534283"/>
            <a:ext cx="4344132" cy="2088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593812"/>
            <a:ext cx="3786872" cy="19691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022" y="5783950"/>
            <a:ext cx="12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  <a:r>
              <a:rPr lang="en-US" sz="2400" dirty="0" smtClean="0"/>
              <a:t>) 16/25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44247" y="4929395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a) 7/25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6557609" y="4929394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  <a:r>
              <a:rPr lang="en-US" sz="2400" dirty="0" smtClean="0"/>
              <a:t>) 12/25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3321093" y="4929394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  <a:r>
              <a:rPr lang="en-US" sz="2400" dirty="0" smtClean="0"/>
              <a:t>) 15/25 or 3/5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356319" y="5757467"/>
            <a:ext cx="207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  <a:r>
              <a:rPr lang="en-US" sz="2400" dirty="0" smtClean="0"/>
              <a:t>) 10/25 or 2/5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041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2050" name="Picture 2" descr="Image result for borat thumbs 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700808"/>
            <a:ext cx="4608512" cy="432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86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188640"/>
            <a:ext cx="5976664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Your Turn</a:t>
            </a:r>
            <a:endParaRPr lang="en-AU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36"/>
            <a:ext cx="9144000" cy="56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5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Challenge For Fast Finishers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91" y="3789040"/>
            <a:ext cx="5629275" cy="2971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91" y="1052736"/>
            <a:ext cx="6867525" cy="3038475"/>
          </a:xfrm>
          <a:prstGeom prst="rect">
            <a:avLst/>
          </a:prstGeom>
        </p:spPr>
      </p:pic>
      <p:pic>
        <p:nvPicPr>
          <p:cNvPr id="3074" name="Picture 2" descr="Image result for more than less than crocodil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166" y="4743461"/>
            <a:ext cx="2857500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15336" y="4499977"/>
            <a:ext cx="2939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Crocodiles eat the big things!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230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1221</TotalTime>
  <Words>716</Words>
  <Application>Microsoft Macintosh PowerPoint</Application>
  <PresentationFormat>On-screen Show (4:3)</PresentationFormat>
  <Paragraphs>144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Cambria Math</vt:lpstr>
      <vt:lpstr>Arial</vt:lpstr>
      <vt:lpstr>Office Theme</vt:lpstr>
      <vt:lpstr>My Probability Interactive Notebook</vt:lpstr>
      <vt:lpstr>PowerPoint Presentation</vt:lpstr>
      <vt:lpstr>PowerPoint Presentation</vt:lpstr>
      <vt:lpstr>Probability Experiment</vt:lpstr>
      <vt:lpstr>Outcome</vt:lpstr>
      <vt:lpstr>PowerPoint Presentation</vt:lpstr>
      <vt:lpstr> Event</vt:lpstr>
      <vt:lpstr> Complement</vt:lpstr>
      <vt:lpstr> Trial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</vt:lpstr>
      <vt:lpstr>Your Turn</vt:lpstr>
      <vt:lpstr>Challenge For Fast Finishers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SUMMERS Brad [Baldivis Secondary College]</cp:lastModifiedBy>
  <cp:revision>47</cp:revision>
  <dcterms:created xsi:type="dcterms:W3CDTF">2017-08-30T11:53:26Z</dcterms:created>
  <dcterms:modified xsi:type="dcterms:W3CDTF">2017-11-06T13:10:36Z</dcterms:modified>
</cp:coreProperties>
</file>
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gif" ContentType="image/gif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62" r:id="rId2"/>
    <p:sldId id="263" r:id="rId3"/>
    <p:sldId id="264" r:id="rId4"/>
    <p:sldId id="286" r:id="rId5"/>
    <p:sldId id="257" r:id="rId6"/>
    <p:sldId id="274" r:id="rId7"/>
    <p:sldId id="288" r:id="rId8"/>
    <p:sldId id="265" r:id="rId9"/>
    <p:sldId id="295" r:id="rId10"/>
    <p:sldId id="289" r:id="rId11"/>
    <p:sldId id="296" r:id="rId12"/>
    <p:sldId id="290" r:id="rId13"/>
    <p:sldId id="297" r:id="rId14"/>
    <p:sldId id="292" r:id="rId15"/>
    <p:sldId id="294" r:id="rId16"/>
    <p:sldId id="299" r:id="rId17"/>
    <p:sldId id="298" r:id="rId18"/>
    <p:sldId id="276" r:id="rId19"/>
    <p:sldId id="261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5854"/>
    <p:restoredTop sz="94674"/>
  </p:normalViewPr>
  <p:slideViewPr>
    <p:cSldViewPr snapToGrid="0" snapToObjects="1">
      <p:cViewPr>
        <p:scale>
          <a:sx n="102" d="100"/>
          <a:sy n="102" d="100"/>
        </p:scale>
        <p:origin x="1512" y="7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61D3A4-1D9C-524D-B579-4785CD19DE1A}" type="datetimeFigureOut">
              <a:rPr lang="en-US" smtClean="0"/>
              <a:t>11/6/17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38684C-FD50-9B4C-BF04-1F3131C87F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4920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295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2424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8309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6591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D1D4B-607C-7847-B492-C8BA76FEFEC0}" type="datetimeFigureOut">
              <a:rPr lang="en-US" smtClean="0"/>
              <a:t>11/6/17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A7035-38F9-C84C-A879-18D52F298B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1732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D1D4B-607C-7847-B492-C8BA76FEFEC0}" type="datetimeFigureOut">
              <a:rPr lang="en-US" smtClean="0"/>
              <a:t>11/6/17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A7035-38F9-C84C-A879-18D52F298B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8721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D1D4B-607C-7847-B492-C8BA76FEFEC0}" type="datetimeFigureOut">
              <a:rPr lang="en-US" smtClean="0"/>
              <a:t>11/6/17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A7035-38F9-C84C-A879-18D52F298B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2747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D1D4B-607C-7847-B492-C8BA76FEFEC0}" type="datetimeFigureOut">
              <a:rPr lang="en-US" smtClean="0"/>
              <a:t>11/6/17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A7035-38F9-C84C-A879-18D52F298B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3985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D1D4B-607C-7847-B492-C8BA76FEFEC0}" type="datetimeFigureOut">
              <a:rPr lang="en-US" smtClean="0"/>
              <a:t>11/6/17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A7035-38F9-C84C-A879-18D52F298B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3440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D1D4B-607C-7847-B492-C8BA76FEFEC0}" type="datetimeFigureOut">
              <a:rPr lang="en-US" smtClean="0"/>
              <a:t>11/6/17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A7035-38F9-C84C-A879-18D52F298B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9197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D1D4B-607C-7847-B492-C8BA76FEFEC0}" type="datetimeFigureOut">
              <a:rPr lang="en-US" smtClean="0"/>
              <a:t>11/6/17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A7035-38F9-C84C-A879-18D52F298B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1490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D1D4B-607C-7847-B492-C8BA76FEFEC0}" type="datetimeFigureOut">
              <a:rPr lang="en-US" smtClean="0"/>
              <a:t>11/6/17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A7035-38F9-C84C-A879-18D52F298B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2180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D1D4B-607C-7847-B492-C8BA76FEFEC0}" type="datetimeFigureOut">
              <a:rPr lang="en-US" smtClean="0"/>
              <a:t>11/6/17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A7035-38F9-C84C-A879-18D52F298B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387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D1D4B-607C-7847-B492-C8BA76FEFEC0}" type="datetimeFigureOut">
              <a:rPr lang="en-US" smtClean="0"/>
              <a:t>11/6/17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A7035-38F9-C84C-A879-18D52F298B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55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D1D4B-607C-7847-B492-C8BA76FEFEC0}" type="datetimeFigureOut">
              <a:rPr lang="en-US" smtClean="0"/>
              <a:t>11/6/17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A7035-38F9-C84C-A879-18D52F298B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1952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0D1D4B-607C-7847-B492-C8BA76FEFEC0}" type="datetimeFigureOut">
              <a:rPr lang="en-US" smtClean="0"/>
              <a:t>11/6/17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8A7035-38F9-C84C-A879-18D52F298B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011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gif"/><Relationship Id="rId3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66182" y="548482"/>
            <a:ext cx="8206283" cy="1470025"/>
          </a:xfrm>
        </p:spPr>
        <p:txBody>
          <a:bodyPr>
            <a:normAutofit/>
          </a:bodyPr>
          <a:lstStyle/>
          <a:p>
            <a:r>
              <a:rPr lang="en-AU" sz="4800" dirty="0">
                <a:latin typeface="+mn-lt"/>
              </a:rPr>
              <a:t>My Data</a:t>
            </a:r>
            <a:br>
              <a:rPr lang="en-AU" sz="4800" dirty="0">
                <a:latin typeface="+mn-lt"/>
              </a:rPr>
            </a:br>
            <a:r>
              <a:rPr lang="en-AU" sz="4800" dirty="0">
                <a:latin typeface="+mn-lt"/>
              </a:rPr>
              <a:t>Interactive Notebook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7081" y="4078694"/>
            <a:ext cx="6858000" cy="1655762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</a:p>
          <a:p>
            <a:pPr algn="l"/>
            <a:r>
              <a:rPr lang="en-AU" dirty="0" smtClean="0"/>
              <a:t>Teacher </a:t>
            </a:r>
          </a:p>
          <a:p>
            <a:pPr algn="l"/>
            <a:r>
              <a:rPr lang="en-AU" dirty="0" smtClean="0"/>
              <a:t>Semester 2</a:t>
            </a:r>
          </a:p>
          <a:p>
            <a:pPr algn="l"/>
            <a:r>
              <a:rPr lang="en-AU" dirty="0" smtClean="0"/>
              <a:t>Term 3</a:t>
            </a:r>
          </a:p>
          <a:p>
            <a:pPr algn="l"/>
            <a:endParaRPr lang="en-AU" dirty="0" smtClean="0"/>
          </a:p>
        </p:txBody>
      </p:sp>
      <p:sp>
        <p:nvSpPr>
          <p:cNvPr id="13" name="TextBox 12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p:pic>
        <p:nvPicPr>
          <p:cNvPr id="1026" name="Picture 2" descr="Image result for graph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2624" y="2018506"/>
            <a:ext cx="2746917" cy="2060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32009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Interactive Notebooks!</a:t>
            </a:r>
            <a:endParaRPr lang="en-AU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52650" y="1457634"/>
            <a:ext cx="7886700" cy="5177342"/>
          </a:xfrm>
        </p:spPr>
        <p:txBody>
          <a:bodyPr>
            <a:normAutofit/>
          </a:bodyPr>
          <a:lstStyle/>
          <a:p>
            <a:r>
              <a:rPr lang="en-US" dirty="0" smtClean="0"/>
              <a:t>Cover Page</a:t>
            </a:r>
          </a:p>
          <a:p>
            <a:r>
              <a:rPr lang="en-US" dirty="0" smtClean="0"/>
              <a:t>Contents Page</a:t>
            </a:r>
          </a:p>
          <a:p>
            <a:r>
              <a:rPr lang="en-US" dirty="0" smtClean="0"/>
              <a:t>Glossary</a:t>
            </a:r>
          </a:p>
          <a:p>
            <a:r>
              <a:rPr lang="en-US" dirty="0" smtClean="0"/>
              <a:t>24/7/30</a:t>
            </a:r>
          </a:p>
          <a:p>
            <a:r>
              <a:rPr lang="en-US" dirty="0" smtClean="0"/>
              <a:t>EQ</a:t>
            </a:r>
          </a:p>
          <a:p>
            <a:r>
              <a:rPr lang="en-US" dirty="0" smtClean="0"/>
              <a:t>Questions</a:t>
            </a:r>
          </a:p>
          <a:p>
            <a:r>
              <a:rPr lang="en-US" dirty="0" smtClean="0"/>
              <a:t>Notes</a:t>
            </a:r>
          </a:p>
          <a:p>
            <a:r>
              <a:rPr lang="en-US" dirty="0" smtClean="0"/>
              <a:t>Summaries</a:t>
            </a:r>
          </a:p>
          <a:p>
            <a:r>
              <a:rPr lang="en-US" dirty="0" smtClean="0"/>
              <a:t>Work page</a:t>
            </a:r>
          </a:p>
          <a:p>
            <a:r>
              <a:rPr lang="en-US" dirty="0" smtClean="0"/>
              <a:t>Presentation!!!</a:t>
            </a:r>
            <a:endParaRPr lang="en-AU" dirty="0"/>
          </a:p>
        </p:txBody>
      </p:sp>
      <p:pic>
        <p:nvPicPr>
          <p:cNvPr id="2050" name="Picture 2" descr="Image result for open notebook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7218" y="1332741"/>
            <a:ext cx="3389972" cy="42689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 rot="20602649">
            <a:off x="5765911" y="4362736"/>
            <a:ext cx="4750425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Your book, your responsibility!</a:t>
            </a:r>
          </a:p>
        </p:txBody>
      </p:sp>
    </p:spTree>
    <p:extLst>
      <p:ext uri="{BB962C8B-B14F-4D97-AF65-F5344CB8AC3E}">
        <p14:creationId xmlns:p14="http://schemas.microsoft.com/office/powerpoint/2010/main" val="669403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79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9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9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1000" y="266700"/>
            <a:ext cx="6350000" cy="631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88099"/>
            <a:ext cx="10515600" cy="58888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 smtClean="0"/>
              <a:t>With that in mind, let’s get ready for our Semester 2 exam...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032250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 flipV="1">
            <a:off x="0" y="980729"/>
            <a:ext cx="12192000" cy="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545712"/>
            <a:ext cx="12192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36541" y="123309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 flipH="1">
            <a:off x="1386737" y="1540168"/>
            <a:ext cx="57250" cy="531783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301686" y="288324"/>
            <a:ext cx="33107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Measures of Location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37893" y="274328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471" y="1078503"/>
            <a:ext cx="106103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What </a:t>
            </a:r>
            <a:r>
              <a:rPr lang="en-AU" sz="2400" dirty="0" smtClean="0"/>
              <a:t>have we learned about data, equations and time?</a:t>
            </a:r>
            <a:endParaRPr lang="en-AU" sz="2400" dirty="0"/>
          </a:p>
        </p:txBody>
      </p:sp>
      <p:sp>
        <p:nvSpPr>
          <p:cNvPr id="16" name="TextBox 15"/>
          <p:cNvSpPr txBox="1"/>
          <p:nvPr/>
        </p:nvSpPr>
        <p:spPr>
          <a:xfrm>
            <a:off x="107550" y="1734931"/>
            <a:ext cx="127918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</a:t>
            </a:r>
            <a:r>
              <a:rPr lang="en-AU" dirty="0" smtClean="0"/>
              <a:t>are the main </a:t>
            </a:r>
            <a:r>
              <a:rPr lang="en-AU" dirty="0"/>
              <a:t>measures of </a:t>
            </a:r>
          </a:p>
          <a:p>
            <a:r>
              <a:rPr lang="en-AU" dirty="0" smtClean="0"/>
              <a:t>location and spread?</a:t>
            </a:r>
            <a:endParaRPr lang="en-AU" dirty="0"/>
          </a:p>
        </p:txBody>
      </p:sp>
      <p:sp>
        <p:nvSpPr>
          <p:cNvPr id="17" name="TextBox 16">
            <a:extLst>
              <a:ext uri="{FF2B5EF4-FFF2-40B4-BE49-F238E27FC236}">
                <a16:creationId xmlns="" xmlns:a16="http://schemas.microsoft.com/office/drawing/2014/main" id="{50C2A13A-9599-4BC7-ADE9-5DC21BD637B3}"/>
              </a:ext>
            </a:extLst>
          </p:cNvPr>
          <p:cNvSpPr txBox="1"/>
          <p:nvPr/>
        </p:nvSpPr>
        <p:spPr>
          <a:xfrm>
            <a:off x="1660933" y="1734931"/>
            <a:ext cx="102888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The </a:t>
            </a:r>
            <a:r>
              <a:rPr lang="en-AU" sz="2400" b="1" dirty="0"/>
              <a:t>three</a:t>
            </a:r>
            <a:r>
              <a:rPr lang="en-AU" sz="2400" dirty="0"/>
              <a:t> most common </a:t>
            </a:r>
            <a:r>
              <a:rPr lang="en-AU" sz="2400" b="1" dirty="0"/>
              <a:t>measures of location</a:t>
            </a:r>
            <a:r>
              <a:rPr lang="en-AU" sz="2400" dirty="0"/>
              <a:t> are the mean, the median, and the mode</a:t>
            </a:r>
            <a:r>
              <a:rPr lang="en-AU" sz="2400" dirty="0" smtClean="0"/>
              <a:t>. The </a:t>
            </a:r>
            <a:r>
              <a:rPr lang="en-AU" sz="2400" b="1" dirty="0" smtClean="0"/>
              <a:t>measure of spread </a:t>
            </a:r>
            <a:r>
              <a:rPr lang="en-AU" sz="2400" dirty="0" smtClean="0"/>
              <a:t>we use is called the range.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="" xmlns:a16="http://schemas.microsoft.com/office/drawing/2014/main" id="{956CDCAE-D359-443C-BAFA-EF2F483F8946}"/>
                  </a:ext>
                </a:extLst>
              </p:cNvPr>
              <p:cNvSpPr txBox="1"/>
              <p:nvPr/>
            </p:nvSpPr>
            <p:spPr>
              <a:xfrm>
                <a:off x="1660932" y="2565928"/>
                <a:ext cx="10389105" cy="22427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35000"/>
                  </a:lnSpc>
                </a:pPr>
                <a:r>
                  <a:rPr lang="en-US" altLang="en-US" sz="2400" b="1" dirty="0">
                    <a:solidFill>
                      <a:schemeClr val="accent2"/>
                    </a:solidFill>
                  </a:rPr>
                  <a:t>Mean</a:t>
                </a:r>
                <a:endParaRPr lang="en-US" altLang="en-US" sz="2400" b="1" dirty="0">
                  <a:solidFill>
                    <a:schemeClr val="hlink"/>
                  </a:solidFill>
                </a:endParaRPr>
              </a:p>
              <a:p>
                <a:pPr marL="285750" indent="-285750">
                  <a:lnSpc>
                    <a:spcPct val="135000"/>
                  </a:lnSpc>
                  <a:buFont typeface="Arial" charset="0"/>
                  <a:buChar char="•"/>
                </a:pPr>
                <a:r>
                  <a:rPr lang="en-US" altLang="en-US" sz="2400" dirty="0" smtClean="0"/>
                  <a:t>Also </a:t>
                </a:r>
                <a:r>
                  <a:rPr lang="en-US" altLang="en-US" sz="2400" dirty="0"/>
                  <a:t>known as the </a:t>
                </a:r>
                <a:r>
                  <a:rPr lang="en-US" altLang="en-US" sz="2400" b="1" dirty="0">
                    <a:solidFill>
                      <a:schemeClr val="accent2"/>
                    </a:solidFill>
                  </a:rPr>
                  <a:t>Average</a:t>
                </a:r>
                <a:r>
                  <a:rPr lang="en-US" altLang="en-US" sz="2400" dirty="0"/>
                  <a:t> of all observations</a:t>
                </a:r>
                <a:r>
                  <a:rPr lang="en-US" altLang="en-US" sz="2400" dirty="0" smtClean="0"/>
                  <a:t>.</a:t>
                </a:r>
              </a:p>
              <a:p>
                <a:pPr marL="285750" indent="-285750">
                  <a:lnSpc>
                    <a:spcPct val="135000"/>
                  </a:lnSpc>
                  <a:buFont typeface="Arial" charset="0"/>
                  <a:buChar char="•"/>
                </a:pPr>
                <a:r>
                  <a:rPr lang="en-US" sz="2400" dirty="0"/>
                  <a:t>Mean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mr-IN" sz="2400" i="1"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CA" sz="2400" i="1">
                            <a:latin typeface="Cambria Math" charset="0"/>
                          </a:rPr>
                          <m:t>𝑠𝑢𝑚</m:t>
                        </m:r>
                        <m:r>
                          <a:rPr lang="en-CA" sz="2400" i="1">
                            <a:latin typeface="Cambria Math" charset="0"/>
                          </a:rPr>
                          <m:t> </m:t>
                        </m:r>
                        <m:r>
                          <a:rPr lang="en-CA" sz="2400" i="1">
                            <a:latin typeface="Cambria Math" charset="0"/>
                          </a:rPr>
                          <m:t>𝑜𝑓</m:t>
                        </m:r>
                        <m:r>
                          <a:rPr lang="en-CA" sz="2400" i="1">
                            <a:latin typeface="Cambria Math" charset="0"/>
                          </a:rPr>
                          <m:t> </m:t>
                        </m:r>
                        <m:r>
                          <a:rPr lang="en-CA" sz="2400" i="1">
                            <a:latin typeface="Cambria Math" charset="0"/>
                          </a:rPr>
                          <m:t>𝑠𝑐𝑜𝑟𝑒𝑠</m:t>
                        </m:r>
                      </m:num>
                      <m:den>
                        <m:r>
                          <a:rPr lang="en-CA" sz="2400" i="1">
                            <a:latin typeface="Cambria Math" charset="0"/>
                          </a:rPr>
                          <m:t>𝑛𝑢𝑚𝑏𝑒𝑟</m:t>
                        </m:r>
                        <m:r>
                          <a:rPr lang="en-CA" sz="2400" i="1">
                            <a:latin typeface="Cambria Math" charset="0"/>
                          </a:rPr>
                          <m:t> </m:t>
                        </m:r>
                        <m:r>
                          <a:rPr lang="en-CA" sz="2400" i="1">
                            <a:latin typeface="Cambria Math" charset="0"/>
                          </a:rPr>
                          <m:t>𝑜𝑓</m:t>
                        </m:r>
                        <m:r>
                          <a:rPr lang="en-CA" sz="2400" i="1">
                            <a:latin typeface="Cambria Math" charset="0"/>
                          </a:rPr>
                          <m:t> </m:t>
                        </m:r>
                        <m:r>
                          <a:rPr lang="en-CA" sz="2400" i="1">
                            <a:latin typeface="Cambria Math" charset="0"/>
                          </a:rPr>
                          <m:t>𝑠𝑐𝑜𝑟𝑒𝑠</m:t>
                        </m:r>
                      </m:den>
                    </m:f>
                  </m:oMath>
                </a14:m>
                <a:endParaRPr lang="en-US" altLang="en-US" sz="2400" dirty="0"/>
              </a:p>
              <a:p>
                <a:pPr>
                  <a:lnSpc>
                    <a:spcPct val="135000"/>
                  </a:lnSpc>
                </a:pPr>
                <a:endParaRPr lang="en-US" alt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="" xmlns:a16="http://schemas.microsoft.com/office/drawing/2014/main" id="{956CDCAE-D359-443C-BAFA-EF2F483F89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0932" y="2565928"/>
                <a:ext cx="10389105" cy="2242793"/>
              </a:xfrm>
              <a:prstGeom prst="rect">
                <a:avLst/>
              </a:prstGeom>
              <a:blipFill rotWithShape="0">
                <a:blip r:embed="rId2"/>
                <a:stretch>
                  <a:fillRect l="-8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="" xmlns:a16="http://schemas.microsoft.com/office/drawing/2014/main" id="{E8BA37B9-996B-449A-96B8-1D91D92BC37A}"/>
              </a:ext>
            </a:extLst>
          </p:cNvPr>
          <p:cNvSpPr txBox="1"/>
          <p:nvPr/>
        </p:nvSpPr>
        <p:spPr>
          <a:xfrm>
            <a:off x="1660932" y="4449848"/>
            <a:ext cx="10288897" cy="9417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5000"/>
              </a:lnSpc>
              <a:spcBef>
                <a:spcPct val="55000"/>
              </a:spcBef>
            </a:pPr>
            <a:r>
              <a:rPr lang="en-US" altLang="en-US" sz="2400" b="1" dirty="0">
                <a:solidFill>
                  <a:schemeClr val="accent2"/>
                </a:solidFill>
              </a:rPr>
              <a:t>Median</a:t>
            </a:r>
            <a:r>
              <a:rPr lang="en-US" altLang="en-US" sz="2400" dirty="0"/>
              <a:t> – This is the middle value if the values are in </a:t>
            </a:r>
            <a:r>
              <a:rPr lang="en-US" altLang="en-US" sz="2400" dirty="0" smtClean="0"/>
              <a:t>order. </a:t>
            </a:r>
            <a:r>
              <a:rPr lang="en-US" altLang="en-US" sz="2400" dirty="0"/>
              <a:t>If there are two middle values then </a:t>
            </a:r>
            <a:r>
              <a:rPr lang="en-US" altLang="en-US" sz="2400" dirty="0" smtClean="0"/>
              <a:t>add them </a:t>
            </a:r>
            <a:r>
              <a:rPr lang="en-US" altLang="en-US" sz="2400" dirty="0"/>
              <a:t>together and </a:t>
            </a:r>
            <a:r>
              <a:rPr lang="en-US" altLang="en-US" sz="2400" dirty="0" smtClean="0"/>
              <a:t>divide </a:t>
            </a:r>
            <a:r>
              <a:rPr lang="en-US" altLang="en-US" sz="2400" dirty="0"/>
              <a:t>by 2.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19543" y="5598103"/>
            <a:ext cx="505971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accent2"/>
                </a:solidFill>
              </a:rPr>
              <a:t>Mode</a:t>
            </a:r>
            <a:r>
              <a:rPr lang="en-US" sz="2400" dirty="0"/>
              <a:t> = The value that occurs the most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60932" y="6230976"/>
            <a:ext cx="655403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accent2"/>
                </a:solidFill>
              </a:rPr>
              <a:t>Range</a:t>
            </a:r>
            <a:r>
              <a:rPr lang="en-US" sz="2400" dirty="0"/>
              <a:t> = The maximum value </a:t>
            </a:r>
            <a:r>
              <a:rPr lang="mr-IN" sz="2400" dirty="0"/>
              <a:t>–</a:t>
            </a:r>
            <a:r>
              <a:rPr lang="en-US" sz="2400" dirty="0"/>
              <a:t> the minimum value </a:t>
            </a:r>
          </a:p>
        </p:txBody>
      </p:sp>
    </p:spTree>
    <p:extLst>
      <p:ext uri="{BB962C8B-B14F-4D97-AF65-F5344CB8AC3E}">
        <p14:creationId xmlns:p14="http://schemas.microsoft.com/office/powerpoint/2010/main" val="1013366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9" grpId="0"/>
      <p:bldP spid="21" grpId="0"/>
      <p:bldP spid="12" grpId="0"/>
      <p:bldP spid="1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 flipV="1">
            <a:off x="0" y="980729"/>
            <a:ext cx="12192000" cy="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540168"/>
            <a:ext cx="12192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36541" y="123309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 flipH="1">
            <a:off x="1388088" y="1540168"/>
            <a:ext cx="52405" cy="531783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301686" y="288324"/>
            <a:ext cx="33107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Measures of Location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37893" y="274328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1869929" y="2408451"/>
                <a:ext cx="10172156" cy="38440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514350" indent="-514350">
                  <a:buAutoNum type="alphaLcParenR"/>
                </a:pPr>
                <a:r>
                  <a:rPr lang="en-US" sz="2400" dirty="0" smtClean="0"/>
                  <a:t>Mean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mr-IN" sz="2400" i="1" smtClean="0"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CA" sz="2400" b="0" i="1" smtClean="0">
                            <a:latin typeface="Cambria Math" charset="0"/>
                          </a:rPr>
                          <m:t>𝑠𝑢𝑚</m:t>
                        </m:r>
                        <m:r>
                          <a:rPr lang="en-CA" sz="2400" b="0" i="1" smtClean="0">
                            <a:latin typeface="Cambria Math" charset="0"/>
                          </a:rPr>
                          <m:t> </m:t>
                        </m:r>
                        <m:r>
                          <a:rPr lang="en-CA" sz="2400" b="0" i="1" smtClean="0">
                            <a:latin typeface="Cambria Math" charset="0"/>
                          </a:rPr>
                          <m:t>𝑜𝑓</m:t>
                        </m:r>
                        <m:r>
                          <a:rPr lang="en-CA" sz="2400" b="0" i="1" smtClean="0">
                            <a:latin typeface="Cambria Math" charset="0"/>
                          </a:rPr>
                          <m:t> </m:t>
                        </m:r>
                        <m:r>
                          <a:rPr lang="en-CA" sz="2400" b="0" i="1" smtClean="0">
                            <a:latin typeface="Cambria Math" charset="0"/>
                          </a:rPr>
                          <m:t>𝑠𝑐𝑜𝑟𝑒𝑠</m:t>
                        </m:r>
                      </m:num>
                      <m:den>
                        <m:r>
                          <a:rPr lang="en-CA" sz="2400" b="0" i="1" smtClean="0">
                            <a:latin typeface="Cambria Math" charset="0"/>
                          </a:rPr>
                          <m:t>𝑛𝑢𝑚𝑏𝑒𝑟</m:t>
                        </m:r>
                        <m:r>
                          <a:rPr lang="en-CA" sz="2400" b="0" i="1" smtClean="0">
                            <a:latin typeface="Cambria Math" charset="0"/>
                          </a:rPr>
                          <m:t> </m:t>
                        </m:r>
                        <m:r>
                          <a:rPr lang="en-CA" sz="2400" b="0" i="1" smtClean="0">
                            <a:latin typeface="Cambria Math" charset="0"/>
                          </a:rPr>
                          <m:t>𝑜𝑓</m:t>
                        </m:r>
                        <m:r>
                          <a:rPr lang="en-CA" sz="2400" b="0" i="1" smtClean="0">
                            <a:latin typeface="Cambria Math" charset="0"/>
                          </a:rPr>
                          <m:t> </m:t>
                        </m:r>
                        <m:r>
                          <a:rPr lang="en-CA" sz="2400" b="0" i="1" smtClean="0">
                            <a:latin typeface="Cambria Math" charset="0"/>
                          </a:rPr>
                          <m:t>𝑠𝑐𝑜𝑟𝑒𝑠</m:t>
                        </m:r>
                      </m:den>
                    </m:f>
                    <m:r>
                      <a:rPr lang="en-CA" sz="2400" b="0" i="1" smtClean="0">
                        <a:latin typeface="Cambria Math" charset="0"/>
                      </a:rPr>
                      <m:t>= </m:t>
                    </m:r>
                    <m:f>
                      <m:fPr>
                        <m:ctrlPr>
                          <a:rPr lang="mr-IN" sz="2400" b="0" i="1" smtClean="0"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CA" sz="2400" b="0" i="1" smtClean="0">
                            <a:latin typeface="Cambria Math" charset="0"/>
                          </a:rPr>
                          <m:t>103</m:t>
                        </m:r>
                      </m:num>
                      <m:den>
                        <m:r>
                          <a:rPr lang="en-CA" sz="2400" b="0" i="1" smtClean="0">
                            <a:latin typeface="Cambria Math" charset="0"/>
                          </a:rPr>
                          <m:t>8</m:t>
                        </m:r>
                      </m:den>
                    </m:f>
                    <m:r>
                      <a:rPr lang="en-CA" sz="2400" b="0" i="1" smtClean="0">
                        <a:latin typeface="Cambria Math" charset="0"/>
                      </a:rPr>
                      <m:t>=12.88</m:t>
                    </m:r>
                  </m:oMath>
                </a14:m>
                <a:endParaRPr lang="en-US" sz="2400" dirty="0" smtClean="0"/>
              </a:p>
              <a:p>
                <a:r>
                  <a:rPr lang="en-US" sz="2400" dirty="0"/>
                  <a:t> </a:t>
                </a:r>
                <a:r>
                  <a:rPr lang="en-US" sz="2400" dirty="0" smtClean="0"/>
                  <a:t>   </a:t>
                </a:r>
              </a:p>
              <a:p>
                <a:pPr marL="514350" indent="-514350">
                  <a:buAutoNum type="alphaLcParenR" startAt="2"/>
                </a:pPr>
                <a:r>
                  <a:rPr lang="en-US" sz="2400" dirty="0" smtClean="0"/>
                  <a:t>Median is the middle value, in this case values: </a:t>
                </a:r>
              </a:p>
              <a:p>
                <a:r>
                  <a:rPr lang="en-US" sz="2400" dirty="0" smtClean="0"/>
                  <a:t>      2, 3, 4, 5, 6, 6, 9, 68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mr-IN" sz="2400" i="1" smtClean="0"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CA" sz="2400" b="0" i="1" smtClean="0">
                            <a:latin typeface="Cambria Math" charset="0"/>
                          </a:rPr>
                          <m:t>5+6</m:t>
                        </m:r>
                      </m:num>
                      <m:den>
                        <m:r>
                          <a:rPr lang="en-CA" sz="2400" b="0" i="1" smtClean="0">
                            <a:latin typeface="Cambria Math" charset="0"/>
                          </a:rPr>
                          <m:t>2</m:t>
                        </m:r>
                      </m:den>
                    </m:f>
                    <m:r>
                      <a:rPr lang="en-CA" sz="2400" b="0" i="1" smtClean="0">
                        <a:latin typeface="Cambria Math" charset="0"/>
                      </a:rPr>
                      <m:t>=5.5</m:t>
                    </m:r>
                  </m:oMath>
                </a14:m>
                <a:endParaRPr lang="en-US" sz="2400" dirty="0" smtClean="0"/>
              </a:p>
              <a:p>
                <a:pPr marL="514350" indent="-514350">
                  <a:buAutoNum type="alphaLcParenR" startAt="3"/>
                </a:pPr>
                <a:endParaRPr lang="en-US" sz="2400" dirty="0" smtClean="0"/>
              </a:p>
              <a:p>
                <a:pPr marL="514350" indent="-514350">
                  <a:buAutoNum type="alphaLcParenR" startAt="3"/>
                </a:pPr>
                <a:r>
                  <a:rPr lang="en-US" sz="2400" dirty="0" smtClean="0"/>
                  <a:t>Mode = The value that occurs the most, which is 6. </a:t>
                </a:r>
              </a:p>
              <a:p>
                <a:pPr marL="514350" indent="-514350">
                  <a:buAutoNum type="alphaLcParenR" startAt="3"/>
                </a:pPr>
                <a:endParaRPr lang="en-US" sz="2400" dirty="0" smtClean="0"/>
              </a:p>
              <a:p>
                <a:pPr marL="514350" indent="-514350">
                  <a:buAutoNum type="alphaLcParenR" startAt="3"/>
                </a:pPr>
                <a:r>
                  <a:rPr lang="en-US" sz="2400" dirty="0" smtClean="0"/>
                  <a:t>Range = The maximum value </a:t>
                </a:r>
                <a:r>
                  <a:rPr lang="mr-IN" sz="2400" dirty="0" smtClean="0"/>
                  <a:t>–</a:t>
                </a:r>
                <a:r>
                  <a:rPr lang="en-US" sz="2400" dirty="0" smtClean="0"/>
                  <a:t> the minimum value = 68-2 = 66</a:t>
                </a:r>
              </a:p>
              <a:p>
                <a:endParaRPr lang="en-US" sz="2800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9929" y="2408451"/>
                <a:ext cx="10172156" cy="3844066"/>
              </a:xfrm>
              <a:prstGeom prst="rect">
                <a:avLst/>
              </a:prstGeom>
              <a:blipFill rotWithShape="0">
                <a:blip r:embed="rId2"/>
                <a:stretch>
                  <a:fillRect l="-9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Oval 22">
            <a:extLst>
              <a:ext uri="{FF2B5EF4-FFF2-40B4-BE49-F238E27FC236}">
                <a16:creationId xmlns="" xmlns:a16="http://schemas.microsoft.com/office/drawing/2014/main" id="{3C7BDCCA-A38E-43A4-915F-C1E22283F9C5}"/>
              </a:ext>
            </a:extLst>
          </p:cNvPr>
          <p:cNvSpPr/>
          <p:nvPr/>
        </p:nvSpPr>
        <p:spPr>
          <a:xfrm>
            <a:off x="3153691" y="3862265"/>
            <a:ext cx="367925" cy="38830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160"/>
          </a:p>
        </p:txBody>
      </p:sp>
      <p:sp>
        <p:nvSpPr>
          <p:cNvPr id="24" name="Oval 23">
            <a:extLst>
              <a:ext uri="{FF2B5EF4-FFF2-40B4-BE49-F238E27FC236}">
                <a16:creationId xmlns="" xmlns:a16="http://schemas.microsoft.com/office/drawing/2014/main" id="{3C7BDCCA-A38E-43A4-915F-C1E22283F9C5}"/>
              </a:ext>
            </a:extLst>
          </p:cNvPr>
          <p:cNvSpPr/>
          <p:nvPr/>
        </p:nvSpPr>
        <p:spPr>
          <a:xfrm>
            <a:off x="3456031" y="3862265"/>
            <a:ext cx="350729" cy="36989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160"/>
          </a:p>
        </p:txBody>
      </p:sp>
      <p:sp>
        <p:nvSpPr>
          <p:cNvPr id="15" name="TextBox 14"/>
          <p:cNvSpPr txBox="1"/>
          <p:nvPr/>
        </p:nvSpPr>
        <p:spPr>
          <a:xfrm>
            <a:off x="93471" y="1078503"/>
            <a:ext cx="106103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What </a:t>
            </a:r>
            <a:r>
              <a:rPr lang="en-AU" sz="2400" dirty="0" smtClean="0"/>
              <a:t>have we learned about data, equations and time?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584785" y="1671355"/>
            <a:ext cx="104573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Find the mean, median, mode and rage of the following: </a:t>
            </a:r>
            <a:r>
              <a:rPr lang="en-US" sz="2400" dirty="0"/>
              <a:t>2, 3, 4, 5, 6, 6, 9, 68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8245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2" dur="2000"/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3" grpId="0" animBg="1"/>
      <p:bldP spid="2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 flipV="1">
            <a:off x="0" y="980729"/>
            <a:ext cx="12192000" cy="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540168"/>
            <a:ext cx="12192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36541" y="123309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 flipH="1">
            <a:off x="1180471" y="1548175"/>
            <a:ext cx="52405" cy="531783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301686" y="288324"/>
            <a:ext cx="33107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Measures of Location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37893" y="274328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202" y="1586334"/>
            <a:ext cx="13880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What are outliers?</a:t>
            </a:r>
            <a:endParaRPr lang="en-US" sz="2400" dirty="0"/>
          </a:p>
        </p:txBody>
      </p:sp>
      <p:sp>
        <p:nvSpPr>
          <p:cNvPr id="16" name="Right Brace 15"/>
          <p:cNvSpPr/>
          <p:nvPr/>
        </p:nvSpPr>
        <p:spPr>
          <a:xfrm>
            <a:off x="8589151" y="4809995"/>
            <a:ext cx="187337" cy="1133363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8929165" y="4961177"/>
            <a:ext cx="14450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Quite a difference</a:t>
            </a:r>
            <a:endParaRPr lang="en-US" sz="2400" dirty="0"/>
          </a:p>
        </p:txBody>
      </p:sp>
      <p:sp>
        <p:nvSpPr>
          <p:cNvPr id="15" name="TextBox 14"/>
          <p:cNvSpPr txBox="1"/>
          <p:nvPr/>
        </p:nvSpPr>
        <p:spPr>
          <a:xfrm>
            <a:off x="93471" y="1078503"/>
            <a:ext cx="106103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What </a:t>
            </a:r>
            <a:r>
              <a:rPr lang="en-AU" sz="2400" dirty="0" smtClean="0"/>
              <a:t>have we learned about data, equations and time?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414290" y="1780064"/>
            <a:ext cx="1077771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Find the mean, median, mode and rage of the following: </a:t>
            </a:r>
            <a:r>
              <a:rPr lang="en-US" sz="2400" dirty="0"/>
              <a:t>2, 3, 4, 5, 6, 6, 9, </a:t>
            </a:r>
            <a:r>
              <a:rPr lang="en-US" sz="2400" dirty="0" smtClean="0"/>
              <a:t>68</a:t>
            </a:r>
          </a:p>
          <a:p>
            <a:endParaRPr lang="en-US" sz="2400" dirty="0" smtClean="0"/>
          </a:p>
          <a:p>
            <a:pPr marL="342900" indent="-342900">
              <a:buFont typeface="Arial" charset="0"/>
              <a:buChar char="•"/>
            </a:pPr>
            <a:r>
              <a:rPr lang="en-US" sz="2400" dirty="0" smtClean="0"/>
              <a:t>What number is unusual in the above set of numbers? </a:t>
            </a:r>
            <a:endParaRPr lang="en-US" sz="2400" dirty="0"/>
          </a:p>
          <a:p>
            <a:pPr marL="342900" indent="-342900">
              <a:buFont typeface="Arial" charset="0"/>
              <a:buChar char="•"/>
            </a:pPr>
            <a:r>
              <a:rPr lang="en-US" sz="2400" dirty="0" smtClean="0"/>
              <a:t>We call 68 an </a:t>
            </a:r>
            <a:r>
              <a:rPr lang="en-US" sz="2400" b="1" dirty="0" smtClean="0"/>
              <a:t>outlier. </a:t>
            </a:r>
            <a:r>
              <a:rPr lang="en-US" sz="2400" dirty="0" smtClean="0"/>
              <a:t>Outliers are unusual values and we need to know how the affect our measures of location and spread.</a:t>
            </a:r>
            <a:endParaRPr lang="en-US" sz="2400" dirty="0"/>
          </a:p>
          <a:p>
            <a:endParaRPr lang="en-US" dirty="0"/>
          </a:p>
          <a:p>
            <a:r>
              <a:rPr lang="en-US" sz="2400" dirty="0" smtClean="0"/>
              <a:t>Let’s look at how removing the outlier affects the mean for the above set of numbers:</a:t>
            </a:r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1517898" y="4696478"/>
                <a:ext cx="7999711" cy="124688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514350" indent="-514350">
                  <a:buAutoNum type="alphaLcParenR"/>
                </a:pPr>
                <a:r>
                  <a:rPr lang="en-US" sz="2400" dirty="0"/>
                  <a:t>Mean with outlier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mr-IN" sz="2400" i="1"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CA" sz="2400" i="1">
                            <a:latin typeface="Cambria Math" charset="0"/>
                          </a:rPr>
                          <m:t>𝑠𝑢𝑚</m:t>
                        </m:r>
                        <m:r>
                          <a:rPr lang="en-CA" sz="2400" i="1">
                            <a:latin typeface="Cambria Math" charset="0"/>
                          </a:rPr>
                          <m:t> </m:t>
                        </m:r>
                        <m:r>
                          <a:rPr lang="en-CA" sz="2400" i="1">
                            <a:latin typeface="Cambria Math" charset="0"/>
                          </a:rPr>
                          <m:t>𝑜𝑓</m:t>
                        </m:r>
                        <m:r>
                          <a:rPr lang="en-CA" sz="2400" i="1">
                            <a:latin typeface="Cambria Math" charset="0"/>
                          </a:rPr>
                          <m:t> </m:t>
                        </m:r>
                        <m:r>
                          <a:rPr lang="en-CA" sz="2400" i="1">
                            <a:latin typeface="Cambria Math" charset="0"/>
                          </a:rPr>
                          <m:t>𝑠𝑐𝑜𝑟𝑒𝑠</m:t>
                        </m:r>
                      </m:num>
                      <m:den>
                        <m:r>
                          <a:rPr lang="en-CA" sz="2400" i="1">
                            <a:latin typeface="Cambria Math" charset="0"/>
                          </a:rPr>
                          <m:t>𝑛𝑢𝑚𝑏𝑒𝑟</m:t>
                        </m:r>
                        <m:r>
                          <a:rPr lang="en-CA" sz="2400" i="1">
                            <a:latin typeface="Cambria Math" charset="0"/>
                          </a:rPr>
                          <m:t> </m:t>
                        </m:r>
                        <m:r>
                          <a:rPr lang="en-CA" sz="2400" i="1">
                            <a:latin typeface="Cambria Math" charset="0"/>
                          </a:rPr>
                          <m:t>𝑜𝑓</m:t>
                        </m:r>
                        <m:r>
                          <a:rPr lang="en-CA" sz="2400" i="1">
                            <a:latin typeface="Cambria Math" charset="0"/>
                          </a:rPr>
                          <m:t> </m:t>
                        </m:r>
                        <m:r>
                          <a:rPr lang="en-CA" sz="2400" i="1">
                            <a:latin typeface="Cambria Math" charset="0"/>
                          </a:rPr>
                          <m:t>𝑠𝑐𝑜𝑟𝑒𝑠</m:t>
                        </m:r>
                      </m:den>
                    </m:f>
                    <m:r>
                      <a:rPr lang="en-CA" sz="2400" i="1">
                        <a:latin typeface="Cambria Math" charset="0"/>
                      </a:rPr>
                      <m:t>= </m:t>
                    </m:r>
                    <m:f>
                      <m:fPr>
                        <m:ctrlPr>
                          <a:rPr lang="mr-IN" sz="2400" i="1"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CA" sz="2400" i="1">
                            <a:latin typeface="Cambria Math" charset="0"/>
                          </a:rPr>
                          <m:t>103</m:t>
                        </m:r>
                      </m:num>
                      <m:den>
                        <m:r>
                          <a:rPr lang="en-CA" sz="2400" i="1">
                            <a:latin typeface="Cambria Math" charset="0"/>
                          </a:rPr>
                          <m:t>8</m:t>
                        </m:r>
                      </m:den>
                    </m:f>
                    <m:r>
                      <a:rPr lang="en-CA" sz="2400" i="1">
                        <a:latin typeface="Cambria Math" charset="0"/>
                      </a:rPr>
                      <m:t>=12.88</m:t>
                    </m:r>
                  </m:oMath>
                </a14:m>
                <a:endParaRPr lang="en-US" sz="2400" dirty="0"/>
              </a:p>
              <a:p>
                <a:r>
                  <a:rPr lang="en-US" sz="2400" dirty="0"/>
                  <a:t>      </a:t>
                </a:r>
                <a:r>
                  <a:rPr lang="en-US" sz="2400" dirty="0" smtClean="0"/>
                  <a:t>  Mean </a:t>
                </a:r>
                <a:r>
                  <a:rPr lang="en-US" sz="2400" dirty="0"/>
                  <a:t>without outlier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mr-IN" sz="2400" i="1"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CA" sz="2400" i="1">
                            <a:latin typeface="Cambria Math" charset="0"/>
                          </a:rPr>
                          <m:t>𝑠𝑢𝑚</m:t>
                        </m:r>
                        <m:r>
                          <a:rPr lang="en-CA" sz="2400" i="1">
                            <a:latin typeface="Cambria Math" charset="0"/>
                          </a:rPr>
                          <m:t> </m:t>
                        </m:r>
                        <m:r>
                          <a:rPr lang="en-CA" sz="2400" i="1">
                            <a:latin typeface="Cambria Math" charset="0"/>
                          </a:rPr>
                          <m:t>𝑜𝑓</m:t>
                        </m:r>
                        <m:r>
                          <a:rPr lang="en-CA" sz="2400" i="1">
                            <a:latin typeface="Cambria Math" charset="0"/>
                          </a:rPr>
                          <m:t> </m:t>
                        </m:r>
                        <m:r>
                          <a:rPr lang="en-CA" sz="2400" i="1">
                            <a:latin typeface="Cambria Math" charset="0"/>
                          </a:rPr>
                          <m:t>𝑠𝑐𝑜𝑟𝑒𝑠</m:t>
                        </m:r>
                      </m:num>
                      <m:den>
                        <m:r>
                          <a:rPr lang="en-CA" sz="2400" i="1">
                            <a:latin typeface="Cambria Math" charset="0"/>
                          </a:rPr>
                          <m:t>𝑛𝑢𝑚𝑏𝑒𝑟</m:t>
                        </m:r>
                        <m:r>
                          <a:rPr lang="en-CA" sz="2400" i="1">
                            <a:latin typeface="Cambria Math" charset="0"/>
                          </a:rPr>
                          <m:t> </m:t>
                        </m:r>
                        <m:r>
                          <a:rPr lang="en-CA" sz="2400" i="1">
                            <a:latin typeface="Cambria Math" charset="0"/>
                          </a:rPr>
                          <m:t>𝑜𝑓</m:t>
                        </m:r>
                        <m:r>
                          <a:rPr lang="en-CA" sz="2400" i="1">
                            <a:latin typeface="Cambria Math" charset="0"/>
                          </a:rPr>
                          <m:t> </m:t>
                        </m:r>
                        <m:r>
                          <a:rPr lang="en-CA" sz="2400" i="1">
                            <a:latin typeface="Cambria Math" charset="0"/>
                          </a:rPr>
                          <m:t>𝑠𝑐𝑜𝑟𝑒𝑠</m:t>
                        </m:r>
                      </m:den>
                    </m:f>
                    <m:r>
                      <a:rPr lang="en-CA" sz="2400" i="1">
                        <a:latin typeface="Cambria Math" charset="0"/>
                      </a:rPr>
                      <m:t>=</m:t>
                    </m:r>
                    <m:f>
                      <m:fPr>
                        <m:ctrlPr>
                          <a:rPr lang="mr-IN" sz="2400" i="1"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CA" sz="2400" i="1">
                            <a:latin typeface="Cambria Math" charset="0"/>
                          </a:rPr>
                          <m:t>35</m:t>
                        </m:r>
                      </m:num>
                      <m:den>
                        <m:r>
                          <a:rPr lang="en-CA" sz="2400" i="1">
                            <a:latin typeface="Cambria Math" charset="0"/>
                          </a:rPr>
                          <m:t>7</m:t>
                        </m:r>
                      </m:den>
                    </m:f>
                    <m:r>
                      <a:rPr lang="en-CA" sz="2400" i="1">
                        <a:latin typeface="Cambria Math" charset="0"/>
                      </a:rPr>
                      <m:t>=5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7898" y="4696478"/>
                <a:ext cx="7999711" cy="1246880"/>
              </a:xfrm>
              <a:prstGeom prst="rect">
                <a:avLst/>
              </a:prstGeom>
              <a:blipFill rotWithShape="0">
                <a:blip r:embed="rId2"/>
                <a:stretch>
                  <a:fillRect l="-1220" b="-4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8614162" y="2417331"/>
            <a:ext cx="6300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68!</a:t>
            </a:r>
          </a:p>
        </p:txBody>
      </p:sp>
    </p:spTree>
    <p:extLst>
      <p:ext uri="{BB962C8B-B14F-4D97-AF65-F5344CB8AC3E}">
        <p14:creationId xmlns:p14="http://schemas.microsoft.com/office/powerpoint/2010/main" val="458237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/>
      <p:bldP spid="2" grpId="0"/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926" y="2041743"/>
            <a:ext cx="10925311" cy="360666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928731" y="776707"/>
            <a:ext cx="201927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/>
              <a:t>Your Turn: 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849746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</a:t>
            </a:r>
          </a:p>
        </p:txBody>
      </p:sp>
      <p:cxnSp>
        <p:nvCxnSpPr>
          <p:cNvPr id="4" name="Straight Connector 3"/>
          <p:cNvCxnSpPr/>
          <p:nvPr/>
        </p:nvCxnSpPr>
        <p:spPr>
          <a:xfrm flipV="1">
            <a:off x="0" y="980060"/>
            <a:ext cx="12192000" cy="67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783038"/>
            <a:ext cx="12192000" cy="1861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6662" y="258329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343065" y="1783038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499248" y="446821"/>
            <a:ext cx="31935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Solving Equations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8963175" y="106355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24164" y="1834532"/>
            <a:ext cx="9667836" cy="3877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i="1" dirty="0"/>
              <a:t>To solve an equation with a variable, we </a:t>
            </a:r>
            <a:r>
              <a:rPr lang="en-AU" b="1" i="1" dirty="0"/>
              <a:t>rearrange the equation </a:t>
            </a:r>
            <a:r>
              <a:rPr lang="en-AU" i="1" dirty="0"/>
              <a:t>so our unknown value is </a:t>
            </a:r>
            <a:r>
              <a:rPr lang="en-AU" b="1" i="1" dirty="0"/>
              <a:t>by itself </a:t>
            </a:r>
            <a:r>
              <a:rPr lang="en-AU" i="1" dirty="0"/>
              <a:t>on one side of the equals sign. </a:t>
            </a:r>
            <a:r>
              <a:rPr lang="en-US" b="1" i="1" dirty="0"/>
              <a:t>If you do something on one side of the equals sign, do it on the </a:t>
            </a:r>
            <a:r>
              <a:rPr lang="en-US" b="1" i="1" dirty="0" smtClean="0"/>
              <a:t>other!</a:t>
            </a:r>
            <a:r>
              <a:rPr lang="en-AU" b="1" i="1" dirty="0" smtClean="0"/>
              <a:t> </a:t>
            </a:r>
            <a:r>
              <a:rPr lang="en-AU" dirty="0" smtClean="0"/>
              <a:t>We </a:t>
            </a:r>
            <a:r>
              <a:rPr lang="en-AU" dirty="0"/>
              <a:t>do this by doing </a:t>
            </a:r>
            <a:r>
              <a:rPr lang="en-AU" b="1" dirty="0"/>
              <a:t>the inverse action</a:t>
            </a:r>
            <a:r>
              <a:rPr lang="en-AU" dirty="0"/>
              <a:t>.</a:t>
            </a:r>
          </a:p>
          <a:p>
            <a:endParaRPr lang="en-AU" sz="1600" dirty="0"/>
          </a:p>
          <a:p>
            <a:r>
              <a:rPr lang="en-AU" sz="1600" dirty="0"/>
              <a:t>x + 2 = 4</a:t>
            </a:r>
          </a:p>
          <a:p>
            <a:r>
              <a:rPr lang="en-AU" sz="1600" dirty="0">
                <a:solidFill>
                  <a:srgbClr val="0070C0"/>
                </a:solidFill>
              </a:rPr>
              <a:t>Think: Inverse of + is -</a:t>
            </a:r>
          </a:p>
          <a:p>
            <a:endParaRPr lang="en-AU" sz="1600" dirty="0"/>
          </a:p>
          <a:p>
            <a:r>
              <a:rPr lang="en-AU" sz="1600" dirty="0"/>
              <a:t>x + 2 =   4</a:t>
            </a:r>
          </a:p>
          <a:p>
            <a:r>
              <a:rPr lang="en-AU" sz="1600" dirty="0"/>
              <a:t>  </a:t>
            </a:r>
            <a:r>
              <a:rPr lang="en-AU" sz="1600" dirty="0" smtClean="0"/>
              <a:t>   </a:t>
            </a:r>
            <a:r>
              <a:rPr lang="en-AU" sz="1600" dirty="0" smtClean="0">
                <a:solidFill>
                  <a:srgbClr val="0070C0"/>
                </a:solidFill>
              </a:rPr>
              <a:t>-</a:t>
            </a:r>
            <a:r>
              <a:rPr lang="en-AU" sz="1600" dirty="0">
                <a:solidFill>
                  <a:srgbClr val="0070C0"/>
                </a:solidFill>
              </a:rPr>
              <a:t>2     </a:t>
            </a:r>
            <a:r>
              <a:rPr lang="en-AU" sz="1600" dirty="0" smtClean="0">
                <a:solidFill>
                  <a:srgbClr val="0070C0"/>
                </a:solidFill>
              </a:rPr>
              <a:t>-</a:t>
            </a:r>
            <a:r>
              <a:rPr lang="en-AU" sz="1600" dirty="0">
                <a:solidFill>
                  <a:srgbClr val="0070C0"/>
                </a:solidFill>
              </a:rPr>
              <a:t>2</a:t>
            </a:r>
            <a:endParaRPr lang="en-AU" sz="1600" dirty="0"/>
          </a:p>
          <a:p>
            <a:endParaRPr lang="en-AU" sz="1600" dirty="0"/>
          </a:p>
          <a:p>
            <a:r>
              <a:rPr lang="en-AU" sz="1600" dirty="0"/>
              <a:t>    x    =   2</a:t>
            </a:r>
          </a:p>
          <a:p>
            <a:endParaRPr lang="en-AU" sz="1600" dirty="0"/>
          </a:p>
          <a:p>
            <a:r>
              <a:rPr lang="en-AU" sz="1600" dirty="0"/>
              <a:t>CHECK YOUR ANSWER!!</a:t>
            </a:r>
          </a:p>
          <a:p>
            <a:endParaRPr lang="en-AU" sz="1600" dirty="0"/>
          </a:p>
          <a:p>
            <a:r>
              <a:rPr lang="en-AU" sz="1600" dirty="0"/>
              <a:t>  2+2=4 </a:t>
            </a:r>
          </a:p>
        </p:txBody>
      </p:sp>
      <p:pic>
        <p:nvPicPr>
          <p:cNvPr id="1030" name="Picture 6" descr="https://openclipart.org/image/2400px/svg_to_png/167549/Kliponious-green-tick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6368" y="5135352"/>
            <a:ext cx="511870" cy="5858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6555812" y="2860374"/>
            <a:ext cx="2678992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x ÷ 3 = 4</a:t>
            </a:r>
          </a:p>
          <a:p>
            <a:r>
              <a:rPr lang="en-AU" sz="1600" dirty="0">
                <a:solidFill>
                  <a:srgbClr val="0070C0"/>
                </a:solidFill>
              </a:rPr>
              <a:t>Think: Inverse of ÷ is x</a:t>
            </a:r>
          </a:p>
          <a:p>
            <a:endParaRPr lang="en-AU" sz="1600" dirty="0"/>
          </a:p>
          <a:p>
            <a:r>
              <a:rPr lang="en-AU" sz="1600" dirty="0"/>
              <a:t>x ÷ 3  = 4 </a:t>
            </a:r>
          </a:p>
          <a:p>
            <a:r>
              <a:rPr lang="en-AU" sz="1600" dirty="0"/>
              <a:t>  </a:t>
            </a:r>
            <a:r>
              <a:rPr lang="en-AU" sz="1600" dirty="0" smtClean="0"/>
              <a:t>  </a:t>
            </a:r>
            <a:r>
              <a:rPr lang="en-AU" sz="1600" dirty="0" smtClean="0">
                <a:solidFill>
                  <a:srgbClr val="00B0F0"/>
                </a:solidFill>
              </a:rPr>
              <a:t>x3 </a:t>
            </a:r>
            <a:r>
              <a:rPr lang="en-AU" sz="1600" dirty="0" smtClean="0"/>
              <a:t>   </a:t>
            </a:r>
            <a:r>
              <a:rPr lang="en-AU" sz="1600" dirty="0" smtClean="0">
                <a:solidFill>
                  <a:srgbClr val="00B0F0"/>
                </a:solidFill>
              </a:rPr>
              <a:t>x3</a:t>
            </a:r>
            <a:endParaRPr lang="en-AU" sz="1600" dirty="0">
              <a:solidFill>
                <a:srgbClr val="00B0F0"/>
              </a:solidFill>
            </a:endParaRPr>
          </a:p>
          <a:p>
            <a:endParaRPr lang="en-AU" sz="1600" dirty="0"/>
          </a:p>
          <a:p>
            <a:r>
              <a:rPr lang="en-AU" sz="1600" dirty="0"/>
              <a:t>    x    =  12</a:t>
            </a:r>
          </a:p>
          <a:p>
            <a:endParaRPr lang="en-AU" sz="1600" dirty="0"/>
          </a:p>
          <a:p>
            <a:r>
              <a:rPr lang="en-AU" sz="1600" dirty="0"/>
              <a:t>CHECK YOUR ANSWER!!</a:t>
            </a:r>
          </a:p>
          <a:p>
            <a:endParaRPr lang="en-AU" sz="1600" dirty="0"/>
          </a:p>
          <a:p>
            <a:r>
              <a:rPr lang="en-AU" sz="1600" dirty="0"/>
              <a:t>  12 ÷ 3 = 4 </a:t>
            </a:r>
          </a:p>
        </p:txBody>
      </p:sp>
      <p:pic>
        <p:nvPicPr>
          <p:cNvPr id="42" name="Picture 6" descr="https://openclipart.org/image/2400px/svg_to_png/167549/Kliponious-green-tick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6186" y="5116821"/>
            <a:ext cx="511870" cy="5858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Donut 7"/>
          <p:cNvSpPr/>
          <p:nvPr/>
        </p:nvSpPr>
        <p:spPr>
          <a:xfrm>
            <a:off x="3183933" y="3892051"/>
            <a:ext cx="357202" cy="360040"/>
          </a:xfrm>
          <a:prstGeom prst="donut">
            <a:avLst>
              <a:gd name="adj" fmla="val 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43" name="Donut 42"/>
          <p:cNvSpPr/>
          <p:nvPr/>
        </p:nvSpPr>
        <p:spPr>
          <a:xfrm>
            <a:off x="2821396" y="3900717"/>
            <a:ext cx="360040" cy="360040"/>
          </a:xfrm>
          <a:prstGeom prst="donut">
            <a:avLst>
              <a:gd name="adj" fmla="val 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44" name="Donut 43"/>
          <p:cNvSpPr/>
          <p:nvPr/>
        </p:nvSpPr>
        <p:spPr>
          <a:xfrm>
            <a:off x="6803558" y="3885609"/>
            <a:ext cx="360040" cy="360040"/>
          </a:xfrm>
          <a:prstGeom prst="donut">
            <a:avLst>
              <a:gd name="adj" fmla="val 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45" name="Donut 44"/>
          <p:cNvSpPr/>
          <p:nvPr/>
        </p:nvSpPr>
        <p:spPr>
          <a:xfrm>
            <a:off x="7231324" y="3885609"/>
            <a:ext cx="360040" cy="360040"/>
          </a:xfrm>
          <a:prstGeom prst="donut">
            <a:avLst>
              <a:gd name="adj" fmla="val 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532220" y="2896361"/>
            <a:ext cx="168907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b="1" dirty="0">
                <a:ln>
                  <a:solidFill>
                    <a:schemeClr val="accent1"/>
                  </a:solidFill>
                </a:ln>
              </a:rPr>
              <a:t>The inverse functions are:</a:t>
            </a:r>
          </a:p>
          <a:p>
            <a:r>
              <a:rPr lang="en-AU" b="1" dirty="0">
                <a:ln>
                  <a:solidFill>
                    <a:schemeClr val="accent1"/>
                  </a:solidFill>
                </a:ln>
              </a:rPr>
              <a:t>     </a:t>
            </a:r>
            <a:r>
              <a:rPr lang="en-AU" b="1" dirty="0" smtClean="0">
                <a:ln>
                  <a:solidFill>
                    <a:schemeClr val="accent1"/>
                  </a:solidFill>
                </a:ln>
              </a:rPr>
              <a:t>   +       </a:t>
            </a:r>
            <a:r>
              <a:rPr lang="en-AU" b="1" dirty="0">
                <a:ln>
                  <a:solidFill>
                    <a:schemeClr val="accent1"/>
                  </a:solidFill>
                </a:ln>
              </a:rPr>
              <a:t>-</a:t>
            </a:r>
          </a:p>
          <a:p>
            <a:pPr marL="285750" indent="-285750" algn="ctr">
              <a:buFontTx/>
              <a:buChar char="-"/>
            </a:pPr>
            <a:r>
              <a:rPr lang="en-AU" b="1" dirty="0">
                <a:ln>
                  <a:solidFill>
                    <a:schemeClr val="accent1"/>
                  </a:solidFill>
                </a:ln>
              </a:rPr>
              <a:t>   +</a:t>
            </a:r>
          </a:p>
          <a:p>
            <a:pPr algn="ctr"/>
            <a:r>
              <a:rPr lang="en-AU" b="1" dirty="0">
                <a:ln>
                  <a:solidFill>
                    <a:schemeClr val="accent1"/>
                  </a:solidFill>
                </a:ln>
              </a:rPr>
              <a:t>x      ÷</a:t>
            </a:r>
          </a:p>
          <a:p>
            <a:pPr algn="ctr"/>
            <a:r>
              <a:rPr lang="en-AU" b="1" dirty="0">
                <a:ln>
                  <a:solidFill>
                    <a:schemeClr val="accent1"/>
                  </a:solidFill>
                </a:ln>
              </a:rPr>
              <a:t>÷      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94570" y="6040652"/>
            <a:ext cx="69224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If you do something on one side of the equals sign, do it on the other!</a:t>
            </a:r>
            <a:endParaRPr lang="en-AU" b="1" dirty="0"/>
          </a:p>
        </p:txBody>
      </p:sp>
      <p:sp>
        <p:nvSpPr>
          <p:cNvPr id="21" name="TextBox 20"/>
          <p:cNvSpPr txBox="1"/>
          <p:nvPr/>
        </p:nvSpPr>
        <p:spPr>
          <a:xfrm>
            <a:off x="93471" y="1078503"/>
            <a:ext cx="106103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What </a:t>
            </a:r>
            <a:r>
              <a:rPr lang="en-AU" sz="2400" dirty="0" smtClean="0"/>
              <a:t>have we learned about data, equations and time?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495227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2821" y="123165"/>
            <a:ext cx="574548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Solving Multi-step Equations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1404" y="1513131"/>
            <a:ext cx="21019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US" sz="3200" b="1" dirty="0">
                <a:solidFill>
                  <a:srgbClr val="00B050"/>
                </a:solidFill>
                <a:latin typeface="Calibri" panose="020F0502020204030204"/>
              </a:rPr>
              <a:t>n + 4 = 9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=""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917051FD-1F73-4DD5-9721-8535DFED57EC}"/>
              </a:ext>
            </a:extLst>
          </p:cNvPr>
          <p:cNvSpPr txBox="1"/>
          <p:nvPr/>
        </p:nvSpPr>
        <p:spPr>
          <a:xfrm>
            <a:off x="7905550" y="1513131"/>
            <a:ext cx="21019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Calibri" panose="020F0502020204030204"/>
              </a:rPr>
              <a:t>5 + k = 14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A8F769B9-A3A3-41BB-BAA2-961E06011F73}"/>
              </a:ext>
            </a:extLst>
          </p:cNvPr>
          <p:cNvSpPr txBox="1"/>
          <p:nvPr/>
        </p:nvSpPr>
        <p:spPr>
          <a:xfrm>
            <a:off x="9182284" y="741871"/>
            <a:ext cx="28645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US" sz="2800" dirty="0">
                <a:latin typeface="Calibri" panose="020F0502020204030204"/>
              </a:rPr>
              <a:t>C type Questions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82" y="791805"/>
            <a:ext cx="106103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What </a:t>
            </a:r>
            <a:r>
              <a:rPr lang="en-AU" sz="2400" dirty="0" smtClean="0"/>
              <a:t>have we learned about data, equations and time?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20832370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12" grpId="0"/>
      <p:bldP spid="1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 flipV="1">
            <a:off x="0" y="980729"/>
            <a:ext cx="12192000" cy="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671506"/>
            <a:ext cx="12192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36541" y="123309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 flipH="1">
            <a:off x="1791222" y="1671506"/>
            <a:ext cx="37578" cy="518649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301686" y="288324"/>
            <a:ext cx="55758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Solving Two-Step Algebraic Equations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10237893" y="274328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471" y="2106317"/>
            <a:ext cx="169775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Solving Two-Step</a:t>
            </a:r>
          </a:p>
          <a:p>
            <a:r>
              <a:rPr lang="en-US" sz="2800" b="1" dirty="0" smtClean="0"/>
              <a:t>Equations</a:t>
            </a:r>
            <a:endParaRPr lang="en-US" sz="2800" b="1" dirty="0"/>
          </a:p>
        </p:txBody>
      </p:sp>
      <p:sp>
        <p:nvSpPr>
          <p:cNvPr id="16" name="Text Box 7"/>
          <p:cNvSpPr txBox="1">
            <a:spLocks noChangeArrowheads="1"/>
          </p:cNvSpPr>
          <p:nvPr/>
        </p:nvSpPr>
        <p:spPr bwMode="auto">
          <a:xfrm>
            <a:off x="3859022" y="1802845"/>
            <a:ext cx="5095522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en-US" altLang="x-none" sz="5400" smtClean="0">
                <a:latin typeface="Impact" charset="0"/>
              </a:rPr>
              <a:t>Solve: 3x </a:t>
            </a:r>
            <a:r>
              <a:rPr lang="en-US" altLang="x-none" sz="5400" b="1">
                <a:latin typeface="Impact" charset="0"/>
              </a:rPr>
              <a:t>+</a:t>
            </a:r>
            <a:r>
              <a:rPr lang="en-US" altLang="x-none" sz="5400">
                <a:latin typeface="Impact" charset="0"/>
              </a:rPr>
              <a:t> 4 </a:t>
            </a:r>
            <a:r>
              <a:rPr lang="en-US" altLang="x-none" sz="5400" b="1">
                <a:latin typeface="Impact" charset="0"/>
              </a:rPr>
              <a:t>=</a:t>
            </a:r>
            <a:r>
              <a:rPr lang="en-US" altLang="x-none" sz="5400">
                <a:latin typeface="Impact" charset="0"/>
              </a:rPr>
              <a:t> 16</a:t>
            </a:r>
          </a:p>
        </p:txBody>
      </p:sp>
      <p:sp>
        <p:nvSpPr>
          <p:cNvPr id="17" name="Text Box 5"/>
          <p:cNvSpPr txBox="1">
            <a:spLocks noChangeArrowheads="1"/>
          </p:cNvSpPr>
          <p:nvPr/>
        </p:nvSpPr>
        <p:spPr bwMode="auto">
          <a:xfrm>
            <a:off x="6435275" y="4070751"/>
            <a:ext cx="43640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en-US" altLang="x-none" sz="2400" dirty="0">
                <a:latin typeface="Times New Roman" charset="0"/>
              </a:rPr>
              <a:t> Undo </a:t>
            </a:r>
            <a:r>
              <a:rPr lang="en-US" altLang="x-none" sz="2400" dirty="0">
                <a:solidFill>
                  <a:srgbClr val="FF0000"/>
                </a:solidFill>
                <a:latin typeface="Impact" charset="0"/>
              </a:rPr>
              <a:t>Addition</a:t>
            </a:r>
            <a:r>
              <a:rPr lang="en-US" altLang="x-none" sz="2400" dirty="0">
                <a:latin typeface="Times New Roman" charset="0"/>
              </a:rPr>
              <a:t> or </a:t>
            </a:r>
            <a:r>
              <a:rPr lang="en-US" altLang="x-none" sz="2400" dirty="0">
                <a:solidFill>
                  <a:srgbClr val="FF0000"/>
                </a:solidFill>
                <a:latin typeface="Impact" charset="0"/>
              </a:rPr>
              <a:t>Subtraction</a:t>
            </a:r>
            <a:r>
              <a:rPr lang="en-US" altLang="x-none" sz="2400" dirty="0">
                <a:latin typeface="Times New Roman" charset="0"/>
              </a:rPr>
              <a:t> 1</a:t>
            </a:r>
            <a:r>
              <a:rPr lang="en-US" altLang="x-none" sz="2400" baseline="30000" dirty="0">
                <a:latin typeface="Times New Roman" charset="0"/>
              </a:rPr>
              <a:t>st</a:t>
            </a:r>
            <a:r>
              <a:rPr lang="en-US" altLang="x-none" sz="2400" dirty="0">
                <a:latin typeface="Times New Roman" charset="0"/>
              </a:rPr>
              <a:t> </a:t>
            </a:r>
          </a:p>
        </p:txBody>
      </p:sp>
      <p:sp>
        <p:nvSpPr>
          <p:cNvPr id="18" name="Text Box 52"/>
          <p:cNvSpPr txBox="1">
            <a:spLocks noChangeArrowheads="1"/>
          </p:cNvSpPr>
          <p:nvPr/>
        </p:nvSpPr>
        <p:spPr bwMode="auto">
          <a:xfrm>
            <a:off x="3236722" y="3643712"/>
            <a:ext cx="20701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en-US" altLang="x-none" sz="3200" dirty="0">
                <a:latin typeface="Times New Roman" charset="0"/>
              </a:rPr>
              <a:t>3x </a:t>
            </a:r>
            <a:r>
              <a:rPr lang="en-US" altLang="x-none" sz="3200" b="1" dirty="0">
                <a:latin typeface="Times New Roman" charset="0"/>
              </a:rPr>
              <a:t>+</a:t>
            </a:r>
            <a:r>
              <a:rPr lang="en-US" altLang="x-none" sz="3200" dirty="0">
                <a:latin typeface="Times New Roman" charset="0"/>
              </a:rPr>
              <a:t> 4 </a:t>
            </a:r>
            <a:r>
              <a:rPr lang="en-US" altLang="x-none" sz="3200" b="1" dirty="0">
                <a:latin typeface="Times New Roman" charset="0"/>
              </a:rPr>
              <a:t>=</a:t>
            </a:r>
            <a:r>
              <a:rPr lang="en-US" altLang="x-none" sz="3200" dirty="0">
                <a:latin typeface="Times New Roman" charset="0"/>
              </a:rPr>
              <a:t> 16</a:t>
            </a:r>
          </a:p>
        </p:txBody>
      </p:sp>
      <p:sp>
        <p:nvSpPr>
          <p:cNvPr id="19" name="Text Box 53"/>
          <p:cNvSpPr txBox="1">
            <a:spLocks noChangeArrowheads="1"/>
          </p:cNvSpPr>
          <p:nvPr/>
        </p:nvSpPr>
        <p:spPr bwMode="auto">
          <a:xfrm>
            <a:off x="3951098" y="4070751"/>
            <a:ext cx="12668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x-none" sz="3200" dirty="0">
                <a:solidFill>
                  <a:schemeClr val="accent2"/>
                </a:solidFill>
                <a:latin typeface="Times New Roman" charset="0"/>
              </a:rPr>
              <a:t>-4    -4</a:t>
            </a:r>
          </a:p>
        </p:txBody>
      </p:sp>
      <p:sp>
        <p:nvSpPr>
          <p:cNvPr id="20" name="Line 54"/>
          <p:cNvSpPr>
            <a:spLocks noChangeShapeType="1"/>
          </p:cNvSpPr>
          <p:nvPr/>
        </p:nvSpPr>
        <p:spPr bwMode="auto">
          <a:xfrm>
            <a:off x="3325622" y="4591450"/>
            <a:ext cx="19812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" name="Text Box 55"/>
          <p:cNvSpPr txBox="1">
            <a:spLocks noChangeArrowheads="1"/>
          </p:cNvSpPr>
          <p:nvPr/>
        </p:nvSpPr>
        <p:spPr bwMode="auto">
          <a:xfrm>
            <a:off x="3859022" y="4634312"/>
            <a:ext cx="14605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en-US" altLang="x-none" sz="3200">
                <a:latin typeface="Times New Roman" charset="0"/>
              </a:rPr>
              <a:t>3x </a:t>
            </a:r>
            <a:r>
              <a:rPr lang="en-US" altLang="x-none" sz="3200" b="1">
                <a:latin typeface="Times New Roman" charset="0"/>
              </a:rPr>
              <a:t>=</a:t>
            </a:r>
            <a:r>
              <a:rPr lang="en-US" altLang="x-none" sz="3200">
                <a:latin typeface="Times New Roman" charset="0"/>
              </a:rPr>
              <a:t> 12</a:t>
            </a:r>
          </a:p>
        </p:txBody>
      </p:sp>
      <p:sp>
        <p:nvSpPr>
          <p:cNvPr id="22" name="Line 56"/>
          <p:cNvSpPr>
            <a:spLocks noChangeShapeType="1"/>
          </p:cNvSpPr>
          <p:nvPr/>
        </p:nvSpPr>
        <p:spPr bwMode="auto">
          <a:xfrm>
            <a:off x="3859022" y="5137550"/>
            <a:ext cx="5334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" name="Line 57"/>
          <p:cNvSpPr>
            <a:spLocks noChangeShapeType="1"/>
          </p:cNvSpPr>
          <p:nvPr/>
        </p:nvSpPr>
        <p:spPr bwMode="auto">
          <a:xfrm>
            <a:off x="4760722" y="5137550"/>
            <a:ext cx="4572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" name="Text Box 58"/>
          <p:cNvSpPr txBox="1">
            <a:spLocks noChangeArrowheads="1"/>
          </p:cNvSpPr>
          <p:nvPr/>
        </p:nvSpPr>
        <p:spPr bwMode="auto">
          <a:xfrm>
            <a:off x="3935222" y="5080401"/>
            <a:ext cx="3873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x-none" sz="3200">
                <a:solidFill>
                  <a:schemeClr val="accent2"/>
                </a:solidFill>
                <a:latin typeface="Times New Roman" charset="0"/>
              </a:rPr>
              <a:t>3</a:t>
            </a:r>
          </a:p>
        </p:txBody>
      </p:sp>
      <p:sp>
        <p:nvSpPr>
          <p:cNvPr id="25" name="Text Box 59"/>
          <p:cNvSpPr txBox="1">
            <a:spLocks noChangeArrowheads="1"/>
          </p:cNvSpPr>
          <p:nvPr/>
        </p:nvSpPr>
        <p:spPr bwMode="auto">
          <a:xfrm>
            <a:off x="4786122" y="5086751"/>
            <a:ext cx="3873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x-none" sz="3200">
                <a:solidFill>
                  <a:schemeClr val="accent2"/>
                </a:solidFill>
                <a:latin typeface="Times New Roman" charset="0"/>
              </a:rPr>
              <a:t>3</a:t>
            </a:r>
          </a:p>
        </p:txBody>
      </p:sp>
      <p:sp>
        <p:nvSpPr>
          <p:cNvPr id="26" name="Text Box 60"/>
          <p:cNvSpPr txBox="1">
            <a:spLocks noChangeArrowheads="1"/>
          </p:cNvSpPr>
          <p:nvPr/>
        </p:nvSpPr>
        <p:spPr bwMode="auto">
          <a:xfrm>
            <a:off x="4074922" y="5701112"/>
            <a:ext cx="14605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en-US" altLang="x-none" sz="3200">
                <a:latin typeface="Times New Roman" charset="0"/>
              </a:rPr>
              <a:t>x </a:t>
            </a:r>
            <a:r>
              <a:rPr lang="en-US" altLang="x-none" sz="3200" b="1">
                <a:latin typeface="Times New Roman" charset="0"/>
              </a:rPr>
              <a:t>=</a:t>
            </a:r>
            <a:r>
              <a:rPr lang="en-US" altLang="x-none" sz="3200">
                <a:latin typeface="Times New Roman" charset="0"/>
              </a:rPr>
              <a:t> 4</a:t>
            </a:r>
          </a:p>
        </p:txBody>
      </p:sp>
      <p:sp>
        <p:nvSpPr>
          <p:cNvPr id="27" name="Oval 61"/>
          <p:cNvSpPr>
            <a:spLocks noChangeArrowheads="1"/>
          </p:cNvSpPr>
          <p:nvPr/>
        </p:nvSpPr>
        <p:spPr bwMode="auto">
          <a:xfrm>
            <a:off x="3782822" y="5747150"/>
            <a:ext cx="1676400" cy="533400"/>
          </a:xfrm>
          <a:prstGeom prst="ellipse">
            <a:avLst/>
          </a:prstGeom>
          <a:noFill/>
          <a:ln w="38100" cap="rnd">
            <a:solidFill>
              <a:srgbClr val="006699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" name="Line 62"/>
          <p:cNvSpPr>
            <a:spLocks noChangeShapeType="1"/>
          </p:cNvSpPr>
          <p:nvPr/>
        </p:nvSpPr>
        <p:spPr bwMode="auto">
          <a:xfrm>
            <a:off x="4151122" y="3689750"/>
            <a:ext cx="228600" cy="914400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" name="Line 63"/>
          <p:cNvSpPr>
            <a:spLocks noChangeShapeType="1"/>
          </p:cNvSpPr>
          <p:nvPr/>
        </p:nvSpPr>
        <p:spPr bwMode="auto">
          <a:xfrm>
            <a:off x="3998722" y="4680350"/>
            <a:ext cx="152400" cy="914400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" name="Text Box 5"/>
          <p:cNvSpPr txBox="1">
            <a:spLocks noChangeArrowheads="1"/>
          </p:cNvSpPr>
          <p:nvPr/>
        </p:nvSpPr>
        <p:spPr bwMode="auto">
          <a:xfrm>
            <a:off x="6435275" y="5112105"/>
            <a:ext cx="490078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en-US" altLang="x-none" sz="2400" dirty="0">
                <a:latin typeface="Times New Roman" charset="0"/>
              </a:rPr>
              <a:t> Undo </a:t>
            </a:r>
            <a:r>
              <a:rPr lang="en-US" altLang="x-none" sz="2400" dirty="0" smtClean="0">
                <a:solidFill>
                  <a:srgbClr val="FF0000"/>
                </a:solidFill>
                <a:latin typeface="Impact" charset="0"/>
              </a:rPr>
              <a:t>Multiplication</a:t>
            </a:r>
            <a:r>
              <a:rPr lang="en-US" altLang="x-none" sz="2400" dirty="0" smtClean="0">
                <a:latin typeface="Times New Roman" charset="0"/>
              </a:rPr>
              <a:t> </a:t>
            </a:r>
            <a:r>
              <a:rPr lang="en-US" altLang="x-none" sz="2400" dirty="0">
                <a:latin typeface="Times New Roman" charset="0"/>
              </a:rPr>
              <a:t>or </a:t>
            </a:r>
            <a:r>
              <a:rPr lang="en-US" altLang="x-none" sz="2400" dirty="0" smtClean="0">
                <a:solidFill>
                  <a:srgbClr val="FF0000"/>
                </a:solidFill>
                <a:latin typeface="Impact" charset="0"/>
              </a:rPr>
              <a:t>Division </a:t>
            </a:r>
            <a:r>
              <a:rPr lang="en-US" altLang="x-none" sz="2400" dirty="0" smtClean="0">
                <a:latin typeface="Times New Roman" charset="0"/>
              </a:rPr>
              <a:t>2</a:t>
            </a:r>
            <a:r>
              <a:rPr lang="en-US" altLang="x-none" sz="2400" baseline="30000" dirty="0" smtClean="0">
                <a:latin typeface="Times New Roman" charset="0"/>
              </a:rPr>
              <a:t>nd</a:t>
            </a:r>
            <a:r>
              <a:rPr lang="en-US" altLang="x-none" sz="2400" dirty="0" smtClean="0">
                <a:latin typeface="Times New Roman" charset="0"/>
              </a:rPr>
              <a:t> </a:t>
            </a:r>
            <a:endParaRPr lang="en-US" altLang="x-none" sz="2400" dirty="0">
              <a:latin typeface="Times New Roman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93471" y="1078503"/>
            <a:ext cx="106103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What </a:t>
            </a:r>
            <a:r>
              <a:rPr lang="en-AU" sz="2400" dirty="0" smtClean="0"/>
              <a:t>have we learned about data, equations and time?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1814692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9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9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9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9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1000"/>
                            </p:stCondLst>
                            <p:childTnLst>
                              <p:par>
                                <p:cTn id="8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/>
      <p:bldP spid="19" grpId="0" autoUpdateAnimBg="0"/>
      <p:bldP spid="20" grpId="0" animBg="1"/>
      <p:bldP spid="21" grpId="0" autoUpdateAnimBg="0"/>
      <p:bldP spid="22" grpId="0" animBg="1"/>
      <p:bldP spid="23" grpId="0" animBg="1"/>
      <p:bldP spid="24" grpId="0" autoUpdateAnimBg="0"/>
      <p:bldP spid="25" grpId="0" autoUpdateAnimBg="0"/>
      <p:bldP spid="26" grpId="0" autoUpdateAnimBg="0"/>
      <p:bldP spid="27" grpId="0" animBg="1"/>
      <p:bldP spid="28" grpId="0" animBg="1"/>
      <p:bldP spid="29" grpId="0" animBg="1"/>
      <p:bldP spid="3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2821" y="123165"/>
            <a:ext cx="574548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Solving Multi-step Equations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1404" y="1513131"/>
            <a:ext cx="21019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US" sz="3200" b="1" dirty="0">
                <a:solidFill>
                  <a:schemeClr val="accent1">
                    <a:lumMod val="50000"/>
                  </a:schemeClr>
                </a:solidFill>
                <a:latin typeface="Calibri" panose="020F0502020204030204"/>
              </a:rPr>
              <a:t>3n + 1 = 13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=""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917051FD-1F73-4DD5-9721-8535DFED57EC}"/>
              </a:ext>
            </a:extLst>
          </p:cNvPr>
          <p:cNvSpPr txBox="1"/>
          <p:nvPr/>
        </p:nvSpPr>
        <p:spPr>
          <a:xfrm>
            <a:off x="5045019" y="1513130"/>
            <a:ext cx="21019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US" sz="3200" b="1" dirty="0">
                <a:solidFill>
                  <a:srgbClr val="00B050"/>
                </a:solidFill>
                <a:latin typeface="Calibri" panose="020F0502020204030204"/>
              </a:rPr>
              <a:t>5k - 3 = 27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720DC260-D3E7-4241-9DDE-9A8CE0015BEE}"/>
              </a:ext>
            </a:extLst>
          </p:cNvPr>
          <p:cNvSpPr txBox="1"/>
          <p:nvPr/>
        </p:nvSpPr>
        <p:spPr>
          <a:xfrm>
            <a:off x="8998634" y="1513130"/>
            <a:ext cx="21019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US" sz="3200" b="1" dirty="0">
                <a:solidFill>
                  <a:srgbClr val="0070C0"/>
                </a:solidFill>
                <a:latin typeface="Calibri" panose="020F0502020204030204"/>
              </a:rPr>
              <a:t>6a + 3 = 21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6D1CE9B0-72A7-45F2-8847-A652CE35492F}"/>
              </a:ext>
            </a:extLst>
          </p:cNvPr>
          <p:cNvSpPr txBox="1"/>
          <p:nvPr/>
        </p:nvSpPr>
        <p:spPr>
          <a:xfrm>
            <a:off x="9182284" y="741871"/>
            <a:ext cx="28645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US" sz="2800" dirty="0">
                <a:latin typeface="Calibri" panose="020F0502020204030204"/>
              </a:rPr>
              <a:t>C type Questions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997" y="826021"/>
            <a:ext cx="106103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What </a:t>
            </a:r>
            <a:r>
              <a:rPr lang="en-AU" sz="2400" dirty="0" smtClean="0"/>
              <a:t>have we learned about data, equations and time?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734107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12" grpId="0"/>
      <p:bldP spid="13" grpId="0"/>
      <p:bldP spid="1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 flipV="1">
            <a:off x="0" y="980729"/>
            <a:ext cx="12192000" cy="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510222"/>
            <a:ext cx="12192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36541" y="123309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827127" y="1510222"/>
            <a:ext cx="0" cy="534777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301686" y="288324"/>
            <a:ext cx="57909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Solving Multi-Step Algebraic Equations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10237893" y="274328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4" name="Text Box 4"/>
          <p:cNvSpPr txBox="1">
            <a:spLocks noChangeArrowheads="1"/>
          </p:cNvSpPr>
          <p:nvPr/>
        </p:nvSpPr>
        <p:spPr bwMode="auto">
          <a:xfrm>
            <a:off x="1071538" y="1916632"/>
            <a:ext cx="646112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sz="2800" b="1" u="sng" dirty="0"/>
              <a:t>Example:</a:t>
            </a:r>
            <a:r>
              <a:rPr lang="en-US" altLang="x-none" sz="2800" dirty="0"/>
              <a:t>  3 </a:t>
            </a:r>
            <a:r>
              <a:rPr lang="en-US" altLang="x-none" sz="2800" dirty="0" smtClean="0"/>
              <a:t>( x </a:t>
            </a:r>
            <a:r>
              <a:rPr lang="en-US" altLang="x-none" sz="2800" dirty="0"/>
              <a:t>– 2 ) + 4x = 8</a:t>
            </a:r>
          </a:p>
        </p:txBody>
      </p:sp>
      <p:sp>
        <p:nvSpPr>
          <p:cNvPr id="15" name="Text Box 5"/>
          <p:cNvSpPr txBox="1">
            <a:spLocks noChangeArrowheads="1"/>
          </p:cNvSpPr>
          <p:nvPr/>
        </p:nvSpPr>
        <p:spPr bwMode="auto">
          <a:xfrm>
            <a:off x="7510139" y="1627982"/>
            <a:ext cx="4373251" cy="1200329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x-none" sz="2400" dirty="0">
                <a:solidFill>
                  <a:srgbClr val="0066FF"/>
                </a:solidFill>
              </a:rPr>
              <a:t>FIRST - Use the Distributive Property to get rid of the parentheses.</a:t>
            </a:r>
          </a:p>
        </p:txBody>
      </p:sp>
      <p:sp>
        <p:nvSpPr>
          <p:cNvPr id="16" name="Freeform 6"/>
          <p:cNvSpPr>
            <a:spLocks/>
          </p:cNvSpPr>
          <p:nvPr/>
        </p:nvSpPr>
        <p:spPr bwMode="auto">
          <a:xfrm>
            <a:off x="3095805" y="1910868"/>
            <a:ext cx="481012" cy="203200"/>
          </a:xfrm>
          <a:custGeom>
            <a:avLst/>
            <a:gdLst>
              <a:gd name="T0" fmla="*/ 0 w 303"/>
              <a:gd name="T1" fmla="*/ 119 h 155"/>
              <a:gd name="T2" fmla="*/ 128 w 303"/>
              <a:gd name="T3" fmla="*/ 9 h 155"/>
              <a:gd name="T4" fmla="*/ 274 w 303"/>
              <a:gd name="T5" fmla="*/ 64 h 155"/>
              <a:gd name="T6" fmla="*/ 302 w 303"/>
              <a:gd name="T7" fmla="*/ 155 h 1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03" h="155">
                <a:moveTo>
                  <a:pt x="0" y="119"/>
                </a:moveTo>
                <a:cubicBezTo>
                  <a:pt x="41" y="68"/>
                  <a:pt x="82" y="18"/>
                  <a:pt x="128" y="9"/>
                </a:cubicBezTo>
                <a:cubicBezTo>
                  <a:pt x="174" y="0"/>
                  <a:pt x="245" y="40"/>
                  <a:pt x="274" y="64"/>
                </a:cubicBezTo>
                <a:cubicBezTo>
                  <a:pt x="303" y="88"/>
                  <a:pt x="302" y="121"/>
                  <a:pt x="302" y="155"/>
                </a:cubicBezTo>
              </a:path>
            </a:pathLst>
          </a:custGeom>
          <a:noFill/>
          <a:ln w="38100" cmpd="sng">
            <a:solidFill>
              <a:srgbClr val="FF0000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800"/>
          </a:p>
        </p:txBody>
      </p:sp>
      <p:sp>
        <p:nvSpPr>
          <p:cNvPr id="17" name="Freeform 7"/>
          <p:cNvSpPr>
            <a:spLocks/>
          </p:cNvSpPr>
          <p:nvPr/>
        </p:nvSpPr>
        <p:spPr bwMode="auto">
          <a:xfrm>
            <a:off x="3057064" y="1792360"/>
            <a:ext cx="1082675" cy="288925"/>
          </a:xfrm>
          <a:custGeom>
            <a:avLst/>
            <a:gdLst>
              <a:gd name="T0" fmla="*/ 0 w 682"/>
              <a:gd name="T1" fmla="*/ 148 h 182"/>
              <a:gd name="T2" fmla="*/ 165 w 682"/>
              <a:gd name="T3" fmla="*/ 20 h 182"/>
              <a:gd name="T4" fmla="*/ 512 w 682"/>
              <a:gd name="T5" fmla="*/ 29 h 182"/>
              <a:gd name="T6" fmla="*/ 682 w 682"/>
              <a:gd name="T7" fmla="*/ 182 h 1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682" h="182">
                <a:moveTo>
                  <a:pt x="0" y="148"/>
                </a:moveTo>
                <a:cubicBezTo>
                  <a:pt x="30" y="127"/>
                  <a:pt x="80" y="40"/>
                  <a:pt x="165" y="20"/>
                </a:cubicBezTo>
                <a:cubicBezTo>
                  <a:pt x="250" y="0"/>
                  <a:pt x="426" y="2"/>
                  <a:pt x="512" y="29"/>
                </a:cubicBezTo>
                <a:cubicBezTo>
                  <a:pt x="598" y="56"/>
                  <a:pt x="647" y="150"/>
                  <a:pt x="682" y="182"/>
                </a:cubicBezTo>
              </a:path>
            </a:pathLst>
          </a:custGeom>
          <a:noFill/>
          <a:ln w="38100" cmpd="sng">
            <a:solidFill>
              <a:srgbClr val="FF0000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800"/>
          </a:p>
        </p:txBody>
      </p:sp>
      <p:sp>
        <p:nvSpPr>
          <p:cNvPr id="18" name="Text Box 8"/>
          <p:cNvSpPr txBox="1">
            <a:spLocks noChangeArrowheads="1"/>
          </p:cNvSpPr>
          <p:nvPr/>
        </p:nvSpPr>
        <p:spPr bwMode="auto">
          <a:xfrm>
            <a:off x="3451144" y="2606339"/>
            <a:ext cx="94297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sz="2800" dirty="0"/>
              <a:t>3x </a:t>
            </a:r>
          </a:p>
        </p:txBody>
      </p:sp>
      <p:sp>
        <p:nvSpPr>
          <p:cNvPr id="19" name="Text Box 9"/>
          <p:cNvSpPr txBox="1">
            <a:spLocks noChangeArrowheads="1"/>
          </p:cNvSpPr>
          <p:nvPr/>
        </p:nvSpPr>
        <p:spPr bwMode="auto">
          <a:xfrm>
            <a:off x="3953785" y="2605555"/>
            <a:ext cx="92868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sz="2800" dirty="0"/>
              <a:t>– 6 </a:t>
            </a:r>
          </a:p>
        </p:txBody>
      </p:sp>
      <p:sp>
        <p:nvSpPr>
          <p:cNvPr id="20" name="Text Box 10"/>
          <p:cNvSpPr txBox="1">
            <a:spLocks noChangeArrowheads="1"/>
          </p:cNvSpPr>
          <p:nvPr/>
        </p:nvSpPr>
        <p:spPr bwMode="auto">
          <a:xfrm>
            <a:off x="4557631" y="2606951"/>
            <a:ext cx="198755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sz="2800" dirty="0"/>
              <a:t>+ 4x = 8</a:t>
            </a:r>
          </a:p>
        </p:txBody>
      </p:sp>
      <p:sp>
        <p:nvSpPr>
          <p:cNvPr id="21" name="Text Box 11"/>
          <p:cNvSpPr txBox="1">
            <a:spLocks noChangeArrowheads="1"/>
          </p:cNvSpPr>
          <p:nvPr/>
        </p:nvSpPr>
        <p:spPr bwMode="auto">
          <a:xfrm>
            <a:off x="7832189" y="2954874"/>
            <a:ext cx="3806566" cy="954107"/>
          </a:xfrm>
          <a:prstGeom prst="rect">
            <a:avLst/>
          </a:prstGeom>
          <a:noFill/>
          <a:ln w="38100">
            <a:solidFill>
              <a:srgbClr val="0066FF"/>
            </a:solidFill>
            <a:prstDash val="sysDot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x-none" sz="2800">
                <a:solidFill>
                  <a:srgbClr val="0066FF"/>
                </a:solidFill>
              </a:rPr>
              <a:t>Copy the rest of the problem.</a:t>
            </a:r>
            <a:r>
              <a:rPr lang="en-US" altLang="x-none" sz="2800"/>
              <a:t> </a:t>
            </a:r>
          </a:p>
        </p:txBody>
      </p:sp>
      <p:sp>
        <p:nvSpPr>
          <p:cNvPr id="22" name="Text Box 12"/>
          <p:cNvSpPr txBox="1">
            <a:spLocks noChangeArrowheads="1"/>
          </p:cNvSpPr>
          <p:nvPr/>
        </p:nvSpPr>
        <p:spPr bwMode="auto">
          <a:xfrm>
            <a:off x="1212167" y="2739429"/>
            <a:ext cx="2105025" cy="1384995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x-none" sz="2800"/>
              <a:t>SECOND: Combine like terms.</a:t>
            </a:r>
          </a:p>
        </p:txBody>
      </p:sp>
      <p:sp>
        <p:nvSpPr>
          <p:cNvPr id="23" name="Line 13"/>
          <p:cNvSpPr>
            <a:spLocks noChangeShapeType="1"/>
          </p:cNvSpPr>
          <p:nvPr/>
        </p:nvSpPr>
        <p:spPr bwMode="auto">
          <a:xfrm>
            <a:off x="3786240" y="3040308"/>
            <a:ext cx="115888" cy="363538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800"/>
          </a:p>
        </p:txBody>
      </p:sp>
      <p:sp>
        <p:nvSpPr>
          <p:cNvPr id="24" name="Line 14"/>
          <p:cNvSpPr>
            <a:spLocks noChangeShapeType="1"/>
          </p:cNvSpPr>
          <p:nvPr/>
        </p:nvSpPr>
        <p:spPr bwMode="auto">
          <a:xfrm flipH="1">
            <a:off x="3971791" y="2971558"/>
            <a:ext cx="1103313" cy="45085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800"/>
          </a:p>
        </p:txBody>
      </p:sp>
      <p:sp>
        <p:nvSpPr>
          <p:cNvPr id="25" name="Text Box 15"/>
          <p:cNvSpPr txBox="1">
            <a:spLocks noChangeArrowheads="1"/>
          </p:cNvSpPr>
          <p:nvPr/>
        </p:nvSpPr>
        <p:spPr bwMode="auto">
          <a:xfrm>
            <a:off x="3717321" y="3330902"/>
            <a:ext cx="90011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sz="2800" dirty="0"/>
              <a:t>7x</a:t>
            </a:r>
          </a:p>
        </p:txBody>
      </p:sp>
      <p:sp>
        <p:nvSpPr>
          <p:cNvPr id="26" name="Text Box 16"/>
          <p:cNvSpPr txBox="1">
            <a:spLocks noChangeArrowheads="1"/>
          </p:cNvSpPr>
          <p:nvPr/>
        </p:nvSpPr>
        <p:spPr bwMode="auto">
          <a:xfrm>
            <a:off x="4260665" y="3316259"/>
            <a:ext cx="238125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sz="2800" dirty="0"/>
              <a:t>– 6 = 8</a:t>
            </a:r>
          </a:p>
        </p:txBody>
      </p:sp>
      <p:sp>
        <p:nvSpPr>
          <p:cNvPr id="27" name="Line 17"/>
          <p:cNvSpPr>
            <a:spLocks noChangeShapeType="1"/>
          </p:cNvSpPr>
          <p:nvPr/>
        </p:nvSpPr>
        <p:spPr bwMode="auto">
          <a:xfrm>
            <a:off x="4485671" y="3013552"/>
            <a:ext cx="183419" cy="465187"/>
          </a:xfrm>
          <a:prstGeom prst="line">
            <a:avLst/>
          </a:prstGeom>
          <a:noFill/>
          <a:ln w="38100">
            <a:solidFill>
              <a:srgbClr val="0066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800"/>
          </a:p>
        </p:txBody>
      </p:sp>
      <p:sp>
        <p:nvSpPr>
          <p:cNvPr id="28" name="Line 18"/>
          <p:cNvSpPr>
            <a:spLocks noChangeShapeType="1"/>
          </p:cNvSpPr>
          <p:nvPr/>
        </p:nvSpPr>
        <p:spPr bwMode="auto">
          <a:xfrm flipH="1">
            <a:off x="5398665" y="2991463"/>
            <a:ext cx="401441" cy="508385"/>
          </a:xfrm>
          <a:prstGeom prst="line">
            <a:avLst/>
          </a:prstGeom>
          <a:noFill/>
          <a:ln w="38100">
            <a:solidFill>
              <a:srgbClr val="0066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800"/>
          </a:p>
        </p:txBody>
      </p:sp>
      <p:sp>
        <p:nvSpPr>
          <p:cNvPr id="29" name="Text Box 19"/>
          <p:cNvSpPr txBox="1">
            <a:spLocks noChangeArrowheads="1"/>
          </p:cNvSpPr>
          <p:nvPr/>
        </p:nvSpPr>
        <p:spPr bwMode="auto">
          <a:xfrm>
            <a:off x="4199449" y="3926535"/>
            <a:ext cx="188595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sz="2800" dirty="0"/>
              <a:t>+ 6 </a:t>
            </a:r>
            <a:r>
              <a:rPr lang="en-US" altLang="x-none" sz="2800" dirty="0" smtClean="0"/>
              <a:t>+ </a:t>
            </a:r>
            <a:r>
              <a:rPr lang="en-US" altLang="x-none" sz="2800" dirty="0"/>
              <a:t>6</a:t>
            </a:r>
            <a:endParaRPr lang="en-US" altLang="x-none" sz="2800" b="1" i="1" dirty="0">
              <a:solidFill>
                <a:srgbClr val="0066FF"/>
              </a:solidFill>
            </a:endParaRPr>
          </a:p>
        </p:txBody>
      </p:sp>
      <p:sp>
        <p:nvSpPr>
          <p:cNvPr id="30" name="Line 20"/>
          <p:cNvSpPr>
            <a:spLocks noChangeShapeType="1"/>
          </p:cNvSpPr>
          <p:nvPr/>
        </p:nvSpPr>
        <p:spPr bwMode="auto">
          <a:xfrm>
            <a:off x="4052440" y="4389581"/>
            <a:ext cx="7556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800"/>
          </a:p>
        </p:txBody>
      </p:sp>
      <p:sp>
        <p:nvSpPr>
          <p:cNvPr id="31" name="Line 21"/>
          <p:cNvSpPr>
            <a:spLocks noChangeShapeType="1"/>
          </p:cNvSpPr>
          <p:nvPr/>
        </p:nvSpPr>
        <p:spPr bwMode="auto">
          <a:xfrm>
            <a:off x="5018452" y="4389581"/>
            <a:ext cx="7556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800"/>
          </a:p>
        </p:txBody>
      </p:sp>
      <p:sp>
        <p:nvSpPr>
          <p:cNvPr id="32" name="Text Box 22"/>
          <p:cNvSpPr txBox="1">
            <a:spLocks noChangeArrowheads="1"/>
          </p:cNvSpPr>
          <p:nvPr/>
        </p:nvSpPr>
        <p:spPr bwMode="auto">
          <a:xfrm>
            <a:off x="4250102" y="4553924"/>
            <a:ext cx="159543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sz="2800"/>
              <a:t>7x = 14</a:t>
            </a:r>
          </a:p>
        </p:txBody>
      </p:sp>
      <p:sp>
        <p:nvSpPr>
          <p:cNvPr id="34" name="Text Box 23"/>
          <p:cNvSpPr txBox="1">
            <a:spLocks noChangeArrowheads="1"/>
          </p:cNvSpPr>
          <p:nvPr/>
        </p:nvSpPr>
        <p:spPr bwMode="auto">
          <a:xfrm>
            <a:off x="7715977" y="4730040"/>
            <a:ext cx="410609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sz="2800" b="1" i="1" dirty="0">
                <a:solidFill>
                  <a:srgbClr val="0066FF"/>
                </a:solidFill>
              </a:rPr>
              <a:t>Divide both sides by 7.</a:t>
            </a:r>
          </a:p>
        </p:txBody>
      </p:sp>
      <p:sp>
        <p:nvSpPr>
          <p:cNvPr id="35" name="Line 24"/>
          <p:cNvSpPr>
            <a:spLocks noChangeShapeType="1"/>
          </p:cNvSpPr>
          <p:nvPr/>
        </p:nvSpPr>
        <p:spPr bwMode="auto">
          <a:xfrm>
            <a:off x="5098113" y="4991650"/>
            <a:ext cx="4778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800"/>
          </a:p>
        </p:txBody>
      </p:sp>
      <p:sp>
        <p:nvSpPr>
          <p:cNvPr id="36" name="Line 25"/>
          <p:cNvSpPr>
            <a:spLocks noChangeShapeType="1"/>
          </p:cNvSpPr>
          <p:nvPr/>
        </p:nvSpPr>
        <p:spPr bwMode="auto">
          <a:xfrm>
            <a:off x="4302100" y="5007278"/>
            <a:ext cx="47783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800"/>
          </a:p>
        </p:txBody>
      </p:sp>
      <p:sp>
        <p:nvSpPr>
          <p:cNvPr id="37" name="Text Box 26"/>
          <p:cNvSpPr txBox="1">
            <a:spLocks noChangeArrowheads="1"/>
          </p:cNvSpPr>
          <p:nvPr/>
        </p:nvSpPr>
        <p:spPr bwMode="auto">
          <a:xfrm>
            <a:off x="4330761" y="4971965"/>
            <a:ext cx="183038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sz="2800"/>
              <a:t>7      7</a:t>
            </a:r>
          </a:p>
        </p:txBody>
      </p:sp>
      <p:sp>
        <p:nvSpPr>
          <p:cNvPr id="38" name="Text Box 27"/>
          <p:cNvSpPr txBox="1">
            <a:spLocks noChangeArrowheads="1"/>
          </p:cNvSpPr>
          <p:nvPr/>
        </p:nvSpPr>
        <p:spPr bwMode="auto">
          <a:xfrm>
            <a:off x="4250102" y="5670500"/>
            <a:ext cx="1524000" cy="523220"/>
          </a:xfrm>
          <a:prstGeom prst="rect">
            <a:avLst/>
          </a:prstGeom>
          <a:solidFill>
            <a:srgbClr val="FFFF00"/>
          </a:solidFill>
          <a:ln w="76200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x-none" sz="2800"/>
              <a:t>x = 2</a:t>
            </a:r>
          </a:p>
        </p:txBody>
      </p:sp>
      <p:sp>
        <p:nvSpPr>
          <p:cNvPr id="39" name="Text Box 28"/>
          <p:cNvSpPr txBox="1">
            <a:spLocks noChangeArrowheads="1"/>
          </p:cNvSpPr>
          <p:nvPr/>
        </p:nvSpPr>
        <p:spPr bwMode="auto">
          <a:xfrm>
            <a:off x="7755149" y="4053393"/>
            <a:ext cx="386787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sz="2800" b="1" i="1" dirty="0">
                <a:solidFill>
                  <a:srgbClr val="0066FF"/>
                </a:solidFill>
              </a:rPr>
              <a:t>Add 6 to both sides.</a:t>
            </a:r>
          </a:p>
        </p:txBody>
      </p:sp>
      <p:grpSp>
        <p:nvGrpSpPr>
          <p:cNvPr id="40" name="Group 31"/>
          <p:cNvGrpSpPr>
            <a:grpSpLocks/>
          </p:cNvGrpSpPr>
          <p:nvPr/>
        </p:nvGrpSpPr>
        <p:grpSpPr bwMode="auto">
          <a:xfrm>
            <a:off x="1216998" y="4352037"/>
            <a:ext cx="2816225" cy="1931988"/>
            <a:chOff x="137" y="2542"/>
            <a:chExt cx="1774" cy="1217"/>
          </a:xfrm>
        </p:grpSpPr>
        <p:sp>
          <p:nvSpPr>
            <p:cNvPr id="41" name="Text Box 29"/>
            <p:cNvSpPr txBox="1">
              <a:spLocks noChangeArrowheads="1"/>
            </p:cNvSpPr>
            <p:nvPr/>
          </p:nvSpPr>
          <p:spPr bwMode="auto">
            <a:xfrm>
              <a:off x="137" y="2615"/>
              <a:ext cx="1325" cy="1144"/>
            </a:xfrm>
            <a:prstGeom prst="rect">
              <a:avLst/>
            </a:prstGeom>
            <a:noFill/>
            <a:ln w="38100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x-none" sz="2800"/>
                <a:t>Now it’s a regular 2-step equation.</a:t>
              </a:r>
            </a:p>
          </p:txBody>
        </p:sp>
        <p:sp>
          <p:nvSpPr>
            <p:cNvPr id="42" name="Line 30"/>
            <p:cNvSpPr>
              <a:spLocks noChangeShapeType="1"/>
            </p:cNvSpPr>
            <p:nvPr/>
          </p:nvSpPr>
          <p:spPr bwMode="auto">
            <a:xfrm flipV="1">
              <a:off x="1472" y="2542"/>
              <a:ext cx="439" cy="19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800"/>
            </a:p>
          </p:txBody>
        </p:sp>
      </p:grpSp>
      <p:sp>
        <p:nvSpPr>
          <p:cNvPr id="43" name="Line 32"/>
          <p:cNvSpPr>
            <a:spLocks noChangeShapeType="1"/>
          </p:cNvSpPr>
          <p:nvPr/>
        </p:nvSpPr>
        <p:spPr bwMode="auto">
          <a:xfrm>
            <a:off x="4653590" y="3493382"/>
            <a:ext cx="126348" cy="809143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800"/>
          </a:p>
        </p:txBody>
      </p:sp>
      <p:sp>
        <p:nvSpPr>
          <p:cNvPr id="44" name="Line 33"/>
          <p:cNvSpPr>
            <a:spLocks noChangeShapeType="1"/>
          </p:cNvSpPr>
          <p:nvPr/>
        </p:nvSpPr>
        <p:spPr bwMode="auto">
          <a:xfrm>
            <a:off x="4340456" y="4577462"/>
            <a:ext cx="246063" cy="798513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800"/>
          </a:p>
        </p:txBody>
      </p:sp>
      <p:sp>
        <p:nvSpPr>
          <p:cNvPr id="45" name="TextBox 44"/>
          <p:cNvSpPr txBox="1"/>
          <p:nvPr/>
        </p:nvSpPr>
        <p:spPr>
          <a:xfrm>
            <a:off x="91083" y="1041362"/>
            <a:ext cx="106103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What </a:t>
            </a:r>
            <a:r>
              <a:rPr lang="en-AU" sz="2400" dirty="0" smtClean="0"/>
              <a:t>have we learned about data, equations and time?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526099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8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58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2000"/>
                            </p:stCondLst>
                            <p:childTnLst>
                              <p:par>
                                <p:cTn id="6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3000"/>
                            </p:stCondLst>
                            <p:childTnLst>
                              <p:par>
                                <p:cTn id="6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1000"/>
                            </p:stCondLst>
                            <p:childTnLst>
                              <p:par>
                                <p:cTn id="8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1500"/>
                            </p:stCondLst>
                            <p:childTnLst>
                              <p:par>
                                <p:cTn id="9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500"/>
                            </p:stCondLst>
                            <p:childTnLst>
                              <p:par>
                                <p:cTn id="1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0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/>
      <p:bldP spid="19" grpId="0"/>
      <p:bldP spid="20" grpId="0"/>
      <p:bldP spid="21" grpId="0" animBg="1"/>
      <p:bldP spid="21" grpId="1" animBg="1"/>
      <p:bldP spid="22" grpId="0" animBg="1"/>
      <p:bldP spid="23" grpId="0" animBg="1"/>
      <p:bldP spid="24" grpId="0" animBg="1"/>
      <p:bldP spid="25" grpId="0"/>
      <p:bldP spid="26" grpId="0"/>
      <p:bldP spid="27" grpId="0" animBg="1"/>
      <p:bldP spid="28" grpId="0" animBg="1"/>
      <p:bldP spid="29" grpId="0"/>
      <p:bldP spid="30" grpId="0" animBg="1"/>
      <p:bldP spid="31" grpId="0" animBg="1"/>
      <p:bldP spid="32" grpId="0"/>
      <p:bldP spid="34" grpId="0"/>
      <p:bldP spid="35" grpId="0" animBg="1"/>
      <p:bldP spid="36" grpId="0" animBg="1"/>
      <p:bldP spid="37" grpId="0"/>
      <p:bldP spid="38" grpId="0" animBg="1"/>
      <p:bldP spid="39" grpId="0"/>
      <p:bldP spid="43" grpId="0" animBg="1"/>
      <p:bldP spid="4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2821" y="123165"/>
            <a:ext cx="574548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Solving Multi-step Equations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7502" y="1718130"/>
            <a:ext cx="31148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US" sz="3600" b="1" dirty="0">
                <a:solidFill>
                  <a:schemeClr val="bg2">
                    <a:lumMod val="25000"/>
                  </a:schemeClr>
                </a:solidFill>
                <a:latin typeface="Calibri" panose="020F0502020204030204"/>
              </a:rPr>
              <a:t>2(3f – 1) = 21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=""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="" xmlns:a16="http://schemas.microsoft.com/office/drawing/2014/main" id="{968BF5ED-3243-4F90-B8EF-A74AA4E4EE1B}"/>
              </a:ext>
            </a:extLst>
          </p:cNvPr>
          <p:cNvSpPr txBox="1"/>
          <p:nvPr/>
        </p:nvSpPr>
        <p:spPr>
          <a:xfrm>
            <a:off x="4703288" y="1718128"/>
            <a:ext cx="30002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alibri" panose="020F0502020204030204"/>
              </a:rPr>
              <a:t>2(4 -2s) = 22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="" xmlns:a16="http://schemas.microsoft.com/office/drawing/2014/main" id="{A50EC583-CA4B-455D-A1C1-B192321C19E3}"/>
              </a:ext>
            </a:extLst>
          </p:cNvPr>
          <p:cNvSpPr txBox="1"/>
          <p:nvPr/>
        </p:nvSpPr>
        <p:spPr>
          <a:xfrm>
            <a:off x="8714523" y="1718128"/>
            <a:ext cx="30742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US" sz="3600" b="1" dirty="0">
                <a:solidFill>
                  <a:schemeClr val="accent4">
                    <a:lumMod val="75000"/>
                  </a:schemeClr>
                </a:solidFill>
                <a:latin typeface="Calibri" panose="020F0502020204030204"/>
              </a:rPr>
              <a:t>7(2 -3w) = 56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36233A6C-7F6C-4814-9926-8251A2FC27F9}"/>
              </a:ext>
            </a:extLst>
          </p:cNvPr>
          <p:cNvSpPr txBox="1"/>
          <p:nvPr/>
        </p:nvSpPr>
        <p:spPr>
          <a:xfrm>
            <a:off x="9182284" y="741871"/>
            <a:ext cx="28645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US" sz="2800" dirty="0">
                <a:latin typeface="Calibri" panose="020F0502020204030204"/>
              </a:rPr>
              <a:t>B type Questions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997" y="791805"/>
            <a:ext cx="106103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What </a:t>
            </a:r>
            <a:r>
              <a:rPr lang="en-AU" sz="2400" dirty="0" smtClean="0"/>
              <a:t>have we learned about data, equations and time?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9002350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16" grpId="0"/>
      <p:bldP spid="18" grpId="0"/>
      <p:bldP spid="1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2821" y="123165"/>
            <a:ext cx="574548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Solving Multi-step Equations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8855" y="1718126"/>
            <a:ext cx="36709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US" sz="3600" b="1" dirty="0">
                <a:solidFill>
                  <a:srgbClr val="002060"/>
                </a:solidFill>
                <a:latin typeface="Calibri" panose="020F0502020204030204"/>
              </a:rPr>
              <a:t>4(2a - 1) = 3(a + 2)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=""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="" xmlns:a16="http://schemas.microsoft.com/office/drawing/2014/main" id="{A50EC583-CA4B-455D-A1C1-B192321C19E3}"/>
              </a:ext>
            </a:extLst>
          </p:cNvPr>
          <p:cNvSpPr txBox="1"/>
          <p:nvPr/>
        </p:nvSpPr>
        <p:spPr>
          <a:xfrm>
            <a:off x="7484434" y="1718126"/>
            <a:ext cx="37038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US" sz="3600" b="1" dirty="0">
                <a:solidFill>
                  <a:srgbClr val="C00000"/>
                </a:solidFill>
                <a:latin typeface="Calibri" panose="020F0502020204030204"/>
              </a:rPr>
              <a:t>6(c - 5) = 5(c - 4)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35A224EF-378D-4672-9971-0BD44DB62F68}"/>
              </a:ext>
            </a:extLst>
          </p:cNvPr>
          <p:cNvSpPr txBox="1"/>
          <p:nvPr/>
        </p:nvSpPr>
        <p:spPr>
          <a:xfrm>
            <a:off x="9182284" y="741871"/>
            <a:ext cx="28645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US" sz="2800" dirty="0">
                <a:latin typeface="Calibri" panose="020F0502020204030204"/>
              </a:rPr>
              <a:t>A type Questions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1049" y="782325"/>
            <a:ext cx="106103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What </a:t>
            </a:r>
            <a:r>
              <a:rPr lang="en-AU" sz="2400" dirty="0" smtClean="0"/>
              <a:t>have we learned about data, equations and time?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1875436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18" grpId="0"/>
      <p:bldP spid="1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27759" y="551146"/>
            <a:ext cx="9770301" cy="5916420"/>
          </a:xfrm>
          <a:solidFill>
            <a:schemeClr val="accent1">
              <a:lumMod val="20000"/>
              <a:lumOff val="80000"/>
            </a:schemeClr>
          </a:solidFill>
          <a:ln w="76200">
            <a:solidFill>
              <a:schemeClr val="tx1"/>
            </a:solidFill>
          </a:ln>
        </p:spPr>
        <p:txBody>
          <a:bodyPr numCol="2">
            <a:normAutofit/>
          </a:bodyPr>
          <a:lstStyle/>
          <a:p>
            <a:pPr>
              <a:buNone/>
            </a:pPr>
            <a:r>
              <a:rPr lang="en-GB" dirty="0" smtClean="0">
                <a:latin typeface="Comic Sans MS" pitchFamily="66" charset="0"/>
              </a:rPr>
              <a:t>Answer the following from last lesson:</a:t>
            </a:r>
          </a:p>
          <a:p>
            <a:pPr>
              <a:buNone/>
            </a:pPr>
            <a:endParaRPr lang="en-GB" dirty="0" smtClean="0"/>
          </a:p>
        </p:txBody>
      </p:sp>
      <p:sp>
        <p:nvSpPr>
          <p:cNvPr id="4" name="TextBox 3"/>
          <p:cNvSpPr txBox="1"/>
          <p:nvPr/>
        </p:nvSpPr>
        <p:spPr>
          <a:xfrm>
            <a:off x="3215680" y="2852937"/>
            <a:ext cx="9361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sz="2400" u="sng" dirty="0"/>
          </a:p>
          <a:p>
            <a:r>
              <a:rPr lang="en-GB" sz="2400" dirty="0"/>
              <a:t> </a:t>
            </a:r>
          </a:p>
        </p:txBody>
      </p:sp>
      <p:pic>
        <p:nvPicPr>
          <p:cNvPr id="1026" name="Picture 2" descr="C:\Users\Ben\AppData\Local\Microsoft\Windows\Temporary Internet Files\Content.IE5\W2NO9NUW\MM900236357[1].gif"/>
          <p:cNvPicPr>
            <a:picLocks noChangeAspect="1" noChangeArrowheads="1" noCrop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51685" y="711231"/>
            <a:ext cx="864096" cy="1176641"/>
          </a:xfrm>
          <a:prstGeom prst="rect">
            <a:avLst/>
          </a:prstGeom>
          <a:noFill/>
        </p:spPr>
      </p:pic>
      <p:pic>
        <p:nvPicPr>
          <p:cNvPr id="10" name="Picture 2" descr="C:\Users\Ben\AppData\Local\Microsoft\Windows\Temporary Internet Files\Content.IE5\W2NO9NUW\MM900236357[1].gif"/>
          <p:cNvPicPr>
            <a:picLocks noChangeAspect="1" noChangeArrowheads="1" noCrop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683732" y="871952"/>
            <a:ext cx="864096" cy="1176641"/>
          </a:xfrm>
          <a:prstGeom prst="rect">
            <a:avLst/>
          </a:prstGeom>
          <a:noFill/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0893" y="2208678"/>
            <a:ext cx="8849920" cy="4021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29276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446" y="1202499"/>
            <a:ext cx="10115950" cy="4189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61051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 flipV="1">
            <a:off x="0" y="980729"/>
            <a:ext cx="12192000" cy="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09500"/>
            <a:ext cx="12192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36541" y="123309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 flipH="1">
            <a:off x="1825338" y="1921365"/>
            <a:ext cx="26281" cy="40491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301686" y="288324"/>
            <a:ext cx="33107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Measures of Location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37893" y="274328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6541" y="2071499"/>
            <a:ext cx="174604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What are outliers?</a:t>
            </a:r>
            <a:endParaRPr lang="en-US" sz="2400" dirty="0"/>
          </a:p>
        </p:txBody>
      </p:sp>
      <p:sp>
        <p:nvSpPr>
          <p:cNvPr id="33" name="TextBox 32"/>
          <p:cNvSpPr txBox="1"/>
          <p:nvPr/>
        </p:nvSpPr>
        <p:spPr>
          <a:xfrm>
            <a:off x="93471" y="1078503"/>
            <a:ext cx="106103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What are </a:t>
            </a:r>
            <a:r>
              <a:rPr lang="en-AU" sz="2400" dirty="0" smtClean="0"/>
              <a:t>outliers and how do they affect the measures of location </a:t>
            </a:r>
            <a:r>
              <a:rPr lang="en-AU" sz="2400" smtClean="0"/>
              <a:t>and spread we’ve learned about?</a:t>
            </a:r>
            <a:endParaRPr lang="en-AU" sz="2400" dirty="0"/>
          </a:p>
        </p:txBody>
      </p:sp>
      <p:cxnSp>
        <p:nvCxnSpPr>
          <p:cNvPr id="40" name="Straight Connector 39"/>
          <p:cNvCxnSpPr/>
          <p:nvPr/>
        </p:nvCxnSpPr>
        <p:spPr>
          <a:xfrm>
            <a:off x="0" y="5970494"/>
            <a:ext cx="12192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136541" y="6040337"/>
            <a:ext cx="15243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Summary: </a:t>
            </a:r>
            <a:endParaRPr lang="en-US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2181085" y="3279287"/>
            <a:ext cx="643516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 smtClean="0"/>
              <a:t>Complete your Summary!!!</a:t>
            </a:r>
            <a:endParaRPr lang="en-US" sz="4400" dirty="0"/>
          </a:p>
        </p:txBody>
      </p:sp>
      <p:sp>
        <p:nvSpPr>
          <p:cNvPr id="5" name="Down Arrow 4"/>
          <p:cNvSpPr/>
          <p:nvPr/>
        </p:nvSpPr>
        <p:spPr>
          <a:xfrm>
            <a:off x="2605414" y="4715370"/>
            <a:ext cx="1164920" cy="102155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164976" y="2102054"/>
            <a:ext cx="954741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Outliers</a:t>
            </a:r>
            <a:r>
              <a:rPr lang="en-US" sz="2400" dirty="0" smtClean="0"/>
              <a:t> are unusual values. When we see outliers, we need to find out:</a:t>
            </a:r>
          </a:p>
          <a:p>
            <a:pPr marL="342900" indent="-342900">
              <a:buFont typeface="Arial" charset="0"/>
              <a:buChar char="•"/>
            </a:pPr>
            <a:r>
              <a:rPr lang="en-US" sz="2400" dirty="0" smtClean="0"/>
              <a:t>Are they mistakes</a:t>
            </a:r>
          </a:p>
          <a:p>
            <a:pPr marL="342900" indent="-342900">
              <a:buFont typeface="Arial" charset="0"/>
              <a:buChar char="•"/>
            </a:pPr>
            <a:r>
              <a:rPr lang="en-US" sz="2400" dirty="0" smtClean="0"/>
              <a:t>Should we delete them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95648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Notes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AU" dirty="0"/>
              <a:t>24, 7 ,30</a:t>
            </a:r>
          </a:p>
          <a:p>
            <a:r>
              <a:rPr lang="en-AU" dirty="0"/>
              <a:t>Date</a:t>
            </a:r>
          </a:p>
          <a:p>
            <a:r>
              <a:rPr lang="en-AU" dirty="0"/>
              <a:t>Title</a:t>
            </a:r>
          </a:p>
          <a:p>
            <a:r>
              <a:rPr lang="en-AU" dirty="0"/>
              <a:t>Essential question</a:t>
            </a:r>
          </a:p>
          <a:p>
            <a:r>
              <a:rPr lang="en-AU" dirty="0"/>
              <a:t>Notes complete </a:t>
            </a:r>
          </a:p>
          <a:p>
            <a:r>
              <a:rPr lang="en-AU" dirty="0"/>
              <a:t>Notes complete with colour and diagrams</a:t>
            </a:r>
          </a:p>
          <a:p>
            <a:r>
              <a:rPr lang="en-AU" dirty="0"/>
              <a:t>Questions completed</a:t>
            </a:r>
          </a:p>
          <a:p>
            <a:r>
              <a:rPr lang="en-AU" dirty="0"/>
              <a:t>Contents page filed in</a:t>
            </a:r>
          </a:p>
          <a:p>
            <a:r>
              <a:rPr lang="en-AU" dirty="0"/>
              <a:t>Formula page filled in</a:t>
            </a:r>
          </a:p>
          <a:p>
            <a:pPr marL="0" indent="0">
              <a:buNone/>
            </a:pPr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271956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419</TotalTime>
  <Words>1043</Words>
  <Application>Microsoft Macintosh PowerPoint</Application>
  <PresentationFormat>Widescreen</PresentationFormat>
  <Paragraphs>211</Paragraphs>
  <Slides>19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9" baseType="lpstr">
      <vt:lpstr>Calibri</vt:lpstr>
      <vt:lpstr>Calibri Light</vt:lpstr>
      <vt:lpstr>Cambria Math</vt:lpstr>
      <vt:lpstr>Comic Sans MS</vt:lpstr>
      <vt:lpstr>Impact</vt:lpstr>
      <vt:lpstr>Kiwi School Handwriting</vt:lpstr>
      <vt:lpstr>Mangal</vt:lpstr>
      <vt:lpstr>Times New Roman</vt:lpstr>
      <vt:lpstr>Arial</vt:lpstr>
      <vt:lpstr>Office Theme</vt:lpstr>
      <vt:lpstr>My Data Interactive Notebook</vt:lpstr>
      <vt:lpstr>Interactive Notebooks!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Notes Review</vt:lpstr>
    </vt:vector>
  </TitlesOfParts>
  <Company/>
  <LinksUpToDate>false</LinksUpToDate>
  <SharedDoc>false</SharedDoc>
  <HyperlinksChanged>false</HyperlinksChanged>
  <AppVersion>15.0034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SUMMERS Brad [Baldivis Secondary College]</dc:creator>
  <cp:lastModifiedBy>SUMMERS Brad [Baldivis Secondary College]</cp:lastModifiedBy>
  <cp:revision>40</cp:revision>
  <dcterms:created xsi:type="dcterms:W3CDTF">2017-07-23T05:14:02Z</dcterms:created>
  <dcterms:modified xsi:type="dcterms:W3CDTF">2017-11-06T05:17:54Z</dcterms:modified>
</cp:coreProperties>
</file>
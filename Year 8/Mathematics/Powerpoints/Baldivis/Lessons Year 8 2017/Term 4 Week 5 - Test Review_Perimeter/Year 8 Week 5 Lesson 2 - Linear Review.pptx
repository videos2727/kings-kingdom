
<file path=[Content_Types].xml><?xml version="1.0" encoding="utf-8"?>
<Types xmlns="http://schemas.openxmlformats.org/package/2006/content-types">
  <Default Extension="xml" ContentType="application/xml"/>
  <Default Extension="wmf" ContentType="image/x-wmf"/>
  <Default Extension="jpeg" ContentType="image/jpeg"/>
  <Default Extension="rels" ContentType="application/vnd.openxmlformats-package.relationships+xml"/>
  <Default Extension="vml" ContentType="application/vnd.openxmlformats-officedocument.vmlDrawing"/>
  <Default Extension="bin" ContentType="application/vnd.openxmlformats-officedocument.oleObject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2"/>
  </p:notesMasterIdLst>
  <p:sldIdLst>
    <p:sldId id="263" r:id="rId2"/>
    <p:sldId id="266" r:id="rId3"/>
    <p:sldId id="285" r:id="rId4"/>
    <p:sldId id="286" r:id="rId5"/>
    <p:sldId id="287" r:id="rId6"/>
    <p:sldId id="288" r:id="rId7"/>
    <p:sldId id="297" r:id="rId8"/>
    <p:sldId id="282" r:id="rId9"/>
    <p:sldId id="283" r:id="rId10"/>
    <p:sldId id="273" r:id="rId11"/>
    <p:sldId id="284" r:id="rId12"/>
    <p:sldId id="298" r:id="rId13"/>
    <p:sldId id="289" r:id="rId14"/>
    <p:sldId id="300" r:id="rId15"/>
    <p:sldId id="290" r:id="rId16"/>
    <p:sldId id="291" r:id="rId17"/>
    <p:sldId id="294" r:id="rId18"/>
    <p:sldId id="293" r:id="rId19"/>
    <p:sldId id="296" r:id="rId20"/>
    <p:sldId id="299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053" autoAdjust="0"/>
    <p:restoredTop sz="94660"/>
  </p:normalViewPr>
  <p:slideViewPr>
    <p:cSldViewPr snapToGrid="0">
      <p:cViewPr varScale="1">
        <p:scale>
          <a:sx n="129" d="100"/>
          <a:sy n="129" d="100"/>
        </p:scale>
        <p:origin x="40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714FA37-DCEE-4A8B-895D-A9C4F8DA3AB0}" type="datetimeFigureOut">
              <a:rPr lang="en-AU" smtClean="0"/>
              <a:t>6/11/17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F521593-C239-4F23-953F-DEA9A7F7D4E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122357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7902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86585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9727491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6/11/17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98393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6/11/17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079763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6/11/17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2204197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6/11/17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12156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6/11/17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41529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6/11/17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08563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202662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47BE6B-52E9-4DB5-9634-6473640C7AC5}" type="datetimeFigureOut">
              <a:rPr lang="en-AU" smtClean="0"/>
              <a:t>6/11/17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7316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47BE6B-52E9-4DB5-9634-6473640C7AC5}" type="datetimeFigureOut">
              <a:rPr lang="en-AU" smtClean="0"/>
              <a:t>6/11/17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2F4BB7-8858-40E3-A382-04ACA57A5EFC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33159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4" Type="http://schemas.openxmlformats.org/officeDocument/2006/relationships/image" Target="../media/image80.png"/><Relationship Id="rId5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12.wmf"/><Relationship Id="rId1" Type="http://schemas.openxmlformats.org/officeDocument/2006/relationships/vmlDrawing" Target="../drawings/vmlDrawing1.vml"/><Relationship Id="rId2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2" Type="http://schemas.openxmlformats.org/officeDocument/2006/relationships/image" Target="NUL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2181" y="548481"/>
            <a:ext cx="8206283" cy="1470025"/>
          </a:xfrm>
        </p:spPr>
        <p:txBody>
          <a:bodyPr>
            <a:normAutofit/>
          </a:bodyPr>
          <a:lstStyle/>
          <a:p>
            <a:r>
              <a:rPr lang="en-AU" sz="4800" dirty="0" smtClean="0">
                <a:latin typeface="+mn-lt"/>
              </a:rPr>
              <a:t>My Linear Relationships</a:t>
            </a:r>
            <a:br>
              <a:rPr lang="en-AU" sz="4800" dirty="0" smtClean="0">
                <a:latin typeface="+mn-lt"/>
              </a:rPr>
            </a:br>
            <a:r>
              <a:rPr lang="en-AU" sz="4800" dirty="0" smtClean="0">
                <a:latin typeface="+mn-lt"/>
              </a:rPr>
              <a:t>Interactive Notebook</a:t>
            </a:r>
            <a:endParaRPr lang="en-AU" sz="4800" dirty="0">
              <a:latin typeface="+mn-lt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63081" y="4078694"/>
            <a:ext cx="6858000" cy="1655762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Semester 2</a:t>
            </a:r>
          </a:p>
          <a:p>
            <a:pPr algn="l"/>
            <a:r>
              <a:rPr lang="en-AU" dirty="0" smtClean="0"/>
              <a:t>Term 4</a:t>
            </a:r>
          </a:p>
          <a:p>
            <a:pPr algn="l"/>
            <a:endParaRPr lang="en-AU" dirty="0" smtClean="0"/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p:pic>
        <p:nvPicPr>
          <p:cNvPr id="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35178" y="2466562"/>
            <a:ext cx="4320480" cy="35740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108414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 smtClean="0"/>
              <a:t>Interactive Notebooks!</a:t>
            </a:r>
            <a:endParaRPr lang="en-AU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1457634"/>
            <a:ext cx="7886700" cy="5177342"/>
          </a:xfrm>
        </p:spPr>
        <p:txBody>
          <a:bodyPr>
            <a:normAutofit/>
          </a:bodyPr>
          <a:lstStyle/>
          <a:p>
            <a:r>
              <a:rPr lang="en-US" dirty="0" smtClean="0"/>
              <a:t>Cover Page</a:t>
            </a:r>
          </a:p>
          <a:p>
            <a:r>
              <a:rPr lang="en-US" dirty="0" smtClean="0"/>
              <a:t>Contents Page</a:t>
            </a:r>
          </a:p>
          <a:p>
            <a:r>
              <a:rPr lang="en-US" dirty="0" smtClean="0"/>
              <a:t>Glossary</a:t>
            </a:r>
          </a:p>
          <a:p>
            <a:r>
              <a:rPr lang="en-US" dirty="0" smtClean="0"/>
              <a:t>24/7/30</a:t>
            </a:r>
          </a:p>
          <a:p>
            <a:r>
              <a:rPr lang="en-US" dirty="0" smtClean="0"/>
              <a:t>EQ</a:t>
            </a:r>
          </a:p>
          <a:p>
            <a:r>
              <a:rPr lang="en-US" dirty="0" smtClean="0"/>
              <a:t>Questions</a:t>
            </a:r>
          </a:p>
          <a:p>
            <a:r>
              <a:rPr lang="en-US" dirty="0" smtClean="0"/>
              <a:t>Notes</a:t>
            </a:r>
          </a:p>
          <a:p>
            <a:r>
              <a:rPr lang="en-US" dirty="0" smtClean="0"/>
              <a:t>Summaries</a:t>
            </a:r>
          </a:p>
          <a:p>
            <a:r>
              <a:rPr lang="en-US" dirty="0" smtClean="0"/>
              <a:t>Work page</a:t>
            </a:r>
          </a:p>
          <a:p>
            <a:r>
              <a:rPr lang="en-US" dirty="0" smtClean="0"/>
              <a:t>Presentation!!!</a:t>
            </a:r>
            <a:endParaRPr lang="en-AU" dirty="0"/>
          </a:p>
        </p:txBody>
      </p:sp>
      <p:pic>
        <p:nvPicPr>
          <p:cNvPr id="2050" name="Picture 2" descr="Image result for open notebook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3218" y="1332741"/>
            <a:ext cx="3389972" cy="4268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/>
          <p:cNvSpPr/>
          <p:nvPr/>
        </p:nvSpPr>
        <p:spPr>
          <a:xfrm rot="20602649">
            <a:off x="4241910" y="4362736"/>
            <a:ext cx="4750425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5"/>
                </a:solidFill>
                <a:effectLst>
                  <a:outerShdw blurRad="12700" dist="38100" dir="2700000" algn="tl" rotWithShape="0">
                    <a:schemeClr val="accent5">
                      <a:lumMod val="60000"/>
                      <a:lumOff val="40000"/>
                    </a:schemeClr>
                  </a:outerShdw>
                </a:effectLst>
              </a:rPr>
              <a:t>Your book, your responsibility!</a:t>
            </a:r>
            <a:endParaRPr lang="en-US" sz="54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accent5"/>
              </a:solidFill>
              <a:effectLst>
                <a:outerShdw blurRad="12700" dist="38100" dir="2700000" algn="tl" rotWithShape="0">
                  <a:schemeClr val="accent5">
                    <a:lumMod val="60000"/>
                    <a:lumOff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984157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79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8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249" name="Picture 1" descr="Brain250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5673" y="-121667"/>
            <a:ext cx="9213206" cy="711919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881759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3" name="Picture 1" descr="Brain251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31254" y="-234404"/>
            <a:ext cx="9427518" cy="72843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872458887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345" name="Picture 1" descr="Brain254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14970" y="-55810"/>
            <a:ext cx="9302503" cy="718839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191150671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69" name="Picture 1" descr="Brain255.jp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93762" y="-46880"/>
            <a:ext cx="9277945" cy="71694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flat" cmpd="sng">
                <a:solidFill>
                  <a:srgbClr val="000000"/>
                </a:solidFill>
                <a:prstDash val="solid"/>
                <a:miter lim="0"/>
                <a:headEnd type="none" w="med" len="med"/>
                <a:tailEnd type="none" w="med" len="med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826770163"/>
      </p:ext>
    </p:extLst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695740" y="1103243"/>
            <a:ext cx="78022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Handout Linear Relations Worksheet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9435594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38642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 flipH="1">
            <a:off x="1173124" y="1395663"/>
            <a:ext cx="39450" cy="5462337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42254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</a:t>
            </a:r>
            <a:r>
              <a:rPr lang="en-AU" sz="2800" dirty="0" smtClean="0"/>
              <a:t>Relationships Review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91552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are rules, tables, graphs and intercepts all related?</a:t>
            </a:r>
            <a:endParaRPr lang="en-AU"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3393911"/>
                  </p:ext>
                </p:extLst>
              </p:nvPr>
            </p:nvGraphicFramePr>
            <p:xfrm>
              <a:off x="1636395" y="5440970"/>
              <a:ext cx="6475666" cy="1275656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924247"/>
                    <a:gridCol w="924247"/>
                    <a:gridCol w="924247"/>
                    <a:gridCol w="924247"/>
                    <a:gridCol w="926226"/>
                    <a:gridCol w="926226"/>
                    <a:gridCol w="926226"/>
                  </a:tblGrid>
                  <a:tr h="637828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37828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473393911"/>
                  </p:ext>
                </p:extLst>
              </p:nvPr>
            </p:nvGraphicFramePr>
            <p:xfrm>
              <a:off x="1636395" y="5440970"/>
              <a:ext cx="6475666" cy="1275656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924247"/>
                    <a:gridCol w="924247"/>
                    <a:gridCol w="924247"/>
                    <a:gridCol w="924247"/>
                    <a:gridCol w="926226"/>
                    <a:gridCol w="926226"/>
                    <a:gridCol w="926226"/>
                  </a:tblGrid>
                  <a:tr h="6378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658" t="-15238" r="-601974" b="-10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63782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2"/>
                          <a:stretch>
                            <a:fillRect l="-658" t="-115238" r="-601974" b="-666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4" name="TextBox 13"/>
          <p:cNvSpPr txBox="1"/>
          <p:nvPr/>
        </p:nvSpPr>
        <p:spPr>
          <a:xfrm>
            <a:off x="1381540" y="1448657"/>
            <a:ext cx="7641812" cy="4010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Coordinates can also be written in a table to organise them and make them easier to graph.</a:t>
            </a:r>
          </a:p>
          <a:p>
            <a:endParaRPr lang="en-AU" dirty="0" smtClean="0"/>
          </a:p>
          <a:p>
            <a:r>
              <a:rPr lang="en-US" dirty="0" smtClean="0"/>
              <a:t>Consider the following set of coordinates:</a:t>
            </a:r>
            <a:endParaRPr lang="en-US" dirty="0"/>
          </a:p>
          <a:p>
            <a:r>
              <a:rPr lang="en-US" dirty="0" smtClean="0"/>
              <a:t>(0, -2) 	(3, 1) 	(-1, -3)	(1, -1)	(-2, -4)	(2, 0)</a:t>
            </a:r>
          </a:p>
          <a:p>
            <a:endParaRPr lang="en-US" dirty="0"/>
          </a:p>
          <a:p>
            <a:r>
              <a:rPr lang="en-US" dirty="0" smtClean="0"/>
              <a:t>Step 1: Put them in order by the x-value </a:t>
            </a:r>
            <a:r>
              <a:rPr lang="en-US" b="1" dirty="0" smtClean="0"/>
              <a:t>(first number)</a:t>
            </a:r>
          </a:p>
          <a:p>
            <a:r>
              <a:rPr lang="en-US" i="1" dirty="0"/>
              <a:t>(-2, -4) 	</a:t>
            </a:r>
            <a:r>
              <a:rPr lang="en-US" i="1" dirty="0" smtClean="0"/>
              <a:t>(-</a:t>
            </a:r>
            <a:r>
              <a:rPr lang="en-US" i="1" dirty="0"/>
              <a:t>1, -3)	</a:t>
            </a:r>
            <a:r>
              <a:rPr lang="en-US" i="1" dirty="0" smtClean="0"/>
              <a:t>(</a:t>
            </a:r>
            <a:r>
              <a:rPr lang="en-US" i="1" dirty="0"/>
              <a:t>0, -2</a:t>
            </a:r>
            <a:r>
              <a:rPr lang="en-US" i="1" dirty="0" smtClean="0"/>
              <a:t>)	</a:t>
            </a:r>
            <a:r>
              <a:rPr lang="en-US" i="1" dirty="0"/>
              <a:t> (1, -1)</a:t>
            </a:r>
            <a:r>
              <a:rPr lang="en-US" i="1" dirty="0" smtClean="0"/>
              <a:t> </a:t>
            </a:r>
            <a:r>
              <a:rPr lang="en-US" i="1" dirty="0"/>
              <a:t>	(2, 0</a:t>
            </a:r>
            <a:r>
              <a:rPr lang="en-US" i="1" dirty="0" smtClean="0"/>
              <a:t>) 	(</a:t>
            </a:r>
            <a:r>
              <a:rPr lang="en-US" i="1" dirty="0"/>
              <a:t>3, 1)</a:t>
            </a:r>
            <a:r>
              <a:rPr lang="en-US" dirty="0"/>
              <a:t> </a:t>
            </a:r>
          </a:p>
          <a:p>
            <a:endParaRPr lang="en-US" dirty="0" smtClean="0"/>
          </a:p>
          <a:p>
            <a:r>
              <a:rPr lang="en-US" dirty="0" smtClean="0"/>
              <a:t>	Step </a:t>
            </a:r>
            <a:r>
              <a:rPr lang="en-US" dirty="0" smtClean="0"/>
              <a:t>2: Place the x values in the table, ensuring they go up by the </a:t>
            </a:r>
            <a:r>
              <a:rPr lang="en-US" dirty="0" smtClean="0"/>
              <a:t>	same </a:t>
            </a:r>
            <a:r>
              <a:rPr lang="en-US" dirty="0" smtClean="0"/>
              <a:t>amount each time.</a:t>
            </a:r>
          </a:p>
          <a:p>
            <a:endParaRPr lang="en-US" dirty="0"/>
          </a:p>
          <a:p>
            <a:r>
              <a:rPr lang="en-US" dirty="0" smtClean="0"/>
              <a:t>		Step </a:t>
            </a:r>
            <a:r>
              <a:rPr lang="en-US" dirty="0" smtClean="0"/>
              <a:t>3: </a:t>
            </a:r>
            <a:r>
              <a:rPr lang="en-US" dirty="0"/>
              <a:t>Place the </a:t>
            </a:r>
            <a:r>
              <a:rPr lang="en-US" dirty="0" smtClean="0"/>
              <a:t>corresponding y </a:t>
            </a:r>
            <a:r>
              <a:rPr lang="en-US" dirty="0"/>
              <a:t>values in the </a:t>
            </a:r>
            <a:r>
              <a:rPr lang="en-US" dirty="0" smtClean="0"/>
              <a:t>table.</a:t>
            </a:r>
            <a:endParaRPr lang="en-AU" dirty="0"/>
          </a:p>
          <a:p>
            <a:endParaRPr lang="en-AU" sz="1600" dirty="0"/>
          </a:p>
        </p:txBody>
      </p:sp>
      <p:sp>
        <p:nvSpPr>
          <p:cNvPr id="15" name="Right Arrow 14"/>
          <p:cNvSpPr/>
          <p:nvPr/>
        </p:nvSpPr>
        <p:spPr>
          <a:xfrm rot="3823588">
            <a:off x="1033549" y="4690498"/>
            <a:ext cx="2363375" cy="29174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TextBox 15"/>
          <p:cNvSpPr txBox="1"/>
          <p:nvPr/>
        </p:nvSpPr>
        <p:spPr>
          <a:xfrm>
            <a:off x="36455" y="1422842"/>
            <a:ext cx="113666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The basics: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3959325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5124" y="3533237"/>
            <a:ext cx="3558093" cy="314465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11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245426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0775023"/>
                  </p:ext>
                </p:extLst>
              </p:nvPr>
            </p:nvGraphicFramePr>
            <p:xfrm>
              <a:off x="2450233" y="2264507"/>
              <a:ext cx="5472985" cy="10471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781138"/>
                    <a:gridCol w="781138"/>
                    <a:gridCol w="781138"/>
                    <a:gridCol w="781138"/>
                    <a:gridCol w="782811"/>
                    <a:gridCol w="782811"/>
                    <a:gridCol w="782811"/>
                  </a:tblGrid>
                  <a:tr h="52355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2355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290775023"/>
                  </p:ext>
                </p:extLst>
              </p:nvPr>
            </p:nvGraphicFramePr>
            <p:xfrm>
              <a:off x="2450233" y="2264507"/>
              <a:ext cx="5472985" cy="10471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781138"/>
                    <a:gridCol w="781138"/>
                    <a:gridCol w="781138"/>
                    <a:gridCol w="781138"/>
                    <a:gridCol w="782811"/>
                    <a:gridCol w="782811"/>
                    <a:gridCol w="782811"/>
                  </a:tblGrid>
                  <a:tr h="5235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781" t="-19540" r="-605469" b="-12183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5235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3"/>
                          <a:stretch>
                            <a:fillRect l="-781" t="-120930" r="-605469" b="-23256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>
                              <a:solidFill>
                                <a:schemeClr val="tx1"/>
                              </a:solidFill>
                              <a:effectLst/>
                            </a:rPr>
                            <a:t> </a:t>
                          </a: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0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14" name="TextBox 13"/>
          <p:cNvSpPr txBox="1"/>
          <p:nvPr/>
        </p:nvSpPr>
        <p:spPr>
          <a:xfrm>
            <a:off x="2306594" y="1519671"/>
            <a:ext cx="64418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Plot each pairs of numbers in the table as if they were coordinates and then join them up with a </a:t>
            </a:r>
            <a:r>
              <a:rPr lang="en-AU" b="1" dirty="0" smtClean="0"/>
              <a:t>straight</a:t>
            </a:r>
            <a:r>
              <a:rPr lang="en-AU" dirty="0" smtClean="0"/>
              <a:t> line (with arrows at the end).</a:t>
            </a:r>
          </a:p>
        </p:txBody>
      </p:sp>
      <p:sp>
        <p:nvSpPr>
          <p:cNvPr id="15" name="Right Arrow 14"/>
          <p:cNvSpPr/>
          <p:nvPr/>
        </p:nvSpPr>
        <p:spPr>
          <a:xfrm rot="3922627">
            <a:off x="2713857" y="4357002"/>
            <a:ext cx="3830058" cy="26916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5" name="Straight Arrow Connector 4"/>
          <p:cNvCxnSpPr/>
          <p:nvPr/>
        </p:nvCxnSpPr>
        <p:spPr>
          <a:xfrm flipH="1">
            <a:off x="5114906" y="3711057"/>
            <a:ext cx="2998572" cy="2976944"/>
          </a:xfrm>
          <a:prstGeom prst="straightConnector1">
            <a:avLst/>
          </a:prstGeom>
          <a:ln>
            <a:solidFill>
              <a:srgbClr val="7030A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9" name="TextBox 18"/>
              <p:cNvSpPr txBox="1"/>
              <p:nvPr/>
            </p:nvSpPr>
            <p:spPr>
              <a:xfrm>
                <a:off x="7872724" y="4830197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19" name="TextBox 1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872724" y="4830197"/>
                <a:ext cx="36798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5900813" y="3252815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00813" y="3252815"/>
                <a:ext cx="371384" cy="369332"/>
              </a:xfrm>
              <a:prstGeom prst="rect">
                <a:avLst/>
              </a:prstGeom>
              <a:blipFill rotWithShape="0">
                <a:blip r:embed="rId5"/>
                <a:stretch>
                  <a:fillRect b="-666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/>
          <p:cNvSpPr txBox="1"/>
          <p:nvPr/>
        </p:nvSpPr>
        <p:spPr>
          <a:xfrm>
            <a:off x="0" y="91552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are rules, tables, graphs and intercepts all related?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204057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165" y="2137028"/>
            <a:ext cx="4666322" cy="4469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36885" y="973622"/>
            <a:ext cx="85776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Draw a coordinate grid from -5 to 5 on both axes (as below) and plot the following </a:t>
            </a:r>
            <a:r>
              <a:rPr lang="en-AU" sz="2800" dirty="0" smtClean="0"/>
              <a:t>table </a:t>
            </a:r>
            <a:r>
              <a:rPr lang="en-AU" sz="2800" dirty="0" smtClean="0"/>
              <a:t>of coordinates. 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170018" y="1946246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018" y="1946246"/>
                <a:ext cx="371384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759539" y="4186939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539" y="4186939"/>
                <a:ext cx="36798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>
            <a:spLocks/>
          </p:cNvSpPr>
          <p:nvPr/>
        </p:nvSpPr>
        <p:spPr>
          <a:xfrm>
            <a:off x="397990" y="184221"/>
            <a:ext cx="7886700" cy="5862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Your Turn (LHS of course)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2567196"/>
                  </p:ext>
                </p:extLst>
              </p:nvPr>
            </p:nvGraphicFramePr>
            <p:xfrm>
              <a:off x="796239" y="2110932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 smtClean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2567196"/>
                  </p:ext>
                </p:extLst>
              </p:nvPr>
            </p:nvGraphicFramePr>
            <p:xfrm>
              <a:off x="796239" y="2110932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962" t="-21519" r="-406731" b="-1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 smtClean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962" t="-123077" r="-406731" b="-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499586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48165" y="2137028"/>
            <a:ext cx="4666322" cy="446915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236885" y="973622"/>
            <a:ext cx="857760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800" dirty="0" smtClean="0"/>
              <a:t>Draw a coordinate grid from -5 to 5 on both axes (as below) and plot the following tables of coordinates. </a:t>
            </a:r>
            <a:endParaRPr lang="en-AU" sz="28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6170018" y="1946246"/>
                <a:ext cx="3713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𝑦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70018" y="1946246"/>
                <a:ext cx="371384" cy="369332"/>
              </a:xfrm>
              <a:prstGeom prst="rect">
                <a:avLst/>
              </a:prstGeom>
              <a:blipFill rotWithShape="0">
                <a:blip r:embed="rId3"/>
                <a:stretch>
                  <a:fillRect b="-6557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8759539" y="4186939"/>
                <a:ext cx="367986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latin typeface="Cambria Math"/>
                        </a:rPr>
                        <m:t>𝑥</m:t>
                      </m:r>
                    </m:oMath>
                  </m:oMathPara>
                </a14:m>
                <a:endParaRPr lang="en-AU" dirty="0"/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9539" y="4186939"/>
                <a:ext cx="367986" cy="369332"/>
              </a:xfrm>
              <a:prstGeom prst="rect">
                <a:avLst/>
              </a:prstGeom>
              <a:blipFill rotWithShape="0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Title 1"/>
          <p:cNvSpPr txBox="1">
            <a:spLocks/>
          </p:cNvSpPr>
          <p:nvPr/>
        </p:nvSpPr>
        <p:spPr>
          <a:xfrm>
            <a:off x="397990" y="184221"/>
            <a:ext cx="7886700" cy="5862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dirty="0" smtClean="0"/>
              <a:t>Your Turn (LHS of course)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2567196"/>
                  </p:ext>
                </p:extLst>
              </p:nvPr>
            </p:nvGraphicFramePr>
            <p:xfrm>
              <a:off x="796239" y="2110932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  <a:ea typeface="Times New Roman"/>
                                  </a:rPr>
                                  <m:t>𝑥</m:t>
                                </m:r>
                              </m:oMath>
                            </m:oMathPara>
                          </a14:m>
                          <a:endParaRPr lang="en-AU" sz="2800" b="0" i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 smtClean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AU" sz="2800" b="0" i="1" smtClean="0">
                                    <a:solidFill>
                                      <a:schemeClr val="tx1"/>
                                    </a:solidFill>
                                    <a:effectLst/>
                                    <a:latin typeface="Cambria Math"/>
                                  </a:rPr>
                                  <m:t>𝑦</m:t>
                                </m:r>
                              </m:oMath>
                            </m:oMathPara>
                          </a14:m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Choice>
        <mc:Fallback xmlns="">
          <p:graphicFrame>
            <p:nvGraphicFramePr>
              <p:cNvPr id="8" name="Table 7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2567196"/>
                  </p:ext>
                </p:extLst>
              </p:nvPr>
            </p:nvGraphicFramePr>
            <p:xfrm>
              <a:off x="796239" y="2110932"/>
              <a:ext cx="3178932" cy="954204"/>
            </p:xfrm>
            <a:graphic>
              <a:graphicData uri="http://schemas.openxmlformats.org/drawingml/2006/table">
                <a:tbl>
                  <a:tblPr firstRow="1" firstCol="1" lastRow="1" lastCol="1" bandRow="1" bandCol="1">
                    <a:tableStyleId>{5C22544A-7EE6-4342-B048-85BDC9FD1C3A}</a:tableStyleId>
                  </a:tblPr>
                  <a:tblGrid>
                    <a:gridCol w="634971"/>
                    <a:gridCol w="634971"/>
                    <a:gridCol w="636330"/>
                    <a:gridCol w="636330"/>
                    <a:gridCol w="636330"/>
                  </a:tblGrid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962" t="-21519" r="-406731" b="-13417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2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marL="0" marR="0" lvl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Tx/>
                            <a:buSzTx/>
                            <a:buFontTx/>
                            <a:buNone/>
                            <a:tabLst/>
                            <a:defRPr/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3</a:t>
                          </a:r>
                          <a:endParaRPr lang="en-AU" sz="2800" b="0" dirty="0" smtClean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4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  <a:tr h="47710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 rotWithShape="0">
                          <a:blip r:embed="rId5"/>
                          <a:stretch>
                            <a:fillRect l="-962" t="-123077" r="-406731" b="-35897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AU" sz="2800" b="0" dirty="0" smtClean="0">
                              <a:solidFill>
                                <a:schemeClr val="tx1"/>
                              </a:solidFill>
                              <a:effectLst/>
                            </a:rPr>
                            <a:t>-1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1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  <a:tc>
                      <a:txBody>
                        <a:bodyPr/>
                        <a:lstStyle/>
                        <a:p>
                          <a:pPr algn="ctr">
                            <a:spcAft>
                              <a:spcPts val="0"/>
                            </a:spcAft>
                          </a:pPr>
                          <a:r>
                            <a:rPr lang="en-US" sz="2800" b="0" dirty="0" smtClean="0">
                              <a:solidFill>
                                <a:schemeClr val="tx1"/>
                              </a:solidFill>
                              <a:effectLst/>
                              <a:latin typeface="+mn-lt"/>
                              <a:ea typeface="+mn-ea"/>
                            </a:rPr>
                            <a:t>3</a:t>
                          </a:r>
                          <a:endParaRPr lang="en-AU" sz="2800" b="0" dirty="0">
                            <a:solidFill>
                              <a:schemeClr val="tx1"/>
                            </a:solidFill>
                            <a:effectLst/>
                            <a:latin typeface="Times New Roman"/>
                            <a:ea typeface="Times New Roman"/>
                          </a:endParaRPr>
                        </a:p>
                      </a:txBody>
                      <a:tcPr marL="68580" marR="68580" marT="0" marB="0">
                        <a:lnL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3810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noFill/>
                      </a:tcPr>
                    </a:tc>
                  </a:tr>
                </a:tbl>
              </a:graphicData>
            </a:graphic>
          </p:graphicFrame>
        </mc:Fallback>
      </mc:AlternateContent>
      <p:sp>
        <p:nvSpPr>
          <p:cNvPr id="7" name="Oval 6"/>
          <p:cNvSpPr/>
          <p:nvPr/>
        </p:nvSpPr>
        <p:spPr>
          <a:xfrm>
            <a:off x="6820930" y="5601039"/>
            <a:ext cx="74140" cy="83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6" name="Oval 15"/>
          <p:cNvSpPr/>
          <p:nvPr/>
        </p:nvSpPr>
        <p:spPr>
          <a:xfrm>
            <a:off x="7208936" y="4780895"/>
            <a:ext cx="74140" cy="83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7" name="Oval 16"/>
          <p:cNvSpPr/>
          <p:nvPr/>
        </p:nvSpPr>
        <p:spPr>
          <a:xfrm>
            <a:off x="7632357" y="3957590"/>
            <a:ext cx="74140" cy="83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8" name="Oval 17"/>
          <p:cNvSpPr/>
          <p:nvPr/>
        </p:nvSpPr>
        <p:spPr>
          <a:xfrm>
            <a:off x="8036011" y="3131150"/>
            <a:ext cx="74140" cy="8376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cxnSp>
        <p:nvCxnSpPr>
          <p:cNvPr id="19" name="Straight Arrow Connector 18"/>
          <p:cNvCxnSpPr/>
          <p:nvPr/>
        </p:nvCxnSpPr>
        <p:spPr>
          <a:xfrm flipH="1">
            <a:off x="6355710" y="2130912"/>
            <a:ext cx="2230836" cy="4570251"/>
          </a:xfrm>
          <a:prstGeom prst="straightConnector1">
            <a:avLst/>
          </a:prstGeom>
          <a:ln>
            <a:solidFill>
              <a:srgbClr val="FF0000"/>
            </a:solidFill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514033" y="1933845"/>
            <a:ext cx="5164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>
                <a:solidFill>
                  <a:srgbClr val="FF0000"/>
                </a:solidFill>
              </a:rPr>
              <a:t>(a) </a:t>
            </a:r>
            <a:endParaRPr lang="en-AU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40698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4581" y="1461052"/>
            <a:ext cx="75502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Do Questions 1 and 2 of Worksheet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243950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8" name="TextBox 17"/>
          <p:cNvSpPr txBox="1"/>
          <p:nvPr/>
        </p:nvSpPr>
        <p:spPr>
          <a:xfrm>
            <a:off x="0" y="91552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are rules, tables, graphs and intercepts all related?</a:t>
            </a:r>
            <a:endParaRPr lang="en-AU" sz="2400" dirty="0"/>
          </a:p>
        </p:txBody>
      </p:sp>
      <p:sp>
        <p:nvSpPr>
          <p:cNvPr id="21" name="TextBox 20"/>
          <p:cNvSpPr txBox="1"/>
          <p:nvPr/>
        </p:nvSpPr>
        <p:spPr>
          <a:xfrm>
            <a:off x="112915" y="1526277"/>
            <a:ext cx="8910436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How do we turn a rule into a table of values an a graph?</a:t>
            </a:r>
          </a:p>
          <a:p>
            <a:r>
              <a:rPr lang="en-US" sz="2400" dirty="0" smtClean="0"/>
              <a:t>Consider </a:t>
            </a:r>
            <a:r>
              <a:rPr lang="en-US" sz="2400" dirty="0" smtClean="0"/>
              <a:t>the equation </a:t>
            </a:r>
            <a:r>
              <a:rPr lang="en-US" sz="2400" i="1" dirty="0" smtClean="0"/>
              <a:t>y = 2x + 1</a:t>
            </a:r>
            <a:endParaRPr lang="en-US" sz="2400" dirty="0"/>
          </a:p>
          <a:p>
            <a:pPr marL="342900" indent="-342900">
              <a:buAutoNum type="alphaLcParenR"/>
            </a:pPr>
            <a:r>
              <a:rPr lang="en-US" dirty="0" smtClean="0"/>
              <a:t>Create a table using x values from -2 to 2</a:t>
            </a:r>
          </a:p>
          <a:p>
            <a:pPr marL="342900" indent="-342900">
              <a:buAutoNum type="alphaLcParenR"/>
            </a:pPr>
            <a:r>
              <a:rPr lang="en-US" dirty="0" smtClean="0"/>
              <a:t>Draw a graph using this table</a:t>
            </a:r>
          </a:p>
          <a:p>
            <a:pPr marL="342900" indent="-342900">
              <a:buAutoNum type="alphaLcParenR"/>
            </a:pPr>
            <a:endParaRPr lang="en-US" dirty="0"/>
          </a:p>
        </p:txBody>
      </p:sp>
      <p:pic>
        <p:nvPicPr>
          <p:cNvPr id="22" name="Picture 21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8897" y="2502405"/>
            <a:ext cx="4431833" cy="42445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3" name="TextBox 22"/>
          <p:cNvSpPr txBox="1"/>
          <p:nvPr/>
        </p:nvSpPr>
        <p:spPr>
          <a:xfrm>
            <a:off x="1686610" y="2917179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 = 2x + 1</a:t>
            </a:r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3346445" y="533896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5" name="TextBox 24"/>
          <p:cNvSpPr txBox="1"/>
          <p:nvPr/>
        </p:nvSpPr>
        <p:spPr>
          <a:xfrm>
            <a:off x="3346445" y="5189875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8557918"/>
              </p:ext>
            </p:extLst>
          </p:nvPr>
        </p:nvGraphicFramePr>
        <p:xfrm>
          <a:off x="112914" y="3435598"/>
          <a:ext cx="446598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331"/>
                <a:gridCol w="744331"/>
                <a:gridCol w="744331"/>
                <a:gridCol w="744331"/>
                <a:gridCol w="744331"/>
                <a:gridCol w="744331"/>
              </a:tblGrid>
              <a:tr h="3594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8914232"/>
              </p:ext>
            </p:extLst>
          </p:nvPr>
        </p:nvGraphicFramePr>
        <p:xfrm>
          <a:off x="112914" y="3803458"/>
          <a:ext cx="4465986" cy="365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331"/>
                <a:gridCol w="744331"/>
                <a:gridCol w="744331"/>
                <a:gridCol w="744331"/>
                <a:gridCol w="744331"/>
                <a:gridCol w="744331"/>
              </a:tblGrid>
              <a:tr h="35946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8" name="Oval 27"/>
          <p:cNvSpPr/>
          <p:nvPr/>
        </p:nvSpPr>
        <p:spPr>
          <a:xfrm>
            <a:off x="5910741" y="5786222"/>
            <a:ext cx="129209" cy="129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Oval 28"/>
          <p:cNvSpPr/>
          <p:nvPr/>
        </p:nvSpPr>
        <p:spPr>
          <a:xfrm>
            <a:off x="6321559" y="5001031"/>
            <a:ext cx="129209" cy="129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Oval 29"/>
          <p:cNvSpPr/>
          <p:nvPr/>
        </p:nvSpPr>
        <p:spPr>
          <a:xfrm>
            <a:off x="6665604" y="4239030"/>
            <a:ext cx="129209" cy="129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Oval 30"/>
          <p:cNvSpPr/>
          <p:nvPr/>
        </p:nvSpPr>
        <p:spPr>
          <a:xfrm>
            <a:off x="7086872" y="3435598"/>
            <a:ext cx="129209" cy="129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Oval 31"/>
          <p:cNvSpPr/>
          <p:nvPr/>
        </p:nvSpPr>
        <p:spPr>
          <a:xfrm>
            <a:off x="7474498" y="2651492"/>
            <a:ext cx="129209" cy="12920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 flipV="1">
            <a:off x="5664528" y="2416857"/>
            <a:ext cx="2035256" cy="40452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7409278" y="3549085"/>
            <a:ext cx="10647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y = 2x + 1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366329" y="4600298"/>
            <a:ext cx="2114105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We use substitution:</a:t>
            </a:r>
          </a:p>
          <a:p>
            <a:endParaRPr lang="en-US" dirty="0"/>
          </a:p>
          <a:p>
            <a:r>
              <a:rPr lang="en-US" dirty="0" smtClean="0"/>
              <a:t>y = 2(-2) + 1</a:t>
            </a:r>
          </a:p>
          <a:p>
            <a:r>
              <a:rPr lang="en-US" dirty="0"/>
              <a:t>  </a:t>
            </a:r>
            <a:r>
              <a:rPr lang="en-US" dirty="0" smtClean="0"/>
              <a:t> =  -4  + 1</a:t>
            </a:r>
          </a:p>
          <a:p>
            <a:r>
              <a:rPr lang="en-US" dirty="0"/>
              <a:t> </a:t>
            </a:r>
            <a:r>
              <a:rPr lang="en-US" dirty="0" smtClean="0"/>
              <a:t>  =  -3</a:t>
            </a:r>
            <a:endParaRPr lang="en-US" dirty="0"/>
          </a:p>
        </p:txBody>
      </p:sp>
      <p:sp>
        <p:nvSpPr>
          <p:cNvPr id="12" name="Up Arrow 11"/>
          <p:cNvSpPr/>
          <p:nvPr/>
        </p:nvSpPr>
        <p:spPr>
          <a:xfrm>
            <a:off x="1136565" y="4239030"/>
            <a:ext cx="238539" cy="331313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4434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5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62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6" dur="20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28" grpId="0" animBg="1"/>
      <p:bldP spid="29" grpId="0" animBg="1"/>
      <p:bldP spid="30" grpId="0" animBg="1"/>
      <p:bldP spid="31" grpId="0" animBg="1"/>
      <p:bldP spid="32" grpId="0" animBg="1"/>
      <p:bldP spid="34" grpId="0"/>
      <p:bldP spid="8" grpId="0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84581" y="1461052"/>
            <a:ext cx="755027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Do Questions 3 and 4 of Worksheet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7438470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pic>
        <p:nvPicPr>
          <p:cNvPr id="13" name="Picture 1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60150" y="2497739"/>
            <a:ext cx="6138863" cy="2828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Box 7"/>
          <p:cNvSpPr txBox="1"/>
          <p:nvPr/>
        </p:nvSpPr>
        <p:spPr>
          <a:xfrm>
            <a:off x="109331" y="1573485"/>
            <a:ext cx="891402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How do we calculate gradient and y-intercepts?</a:t>
            </a:r>
          </a:p>
          <a:p>
            <a:r>
              <a:rPr lang="en-US" sz="2400" dirty="0" smtClean="0"/>
              <a:t>Consider </a:t>
            </a:r>
            <a:r>
              <a:rPr lang="en-US" sz="2400" dirty="0" smtClean="0"/>
              <a:t>the following line on a graph: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1360150" y="5853994"/>
            <a:ext cx="588045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 smtClean="0"/>
              <a:t>How do we calculate the gradient of this line?</a:t>
            </a: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0" y="915525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How are rules, tables, graphs and intercepts all related?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3884304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 Box 21"/>
          <p:cNvSpPr txBox="1">
            <a:spLocks noChangeArrowheads="1"/>
          </p:cNvSpPr>
          <p:nvPr/>
        </p:nvSpPr>
        <p:spPr bwMode="auto">
          <a:xfrm>
            <a:off x="419100" y="1617610"/>
            <a:ext cx="83058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x-none" dirty="0" smtClean="0">
                <a:latin typeface="+mn-lt"/>
              </a:rPr>
              <a:t>To calculate gradient: Start </a:t>
            </a:r>
            <a:r>
              <a:rPr lang="en-US" altLang="x-none" dirty="0">
                <a:latin typeface="+mn-lt"/>
              </a:rPr>
              <a:t>with the lower point and count how much you rise and run to get to the other point!</a:t>
            </a:r>
          </a:p>
        </p:txBody>
      </p:sp>
      <p:pic>
        <p:nvPicPr>
          <p:cNvPr id="15" name="Picture 1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46522" y="3349457"/>
            <a:ext cx="3248025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Line 14"/>
          <p:cNvSpPr>
            <a:spLocks noChangeShapeType="1"/>
          </p:cNvSpPr>
          <p:nvPr/>
        </p:nvSpPr>
        <p:spPr bwMode="auto">
          <a:xfrm flipV="1">
            <a:off x="2313322" y="4622632"/>
            <a:ext cx="0" cy="828675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7" name="Line 15"/>
          <p:cNvSpPr>
            <a:spLocks noChangeShapeType="1"/>
          </p:cNvSpPr>
          <p:nvPr/>
        </p:nvSpPr>
        <p:spPr bwMode="auto">
          <a:xfrm>
            <a:off x="2313322" y="4621045"/>
            <a:ext cx="1587500" cy="0"/>
          </a:xfrm>
          <a:prstGeom prst="line">
            <a:avLst/>
          </a:prstGeom>
          <a:noFill/>
          <a:ln w="38100">
            <a:solidFill>
              <a:schemeClr val="hlink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 sz="2400"/>
          </a:p>
        </p:txBody>
      </p:sp>
      <p:sp>
        <p:nvSpPr>
          <p:cNvPr id="18" name="Text Box 16"/>
          <p:cNvSpPr txBox="1">
            <a:spLocks noChangeArrowheads="1"/>
          </p:cNvSpPr>
          <p:nvPr/>
        </p:nvSpPr>
        <p:spPr bwMode="auto">
          <a:xfrm>
            <a:off x="2922922" y="4111457"/>
            <a:ext cx="3401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r>
              <a:rPr lang="en-US" altLang="x-none" b="1">
                <a:solidFill>
                  <a:schemeClr val="hlink"/>
                </a:solidFill>
                <a:latin typeface="+mn-lt"/>
              </a:rPr>
              <a:t>6</a:t>
            </a:r>
            <a:endParaRPr lang="en-US" altLang="x-none">
              <a:latin typeface="+mn-lt"/>
            </a:endParaRPr>
          </a:p>
        </p:txBody>
      </p:sp>
      <p:sp>
        <p:nvSpPr>
          <p:cNvPr id="19" name="Rectangle 17"/>
          <p:cNvSpPr>
            <a:spLocks noChangeArrowheads="1"/>
          </p:cNvSpPr>
          <p:nvPr/>
        </p:nvSpPr>
        <p:spPr bwMode="auto">
          <a:xfrm>
            <a:off x="1932322" y="4873457"/>
            <a:ext cx="340158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r>
              <a:rPr lang="en-US" altLang="x-none" b="1">
                <a:solidFill>
                  <a:schemeClr val="hlink"/>
                </a:solidFill>
                <a:latin typeface="+mn-lt"/>
              </a:rPr>
              <a:t>3</a:t>
            </a:r>
          </a:p>
        </p:txBody>
      </p:sp>
      <p:sp>
        <p:nvSpPr>
          <p:cNvPr id="20" name="Oval 18"/>
          <p:cNvSpPr>
            <a:spLocks noChangeArrowheads="1"/>
          </p:cNvSpPr>
          <p:nvPr/>
        </p:nvSpPr>
        <p:spPr bwMode="auto">
          <a:xfrm>
            <a:off x="2237122" y="5406857"/>
            <a:ext cx="152400" cy="1524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/>
            <a:endParaRPr lang="x-none" altLang="x-none">
              <a:solidFill>
                <a:srgbClr val="0000CC"/>
              </a:solidFill>
              <a:latin typeface="+mn-lt"/>
            </a:endParaRPr>
          </a:p>
        </p:txBody>
      </p:sp>
      <p:sp>
        <p:nvSpPr>
          <p:cNvPr id="21" name="Oval 19"/>
          <p:cNvSpPr>
            <a:spLocks noChangeArrowheads="1"/>
          </p:cNvSpPr>
          <p:nvPr/>
        </p:nvSpPr>
        <p:spPr bwMode="auto">
          <a:xfrm>
            <a:off x="3896060" y="4535320"/>
            <a:ext cx="152400" cy="152400"/>
          </a:xfrm>
          <a:prstGeom prst="ellipse">
            <a:avLst/>
          </a:prstGeom>
          <a:solidFill>
            <a:srgbClr val="000080"/>
          </a:solidFill>
          <a:ln w="9525">
            <a:solidFill>
              <a:srgbClr val="00008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/>
            <a:endParaRPr lang="x-none" altLang="x-none">
              <a:solidFill>
                <a:srgbClr val="0000CC"/>
              </a:solidFill>
              <a:latin typeface="+mn-lt"/>
            </a:endParaRPr>
          </a:p>
        </p:txBody>
      </p:sp>
      <p:sp>
        <p:nvSpPr>
          <p:cNvPr id="22" name="Rectangle 24"/>
          <p:cNvSpPr>
            <a:spLocks noChangeArrowheads="1"/>
          </p:cNvSpPr>
          <p:nvPr/>
        </p:nvSpPr>
        <p:spPr bwMode="auto">
          <a:xfrm>
            <a:off x="4827922" y="3927307"/>
            <a:ext cx="990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x-none">
                <a:latin typeface="+mn-lt"/>
              </a:rPr>
              <a:t>run</a:t>
            </a:r>
          </a:p>
        </p:txBody>
      </p:sp>
      <p:sp>
        <p:nvSpPr>
          <p:cNvPr id="23" name="Line 25"/>
          <p:cNvSpPr>
            <a:spLocks noChangeShapeType="1"/>
          </p:cNvSpPr>
          <p:nvPr/>
        </p:nvSpPr>
        <p:spPr bwMode="auto">
          <a:xfrm flipH="1">
            <a:off x="4904122" y="3927307"/>
            <a:ext cx="838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24" name="Rectangle 26"/>
          <p:cNvSpPr>
            <a:spLocks noChangeArrowheads="1"/>
          </p:cNvSpPr>
          <p:nvPr/>
        </p:nvSpPr>
        <p:spPr bwMode="auto">
          <a:xfrm>
            <a:off x="5970922" y="3317707"/>
            <a:ext cx="990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x-none">
                <a:latin typeface="+mn-lt"/>
              </a:rPr>
              <a:t>3</a:t>
            </a:r>
          </a:p>
        </p:txBody>
      </p:sp>
      <p:sp>
        <p:nvSpPr>
          <p:cNvPr id="25" name="Rectangle 27"/>
          <p:cNvSpPr>
            <a:spLocks noChangeArrowheads="1"/>
          </p:cNvSpPr>
          <p:nvPr/>
        </p:nvSpPr>
        <p:spPr bwMode="auto">
          <a:xfrm>
            <a:off x="5970922" y="3927307"/>
            <a:ext cx="990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x-none">
                <a:latin typeface="+mn-lt"/>
              </a:rPr>
              <a:t>6</a:t>
            </a:r>
          </a:p>
        </p:txBody>
      </p:sp>
      <p:sp>
        <p:nvSpPr>
          <p:cNvPr id="26" name="Line 29"/>
          <p:cNvSpPr>
            <a:spLocks noChangeShapeType="1"/>
          </p:cNvSpPr>
          <p:nvPr/>
        </p:nvSpPr>
        <p:spPr bwMode="auto">
          <a:xfrm flipH="1">
            <a:off x="6275722" y="3927307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400"/>
          </a:p>
        </p:txBody>
      </p:sp>
      <p:sp>
        <p:nvSpPr>
          <p:cNvPr id="27" name="Rectangle 30"/>
          <p:cNvSpPr>
            <a:spLocks noChangeArrowheads="1"/>
          </p:cNvSpPr>
          <p:nvPr/>
        </p:nvSpPr>
        <p:spPr bwMode="auto">
          <a:xfrm>
            <a:off x="5513722" y="3651082"/>
            <a:ext cx="990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x-none">
                <a:latin typeface="+mn-lt"/>
              </a:rPr>
              <a:t>=</a:t>
            </a:r>
          </a:p>
        </p:txBody>
      </p:sp>
      <p:sp>
        <p:nvSpPr>
          <p:cNvPr id="28" name="Rectangle 31"/>
          <p:cNvSpPr>
            <a:spLocks noChangeArrowheads="1"/>
          </p:cNvSpPr>
          <p:nvPr/>
        </p:nvSpPr>
        <p:spPr bwMode="auto">
          <a:xfrm>
            <a:off x="6428122" y="3651082"/>
            <a:ext cx="990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x-none">
                <a:latin typeface="+mn-lt"/>
              </a:rPr>
              <a:t>=</a:t>
            </a:r>
          </a:p>
        </p:txBody>
      </p:sp>
      <p:graphicFrame>
        <p:nvGraphicFramePr>
          <p:cNvPr id="29" name="Object 32"/>
          <p:cNvGraphicFramePr>
            <a:graphicFrameLocks noChangeAspect="1"/>
          </p:cNvGraphicFramePr>
          <p:nvPr>
            <p:extLst/>
          </p:nvPr>
        </p:nvGraphicFramePr>
        <p:xfrm>
          <a:off x="7207585" y="3346282"/>
          <a:ext cx="439737" cy="1131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8" name="Equation" r:id="rId4" imgW="152334" imgH="393529" progId="Equation.DSMT4">
                  <p:embed/>
                </p:oleObj>
              </mc:Choice>
              <mc:Fallback>
                <p:oleObj name="Equation" r:id="rId4" imgW="152334" imgH="393529" progId="Equation.DSMT4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07585" y="3346282"/>
                        <a:ext cx="439737" cy="1131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Rectangle 34"/>
          <p:cNvSpPr>
            <a:spLocks noChangeArrowheads="1"/>
          </p:cNvSpPr>
          <p:nvPr/>
        </p:nvSpPr>
        <p:spPr bwMode="auto">
          <a:xfrm>
            <a:off x="4827922" y="3317707"/>
            <a:ext cx="99060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0487" tIns="44450" rIns="90487" bIns="44450"/>
          <a:lstStyle>
            <a:lvl1pPr marL="342900" indent="-342900"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>
              <a:spcBef>
                <a:spcPct val="20000"/>
              </a:spcBef>
            </a:pPr>
            <a:r>
              <a:rPr lang="en-US" altLang="x-none">
                <a:latin typeface="+mn-lt"/>
              </a:rPr>
              <a:t>rise</a:t>
            </a:r>
          </a:p>
        </p:txBody>
      </p:sp>
      <p:sp>
        <p:nvSpPr>
          <p:cNvPr id="31" name="Text Box 37"/>
          <p:cNvSpPr txBox="1">
            <a:spLocks noChangeArrowheads="1"/>
          </p:cNvSpPr>
          <p:nvPr/>
        </p:nvSpPr>
        <p:spPr bwMode="auto">
          <a:xfrm>
            <a:off x="4827922" y="4994107"/>
            <a:ext cx="4572000" cy="83099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" charset="0"/>
              </a:defRPr>
            </a:lvl9pPr>
          </a:lstStyle>
          <a:p>
            <a:pPr algn="ctr"/>
            <a:r>
              <a:rPr lang="en-US" altLang="x-none">
                <a:latin typeface="+mn-lt"/>
              </a:rPr>
              <a:t>Notice the slope is positive AND the line increases!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-1" y="915525"/>
            <a:ext cx="925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gradient and y-intercepts and how do we </a:t>
            </a:r>
            <a:r>
              <a:rPr lang="en-AU" sz="2400" smtClean="0"/>
              <a:t>measure them?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7940043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15" dur="1" fill="hold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24" dur="1" fill="hold"/>
                                        <p:tgtEl>
                                          <p:spTgt spid="2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3" dur="1" fill="hold"/>
                                        <p:tgtEl>
                                          <p:spTgt spid="2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3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36" dur="1" fill="hold"/>
                                        <p:tgtEl>
                                          <p:spTgt spid="2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24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3" dur="1" fill="hold"/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44" presetID="24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to="" calcmode="lin" valueType="num">
                                      <p:cBhvr>
                                        <p:cTn id="46" dur="1" fill="hold"/>
                                        <p:tgtEl>
                                          <p:spTgt spid="2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/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6" grpId="0" animBg="1"/>
      <p:bldP spid="17" grpId="0" animBg="1"/>
      <p:bldP spid="18" grpId="0"/>
      <p:bldP spid="19" grpId="0"/>
      <p:bldP spid="22" grpId="0" build="p" autoUpdateAnimBg="0"/>
      <p:bldP spid="23" grpId="0" animBg="1"/>
      <p:bldP spid="24" grpId="0" build="p" autoUpdateAnimBg="0"/>
      <p:bldP spid="25" grpId="0" build="p" autoUpdateAnimBg="0"/>
      <p:bldP spid="26" grpId="0" animBg="1"/>
      <p:bldP spid="30" grpId="0" build="p" autoUpdateAnimBg="0"/>
      <p:bldP spid="3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1248437" y="1449135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-1" y="915525"/>
            <a:ext cx="925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gradient and y-intercepts and how do we </a:t>
            </a:r>
            <a:r>
              <a:rPr lang="en-AU" sz="2400" smtClean="0"/>
              <a:t>measure them?</a:t>
            </a:r>
            <a:endParaRPr lang="en-AU" sz="2400" dirty="0"/>
          </a:p>
        </p:txBody>
      </p:sp>
      <p:grpSp>
        <p:nvGrpSpPr>
          <p:cNvPr id="14" name="Group 692"/>
          <p:cNvGrpSpPr>
            <a:grpSpLocks/>
          </p:cNvGrpSpPr>
          <p:nvPr/>
        </p:nvGrpSpPr>
        <p:grpSpPr bwMode="auto">
          <a:xfrm>
            <a:off x="1417639" y="3004501"/>
            <a:ext cx="2355850" cy="2200275"/>
            <a:chOff x="-339213" y="1628750"/>
            <a:chExt cx="2354933" cy="2200360"/>
          </a:xfrm>
        </p:grpSpPr>
        <p:sp>
          <p:nvSpPr>
            <p:cNvPr id="15" name="Rectangle 14"/>
            <p:cNvSpPr>
              <a:spLocks noChangeAspect="1"/>
            </p:cNvSpPr>
            <p:nvPr/>
          </p:nvSpPr>
          <p:spPr bwMode="auto">
            <a:xfrm>
              <a:off x="1009637" y="2922612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" name="Rectangle 15"/>
            <p:cNvSpPr>
              <a:spLocks noChangeAspect="1"/>
            </p:cNvSpPr>
            <p:nvPr/>
          </p:nvSpPr>
          <p:spPr bwMode="auto">
            <a:xfrm>
              <a:off x="1369858" y="2922612"/>
              <a:ext cx="358635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" name="Rectangle 16"/>
            <p:cNvSpPr>
              <a:spLocks noChangeAspect="1"/>
            </p:cNvSpPr>
            <p:nvPr/>
          </p:nvSpPr>
          <p:spPr bwMode="auto">
            <a:xfrm>
              <a:off x="1009637" y="2563823"/>
              <a:ext cx="360222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" name="Rectangle 17"/>
            <p:cNvSpPr>
              <a:spLocks noChangeAspect="1"/>
            </p:cNvSpPr>
            <p:nvPr/>
          </p:nvSpPr>
          <p:spPr bwMode="auto">
            <a:xfrm>
              <a:off x="1369858" y="2563823"/>
              <a:ext cx="358635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" name="Rectangle 18"/>
            <p:cNvSpPr>
              <a:spLocks noChangeAspect="1"/>
            </p:cNvSpPr>
            <p:nvPr/>
          </p:nvSpPr>
          <p:spPr bwMode="auto">
            <a:xfrm>
              <a:off x="1009637" y="2203447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" name="Rectangle 19"/>
            <p:cNvSpPr>
              <a:spLocks noChangeAspect="1"/>
            </p:cNvSpPr>
            <p:nvPr/>
          </p:nvSpPr>
          <p:spPr bwMode="auto">
            <a:xfrm>
              <a:off x="1369858" y="2203447"/>
              <a:ext cx="358635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" name="Rectangle 20"/>
            <p:cNvSpPr>
              <a:spLocks noChangeAspect="1"/>
            </p:cNvSpPr>
            <p:nvPr/>
          </p:nvSpPr>
          <p:spPr bwMode="auto">
            <a:xfrm>
              <a:off x="1009637" y="1843070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" name="Rectangle 21"/>
            <p:cNvSpPr>
              <a:spLocks noChangeAspect="1"/>
            </p:cNvSpPr>
            <p:nvPr/>
          </p:nvSpPr>
          <p:spPr bwMode="auto">
            <a:xfrm>
              <a:off x="1369858" y="1843070"/>
              <a:ext cx="358635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3" name="Rectangle 22"/>
            <p:cNvSpPr>
              <a:spLocks noChangeAspect="1"/>
            </p:cNvSpPr>
            <p:nvPr/>
          </p:nvSpPr>
          <p:spPr bwMode="auto">
            <a:xfrm>
              <a:off x="-72617" y="2209797"/>
              <a:ext cx="360222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4" name="Rectangle 23"/>
            <p:cNvSpPr>
              <a:spLocks noChangeAspect="1"/>
            </p:cNvSpPr>
            <p:nvPr/>
          </p:nvSpPr>
          <p:spPr bwMode="auto">
            <a:xfrm>
              <a:off x="287605" y="2209797"/>
              <a:ext cx="360223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5" name="Rectangle 24"/>
            <p:cNvSpPr>
              <a:spLocks noChangeAspect="1"/>
            </p:cNvSpPr>
            <p:nvPr/>
          </p:nvSpPr>
          <p:spPr bwMode="auto">
            <a:xfrm>
              <a:off x="-72617" y="1849421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" name="Rectangle 25"/>
            <p:cNvSpPr>
              <a:spLocks noChangeAspect="1"/>
            </p:cNvSpPr>
            <p:nvPr/>
          </p:nvSpPr>
          <p:spPr bwMode="auto">
            <a:xfrm>
              <a:off x="287605" y="1849421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" name="Rectangle 26"/>
            <p:cNvSpPr>
              <a:spLocks noChangeAspect="1"/>
            </p:cNvSpPr>
            <p:nvPr/>
          </p:nvSpPr>
          <p:spPr bwMode="auto">
            <a:xfrm>
              <a:off x="-72617" y="2928962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" name="Rectangle 27"/>
            <p:cNvSpPr>
              <a:spLocks noChangeAspect="1"/>
            </p:cNvSpPr>
            <p:nvPr/>
          </p:nvSpPr>
          <p:spPr bwMode="auto">
            <a:xfrm>
              <a:off x="287605" y="2928962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" name="Rectangle 28"/>
            <p:cNvSpPr>
              <a:spLocks noChangeAspect="1"/>
            </p:cNvSpPr>
            <p:nvPr/>
          </p:nvSpPr>
          <p:spPr bwMode="auto">
            <a:xfrm>
              <a:off x="-72617" y="2568586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" name="Rectangle 29"/>
            <p:cNvSpPr>
              <a:spLocks noChangeAspect="1"/>
            </p:cNvSpPr>
            <p:nvPr/>
          </p:nvSpPr>
          <p:spPr bwMode="auto">
            <a:xfrm>
              <a:off x="287605" y="2568586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" name="Rectangle 30"/>
            <p:cNvSpPr>
              <a:spLocks noChangeAspect="1"/>
            </p:cNvSpPr>
            <p:nvPr/>
          </p:nvSpPr>
          <p:spPr bwMode="auto">
            <a:xfrm>
              <a:off x="649414" y="2922612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" name="Rectangle 31"/>
            <p:cNvSpPr>
              <a:spLocks noChangeAspect="1"/>
            </p:cNvSpPr>
            <p:nvPr/>
          </p:nvSpPr>
          <p:spPr bwMode="auto">
            <a:xfrm>
              <a:off x="649414" y="2563823"/>
              <a:ext cx="360223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" name="Rectangle 32"/>
            <p:cNvSpPr>
              <a:spLocks noChangeAspect="1"/>
            </p:cNvSpPr>
            <p:nvPr/>
          </p:nvSpPr>
          <p:spPr bwMode="auto">
            <a:xfrm>
              <a:off x="649414" y="2203447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4" name="Rectangle 33"/>
            <p:cNvSpPr>
              <a:spLocks noChangeAspect="1"/>
            </p:cNvSpPr>
            <p:nvPr/>
          </p:nvSpPr>
          <p:spPr bwMode="auto">
            <a:xfrm>
              <a:off x="649414" y="1843070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5" name="Rectangle 34"/>
            <p:cNvSpPr>
              <a:spLocks noChangeAspect="1"/>
            </p:cNvSpPr>
            <p:nvPr/>
          </p:nvSpPr>
          <p:spPr bwMode="auto">
            <a:xfrm>
              <a:off x="1009637" y="3282989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6" name="Rectangle 35"/>
            <p:cNvSpPr>
              <a:spLocks noChangeAspect="1"/>
            </p:cNvSpPr>
            <p:nvPr/>
          </p:nvSpPr>
          <p:spPr bwMode="auto">
            <a:xfrm>
              <a:off x="1369858" y="3282989"/>
              <a:ext cx="358635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7" name="Rectangle 36"/>
            <p:cNvSpPr>
              <a:spLocks noChangeAspect="1"/>
            </p:cNvSpPr>
            <p:nvPr/>
          </p:nvSpPr>
          <p:spPr bwMode="auto">
            <a:xfrm>
              <a:off x="-72617" y="3289339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8" name="Rectangle 37"/>
            <p:cNvSpPr>
              <a:spLocks noChangeAspect="1"/>
            </p:cNvSpPr>
            <p:nvPr/>
          </p:nvSpPr>
          <p:spPr bwMode="auto">
            <a:xfrm>
              <a:off x="287605" y="3289339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9" name="Rectangle 38"/>
            <p:cNvSpPr>
              <a:spLocks noChangeAspect="1"/>
            </p:cNvSpPr>
            <p:nvPr/>
          </p:nvSpPr>
          <p:spPr bwMode="auto">
            <a:xfrm>
              <a:off x="649414" y="3282989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40" name="Straight Arrow Connector 39"/>
            <p:cNvCxnSpPr/>
            <p:nvPr/>
          </p:nvCxnSpPr>
          <p:spPr>
            <a:xfrm rot="5400000" flipH="1" flipV="1">
              <a:off x="-359481" y="2636058"/>
              <a:ext cx="2016203" cy="1586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flipV="1">
              <a:off x="-72617" y="2922612"/>
              <a:ext cx="2088337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 rot="16200000" flipV="1">
              <a:off x="558169" y="1751825"/>
              <a:ext cx="0" cy="1824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/>
            <p:cNvCxnSpPr/>
            <p:nvPr/>
          </p:nvCxnSpPr>
          <p:spPr>
            <a:xfrm rot="16200000" flipV="1">
              <a:off x="558169" y="2113789"/>
              <a:ext cx="0" cy="1824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/>
            <p:cNvCxnSpPr/>
            <p:nvPr/>
          </p:nvCxnSpPr>
          <p:spPr>
            <a:xfrm rot="16200000" flipV="1">
              <a:off x="558169" y="2472578"/>
              <a:ext cx="0" cy="1824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/>
            <p:cNvCxnSpPr/>
            <p:nvPr/>
          </p:nvCxnSpPr>
          <p:spPr>
            <a:xfrm rot="16200000" flipV="1">
              <a:off x="558169" y="2831367"/>
              <a:ext cx="0" cy="1824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/>
            <p:cNvCxnSpPr/>
            <p:nvPr/>
          </p:nvCxnSpPr>
          <p:spPr>
            <a:xfrm rot="16200000" flipV="1">
              <a:off x="558169" y="3191743"/>
              <a:ext cx="0" cy="1824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/>
            <p:cNvCxnSpPr/>
            <p:nvPr/>
          </p:nvCxnSpPr>
          <p:spPr>
            <a:xfrm rot="16200000" flipV="1">
              <a:off x="558169" y="3552119"/>
              <a:ext cx="0" cy="182491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8" name="TextBox 668"/>
            <p:cNvSpPr txBox="1">
              <a:spLocks noChangeArrowheads="1"/>
            </p:cNvSpPr>
            <p:nvPr/>
          </p:nvSpPr>
          <p:spPr bwMode="auto">
            <a:xfrm>
              <a:off x="35370" y="342900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49" name="TextBox 669"/>
            <p:cNvSpPr txBox="1">
              <a:spLocks noChangeArrowheads="1"/>
            </p:cNvSpPr>
            <p:nvPr/>
          </p:nvSpPr>
          <p:spPr bwMode="auto">
            <a:xfrm>
              <a:off x="35370" y="30689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50" name="TextBox 672"/>
            <p:cNvSpPr txBox="1">
              <a:spLocks noChangeArrowheads="1"/>
            </p:cNvSpPr>
            <p:nvPr/>
          </p:nvSpPr>
          <p:spPr bwMode="auto">
            <a:xfrm>
              <a:off x="35370" y="23488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51" name="TextBox 673"/>
            <p:cNvSpPr txBox="1">
              <a:spLocks noChangeArrowheads="1"/>
            </p:cNvSpPr>
            <p:nvPr/>
          </p:nvSpPr>
          <p:spPr bwMode="auto">
            <a:xfrm>
              <a:off x="35370" y="198880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52" name="TextBox 674"/>
            <p:cNvSpPr txBox="1">
              <a:spLocks noChangeArrowheads="1"/>
            </p:cNvSpPr>
            <p:nvPr/>
          </p:nvSpPr>
          <p:spPr bwMode="auto">
            <a:xfrm>
              <a:off x="35370" y="16287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53" name="Straight Connector 52"/>
            <p:cNvCxnSpPr/>
            <p:nvPr/>
          </p:nvCxnSpPr>
          <p:spPr>
            <a:xfrm rot="5400000" flipH="1" flipV="1">
              <a:off x="184418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Connector 53"/>
            <p:cNvCxnSpPr/>
            <p:nvPr/>
          </p:nvCxnSpPr>
          <p:spPr>
            <a:xfrm rot="5400000" flipH="1" flipV="1">
              <a:off x="543054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Connector 54"/>
            <p:cNvCxnSpPr/>
            <p:nvPr/>
          </p:nvCxnSpPr>
          <p:spPr>
            <a:xfrm rot="5400000" flipH="1" flipV="1">
              <a:off x="901689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 rot="5400000" flipH="1" flipV="1">
              <a:off x="1261912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Connector 56"/>
            <p:cNvCxnSpPr/>
            <p:nvPr/>
          </p:nvCxnSpPr>
          <p:spPr>
            <a:xfrm rot="5400000" flipH="1" flipV="1">
              <a:off x="1623721" y="3005166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8" name="TextBox 685"/>
            <p:cNvSpPr txBox="1">
              <a:spLocks noChangeArrowheads="1"/>
            </p:cNvSpPr>
            <p:nvPr/>
          </p:nvSpPr>
          <p:spPr bwMode="auto">
            <a:xfrm>
              <a:off x="-339213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59" name="TextBox 686"/>
            <p:cNvSpPr txBox="1">
              <a:spLocks noChangeArrowheads="1"/>
            </p:cNvSpPr>
            <p:nvPr/>
          </p:nvSpPr>
          <p:spPr bwMode="auto">
            <a:xfrm>
              <a:off x="4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60" name="TextBox 687"/>
            <p:cNvSpPr txBox="1">
              <a:spLocks noChangeArrowheads="1"/>
            </p:cNvSpPr>
            <p:nvPr/>
          </p:nvSpPr>
          <p:spPr bwMode="auto">
            <a:xfrm>
              <a:off x="40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endParaRPr lang="en-US" altLang="x-none" sz="2000">
                <a:solidFill>
                  <a:schemeClr val="tx1"/>
                </a:solidFill>
              </a:endParaRPr>
            </a:p>
          </p:txBody>
        </p:sp>
        <p:sp>
          <p:nvSpPr>
            <p:cNvPr id="61" name="TextBox 688"/>
            <p:cNvSpPr txBox="1">
              <a:spLocks noChangeArrowheads="1"/>
            </p:cNvSpPr>
            <p:nvPr/>
          </p:nvSpPr>
          <p:spPr bwMode="auto">
            <a:xfrm>
              <a:off x="76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62" name="TextBox 689"/>
            <p:cNvSpPr txBox="1">
              <a:spLocks noChangeArrowheads="1"/>
            </p:cNvSpPr>
            <p:nvPr/>
          </p:nvSpPr>
          <p:spPr bwMode="auto">
            <a:xfrm>
              <a:off x="1119260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63" name="TextBox 690"/>
            <p:cNvSpPr txBox="1">
              <a:spLocks noChangeArrowheads="1"/>
            </p:cNvSpPr>
            <p:nvPr/>
          </p:nvSpPr>
          <p:spPr bwMode="auto">
            <a:xfrm>
              <a:off x="1460987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64" name="Straight Connector 63"/>
            <p:cNvCxnSpPr/>
            <p:nvPr/>
          </p:nvCxnSpPr>
          <p:spPr>
            <a:xfrm rot="5400000" flipH="1" flipV="1">
              <a:off x="-177391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65" name="Straight Connector 64"/>
          <p:cNvCxnSpPr/>
          <p:nvPr/>
        </p:nvCxnSpPr>
        <p:spPr>
          <a:xfrm rot="5400000" flipH="1" flipV="1">
            <a:off x="1367633" y="3016407"/>
            <a:ext cx="1630362" cy="16065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TextBox 65"/>
          <p:cNvSpPr txBox="1"/>
          <p:nvPr/>
        </p:nvSpPr>
        <p:spPr>
          <a:xfrm>
            <a:off x="1865314" y="5422263"/>
            <a:ext cx="1460500" cy="6461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 sz="3600" dirty="0">
                <a:solidFill>
                  <a:schemeClr val="tx1"/>
                </a:solidFill>
              </a:rPr>
              <a:t>c = 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4476751" y="5422263"/>
            <a:ext cx="1458913" cy="6461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 sz="3600" dirty="0">
                <a:solidFill>
                  <a:schemeClr val="tx1"/>
                </a:solidFill>
              </a:rPr>
              <a:t>c = 0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7456489" y="5422263"/>
            <a:ext cx="1460500" cy="646113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>
            <a:spAutoFit/>
          </a:bodyPr>
          <a:lstStyle/>
          <a:p>
            <a:pPr>
              <a:defRPr/>
            </a:pPr>
            <a:r>
              <a:rPr lang="en-GB" sz="3600" dirty="0">
                <a:solidFill>
                  <a:schemeClr val="tx1"/>
                </a:solidFill>
              </a:rPr>
              <a:t>c = -1 </a:t>
            </a:r>
          </a:p>
        </p:txBody>
      </p:sp>
      <p:grpSp>
        <p:nvGrpSpPr>
          <p:cNvPr id="69" name="Group 692"/>
          <p:cNvGrpSpPr>
            <a:grpSpLocks/>
          </p:cNvGrpSpPr>
          <p:nvPr/>
        </p:nvGrpSpPr>
        <p:grpSpPr bwMode="auto">
          <a:xfrm>
            <a:off x="3994151" y="2972751"/>
            <a:ext cx="2355850" cy="2200275"/>
            <a:chOff x="-339213" y="1628750"/>
            <a:chExt cx="2354933" cy="2200360"/>
          </a:xfrm>
        </p:grpSpPr>
        <p:sp>
          <p:nvSpPr>
            <p:cNvPr id="70" name="Rectangle 69"/>
            <p:cNvSpPr>
              <a:spLocks noChangeAspect="1"/>
            </p:cNvSpPr>
            <p:nvPr/>
          </p:nvSpPr>
          <p:spPr bwMode="auto">
            <a:xfrm>
              <a:off x="1009637" y="2922612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1" name="Rectangle 70"/>
            <p:cNvSpPr>
              <a:spLocks noChangeAspect="1"/>
            </p:cNvSpPr>
            <p:nvPr/>
          </p:nvSpPr>
          <p:spPr bwMode="auto">
            <a:xfrm>
              <a:off x="1369859" y="2922612"/>
              <a:ext cx="358635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2" name="Rectangle 71"/>
            <p:cNvSpPr>
              <a:spLocks noChangeAspect="1"/>
            </p:cNvSpPr>
            <p:nvPr/>
          </p:nvSpPr>
          <p:spPr bwMode="auto">
            <a:xfrm>
              <a:off x="1009637" y="2563823"/>
              <a:ext cx="360223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3" name="Rectangle 72"/>
            <p:cNvSpPr>
              <a:spLocks noChangeAspect="1"/>
            </p:cNvSpPr>
            <p:nvPr/>
          </p:nvSpPr>
          <p:spPr bwMode="auto">
            <a:xfrm>
              <a:off x="1369859" y="2563823"/>
              <a:ext cx="358635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4" name="Rectangle 73"/>
            <p:cNvSpPr>
              <a:spLocks noChangeAspect="1"/>
            </p:cNvSpPr>
            <p:nvPr/>
          </p:nvSpPr>
          <p:spPr bwMode="auto">
            <a:xfrm>
              <a:off x="1009637" y="2203447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5" name="Rectangle 74"/>
            <p:cNvSpPr>
              <a:spLocks noChangeAspect="1"/>
            </p:cNvSpPr>
            <p:nvPr/>
          </p:nvSpPr>
          <p:spPr bwMode="auto">
            <a:xfrm>
              <a:off x="1369859" y="2203447"/>
              <a:ext cx="358635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6" name="Rectangle 75"/>
            <p:cNvSpPr>
              <a:spLocks noChangeAspect="1"/>
            </p:cNvSpPr>
            <p:nvPr/>
          </p:nvSpPr>
          <p:spPr bwMode="auto">
            <a:xfrm>
              <a:off x="1009637" y="1843070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7" name="Rectangle 76"/>
            <p:cNvSpPr>
              <a:spLocks noChangeAspect="1"/>
            </p:cNvSpPr>
            <p:nvPr/>
          </p:nvSpPr>
          <p:spPr bwMode="auto">
            <a:xfrm>
              <a:off x="1369859" y="1843070"/>
              <a:ext cx="358635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8" name="Rectangle 77"/>
            <p:cNvSpPr>
              <a:spLocks noChangeAspect="1"/>
            </p:cNvSpPr>
            <p:nvPr/>
          </p:nvSpPr>
          <p:spPr bwMode="auto">
            <a:xfrm>
              <a:off x="-72617" y="2209797"/>
              <a:ext cx="360223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79" name="Rectangle 78"/>
            <p:cNvSpPr>
              <a:spLocks noChangeAspect="1"/>
            </p:cNvSpPr>
            <p:nvPr/>
          </p:nvSpPr>
          <p:spPr bwMode="auto">
            <a:xfrm>
              <a:off x="287606" y="2209797"/>
              <a:ext cx="360222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0" name="Rectangle 79"/>
            <p:cNvSpPr>
              <a:spLocks noChangeAspect="1"/>
            </p:cNvSpPr>
            <p:nvPr/>
          </p:nvSpPr>
          <p:spPr bwMode="auto">
            <a:xfrm>
              <a:off x="-72617" y="1849421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1" name="Rectangle 80"/>
            <p:cNvSpPr>
              <a:spLocks noChangeAspect="1"/>
            </p:cNvSpPr>
            <p:nvPr/>
          </p:nvSpPr>
          <p:spPr bwMode="auto">
            <a:xfrm>
              <a:off x="287606" y="1849421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2" name="Rectangle 81"/>
            <p:cNvSpPr>
              <a:spLocks noChangeAspect="1"/>
            </p:cNvSpPr>
            <p:nvPr/>
          </p:nvSpPr>
          <p:spPr bwMode="auto">
            <a:xfrm>
              <a:off x="-72617" y="2928962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3" name="Rectangle 82"/>
            <p:cNvSpPr>
              <a:spLocks noChangeAspect="1"/>
            </p:cNvSpPr>
            <p:nvPr/>
          </p:nvSpPr>
          <p:spPr bwMode="auto">
            <a:xfrm>
              <a:off x="287606" y="2928962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4" name="Rectangle 83"/>
            <p:cNvSpPr>
              <a:spLocks noChangeAspect="1"/>
            </p:cNvSpPr>
            <p:nvPr/>
          </p:nvSpPr>
          <p:spPr bwMode="auto">
            <a:xfrm>
              <a:off x="-72617" y="2568586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5" name="Rectangle 84"/>
            <p:cNvSpPr>
              <a:spLocks noChangeAspect="1"/>
            </p:cNvSpPr>
            <p:nvPr/>
          </p:nvSpPr>
          <p:spPr bwMode="auto">
            <a:xfrm>
              <a:off x="287606" y="2568586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6" name="Rectangle 85"/>
            <p:cNvSpPr>
              <a:spLocks noChangeAspect="1"/>
            </p:cNvSpPr>
            <p:nvPr/>
          </p:nvSpPr>
          <p:spPr bwMode="auto">
            <a:xfrm>
              <a:off x="649415" y="2922612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7" name="Rectangle 86"/>
            <p:cNvSpPr>
              <a:spLocks noChangeAspect="1"/>
            </p:cNvSpPr>
            <p:nvPr/>
          </p:nvSpPr>
          <p:spPr bwMode="auto">
            <a:xfrm>
              <a:off x="649415" y="2563823"/>
              <a:ext cx="360222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8" name="Rectangle 87"/>
            <p:cNvSpPr>
              <a:spLocks noChangeAspect="1"/>
            </p:cNvSpPr>
            <p:nvPr/>
          </p:nvSpPr>
          <p:spPr bwMode="auto">
            <a:xfrm>
              <a:off x="649415" y="2203447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89" name="Rectangle 88"/>
            <p:cNvSpPr>
              <a:spLocks noChangeAspect="1"/>
            </p:cNvSpPr>
            <p:nvPr/>
          </p:nvSpPr>
          <p:spPr bwMode="auto">
            <a:xfrm>
              <a:off x="649415" y="1843070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0" name="Rectangle 89"/>
            <p:cNvSpPr>
              <a:spLocks noChangeAspect="1"/>
            </p:cNvSpPr>
            <p:nvPr/>
          </p:nvSpPr>
          <p:spPr bwMode="auto">
            <a:xfrm>
              <a:off x="1009637" y="3282989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1" name="Rectangle 90"/>
            <p:cNvSpPr>
              <a:spLocks noChangeAspect="1"/>
            </p:cNvSpPr>
            <p:nvPr/>
          </p:nvSpPr>
          <p:spPr bwMode="auto">
            <a:xfrm>
              <a:off x="1369859" y="3282989"/>
              <a:ext cx="358635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2" name="Rectangle 91"/>
            <p:cNvSpPr>
              <a:spLocks noChangeAspect="1"/>
            </p:cNvSpPr>
            <p:nvPr/>
          </p:nvSpPr>
          <p:spPr bwMode="auto">
            <a:xfrm>
              <a:off x="-72617" y="3289339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3" name="Rectangle 92"/>
            <p:cNvSpPr>
              <a:spLocks noChangeAspect="1"/>
            </p:cNvSpPr>
            <p:nvPr/>
          </p:nvSpPr>
          <p:spPr bwMode="auto">
            <a:xfrm>
              <a:off x="287606" y="3289339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94" name="Rectangle 93"/>
            <p:cNvSpPr>
              <a:spLocks noChangeAspect="1"/>
            </p:cNvSpPr>
            <p:nvPr/>
          </p:nvSpPr>
          <p:spPr bwMode="auto">
            <a:xfrm>
              <a:off x="649415" y="3282989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95" name="Straight Arrow Connector 94"/>
            <p:cNvCxnSpPr/>
            <p:nvPr/>
          </p:nvCxnSpPr>
          <p:spPr>
            <a:xfrm rot="5400000" flipH="1" flipV="1">
              <a:off x="-359481" y="2636058"/>
              <a:ext cx="2016203" cy="15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 flipV="1">
              <a:off x="-72617" y="2922612"/>
              <a:ext cx="2088337" cy="1588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Connector 96"/>
            <p:cNvCxnSpPr/>
            <p:nvPr/>
          </p:nvCxnSpPr>
          <p:spPr>
            <a:xfrm rot="16200000" flipV="1">
              <a:off x="558170" y="1751824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Straight Connector 97"/>
            <p:cNvCxnSpPr/>
            <p:nvPr/>
          </p:nvCxnSpPr>
          <p:spPr>
            <a:xfrm rot="16200000" flipV="1">
              <a:off x="558170" y="2113788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Straight Connector 98"/>
            <p:cNvCxnSpPr/>
            <p:nvPr/>
          </p:nvCxnSpPr>
          <p:spPr>
            <a:xfrm rot="16200000" flipV="1">
              <a:off x="558170" y="2472577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16200000" flipV="1">
              <a:off x="558170" y="2831366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Connector 100"/>
            <p:cNvCxnSpPr/>
            <p:nvPr/>
          </p:nvCxnSpPr>
          <p:spPr>
            <a:xfrm rot="16200000" flipV="1">
              <a:off x="558170" y="3191742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Connector 101"/>
            <p:cNvCxnSpPr/>
            <p:nvPr/>
          </p:nvCxnSpPr>
          <p:spPr>
            <a:xfrm rot="16200000" flipV="1">
              <a:off x="558170" y="3552118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3" name="TextBox 206"/>
            <p:cNvSpPr txBox="1">
              <a:spLocks noChangeArrowheads="1"/>
            </p:cNvSpPr>
            <p:nvPr/>
          </p:nvSpPr>
          <p:spPr bwMode="auto">
            <a:xfrm>
              <a:off x="35370" y="342900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104" name="TextBox 207"/>
            <p:cNvSpPr txBox="1">
              <a:spLocks noChangeArrowheads="1"/>
            </p:cNvSpPr>
            <p:nvPr/>
          </p:nvSpPr>
          <p:spPr bwMode="auto">
            <a:xfrm>
              <a:off x="35370" y="30689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105" name="TextBox 208"/>
            <p:cNvSpPr txBox="1">
              <a:spLocks noChangeArrowheads="1"/>
            </p:cNvSpPr>
            <p:nvPr/>
          </p:nvSpPr>
          <p:spPr bwMode="auto">
            <a:xfrm>
              <a:off x="35370" y="23488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06" name="TextBox 209"/>
            <p:cNvSpPr txBox="1">
              <a:spLocks noChangeArrowheads="1"/>
            </p:cNvSpPr>
            <p:nvPr/>
          </p:nvSpPr>
          <p:spPr bwMode="auto">
            <a:xfrm>
              <a:off x="35370" y="198880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07" name="TextBox 210"/>
            <p:cNvSpPr txBox="1">
              <a:spLocks noChangeArrowheads="1"/>
            </p:cNvSpPr>
            <p:nvPr/>
          </p:nvSpPr>
          <p:spPr bwMode="auto">
            <a:xfrm>
              <a:off x="35370" y="16287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08" name="Straight Connector 107"/>
            <p:cNvCxnSpPr/>
            <p:nvPr/>
          </p:nvCxnSpPr>
          <p:spPr>
            <a:xfrm rot="5400000" flipH="1" flipV="1">
              <a:off x="184419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>
            <a:xfrm rot="5400000" flipH="1" flipV="1">
              <a:off x="543055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>
            <a:xfrm rot="5400000" flipH="1" flipV="1">
              <a:off x="901690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>
            <a:xfrm rot="5400000" flipH="1" flipV="1">
              <a:off x="1261912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>
            <a:xfrm rot="5400000" flipH="1" flipV="1">
              <a:off x="1623721" y="3005166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3" name="TextBox 216"/>
            <p:cNvSpPr txBox="1">
              <a:spLocks noChangeArrowheads="1"/>
            </p:cNvSpPr>
            <p:nvPr/>
          </p:nvSpPr>
          <p:spPr bwMode="auto">
            <a:xfrm>
              <a:off x="-339213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114" name="TextBox 217"/>
            <p:cNvSpPr txBox="1">
              <a:spLocks noChangeArrowheads="1"/>
            </p:cNvSpPr>
            <p:nvPr/>
          </p:nvSpPr>
          <p:spPr bwMode="auto">
            <a:xfrm>
              <a:off x="4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115" name="TextBox 218"/>
            <p:cNvSpPr txBox="1">
              <a:spLocks noChangeArrowheads="1"/>
            </p:cNvSpPr>
            <p:nvPr/>
          </p:nvSpPr>
          <p:spPr bwMode="auto">
            <a:xfrm>
              <a:off x="40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endParaRPr lang="en-US" altLang="x-none" sz="2000">
                <a:solidFill>
                  <a:schemeClr val="tx1"/>
                </a:solidFill>
              </a:endParaRPr>
            </a:p>
          </p:txBody>
        </p:sp>
        <p:sp>
          <p:nvSpPr>
            <p:cNvPr id="116" name="TextBox 219"/>
            <p:cNvSpPr txBox="1">
              <a:spLocks noChangeArrowheads="1"/>
            </p:cNvSpPr>
            <p:nvPr/>
          </p:nvSpPr>
          <p:spPr bwMode="auto">
            <a:xfrm>
              <a:off x="76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17" name="TextBox 220"/>
            <p:cNvSpPr txBox="1">
              <a:spLocks noChangeArrowheads="1"/>
            </p:cNvSpPr>
            <p:nvPr/>
          </p:nvSpPr>
          <p:spPr bwMode="auto">
            <a:xfrm>
              <a:off x="1119260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18" name="TextBox 221"/>
            <p:cNvSpPr txBox="1">
              <a:spLocks noChangeArrowheads="1"/>
            </p:cNvSpPr>
            <p:nvPr/>
          </p:nvSpPr>
          <p:spPr bwMode="auto">
            <a:xfrm>
              <a:off x="1460987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19" name="Straight Connector 118"/>
            <p:cNvCxnSpPr/>
            <p:nvPr/>
          </p:nvCxnSpPr>
          <p:spPr>
            <a:xfrm rot="5400000" flipH="1" flipV="1">
              <a:off x="-177390" y="3006753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0" name="Straight Connector 119"/>
          <p:cNvCxnSpPr/>
          <p:nvPr/>
        </p:nvCxnSpPr>
        <p:spPr>
          <a:xfrm flipV="1">
            <a:off x="4246564" y="3728401"/>
            <a:ext cx="1816100" cy="9048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1" name="Group 692"/>
          <p:cNvGrpSpPr>
            <a:grpSpLocks/>
          </p:cNvGrpSpPr>
          <p:nvPr/>
        </p:nvGrpSpPr>
        <p:grpSpPr bwMode="auto">
          <a:xfrm>
            <a:off x="6902451" y="2971163"/>
            <a:ext cx="2355850" cy="2200275"/>
            <a:chOff x="-339213" y="1628750"/>
            <a:chExt cx="2354933" cy="2200360"/>
          </a:xfrm>
        </p:grpSpPr>
        <p:sp>
          <p:nvSpPr>
            <p:cNvPr id="122" name="Rectangle 121"/>
            <p:cNvSpPr>
              <a:spLocks noChangeAspect="1"/>
            </p:cNvSpPr>
            <p:nvPr/>
          </p:nvSpPr>
          <p:spPr bwMode="auto">
            <a:xfrm>
              <a:off x="1009637" y="2922613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23" name="Rectangle 122"/>
            <p:cNvSpPr>
              <a:spLocks noChangeAspect="1"/>
            </p:cNvSpPr>
            <p:nvPr/>
          </p:nvSpPr>
          <p:spPr bwMode="auto">
            <a:xfrm>
              <a:off x="1369859" y="2922613"/>
              <a:ext cx="358635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24" name="Rectangle 123"/>
            <p:cNvSpPr>
              <a:spLocks noChangeAspect="1"/>
            </p:cNvSpPr>
            <p:nvPr/>
          </p:nvSpPr>
          <p:spPr bwMode="auto">
            <a:xfrm>
              <a:off x="1009637" y="2563824"/>
              <a:ext cx="360223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25" name="Rectangle 124"/>
            <p:cNvSpPr>
              <a:spLocks noChangeAspect="1"/>
            </p:cNvSpPr>
            <p:nvPr/>
          </p:nvSpPr>
          <p:spPr bwMode="auto">
            <a:xfrm>
              <a:off x="1369859" y="2563824"/>
              <a:ext cx="358635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26" name="Rectangle 125"/>
            <p:cNvSpPr>
              <a:spLocks noChangeAspect="1"/>
            </p:cNvSpPr>
            <p:nvPr/>
          </p:nvSpPr>
          <p:spPr bwMode="auto">
            <a:xfrm>
              <a:off x="1009637" y="2203447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27" name="Rectangle 126"/>
            <p:cNvSpPr>
              <a:spLocks noChangeAspect="1"/>
            </p:cNvSpPr>
            <p:nvPr/>
          </p:nvSpPr>
          <p:spPr bwMode="auto">
            <a:xfrm>
              <a:off x="1369859" y="2203447"/>
              <a:ext cx="358635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28" name="Rectangle 127"/>
            <p:cNvSpPr>
              <a:spLocks noChangeAspect="1"/>
            </p:cNvSpPr>
            <p:nvPr/>
          </p:nvSpPr>
          <p:spPr bwMode="auto">
            <a:xfrm>
              <a:off x="1009637" y="1843071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29" name="Rectangle 128"/>
            <p:cNvSpPr>
              <a:spLocks noChangeAspect="1"/>
            </p:cNvSpPr>
            <p:nvPr/>
          </p:nvSpPr>
          <p:spPr bwMode="auto">
            <a:xfrm>
              <a:off x="1369859" y="1843071"/>
              <a:ext cx="358635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0" name="Rectangle 129"/>
            <p:cNvSpPr>
              <a:spLocks noChangeAspect="1"/>
            </p:cNvSpPr>
            <p:nvPr/>
          </p:nvSpPr>
          <p:spPr bwMode="auto">
            <a:xfrm>
              <a:off x="-72617" y="2209797"/>
              <a:ext cx="360223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1" name="Rectangle 130"/>
            <p:cNvSpPr>
              <a:spLocks noChangeAspect="1"/>
            </p:cNvSpPr>
            <p:nvPr/>
          </p:nvSpPr>
          <p:spPr bwMode="auto">
            <a:xfrm>
              <a:off x="287606" y="2209797"/>
              <a:ext cx="360222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2" name="Rectangle 131"/>
            <p:cNvSpPr>
              <a:spLocks noChangeAspect="1"/>
            </p:cNvSpPr>
            <p:nvPr/>
          </p:nvSpPr>
          <p:spPr bwMode="auto">
            <a:xfrm>
              <a:off x="-72617" y="1849422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3" name="Rectangle 132"/>
            <p:cNvSpPr>
              <a:spLocks noChangeAspect="1"/>
            </p:cNvSpPr>
            <p:nvPr/>
          </p:nvSpPr>
          <p:spPr bwMode="auto">
            <a:xfrm>
              <a:off x="287606" y="1849422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4" name="Rectangle 133"/>
            <p:cNvSpPr>
              <a:spLocks noChangeAspect="1"/>
            </p:cNvSpPr>
            <p:nvPr/>
          </p:nvSpPr>
          <p:spPr bwMode="auto">
            <a:xfrm>
              <a:off x="-72617" y="2928963"/>
              <a:ext cx="360223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5" name="Rectangle 134"/>
            <p:cNvSpPr>
              <a:spLocks noChangeAspect="1"/>
            </p:cNvSpPr>
            <p:nvPr/>
          </p:nvSpPr>
          <p:spPr bwMode="auto">
            <a:xfrm>
              <a:off x="287606" y="2928963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6" name="Rectangle 135"/>
            <p:cNvSpPr>
              <a:spLocks noChangeAspect="1"/>
            </p:cNvSpPr>
            <p:nvPr/>
          </p:nvSpPr>
          <p:spPr bwMode="auto">
            <a:xfrm>
              <a:off x="-72617" y="2568586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7" name="Rectangle 136"/>
            <p:cNvSpPr>
              <a:spLocks noChangeAspect="1"/>
            </p:cNvSpPr>
            <p:nvPr/>
          </p:nvSpPr>
          <p:spPr bwMode="auto">
            <a:xfrm>
              <a:off x="287606" y="2568586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8" name="Rectangle 137"/>
            <p:cNvSpPr>
              <a:spLocks noChangeAspect="1"/>
            </p:cNvSpPr>
            <p:nvPr/>
          </p:nvSpPr>
          <p:spPr bwMode="auto">
            <a:xfrm>
              <a:off x="649415" y="2922613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39" name="Rectangle 138"/>
            <p:cNvSpPr>
              <a:spLocks noChangeAspect="1"/>
            </p:cNvSpPr>
            <p:nvPr/>
          </p:nvSpPr>
          <p:spPr bwMode="auto">
            <a:xfrm>
              <a:off x="649415" y="2563824"/>
              <a:ext cx="360222" cy="358789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0" name="Rectangle 139"/>
            <p:cNvSpPr>
              <a:spLocks noChangeAspect="1"/>
            </p:cNvSpPr>
            <p:nvPr/>
          </p:nvSpPr>
          <p:spPr bwMode="auto">
            <a:xfrm>
              <a:off x="649415" y="2203447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1" name="Rectangle 140"/>
            <p:cNvSpPr>
              <a:spLocks noChangeAspect="1"/>
            </p:cNvSpPr>
            <p:nvPr/>
          </p:nvSpPr>
          <p:spPr bwMode="auto">
            <a:xfrm>
              <a:off x="649415" y="1843071"/>
              <a:ext cx="360222" cy="360376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2" name="Rectangle 141"/>
            <p:cNvSpPr>
              <a:spLocks noChangeAspect="1"/>
            </p:cNvSpPr>
            <p:nvPr/>
          </p:nvSpPr>
          <p:spPr bwMode="auto">
            <a:xfrm>
              <a:off x="1009637" y="3282989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3" name="Rectangle 142"/>
            <p:cNvSpPr>
              <a:spLocks noChangeAspect="1"/>
            </p:cNvSpPr>
            <p:nvPr/>
          </p:nvSpPr>
          <p:spPr bwMode="auto">
            <a:xfrm>
              <a:off x="1369859" y="3282989"/>
              <a:ext cx="358635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4" name="Rectangle 143"/>
            <p:cNvSpPr>
              <a:spLocks noChangeAspect="1"/>
            </p:cNvSpPr>
            <p:nvPr/>
          </p:nvSpPr>
          <p:spPr bwMode="auto">
            <a:xfrm>
              <a:off x="-72617" y="3289339"/>
              <a:ext cx="360223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5" name="Rectangle 144"/>
            <p:cNvSpPr>
              <a:spLocks noChangeAspect="1"/>
            </p:cNvSpPr>
            <p:nvPr/>
          </p:nvSpPr>
          <p:spPr bwMode="auto">
            <a:xfrm>
              <a:off x="287606" y="3289339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6" name="Rectangle 145"/>
            <p:cNvSpPr>
              <a:spLocks noChangeAspect="1"/>
            </p:cNvSpPr>
            <p:nvPr/>
          </p:nvSpPr>
          <p:spPr bwMode="auto">
            <a:xfrm>
              <a:off x="649415" y="3282989"/>
              <a:ext cx="360222" cy="3603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147" name="Straight Arrow Connector 146"/>
            <p:cNvCxnSpPr/>
            <p:nvPr/>
          </p:nvCxnSpPr>
          <p:spPr>
            <a:xfrm rot="5400000" flipH="1" flipV="1">
              <a:off x="-359481" y="2636058"/>
              <a:ext cx="2016203" cy="15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8" name="Straight Arrow Connector 147"/>
            <p:cNvCxnSpPr/>
            <p:nvPr/>
          </p:nvCxnSpPr>
          <p:spPr>
            <a:xfrm flipV="1">
              <a:off x="-72617" y="2922613"/>
              <a:ext cx="2088337" cy="1587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9" name="Straight Connector 148"/>
            <p:cNvCxnSpPr/>
            <p:nvPr/>
          </p:nvCxnSpPr>
          <p:spPr>
            <a:xfrm rot="16200000" flipV="1">
              <a:off x="558170" y="1751825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Straight Connector 149"/>
            <p:cNvCxnSpPr/>
            <p:nvPr/>
          </p:nvCxnSpPr>
          <p:spPr>
            <a:xfrm rot="16200000" flipV="1">
              <a:off x="558170" y="2113789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Straight Connector 150"/>
            <p:cNvCxnSpPr/>
            <p:nvPr/>
          </p:nvCxnSpPr>
          <p:spPr>
            <a:xfrm rot="16200000" flipV="1">
              <a:off x="558170" y="2472578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2" name="Straight Connector 151"/>
            <p:cNvCxnSpPr/>
            <p:nvPr/>
          </p:nvCxnSpPr>
          <p:spPr>
            <a:xfrm rot="16200000" flipV="1">
              <a:off x="558170" y="2831367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3" name="Straight Connector 152"/>
            <p:cNvCxnSpPr/>
            <p:nvPr/>
          </p:nvCxnSpPr>
          <p:spPr>
            <a:xfrm rot="16200000" flipV="1">
              <a:off x="558170" y="3191742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4" name="Straight Connector 153"/>
            <p:cNvCxnSpPr/>
            <p:nvPr/>
          </p:nvCxnSpPr>
          <p:spPr>
            <a:xfrm rot="16200000" flipV="1">
              <a:off x="558170" y="3552119"/>
              <a:ext cx="0" cy="182492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5" name="TextBox 258"/>
            <p:cNvSpPr txBox="1">
              <a:spLocks noChangeArrowheads="1"/>
            </p:cNvSpPr>
            <p:nvPr/>
          </p:nvSpPr>
          <p:spPr bwMode="auto">
            <a:xfrm>
              <a:off x="35370" y="342900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156" name="TextBox 259"/>
            <p:cNvSpPr txBox="1">
              <a:spLocks noChangeArrowheads="1"/>
            </p:cNvSpPr>
            <p:nvPr/>
          </p:nvSpPr>
          <p:spPr bwMode="auto">
            <a:xfrm>
              <a:off x="35370" y="30689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157" name="TextBox 260"/>
            <p:cNvSpPr txBox="1">
              <a:spLocks noChangeArrowheads="1"/>
            </p:cNvSpPr>
            <p:nvPr/>
          </p:nvSpPr>
          <p:spPr bwMode="auto">
            <a:xfrm>
              <a:off x="35370" y="23488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58" name="TextBox 261"/>
            <p:cNvSpPr txBox="1">
              <a:spLocks noChangeArrowheads="1"/>
            </p:cNvSpPr>
            <p:nvPr/>
          </p:nvSpPr>
          <p:spPr bwMode="auto">
            <a:xfrm>
              <a:off x="35370" y="198880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59" name="TextBox 262"/>
            <p:cNvSpPr txBox="1">
              <a:spLocks noChangeArrowheads="1"/>
            </p:cNvSpPr>
            <p:nvPr/>
          </p:nvSpPr>
          <p:spPr bwMode="auto">
            <a:xfrm>
              <a:off x="35370" y="1628750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60" name="Straight Connector 159"/>
            <p:cNvCxnSpPr/>
            <p:nvPr/>
          </p:nvCxnSpPr>
          <p:spPr>
            <a:xfrm rot="5400000" flipH="1" flipV="1">
              <a:off x="184419" y="3006754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Straight Connector 160"/>
            <p:cNvCxnSpPr/>
            <p:nvPr/>
          </p:nvCxnSpPr>
          <p:spPr>
            <a:xfrm rot="5400000" flipH="1" flipV="1">
              <a:off x="543055" y="3006754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2" name="Straight Connector 161"/>
            <p:cNvCxnSpPr/>
            <p:nvPr/>
          </p:nvCxnSpPr>
          <p:spPr>
            <a:xfrm rot="5400000" flipH="1" flipV="1">
              <a:off x="901690" y="3006754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Straight Connector 162"/>
            <p:cNvCxnSpPr/>
            <p:nvPr/>
          </p:nvCxnSpPr>
          <p:spPr>
            <a:xfrm rot="5400000" flipH="1" flipV="1">
              <a:off x="1261912" y="3006754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Straight Connector 163"/>
            <p:cNvCxnSpPr/>
            <p:nvPr/>
          </p:nvCxnSpPr>
          <p:spPr>
            <a:xfrm rot="5400000" flipH="1" flipV="1">
              <a:off x="1623721" y="3005166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5" name="TextBox 268"/>
            <p:cNvSpPr txBox="1">
              <a:spLocks noChangeArrowheads="1"/>
            </p:cNvSpPr>
            <p:nvPr/>
          </p:nvSpPr>
          <p:spPr bwMode="auto">
            <a:xfrm>
              <a:off x="-339213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166" name="TextBox 269"/>
            <p:cNvSpPr txBox="1">
              <a:spLocks noChangeArrowheads="1"/>
            </p:cNvSpPr>
            <p:nvPr/>
          </p:nvSpPr>
          <p:spPr bwMode="auto">
            <a:xfrm>
              <a:off x="4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-1</a:t>
              </a:r>
            </a:p>
          </p:txBody>
        </p:sp>
        <p:sp>
          <p:nvSpPr>
            <p:cNvPr id="167" name="TextBox 270"/>
            <p:cNvSpPr txBox="1">
              <a:spLocks noChangeArrowheads="1"/>
            </p:cNvSpPr>
            <p:nvPr/>
          </p:nvSpPr>
          <p:spPr bwMode="auto">
            <a:xfrm>
              <a:off x="40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endParaRPr lang="en-US" altLang="x-none" sz="2000">
                <a:solidFill>
                  <a:schemeClr val="tx1"/>
                </a:solidFill>
              </a:endParaRPr>
            </a:p>
          </p:txBody>
        </p:sp>
        <p:sp>
          <p:nvSpPr>
            <p:cNvPr id="168" name="TextBox 271"/>
            <p:cNvSpPr txBox="1">
              <a:spLocks noChangeArrowheads="1"/>
            </p:cNvSpPr>
            <p:nvPr/>
          </p:nvSpPr>
          <p:spPr bwMode="auto">
            <a:xfrm>
              <a:off x="760604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69" name="TextBox 272"/>
            <p:cNvSpPr txBox="1">
              <a:spLocks noChangeArrowheads="1"/>
            </p:cNvSpPr>
            <p:nvPr/>
          </p:nvSpPr>
          <p:spPr bwMode="auto">
            <a:xfrm>
              <a:off x="1119260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170" name="TextBox 273"/>
            <p:cNvSpPr txBox="1">
              <a:spLocks noChangeArrowheads="1"/>
            </p:cNvSpPr>
            <p:nvPr/>
          </p:nvSpPr>
          <p:spPr bwMode="auto">
            <a:xfrm>
              <a:off x="1460987" y="3128192"/>
              <a:ext cx="467430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3</a:t>
              </a:r>
            </a:p>
          </p:txBody>
        </p:sp>
        <p:cxnSp>
          <p:nvCxnSpPr>
            <p:cNvPr id="171" name="Straight Connector 170"/>
            <p:cNvCxnSpPr/>
            <p:nvPr/>
          </p:nvCxnSpPr>
          <p:spPr>
            <a:xfrm rot="5400000" flipH="1" flipV="1">
              <a:off x="-177390" y="3006754"/>
              <a:ext cx="18098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72" name="Straight Connector 171"/>
          <p:cNvCxnSpPr/>
          <p:nvPr/>
        </p:nvCxnSpPr>
        <p:spPr>
          <a:xfrm flipV="1">
            <a:off x="7745414" y="3187063"/>
            <a:ext cx="685800" cy="17843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12352" y="1543601"/>
            <a:ext cx="159181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/>
            </a:pPr>
            <a:r>
              <a:rPr lang="en-GB" sz="2400" u="sng" dirty="0">
                <a:solidFill>
                  <a:srgbClr val="FF0000"/>
                </a:solidFill>
              </a:rPr>
              <a:t>Y- Intercept</a:t>
            </a:r>
            <a:r>
              <a:rPr lang="en-GB" sz="2400" u="sng" dirty="0" smtClean="0">
                <a:solidFill>
                  <a:srgbClr val="FF0000"/>
                </a:solidFill>
              </a:rPr>
              <a:t>:</a:t>
            </a:r>
            <a:endParaRPr lang="en-GB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436097" y="1587792"/>
            <a:ext cx="739300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Y-intercept, also represented by </a:t>
            </a:r>
            <a:r>
              <a:rPr lang="en-US" sz="2400" i="1" dirty="0" smtClean="0"/>
              <a:t>c</a:t>
            </a:r>
            <a:r>
              <a:rPr lang="en-US" sz="2400" dirty="0"/>
              <a:t>,</a:t>
            </a:r>
            <a:r>
              <a:rPr lang="en-US" sz="2400" dirty="0" smtClean="0"/>
              <a:t> is simply where the linear function crosses the y-axis!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146226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" grpId="0" animBg="1"/>
      <p:bldP spid="67" grpId="0" animBg="1"/>
      <p:bldP spid="68" grpId="0" animBg="1"/>
      <p:bldP spid="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230028" y="1534037"/>
                <a:ext cx="7582589" cy="99899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sz="2400" dirty="0" smtClean="0"/>
                  <a:t>Gradient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>
                            <a:latin typeface="Cambria Math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CA" sz="2400">
                            <a:latin typeface="Cambria Math" charset="0"/>
                          </a:rPr>
                          <m:t>rise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CA" sz="2400">
                            <a:latin typeface="Cambria Math" charset="0"/>
                          </a:rPr>
                          <m:t>run</m:t>
                        </m:r>
                      </m:den>
                    </m:f>
                  </m:oMath>
                </a14:m>
                <a:r>
                  <a:rPr lang="en-US" sz="2400" dirty="0" smtClean="0"/>
                  <a:t> 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mr-IN" sz="2400" i="1" smtClean="0">
                            <a:latin typeface="Cambria Math" charset="0"/>
                          </a:rPr>
                        </m:ctrlPr>
                      </m:fPr>
                      <m:num>
                        <m:r>
                          <a:rPr lang="en-CA" sz="2400" b="0" i="1" smtClean="0">
                            <a:latin typeface="Cambria Math" charset="0"/>
                          </a:rPr>
                          <m:t>2</m:t>
                        </m:r>
                      </m:num>
                      <m:den>
                        <m:r>
                          <a:rPr lang="en-CA" sz="2400" b="0" i="1" smtClean="0">
                            <a:latin typeface="Cambria Math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lang="en-US" sz="2400" dirty="0" smtClean="0"/>
                  <a:t> = 2 which is the same as the coefficient</a:t>
                </a:r>
              </a:p>
              <a:p>
                <a:r>
                  <a:rPr lang="en-US" sz="2400" dirty="0" smtClean="0"/>
                  <a:t>The constant is 1, which is where the line crosses the </a:t>
                </a:r>
                <a:r>
                  <a:rPr lang="en-US" sz="2400" i="1" dirty="0" smtClean="0"/>
                  <a:t>y</a:t>
                </a:r>
                <a:r>
                  <a:rPr lang="en-US" sz="2400" dirty="0" smtClean="0"/>
                  <a:t> axis </a:t>
                </a:r>
                <a:endParaRPr lang="en-US" sz="2400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0028" y="1534037"/>
                <a:ext cx="7582589" cy="998991"/>
              </a:xfrm>
              <a:prstGeom prst="rect">
                <a:avLst/>
              </a:prstGeom>
              <a:blipFill rotWithShape="0">
                <a:blip r:embed="rId2"/>
                <a:stretch>
                  <a:fillRect l="-1286" r="-241" b="-1280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49142" y="2636066"/>
            <a:ext cx="2851147" cy="3085348"/>
          </a:xfrm>
          <a:prstGeom prst="rect">
            <a:avLst/>
          </a:prstGeom>
        </p:spPr>
      </p:pic>
      <p:graphicFrame>
        <p:nvGraphicFramePr>
          <p:cNvPr id="14" name="Table 13"/>
          <p:cNvGraphicFramePr>
            <a:graphicFrameLocks noGrp="1"/>
          </p:cNvGraphicFramePr>
          <p:nvPr>
            <p:extLst/>
          </p:nvPr>
        </p:nvGraphicFramePr>
        <p:xfrm>
          <a:off x="4635092" y="2756418"/>
          <a:ext cx="3985330" cy="731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97066"/>
                <a:gridCol w="797066"/>
                <a:gridCol w="797066"/>
                <a:gridCol w="797066"/>
                <a:gridCol w="797066"/>
              </a:tblGrid>
              <a:tr h="32412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/>
                </a:tc>
              </a:tr>
              <a:tr h="32412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y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-1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5" name="Curved Up Arrow 14"/>
          <p:cNvSpPr/>
          <p:nvPr/>
        </p:nvSpPr>
        <p:spPr>
          <a:xfrm>
            <a:off x="5768228" y="3526204"/>
            <a:ext cx="803056" cy="224451"/>
          </a:xfrm>
          <a:prstGeom prst="curved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933811" y="3715072"/>
            <a:ext cx="4835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+2</a:t>
            </a:r>
            <a:endParaRPr lang="en-US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8228" y="4605932"/>
            <a:ext cx="2048902" cy="385132"/>
          </a:xfrm>
          <a:prstGeom prst="rect">
            <a:avLst/>
          </a:prstGeom>
        </p:spPr>
      </p:pic>
      <p:sp>
        <p:nvSpPr>
          <p:cNvPr id="18" name="Right Arrow 17"/>
          <p:cNvSpPr/>
          <p:nvPr/>
        </p:nvSpPr>
        <p:spPr>
          <a:xfrm rot="3713896">
            <a:off x="5962056" y="4204602"/>
            <a:ext cx="563611" cy="2669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9" name="TextBox 18"/>
          <p:cNvSpPr txBox="1"/>
          <p:nvPr/>
        </p:nvSpPr>
        <p:spPr>
          <a:xfrm>
            <a:off x="6295862" y="4567665"/>
            <a:ext cx="2668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2</a:t>
            </a:r>
            <a:endParaRPr lang="en-US" sz="2400" dirty="0"/>
          </a:p>
        </p:txBody>
      </p:sp>
      <p:sp>
        <p:nvSpPr>
          <p:cNvPr id="20" name="TextBox 19"/>
          <p:cNvSpPr txBox="1"/>
          <p:nvPr/>
        </p:nvSpPr>
        <p:spPr>
          <a:xfrm>
            <a:off x="7432467" y="4544142"/>
            <a:ext cx="3233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114426" y="5705736"/>
            <a:ext cx="80295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The rule for a straight line graph is given by </a:t>
            </a:r>
            <a:r>
              <a:rPr lang="en-US" sz="2400" i="1" dirty="0" smtClean="0"/>
              <a:t>y = mx + c</a:t>
            </a:r>
            <a:r>
              <a:rPr lang="en-US" sz="2400" dirty="0" smtClean="0"/>
              <a:t> where:</a:t>
            </a:r>
            <a:r>
              <a:rPr lang="en-US" sz="2400" dirty="0"/>
              <a:t> </a:t>
            </a:r>
            <a:endParaRPr lang="en-US" sz="2400" dirty="0" smtClean="0"/>
          </a:p>
          <a:p>
            <a:pPr marL="342900" indent="-342900">
              <a:buFont typeface="Arial" charset="0"/>
              <a:buChar char="•"/>
            </a:pPr>
            <a:r>
              <a:rPr lang="en-US" sz="2400" i="1" dirty="0" smtClean="0"/>
              <a:t>m</a:t>
            </a:r>
            <a:r>
              <a:rPr lang="en-US" sz="2400" dirty="0" smtClean="0"/>
              <a:t> is the gradient</a:t>
            </a:r>
          </a:p>
          <a:p>
            <a:pPr marL="285750" indent="-285750">
              <a:buFont typeface="Arial" charset="0"/>
              <a:buChar char="•"/>
            </a:pPr>
            <a:r>
              <a:rPr lang="en-US" sz="2400" i="1" dirty="0" smtClean="0"/>
              <a:t>c</a:t>
            </a:r>
            <a:r>
              <a:rPr lang="en-US" sz="2400" dirty="0" smtClean="0"/>
              <a:t> is the y-intercept (where the line passes thru the </a:t>
            </a:r>
            <a:r>
              <a:rPr lang="en-US" sz="2400" i="1" dirty="0" smtClean="0"/>
              <a:t>y</a:t>
            </a:r>
            <a:r>
              <a:rPr lang="en-US" sz="2400" dirty="0" smtClean="0"/>
              <a:t> </a:t>
            </a:r>
            <a:r>
              <a:rPr lang="mr-IN" sz="2400" dirty="0" smtClean="0"/>
              <a:t>–</a:t>
            </a:r>
            <a:r>
              <a:rPr lang="en-US" sz="2400" dirty="0" smtClean="0"/>
              <a:t> axis)</a:t>
            </a:r>
            <a:endParaRPr lang="en-US" sz="2400" i="1" dirty="0"/>
          </a:p>
        </p:txBody>
      </p:sp>
      <p:sp>
        <p:nvSpPr>
          <p:cNvPr id="28" name="TextBox 27"/>
          <p:cNvSpPr txBox="1"/>
          <p:nvPr/>
        </p:nvSpPr>
        <p:spPr>
          <a:xfrm>
            <a:off x="-1" y="915525"/>
            <a:ext cx="925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gradient and y-intercepts and how do we </a:t>
            </a:r>
            <a:r>
              <a:rPr lang="en-AU" sz="2400" smtClean="0"/>
              <a:t>measure them?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1641276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59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/>
      <p:bldP spid="18" grpId="0" animBg="1"/>
      <p:bldP spid="19" grpId="0"/>
      <p:bldP spid="20" grpId="0"/>
      <p:bldP spid="3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84405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480227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0" y="20873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963278" y="1480227"/>
            <a:ext cx="24713" cy="5377773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56394" y="227081"/>
            <a:ext cx="310040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Linear Relationships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41" name="Content Placeholder 2"/>
          <p:cNvSpPr txBox="1">
            <a:spLocks/>
          </p:cNvSpPr>
          <p:nvPr/>
        </p:nvSpPr>
        <p:spPr>
          <a:xfrm>
            <a:off x="900857" y="1573484"/>
            <a:ext cx="8918575" cy="5631499"/>
          </a:xfrm>
          <a:prstGeom prst="rect">
            <a:avLst/>
          </a:prstGeom>
        </p:spPr>
        <p:txBody>
          <a:bodyPr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chemeClr val="accent1">
                  <a:lumMod val="75000"/>
                </a:schemeClr>
              </a:buClr>
              <a:buFont typeface="Arial" charset="0"/>
              <a:buNone/>
              <a:defRPr/>
            </a:pPr>
            <a:r>
              <a:rPr lang="en-GB" sz="2400" dirty="0" smtClean="0"/>
              <a:t>Find the Gradient and y intercept of these lines.</a:t>
            </a:r>
          </a:p>
          <a:p>
            <a:pPr marL="0" indent="0">
              <a:buFont typeface="Arial" charset="0"/>
              <a:buNone/>
              <a:defRPr/>
            </a:pPr>
            <a:endParaRPr lang="en-GB" sz="2000" dirty="0" smtClean="0"/>
          </a:p>
          <a:p>
            <a:pPr marL="0" indent="0">
              <a:buFont typeface="Arial" charset="0"/>
              <a:buNone/>
              <a:defRPr/>
            </a:pPr>
            <a:endParaRPr lang="en-GB" sz="2000" dirty="0" smtClean="0"/>
          </a:p>
          <a:p>
            <a:pPr marL="0" indent="0">
              <a:buFont typeface="Arial" charset="0"/>
              <a:buNone/>
              <a:defRPr/>
            </a:pPr>
            <a:endParaRPr lang="en-GB" sz="2000" dirty="0" smtClean="0"/>
          </a:p>
          <a:p>
            <a:pPr marL="0" indent="0">
              <a:buFont typeface="Arial" charset="0"/>
              <a:buNone/>
              <a:defRPr/>
            </a:pPr>
            <a:endParaRPr lang="en-GB" sz="2000" dirty="0" smtClean="0"/>
          </a:p>
          <a:p>
            <a:pPr marL="0" indent="0">
              <a:buFont typeface="Arial" charset="0"/>
              <a:buNone/>
              <a:defRPr/>
            </a:pPr>
            <a:endParaRPr lang="en-GB" sz="2000" dirty="0" smtClean="0"/>
          </a:p>
        </p:txBody>
      </p:sp>
      <p:cxnSp>
        <p:nvCxnSpPr>
          <p:cNvPr id="142" name="Straight Connector 141"/>
          <p:cNvCxnSpPr/>
          <p:nvPr/>
        </p:nvCxnSpPr>
        <p:spPr>
          <a:xfrm rot="5400000" flipH="1" flipV="1">
            <a:off x="1011188" y="4219690"/>
            <a:ext cx="1630362" cy="16065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3" name="Group 314"/>
          <p:cNvGrpSpPr>
            <a:grpSpLocks/>
          </p:cNvGrpSpPr>
          <p:nvPr/>
        </p:nvGrpSpPr>
        <p:grpSpPr bwMode="auto">
          <a:xfrm>
            <a:off x="756394" y="2044021"/>
            <a:ext cx="3457575" cy="4152900"/>
            <a:chOff x="35370" y="1956561"/>
            <a:chExt cx="3456480" cy="4152923"/>
          </a:xfrm>
        </p:grpSpPr>
        <p:sp>
          <p:nvSpPr>
            <p:cNvPr id="144" name="Rectangle 143"/>
            <p:cNvSpPr>
              <a:spLocks noChangeAspect="1"/>
            </p:cNvSpPr>
            <p:nvPr/>
          </p:nvSpPr>
          <p:spPr bwMode="auto">
            <a:xfrm>
              <a:off x="1384318" y="5733245"/>
              <a:ext cx="360249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5" name="Rectangle 144"/>
            <p:cNvSpPr>
              <a:spLocks noChangeAspect="1"/>
            </p:cNvSpPr>
            <p:nvPr/>
          </p:nvSpPr>
          <p:spPr bwMode="auto">
            <a:xfrm>
              <a:off x="1744567" y="5733245"/>
              <a:ext cx="358661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6" name="Rectangle 145"/>
            <p:cNvSpPr>
              <a:spLocks noChangeAspect="1"/>
            </p:cNvSpPr>
            <p:nvPr/>
          </p:nvSpPr>
          <p:spPr bwMode="auto">
            <a:xfrm>
              <a:off x="1384318" y="5372880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7" name="Rectangle 146"/>
            <p:cNvSpPr>
              <a:spLocks noChangeAspect="1"/>
            </p:cNvSpPr>
            <p:nvPr/>
          </p:nvSpPr>
          <p:spPr bwMode="auto">
            <a:xfrm>
              <a:off x="1744567" y="5372880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8" name="Rectangle 147"/>
            <p:cNvSpPr>
              <a:spLocks noChangeAspect="1"/>
            </p:cNvSpPr>
            <p:nvPr/>
          </p:nvSpPr>
          <p:spPr bwMode="auto">
            <a:xfrm>
              <a:off x="1384318" y="5029978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49" name="Rectangle 148"/>
            <p:cNvSpPr>
              <a:spLocks noChangeAspect="1"/>
            </p:cNvSpPr>
            <p:nvPr/>
          </p:nvSpPr>
          <p:spPr bwMode="auto">
            <a:xfrm>
              <a:off x="1744567" y="5029978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0" name="Rectangle 149"/>
            <p:cNvSpPr>
              <a:spLocks noChangeAspect="1"/>
            </p:cNvSpPr>
            <p:nvPr/>
          </p:nvSpPr>
          <p:spPr bwMode="auto">
            <a:xfrm>
              <a:off x="1024070" y="5733245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1" name="Rectangle 150"/>
            <p:cNvSpPr>
              <a:spLocks noChangeAspect="1"/>
            </p:cNvSpPr>
            <p:nvPr/>
          </p:nvSpPr>
          <p:spPr bwMode="auto">
            <a:xfrm>
              <a:off x="1024070" y="5372880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2" name="Rectangle 151"/>
            <p:cNvSpPr>
              <a:spLocks noChangeAspect="1"/>
            </p:cNvSpPr>
            <p:nvPr/>
          </p:nvSpPr>
          <p:spPr bwMode="auto">
            <a:xfrm>
              <a:off x="1024070" y="5029978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3" name="Rectangle 152"/>
            <p:cNvSpPr>
              <a:spLocks noChangeAspect="1"/>
            </p:cNvSpPr>
            <p:nvPr/>
          </p:nvSpPr>
          <p:spPr bwMode="auto">
            <a:xfrm>
              <a:off x="1382731" y="2877316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4" name="Rectangle 153"/>
            <p:cNvSpPr>
              <a:spLocks noChangeAspect="1"/>
            </p:cNvSpPr>
            <p:nvPr/>
          </p:nvSpPr>
          <p:spPr bwMode="auto">
            <a:xfrm>
              <a:off x="1742979" y="2877316"/>
              <a:ext cx="360249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5" name="Rectangle 154"/>
            <p:cNvSpPr>
              <a:spLocks noChangeAspect="1"/>
            </p:cNvSpPr>
            <p:nvPr/>
          </p:nvSpPr>
          <p:spPr bwMode="auto">
            <a:xfrm>
              <a:off x="1382731" y="2516952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6" name="Rectangle 155"/>
            <p:cNvSpPr>
              <a:spLocks noChangeAspect="1"/>
            </p:cNvSpPr>
            <p:nvPr/>
          </p:nvSpPr>
          <p:spPr bwMode="auto">
            <a:xfrm>
              <a:off x="1742979" y="2516952"/>
              <a:ext cx="360249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7" name="Rectangle 156"/>
            <p:cNvSpPr>
              <a:spLocks noChangeAspect="1"/>
            </p:cNvSpPr>
            <p:nvPr/>
          </p:nvSpPr>
          <p:spPr bwMode="auto">
            <a:xfrm>
              <a:off x="1382731" y="2156587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8" name="Rectangle 157"/>
            <p:cNvSpPr>
              <a:spLocks noChangeAspect="1"/>
            </p:cNvSpPr>
            <p:nvPr/>
          </p:nvSpPr>
          <p:spPr bwMode="auto">
            <a:xfrm>
              <a:off x="1742979" y="2156587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59" name="Rectangle 158"/>
            <p:cNvSpPr>
              <a:spLocks noChangeAspect="1"/>
            </p:cNvSpPr>
            <p:nvPr/>
          </p:nvSpPr>
          <p:spPr bwMode="auto">
            <a:xfrm>
              <a:off x="1022482" y="2877316"/>
              <a:ext cx="360249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0" name="Rectangle 159"/>
            <p:cNvSpPr>
              <a:spLocks noChangeAspect="1"/>
            </p:cNvSpPr>
            <p:nvPr/>
          </p:nvSpPr>
          <p:spPr bwMode="auto">
            <a:xfrm>
              <a:off x="1022482" y="2516952"/>
              <a:ext cx="360249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1" name="Rectangle 160"/>
            <p:cNvSpPr>
              <a:spLocks noChangeAspect="1"/>
            </p:cNvSpPr>
            <p:nvPr/>
          </p:nvSpPr>
          <p:spPr bwMode="auto">
            <a:xfrm>
              <a:off x="1022482" y="2156587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2" name="Rectangle 161"/>
            <p:cNvSpPr>
              <a:spLocks noChangeAspect="1"/>
            </p:cNvSpPr>
            <p:nvPr/>
          </p:nvSpPr>
          <p:spPr bwMode="auto">
            <a:xfrm>
              <a:off x="2463476" y="2877316"/>
              <a:ext cx="360249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3" name="Rectangle 162"/>
            <p:cNvSpPr>
              <a:spLocks noChangeAspect="1"/>
            </p:cNvSpPr>
            <p:nvPr/>
          </p:nvSpPr>
          <p:spPr bwMode="auto">
            <a:xfrm>
              <a:off x="2823725" y="2877316"/>
              <a:ext cx="358661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4" name="Rectangle 163"/>
            <p:cNvSpPr>
              <a:spLocks noChangeAspect="1"/>
            </p:cNvSpPr>
            <p:nvPr/>
          </p:nvSpPr>
          <p:spPr bwMode="auto">
            <a:xfrm>
              <a:off x="2463476" y="2516952"/>
              <a:ext cx="360249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5" name="Rectangle 164"/>
            <p:cNvSpPr>
              <a:spLocks noChangeAspect="1"/>
            </p:cNvSpPr>
            <p:nvPr/>
          </p:nvSpPr>
          <p:spPr bwMode="auto">
            <a:xfrm>
              <a:off x="2823725" y="2516952"/>
              <a:ext cx="358661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6" name="Rectangle 165"/>
            <p:cNvSpPr>
              <a:spLocks noChangeAspect="1"/>
            </p:cNvSpPr>
            <p:nvPr/>
          </p:nvSpPr>
          <p:spPr bwMode="auto">
            <a:xfrm>
              <a:off x="2463476" y="2156587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7" name="Rectangle 166"/>
            <p:cNvSpPr>
              <a:spLocks noChangeAspect="1"/>
            </p:cNvSpPr>
            <p:nvPr/>
          </p:nvSpPr>
          <p:spPr bwMode="auto">
            <a:xfrm>
              <a:off x="2823725" y="2156587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8" name="Rectangle 167"/>
            <p:cNvSpPr>
              <a:spLocks noChangeAspect="1"/>
            </p:cNvSpPr>
            <p:nvPr/>
          </p:nvSpPr>
          <p:spPr bwMode="auto">
            <a:xfrm>
              <a:off x="2103228" y="2877316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69" name="Rectangle 168"/>
            <p:cNvSpPr>
              <a:spLocks noChangeAspect="1"/>
            </p:cNvSpPr>
            <p:nvPr/>
          </p:nvSpPr>
          <p:spPr bwMode="auto">
            <a:xfrm>
              <a:off x="2103228" y="2516952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0" name="Rectangle 169"/>
            <p:cNvSpPr>
              <a:spLocks noChangeAspect="1"/>
            </p:cNvSpPr>
            <p:nvPr/>
          </p:nvSpPr>
          <p:spPr bwMode="auto">
            <a:xfrm>
              <a:off x="2103228" y="2156587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1" name="Rectangle 170"/>
            <p:cNvSpPr>
              <a:spLocks noChangeAspect="1"/>
            </p:cNvSpPr>
            <p:nvPr/>
          </p:nvSpPr>
          <p:spPr bwMode="auto">
            <a:xfrm>
              <a:off x="2463476" y="3950472"/>
              <a:ext cx="361835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2" name="Rectangle 171"/>
            <p:cNvSpPr>
              <a:spLocks noChangeAspect="1"/>
            </p:cNvSpPr>
            <p:nvPr/>
          </p:nvSpPr>
          <p:spPr bwMode="auto">
            <a:xfrm>
              <a:off x="2825311" y="3950472"/>
              <a:ext cx="358661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3" name="Rectangle 172"/>
            <p:cNvSpPr>
              <a:spLocks noChangeAspect="1"/>
            </p:cNvSpPr>
            <p:nvPr/>
          </p:nvSpPr>
          <p:spPr bwMode="auto">
            <a:xfrm>
              <a:off x="2463476" y="3590108"/>
              <a:ext cx="361835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4" name="Rectangle 173"/>
            <p:cNvSpPr>
              <a:spLocks noChangeAspect="1"/>
            </p:cNvSpPr>
            <p:nvPr/>
          </p:nvSpPr>
          <p:spPr bwMode="auto">
            <a:xfrm>
              <a:off x="2825311" y="3590108"/>
              <a:ext cx="358661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5" name="Rectangle 174"/>
            <p:cNvSpPr>
              <a:spLocks noChangeAspect="1"/>
            </p:cNvSpPr>
            <p:nvPr/>
          </p:nvSpPr>
          <p:spPr bwMode="auto">
            <a:xfrm>
              <a:off x="2463476" y="3229743"/>
              <a:ext cx="361835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6" name="Rectangle 175"/>
            <p:cNvSpPr>
              <a:spLocks noChangeAspect="1"/>
            </p:cNvSpPr>
            <p:nvPr/>
          </p:nvSpPr>
          <p:spPr bwMode="auto">
            <a:xfrm>
              <a:off x="2825311" y="3229743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7" name="Rectangle 176"/>
            <p:cNvSpPr>
              <a:spLocks noChangeAspect="1"/>
            </p:cNvSpPr>
            <p:nvPr/>
          </p:nvSpPr>
          <p:spPr bwMode="auto">
            <a:xfrm>
              <a:off x="2103228" y="3950472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8" name="Rectangle 177"/>
            <p:cNvSpPr>
              <a:spLocks noChangeAspect="1"/>
            </p:cNvSpPr>
            <p:nvPr/>
          </p:nvSpPr>
          <p:spPr bwMode="auto">
            <a:xfrm>
              <a:off x="2103228" y="3590108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79" name="Rectangle 178"/>
            <p:cNvSpPr>
              <a:spLocks noChangeAspect="1"/>
            </p:cNvSpPr>
            <p:nvPr/>
          </p:nvSpPr>
          <p:spPr bwMode="auto">
            <a:xfrm>
              <a:off x="2103228" y="3229743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0" name="Rectangle 179"/>
            <p:cNvSpPr>
              <a:spLocks noChangeAspect="1"/>
            </p:cNvSpPr>
            <p:nvPr/>
          </p:nvSpPr>
          <p:spPr bwMode="auto">
            <a:xfrm>
              <a:off x="2463476" y="5022041"/>
              <a:ext cx="361835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1" name="Rectangle 180"/>
            <p:cNvSpPr>
              <a:spLocks noChangeAspect="1"/>
            </p:cNvSpPr>
            <p:nvPr/>
          </p:nvSpPr>
          <p:spPr bwMode="auto">
            <a:xfrm>
              <a:off x="2825311" y="5022041"/>
              <a:ext cx="358661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2" name="Rectangle 181"/>
            <p:cNvSpPr>
              <a:spLocks noChangeAspect="1"/>
            </p:cNvSpPr>
            <p:nvPr/>
          </p:nvSpPr>
          <p:spPr bwMode="auto">
            <a:xfrm>
              <a:off x="2463476" y="4661676"/>
              <a:ext cx="361835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3" name="Rectangle 182"/>
            <p:cNvSpPr>
              <a:spLocks noChangeAspect="1"/>
            </p:cNvSpPr>
            <p:nvPr/>
          </p:nvSpPr>
          <p:spPr bwMode="auto">
            <a:xfrm>
              <a:off x="2825311" y="4661676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4" name="Rectangle 183"/>
            <p:cNvSpPr>
              <a:spLocks noChangeAspect="1"/>
            </p:cNvSpPr>
            <p:nvPr/>
          </p:nvSpPr>
          <p:spPr bwMode="auto">
            <a:xfrm>
              <a:off x="2463476" y="4301312"/>
              <a:ext cx="361835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5" name="Rectangle 184"/>
            <p:cNvSpPr>
              <a:spLocks noChangeAspect="1"/>
            </p:cNvSpPr>
            <p:nvPr/>
          </p:nvSpPr>
          <p:spPr bwMode="auto">
            <a:xfrm>
              <a:off x="2825311" y="4301312"/>
              <a:ext cx="358661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6" name="Rectangle 185"/>
            <p:cNvSpPr>
              <a:spLocks noChangeAspect="1"/>
            </p:cNvSpPr>
            <p:nvPr/>
          </p:nvSpPr>
          <p:spPr bwMode="auto">
            <a:xfrm>
              <a:off x="2103228" y="5022041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7" name="Rectangle 186"/>
            <p:cNvSpPr>
              <a:spLocks noChangeAspect="1"/>
            </p:cNvSpPr>
            <p:nvPr/>
          </p:nvSpPr>
          <p:spPr bwMode="auto">
            <a:xfrm>
              <a:off x="2103228" y="4661676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8" name="Rectangle 187"/>
            <p:cNvSpPr>
              <a:spLocks noChangeAspect="1"/>
            </p:cNvSpPr>
            <p:nvPr/>
          </p:nvSpPr>
          <p:spPr bwMode="auto">
            <a:xfrm>
              <a:off x="2103228" y="4301312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89" name="Rectangle 188"/>
            <p:cNvSpPr>
              <a:spLocks noChangeAspect="1"/>
            </p:cNvSpPr>
            <p:nvPr/>
          </p:nvSpPr>
          <p:spPr bwMode="auto">
            <a:xfrm>
              <a:off x="2463476" y="5733245"/>
              <a:ext cx="361835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0" name="Rectangle 189"/>
            <p:cNvSpPr>
              <a:spLocks noChangeAspect="1"/>
            </p:cNvSpPr>
            <p:nvPr/>
          </p:nvSpPr>
          <p:spPr bwMode="auto">
            <a:xfrm>
              <a:off x="2825311" y="5733245"/>
              <a:ext cx="358661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1" name="Rectangle 190"/>
            <p:cNvSpPr>
              <a:spLocks noChangeAspect="1"/>
            </p:cNvSpPr>
            <p:nvPr/>
          </p:nvSpPr>
          <p:spPr bwMode="auto">
            <a:xfrm>
              <a:off x="2463476" y="5372880"/>
              <a:ext cx="361835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2" name="Rectangle 191"/>
            <p:cNvSpPr>
              <a:spLocks noChangeAspect="1"/>
            </p:cNvSpPr>
            <p:nvPr/>
          </p:nvSpPr>
          <p:spPr bwMode="auto">
            <a:xfrm>
              <a:off x="2825311" y="5372880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3" name="Rectangle 192"/>
            <p:cNvSpPr>
              <a:spLocks noChangeAspect="1"/>
            </p:cNvSpPr>
            <p:nvPr/>
          </p:nvSpPr>
          <p:spPr bwMode="auto">
            <a:xfrm>
              <a:off x="2103228" y="5733245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4" name="Rectangle 193"/>
            <p:cNvSpPr>
              <a:spLocks noChangeAspect="1"/>
            </p:cNvSpPr>
            <p:nvPr/>
          </p:nvSpPr>
          <p:spPr bwMode="auto">
            <a:xfrm>
              <a:off x="2103228" y="5372880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5" name="Rectangle 194"/>
            <p:cNvSpPr>
              <a:spLocks noChangeAspect="1"/>
            </p:cNvSpPr>
            <p:nvPr/>
          </p:nvSpPr>
          <p:spPr bwMode="auto">
            <a:xfrm>
              <a:off x="303573" y="2877316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6" name="Rectangle 195"/>
            <p:cNvSpPr>
              <a:spLocks noChangeAspect="1"/>
            </p:cNvSpPr>
            <p:nvPr/>
          </p:nvSpPr>
          <p:spPr bwMode="auto">
            <a:xfrm>
              <a:off x="663821" y="2877316"/>
              <a:ext cx="358661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7" name="Rectangle 196"/>
            <p:cNvSpPr>
              <a:spLocks noChangeAspect="1"/>
            </p:cNvSpPr>
            <p:nvPr/>
          </p:nvSpPr>
          <p:spPr bwMode="auto">
            <a:xfrm>
              <a:off x="303573" y="2516952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8" name="Rectangle 197"/>
            <p:cNvSpPr>
              <a:spLocks noChangeAspect="1"/>
            </p:cNvSpPr>
            <p:nvPr/>
          </p:nvSpPr>
          <p:spPr bwMode="auto">
            <a:xfrm>
              <a:off x="663821" y="2516952"/>
              <a:ext cx="358661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199" name="Rectangle 198"/>
            <p:cNvSpPr>
              <a:spLocks noChangeAspect="1"/>
            </p:cNvSpPr>
            <p:nvPr/>
          </p:nvSpPr>
          <p:spPr bwMode="auto">
            <a:xfrm>
              <a:off x="303573" y="2156587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0" name="Rectangle 199"/>
            <p:cNvSpPr>
              <a:spLocks noChangeAspect="1"/>
            </p:cNvSpPr>
            <p:nvPr/>
          </p:nvSpPr>
          <p:spPr bwMode="auto">
            <a:xfrm>
              <a:off x="663821" y="2156587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1" name="Rectangle 200"/>
            <p:cNvSpPr>
              <a:spLocks noChangeAspect="1"/>
            </p:cNvSpPr>
            <p:nvPr/>
          </p:nvSpPr>
          <p:spPr bwMode="auto">
            <a:xfrm>
              <a:off x="303573" y="5750707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2" name="Rectangle 201"/>
            <p:cNvSpPr>
              <a:spLocks noChangeAspect="1"/>
            </p:cNvSpPr>
            <p:nvPr/>
          </p:nvSpPr>
          <p:spPr bwMode="auto">
            <a:xfrm>
              <a:off x="663821" y="5750707"/>
              <a:ext cx="358661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3" name="Rectangle 202"/>
            <p:cNvSpPr>
              <a:spLocks noChangeAspect="1"/>
            </p:cNvSpPr>
            <p:nvPr/>
          </p:nvSpPr>
          <p:spPr bwMode="auto">
            <a:xfrm>
              <a:off x="303573" y="5390343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4" name="Rectangle 203"/>
            <p:cNvSpPr>
              <a:spLocks noChangeAspect="1"/>
            </p:cNvSpPr>
            <p:nvPr/>
          </p:nvSpPr>
          <p:spPr bwMode="auto">
            <a:xfrm>
              <a:off x="663821" y="5390343"/>
              <a:ext cx="358661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5" name="Rectangle 204"/>
            <p:cNvSpPr>
              <a:spLocks noChangeAspect="1"/>
            </p:cNvSpPr>
            <p:nvPr/>
          </p:nvSpPr>
          <p:spPr bwMode="auto">
            <a:xfrm>
              <a:off x="303573" y="5029978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6" name="Rectangle 205"/>
            <p:cNvSpPr>
              <a:spLocks noChangeAspect="1"/>
            </p:cNvSpPr>
            <p:nvPr/>
          </p:nvSpPr>
          <p:spPr bwMode="auto">
            <a:xfrm>
              <a:off x="663821" y="5029978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7" name="Rectangle 206"/>
            <p:cNvSpPr>
              <a:spLocks noChangeAspect="1"/>
            </p:cNvSpPr>
            <p:nvPr/>
          </p:nvSpPr>
          <p:spPr bwMode="auto">
            <a:xfrm>
              <a:off x="1384318" y="4309249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8" name="Rectangle 207"/>
            <p:cNvSpPr>
              <a:spLocks noChangeAspect="1"/>
            </p:cNvSpPr>
            <p:nvPr/>
          </p:nvSpPr>
          <p:spPr bwMode="auto">
            <a:xfrm>
              <a:off x="1744567" y="4309249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09" name="Rectangle 208"/>
            <p:cNvSpPr>
              <a:spLocks noChangeAspect="1"/>
            </p:cNvSpPr>
            <p:nvPr/>
          </p:nvSpPr>
          <p:spPr bwMode="auto">
            <a:xfrm>
              <a:off x="1384318" y="3950472"/>
              <a:ext cx="360249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0" name="Rectangle 209"/>
            <p:cNvSpPr>
              <a:spLocks noChangeAspect="1"/>
            </p:cNvSpPr>
            <p:nvPr/>
          </p:nvSpPr>
          <p:spPr bwMode="auto">
            <a:xfrm>
              <a:off x="1744567" y="3950472"/>
              <a:ext cx="358661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1" name="Rectangle 210"/>
            <p:cNvSpPr>
              <a:spLocks noChangeAspect="1"/>
            </p:cNvSpPr>
            <p:nvPr/>
          </p:nvSpPr>
          <p:spPr bwMode="auto">
            <a:xfrm>
              <a:off x="1384318" y="3590108"/>
              <a:ext cx="360249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2" name="Rectangle 211"/>
            <p:cNvSpPr>
              <a:spLocks noChangeAspect="1"/>
            </p:cNvSpPr>
            <p:nvPr/>
          </p:nvSpPr>
          <p:spPr bwMode="auto">
            <a:xfrm>
              <a:off x="1744567" y="3590108"/>
              <a:ext cx="358661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3" name="Rectangle 212"/>
            <p:cNvSpPr>
              <a:spLocks noChangeAspect="1"/>
            </p:cNvSpPr>
            <p:nvPr/>
          </p:nvSpPr>
          <p:spPr bwMode="auto">
            <a:xfrm>
              <a:off x="1384318" y="3229743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4" name="Rectangle 213"/>
            <p:cNvSpPr>
              <a:spLocks noChangeAspect="1"/>
            </p:cNvSpPr>
            <p:nvPr/>
          </p:nvSpPr>
          <p:spPr bwMode="auto">
            <a:xfrm>
              <a:off x="1744567" y="3229743"/>
              <a:ext cx="358661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5" name="Rectangle 214"/>
            <p:cNvSpPr>
              <a:spLocks noChangeAspect="1"/>
            </p:cNvSpPr>
            <p:nvPr/>
          </p:nvSpPr>
          <p:spPr bwMode="auto">
            <a:xfrm>
              <a:off x="301986" y="3596458"/>
              <a:ext cx="360249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6" name="Rectangle 215"/>
            <p:cNvSpPr>
              <a:spLocks noChangeAspect="1"/>
            </p:cNvSpPr>
            <p:nvPr/>
          </p:nvSpPr>
          <p:spPr bwMode="auto">
            <a:xfrm>
              <a:off x="662234" y="3596458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7" name="Rectangle 216"/>
            <p:cNvSpPr>
              <a:spLocks noChangeAspect="1"/>
            </p:cNvSpPr>
            <p:nvPr/>
          </p:nvSpPr>
          <p:spPr bwMode="auto">
            <a:xfrm>
              <a:off x="301986" y="3236093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8" name="Rectangle 217"/>
            <p:cNvSpPr>
              <a:spLocks noChangeAspect="1"/>
            </p:cNvSpPr>
            <p:nvPr/>
          </p:nvSpPr>
          <p:spPr bwMode="auto">
            <a:xfrm>
              <a:off x="662234" y="3236093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19" name="Rectangle 218"/>
            <p:cNvSpPr>
              <a:spLocks noChangeAspect="1"/>
            </p:cNvSpPr>
            <p:nvPr/>
          </p:nvSpPr>
          <p:spPr bwMode="auto">
            <a:xfrm>
              <a:off x="301986" y="4315599"/>
              <a:ext cx="360249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0" name="Rectangle 219"/>
            <p:cNvSpPr>
              <a:spLocks noChangeAspect="1"/>
            </p:cNvSpPr>
            <p:nvPr/>
          </p:nvSpPr>
          <p:spPr bwMode="auto">
            <a:xfrm>
              <a:off x="662234" y="4315599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1" name="Rectangle 220"/>
            <p:cNvSpPr>
              <a:spLocks noChangeAspect="1"/>
            </p:cNvSpPr>
            <p:nvPr/>
          </p:nvSpPr>
          <p:spPr bwMode="auto">
            <a:xfrm>
              <a:off x="301986" y="3955235"/>
              <a:ext cx="360249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2" name="Rectangle 221"/>
            <p:cNvSpPr>
              <a:spLocks noChangeAspect="1"/>
            </p:cNvSpPr>
            <p:nvPr/>
          </p:nvSpPr>
          <p:spPr bwMode="auto">
            <a:xfrm>
              <a:off x="662234" y="3955235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3" name="Rectangle 222"/>
            <p:cNvSpPr>
              <a:spLocks noChangeAspect="1"/>
            </p:cNvSpPr>
            <p:nvPr/>
          </p:nvSpPr>
          <p:spPr bwMode="auto">
            <a:xfrm>
              <a:off x="1024070" y="4309249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4" name="Rectangle 223"/>
            <p:cNvSpPr>
              <a:spLocks noChangeAspect="1"/>
            </p:cNvSpPr>
            <p:nvPr/>
          </p:nvSpPr>
          <p:spPr bwMode="auto">
            <a:xfrm>
              <a:off x="1024070" y="3950472"/>
              <a:ext cx="360248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5" name="Rectangle 224"/>
            <p:cNvSpPr>
              <a:spLocks noChangeAspect="1"/>
            </p:cNvSpPr>
            <p:nvPr/>
          </p:nvSpPr>
          <p:spPr bwMode="auto">
            <a:xfrm>
              <a:off x="1024070" y="3590108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6" name="Rectangle 225"/>
            <p:cNvSpPr>
              <a:spLocks noChangeAspect="1"/>
            </p:cNvSpPr>
            <p:nvPr/>
          </p:nvSpPr>
          <p:spPr bwMode="auto">
            <a:xfrm>
              <a:off x="1024070" y="3229743"/>
              <a:ext cx="360248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7" name="Rectangle 226"/>
            <p:cNvSpPr>
              <a:spLocks noChangeAspect="1"/>
            </p:cNvSpPr>
            <p:nvPr/>
          </p:nvSpPr>
          <p:spPr bwMode="auto">
            <a:xfrm>
              <a:off x="1384318" y="4669614"/>
              <a:ext cx="360249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8" name="Rectangle 227"/>
            <p:cNvSpPr>
              <a:spLocks noChangeAspect="1"/>
            </p:cNvSpPr>
            <p:nvPr/>
          </p:nvSpPr>
          <p:spPr bwMode="auto">
            <a:xfrm>
              <a:off x="1744567" y="4669614"/>
              <a:ext cx="358661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29" name="Rectangle 228"/>
            <p:cNvSpPr>
              <a:spLocks noChangeAspect="1"/>
            </p:cNvSpPr>
            <p:nvPr/>
          </p:nvSpPr>
          <p:spPr bwMode="auto">
            <a:xfrm>
              <a:off x="301986" y="4675964"/>
              <a:ext cx="360249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30" name="Rectangle 229"/>
            <p:cNvSpPr>
              <a:spLocks noChangeAspect="1"/>
            </p:cNvSpPr>
            <p:nvPr/>
          </p:nvSpPr>
          <p:spPr bwMode="auto">
            <a:xfrm>
              <a:off x="662234" y="4675964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31" name="Rectangle 230"/>
            <p:cNvSpPr>
              <a:spLocks noChangeAspect="1"/>
            </p:cNvSpPr>
            <p:nvPr/>
          </p:nvSpPr>
          <p:spPr bwMode="auto">
            <a:xfrm>
              <a:off x="1024070" y="4669614"/>
              <a:ext cx="360248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232" name="Straight Arrow Connector 231"/>
            <p:cNvCxnSpPr/>
            <p:nvPr/>
          </p:nvCxnSpPr>
          <p:spPr bwMode="auto">
            <a:xfrm flipH="1" flipV="1">
              <a:off x="1024070" y="1956561"/>
              <a:ext cx="15870" cy="415292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3" name="Straight Arrow Connector 232"/>
            <p:cNvCxnSpPr/>
            <p:nvPr/>
          </p:nvCxnSpPr>
          <p:spPr bwMode="auto">
            <a:xfrm>
              <a:off x="301986" y="4310837"/>
              <a:ext cx="3189864" cy="47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4" name="Straight Connector 233"/>
            <p:cNvCxnSpPr/>
            <p:nvPr/>
          </p:nvCxnSpPr>
          <p:spPr bwMode="auto">
            <a:xfrm rot="16200000" flipV="1">
              <a:off x="948688" y="2786063"/>
              <a:ext cx="0" cy="1825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5" name="Straight Connector 234"/>
            <p:cNvCxnSpPr/>
            <p:nvPr/>
          </p:nvCxnSpPr>
          <p:spPr bwMode="auto">
            <a:xfrm rot="16200000" flipV="1">
              <a:off x="932818" y="3500442"/>
              <a:ext cx="0" cy="1825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6" name="Straight Connector 235"/>
            <p:cNvCxnSpPr/>
            <p:nvPr/>
          </p:nvCxnSpPr>
          <p:spPr bwMode="auto">
            <a:xfrm rot="16200000" flipV="1">
              <a:off x="951862" y="2065334"/>
              <a:ext cx="0" cy="1825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Straight Connector 236"/>
            <p:cNvCxnSpPr/>
            <p:nvPr/>
          </p:nvCxnSpPr>
          <p:spPr bwMode="auto">
            <a:xfrm rot="16200000" flipV="1">
              <a:off x="932818" y="4217996"/>
              <a:ext cx="0" cy="1825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Straight Connector 237"/>
            <p:cNvCxnSpPr/>
            <p:nvPr/>
          </p:nvCxnSpPr>
          <p:spPr bwMode="auto">
            <a:xfrm rot="16200000" flipV="1">
              <a:off x="916948" y="5641992"/>
              <a:ext cx="0" cy="1825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9" name="Straight Connector 238"/>
            <p:cNvCxnSpPr/>
            <p:nvPr/>
          </p:nvCxnSpPr>
          <p:spPr bwMode="auto">
            <a:xfrm rot="16200000" flipV="1">
              <a:off x="932818" y="4938725"/>
              <a:ext cx="0" cy="182505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0" name="TextBox 668"/>
            <p:cNvSpPr txBox="1">
              <a:spLocks noChangeArrowheads="1"/>
            </p:cNvSpPr>
            <p:nvPr/>
          </p:nvSpPr>
          <p:spPr bwMode="auto">
            <a:xfrm>
              <a:off x="410099" y="4815627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241" name="TextBox 672"/>
            <p:cNvSpPr txBox="1">
              <a:spLocks noChangeArrowheads="1"/>
            </p:cNvSpPr>
            <p:nvPr/>
          </p:nvSpPr>
          <p:spPr bwMode="auto">
            <a:xfrm>
              <a:off x="389357" y="2677286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42" name="TextBox 673"/>
            <p:cNvSpPr txBox="1">
              <a:spLocks noChangeArrowheads="1"/>
            </p:cNvSpPr>
            <p:nvPr/>
          </p:nvSpPr>
          <p:spPr bwMode="auto">
            <a:xfrm>
              <a:off x="410099" y="3375483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43" name="TextBox 674"/>
            <p:cNvSpPr txBox="1">
              <a:spLocks noChangeArrowheads="1"/>
            </p:cNvSpPr>
            <p:nvPr/>
          </p:nvSpPr>
          <p:spPr bwMode="auto">
            <a:xfrm>
              <a:off x="389357" y="195656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244" name="Straight Connector 243"/>
            <p:cNvCxnSpPr/>
            <p:nvPr/>
          </p:nvCxnSpPr>
          <p:spPr bwMode="auto">
            <a:xfrm rot="5400000" flipH="1" flipV="1">
              <a:off x="917711" y="4393387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5" name="Straight Connector 244"/>
            <p:cNvCxnSpPr/>
            <p:nvPr/>
          </p:nvCxnSpPr>
          <p:spPr bwMode="auto">
            <a:xfrm rot="5400000" flipH="1" flipV="1">
              <a:off x="3093484" y="4391800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6" name="Straight Connector 245"/>
            <p:cNvCxnSpPr/>
            <p:nvPr/>
          </p:nvCxnSpPr>
          <p:spPr bwMode="auto">
            <a:xfrm rot="5400000" flipH="1" flipV="1">
              <a:off x="1636621" y="4393387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7" name="Straight Connector 246"/>
            <p:cNvCxnSpPr/>
            <p:nvPr/>
          </p:nvCxnSpPr>
          <p:spPr bwMode="auto">
            <a:xfrm rot="5400000" flipH="1" flipV="1">
              <a:off x="2372987" y="4364812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8" name="TextBox 685"/>
            <p:cNvSpPr txBox="1">
              <a:spLocks noChangeArrowheads="1"/>
            </p:cNvSpPr>
            <p:nvPr/>
          </p:nvSpPr>
          <p:spPr bwMode="auto">
            <a:xfrm>
              <a:off x="35370" y="451483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249" name="TextBox 686"/>
            <p:cNvSpPr txBox="1">
              <a:spLocks noChangeArrowheads="1"/>
            </p:cNvSpPr>
            <p:nvPr/>
          </p:nvSpPr>
          <p:spPr bwMode="auto">
            <a:xfrm>
              <a:off x="428626" y="5533584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-4</a:t>
              </a:r>
            </a:p>
          </p:txBody>
        </p:sp>
        <p:sp>
          <p:nvSpPr>
            <p:cNvPr id="250" name="TextBox 688"/>
            <p:cNvSpPr txBox="1">
              <a:spLocks noChangeArrowheads="1"/>
            </p:cNvSpPr>
            <p:nvPr/>
          </p:nvSpPr>
          <p:spPr bwMode="auto">
            <a:xfrm>
              <a:off x="2229737" y="451483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251" name="TextBox 689"/>
            <p:cNvSpPr txBox="1">
              <a:spLocks noChangeArrowheads="1"/>
            </p:cNvSpPr>
            <p:nvPr/>
          </p:nvSpPr>
          <p:spPr bwMode="auto">
            <a:xfrm>
              <a:off x="1494411" y="451483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252" name="TextBox 690"/>
            <p:cNvSpPr txBox="1">
              <a:spLocks noChangeArrowheads="1"/>
            </p:cNvSpPr>
            <p:nvPr/>
          </p:nvSpPr>
          <p:spPr bwMode="auto">
            <a:xfrm>
              <a:off x="2948874" y="451483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253" name="Straight Connector 252"/>
            <p:cNvCxnSpPr/>
            <p:nvPr/>
          </p:nvCxnSpPr>
          <p:spPr bwMode="auto">
            <a:xfrm rot="5400000" flipH="1" flipV="1">
              <a:off x="197215" y="4393387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54" name="Straight Connector 253"/>
          <p:cNvCxnSpPr>
            <a:endCxn id="350" idx="0"/>
          </p:cNvCxnSpPr>
          <p:nvPr/>
        </p:nvCxnSpPr>
        <p:spPr>
          <a:xfrm flipV="1">
            <a:off x="1024682" y="2244046"/>
            <a:ext cx="1619250" cy="3233738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Straight Connector 254"/>
          <p:cNvCxnSpPr/>
          <p:nvPr/>
        </p:nvCxnSpPr>
        <p:spPr>
          <a:xfrm rot="5400000" flipH="1" flipV="1">
            <a:off x="5857826" y="4219690"/>
            <a:ext cx="1630362" cy="1606550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56" name="Group 319"/>
          <p:cNvGrpSpPr>
            <a:grpSpLocks/>
          </p:cNvGrpSpPr>
          <p:nvPr/>
        </p:nvGrpSpPr>
        <p:grpSpPr bwMode="auto">
          <a:xfrm>
            <a:off x="5603032" y="2044021"/>
            <a:ext cx="3455987" cy="4152900"/>
            <a:chOff x="35370" y="1956561"/>
            <a:chExt cx="3456480" cy="4152923"/>
          </a:xfrm>
        </p:grpSpPr>
        <p:sp>
          <p:nvSpPr>
            <p:cNvPr id="257" name="Rectangle 256"/>
            <p:cNvSpPr>
              <a:spLocks noChangeAspect="1"/>
            </p:cNvSpPr>
            <p:nvPr/>
          </p:nvSpPr>
          <p:spPr bwMode="auto">
            <a:xfrm>
              <a:off x="1384937" y="5733245"/>
              <a:ext cx="360413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58" name="Rectangle 257"/>
            <p:cNvSpPr>
              <a:spLocks noChangeAspect="1"/>
            </p:cNvSpPr>
            <p:nvPr/>
          </p:nvSpPr>
          <p:spPr bwMode="auto">
            <a:xfrm>
              <a:off x="1745351" y="5733245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59" name="Rectangle 258"/>
            <p:cNvSpPr>
              <a:spLocks noChangeAspect="1"/>
            </p:cNvSpPr>
            <p:nvPr/>
          </p:nvSpPr>
          <p:spPr bwMode="auto">
            <a:xfrm>
              <a:off x="1384937" y="5372880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0" name="Rectangle 259"/>
            <p:cNvSpPr>
              <a:spLocks noChangeAspect="1"/>
            </p:cNvSpPr>
            <p:nvPr/>
          </p:nvSpPr>
          <p:spPr bwMode="auto">
            <a:xfrm>
              <a:off x="1745351" y="5372880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1" name="Rectangle 260"/>
            <p:cNvSpPr>
              <a:spLocks noChangeAspect="1"/>
            </p:cNvSpPr>
            <p:nvPr/>
          </p:nvSpPr>
          <p:spPr bwMode="auto">
            <a:xfrm>
              <a:off x="1384937" y="5029978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2" name="Rectangle 261"/>
            <p:cNvSpPr>
              <a:spLocks noChangeAspect="1"/>
            </p:cNvSpPr>
            <p:nvPr/>
          </p:nvSpPr>
          <p:spPr bwMode="auto">
            <a:xfrm>
              <a:off x="1745351" y="5029978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3" name="Rectangle 262"/>
            <p:cNvSpPr>
              <a:spLocks noChangeAspect="1"/>
            </p:cNvSpPr>
            <p:nvPr/>
          </p:nvSpPr>
          <p:spPr bwMode="auto">
            <a:xfrm>
              <a:off x="1024523" y="5733245"/>
              <a:ext cx="360414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4" name="Rectangle 263"/>
            <p:cNvSpPr>
              <a:spLocks noChangeAspect="1"/>
            </p:cNvSpPr>
            <p:nvPr/>
          </p:nvSpPr>
          <p:spPr bwMode="auto">
            <a:xfrm>
              <a:off x="1024523" y="5372880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5" name="Rectangle 264"/>
            <p:cNvSpPr>
              <a:spLocks noChangeAspect="1"/>
            </p:cNvSpPr>
            <p:nvPr/>
          </p:nvSpPr>
          <p:spPr bwMode="auto">
            <a:xfrm>
              <a:off x="1024523" y="5029978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6" name="Rectangle 265"/>
            <p:cNvSpPr>
              <a:spLocks noChangeAspect="1"/>
            </p:cNvSpPr>
            <p:nvPr/>
          </p:nvSpPr>
          <p:spPr bwMode="auto">
            <a:xfrm>
              <a:off x="1383349" y="2877316"/>
              <a:ext cx="360414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7" name="Rectangle 266"/>
            <p:cNvSpPr>
              <a:spLocks noChangeAspect="1"/>
            </p:cNvSpPr>
            <p:nvPr/>
          </p:nvSpPr>
          <p:spPr bwMode="auto">
            <a:xfrm>
              <a:off x="1743764" y="2877316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8" name="Rectangle 267"/>
            <p:cNvSpPr>
              <a:spLocks noChangeAspect="1"/>
            </p:cNvSpPr>
            <p:nvPr/>
          </p:nvSpPr>
          <p:spPr bwMode="auto">
            <a:xfrm>
              <a:off x="1383349" y="2516952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69" name="Rectangle 268"/>
            <p:cNvSpPr>
              <a:spLocks noChangeAspect="1"/>
            </p:cNvSpPr>
            <p:nvPr/>
          </p:nvSpPr>
          <p:spPr bwMode="auto">
            <a:xfrm>
              <a:off x="1743764" y="2516952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0" name="Rectangle 269"/>
            <p:cNvSpPr>
              <a:spLocks noChangeAspect="1"/>
            </p:cNvSpPr>
            <p:nvPr/>
          </p:nvSpPr>
          <p:spPr bwMode="auto">
            <a:xfrm>
              <a:off x="1383349" y="2156587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1" name="Rectangle 270"/>
            <p:cNvSpPr>
              <a:spLocks noChangeAspect="1"/>
            </p:cNvSpPr>
            <p:nvPr/>
          </p:nvSpPr>
          <p:spPr bwMode="auto">
            <a:xfrm>
              <a:off x="1743764" y="2156587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2" name="Rectangle 271"/>
            <p:cNvSpPr>
              <a:spLocks noChangeAspect="1"/>
            </p:cNvSpPr>
            <p:nvPr/>
          </p:nvSpPr>
          <p:spPr bwMode="auto">
            <a:xfrm>
              <a:off x="1022936" y="2877316"/>
              <a:ext cx="360413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3" name="Rectangle 272"/>
            <p:cNvSpPr>
              <a:spLocks noChangeAspect="1"/>
            </p:cNvSpPr>
            <p:nvPr/>
          </p:nvSpPr>
          <p:spPr bwMode="auto">
            <a:xfrm>
              <a:off x="1022936" y="2516952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4" name="Rectangle 273"/>
            <p:cNvSpPr>
              <a:spLocks noChangeAspect="1"/>
            </p:cNvSpPr>
            <p:nvPr/>
          </p:nvSpPr>
          <p:spPr bwMode="auto">
            <a:xfrm>
              <a:off x="1022936" y="2156587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5" name="Rectangle 274"/>
            <p:cNvSpPr>
              <a:spLocks noChangeAspect="1"/>
            </p:cNvSpPr>
            <p:nvPr/>
          </p:nvSpPr>
          <p:spPr bwMode="auto">
            <a:xfrm>
              <a:off x="2463003" y="2877316"/>
              <a:ext cx="360414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6" name="Rectangle 275"/>
            <p:cNvSpPr>
              <a:spLocks noChangeAspect="1"/>
            </p:cNvSpPr>
            <p:nvPr/>
          </p:nvSpPr>
          <p:spPr bwMode="auto">
            <a:xfrm>
              <a:off x="2823418" y="2877316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7" name="Rectangle 276"/>
            <p:cNvSpPr>
              <a:spLocks noChangeAspect="1"/>
            </p:cNvSpPr>
            <p:nvPr/>
          </p:nvSpPr>
          <p:spPr bwMode="auto">
            <a:xfrm>
              <a:off x="2463003" y="2516952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8" name="Rectangle 277"/>
            <p:cNvSpPr>
              <a:spLocks noChangeAspect="1"/>
            </p:cNvSpPr>
            <p:nvPr/>
          </p:nvSpPr>
          <p:spPr bwMode="auto">
            <a:xfrm>
              <a:off x="2823418" y="2516952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79" name="Rectangle 278"/>
            <p:cNvSpPr>
              <a:spLocks noChangeAspect="1"/>
            </p:cNvSpPr>
            <p:nvPr/>
          </p:nvSpPr>
          <p:spPr bwMode="auto">
            <a:xfrm>
              <a:off x="2463003" y="2156587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0" name="Rectangle 279"/>
            <p:cNvSpPr>
              <a:spLocks noChangeAspect="1"/>
            </p:cNvSpPr>
            <p:nvPr/>
          </p:nvSpPr>
          <p:spPr bwMode="auto">
            <a:xfrm>
              <a:off x="2823418" y="2156587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1" name="Rectangle 280"/>
            <p:cNvSpPr>
              <a:spLocks noChangeAspect="1"/>
            </p:cNvSpPr>
            <p:nvPr/>
          </p:nvSpPr>
          <p:spPr bwMode="auto">
            <a:xfrm>
              <a:off x="2102590" y="2877316"/>
              <a:ext cx="360413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2" name="Rectangle 281"/>
            <p:cNvSpPr>
              <a:spLocks noChangeAspect="1"/>
            </p:cNvSpPr>
            <p:nvPr/>
          </p:nvSpPr>
          <p:spPr bwMode="auto">
            <a:xfrm>
              <a:off x="2102590" y="2516952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3" name="Rectangle 282"/>
            <p:cNvSpPr>
              <a:spLocks noChangeAspect="1"/>
            </p:cNvSpPr>
            <p:nvPr/>
          </p:nvSpPr>
          <p:spPr bwMode="auto">
            <a:xfrm>
              <a:off x="2102590" y="2156587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4" name="Rectangle 283"/>
            <p:cNvSpPr>
              <a:spLocks noChangeAspect="1"/>
            </p:cNvSpPr>
            <p:nvPr/>
          </p:nvSpPr>
          <p:spPr bwMode="auto">
            <a:xfrm>
              <a:off x="2464591" y="3950472"/>
              <a:ext cx="360413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5" name="Rectangle 284"/>
            <p:cNvSpPr>
              <a:spLocks noChangeAspect="1"/>
            </p:cNvSpPr>
            <p:nvPr/>
          </p:nvSpPr>
          <p:spPr bwMode="auto">
            <a:xfrm>
              <a:off x="2825005" y="3950472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6" name="Rectangle 285"/>
            <p:cNvSpPr>
              <a:spLocks noChangeAspect="1"/>
            </p:cNvSpPr>
            <p:nvPr/>
          </p:nvSpPr>
          <p:spPr bwMode="auto">
            <a:xfrm>
              <a:off x="2464591" y="3590108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7" name="Rectangle 286"/>
            <p:cNvSpPr>
              <a:spLocks noChangeAspect="1"/>
            </p:cNvSpPr>
            <p:nvPr/>
          </p:nvSpPr>
          <p:spPr bwMode="auto">
            <a:xfrm>
              <a:off x="2825005" y="3590108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8" name="Rectangle 287"/>
            <p:cNvSpPr>
              <a:spLocks noChangeAspect="1"/>
            </p:cNvSpPr>
            <p:nvPr/>
          </p:nvSpPr>
          <p:spPr bwMode="auto">
            <a:xfrm>
              <a:off x="2464591" y="3229743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89" name="Rectangle 288"/>
            <p:cNvSpPr>
              <a:spLocks noChangeAspect="1"/>
            </p:cNvSpPr>
            <p:nvPr/>
          </p:nvSpPr>
          <p:spPr bwMode="auto">
            <a:xfrm>
              <a:off x="2825005" y="3229743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0" name="Rectangle 289"/>
            <p:cNvSpPr>
              <a:spLocks noChangeAspect="1"/>
            </p:cNvSpPr>
            <p:nvPr/>
          </p:nvSpPr>
          <p:spPr bwMode="auto">
            <a:xfrm>
              <a:off x="2104177" y="3950472"/>
              <a:ext cx="360414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1" name="Rectangle 290"/>
            <p:cNvSpPr>
              <a:spLocks noChangeAspect="1"/>
            </p:cNvSpPr>
            <p:nvPr/>
          </p:nvSpPr>
          <p:spPr bwMode="auto">
            <a:xfrm>
              <a:off x="2104177" y="3590108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2" name="Rectangle 291"/>
            <p:cNvSpPr>
              <a:spLocks noChangeAspect="1"/>
            </p:cNvSpPr>
            <p:nvPr/>
          </p:nvSpPr>
          <p:spPr bwMode="auto">
            <a:xfrm>
              <a:off x="2104177" y="3229743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3" name="Rectangle 292"/>
            <p:cNvSpPr>
              <a:spLocks noChangeAspect="1"/>
            </p:cNvSpPr>
            <p:nvPr/>
          </p:nvSpPr>
          <p:spPr bwMode="auto">
            <a:xfrm>
              <a:off x="2464591" y="5022041"/>
              <a:ext cx="360413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4" name="Rectangle 293"/>
            <p:cNvSpPr>
              <a:spLocks noChangeAspect="1"/>
            </p:cNvSpPr>
            <p:nvPr/>
          </p:nvSpPr>
          <p:spPr bwMode="auto">
            <a:xfrm>
              <a:off x="2825005" y="5022041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5" name="Rectangle 294"/>
            <p:cNvSpPr>
              <a:spLocks noChangeAspect="1"/>
            </p:cNvSpPr>
            <p:nvPr/>
          </p:nvSpPr>
          <p:spPr bwMode="auto">
            <a:xfrm>
              <a:off x="2464591" y="4661676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6" name="Rectangle 295"/>
            <p:cNvSpPr>
              <a:spLocks noChangeAspect="1"/>
            </p:cNvSpPr>
            <p:nvPr/>
          </p:nvSpPr>
          <p:spPr bwMode="auto">
            <a:xfrm>
              <a:off x="2825005" y="4661676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7" name="Rectangle 296"/>
            <p:cNvSpPr>
              <a:spLocks noChangeAspect="1"/>
            </p:cNvSpPr>
            <p:nvPr/>
          </p:nvSpPr>
          <p:spPr bwMode="auto">
            <a:xfrm>
              <a:off x="2464591" y="4301312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8" name="Rectangle 297"/>
            <p:cNvSpPr>
              <a:spLocks noChangeAspect="1"/>
            </p:cNvSpPr>
            <p:nvPr/>
          </p:nvSpPr>
          <p:spPr bwMode="auto">
            <a:xfrm>
              <a:off x="2825005" y="4301312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299" name="Rectangle 298"/>
            <p:cNvSpPr>
              <a:spLocks noChangeAspect="1"/>
            </p:cNvSpPr>
            <p:nvPr/>
          </p:nvSpPr>
          <p:spPr bwMode="auto">
            <a:xfrm>
              <a:off x="2104177" y="5022041"/>
              <a:ext cx="360414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0" name="Rectangle 299"/>
            <p:cNvSpPr>
              <a:spLocks noChangeAspect="1"/>
            </p:cNvSpPr>
            <p:nvPr/>
          </p:nvSpPr>
          <p:spPr bwMode="auto">
            <a:xfrm>
              <a:off x="2104177" y="4661676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1" name="Rectangle 300"/>
            <p:cNvSpPr>
              <a:spLocks noChangeAspect="1"/>
            </p:cNvSpPr>
            <p:nvPr/>
          </p:nvSpPr>
          <p:spPr bwMode="auto">
            <a:xfrm>
              <a:off x="2104177" y="4301312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2" name="Rectangle 301"/>
            <p:cNvSpPr>
              <a:spLocks noChangeAspect="1"/>
            </p:cNvSpPr>
            <p:nvPr/>
          </p:nvSpPr>
          <p:spPr bwMode="auto">
            <a:xfrm>
              <a:off x="2464591" y="5733245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3" name="Rectangle 302"/>
            <p:cNvSpPr>
              <a:spLocks noChangeAspect="1"/>
            </p:cNvSpPr>
            <p:nvPr/>
          </p:nvSpPr>
          <p:spPr bwMode="auto">
            <a:xfrm>
              <a:off x="2825005" y="5733245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4" name="Rectangle 303"/>
            <p:cNvSpPr>
              <a:spLocks noChangeAspect="1"/>
            </p:cNvSpPr>
            <p:nvPr/>
          </p:nvSpPr>
          <p:spPr bwMode="auto">
            <a:xfrm>
              <a:off x="2464591" y="5372880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5" name="Rectangle 304"/>
            <p:cNvSpPr>
              <a:spLocks noChangeAspect="1"/>
            </p:cNvSpPr>
            <p:nvPr/>
          </p:nvSpPr>
          <p:spPr bwMode="auto">
            <a:xfrm>
              <a:off x="2825005" y="5372880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6" name="Rectangle 305"/>
            <p:cNvSpPr>
              <a:spLocks noChangeAspect="1"/>
            </p:cNvSpPr>
            <p:nvPr/>
          </p:nvSpPr>
          <p:spPr bwMode="auto">
            <a:xfrm>
              <a:off x="2104177" y="5733245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7" name="Rectangle 306"/>
            <p:cNvSpPr>
              <a:spLocks noChangeAspect="1"/>
            </p:cNvSpPr>
            <p:nvPr/>
          </p:nvSpPr>
          <p:spPr bwMode="auto">
            <a:xfrm>
              <a:off x="2104177" y="5372880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8" name="Rectangle 307"/>
            <p:cNvSpPr>
              <a:spLocks noChangeAspect="1"/>
            </p:cNvSpPr>
            <p:nvPr/>
          </p:nvSpPr>
          <p:spPr bwMode="auto">
            <a:xfrm>
              <a:off x="303695" y="2877316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09" name="Rectangle 308"/>
            <p:cNvSpPr>
              <a:spLocks noChangeAspect="1"/>
            </p:cNvSpPr>
            <p:nvPr/>
          </p:nvSpPr>
          <p:spPr bwMode="auto">
            <a:xfrm>
              <a:off x="662521" y="2877316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0" name="Rectangle 309"/>
            <p:cNvSpPr>
              <a:spLocks noChangeAspect="1"/>
            </p:cNvSpPr>
            <p:nvPr/>
          </p:nvSpPr>
          <p:spPr bwMode="auto">
            <a:xfrm>
              <a:off x="303695" y="2516952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1" name="Rectangle 310"/>
            <p:cNvSpPr>
              <a:spLocks noChangeAspect="1"/>
            </p:cNvSpPr>
            <p:nvPr/>
          </p:nvSpPr>
          <p:spPr bwMode="auto">
            <a:xfrm>
              <a:off x="662521" y="2516952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2" name="Rectangle 311"/>
            <p:cNvSpPr>
              <a:spLocks noChangeAspect="1"/>
            </p:cNvSpPr>
            <p:nvPr/>
          </p:nvSpPr>
          <p:spPr bwMode="auto">
            <a:xfrm>
              <a:off x="303695" y="2156587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3" name="Rectangle 312"/>
            <p:cNvSpPr>
              <a:spLocks noChangeAspect="1"/>
            </p:cNvSpPr>
            <p:nvPr/>
          </p:nvSpPr>
          <p:spPr bwMode="auto">
            <a:xfrm>
              <a:off x="662521" y="2156587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4" name="Rectangle 313"/>
            <p:cNvSpPr>
              <a:spLocks noChangeAspect="1"/>
            </p:cNvSpPr>
            <p:nvPr/>
          </p:nvSpPr>
          <p:spPr bwMode="auto">
            <a:xfrm>
              <a:off x="303695" y="5750707"/>
              <a:ext cx="360414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5" name="Rectangle 314"/>
            <p:cNvSpPr>
              <a:spLocks noChangeAspect="1"/>
            </p:cNvSpPr>
            <p:nvPr/>
          </p:nvSpPr>
          <p:spPr bwMode="auto">
            <a:xfrm>
              <a:off x="664110" y="5750707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6" name="Rectangle 315"/>
            <p:cNvSpPr>
              <a:spLocks noChangeAspect="1"/>
            </p:cNvSpPr>
            <p:nvPr/>
          </p:nvSpPr>
          <p:spPr bwMode="auto">
            <a:xfrm>
              <a:off x="303695" y="5390343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7" name="Rectangle 316"/>
            <p:cNvSpPr>
              <a:spLocks noChangeAspect="1"/>
            </p:cNvSpPr>
            <p:nvPr/>
          </p:nvSpPr>
          <p:spPr bwMode="auto">
            <a:xfrm>
              <a:off x="664110" y="5390343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8" name="Rectangle 317"/>
            <p:cNvSpPr>
              <a:spLocks noChangeAspect="1"/>
            </p:cNvSpPr>
            <p:nvPr/>
          </p:nvSpPr>
          <p:spPr bwMode="auto">
            <a:xfrm>
              <a:off x="303695" y="5029978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19" name="Rectangle 318"/>
            <p:cNvSpPr>
              <a:spLocks noChangeAspect="1"/>
            </p:cNvSpPr>
            <p:nvPr/>
          </p:nvSpPr>
          <p:spPr bwMode="auto">
            <a:xfrm>
              <a:off x="664110" y="5029978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0" name="Rectangle 319"/>
            <p:cNvSpPr>
              <a:spLocks noChangeAspect="1"/>
            </p:cNvSpPr>
            <p:nvPr/>
          </p:nvSpPr>
          <p:spPr bwMode="auto">
            <a:xfrm>
              <a:off x="1384937" y="4309249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1" name="Rectangle 320"/>
            <p:cNvSpPr>
              <a:spLocks noChangeAspect="1"/>
            </p:cNvSpPr>
            <p:nvPr/>
          </p:nvSpPr>
          <p:spPr bwMode="auto">
            <a:xfrm>
              <a:off x="1745351" y="4309249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2" name="Rectangle 321"/>
            <p:cNvSpPr>
              <a:spLocks noChangeAspect="1"/>
            </p:cNvSpPr>
            <p:nvPr/>
          </p:nvSpPr>
          <p:spPr bwMode="auto">
            <a:xfrm>
              <a:off x="1384937" y="3950472"/>
              <a:ext cx="360413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3" name="Rectangle 322"/>
            <p:cNvSpPr>
              <a:spLocks noChangeAspect="1"/>
            </p:cNvSpPr>
            <p:nvPr/>
          </p:nvSpPr>
          <p:spPr bwMode="auto">
            <a:xfrm>
              <a:off x="1745351" y="3950472"/>
              <a:ext cx="358826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4" name="Rectangle 323"/>
            <p:cNvSpPr>
              <a:spLocks noChangeAspect="1"/>
            </p:cNvSpPr>
            <p:nvPr/>
          </p:nvSpPr>
          <p:spPr bwMode="auto">
            <a:xfrm>
              <a:off x="1384937" y="3590108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5" name="Rectangle 324"/>
            <p:cNvSpPr>
              <a:spLocks noChangeAspect="1"/>
            </p:cNvSpPr>
            <p:nvPr/>
          </p:nvSpPr>
          <p:spPr bwMode="auto">
            <a:xfrm>
              <a:off x="1745351" y="3590108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6" name="Rectangle 325"/>
            <p:cNvSpPr>
              <a:spLocks noChangeAspect="1"/>
            </p:cNvSpPr>
            <p:nvPr/>
          </p:nvSpPr>
          <p:spPr bwMode="auto">
            <a:xfrm>
              <a:off x="1384937" y="3229743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7" name="Rectangle 326"/>
            <p:cNvSpPr>
              <a:spLocks noChangeAspect="1"/>
            </p:cNvSpPr>
            <p:nvPr/>
          </p:nvSpPr>
          <p:spPr bwMode="auto">
            <a:xfrm>
              <a:off x="1745351" y="3229743"/>
              <a:ext cx="358826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8" name="Rectangle 327"/>
            <p:cNvSpPr>
              <a:spLocks noChangeAspect="1"/>
            </p:cNvSpPr>
            <p:nvPr/>
          </p:nvSpPr>
          <p:spPr bwMode="auto">
            <a:xfrm>
              <a:off x="302108" y="3596458"/>
              <a:ext cx="360413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29" name="Rectangle 328"/>
            <p:cNvSpPr>
              <a:spLocks noChangeAspect="1"/>
            </p:cNvSpPr>
            <p:nvPr/>
          </p:nvSpPr>
          <p:spPr bwMode="auto">
            <a:xfrm>
              <a:off x="662521" y="3596458"/>
              <a:ext cx="360414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0" name="Rectangle 329"/>
            <p:cNvSpPr>
              <a:spLocks noChangeAspect="1"/>
            </p:cNvSpPr>
            <p:nvPr/>
          </p:nvSpPr>
          <p:spPr bwMode="auto">
            <a:xfrm>
              <a:off x="302108" y="3236093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1" name="Rectangle 330"/>
            <p:cNvSpPr>
              <a:spLocks noChangeAspect="1"/>
            </p:cNvSpPr>
            <p:nvPr/>
          </p:nvSpPr>
          <p:spPr bwMode="auto">
            <a:xfrm>
              <a:off x="662521" y="3236093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2" name="Rectangle 331"/>
            <p:cNvSpPr>
              <a:spLocks noChangeAspect="1"/>
            </p:cNvSpPr>
            <p:nvPr/>
          </p:nvSpPr>
          <p:spPr bwMode="auto">
            <a:xfrm>
              <a:off x="302108" y="4315599"/>
              <a:ext cx="360413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3" name="Rectangle 332"/>
            <p:cNvSpPr>
              <a:spLocks noChangeAspect="1"/>
            </p:cNvSpPr>
            <p:nvPr/>
          </p:nvSpPr>
          <p:spPr bwMode="auto">
            <a:xfrm>
              <a:off x="662521" y="4315599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4" name="Rectangle 333"/>
            <p:cNvSpPr>
              <a:spLocks noChangeAspect="1"/>
            </p:cNvSpPr>
            <p:nvPr/>
          </p:nvSpPr>
          <p:spPr bwMode="auto">
            <a:xfrm>
              <a:off x="302108" y="3955235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5" name="Rectangle 334"/>
            <p:cNvSpPr>
              <a:spLocks noChangeAspect="1"/>
            </p:cNvSpPr>
            <p:nvPr/>
          </p:nvSpPr>
          <p:spPr bwMode="auto">
            <a:xfrm>
              <a:off x="662521" y="3955235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6" name="Rectangle 335"/>
            <p:cNvSpPr>
              <a:spLocks noChangeAspect="1"/>
            </p:cNvSpPr>
            <p:nvPr/>
          </p:nvSpPr>
          <p:spPr bwMode="auto">
            <a:xfrm>
              <a:off x="1024523" y="4309249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7" name="Rectangle 336"/>
            <p:cNvSpPr>
              <a:spLocks noChangeAspect="1"/>
            </p:cNvSpPr>
            <p:nvPr/>
          </p:nvSpPr>
          <p:spPr bwMode="auto">
            <a:xfrm>
              <a:off x="1024523" y="3950472"/>
              <a:ext cx="360414" cy="358777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8" name="Rectangle 337"/>
            <p:cNvSpPr>
              <a:spLocks noChangeAspect="1"/>
            </p:cNvSpPr>
            <p:nvPr/>
          </p:nvSpPr>
          <p:spPr bwMode="auto">
            <a:xfrm>
              <a:off x="1024523" y="3590108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39" name="Rectangle 338"/>
            <p:cNvSpPr>
              <a:spLocks noChangeAspect="1"/>
            </p:cNvSpPr>
            <p:nvPr/>
          </p:nvSpPr>
          <p:spPr bwMode="auto">
            <a:xfrm>
              <a:off x="1024523" y="3229743"/>
              <a:ext cx="360414" cy="360365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40" name="Rectangle 339"/>
            <p:cNvSpPr>
              <a:spLocks noChangeAspect="1"/>
            </p:cNvSpPr>
            <p:nvPr/>
          </p:nvSpPr>
          <p:spPr bwMode="auto">
            <a:xfrm>
              <a:off x="1384937" y="4669614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41" name="Rectangle 340"/>
            <p:cNvSpPr>
              <a:spLocks noChangeAspect="1"/>
            </p:cNvSpPr>
            <p:nvPr/>
          </p:nvSpPr>
          <p:spPr bwMode="auto">
            <a:xfrm>
              <a:off x="1745351" y="4669614"/>
              <a:ext cx="358826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42" name="Rectangle 341"/>
            <p:cNvSpPr>
              <a:spLocks noChangeAspect="1"/>
            </p:cNvSpPr>
            <p:nvPr/>
          </p:nvSpPr>
          <p:spPr bwMode="auto">
            <a:xfrm>
              <a:off x="302108" y="4675964"/>
              <a:ext cx="360413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43" name="Rectangle 342"/>
            <p:cNvSpPr>
              <a:spLocks noChangeAspect="1"/>
            </p:cNvSpPr>
            <p:nvPr/>
          </p:nvSpPr>
          <p:spPr bwMode="auto">
            <a:xfrm>
              <a:off x="662521" y="4675964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sp>
          <p:nvSpPr>
            <p:cNvPr id="344" name="Rectangle 343"/>
            <p:cNvSpPr>
              <a:spLocks noChangeAspect="1"/>
            </p:cNvSpPr>
            <p:nvPr/>
          </p:nvSpPr>
          <p:spPr bwMode="auto">
            <a:xfrm>
              <a:off x="1024523" y="4669614"/>
              <a:ext cx="360414" cy="360364"/>
            </a:xfrm>
            <a:prstGeom prst="rect">
              <a:avLst/>
            </a:prstGeom>
            <a:solidFill>
              <a:srgbClr val="E7FEFF"/>
            </a:solidFill>
            <a:ln w="19050">
              <a:solidFill>
                <a:srgbClr val="5FB5CD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GB"/>
            </a:p>
          </p:txBody>
        </p:sp>
        <p:cxnSp>
          <p:nvCxnSpPr>
            <p:cNvPr id="345" name="Straight Arrow Connector 344"/>
            <p:cNvCxnSpPr/>
            <p:nvPr/>
          </p:nvCxnSpPr>
          <p:spPr bwMode="auto">
            <a:xfrm flipH="1" flipV="1">
              <a:off x="1024523" y="1956561"/>
              <a:ext cx="14290" cy="4152923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6" name="Straight Arrow Connector 345"/>
            <p:cNvCxnSpPr/>
            <p:nvPr/>
          </p:nvCxnSpPr>
          <p:spPr bwMode="auto">
            <a:xfrm>
              <a:off x="302108" y="4310837"/>
              <a:ext cx="3189742" cy="4762"/>
            </a:xfrm>
            <a:prstGeom prst="straightConnector1">
              <a:avLst/>
            </a:prstGeom>
            <a:ln w="381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Straight Connector 346"/>
            <p:cNvCxnSpPr/>
            <p:nvPr/>
          </p:nvCxnSpPr>
          <p:spPr bwMode="auto">
            <a:xfrm rot="16200000" flipV="1">
              <a:off x="947519" y="2786021"/>
              <a:ext cx="0" cy="18258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8" name="Straight Connector 347"/>
            <p:cNvCxnSpPr/>
            <p:nvPr/>
          </p:nvCxnSpPr>
          <p:spPr bwMode="auto">
            <a:xfrm rot="16200000" flipV="1">
              <a:off x="933229" y="3500401"/>
              <a:ext cx="0" cy="182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9" name="Straight Connector 348"/>
            <p:cNvCxnSpPr/>
            <p:nvPr/>
          </p:nvCxnSpPr>
          <p:spPr bwMode="auto">
            <a:xfrm rot="16200000" flipV="1">
              <a:off x="952282" y="2065293"/>
              <a:ext cx="0" cy="182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Straight Connector 349"/>
            <p:cNvCxnSpPr/>
            <p:nvPr/>
          </p:nvCxnSpPr>
          <p:spPr bwMode="auto">
            <a:xfrm rot="16200000" flipV="1">
              <a:off x="933229" y="4217955"/>
              <a:ext cx="0" cy="182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1" name="Straight Connector 350"/>
            <p:cNvCxnSpPr/>
            <p:nvPr/>
          </p:nvCxnSpPr>
          <p:spPr bwMode="auto">
            <a:xfrm rot="16200000" flipV="1">
              <a:off x="917352" y="5641951"/>
              <a:ext cx="0" cy="182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2" name="Straight Connector 351"/>
            <p:cNvCxnSpPr/>
            <p:nvPr/>
          </p:nvCxnSpPr>
          <p:spPr bwMode="auto">
            <a:xfrm rot="16200000" flipV="1">
              <a:off x="933229" y="4938684"/>
              <a:ext cx="0" cy="182588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53" name="TextBox 668"/>
            <p:cNvSpPr txBox="1">
              <a:spLocks noChangeArrowheads="1"/>
            </p:cNvSpPr>
            <p:nvPr/>
          </p:nvSpPr>
          <p:spPr bwMode="auto">
            <a:xfrm>
              <a:off x="410099" y="4815627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354" name="TextBox 672"/>
            <p:cNvSpPr txBox="1">
              <a:spLocks noChangeArrowheads="1"/>
            </p:cNvSpPr>
            <p:nvPr/>
          </p:nvSpPr>
          <p:spPr bwMode="auto">
            <a:xfrm>
              <a:off x="389357" y="2677286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55" name="TextBox 673"/>
            <p:cNvSpPr txBox="1">
              <a:spLocks noChangeArrowheads="1"/>
            </p:cNvSpPr>
            <p:nvPr/>
          </p:nvSpPr>
          <p:spPr bwMode="auto">
            <a:xfrm>
              <a:off x="410099" y="3375483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56" name="TextBox 674"/>
            <p:cNvSpPr txBox="1">
              <a:spLocks noChangeArrowheads="1"/>
            </p:cNvSpPr>
            <p:nvPr/>
          </p:nvSpPr>
          <p:spPr bwMode="auto">
            <a:xfrm>
              <a:off x="389357" y="195656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r"/>
              <a:r>
                <a:rPr lang="en-GB" altLang="x-none" sz="200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357" name="Straight Connector 356"/>
            <p:cNvCxnSpPr/>
            <p:nvPr/>
          </p:nvCxnSpPr>
          <p:spPr bwMode="auto">
            <a:xfrm rot="5400000" flipH="1" flipV="1">
              <a:off x="918157" y="4393387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8" name="Straight Connector 357"/>
            <p:cNvCxnSpPr/>
            <p:nvPr/>
          </p:nvCxnSpPr>
          <p:spPr bwMode="auto">
            <a:xfrm rot="5400000" flipH="1" flipV="1">
              <a:off x="3093343" y="4391800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9" name="Straight Connector 358"/>
            <p:cNvCxnSpPr/>
            <p:nvPr/>
          </p:nvCxnSpPr>
          <p:spPr bwMode="auto">
            <a:xfrm rot="5400000" flipH="1" flipV="1">
              <a:off x="1637398" y="4393387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0" name="Straight Connector 359"/>
            <p:cNvCxnSpPr/>
            <p:nvPr/>
          </p:nvCxnSpPr>
          <p:spPr bwMode="auto">
            <a:xfrm rot="5400000" flipH="1" flipV="1">
              <a:off x="2374103" y="4364812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61" name="TextBox 685"/>
            <p:cNvSpPr txBox="1">
              <a:spLocks noChangeArrowheads="1"/>
            </p:cNvSpPr>
            <p:nvPr/>
          </p:nvSpPr>
          <p:spPr bwMode="auto">
            <a:xfrm>
              <a:off x="35370" y="451483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-2</a:t>
              </a:r>
            </a:p>
          </p:txBody>
        </p:sp>
        <p:sp>
          <p:nvSpPr>
            <p:cNvPr id="362" name="TextBox 686"/>
            <p:cNvSpPr txBox="1">
              <a:spLocks noChangeArrowheads="1"/>
            </p:cNvSpPr>
            <p:nvPr/>
          </p:nvSpPr>
          <p:spPr bwMode="auto">
            <a:xfrm>
              <a:off x="428626" y="5533584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-4</a:t>
              </a:r>
            </a:p>
          </p:txBody>
        </p:sp>
        <p:sp>
          <p:nvSpPr>
            <p:cNvPr id="363" name="TextBox 688"/>
            <p:cNvSpPr txBox="1">
              <a:spLocks noChangeArrowheads="1"/>
            </p:cNvSpPr>
            <p:nvPr/>
          </p:nvSpPr>
          <p:spPr bwMode="auto">
            <a:xfrm>
              <a:off x="2229737" y="451483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4</a:t>
              </a:r>
            </a:p>
          </p:txBody>
        </p:sp>
        <p:sp>
          <p:nvSpPr>
            <p:cNvPr id="364" name="TextBox 689"/>
            <p:cNvSpPr txBox="1">
              <a:spLocks noChangeArrowheads="1"/>
            </p:cNvSpPr>
            <p:nvPr/>
          </p:nvSpPr>
          <p:spPr bwMode="auto">
            <a:xfrm>
              <a:off x="1494411" y="451483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2</a:t>
              </a:r>
            </a:p>
          </p:txBody>
        </p:sp>
        <p:sp>
          <p:nvSpPr>
            <p:cNvPr id="365" name="TextBox 690"/>
            <p:cNvSpPr txBox="1">
              <a:spLocks noChangeArrowheads="1"/>
            </p:cNvSpPr>
            <p:nvPr/>
          </p:nvSpPr>
          <p:spPr bwMode="auto">
            <a:xfrm>
              <a:off x="2948874" y="4514831"/>
              <a:ext cx="467612" cy="40009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1pPr>
              <a:lvl2pPr marL="742950" indent="-28575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2pPr>
              <a:lvl3pPr marL="11430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3pPr>
              <a:lvl4pPr marL="16002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4pPr>
              <a:lvl5pPr marL="2057400" indent="-228600"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rgbClr val="010066"/>
                  </a:solidFill>
                  <a:latin typeface="Arial" charset="0"/>
                  <a:ea typeface="Arial" charset="0"/>
                  <a:cs typeface="Arial" charset="0"/>
                </a:defRPr>
              </a:lvl9pPr>
            </a:lstStyle>
            <a:p>
              <a:pPr algn="ctr"/>
              <a:r>
                <a:rPr lang="en-GB" altLang="x-none" sz="2000">
                  <a:solidFill>
                    <a:schemeClr val="tx1"/>
                  </a:solidFill>
                </a:rPr>
                <a:t>6</a:t>
              </a:r>
            </a:p>
          </p:txBody>
        </p:sp>
        <p:cxnSp>
          <p:nvCxnSpPr>
            <p:cNvPr id="366" name="Straight Connector 365"/>
            <p:cNvCxnSpPr/>
            <p:nvPr/>
          </p:nvCxnSpPr>
          <p:spPr bwMode="auto">
            <a:xfrm rot="5400000" flipH="1" flipV="1">
              <a:off x="197330" y="4393387"/>
              <a:ext cx="180976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367" name="Straight Connector 366"/>
          <p:cNvCxnSpPr/>
          <p:nvPr/>
        </p:nvCxnSpPr>
        <p:spPr>
          <a:xfrm>
            <a:off x="6231682" y="2244046"/>
            <a:ext cx="1298575" cy="3952875"/>
          </a:xfrm>
          <a:prstGeom prst="line">
            <a:avLst/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8" name="Straight Arrow Connector 367"/>
          <p:cNvCxnSpPr/>
          <p:nvPr/>
        </p:nvCxnSpPr>
        <p:spPr>
          <a:xfrm flipV="1">
            <a:off x="2089894" y="3317196"/>
            <a:ext cx="360363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9" name="Straight Arrow Connector 368"/>
          <p:cNvCxnSpPr/>
          <p:nvPr/>
        </p:nvCxnSpPr>
        <p:spPr>
          <a:xfrm flipH="1" flipV="1">
            <a:off x="2448669" y="2604409"/>
            <a:ext cx="1588" cy="712787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0" name="Rectangle 369"/>
          <p:cNvSpPr/>
          <p:nvPr/>
        </p:nvSpPr>
        <p:spPr>
          <a:xfrm>
            <a:off x="3421807" y="2444071"/>
            <a:ext cx="2057400" cy="879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Gradient</a:t>
            </a:r>
          </a:p>
          <a:p>
            <a:pPr algn="ctr">
              <a:defRPr/>
            </a:pPr>
            <a:r>
              <a:rPr lang="en-GB" dirty="0"/>
              <a:t>= 2</a:t>
            </a:r>
          </a:p>
        </p:txBody>
      </p:sp>
      <p:sp>
        <p:nvSpPr>
          <p:cNvPr id="371" name="Multiply 370"/>
          <p:cNvSpPr/>
          <p:nvPr/>
        </p:nvSpPr>
        <p:spPr>
          <a:xfrm>
            <a:off x="1581894" y="3863296"/>
            <a:ext cx="327025" cy="344488"/>
          </a:xfrm>
          <a:prstGeom prst="mathMultiply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cxnSp>
        <p:nvCxnSpPr>
          <p:cNvPr id="372" name="Straight Arrow Connector 371"/>
          <p:cNvCxnSpPr/>
          <p:nvPr/>
        </p:nvCxnSpPr>
        <p:spPr>
          <a:xfrm flipV="1">
            <a:off x="6593632" y="3323546"/>
            <a:ext cx="360362" cy="0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3" name="Straight Arrow Connector 372"/>
          <p:cNvCxnSpPr/>
          <p:nvPr/>
        </p:nvCxnSpPr>
        <p:spPr>
          <a:xfrm>
            <a:off x="6953994" y="3323546"/>
            <a:ext cx="0" cy="1038225"/>
          </a:xfrm>
          <a:prstGeom prst="straightConnector1">
            <a:avLst/>
          </a:prstGeom>
          <a:ln w="38100">
            <a:solidFill>
              <a:schemeClr val="tx1">
                <a:lumMod val="95000"/>
                <a:lumOff val="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4" name="Rectangle 373"/>
          <p:cNvSpPr/>
          <p:nvPr/>
        </p:nvSpPr>
        <p:spPr>
          <a:xfrm>
            <a:off x="3421807" y="3423559"/>
            <a:ext cx="2057400" cy="8794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Y-intercept</a:t>
            </a:r>
          </a:p>
          <a:p>
            <a:pPr algn="ctr">
              <a:defRPr/>
            </a:pPr>
            <a:r>
              <a:rPr lang="en-GB" dirty="0"/>
              <a:t>= 1</a:t>
            </a:r>
          </a:p>
        </p:txBody>
      </p:sp>
      <p:sp>
        <p:nvSpPr>
          <p:cNvPr id="375" name="Rectangle 374"/>
          <p:cNvSpPr/>
          <p:nvPr/>
        </p:nvSpPr>
        <p:spPr>
          <a:xfrm>
            <a:off x="2464544" y="6020709"/>
            <a:ext cx="2057400" cy="87947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y=2x + 1</a:t>
            </a:r>
          </a:p>
        </p:txBody>
      </p:sp>
      <p:sp>
        <p:nvSpPr>
          <p:cNvPr id="376" name="Rectangle 375"/>
          <p:cNvSpPr/>
          <p:nvPr/>
        </p:nvSpPr>
        <p:spPr>
          <a:xfrm>
            <a:off x="7762032" y="2461534"/>
            <a:ext cx="2057400" cy="87947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Gradient</a:t>
            </a:r>
          </a:p>
          <a:p>
            <a:pPr algn="ctr">
              <a:defRPr/>
            </a:pPr>
            <a:r>
              <a:rPr lang="en-GB" dirty="0"/>
              <a:t>= -3</a:t>
            </a:r>
          </a:p>
        </p:txBody>
      </p:sp>
      <p:sp>
        <p:nvSpPr>
          <p:cNvPr id="377" name="Rectangle 376"/>
          <p:cNvSpPr/>
          <p:nvPr/>
        </p:nvSpPr>
        <p:spPr>
          <a:xfrm>
            <a:off x="7762032" y="3439434"/>
            <a:ext cx="2057400" cy="87947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Y-intercept</a:t>
            </a:r>
          </a:p>
          <a:p>
            <a:pPr algn="ctr">
              <a:defRPr/>
            </a:pPr>
            <a:r>
              <a:rPr lang="en-GB" dirty="0"/>
              <a:t>= 3</a:t>
            </a:r>
          </a:p>
        </p:txBody>
      </p:sp>
      <p:sp>
        <p:nvSpPr>
          <p:cNvPr id="378" name="Rectangle 377"/>
          <p:cNvSpPr/>
          <p:nvPr/>
        </p:nvSpPr>
        <p:spPr>
          <a:xfrm>
            <a:off x="6806357" y="6038171"/>
            <a:ext cx="2057400" cy="879475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anchor="ctr"/>
          <a:lstStyle/>
          <a:p>
            <a:pPr algn="ctr">
              <a:defRPr/>
            </a:pPr>
            <a:r>
              <a:rPr lang="en-GB" dirty="0"/>
              <a:t>y=-3x + 3</a:t>
            </a:r>
          </a:p>
        </p:txBody>
      </p:sp>
      <p:sp>
        <p:nvSpPr>
          <p:cNvPr id="379" name="Multiply 378"/>
          <p:cNvSpPr/>
          <p:nvPr/>
        </p:nvSpPr>
        <p:spPr>
          <a:xfrm>
            <a:off x="6445994" y="3172734"/>
            <a:ext cx="325438" cy="344487"/>
          </a:xfrm>
          <a:prstGeom prst="mathMultiply">
            <a:avLst/>
          </a:prstGeom>
          <a:solidFill>
            <a:srgbClr val="FFFF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GB"/>
          </a:p>
        </p:txBody>
      </p:sp>
      <p:sp>
        <p:nvSpPr>
          <p:cNvPr id="380" name="TextBox 379"/>
          <p:cNvSpPr txBox="1"/>
          <p:nvPr/>
        </p:nvSpPr>
        <p:spPr>
          <a:xfrm>
            <a:off x="-1" y="915525"/>
            <a:ext cx="92583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What are gradient and y-intercepts and how do we </a:t>
            </a:r>
            <a:r>
              <a:rPr lang="en-AU" sz="2400" smtClean="0"/>
              <a:t>measure them?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5139970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0" grpId="0" animBg="1"/>
      <p:bldP spid="374" grpId="0" animBg="1"/>
      <p:bldP spid="375" grpId="0" animBg="1"/>
      <p:bldP spid="376" grpId="0" animBg="1"/>
      <p:bldP spid="377" grpId="0" animBg="1"/>
      <p:bldP spid="37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013792" y="993912"/>
            <a:ext cx="727436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000" dirty="0" smtClean="0"/>
              <a:t>Do </a:t>
            </a:r>
            <a:r>
              <a:rPr lang="en-US" sz="4000" smtClean="0"/>
              <a:t>Questions 5-8 </a:t>
            </a:r>
            <a:r>
              <a:rPr lang="en-US" sz="4000" dirty="0" smtClean="0"/>
              <a:t>from Worksheet</a:t>
            </a:r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1391154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3093</TotalTime>
  <Words>786</Words>
  <Application>Microsoft Macintosh PowerPoint</Application>
  <PresentationFormat>On-screen Show (4:3)</PresentationFormat>
  <Paragraphs>264</Paragraphs>
  <Slides>20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Calibri</vt:lpstr>
      <vt:lpstr>Calibri Light</vt:lpstr>
      <vt:lpstr>Cambria Math</vt:lpstr>
      <vt:lpstr>Mangal</vt:lpstr>
      <vt:lpstr>Times New Roman</vt:lpstr>
      <vt:lpstr>Arial</vt:lpstr>
      <vt:lpstr>Office Theme</vt:lpstr>
      <vt:lpstr>Equation</vt:lpstr>
      <vt:lpstr>My Linear Relationships Interactive Notebook</vt:lpstr>
      <vt:lpstr>Interactive Notebooks!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15.0034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E4007446</dc:creator>
  <cp:lastModifiedBy>SUMMERS Brad [Baldivis Secondary College]</cp:lastModifiedBy>
  <cp:revision>84</cp:revision>
  <dcterms:created xsi:type="dcterms:W3CDTF">2016-04-30T07:20:25Z</dcterms:created>
  <dcterms:modified xsi:type="dcterms:W3CDTF">2017-11-06T11:57:54Z</dcterms:modified>
</cp:coreProperties>
</file>
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0"/>
  </p:notesMasterIdLst>
  <p:sldIdLst>
    <p:sldId id="263" r:id="rId2"/>
    <p:sldId id="257" r:id="rId3"/>
    <p:sldId id="258" r:id="rId4"/>
    <p:sldId id="264" r:id="rId5"/>
    <p:sldId id="259" r:id="rId6"/>
    <p:sldId id="267" r:id="rId7"/>
    <p:sldId id="266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ED131-494B-4427-ADD1-AC74E4160A67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13306-7375-4083-A760-9BA806994C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69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117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9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8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58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18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11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206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93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530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863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693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823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608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727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87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8874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31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219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9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944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56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20CB-BC79-4F9F-B271-A8244B9525BC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D6979-C34A-48DB-ABA7-AF17E511D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06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200400" y="393503"/>
            <a:ext cx="7772400" cy="1470025"/>
          </a:xfrm>
        </p:spPr>
        <p:txBody>
          <a:bodyPr/>
          <a:lstStyle/>
          <a:p>
            <a:r>
              <a:rPr lang="en-AU" b="1" dirty="0">
                <a:solidFill>
                  <a:schemeClr val="accent2">
                    <a:lumMod val="50000"/>
                  </a:schemeClr>
                </a:solidFill>
              </a:rPr>
              <a:t>Time</a:t>
            </a:r>
            <a:br>
              <a:rPr lang="en-AU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AU" b="1" dirty="0">
                <a:solidFill>
                  <a:schemeClr val="accent2">
                    <a:lumMod val="50000"/>
                  </a:schemeClr>
                </a:solidFill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4356313"/>
            <a:ext cx="6400800" cy="175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	Name </a:t>
            </a:r>
          </a:p>
          <a:p>
            <a:pPr marL="0" indent="0">
              <a:buNone/>
            </a:pPr>
            <a:r>
              <a:rPr lang="en-AU" dirty="0"/>
              <a:t>	Class </a:t>
            </a:r>
          </a:p>
          <a:p>
            <a:pPr marL="0" indent="0">
              <a:buNone/>
            </a:pPr>
            <a:r>
              <a:rPr lang="en-AU" dirty="0"/>
              <a:t>	Teacher</a:t>
            </a:r>
          </a:p>
          <a:p>
            <a:pPr marL="0" indent="0">
              <a:buNone/>
            </a:pPr>
            <a:r>
              <a:rPr lang="en-AU" dirty="0"/>
              <a:t>	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4162425"/>
            <a:ext cx="4038600" cy="2695575"/>
          </a:xfrm>
          <a:prstGeom prst="rect">
            <a:avLst/>
          </a:prstGeom>
        </p:spPr>
      </p:pic>
      <p:pic>
        <p:nvPicPr>
          <p:cNvPr id="8" name="Picture 2" descr="Image result for cute clock icon">
            <a:extLst>
              <a:ext uri="{FF2B5EF4-FFF2-40B4-BE49-F238E27FC236}">
                <a16:creationId xmlns:a16="http://schemas.microsoft.com/office/drawing/2014/main" id="{29A650B6-3C9D-4538-A967-DC1D54BA9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551" y="2204448"/>
            <a:ext cx="3182786" cy="318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Time Conversions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200" dirty="0"/>
              <a:t>How to convert time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8833" y="116632"/>
            <a:ext cx="8229600" cy="1224136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600" dirty="0">
                <a:latin typeface="Brandish" pitchFamily="2" charset="0"/>
              </a:rPr>
              <a:t>Fun Facts 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556792"/>
            <a:ext cx="8892480" cy="5040560"/>
          </a:xfrm>
        </p:spPr>
        <p:txBody>
          <a:bodyPr>
            <a:normAutofit/>
          </a:bodyPr>
          <a:lstStyle/>
          <a:p>
            <a:r>
              <a:rPr lang="en-GB" dirty="0"/>
              <a:t>Time in minutes and seconds is based on the number</a:t>
            </a:r>
            <a:r>
              <a:rPr lang="mr-IN" dirty="0"/>
              <a:t>……</a:t>
            </a:r>
            <a:r>
              <a:rPr lang="en-AU" dirty="0"/>
              <a:t>..60</a:t>
            </a:r>
          </a:p>
          <a:p>
            <a:pPr marL="0" indent="0" algn="ctr">
              <a:buNone/>
            </a:pPr>
            <a:r>
              <a:rPr lang="en-AU" sz="2400" i="1" dirty="0"/>
              <a:t>Thanks to the ancient Babylonians who used a Base-60 system.</a:t>
            </a:r>
          </a:p>
          <a:p>
            <a:r>
              <a:rPr lang="en-US" dirty="0"/>
              <a:t>Other units of time are based on the rate that the Earth spins on it’s axis.</a:t>
            </a:r>
          </a:p>
          <a:p>
            <a:pPr marL="0" indent="0">
              <a:buNone/>
            </a:pPr>
            <a:r>
              <a:rPr lang="en-US" sz="2400" i="1" dirty="0"/>
              <a:t>The ancient Egyptians described the </a:t>
            </a:r>
            <a:r>
              <a:rPr lang="en-US" sz="2400" b="1" i="1" dirty="0"/>
              <a:t>24 hour day</a:t>
            </a:r>
            <a:r>
              <a:rPr lang="en-US" sz="2400" i="1" dirty="0"/>
              <a:t> as 12 hours of day and 12 hours of night.</a:t>
            </a:r>
          </a:p>
          <a:p>
            <a:r>
              <a:rPr lang="en-US" dirty="0"/>
              <a:t>The solar calendar </a:t>
            </a:r>
            <a:r>
              <a:rPr lang="en-US" dirty="0" err="1"/>
              <a:t>recognises</a:t>
            </a:r>
            <a:r>
              <a:rPr lang="en-US" dirty="0"/>
              <a:t> that the Earth takes about 365 ¼ days to orbit the Sun. This gave us the leap year, one extra day every four years.  Leap years have 366 days, 29</a:t>
            </a:r>
            <a:r>
              <a:rPr lang="en-US" baseline="30000" dirty="0"/>
              <a:t>th</a:t>
            </a:r>
            <a:r>
              <a:rPr lang="en-US" dirty="0"/>
              <a:t> of February is the extra day.  </a:t>
            </a:r>
          </a:p>
          <a:p>
            <a:pPr marL="0" indent="0">
              <a:buNone/>
            </a:pPr>
            <a:r>
              <a:rPr lang="en-US" sz="2400" i="1" dirty="0"/>
              <a:t>The Olympics occur on leap years.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i="1" dirty="0"/>
              <a:t>Julius Caesar introduced the solar calendar.</a:t>
            </a:r>
          </a:p>
          <a:p>
            <a:endParaRPr lang="en-US" sz="2400" i="1" dirty="0"/>
          </a:p>
          <a:p>
            <a:pPr marL="0" indent="0">
              <a:buNone/>
            </a:pPr>
            <a:endParaRPr lang="en-GB" sz="7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620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619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3879"/>
            <a:ext cx="18459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Kiwi School Handwriting" panose="00000500000000000000" pitchFamily="2" charset="0"/>
              </a:rPr>
              <a:t>How do I convert unit of time?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2634" y="1404741"/>
            <a:ext cx="10156843" cy="415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4">
                    <a:lumMod val="50000"/>
                  </a:schemeClr>
                </a:solidFill>
                <a:latin typeface="Calibri" panose="020F0502020204030204"/>
              </a:rPr>
              <a:t>Time Conversion Caterpillar </a:t>
            </a:r>
          </a:p>
          <a:p>
            <a:pPr defTabSz="914126"/>
            <a:endParaRPr lang="en-AU" sz="2399" b="1" dirty="0">
              <a:solidFill>
                <a:schemeClr val="accent4">
                  <a:lumMod val="50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schemeClr val="accent4">
                    <a:lumMod val="50000"/>
                  </a:schemeClr>
                </a:solidFill>
                <a:latin typeface="Calibri" panose="020F0502020204030204"/>
              </a:rPr>
              <a:t> </a:t>
            </a:r>
          </a:p>
          <a:p>
            <a:pPr defTabSz="914126"/>
            <a:r>
              <a:rPr lang="en-AU" sz="2399" b="1" dirty="0">
                <a:solidFill>
                  <a:srgbClr val="00B050"/>
                </a:solidFill>
                <a:latin typeface="Calibri" panose="020F0502020204030204"/>
              </a:rPr>
              <a:t>Second                              Minute                               Hour                                  Day</a:t>
            </a: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US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r>
              <a:rPr lang="en-US" sz="2399" b="1" dirty="0">
                <a:solidFill>
                  <a:srgbClr val="00B050"/>
                </a:solidFill>
                <a:latin typeface="Calibri" panose="020F0502020204030204"/>
              </a:rPr>
              <a:t>Day                                  Week                             Fortnight                              Year</a:t>
            </a:r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73EB889-D79A-48B8-9356-F780D4B36081}"/>
              </a:ext>
            </a:extLst>
          </p:cNvPr>
          <p:cNvGrpSpPr/>
          <p:nvPr/>
        </p:nvGrpSpPr>
        <p:grpSpPr>
          <a:xfrm>
            <a:off x="2372139" y="1974574"/>
            <a:ext cx="3246783" cy="609600"/>
            <a:chOff x="2372139" y="1974574"/>
            <a:chExt cx="3246783" cy="609600"/>
          </a:xfrm>
        </p:grpSpPr>
        <p:sp>
          <p:nvSpPr>
            <p:cNvPr id="2" name="Arrow: Curved Down 1">
              <a:extLst>
                <a:ext uri="{FF2B5EF4-FFF2-40B4-BE49-F238E27FC236}">
                  <a16:creationId xmlns:a16="http://schemas.microsoft.com/office/drawing/2014/main" id="{88B18E47-C3E6-447C-8863-9FEAC299BE46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6F26A7-2C5A-4FAA-B779-BC83843EF02A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3FF91-32D4-46D0-B282-88E04FA2522D}"/>
              </a:ext>
            </a:extLst>
          </p:cNvPr>
          <p:cNvGrpSpPr/>
          <p:nvPr/>
        </p:nvGrpSpPr>
        <p:grpSpPr>
          <a:xfrm>
            <a:off x="5254487" y="1921565"/>
            <a:ext cx="3246783" cy="609600"/>
            <a:chOff x="2372139" y="1974574"/>
            <a:chExt cx="3246783" cy="609600"/>
          </a:xfrm>
        </p:grpSpPr>
        <p:sp>
          <p:nvSpPr>
            <p:cNvPr id="15" name="Arrow: Curved Down 14">
              <a:extLst>
                <a:ext uri="{FF2B5EF4-FFF2-40B4-BE49-F238E27FC236}">
                  <a16:creationId xmlns:a16="http://schemas.microsoft.com/office/drawing/2014/main" id="{7C4D5D61-BD2A-4573-AA77-6A6DA95CA58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80CAD8-F574-4FEB-94DF-F63C3AE5911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60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FE4D06-409F-45B5-9F3E-38BDB475C7DC}"/>
              </a:ext>
            </a:extLst>
          </p:cNvPr>
          <p:cNvGrpSpPr/>
          <p:nvPr/>
        </p:nvGrpSpPr>
        <p:grpSpPr>
          <a:xfrm>
            <a:off x="8176930" y="1884515"/>
            <a:ext cx="3246783" cy="609600"/>
            <a:chOff x="2372139" y="1974574"/>
            <a:chExt cx="3246783" cy="609600"/>
          </a:xfrm>
        </p:grpSpPr>
        <p:sp>
          <p:nvSpPr>
            <p:cNvPr id="18" name="Arrow: Curved Down 17">
              <a:extLst>
                <a:ext uri="{FF2B5EF4-FFF2-40B4-BE49-F238E27FC236}">
                  <a16:creationId xmlns:a16="http://schemas.microsoft.com/office/drawing/2014/main" id="{A357B714-26F1-4C41-A04F-AAA619EF79C5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55B804-78CF-4B1E-965A-7BB5BC7125A6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24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4D97B0-4B19-46E9-A6DB-7D04121E1E5E}"/>
              </a:ext>
            </a:extLst>
          </p:cNvPr>
          <p:cNvGrpSpPr/>
          <p:nvPr/>
        </p:nvGrpSpPr>
        <p:grpSpPr>
          <a:xfrm>
            <a:off x="8004503" y="2890451"/>
            <a:ext cx="3246783" cy="609600"/>
            <a:chOff x="8057322" y="2950963"/>
            <a:chExt cx="3246783" cy="609600"/>
          </a:xfrm>
        </p:grpSpPr>
        <p:sp>
          <p:nvSpPr>
            <p:cNvPr id="21" name="Arrow: Curved Down 20">
              <a:extLst>
                <a:ext uri="{FF2B5EF4-FFF2-40B4-BE49-F238E27FC236}">
                  <a16:creationId xmlns:a16="http://schemas.microsoft.com/office/drawing/2014/main" id="{3B378309-B22B-46AF-93A3-A381ABFCAB4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F70075-C355-47E6-97C7-8FBD970500CE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24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D1C4A4-530A-4646-B1CF-C334850F2B6C}"/>
              </a:ext>
            </a:extLst>
          </p:cNvPr>
          <p:cNvGrpSpPr/>
          <p:nvPr/>
        </p:nvGrpSpPr>
        <p:grpSpPr>
          <a:xfrm>
            <a:off x="5117997" y="2934122"/>
            <a:ext cx="3246783" cy="609600"/>
            <a:chOff x="8057322" y="2950963"/>
            <a:chExt cx="3246783" cy="609600"/>
          </a:xfrm>
        </p:grpSpPr>
        <p:sp>
          <p:nvSpPr>
            <p:cNvPr id="24" name="Arrow: Curved Down 23">
              <a:extLst>
                <a:ext uri="{FF2B5EF4-FFF2-40B4-BE49-F238E27FC236}">
                  <a16:creationId xmlns:a16="http://schemas.microsoft.com/office/drawing/2014/main" id="{603E1C8B-0794-4B41-A61B-888E7E55303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BEB744-1D01-466F-BF60-E756219E4F40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60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FEF30A-E6C1-4447-8E7B-EBFA880F2AE6}"/>
              </a:ext>
            </a:extLst>
          </p:cNvPr>
          <p:cNvGrpSpPr/>
          <p:nvPr/>
        </p:nvGrpSpPr>
        <p:grpSpPr>
          <a:xfrm>
            <a:off x="2231491" y="2939263"/>
            <a:ext cx="3246783" cy="609600"/>
            <a:chOff x="8057322" y="2950963"/>
            <a:chExt cx="3246783" cy="609600"/>
          </a:xfrm>
        </p:grpSpPr>
        <p:sp>
          <p:nvSpPr>
            <p:cNvPr id="27" name="Arrow: Curved Down 26">
              <a:extLst>
                <a:ext uri="{FF2B5EF4-FFF2-40B4-BE49-F238E27FC236}">
                  <a16:creationId xmlns:a16="http://schemas.microsoft.com/office/drawing/2014/main" id="{01CFCE21-3E59-4A02-BD5F-5CA12C373AB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7F2F96-C8F3-43BC-9084-2408FFC8D6C3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60 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B185C9-9E2C-4077-9DF4-605A3283D955}"/>
              </a:ext>
            </a:extLst>
          </p:cNvPr>
          <p:cNvGrpSpPr/>
          <p:nvPr/>
        </p:nvGrpSpPr>
        <p:grpSpPr>
          <a:xfrm>
            <a:off x="2199712" y="4523812"/>
            <a:ext cx="3246783" cy="609600"/>
            <a:chOff x="2372139" y="1974574"/>
            <a:chExt cx="3246783" cy="609600"/>
          </a:xfrm>
        </p:grpSpPr>
        <p:sp>
          <p:nvSpPr>
            <p:cNvPr id="30" name="Arrow: Curved Down 29">
              <a:extLst>
                <a:ext uri="{FF2B5EF4-FFF2-40B4-BE49-F238E27FC236}">
                  <a16:creationId xmlns:a16="http://schemas.microsoft.com/office/drawing/2014/main" id="{885A1432-9632-4F1F-B8D2-9B0A6CEDBD18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A6EFB7C-D0E5-40CB-A5C2-BFD6CDBC862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7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780A9E-493C-45D3-A4B5-9866FF8F9A50}"/>
              </a:ext>
            </a:extLst>
          </p:cNvPr>
          <p:cNvGrpSpPr/>
          <p:nvPr/>
        </p:nvGrpSpPr>
        <p:grpSpPr>
          <a:xfrm>
            <a:off x="5082060" y="4470803"/>
            <a:ext cx="3246783" cy="609600"/>
            <a:chOff x="2372139" y="1974574"/>
            <a:chExt cx="3246783" cy="609600"/>
          </a:xfrm>
        </p:grpSpPr>
        <p:sp>
          <p:nvSpPr>
            <p:cNvPr id="34" name="Arrow: Curved Down 33">
              <a:extLst>
                <a:ext uri="{FF2B5EF4-FFF2-40B4-BE49-F238E27FC236}">
                  <a16:creationId xmlns:a16="http://schemas.microsoft.com/office/drawing/2014/main" id="{DA60EDCC-A352-42E9-AB91-B365717CE11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5027B5B-B2C8-4468-AA1D-ABFE0668A65C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2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D479E7-638A-43C3-B687-16E96D12C490}"/>
              </a:ext>
            </a:extLst>
          </p:cNvPr>
          <p:cNvGrpSpPr/>
          <p:nvPr/>
        </p:nvGrpSpPr>
        <p:grpSpPr>
          <a:xfrm>
            <a:off x="8004503" y="4433753"/>
            <a:ext cx="3246783" cy="609600"/>
            <a:chOff x="2372139" y="1974574"/>
            <a:chExt cx="3246783" cy="609600"/>
          </a:xfrm>
        </p:grpSpPr>
        <p:sp>
          <p:nvSpPr>
            <p:cNvPr id="38" name="Arrow: Curved Down 37">
              <a:extLst>
                <a:ext uri="{FF2B5EF4-FFF2-40B4-BE49-F238E27FC236}">
                  <a16:creationId xmlns:a16="http://schemas.microsoft.com/office/drawing/2014/main" id="{4A583994-2950-4D53-8577-629754A05C23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1FF2AAD-5ECB-4211-9C19-9A5C88B46041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26 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BE8990C-6B3E-49F3-98EA-707D279BDE4F}"/>
              </a:ext>
            </a:extLst>
          </p:cNvPr>
          <p:cNvGrpSpPr/>
          <p:nvPr/>
        </p:nvGrpSpPr>
        <p:grpSpPr>
          <a:xfrm>
            <a:off x="7832076" y="5439689"/>
            <a:ext cx="3246783" cy="609600"/>
            <a:chOff x="8057322" y="2950963"/>
            <a:chExt cx="3246783" cy="609600"/>
          </a:xfrm>
        </p:grpSpPr>
        <p:sp>
          <p:nvSpPr>
            <p:cNvPr id="41" name="Arrow: Curved Down 40">
              <a:extLst>
                <a:ext uri="{FF2B5EF4-FFF2-40B4-BE49-F238E27FC236}">
                  <a16:creationId xmlns:a16="http://schemas.microsoft.com/office/drawing/2014/main" id="{11360455-7150-4ABF-AFCF-D1A9C5FC990B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75934A-6FE0-431C-8763-3D61476DB2CC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26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63323B-9ABE-4333-A1F7-7E78D4EBA4D8}"/>
              </a:ext>
            </a:extLst>
          </p:cNvPr>
          <p:cNvGrpSpPr/>
          <p:nvPr/>
        </p:nvGrpSpPr>
        <p:grpSpPr>
          <a:xfrm>
            <a:off x="4945570" y="5483360"/>
            <a:ext cx="3246783" cy="609600"/>
            <a:chOff x="8057322" y="2950963"/>
            <a:chExt cx="3246783" cy="609600"/>
          </a:xfrm>
        </p:grpSpPr>
        <p:sp>
          <p:nvSpPr>
            <p:cNvPr id="44" name="Arrow: Curved Down 43">
              <a:extLst>
                <a:ext uri="{FF2B5EF4-FFF2-40B4-BE49-F238E27FC236}">
                  <a16:creationId xmlns:a16="http://schemas.microsoft.com/office/drawing/2014/main" id="{3D52EDA2-CD37-4DC9-B178-036CDF1E2D4D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CCF7478-695F-4C0A-BEFA-F0E2FF08D7B2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2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61FC4F-7616-402B-9E68-DA29705731EE}"/>
              </a:ext>
            </a:extLst>
          </p:cNvPr>
          <p:cNvGrpSpPr/>
          <p:nvPr/>
        </p:nvGrpSpPr>
        <p:grpSpPr>
          <a:xfrm>
            <a:off x="2059064" y="5488501"/>
            <a:ext cx="3246783" cy="609600"/>
            <a:chOff x="8057322" y="2950963"/>
            <a:chExt cx="3246783" cy="609600"/>
          </a:xfrm>
        </p:grpSpPr>
        <p:sp>
          <p:nvSpPr>
            <p:cNvPr id="47" name="Arrow: Curved Down 46">
              <a:extLst>
                <a:ext uri="{FF2B5EF4-FFF2-40B4-BE49-F238E27FC236}">
                  <a16:creationId xmlns:a16="http://schemas.microsoft.com/office/drawing/2014/main" id="{72A0F8A6-D702-4BC1-BB96-7F8F6585A7E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0C2C702-C95B-407F-AC0B-E2975AC950E1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7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619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3879"/>
            <a:ext cx="18459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Kiwi School Handwriting" panose="00000500000000000000" pitchFamily="2" charset="0"/>
              </a:rPr>
              <a:t>How do I convert unit of time?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convert units of time?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1631" y="1454521"/>
            <a:ext cx="10156843" cy="3415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4">
                    <a:lumMod val="50000"/>
                  </a:schemeClr>
                </a:solidFill>
                <a:latin typeface="Calibri" panose="020F0502020204030204"/>
              </a:rPr>
              <a:t>Time Conversion Caterpillar </a:t>
            </a:r>
          </a:p>
          <a:p>
            <a:pPr defTabSz="914126"/>
            <a:endParaRPr lang="en-AU" sz="2399" b="1" dirty="0">
              <a:solidFill>
                <a:schemeClr val="accent4">
                  <a:lumMod val="50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schemeClr val="accent4">
                    <a:lumMod val="50000"/>
                  </a:schemeClr>
                </a:solidFill>
                <a:latin typeface="Calibri" panose="020F0502020204030204"/>
              </a:rPr>
              <a:t> </a:t>
            </a:r>
          </a:p>
          <a:p>
            <a:pPr defTabSz="914126"/>
            <a:r>
              <a:rPr lang="en-AU" sz="2399" b="1" dirty="0">
                <a:solidFill>
                  <a:srgbClr val="00B050"/>
                </a:solidFill>
                <a:latin typeface="Calibri" panose="020F0502020204030204"/>
              </a:rPr>
              <a:t>Day                                   Month                                Year                                Decade</a:t>
            </a: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00B050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73EB889-D79A-48B8-9356-F780D4B36081}"/>
              </a:ext>
            </a:extLst>
          </p:cNvPr>
          <p:cNvGrpSpPr/>
          <p:nvPr/>
        </p:nvGrpSpPr>
        <p:grpSpPr>
          <a:xfrm>
            <a:off x="2372139" y="1974574"/>
            <a:ext cx="3246783" cy="609600"/>
            <a:chOff x="2372139" y="1974574"/>
            <a:chExt cx="3246783" cy="609600"/>
          </a:xfrm>
        </p:grpSpPr>
        <p:sp>
          <p:nvSpPr>
            <p:cNvPr id="2" name="Arrow: Curved Down 1">
              <a:extLst>
                <a:ext uri="{FF2B5EF4-FFF2-40B4-BE49-F238E27FC236}">
                  <a16:creationId xmlns:a16="http://schemas.microsoft.com/office/drawing/2014/main" id="{88B18E47-C3E6-447C-8863-9FEAC299BE46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6F26A7-2C5A-4FAA-B779-BC83843EF02A}"/>
                </a:ext>
              </a:extLst>
            </p:cNvPr>
            <p:cNvSpPr txBox="1"/>
            <p:nvPr/>
          </p:nvSpPr>
          <p:spPr>
            <a:xfrm>
              <a:off x="3064805" y="1974574"/>
              <a:ext cx="15801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30/31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3FF91-32D4-46D0-B282-88E04FA2522D}"/>
              </a:ext>
            </a:extLst>
          </p:cNvPr>
          <p:cNvGrpSpPr/>
          <p:nvPr/>
        </p:nvGrpSpPr>
        <p:grpSpPr>
          <a:xfrm>
            <a:off x="5254487" y="1921565"/>
            <a:ext cx="3246783" cy="609600"/>
            <a:chOff x="2372139" y="1974574"/>
            <a:chExt cx="3246783" cy="609600"/>
          </a:xfrm>
        </p:grpSpPr>
        <p:sp>
          <p:nvSpPr>
            <p:cNvPr id="15" name="Arrow: Curved Down 14">
              <a:extLst>
                <a:ext uri="{FF2B5EF4-FFF2-40B4-BE49-F238E27FC236}">
                  <a16:creationId xmlns:a16="http://schemas.microsoft.com/office/drawing/2014/main" id="{7C4D5D61-BD2A-4573-AA77-6A6DA95CA58D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80CAD8-F574-4FEB-94DF-F63C3AE59110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12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FE4D06-409F-45B5-9F3E-38BDB475C7DC}"/>
              </a:ext>
            </a:extLst>
          </p:cNvPr>
          <p:cNvGrpSpPr/>
          <p:nvPr/>
        </p:nvGrpSpPr>
        <p:grpSpPr>
          <a:xfrm>
            <a:off x="8176930" y="1884515"/>
            <a:ext cx="3246783" cy="609600"/>
            <a:chOff x="2372139" y="1974574"/>
            <a:chExt cx="3246783" cy="609600"/>
          </a:xfrm>
        </p:grpSpPr>
        <p:sp>
          <p:nvSpPr>
            <p:cNvPr id="18" name="Arrow: Curved Down 17">
              <a:extLst>
                <a:ext uri="{FF2B5EF4-FFF2-40B4-BE49-F238E27FC236}">
                  <a16:creationId xmlns:a16="http://schemas.microsoft.com/office/drawing/2014/main" id="{A357B714-26F1-4C41-A04F-AAA619EF79C5}"/>
                </a:ext>
              </a:extLst>
            </p:cNvPr>
            <p:cNvSpPr/>
            <p:nvPr/>
          </p:nvSpPr>
          <p:spPr>
            <a:xfrm>
              <a:off x="2372139" y="1974574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55B804-78CF-4B1E-965A-7BB5BC7125A6}"/>
                </a:ext>
              </a:extLst>
            </p:cNvPr>
            <p:cNvSpPr txBox="1"/>
            <p:nvPr/>
          </p:nvSpPr>
          <p:spPr>
            <a:xfrm>
              <a:off x="3422152" y="19745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÷ 10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4D97B0-4B19-46E9-A6DB-7D04121E1E5E}"/>
              </a:ext>
            </a:extLst>
          </p:cNvPr>
          <p:cNvGrpSpPr/>
          <p:nvPr/>
        </p:nvGrpSpPr>
        <p:grpSpPr>
          <a:xfrm>
            <a:off x="8004503" y="2921708"/>
            <a:ext cx="3246783" cy="609600"/>
            <a:chOff x="8057322" y="2950963"/>
            <a:chExt cx="3246783" cy="609600"/>
          </a:xfrm>
        </p:grpSpPr>
        <p:sp>
          <p:nvSpPr>
            <p:cNvPr id="21" name="Arrow: Curved Down 20">
              <a:extLst>
                <a:ext uri="{FF2B5EF4-FFF2-40B4-BE49-F238E27FC236}">
                  <a16:creationId xmlns:a16="http://schemas.microsoft.com/office/drawing/2014/main" id="{3B378309-B22B-46AF-93A3-A381ABFCAB4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F70075-C355-47E6-97C7-8FBD970500CE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10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D1C4A4-530A-4646-B1CF-C334850F2B6C}"/>
              </a:ext>
            </a:extLst>
          </p:cNvPr>
          <p:cNvGrpSpPr/>
          <p:nvPr/>
        </p:nvGrpSpPr>
        <p:grpSpPr>
          <a:xfrm>
            <a:off x="5117997" y="2934122"/>
            <a:ext cx="3246783" cy="609600"/>
            <a:chOff x="8057322" y="2950963"/>
            <a:chExt cx="3246783" cy="609600"/>
          </a:xfrm>
        </p:grpSpPr>
        <p:sp>
          <p:nvSpPr>
            <p:cNvPr id="24" name="Arrow: Curved Down 23">
              <a:extLst>
                <a:ext uri="{FF2B5EF4-FFF2-40B4-BE49-F238E27FC236}">
                  <a16:creationId xmlns:a16="http://schemas.microsoft.com/office/drawing/2014/main" id="{603E1C8B-0794-4B41-A61B-888E7E55303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BEB744-1D01-466F-BF60-E756219E4F40}"/>
                </a:ext>
              </a:extLst>
            </p:cNvPr>
            <p:cNvSpPr txBox="1"/>
            <p:nvPr/>
          </p:nvSpPr>
          <p:spPr>
            <a:xfrm>
              <a:off x="9320437" y="2963374"/>
              <a:ext cx="10960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12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FEF30A-E6C1-4447-8E7B-EBFA880F2AE6}"/>
              </a:ext>
            </a:extLst>
          </p:cNvPr>
          <p:cNvGrpSpPr/>
          <p:nvPr/>
        </p:nvGrpSpPr>
        <p:grpSpPr>
          <a:xfrm>
            <a:off x="2231491" y="2939263"/>
            <a:ext cx="3246783" cy="609600"/>
            <a:chOff x="8057322" y="2950963"/>
            <a:chExt cx="3246783" cy="609600"/>
          </a:xfrm>
        </p:grpSpPr>
        <p:sp>
          <p:nvSpPr>
            <p:cNvPr id="27" name="Arrow: Curved Down 26">
              <a:extLst>
                <a:ext uri="{FF2B5EF4-FFF2-40B4-BE49-F238E27FC236}">
                  <a16:creationId xmlns:a16="http://schemas.microsoft.com/office/drawing/2014/main" id="{01CFCE21-3E59-4A02-BD5F-5CA12C373AB9}"/>
                </a:ext>
              </a:extLst>
            </p:cNvPr>
            <p:cNvSpPr/>
            <p:nvPr/>
          </p:nvSpPr>
          <p:spPr>
            <a:xfrm rot="10800000">
              <a:off x="8057322" y="2950963"/>
              <a:ext cx="3246783" cy="609600"/>
            </a:xfrm>
            <a:prstGeom prst="curvedDownArrow">
              <a:avLst>
                <a:gd name="adj1" fmla="val 25000"/>
                <a:gd name="adj2" fmla="val 85120"/>
                <a:gd name="adj3" fmla="val 2743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7F2F96-C8F3-43BC-9084-2408FFC8D6C3}"/>
                </a:ext>
              </a:extLst>
            </p:cNvPr>
            <p:cNvSpPr txBox="1"/>
            <p:nvPr/>
          </p:nvSpPr>
          <p:spPr>
            <a:xfrm>
              <a:off x="9067511" y="2951208"/>
              <a:ext cx="15076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/>
                </a:rPr>
                <a:t>x 30/31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453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4139" y="-24268"/>
            <a:ext cx="8610600" cy="1293028"/>
          </a:xfrm>
        </p:spPr>
        <p:txBody>
          <a:bodyPr/>
          <a:lstStyle/>
          <a:p>
            <a:r>
              <a:rPr lang="en-US" dirty="0"/>
              <a:t>Let’s do some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079" y="1507299"/>
            <a:ext cx="1049366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Convert these times to the units shown in brackets.</a:t>
            </a:r>
          </a:p>
          <a:p>
            <a:pPr marL="0" indent="0">
              <a:buNone/>
            </a:pPr>
            <a:r>
              <a:rPr lang="en-US" sz="2800" dirty="0"/>
              <a:t>A) 	</a:t>
            </a:r>
            <a:r>
              <a:rPr lang="en-US" sz="2800" b="1" dirty="0"/>
              <a:t>3 days =  _______   minutes 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3 days = 3 x 24 h	</a:t>
            </a:r>
            <a:r>
              <a:rPr lang="en-US" sz="2800" dirty="0"/>
              <a:t>	</a:t>
            </a:r>
            <a:r>
              <a:rPr lang="en-US" sz="2800" i="1" dirty="0"/>
              <a:t>1 day = 24 hours  </a:t>
            </a:r>
          </a:p>
          <a:p>
            <a:pPr marL="1371600" lvl="3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= 72 hours</a:t>
            </a:r>
          </a:p>
          <a:p>
            <a:pPr marL="1371600" lvl="3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= 72 x 60 min</a:t>
            </a:r>
            <a:r>
              <a:rPr lang="en-US" sz="2800" dirty="0"/>
              <a:t>      </a:t>
            </a:r>
            <a:r>
              <a:rPr lang="en-US" sz="2800" i="1" dirty="0"/>
              <a:t>1 hour = 60 minutes</a:t>
            </a:r>
          </a:p>
          <a:p>
            <a:pPr marL="1371600" lvl="3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= 4320 min</a:t>
            </a:r>
          </a:p>
          <a:p>
            <a:pPr marL="0" indent="0">
              <a:buNone/>
            </a:pPr>
            <a:r>
              <a:rPr lang="en-US" sz="2800" dirty="0"/>
              <a:t>B) </a:t>
            </a:r>
            <a:r>
              <a:rPr lang="en-US" sz="2800" b="1" dirty="0"/>
              <a:t>30 months = ________     years</a:t>
            </a:r>
          </a:p>
          <a:p>
            <a:pPr marL="2286000" lvl="5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= 	30 ÷ 12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/>
              <a:t>		1 year = 12 months</a:t>
            </a:r>
            <a:endParaRPr lang="en-US" sz="2800" dirty="0"/>
          </a:p>
          <a:p>
            <a:pPr marL="2286000" lvl="5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=	2 ½ years</a:t>
            </a:r>
          </a:p>
          <a:p>
            <a:pPr marL="2286000" lvl="5" indent="0">
              <a:buNone/>
            </a:pPr>
            <a:r>
              <a:rPr lang="en-US" sz="2800" dirty="0"/>
              <a:t>	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49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22</TotalTime>
  <Words>271</Words>
  <Application>Microsoft Office PowerPoint</Application>
  <PresentationFormat>Widescreen</PresentationFormat>
  <Paragraphs>87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Brandish</vt:lpstr>
      <vt:lpstr>Calibri</vt:lpstr>
      <vt:lpstr>Century Gothic</vt:lpstr>
      <vt:lpstr>DJB Fancy Nancy</vt:lpstr>
      <vt:lpstr>Kiwi School Handwriting</vt:lpstr>
      <vt:lpstr>Mangal</vt:lpstr>
      <vt:lpstr>Vapor Trail</vt:lpstr>
      <vt:lpstr>Time Interactive Notebook</vt:lpstr>
      <vt:lpstr>Time Conversions</vt:lpstr>
      <vt:lpstr>Learning Intentions</vt:lpstr>
      <vt:lpstr>Fun Facts on Time</vt:lpstr>
      <vt:lpstr>PowerPoint Presentation</vt:lpstr>
      <vt:lpstr>PowerPoint Presentation</vt:lpstr>
      <vt:lpstr>Let’s do some together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Nine Labuschagne</dc:creator>
  <cp:lastModifiedBy>Nine Labuschagne</cp:lastModifiedBy>
  <cp:revision>5</cp:revision>
  <dcterms:created xsi:type="dcterms:W3CDTF">2017-09-05T10:33:51Z</dcterms:created>
  <dcterms:modified xsi:type="dcterms:W3CDTF">2017-09-05T10:56:01Z</dcterms:modified>
</cp:coreProperties>
</file>
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4" r:id="rId2"/>
    <p:sldId id="285" r:id="rId3"/>
    <p:sldId id="286" r:id="rId4"/>
    <p:sldId id="283" r:id="rId5"/>
    <p:sldId id="293" r:id="rId6"/>
    <p:sldId id="304" r:id="rId7"/>
    <p:sldId id="321" r:id="rId8"/>
    <p:sldId id="317" r:id="rId9"/>
    <p:sldId id="306" r:id="rId10"/>
    <p:sldId id="305" r:id="rId11"/>
    <p:sldId id="318" r:id="rId12"/>
    <p:sldId id="310" r:id="rId13"/>
    <p:sldId id="308" r:id="rId14"/>
    <p:sldId id="309" r:id="rId15"/>
    <p:sldId id="322" r:id="rId16"/>
    <p:sldId id="323" r:id="rId17"/>
    <p:sldId id="320" r:id="rId18"/>
    <p:sldId id="316" r:id="rId19"/>
    <p:sldId id="319" r:id="rId20"/>
    <p:sldId id="326" r:id="rId21"/>
    <p:sldId id="325" r:id="rId22"/>
    <p:sldId id="327" r:id="rId23"/>
    <p:sldId id="328" r:id="rId24"/>
    <p:sldId id="296" r:id="rId25"/>
    <p:sldId id="29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/>
    <p:restoredTop sz="94715"/>
  </p:normalViewPr>
  <p:slideViewPr>
    <p:cSldViewPr>
      <p:cViewPr varScale="1">
        <p:scale>
          <a:sx n="122" d="100"/>
          <a:sy n="122" d="100"/>
        </p:scale>
        <p:origin x="7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11/09/2017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35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76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074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11/09/2017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11/09/2017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11/09/2017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11/09/2017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11/09/2017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11/09/2017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11/09/2017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gif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33375"/>
            <a:ext cx="7772400" cy="1470025"/>
          </a:xfrm>
        </p:spPr>
        <p:txBody>
          <a:bodyPr/>
          <a:lstStyle/>
          <a:p>
            <a:r>
              <a:rPr lang="en-AU" dirty="0" smtClean="0"/>
              <a:t>Time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3141663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AU" dirty="0" smtClean="0"/>
              <a:t>	Name </a:t>
            </a:r>
          </a:p>
          <a:p>
            <a:pPr marL="0" indent="0" algn="l">
              <a:buNone/>
            </a:pPr>
            <a:r>
              <a:rPr lang="en-AU" dirty="0" smtClean="0"/>
              <a:t>	Class </a:t>
            </a:r>
          </a:p>
          <a:p>
            <a:pPr marL="0" indent="0" algn="l">
              <a:buNone/>
            </a:pPr>
            <a:r>
              <a:rPr lang="en-AU" dirty="0" smtClean="0"/>
              <a:t>	Teacher</a:t>
            </a:r>
          </a:p>
          <a:p>
            <a:pPr marL="0" indent="0" algn="l">
              <a:buNone/>
            </a:pPr>
            <a:r>
              <a:rPr lang="en-AU" dirty="0" smtClean="0"/>
              <a:t>	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77" y="-1535307"/>
            <a:ext cx="8229600" cy="114300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 smtClean="0">
                <a:latin typeface="Martina" pitchFamily="2" charset="0"/>
              </a:rPr>
              <a:t>Warm up</a:t>
            </a:r>
            <a:endParaRPr lang="en-GB" sz="11500" dirty="0">
              <a:latin typeface="Martin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37289"/>
            <a:ext cx="8229600" cy="5030275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2">
            <a:normAutofit/>
          </a:bodyPr>
          <a:lstStyle/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Answer the following from last lesson:</a:t>
            </a:r>
            <a:endParaRPr lang="en-GB" dirty="0" smtClean="0">
              <a:latin typeface="Comic Sans MS" pitchFamily="66" charset="0"/>
            </a:endParaRPr>
          </a:p>
          <a:p>
            <a:pPr>
              <a:buNone/>
            </a:pPr>
            <a:endParaRPr lang="en-GB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691680" y="2852936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 smtClean="0"/>
          </a:p>
          <a:p>
            <a:r>
              <a:rPr lang="en-GB" sz="2400" dirty="0" smtClean="0"/>
              <a:t> </a:t>
            </a:r>
            <a:endParaRPr lang="en-GB" sz="2400" dirty="0"/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41" y="2420888"/>
            <a:ext cx="8029144" cy="36481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406851"/>
            <a:ext cx="0" cy="468644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time zones and how do </a:t>
            </a:r>
            <a:r>
              <a:rPr lang="en-AU" sz="2400" smtClean="0"/>
              <a:t>they affect our lives?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Time Zones</a:t>
            </a:r>
            <a:endParaRPr lang="en-AU" sz="2800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0" y="609329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050" y="6119336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Summary: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0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Think/Pair/Share</a:t>
            </a:r>
            <a:endParaRPr lang="en-US" dirty="0" smtClean="0"/>
          </a:p>
        </p:txBody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spcBef>
                <a:spcPct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sz="2400" dirty="0" smtClean="0">
                <a:latin typeface="Tahoma" pitchFamily="34" charset="0"/>
              </a:rPr>
              <a:t>Come up with 2 answers to the following </a:t>
            </a:r>
            <a:r>
              <a:rPr lang="en-US" sz="2400" dirty="0" smtClean="0">
                <a:latin typeface="Tahoma" pitchFamily="34" charset="0"/>
              </a:rPr>
              <a:t>question: </a:t>
            </a:r>
            <a:endParaRPr lang="en-US" sz="2400" dirty="0" smtClean="0">
              <a:latin typeface="Tahoma" pitchFamily="34" charset="0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endParaRPr lang="en-US" sz="2400" dirty="0" smtClean="0">
              <a:latin typeface="Tahoma" pitchFamily="34" charset="0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endParaRPr lang="en-US" sz="1400" dirty="0" smtClean="0">
              <a:latin typeface="Tahoma" pitchFamily="34" charset="0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sz="3600" dirty="0" smtClean="0">
                <a:solidFill>
                  <a:schemeClr val="hlink"/>
                </a:solidFill>
                <a:latin typeface="Tahoma" pitchFamily="34" charset="0"/>
              </a:rPr>
              <a:t>  Why </a:t>
            </a:r>
            <a:r>
              <a:rPr lang="en-US" sz="3600" dirty="0" smtClean="0">
                <a:solidFill>
                  <a:schemeClr val="hlink"/>
                </a:solidFill>
                <a:latin typeface="Tahoma" pitchFamily="34" charset="0"/>
              </a:rPr>
              <a:t>would it be important to be </a:t>
            </a:r>
            <a:r>
              <a:rPr lang="en-US" sz="3600" dirty="0" smtClean="0">
                <a:solidFill>
                  <a:schemeClr val="hlink"/>
                </a:solidFill>
                <a:latin typeface="Tahoma" pitchFamily="34" charset="0"/>
              </a:rPr>
              <a:t>aware of </a:t>
            </a:r>
            <a:r>
              <a:rPr lang="en-US" sz="3600" dirty="0" smtClean="0">
                <a:solidFill>
                  <a:schemeClr val="hlink"/>
                </a:solidFill>
                <a:latin typeface="Tahoma" pitchFamily="34" charset="0"/>
              </a:rPr>
              <a:t>the differences in time between different locations?</a:t>
            </a:r>
          </a:p>
          <a:p>
            <a:pPr>
              <a:spcBef>
                <a:spcPct val="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endParaRPr lang="en-US" sz="3600" dirty="0" smtClean="0">
              <a:solidFill>
                <a:schemeClr val="hlink"/>
              </a:solidFill>
              <a:latin typeface="Tahoma" pitchFamily="34" charset="0"/>
            </a:endParaRP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2238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splash.abc.net.au</a:t>
            </a:r>
            <a:r>
              <a:rPr lang="en-US" dirty="0"/>
              <a:t>/home#!/media/1950553/time-zones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9832" y="1412776"/>
            <a:ext cx="2771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Time Zones Video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33127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406851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28044" y="832519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time zones and how do </a:t>
            </a:r>
            <a:r>
              <a:rPr lang="en-AU" sz="2400" smtClean="0"/>
              <a:t>they affect our lives?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Time Zones</a:t>
            </a:r>
            <a:endParaRPr lang="en-AU" sz="2800" dirty="0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895760" y="1629447"/>
            <a:ext cx="6618312" cy="77049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</a:t>
            </a:r>
            <a:r>
              <a:rPr kumimoji="0" lang="en-US" sz="44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time zone </a:t>
            </a:r>
            <a:r>
              <a:rPr kumimoji="0" lang="en-US" sz="44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is a region of the earth that has the same time.  There are 24 time zones.</a:t>
            </a:r>
            <a:endParaRPr kumimoji="0" lang="en-US" sz="44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" name="Content Placeholder 5" descr="TIMEZON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774" y="2697335"/>
            <a:ext cx="7090284" cy="3791333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25776" y="140685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25776" y="1582723"/>
            <a:ext cx="13433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Vocabulary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6489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 smtClean="0">
                <a:solidFill>
                  <a:srgbClr val="0000FF"/>
                </a:solidFill>
              </a:rPr>
              <a:t>Greenwich, England is the </a:t>
            </a:r>
            <a:r>
              <a:rPr lang="en-US" sz="4000" dirty="0" smtClean="0">
                <a:solidFill>
                  <a:srgbClr val="0000FF"/>
                </a:solidFill>
              </a:rPr>
              <a:t>starting </a:t>
            </a:r>
            <a:r>
              <a:rPr lang="en-US" sz="4000" dirty="0" smtClean="0">
                <a:solidFill>
                  <a:srgbClr val="0000FF"/>
                </a:solidFill>
              </a:rPr>
              <a:t>point for time zones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en-US" smtClean="0"/>
              <a:t>The world rotates west to east (counterclockwise), time zones to the east are ahead of the those time zones to the west</a:t>
            </a:r>
          </a:p>
        </p:txBody>
      </p:sp>
      <p:pic>
        <p:nvPicPr>
          <p:cNvPr id="17411" name="Picture 5" descr="longitud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3048000"/>
            <a:ext cx="3641725" cy="357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0992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US" b="1" smtClean="0">
                <a:solidFill>
                  <a:srgbClr val="0000FF"/>
                </a:solidFill>
              </a:rPr>
              <a:t>LONGITUDE AND TIME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world rotates (spins) _____</a:t>
            </a:r>
            <a:r>
              <a:rPr lang="en-US" dirty="0" smtClean="0">
                <a:cs typeface="Arial" charset="0"/>
              </a:rPr>
              <a:t>° in ___ hours.</a:t>
            </a:r>
          </a:p>
          <a:p>
            <a:pPr>
              <a:buFontTx/>
              <a:buNone/>
            </a:pPr>
            <a:r>
              <a:rPr lang="en-US" dirty="0" smtClean="0">
                <a:cs typeface="Arial" charset="0"/>
              </a:rPr>
              <a:t>            How many degrees per hour does the 	   earth spin? </a:t>
            </a:r>
          </a:p>
          <a:p>
            <a:pPr>
              <a:buFontTx/>
              <a:buNone/>
            </a:pPr>
            <a:r>
              <a:rPr lang="en-US" dirty="0" smtClean="0"/>
              <a:t>			360</a:t>
            </a:r>
            <a:r>
              <a:rPr lang="en-US" dirty="0" smtClean="0">
                <a:cs typeface="Arial" charset="0"/>
              </a:rPr>
              <a:t>° / 24 hours = 15° per hour</a:t>
            </a:r>
          </a:p>
          <a:p>
            <a:r>
              <a:rPr lang="en-US" dirty="0" smtClean="0">
                <a:cs typeface="Arial" charset="0"/>
              </a:rPr>
              <a:t>The world has 24 time zones, each </a:t>
            </a:r>
            <a:r>
              <a:rPr lang="en-US" dirty="0" smtClean="0">
                <a:cs typeface="Arial" charset="0"/>
              </a:rPr>
              <a:t>15</a:t>
            </a:r>
            <a:r>
              <a:rPr lang="en-US" dirty="0" smtClean="0">
                <a:cs typeface="Arial" charset="0"/>
              </a:rPr>
              <a:t>° apart.  </a:t>
            </a:r>
          </a:p>
          <a:p>
            <a:pPr>
              <a:buFontTx/>
              <a:buNone/>
            </a:pPr>
            <a:r>
              <a:rPr lang="en-US" dirty="0" smtClean="0">
                <a:cs typeface="Arial" charset="0"/>
              </a:rPr>
              <a:t>   </a:t>
            </a:r>
            <a:r>
              <a:rPr lang="en-US" sz="3600" b="1" dirty="0" smtClean="0">
                <a:solidFill>
                  <a:srgbClr val="FF0000"/>
                </a:solidFill>
                <a:cs typeface="Arial" charset="0"/>
              </a:rPr>
              <a:t>THERE IS A 1 HOUR TIME  DIFFERENCE FOR EVERY 15° OF </a:t>
            </a:r>
            <a:r>
              <a:rPr lang="en-US" sz="3600" b="1" dirty="0" smtClean="0">
                <a:solidFill>
                  <a:srgbClr val="FF0000"/>
                </a:solidFill>
                <a:cs typeface="Arial" charset="0"/>
              </a:rPr>
              <a:t>LONGITUDE (vertical lines on a map, similar to time zones)</a:t>
            </a:r>
            <a:endParaRPr lang="en-US" sz="3600" b="1" dirty="0" smtClean="0">
              <a:solidFill>
                <a:srgbClr val="FF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97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0037" y="1379574"/>
            <a:ext cx="8307" cy="5478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time zones and how do </a:t>
            </a:r>
            <a:r>
              <a:rPr lang="en-AU" sz="2400" smtClean="0"/>
              <a:t>they affect our lives?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Time Zones</a:t>
            </a:r>
            <a:endParaRPr lang="en-AU" sz="2800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328277" y="1490271"/>
            <a:ext cx="7571184" cy="1120518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smtClean="0">
                <a:solidFill>
                  <a:srgbClr val="0000FF"/>
                </a:solidFill>
              </a:rPr>
              <a:t>Think of it as a giant number line.</a:t>
            </a:r>
            <a:endParaRPr lang="en-US" sz="3600" smtClean="0">
              <a:solidFill>
                <a:srgbClr val="0000FF"/>
              </a:solidFill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328277" y="2729973"/>
            <a:ext cx="7571184" cy="4436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Greenwich, England is at 0 on the number line. As you move to the left you add, as you move to the right you subtract. </a:t>
            </a:r>
            <a:endParaRPr lang="en-US" smtClean="0"/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1456291" y="5003151"/>
            <a:ext cx="729077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>
            <a:off x="47084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>
            <a:off x="17366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>
            <a:off x="31082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>
            <a:off x="60800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Line 10"/>
          <p:cNvSpPr>
            <a:spLocks noChangeShapeType="1"/>
          </p:cNvSpPr>
          <p:nvPr/>
        </p:nvSpPr>
        <p:spPr bwMode="auto">
          <a:xfrm>
            <a:off x="74516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3812361" y="5409943"/>
            <a:ext cx="19629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/>
              <a:t>0</a:t>
            </a:r>
          </a:p>
          <a:p>
            <a:pPr algn="ctr">
              <a:spcBef>
                <a:spcPct val="50000"/>
              </a:spcBef>
            </a:pPr>
            <a:r>
              <a:rPr lang="en-US" sz="3200"/>
              <a:t>Greenwich</a:t>
            </a:r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2212161" y="5406321"/>
            <a:ext cx="19629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/>
              <a:t>-1</a:t>
            </a:r>
          </a:p>
          <a:p>
            <a:pPr algn="ctr">
              <a:spcBef>
                <a:spcPct val="50000"/>
              </a:spcBef>
            </a:pPr>
            <a:r>
              <a:rPr lang="en-US" sz="2400"/>
              <a:t>Dakar</a:t>
            </a:r>
          </a:p>
        </p:txBody>
      </p:sp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5183961" y="5406321"/>
            <a:ext cx="19629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/>
              <a:t>+1 </a:t>
            </a:r>
          </a:p>
          <a:p>
            <a:pPr algn="ctr">
              <a:spcBef>
                <a:spcPct val="50000"/>
              </a:spcBef>
            </a:pPr>
            <a:r>
              <a:rPr lang="en-US" sz="2400"/>
              <a:t>Paris</a:t>
            </a: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764361" y="5337301"/>
            <a:ext cx="1962900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/>
              <a:t>-2</a:t>
            </a:r>
          </a:p>
          <a:p>
            <a:pPr algn="ctr">
              <a:spcBef>
                <a:spcPct val="50000"/>
              </a:spcBef>
            </a:pPr>
            <a:r>
              <a:rPr lang="en-US" sz="2400"/>
              <a:t>Sandwich Islands</a:t>
            </a:r>
          </a:p>
        </p:txBody>
      </p:sp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6555561" y="5330121"/>
            <a:ext cx="19629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dirty="0"/>
              <a:t>+2</a:t>
            </a:r>
          </a:p>
          <a:p>
            <a:pPr algn="ctr">
              <a:spcBef>
                <a:spcPct val="50000"/>
              </a:spcBef>
            </a:pPr>
            <a:r>
              <a:rPr lang="en-US" sz="2400" dirty="0"/>
              <a:t>Cape Town</a:t>
            </a:r>
          </a:p>
        </p:txBody>
      </p:sp>
    </p:spTree>
    <p:extLst>
      <p:ext uri="{BB962C8B-B14F-4D97-AF65-F5344CB8AC3E}">
        <p14:creationId xmlns:p14="http://schemas.microsoft.com/office/powerpoint/2010/main" val="76299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US" b="1" smtClean="0">
                <a:solidFill>
                  <a:srgbClr val="0000FF"/>
                </a:solidFill>
              </a:rPr>
              <a:t>ANOTHER CHEESY SAYING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147248" cy="3196951"/>
          </a:xfrm>
        </p:spPr>
        <p:txBody>
          <a:bodyPr>
            <a:normAutofit lnSpcReduction="10000"/>
          </a:bodyPr>
          <a:lstStyle/>
          <a:p>
            <a:r>
              <a:rPr lang="en-US" sz="4800" b="1" dirty="0" smtClean="0">
                <a:solidFill>
                  <a:srgbClr val="FF0000"/>
                </a:solidFill>
              </a:rPr>
              <a:t>EAST INCREASE</a:t>
            </a:r>
          </a:p>
          <a:p>
            <a:pPr>
              <a:buFontTx/>
              <a:buNone/>
            </a:pPr>
            <a:r>
              <a:rPr lang="en-US" sz="4800" b="1" dirty="0" smtClean="0">
                <a:solidFill>
                  <a:srgbClr val="FF0000"/>
                </a:solidFill>
              </a:rPr>
              <a:t>  </a:t>
            </a:r>
            <a:r>
              <a:rPr lang="en-US" b="1" dirty="0" smtClean="0">
                <a:solidFill>
                  <a:srgbClr val="FF0000"/>
                </a:solidFill>
              </a:rPr>
              <a:t>Time is forward to all places to the east </a:t>
            </a:r>
          </a:p>
          <a:p>
            <a:r>
              <a:rPr lang="en-US" sz="4800" b="1" dirty="0" smtClean="0">
                <a:solidFill>
                  <a:srgbClr val="FF0000"/>
                </a:solidFill>
              </a:rPr>
              <a:t>WEST LESS</a:t>
            </a:r>
          </a:p>
          <a:p>
            <a:pPr>
              <a:buFontTx/>
              <a:buNone/>
            </a:pPr>
            <a:r>
              <a:rPr lang="en-US" sz="4800" b="1" dirty="0" smtClean="0">
                <a:solidFill>
                  <a:srgbClr val="FF0000"/>
                </a:solidFill>
              </a:rPr>
              <a:t>  </a:t>
            </a:r>
            <a:r>
              <a:rPr lang="en-US" b="1" dirty="0" smtClean="0">
                <a:solidFill>
                  <a:srgbClr val="FF0000"/>
                </a:solidFill>
              </a:rPr>
              <a:t>Time is backward to all places to the west</a:t>
            </a:r>
            <a:endParaRPr lang="en-US" sz="4800" b="1" dirty="0" smtClean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5008" y="5085184"/>
            <a:ext cx="89289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TASK: Fill out the following graphic organizer.</a:t>
            </a:r>
          </a:p>
          <a:p>
            <a:endParaRPr lang="en-US" sz="2400" dirty="0"/>
          </a:p>
          <a:p>
            <a:r>
              <a:rPr lang="en-US" sz="2400" dirty="0" smtClean="0"/>
              <a:t>Remember: There are 24 total time zones and we start at 0 at Greenwich Mean Time and either +1 or -1 depending on the direction.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3198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620713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World Time Zones</a:t>
            </a:r>
            <a:endParaRPr lang="en-US" sz="4000" dirty="0" smtClean="0"/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223838"/>
            <a:endParaRPr lang="en-US" smtClean="0"/>
          </a:p>
        </p:txBody>
      </p:sp>
      <p:pic>
        <p:nvPicPr>
          <p:cNvPr id="30723" name="Picture 2" descr="http://freightsites.com/images/wtzs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85800"/>
            <a:ext cx="91440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-Point Star 5"/>
          <p:cNvSpPr/>
          <p:nvPr/>
        </p:nvSpPr>
        <p:spPr bwMode="auto">
          <a:xfrm>
            <a:off x="1676400" y="22860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7" name="5-Point Star 6"/>
          <p:cNvSpPr/>
          <p:nvPr/>
        </p:nvSpPr>
        <p:spPr bwMode="auto">
          <a:xfrm>
            <a:off x="4648200" y="32004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5-Point Star 7"/>
          <p:cNvSpPr/>
          <p:nvPr/>
        </p:nvSpPr>
        <p:spPr bwMode="auto">
          <a:xfrm>
            <a:off x="7696200" y="39624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5-Point Star 8"/>
          <p:cNvSpPr/>
          <p:nvPr/>
        </p:nvSpPr>
        <p:spPr bwMode="auto">
          <a:xfrm>
            <a:off x="7315200" y="17526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5-Point Star 9"/>
          <p:cNvSpPr/>
          <p:nvPr/>
        </p:nvSpPr>
        <p:spPr bwMode="auto">
          <a:xfrm>
            <a:off x="533400" y="16764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5-Point Star 10"/>
          <p:cNvSpPr/>
          <p:nvPr/>
        </p:nvSpPr>
        <p:spPr bwMode="auto">
          <a:xfrm>
            <a:off x="5410200" y="19050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5-Point Star 11"/>
          <p:cNvSpPr/>
          <p:nvPr/>
        </p:nvSpPr>
        <p:spPr bwMode="auto">
          <a:xfrm>
            <a:off x="2743200" y="41148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3" name="5-Point Star 12"/>
          <p:cNvSpPr/>
          <p:nvPr/>
        </p:nvSpPr>
        <p:spPr bwMode="auto">
          <a:xfrm>
            <a:off x="3124200" y="16002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4" name="5-Point Star 13"/>
          <p:cNvSpPr/>
          <p:nvPr/>
        </p:nvSpPr>
        <p:spPr bwMode="auto">
          <a:xfrm>
            <a:off x="2362200" y="24384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0733" name="Rectangle 14"/>
          <p:cNvSpPr>
            <a:spLocks noChangeArrowheads="1"/>
          </p:cNvSpPr>
          <p:nvPr/>
        </p:nvSpPr>
        <p:spPr bwMode="auto">
          <a:xfrm>
            <a:off x="0" y="5181600"/>
            <a:ext cx="9144000" cy="6858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" name="5-Point Star 15"/>
          <p:cNvSpPr/>
          <p:nvPr/>
        </p:nvSpPr>
        <p:spPr bwMode="auto">
          <a:xfrm>
            <a:off x="6172200" y="28194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7" name="5-Point Star 16"/>
          <p:cNvSpPr/>
          <p:nvPr/>
        </p:nvSpPr>
        <p:spPr bwMode="auto">
          <a:xfrm>
            <a:off x="1219200" y="25146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0737" name="Text Box 17"/>
          <p:cNvSpPr txBox="1">
            <a:spLocks noChangeArrowheads="1"/>
          </p:cNvSpPr>
          <p:nvPr/>
        </p:nvSpPr>
        <p:spPr bwMode="auto">
          <a:xfrm>
            <a:off x="107504" y="5943600"/>
            <a:ext cx="8928992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8250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 idx="4294967295"/>
          </p:nvPr>
        </p:nvSpPr>
        <p:spPr>
          <a:xfrm>
            <a:off x="304800" y="0"/>
            <a:ext cx="8839200" cy="620713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What time is it in the locations below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marL="0" indent="223838"/>
            <a:endParaRPr lang="en-US" smtClean="0"/>
          </a:p>
        </p:txBody>
      </p:sp>
      <p:pic>
        <p:nvPicPr>
          <p:cNvPr id="47108" name="Picture 2" descr="http://freightsites.com/images/wtzs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85800"/>
            <a:ext cx="91440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-Point Star 5"/>
          <p:cNvSpPr/>
          <p:nvPr/>
        </p:nvSpPr>
        <p:spPr bwMode="auto">
          <a:xfrm>
            <a:off x="1676400" y="22860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7" name="5-Point Star 6"/>
          <p:cNvSpPr/>
          <p:nvPr/>
        </p:nvSpPr>
        <p:spPr bwMode="auto">
          <a:xfrm>
            <a:off x="4648200" y="32004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5-Point Star 7"/>
          <p:cNvSpPr/>
          <p:nvPr/>
        </p:nvSpPr>
        <p:spPr bwMode="auto">
          <a:xfrm>
            <a:off x="7696200" y="39624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5-Point Star 8"/>
          <p:cNvSpPr/>
          <p:nvPr/>
        </p:nvSpPr>
        <p:spPr bwMode="auto">
          <a:xfrm>
            <a:off x="7315200" y="17526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5-Point Star 9"/>
          <p:cNvSpPr/>
          <p:nvPr/>
        </p:nvSpPr>
        <p:spPr bwMode="auto">
          <a:xfrm>
            <a:off x="533400" y="16764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5-Point Star 10"/>
          <p:cNvSpPr/>
          <p:nvPr/>
        </p:nvSpPr>
        <p:spPr bwMode="auto">
          <a:xfrm>
            <a:off x="5410200" y="19050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5-Point Star 11"/>
          <p:cNvSpPr/>
          <p:nvPr/>
        </p:nvSpPr>
        <p:spPr bwMode="auto">
          <a:xfrm>
            <a:off x="2743200" y="41148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3" name="5-Point Star 12"/>
          <p:cNvSpPr/>
          <p:nvPr/>
        </p:nvSpPr>
        <p:spPr bwMode="auto">
          <a:xfrm>
            <a:off x="3124200" y="16002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4" name="5-Point Star 13"/>
          <p:cNvSpPr/>
          <p:nvPr/>
        </p:nvSpPr>
        <p:spPr bwMode="auto">
          <a:xfrm>
            <a:off x="2362200" y="24384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47118" name="Rectangle 14"/>
          <p:cNvSpPr>
            <a:spLocks noChangeArrowheads="1"/>
          </p:cNvSpPr>
          <p:nvPr/>
        </p:nvSpPr>
        <p:spPr bwMode="auto">
          <a:xfrm>
            <a:off x="0" y="5181600"/>
            <a:ext cx="9144000" cy="6858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" name="5-Point Star 15"/>
          <p:cNvSpPr/>
          <p:nvPr/>
        </p:nvSpPr>
        <p:spPr bwMode="auto">
          <a:xfrm>
            <a:off x="6172200" y="28194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7" name="5-Point Star 16"/>
          <p:cNvSpPr/>
          <p:nvPr/>
        </p:nvSpPr>
        <p:spPr bwMode="auto">
          <a:xfrm>
            <a:off x="1219200" y="2514600"/>
            <a:ext cx="228600" cy="304800"/>
          </a:xfrm>
          <a:prstGeom prst="star5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764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836712"/>
            <a:ext cx="851412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Task:</a:t>
            </a:r>
          </a:p>
          <a:p>
            <a:endParaRPr lang="en-US" sz="3200" dirty="0"/>
          </a:p>
          <a:p>
            <a:r>
              <a:rPr lang="en-US" sz="3200" dirty="0"/>
              <a:t>A</a:t>
            </a:r>
            <a:r>
              <a:rPr lang="en-US" sz="3200" dirty="0" smtClean="0"/>
              <a:t>ssume it is 11 am GMT (Greenwich Mean Time). </a:t>
            </a:r>
          </a:p>
          <a:p>
            <a:r>
              <a:rPr lang="en-US" sz="3200" dirty="0" smtClean="0"/>
              <a:t>What time is it at each starred </a:t>
            </a:r>
          </a:p>
          <a:p>
            <a:r>
              <a:rPr lang="en-US" sz="3200" dirty="0" smtClean="0"/>
              <a:t>point on your map of World Time Zones?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97120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260648"/>
            <a:ext cx="2810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Pg. 196 Exercise 14.5 1 </a:t>
            </a:r>
            <a:r>
              <a:rPr lang="en-US" dirty="0" err="1" smtClean="0"/>
              <a:t>a,b,c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655580"/>
            <a:ext cx="4357216" cy="6212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3528" y="6165304"/>
            <a:ext cx="64807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+ 6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895400" y="6173778"/>
            <a:ext cx="64807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+ 7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816920" y="6184882"/>
            <a:ext cx="670768" cy="4420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+ 10</a:t>
            </a:r>
            <a:endParaRPr lang="en-US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3460800" y="6179170"/>
            <a:ext cx="674960" cy="447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+ 11</a:t>
            </a:r>
            <a:endParaRPr lang="en-US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4129561" y="6196654"/>
            <a:ext cx="814559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+ 12</a:t>
            </a:r>
            <a:endParaRPr lang="en-US" sz="2200" dirty="0"/>
          </a:p>
        </p:txBody>
      </p:sp>
      <p:sp>
        <p:nvSpPr>
          <p:cNvPr id="9" name="TextBox 8"/>
          <p:cNvSpPr txBox="1"/>
          <p:nvPr/>
        </p:nvSpPr>
        <p:spPr>
          <a:xfrm>
            <a:off x="1520776" y="6173779"/>
            <a:ext cx="64807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+ 8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168848" y="6181266"/>
            <a:ext cx="64807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+ 9</a:t>
            </a: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761" y="3750894"/>
            <a:ext cx="4513289" cy="30870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022" y="1727840"/>
            <a:ext cx="4500978" cy="160034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021" y="764704"/>
            <a:ext cx="2764904" cy="9216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 rot="10800000" flipV="1">
            <a:off x="8204196" y="889846"/>
            <a:ext cx="43204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+ 10</a:t>
            </a:r>
            <a:endParaRPr lang="en-US" sz="1000" dirty="0"/>
          </a:p>
        </p:txBody>
      </p:sp>
      <p:sp>
        <p:nvSpPr>
          <p:cNvPr id="16" name="TextBox 15"/>
          <p:cNvSpPr txBox="1"/>
          <p:nvPr/>
        </p:nvSpPr>
        <p:spPr>
          <a:xfrm rot="10800000" flipV="1">
            <a:off x="8395940" y="1136067"/>
            <a:ext cx="373545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smtClean="0"/>
              <a:t>+ 7</a:t>
            </a:r>
            <a:endParaRPr 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4788024" y="764704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Example: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02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71600" y="1397418"/>
            <a:ext cx="39306" cy="46958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Time Zones</a:t>
            </a:r>
            <a:endParaRPr lang="en-AU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530" y="2204864"/>
            <a:ext cx="4104456" cy="36724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204" y="2645386"/>
            <a:ext cx="3341795" cy="2723984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1161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465" y="6203764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Summary:</a:t>
            </a:r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152019" y="1533810"/>
            <a:ext cx="1499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Our Country</a:t>
            </a:r>
            <a:r>
              <a:rPr lang="mr-IN" dirty="0" smtClean="0"/>
              <a:t>…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593204" y="1635167"/>
            <a:ext cx="2935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Exactly how many time zones</a:t>
            </a:r>
          </a:p>
          <a:p>
            <a:r>
              <a:rPr lang="en-US" dirty="0" smtClean="0"/>
              <a:t>does Australia have?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smtClean="0"/>
              <a:t>are </a:t>
            </a:r>
            <a:r>
              <a:rPr lang="en-AU" sz="2400" smtClean="0"/>
              <a:t>the time </a:t>
            </a:r>
            <a:r>
              <a:rPr lang="en-AU" sz="2400" dirty="0" smtClean="0"/>
              <a:t>zones </a:t>
            </a:r>
            <a:r>
              <a:rPr lang="en-AU" sz="2400" dirty="0" smtClean="0"/>
              <a:t>in Australia?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3590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39479" y="5781903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899592" y="1397418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smtClean="0"/>
              <a:t>are </a:t>
            </a:r>
            <a:r>
              <a:rPr lang="en-AU" sz="2400" smtClean="0"/>
              <a:t>the time </a:t>
            </a:r>
            <a:r>
              <a:rPr lang="en-AU" sz="2400" dirty="0" smtClean="0"/>
              <a:t>zones </a:t>
            </a:r>
            <a:r>
              <a:rPr lang="en-AU" sz="2400" dirty="0" smtClean="0"/>
              <a:t>in Australia?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Time Zones</a:t>
            </a:r>
            <a:endParaRPr lang="en-AU" sz="2800" dirty="0"/>
          </a:p>
        </p:txBody>
      </p:sp>
      <p:pic>
        <p:nvPicPr>
          <p:cNvPr id="10" name="Picture 220" descr="Australia-time-zo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21" y="3356992"/>
            <a:ext cx="388937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210"/>
          <p:cNvSpPr txBox="1">
            <a:spLocks noChangeArrowheads="1"/>
          </p:cNvSpPr>
          <p:nvPr/>
        </p:nvSpPr>
        <p:spPr bwMode="auto">
          <a:xfrm>
            <a:off x="1101028" y="1501234"/>
            <a:ext cx="57910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dirty="0">
                <a:latin typeface="+mn-lt"/>
              </a:rPr>
              <a:t>Time zones are calculated in relation to GMT.</a:t>
            </a:r>
          </a:p>
        </p:txBody>
      </p:sp>
      <p:sp>
        <p:nvSpPr>
          <p:cNvPr id="15" name="Text Box 211"/>
          <p:cNvSpPr txBox="1">
            <a:spLocks noChangeArrowheads="1"/>
          </p:cNvSpPr>
          <p:nvPr/>
        </p:nvSpPr>
        <p:spPr bwMode="auto">
          <a:xfrm>
            <a:off x="1146832" y="2013971"/>
            <a:ext cx="30257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G</a:t>
            </a:r>
            <a:r>
              <a:rPr lang="en-US" altLang="x-none" sz="2400">
                <a:latin typeface="+mn-lt"/>
              </a:rPr>
              <a:t>reenwich </a:t>
            </a:r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M</a:t>
            </a:r>
            <a:r>
              <a:rPr lang="en-US" altLang="x-none" sz="2400">
                <a:latin typeface="+mn-lt"/>
              </a:rPr>
              <a:t>ean </a:t>
            </a:r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T</a:t>
            </a:r>
            <a:r>
              <a:rPr lang="en-US" altLang="x-none" sz="2400">
                <a:latin typeface="+mn-lt"/>
              </a:rPr>
              <a:t>ime</a:t>
            </a:r>
          </a:p>
        </p:txBody>
      </p:sp>
      <p:sp>
        <p:nvSpPr>
          <p:cNvPr id="17" name="Text Box 212"/>
          <p:cNvSpPr txBox="1">
            <a:spLocks noChangeArrowheads="1"/>
          </p:cNvSpPr>
          <p:nvPr/>
        </p:nvSpPr>
        <p:spPr bwMode="auto">
          <a:xfrm>
            <a:off x="1146832" y="2590700"/>
            <a:ext cx="4926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>
                <a:latin typeface="+mn-lt"/>
              </a:rPr>
              <a:t>For locations to our </a:t>
            </a:r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east</a:t>
            </a:r>
            <a:r>
              <a:rPr lang="en-US" altLang="x-none" sz="2400">
                <a:latin typeface="+mn-lt"/>
              </a:rPr>
              <a:t> we </a:t>
            </a:r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add</a:t>
            </a:r>
            <a:r>
              <a:rPr lang="en-US" altLang="x-none" sz="2400">
                <a:latin typeface="+mn-lt"/>
              </a:rPr>
              <a:t> time.</a:t>
            </a:r>
          </a:p>
        </p:txBody>
      </p:sp>
      <p:sp>
        <p:nvSpPr>
          <p:cNvPr id="18" name="Text Box 215"/>
          <p:cNvSpPr txBox="1">
            <a:spLocks noChangeArrowheads="1"/>
          </p:cNvSpPr>
          <p:nvPr/>
        </p:nvSpPr>
        <p:spPr bwMode="auto">
          <a:xfrm>
            <a:off x="4411409" y="5589017"/>
            <a:ext cx="10975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>
                <a:solidFill>
                  <a:srgbClr val="0000FF"/>
                </a:solidFill>
                <a:latin typeface="+mn-lt"/>
              </a:rPr>
              <a:t>Sydney</a:t>
            </a:r>
          </a:p>
        </p:txBody>
      </p:sp>
      <p:sp>
        <p:nvSpPr>
          <p:cNvPr id="19" name="Oval 216"/>
          <p:cNvSpPr>
            <a:spLocks noChangeArrowheads="1"/>
          </p:cNvSpPr>
          <p:nvPr/>
        </p:nvSpPr>
        <p:spPr bwMode="auto">
          <a:xfrm>
            <a:off x="3374771" y="5589017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AU" altLang="x-none" sz="2400">
              <a:latin typeface="+mn-lt"/>
            </a:endParaRPr>
          </a:p>
        </p:txBody>
      </p:sp>
      <p:sp>
        <p:nvSpPr>
          <p:cNvPr id="20" name="Oval 217"/>
          <p:cNvSpPr>
            <a:spLocks noChangeArrowheads="1"/>
          </p:cNvSpPr>
          <p:nvPr/>
        </p:nvSpPr>
        <p:spPr bwMode="auto">
          <a:xfrm>
            <a:off x="4338384" y="5662042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AU" altLang="x-none" sz="2400">
              <a:latin typeface="+mn-lt"/>
            </a:endParaRPr>
          </a:p>
        </p:txBody>
      </p:sp>
      <p:sp>
        <p:nvSpPr>
          <p:cNvPr id="21" name="Text Box 218"/>
          <p:cNvSpPr txBox="1">
            <a:spLocks noChangeArrowheads="1"/>
          </p:cNvSpPr>
          <p:nvPr/>
        </p:nvSpPr>
        <p:spPr bwMode="auto">
          <a:xfrm>
            <a:off x="2285746" y="5589017"/>
            <a:ext cx="131478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>
                <a:solidFill>
                  <a:srgbClr val="0000FF"/>
                </a:solidFill>
                <a:latin typeface="+mn-lt"/>
              </a:rPr>
              <a:t>Adelaide</a:t>
            </a:r>
          </a:p>
          <a:p>
            <a:pPr eaLnBrk="1" hangingPunct="1"/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9am</a:t>
            </a:r>
          </a:p>
        </p:txBody>
      </p:sp>
      <p:sp>
        <p:nvSpPr>
          <p:cNvPr id="22" name="Text Box 221"/>
          <p:cNvSpPr txBox="1">
            <a:spLocks noChangeArrowheads="1"/>
          </p:cNvSpPr>
          <p:nvPr/>
        </p:nvSpPr>
        <p:spPr bwMode="auto">
          <a:xfrm>
            <a:off x="5068017" y="3628193"/>
            <a:ext cx="12961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dirty="0">
                <a:latin typeface="+mn-lt"/>
              </a:rPr>
              <a:t>Sydney =</a:t>
            </a:r>
          </a:p>
        </p:txBody>
      </p:sp>
      <p:sp>
        <p:nvSpPr>
          <p:cNvPr id="23" name="Text Box 222"/>
          <p:cNvSpPr txBox="1">
            <a:spLocks noChangeArrowheads="1"/>
          </p:cNvSpPr>
          <p:nvPr/>
        </p:nvSpPr>
        <p:spPr bwMode="auto">
          <a:xfrm>
            <a:off x="6224345" y="3651936"/>
            <a:ext cx="23631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x-none" sz="2400">
                <a:latin typeface="+mn-lt"/>
              </a:rPr>
              <a:t>Adelaide + 30min</a:t>
            </a:r>
          </a:p>
        </p:txBody>
      </p:sp>
      <p:sp>
        <p:nvSpPr>
          <p:cNvPr id="24" name="Text Box 223"/>
          <p:cNvSpPr txBox="1">
            <a:spLocks noChangeArrowheads="1"/>
          </p:cNvSpPr>
          <p:nvPr/>
        </p:nvSpPr>
        <p:spPr bwMode="auto">
          <a:xfrm>
            <a:off x="5965571" y="4217417"/>
            <a:ext cx="20361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x-none" sz="2400">
                <a:latin typeface="+mn-lt"/>
              </a:rPr>
              <a:t>= 9am + 30min</a:t>
            </a:r>
          </a:p>
        </p:txBody>
      </p:sp>
      <p:sp>
        <p:nvSpPr>
          <p:cNvPr id="25" name="Text Box 224"/>
          <p:cNvSpPr txBox="1">
            <a:spLocks noChangeArrowheads="1"/>
          </p:cNvSpPr>
          <p:nvPr/>
        </p:nvSpPr>
        <p:spPr bwMode="auto">
          <a:xfrm>
            <a:off x="5978271" y="4793680"/>
            <a:ext cx="14173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x-none" sz="2400">
                <a:latin typeface="+mn-lt"/>
              </a:rPr>
              <a:t>= 9:30 am</a:t>
            </a:r>
          </a:p>
        </p:txBody>
      </p:sp>
      <p:sp>
        <p:nvSpPr>
          <p:cNvPr id="26" name="Text Box 225"/>
          <p:cNvSpPr txBox="1">
            <a:spLocks noChangeArrowheads="1"/>
          </p:cNvSpPr>
          <p:nvPr/>
        </p:nvSpPr>
        <p:spPr bwMode="auto">
          <a:xfrm>
            <a:off x="4381246" y="5887467"/>
            <a:ext cx="11384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9:30am</a:t>
            </a:r>
          </a:p>
        </p:txBody>
      </p:sp>
    </p:spTree>
    <p:extLst>
      <p:ext uri="{BB962C8B-B14F-4D97-AF65-F5344CB8AC3E}">
        <p14:creationId xmlns:p14="http://schemas.microsoft.com/office/powerpoint/2010/main" val="33449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20" grpId="0" animBg="1"/>
      <p:bldP spid="22" grpId="0"/>
      <p:bldP spid="23" grpId="0"/>
      <p:bldP spid="24" grpId="0"/>
      <p:bldP spid="25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75027" y="598051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6340" y="1406851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Time Zones</a:t>
            </a:r>
            <a:endParaRPr lang="en-AU" sz="2800" dirty="0"/>
          </a:p>
        </p:txBody>
      </p:sp>
      <p:pic>
        <p:nvPicPr>
          <p:cNvPr id="10" name="Picture 2" descr="Australia-time-zo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670" y="3503868"/>
            <a:ext cx="388937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1064760" y="1492656"/>
            <a:ext cx="57910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>
                <a:latin typeface="+mn-lt"/>
              </a:rPr>
              <a:t>Time zones are calculated in relation to GMT.</a:t>
            </a: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1064760" y="1961369"/>
            <a:ext cx="30257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G</a:t>
            </a:r>
            <a:r>
              <a:rPr lang="en-US" altLang="x-none" sz="2400">
                <a:latin typeface="+mn-lt"/>
              </a:rPr>
              <a:t>reenwich </a:t>
            </a:r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M</a:t>
            </a:r>
            <a:r>
              <a:rPr lang="en-US" altLang="x-none" sz="2400">
                <a:latin typeface="+mn-lt"/>
              </a:rPr>
              <a:t>ean </a:t>
            </a:r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T</a:t>
            </a:r>
            <a:r>
              <a:rPr lang="en-US" altLang="x-none" sz="2400">
                <a:latin typeface="+mn-lt"/>
              </a:rPr>
              <a:t>ime</a:t>
            </a: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1064760" y="2464751"/>
            <a:ext cx="4926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>
                <a:latin typeface="+mn-lt"/>
              </a:rPr>
              <a:t>For locations to our </a:t>
            </a:r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east</a:t>
            </a:r>
            <a:r>
              <a:rPr lang="en-US" altLang="x-none" sz="2400">
                <a:latin typeface="+mn-lt"/>
              </a:rPr>
              <a:t> we </a:t>
            </a:r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add</a:t>
            </a:r>
            <a:r>
              <a:rPr lang="en-US" altLang="x-none" sz="2400">
                <a:latin typeface="+mn-lt"/>
              </a:rPr>
              <a:t> time.</a:t>
            </a: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1054454" y="2957102"/>
            <a:ext cx="55690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>
                <a:latin typeface="+mn-lt"/>
              </a:rPr>
              <a:t>For locations to our </a:t>
            </a:r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west</a:t>
            </a:r>
            <a:r>
              <a:rPr lang="en-US" altLang="x-none" sz="2400">
                <a:latin typeface="+mn-lt"/>
              </a:rPr>
              <a:t> we </a:t>
            </a:r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subtract</a:t>
            </a:r>
            <a:r>
              <a:rPr lang="en-US" altLang="x-none" sz="2400">
                <a:latin typeface="+mn-lt"/>
              </a:rPr>
              <a:t> time.</a:t>
            </a: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564335" y="5433622"/>
            <a:ext cx="8802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>
                <a:solidFill>
                  <a:srgbClr val="0000FF"/>
                </a:solidFill>
                <a:latin typeface="+mn-lt"/>
              </a:rPr>
              <a:t>Perth</a:t>
            </a:r>
          </a:p>
        </p:txBody>
      </p:sp>
      <p:sp>
        <p:nvSpPr>
          <p:cNvPr id="21" name="Oval 11"/>
          <p:cNvSpPr>
            <a:spLocks noChangeArrowheads="1"/>
          </p:cNvSpPr>
          <p:nvPr/>
        </p:nvSpPr>
        <p:spPr bwMode="auto">
          <a:xfrm>
            <a:off x="3229720" y="5735893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AU" altLang="x-none" sz="2400">
              <a:latin typeface="+mn-lt"/>
            </a:endParaRPr>
          </a:p>
        </p:txBody>
      </p:sp>
      <p:sp>
        <p:nvSpPr>
          <p:cNvPr id="22" name="Oval 12"/>
          <p:cNvSpPr>
            <a:spLocks noChangeArrowheads="1"/>
          </p:cNvSpPr>
          <p:nvPr/>
        </p:nvSpPr>
        <p:spPr bwMode="auto">
          <a:xfrm>
            <a:off x="1372345" y="5593018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AU" altLang="x-none" sz="2400">
              <a:latin typeface="+mn-lt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2140695" y="5735893"/>
            <a:ext cx="131478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>
                <a:solidFill>
                  <a:srgbClr val="0000FF"/>
                </a:solidFill>
                <a:latin typeface="+mn-lt"/>
              </a:rPr>
              <a:t>Adelaide</a:t>
            </a:r>
          </a:p>
          <a:p>
            <a:pPr eaLnBrk="1" hangingPunct="1"/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9am</a:t>
            </a:r>
          </a:p>
        </p:txBody>
      </p:sp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4510873" y="3791206"/>
            <a:ext cx="1085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altLang="x-none" sz="2400">
                <a:latin typeface="+mn-lt"/>
              </a:rPr>
              <a:t>Perth =</a:t>
            </a:r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5504608" y="3791206"/>
            <a:ext cx="28568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x-none" sz="2400">
                <a:latin typeface="+mn-lt"/>
              </a:rPr>
              <a:t>Adelaide – 1hr 30min</a:t>
            </a:r>
          </a:p>
        </p:txBody>
      </p:sp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5215683" y="4364293"/>
            <a:ext cx="24705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x-none" sz="2400">
                <a:latin typeface="+mn-lt"/>
              </a:rPr>
              <a:t>= 9am - 1hr 30min</a:t>
            </a:r>
          </a:p>
        </p:txBody>
      </p:sp>
      <p:sp>
        <p:nvSpPr>
          <p:cNvPr id="27" name="Text Box 17"/>
          <p:cNvSpPr txBox="1">
            <a:spLocks noChangeArrowheads="1"/>
          </p:cNvSpPr>
          <p:nvPr/>
        </p:nvSpPr>
        <p:spPr bwMode="auto">
          <a:xfrm>
            <a:off x="5228383" y="4940556"/>
            <a:ext cx="14173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x-none" sz="2400">
                <a:latin typeface="+mn-lt"/>
              </a:rPr>
              <a:t>= 7:30 am</a:t>
            </a:r>
          </a:p>
        </p:txBody>
      </p:sp>
      <p:sp>
        <p:nvSpPr>
          <p:cNvPr id="28" name="Text Box 18"/>
          <p:cNvSpPr txBox="1">
            <a:spLocks noChangeArrowheads="1"/>
          </p:cNvSpPr>
          <p:nvPr/>
        </p:nvSpPr>
        <p:spPr bwMode="auto">
          <a:xfrm>
            <a:off x="435228" y="5823850"/>
            <a:ext cx="11384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>
                <a:solidFill>
                  <a:srgbClr val="FF0000"/>
                </a:solidFill>
                <a:latin typeface="+mn-lt"/>
              </a:rPr>
              <a:t>7:30am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smtClean="0"/>
              <a:t>are </a:t>
            </a:r>
            <a:r>
              <a:rPr lang="en-AU" sz="2400" smtClean="0"/>
              <a:t>the time </a:t>
            </a:r>
            <a:r>
              <a:rPr lang="en-AU" sz="2400" dirty="0" smtClean="0"/>
              <a:t>zones </a:t>
            </a:r>
            <a:r>
              <a:rPr lang="en-AU" sz="2400" dirty="0" smtClean="0"/>
              <a:t>in Australia?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7496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 animBg="1"/>
      <p:bldP spid="24" grpId="0"/>
      <p:bldP spid="25" grpId="0"/>
      <p:bldP spid="26" grpId="0"/>
      <p:bldP spid="27" grpId="0"/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75027" y="598051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6340" y="1406851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Time Zones</a:t>
            </a: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01563" y="1655309"/>
            <a:ext cx="71991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Example 1: </a:t>
            </a:r>
          </a:p>
          <a:p>
            <a:endParaRPr lang="en-US" sz="2400" dirty="0"/>
          </a:p>
          <a:p>
            <a:r>
              <a:rPr lang="en-US" sz="2400" dirty="0" smtClean="0"/>
              <a:t>If the time in Sydney is 10 am, what is the time in Perth?</a:t>
            </a:r>
            <a:endParaRPr lang="en-US" sz="2400" dirty="0"/>
          </a:p>
        </p:txBody>
      </p:sp>
      <p:pic>
        <p:nvPicPr>
          <p:cNvPr id="29" name="Picture 220" descr="Australia-time-zo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21" y="3356992"/>
            <a:ext cx="388937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ext Box 215"/>
          <p:cNvSpPr txBox="1">
            <a:spLocks noChangeArrowheads="1"/>
          </p:cNvSpPr>
          <p:nvPr/>
        </p:nvSpPr>
        <p:spPr bwMode="auto">
          <a:xfrm>
            <a:off x="4411409" y="5589017"/>
            <a:ext cx="10975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>
                <a:solidFill>
                  <a:srgbClr val="0000FF"/>
                </a:solidFill>
                <a:latin typeface="+mn-lt"/>
              </a:rPr>
              <a:t>Sydney</a:t>
            </a:r>
          </a:p>
        </p:txBody>
      </p:sp>
      <p:sp>
        <p:nvSpPr>
          <p:cNvPr id="32" name="Oval 216"/>
          <p:cNvSpPr>
            <a:spLocks noChangeArrowheads="1"/>
          </p:cNvSpPr>
          <p:nvPr/>
        </p:nvSpPr>
        <p:spPr bwMode="auto">
          <a:xfrm>
            <a:off x="1657792" y="5436497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AU" altLang="x-none" sz="2400">
              <a:latin typeface="+mn-lt"/>
            </a:endParaRPr>
          </a:p>
        </p:txBody>
      </p:sp>
      <p:sp>
        <p:nvSpPr>
          <p:cNvPr id="33" name="Oval 217"/>
          <p:cNvSpPr>
            <a:spLocks noChangeArrowheads="1"/>
          </p:cNvSpPr>
          <p:nvPr/>
        </p:nvSpPr>
        <p:spPr bwMode="auto">
          <a:xfrm>
            <a:off x="4338384" y="5662042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AU" altLang="x-none" sz="2400">
              <a:latin typeface="+mn-lt"/>
            </a:endParaRPr>
          </a:p>
        </p:txBody>
      </p:sp>
      <p:sp>
        <p:nvSpPr>
          <p:cNvPr id="34" name="Text Box 218"/>
          <p:cNvSpPr txBox="1">
            <a:spLocks noChangeArrowheads="1"/>
          </p:cNvSpPr>
          <p:nvPr/>
        </p:nvSpPr>
        <p:spPr bwMode="auto">
          <a:xfrm>
            <a:off x="916839" y="5558865"/>
            <a:ext cx="88024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 dirty="0" smtClean="0">
                <a:solidFill>
                  <a:srgbClr val="0000FF"/>
                </a:solidFill>
                <a:latin typeface="+mn-lt"/>
              </a:rPr>
              <a:t>Perth</a:t>
            </a:r>
            <a:endParaRPr lang="en-US" altLang="x-none" sz="2400" b="1" dirty="0">
              <a:solidFill>
                <a:srgbClr val="0000FF"/>
              </a:solidFill>
              <a:latin typeface="+mn-lt"/>
            </a:endParaRPr>
          </a:p>
          <a:p>
            <a:pPr eaLnBrk="1" hangingPunct="1"/>
            <a:r>
              <a:rPr lang="en-US" altLang="x-none" sz="2400" b="1" dirty="0" smtClean="0">
                <a:solidFill>
                  <a:srgbClr val="FF0000"/>
                </a:solidFill>
                <a:latin typeface="+mn-lt"/>
              </a:rPr>
              <a:t>8am</a:t>
            </a:r>
            <a:endParaRPr lang="en-US" altLang="x-none" sz="24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5" name="Text Box 221"/>
          <p:cNvSpPr txBox="1">
            <a:spLocks noChangeArrowheads="1"/>
          </p:cNvSpPr>
          <p:nvPr/>
        </p:nvSpPr>
        <p:spPr bwMode="auto">
          <a:xfrm>
            <a:off x="5068017" y="3628193"/>
            <a:ext cx="1085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dirty="0" smtClean="0">
                <a:latin typeface="+mn-lt"/>
              </a:rPr>
              <a:t>Perth </a:t>
            </a:r>
            <a:r>
              <a:rPr lang="en-US" altLang="x-none" sz="2400" dirty="0">
                <a:latin typeface="+mn-lt"/>
              </a:rPr>
              <a:t>=</a:t>
            </a:r>
          </a:p>
        </p:txBody>
      </p:sp>
      <p:sp>
        <p:nvSpPr>
          <p:cNvPr id="36" name="Text Box 223"/>
          <p:cNvSpPr txBox="1">
            <a:spLocks noChangeArrowheads="1"/>
          </p:cNvSpPr>
          <p:nvPr/>
        </p:nvSpPr>
        <p:spPr bwMode="auto">
          <a:xfrm>
            <a:off x="5965571" y="4217417"/>
            <a:ext cx="18277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x-none" sz="2400" dirty="0">
                <a:latin typeface="+mn-lt"/>
              </a:rPr>
              <a:t>= </a:t>
            </a:r>
            <a:r>
              <a:rPr lang="en-US" altLang="x-none" sz="2400" dirty="0" smtClean="0">
                <a:latin typeface="+mn-lt"/>
              </a:rPr>
              <a:t>10am </a:t>
            </a:r>
            <a:r>
              <a:rPr lang="mr-IN" altLang="x-none" sz="2400" dirty="0" smtClean="0">
                <a:latin typeface="+mn-lt"/>
              </a:rPr>
              <a:t>–</a:t>
            </a:r>
            <a:r>
              <a:rPr lang="en-US" altLang="x-none" sz="2400" dirty="0" smtClean="0">
                <a:latin typeface="+mn-lt"/>
              </a:rPr>
              <a:t> 2hr</a:t>
            </a:r>
            <a:endParaRPr lang="en-US" altLang="x-none" sz="2400" dirty="0">
              <a:latin typeface="+mn-lt"/>
            </a:endParaRPr>
          </a:p>
        </p:txBody>
      </p:sp>
      <p:sp>
        <p:nvSpPr>
          <p:cNvPr id="37" name="Text Box 224"/>
          <p:cNvSpPr txBox="1">
            <a:spLocks noChangeArrowheads="1"/>
          </p:cNvSpPr>
          <p:nvPr/>
        </p:nvSpPr>
        <p:spPr bwMode="auto">
          <a:xfrm>
            <a:off x="5978271" y="4793680"/>
            <a:ext cx="14173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x-none" sz="2400" dirty="0">
                <a:latin typeface="+mn-lt"/>
              </a:rPr>
              <a:t>= 8</a:t>
            </a:r>
            <a:r>
              <a:rPr lang="en-US" altLang="x-none" sz="2400" dirty="0" smtClean="0">
                <a:latin typeface="+mn-lt"/>
              </a:rPr>
              <a:t>:00 </a:t>
            </a:r>
            <a:r>
              <a:rPr lang="en-US" altLang="x-none" sz="2400" dirty="0">
                <a:latin typeface="+mn-lt"/>
              </a:rPr>
              <a:t>am</a:t>
            </a:r>
          </a:p>
        </p:txBody>
      </p:sp>
      <p:sp>
        <p:nvSpPr>
          <p:cNvPr id="38" name="Text Box 225"/>
          <p:cNvSpPr txBox="1">
            <a:spLocks noChangeArrowheads="1"/>
          </p:cNvSpPr>
          <p:nvPr/>
        </p:nvSpPr>
        <p:spPr bwMode="auto">
          <a:xfrm>
            <a:off x="4381246" y="5887467"/>
            <a:ext cx="12939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 dirty="0" smtClean="0">
                <a:solidFill>
                  <a:srgbClr val="FF0000"/>
                </a:solidFill>
                <a:latin typeface="+mn-lt"/>
              </a:rPr>
              <a:t>10:00am</a:t>
            </a:r>
            <a:endParaRPr lang="en-US" altLang="x-none" sz="24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smtClean="0"/>
              <a:t>are </a:t>
            </a:r>
            <a:r>
              <a:rPr lang="en-AU" sz="2400" smtClean="0"/>
              <a:t>the time </a:t>
            </a:r>
            <a:r>
              <a:rPr lang="en-AU" sz="2400" dirty="0" smtClean="0"/>
              <a:t>zones </a:t>
            </a:r>
            <a:r>
              <a:rPr lang="en-AU" sz="2400" dirty="0" smtClean="0"/>
              <a:t>in Australia?</a:t>
            </a:r>
            <a:endParaRPr lang="en-AU" sz="2400" dirty="0"/>
          </a:p>
        </p:txBody>
      </p:sp>
      <p:sp>
        <p:nvSpPr>
          <p:cNvPr id="41" name="Text Box 15"/>
          <p:cNvSpPr txBox="1">
            <a:spLocks noChangeArrowheads="1"/>
          </p:cNvSpPr>
          <p:nvPr/>
        </p:nvSpPr>
        <p:spPr bwMode="auto">
          <a:xfrm>
            <a:off x="6287128" y="3628192"/>
            <a:ext cx="17899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x-none" sz="2400" dirty="0" smtClean="0">
                <a:latin typeface="+mn-lt"/>
              </a:rPr>
              <a:t>Sydney – 2hr</a:t>
            </a:r>
            <a:endParaRPr lang="en-US" altLang="x-none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068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 animBg="1"/>
      <p:bldP spid="35" grpId="0"/>
      <p:bldP spid="36" grpId="0"/>
      <p:bldP spid="37" grpId="0"/>
      <p:bldP spid="38" grpId="0"/>
      <p:bldP spid="4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75027" y="598051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6340" y="1406851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Time Zones</a:t>
            </a: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01563" y="1655309"/>
            <a:ext cx="72623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Example 2: </a:t>
            </a:r>
          </a:p>
          <a:p>
            <a:endParaRPr lang="en-US" sz="2400" dirty="0"/>
          </a:p>
          <a:p>
            <a:r>
              <a:rPr lang="en-US" sz="2400" dirty="0" smtClean="0"/>
              <a:t>If the time in Darwin is 4 pm, what is the time in Hobart?</a:t>
            </a:r>
            <a:endParaRPr lang="en-US" sz="2400" dirty="0"/>
          </a:p>
        </p:txBody>
      </p:sp>
      <p:pic>
        <p:nvPicPr>
          <p:cNvPr id="29" name="Picture 220" descr="Australia-time-zo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21" y="3356992"/>
            <a:ext cx="388937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ext Box 215"/>
          <p:cNvSpPr txBox="1">
            <a:spLocks noChangeArrowheads="1"/>
          </p:cNvSpPr>
          <p:nvPr/>
        </p:nvSpPr>
        <p:spPr bwMode="auto">
          <a:xfrm>
            <a:off x="4239707" y="6165184"/>
            <a:ext cx="10775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 dirty="0" smtClean="0">
                <a:solidFill>
                  <a:srgbClr val="0000FF"/>
                </a:solidFill>
                <a:latin typeface="+mn-lt"/>
              </a:rPr>
              <a:t>Hobart</a:t>
            </a:r>
            <a:endParaRPr lang="en-US" altLang="x-none" sz="2400" b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Oval 216"/>
          <p:cNvSpPr>
            <a:spLocks noChangeArrowheads="1"/>
          </p:cNvSpPr>
          <p:nvPr/>
        </p:nvSpPr>
        <p:spPr bwMode="auto">
          <a:xfrm>
            <a:off x="2771800" y="3615172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AU" altLang="x-none" sz="2400">
              <a:latin typeface="+mn-lt"/>
            </a:endParaRPr>
          </a:p>
        </p:txBody>
      </p:sp>
      <p:sp>
        <p:nvSpPr>
          <p:cNvPr id="33" name="Oval 217"/>
          <p:cNvSpPr>
            <a:spLocks noChangeArrowheads="1"/>
          </p:cNvSpPr>
          <p:nvPr/>
        </p:nvSpPr>
        <p:spPr bwMode="auto">
          <a:xfrm>
            <a:off x="4037171" y="6349132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AU" altLang="x-none" sz="2400">
              <a:latin typeface="+mn-lt"/>
            </a:endParaRPr>
          </a:p>
        </p:txBody>
      </p:sp>
      <p:sp>
        <p:nvSpPr>
          <p:cNvPr id="34" name="Text Box 218"/>
          <p:cNvSpPr txBox="1">
            <a:spLocks noChangeArrowheads="1"/>
          </p:cNvSpPr>
          <p:nvPr/>
        </p:nvSpPr>
        <p:spPr bwMode="auto">
          <a:xfrm>
            <a:off x="2036022" y="3004877"/>
            <a:ext cx="11111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 dirty="0" smtClean="0">
                <a:solidFill>
                  <a:srgbClr val="0000FF"/>
                </a:solidFill>
                <a:latin typeface="+mn-lt"/>
              </a:rPr>
              <a:t>Darwin</a:t>
            </a:r>
            <a:endParaRPr lang="en-US" altLang="x-none" sz="2400" b="1" dirty="0">
              <a:solidFill>
                <a:srgbClr val="0000FF"/>
              </a:solidFill>
              <a:latin typeface="+mn-lt"/>
            </a:endParaRPr>
          </a:p>
          <a:p>
            <a:pPr eaLnBrk="1" hangingPunct="1"/>
            <a:r>
              <a:rPr lang="en-US" altLang="x-none" sz="2400" b="1" dirty="0" smtClean="0">
                <a:solidFill>
                  <a:srgbClr val="FF0000"/>
                </a:solidFill>
                <a:latin typeface="+mn-lt"/>
              </a:rPr>
              <a:t>4</a:t>
            </a:r>
            <a:r>
              <a:rPr lang="en-US" altLang="x-none" sz="2400" b="1" dirty="0">
                <a:solidFill>
                  <a:srgbClr val="FF0000"/>
                </a:solidFill>
                <a:latin typeface="+mn-lt"/>
              </a:rPr>
              <a:t>p</a:t>
            </a:r>
            <a:r>
              <a:rPr lang="en-US" altLang="x-none" sz="2400" b="1" dirty="0" smtClean="0">
                <a:solidFill>
                  <a:srgbClr val="FF0000"/>
                </a:solidFill>
                <a:latin typeface="+mn-lt"/>
              </a:rPr>
              <a:t>m</a:t>
            </a:r>
            <a:endParaRPr lang="en-US" altLang="x-none" sz="24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5" name="Text Box 221"/>
          <p:cNvSpPr txBox="1">
            <a:spLocks noChangeArrowheads="1"/>
          </p:cNvSpPr>
          <p:nvPr/>
        </p:nvSpPr>
        <p:spPr bwMode="auto">
          <a:xfrm>
            <a:off x="5068017" y="3628193"/>
            <a:ext cx="12811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dirty="0" smtClean="0">
                <a:latin typeface="+mn-lt"/>
              </a:rPr>
              <a:t>Hobart </a:t>
            </a:r>
            <a:r>
              <a:rPr lang="en-US" altLang="x-none" sz="2400" dirty="0">
                <a:latin typeface="+mn-lt"/>
              </a:rPr>
              <a:t>=</a:t>
            </a:r>
          </a:p>
        </p:txBody>
      </p:sp>
      <p:sp>
        <p:nvSpPr>
          <p:cNvPr id="36" name="Text Box 223"/>
          <p:cNvSpPr txBox="1">
            <a:spLocks noChangeArrowheads="1"/>
          </p:cNvSpPr>
          <p:nvPr/>
        </p:nvSpPr>
        <p:spPr bwMode="auto">
          <a:xfrm>
            <a:off x="5965571" y="4217417"/>
            <a:ext cx="19191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x-none" sz="2400" dirty="0">
                <a:latin typeface="+mn-lt"/>
              </a:rPr>
              <a:t>= </a:t>
            </a:r>
            <a:r>
              <a:rPr lang="en-US" altLang="x-none" sz="2400" dirty="0" smtClean="0">
                <a:latin typeface="+mn-lt"/>
              </a:rPr>
              <a:t>4pm </a:t>
            </a:r>
            <a:r>
              <a:rPr lang="en-CA" altLang="x-none" sz="2400" dirty="0" smtClean="0">
                <a:latin typeface="+mn-lt"/>
              </a:rPr>
              <a:t>+ 0.5hr</a:t>
            </a:r>
            <a:endParaRPr lang="en-US" altLang="x-none" sz="2400" dirty="0">
              <a:latin typeface="+mn-lt"/>
            </a:endParaRPr>
          </a:p>
        </p:txBody>
      </p:sp>
      <p:sp>
        <p:nvSpPr>
          <p:cNvPr id="37" name="Text Box 224"/>
          <p:cNvSpPr txBox="1">
            <a:spLocks noChangeArrowheads="1"/>
          </p:cNvSpPr>
          <p:nvPr/>
        </p:nvSpPr>
        <p:spPr bwMode="auto">
          <a:xfrm>
            <a:off x="5978271" y="4793680"/>
            <a:ext cx="13628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x-none" sz="2400" dirty="0">
                <a:latin typeface="+mn-lt"/>
              </a:rPr>
              <a:t>= </a:t>
            </a:r>
            <a:r>
              <a:rPr lang="en-US" altLang="x-none" sz="2400" dirty="0" smtClean="0">
                <a:latin typeface="+mn-lt"/>
              </a:rPr>
              <a:t>4:30pm</a:t>
            </a:r>
            <a:endParaRPr lang="en-US" altLang="x-none" sz="2400" dirty="0">
              <a:latin typeface="+mn-lt"/>
            </a:endParaRPr>
          </a:p>
        </p:txBody>
      </p:sp>
      <p:sp>
        <p:nvSpPr>
          <p:cNvPr id="38" name="Text Box 225"/>
          <p:cNvSpPr txBox="1">
            <a:spLocks noChangeArrowheads="1"/>
          </p:cNvSpPr>
          <p:nvPr/>
        </p:nvSpPr>
        <p:spPr bwMode="auto">
          <a:xfrm>
            <a:off x="4239707" y="6451762"/>
            <a:ext cx="11512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 dirty="0" smtClean="0">
                <a:solidFill>
                  <a:srgbClr val="FF0000"/>
                </a:solidFill>
                <a:latin typeface="+mn-lt"/>
              </a:rPr>
              <a:t>4:30pm</a:t>
            </a:r>
            <a:endParaRPr lang="en-US" altLang="x-none" sz="24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smtClean="0"/>
              <a:t>are </a:t>
            </a:r>
            <a:r>
              <a:rPr lang="en-AU" sz="2400" smtClean="0"/>
              <a:t>the time </a:t>
            </a:r>
            <a:r>
              <a:rPr lang="en-AU" sz="2400" dirty="0" smtClean="0"/>
              <a:t>zones </a:t>
            </a:r>
            <a:r>
              <a:rPr lang="en-AU" sz="2400" dirty="0" smtClean="0"/>
              <a:t>in Australia?</a:t>
            </a:r>
            <a:endParaRPr lang="en-AU" sz="2400" dirty="0"/>
          </a:p>
        </p:txBody>
      </p:sp>
      <p:sp>
        <p:nvSpPr>
          <p:cNvPr id="41" name="Text Box 15"/>
          <p:cNvSpPr txBox="1">
            <a:spLocks noChangeArrowheads="1"/>
          </p:cNvSpPr>
          <p:nvPr/>
        </p:nvSpPr>
        <p:spPr bwMode="auto">
          <a:xfrm>
            <a:off x="6287128" y="3628192"/>
            <a:ext cx="20312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x-none" sz="2400" dirty="0" smtClean="0">
                <a:latin typeface="+mn-lt"/>
              </a:rPr>
              <a:t>Darwin </a:t>
            </a:r>
            <a:r>
              <a:rPr lang="en-US" altLang="x-none" sz="2400" dirty="0">
                <a:latin typeface="+mn-lt"/>
              </a:rPr>
              <a:t>+</a:t>
            </a:r>
            <a:r>
              <a:rPr lang="en-US" altLang="x-none" sz="2400" dirty="0" smtClean="0">
                <a:latin typeface="+mn-lt"/>
              </a:rPr>
              <a:t> 0.5hr</a:t>
            </a:r>
            <a:endParaRPr lang="en-US" altLang="x-none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618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 animBg="1"/>
      <p:bldP spid="35" grpId="0"/>
      <p:bldP spid="36" grpId="0"/>
      <p:bldP spid="37" grpId="0"/>
      <p:bldP spid="38" grpId="0"/>
      <p:bldP spid="4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908720"/>
            <a:ext cx="7436733" cy="5898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800" y="260648"/>
            <a:ext cx="1789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Page 194 1-6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8065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75027" y="598051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6340" y="1406851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Time Zones</a:t>
            </a: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742458" y="1406851"/>
            <a:ext cx="84015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Example 3: A plane leaves Brisbane at 7:55pm and arrives in Adelaide at 9:50pm? How long is the flight (Brisbane and Adelaide are in different time zones)</a:t>
            </a:r>
            <a:endParaRPr lang="en-US" sz="2200" dirty="0"/>
          </a:p>
        </p:txBody>
      </p:sp>
      <p:pic>
        <p:nvPicPr>
          <p:cNvPr id="29" name="Picture 220" descr="Australia-time-zo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41" y="3674567"/>
            <a:ext cx="388937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ext Box 215"/>
          <p:cNvSpPr txBox="1">
            <a:spLocks noChangeArrowheads="1"/>
          </p:cNvSpPr>
          <p:nvPr/>
        </p:nvSpPr>
        <p:spPr bwMode="auto">
          <a:xfrm>
            <a:off x="1605314" y="5903810"/>
            <a:ext cx="13147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 dirty="0" smtClean="0">
                <a:solidFill>
                  <a:srgbClr val="0000FF"/>
                </a:solidFill>
                <a:latin typeface="+mn-lt"/>
              </a:rPr>
              <a:t>Adelaide</a:t>
            </a:r>
            <a:endParaRPr lang="en-US" altLang="x-none" sz="2400" b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Oval 216"/>
          <p:cNvSpPr>
            <a:spLocks noChangeArrowheads="1"/>
          </p:cNvSpPr>
          <p:nvPr/>
        </p:nvSpPr>
        <p:spPr bwMode="auto">
          <a:xfrm>
            <a:off x="3707904" y="4940268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AU" altLang="x-none" sz="2400">
              <a:latin typeface="+mn-lt"/>
            </a:endParaRPr>
          </a:p>
        </p:txBody>
      </p:sp>
      <p:sp>
        <p:nvSpPr>
          <p:cNvPr id="33" name="Oval 217"/>
          <p:cNvSpPr>
            <a:spLocks noChangeArrowheads="1"/>
          </p:cNvSpPr>
          <p:nvPr/>
        </p:nvSpPr>
        <p:spPr bwMode="auto">
          <a:xfrm>
            <a:off x="2729593" y="5774564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AU" altLang="x-none" sz="2400">
              <a:latin typeface="+mn-lt"/>
            </a:endParaRPr>
          </a:p>
        </p:txBody>
      </p:sp>
      <p:sp>
        <p:nvSpPr>
          <p:cNvPr id="34" name="Text Box 218"/>
          <p:cNvSpPr txBox="1">
            <a:spLocks noChangeArrowheads="1"/>
          </p:cNvSpPr>
          <p:nvPr/>
        </p:nvSpPr>
        <p:spPr bwMode="auto">
          <a:xfrm>
            <a:off x="3385041" y="4109271"/>
            <a:ext cx="130356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 dirty="0" smtClean="0">
                <a:solidFill>
                  <a:srgbClr val="0000FF"/>
                </a:solidFill>
                <a:latin typeface="+mn-lt"/>
              </a:rPr>
              <a:t>Brisbane</a:t>
            </a:r>
            <a:endParaRPr lang="en-US" altLang="x-none" sz="2400" b="1" dirty="0">
              <a:solidFill>
                <a:srgbClr val="0000FF"/>
              </a:solidFill>
              <a:latin typeface="+mn-lt"/>
            </a:endParaRPr>
          </a:p>
          <a:p>
            <a:pPr eaLnBrk="1" hangingPunct="1"/>
            <a:r>
              <a:rPr lang="en-US" altLang="x-none" sz="2400" b="1" dirty="0" smtClean="0">
                <a:solidFill>
                  <a:srgbClr val="FF0000"/>
                </a:solidFill>
                <a:latin typeface="+mn-lt"/>
              </a:rPr>
              <a:t>7:55pm</a:t>
            </a:r>
            <a:endParaRPr lang="en-US" altLang="x-none" sz="24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5" name="Text Box 221"/>
          <p:cNvSpPr txBox="1">
            <a:spLocks noChangeArrowheads="1"/>
          </p:cNvSpPr>
          <p:nvPr/>
        </p:nvSpPr>
        <p:spPr bwMode="auto">
          <a:xfrm>
            <a:off x="700175" y="2718331"/>
            <a:ext cx="841429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200" dirty="0" smtClean="0">
                <a:latin typeface="+mn-lt"/>
              </a:rPr>
              <a:t>Brisbane time 7:55pm =  Adelaide time 7:25 pm (30 min time difference)</a:t>
            </a:r>
            <a:endParaRPr lang="en-US" altLang="x-none" sz="2200" dirty="0">
              <a:latin typeface="+mn-lt"/>
            </a:endParaRPr>
          </a:p>
        </p:txBody>
      </p:sp>
      <p:sp>
        <p:nvSpPr>
          <p:cNvPr id="36" name="Text Box 223"/>
          <p:cNvSpPr txBox="1">
            <a:spLocks noChangeArrowheads="1"/>
          </p:cNvSpPr>
          <p:nvPr/>
        </p:nvSpPr>
        <p:spPr bwMode="auto">
          <a:xfrm>
            <a:off x="4983519" y="3430438"/>
            <a:ext cx="417947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CA" altLang="x-none" sz="2200" dirty="0" smtClean="0">
                <a:latin typeface="+mn-lt"/>
              </a:rPr>
              <a:t>Now find time difference between </a:t>
            </a:r>
          </a:p>
          <a:p>
            <a:pPr algn="l" eaLnBrk="1" hangingPunct="1"/>
            <a:r>
              <a:rPr lang="en-CA" altLang="x-none" sz="2200" dirty="0" smtClean="0">
                <a:latin typeface="+mn-lt"/>
              </a:rPr>
              <a:t>7:25pm and 9:50pm</a:t>
            </a:r>
            <a:endParaRPr lang="en-US" altLang="x-none" sz="2200" dirty="0">
              <a:latin typeface="+mn-lt"/>
            </a:endParaRPr>
          </a:p>
        </p:txBody>
      </p:sp>
      <p:sp>
        <p:nvSpPr>
          <p:cNvPr id="38" name="Text Box 225"/>
          <p:cNvSpPr txBox="1">
            <a:spLocks noChangeArrowheads="1"/>
          </p:cNvSpPr>
          <p:nvPr/>
        </p:nvSpPr>
        <p:spPr bwMode="auto">
          <a:xfrm>
            <a:off x="1650547" y="6203006"/>
            <a:ext cx="11512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x-none" sz="2400" b="1" dirty="0" smtClean="0">
                <a:solidFill>
                  <a:srgbClr val="FF0000"/>
                </a:solidFill>
                <a:latin typeface="+mn-lt"/>
              </a:rPr>
              <a:t>9:50pm</a:t>
            </a:r>
            <a:endParaRPr lang="en-US" altLang="x-none" sz="24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smtClean="0"/>
              <a:t>are </a:t>
            </a:r>
            <a:r>
              <a:rPr lang="en-AU" sz="2400" smtClean="0"/>
              <a:t>the time </a:t>
            </a:r>
            <a:r>
              <a:rPr lang="en-AU" sz="2400" dirty="0" smtClean="0"/>
              <a:t>zones </a:t>
            </a:r>
            <a:r>
              <a:rPr lang="en-AU" sz="2400" dirty="0" smtClean="0"/>
              <a:t>in Australia?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035" y="4606181"/>
            <a:ext cx="4583856" cy="10031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131" y="5652499"/>
            <a:ext cx="2700894" cy="121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8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 animBg="1"/>
      <p:bldP spid="35" grpId="0"/>
      <p:bldP spid="36" grpId="0"/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</a:t>
            </a:r>
            <a:r>
              <a:rPr lang="en-US" smtClean="0"/>
              <a:t>understand? </a:t>
            </a:r>
            <a:r>
              <a:rPr lang="en-US" dirty="0" smtClean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18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Have a go at page </a:t>
            </a:r>
            <a:r>
              <a:rPr lang="en-US" dirty="0" smtClean="0"/>
              <a:t>195 </a:t>
            </a:r>
            <a:r>
              <a:rPr lang="en-US" dirty="0" smtClean="0"/>
              <a:t>in your textbook</a:t>
            </a:r>
            <a:endParaRPr lang="en-AU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348880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860632" y="3671699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611560" y="2749421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02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1341</TotalTime>
  <Words>766</Words>
  <Application>Microsoft Macintosh PowerPoint</Application>
  <PresentationFormat>On-screen Show (4:3)</PresentationFormat>
  <Paragraphs>212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Calibri</vt:lpstr>
      <vt:lpstr>Comic Sans MS</vt:lpstr>
      <vt:lpstr>Impact</vt:lpstr>
      <vt:lpstr>Mangal</vt:lpstr>
      <vt:lpstr>Martina</vt:lpstr>
      <vt:lpstr>Tahoma</vt:lpstr>
      <vt:lpstr>Wingdings</vt:lpstr>
      <vt:lpstr>Arial</vt:lpstr>
      <vt:lpstr>Office Theme</vt:lpstr>
      <vt:lpstr>Time Interactive Notebook</vt:lpstr>
      <vt:lpstr>PowerPoint Presentation</vt:lpstr>
      <vt:lpstr>PowerPoint Presentation</vt:lpstr>
      <vt:lpstr>Warm up</vt:lpstr>
      <vt:lpstr>PowerPoint Presentation</vt:lpstr>
      <vt:lpstr>Think/Pair/Share</vt:lpstr>
      <vt:lpstr>PowerPoint Presentation</vt:lpstr>
      <vt:lpstr>PowerPoint Presentation</vt:lpstr>
      <vt:lpstr>Greenwich, England is the starting point for time zones</vt:lpstr>
      <vt:lpstr>LONGITUDE AND TIME</vt:lpstr>
      <vt:lpstr>PowerPoint Presentation</vt:lpstr>
      <vt:lpstr>ANOTHER CHEESY SAYING</vt:lpstr>
      <vt:lpstr>World Time Zones</vt:lpstr>
      <vt:lpstr>What time is it in the locations below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Now your turn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SUMMERS Brad [Baldivis Secondary College]</cp:lastModifiedBy>
  <cp:revision>71</cp:revision>
  <dcterms:created xsi:type="dcterms:W3CDTF">2013-03-25T14:33:20Z</dcterms:created>
  <dcterms:modified xsi:type="dcterms:W3CDTF">2017-09-11T13:06:02Z</dcterms:modified>
</cp:coreProperties>
</file>
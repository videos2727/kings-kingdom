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7" r:id="rId3"/>
    <p:sldId id="257" r:id="rId4"/>
    <p:sldId id="273" r:id="rId5"/>
    <p:sldId id="274" r:id="rId6"/>
    <p:sldId id="275" r:id="rId7"/>
    <p:sldId id="286" r:id="rId8"/>
    <p:sldId id="276" r:id="rId9"/>
    <p:sldId id="278" r:id="rId10"/>
    <p:sldId id="287" r:id="rId11"/>
    <p:sldId id="259" r:id="rId12"/>
    <p:sldId id="270" r:id="rId13"/>
    <p:sldId id="271" r:id="rId14"/>
    <p:sldId id="280" r:id="rId15"/>
    <p:sldId id="284" r:id="rId16"/>
    <p:sldId id="2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98"/>
    <p:restoredTop sz="94664"/>
  </p:normalViewPr>
  <p:slideViewPr>
    <p:cSldViewPr snapToGrid="0" snapToObjects="1">
      <p:cViewPr varScale="1">
        <p:scale>
          <a:sx n="101" d="100"/>
          <a:sy n="101" d="100"/>
        </p:scale>
        <p:origin x="21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C3546-2712-0B42-8D01-AF78E7C408BA}" type="datetimeFigureOut">
              <a:rPr lang="en-US" smtClean="0"/>
              <a:t>5/21/17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D5CFD-103C-1F43-A3E6-136F92CE5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84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932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D0CC7D-CAFB-8B4F-AB66-BC64C2B39E97}" type="slidenum">
              <a:rPr lang="en-GB" altLang="x-none"/>
              <a:pPr/>
              <a:t>12</a:t>
            </a:fld>
            <a:endParaRPr lang="en-GB" altLang="x-none"/>
          </a:p>
        </p:txBody>
      </p:sp>
      <p:sp>
        <p:nvSpPr>
          <p:cNvPr id="747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648167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5568E4-A4E7-1C45-8D4A-6A51E3AB6E8C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757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97469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04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51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28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2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8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702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9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9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7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56EB0-D3D1-BA4F-838A-7F80804AFA79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8527-3803-3D40-86C5-F0EC82191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36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t9cxM_DQMXI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3.png"/><Relationship Id="rId7" Type="http://schemas.openxmlformats.org/officeDocument/2006/relationships/oleObject" Target="../embeddings/oleObject3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900" y="1733826"/>
            <a:ext cx="5651500" cy="4610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990" y="457200"/>
            <a:ext cx="11329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Brain Teaser: How many triangles can you find in the image below?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8488017" y="1868557"/>
            <a:ext cx="2726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The answer: 24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98055" y="3669544"/>
            <a:ext cx="4208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/>
              </a:rPr>
              <a:t>https://www.youtube.com/watch?v=t9cxM_DQMXI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39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08100" y="939800"/>
            <a:ext cx="8496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From last class:</a:t>
            </a:r>
          </a:p>
          <a:p>
            <a:endParaRPr lang="en-US" sz="4400" dirty="0"/>
          </a:p>
          <a:p>
            <a:r>
              <a:rPr lang="en-US" sz="4400" dirty="0" smtClean="0"/>
              <a:t>What were the four tests that proved two triangles were congruent?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7741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749121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749121"/>
            <a:ext cx="29815" cy="448819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3652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Tests for 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83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test for congruency in triangles and how do they apply to quadrilaterals?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103859" y="2005507"/>
            <a:ext cx="2997128" cy="3256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/>
            <a:r>
              <a:rPr lang="en-US" altLang="x-none" sz="4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Side-Side-Side </a:t>
            </a:r>
            <a:r>
              <a:rPr lang="en-US" altLang="x-none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(SSS)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 rot="-1394921">
            <a:off x="10325141" y="6739139"/>
            <a:ext cx="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GB" altLang="x-none">
              <a:solidFill>
                <a:schemeClr val="tx2"/>
              </a:solidFill>
            </a:endParaRPr>
          </a:p>
        </p:txBody>
      </p:sp>
      <p:grpSp>
        <p:nvGrpSpPr>
          <p:cNvPr id="17" name="Group 51"/>
          <p:cNvGrpSpPr>
            <a:grpSpLocks/>
          </p:cNvGrpSpPr>
          <p:nvPr/>
        </p:nvGrpSpPr>
        <p:grpSpPr bwMode="auto">
          <a:xfrm>
            <a:off x="4268859" y="1897716"/>
            <a:ext cx="7772400" cy="4191000"/>
            <a:chOff x="192" y="768"/>
            <a:chExt cx="4896" cy="2640"/>
          </a:xfrm>
        </p:grpSpPr>
        <p:sp>
          <p:nvSpPr>
            <p:cNvPr id="18" name="Rectangle 5"/>
            <p:cNvSpPr>
              <a:spLocks noChangeArrowheads="1"/>
            </p:cNvSpPr>
            <p:nvPr/>
          </p:nvSpPr>
          <p:spPr bwMode="auto">
            <a:xfrm>
              <a:off x="192" y="768"/>
              <a:ext cx="4896" cy="264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6"/>
            <p:cNvSpPr txBox="1">
              <a:spLocks noChangeArrowheads="1"/>
            </p:cNvSpPr>
            <p:nvPr/>
          </p:nvSpPr>
          <p:spPr bwMode="auto">
            <a:xfrm>
              <a:off x="336" y="2008"/>
              <a:ext cx="2016" cy="1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en-US" altLang="x-none" sz="3600" b="1">
                  <a:solidFill>
                    <a:schemeClr val="folHlink"/>
                  </a:solidFill>
                  <a:latin typeface="Comic Sans MS" charset="0"/>
                </a:rPr>
                <a:t>  AB </a:t>
              </a:r>
              <a:r>
                <a:rPr lang="en-US" altLang="x-none" sz="3600" b="1">
                  <a:latin typeface="Comic Sans MS" charset="0"/>
                  <a:sym typeface="Symbol" charset="2"/>
                </a:rPr>
                <a:t></a:t>
              </a:r>
              <a:r>
                <a:rPr lang="en-US" altLang="x-none" sz="3600" b="1">
                  <a:solidFill>
                    <a:schemeClr val="folHlink"/>
                  </a:solidFill>
                  <a:latin typeface="Comic Sans MS" charset="0"/>
                  <a:sym typeface="Symbol" charset="2"/>
                </a:rPr>
                <a:t> </a:t>
              </a:r>
              <a:r>
                <a:rPr lang="en-US" altLang="x-none" sz="3600" b="1">
                  <a:solidFill>
                    <a:schemeClr val="tx2"/>
                  </a:solidFill>
                  <a:latin typeface="Comic Sans MS" charset="0"/>
                </a:rPr>
                <a:t>DE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en-US" altLang="x-none" sz="3600" b="1">
                  <a:solidFill>
                    <a:schemeClr val="folHlink"/>
                  </a:solidFill>
                  <a:latin typeface="Comic Sans MS" charset="0"/>
                </a:rPr>
                <a:t>  BC </a:t>
              </a:r>
              <a:r>
                <a:rPr lang="en-US" altLang="x-none" sz="3600" b="1">
                  <a:latin typeface="Comic Sans MS" charset="0"/>
                  <a:sym typeface="Symbol" charset="2"/>
                </a:rPr>
                <a:t></a:t>
              </a:r>
              <a:r>
                <a:rPr lang="en-US" altLang="x-none" sz="3600" b="1">
                  <a:solidFill>
                    <a:schemeClr val="folHlink"/>
                  </a:solidFill>
                  <a:latin typeface="Comic Sans MS" charset="0"/>
                </a:rPr>
                <a:t> </a:t>
              </a:r>
              <a:r>
                <a:rPr lang="en-US" altLang="x-none" sz="3600" b="1">
                  <a:solidFill>
                    <a:schemeClr val="tx2"/>
                  </a:solidFill>
                  <a:latin typeface="Comic Sans MS" charset="0"/>
                </a:rPr>
                <a:t>EF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en-US" altLang="x-none" sz="3600" b="1">
                  <a:solidFill>
                    <a:schemeClr val="folHlink"/>
                  </a:solidFill>
                  <a:latin typeface="Comic Sans MS" charset="0"/>
                </a:rPr>
                <a:t>  AC </a:t>
              </a:r>
              <a:r>
                <a:rPr lang="en-US" altLang="x-none" sz="3600" b="1">
                  <a:latin typeface="Comic Sans MS" charset="0"/>
                  <a:sym typeface="Symbol" charset="2"/>
                </a:rPr>
                <a:t></a:t>
              </a:r>
              <a:r>
                <a:rPr lang="en-US" altLang="x-none" sz="3600" b="1">
                  <a:solidFill>
                    <a:schemeClr val="folHlink"/>
                  </a:solidFill>
                  <a:latin typeface="Comic Sans MS" charset="0"/>
                  <a:sym typeface="Symbol" charset="2"/>
                </a:rPr>
                <a:t> </a:t>
              </a:r>
              <a:r>
                <a:rPr lang="en-US" altLang="x-none" sz="3600" b="1">
                  <a:solidFill>
                    <a:schemeClr val="tx2"/>
                  </a:solidFill>
                  <a:latin typeface="Comic Sans MS" charset="0"/>
                  <a:sym typeface="Symbol" charset="2"/>
                </a:rPr>
                <a:t>DF</a:t>
              </a:r>
              <a:endParaRPr lang="en-US" altLang="x-none" sz="3600" b="1">
                <a:solidFill>
                  <a:schemeClr val="folHlink"/>
                </a:solidFill>
                <a:latin typeface="Comic Sans MS" charset="0"/>
                <a:sym typeface="Symbol" charset="2"/>
              </a:endParaRPr>
            </a:p>
          </p:txBody>
        </p:sp>
        <p:sp>
          <p:nvSpPr>
            <p:cNvPr id="20" name="AutoShape 7"/>
            <p:cNvSpPr>
              <a:spLocks noChangeArrowheads="1"/>
            </p:cNvSpPr>
            <p:nvPr/>
          </p:nvSpPr>
          <p:spPr bwMode="auto">
            <a:xfrm>
              <a:off x="2160" y="2400"/>
              <a:ext cx="768" cy="480"/>
            </a:xfrm>
            <a:prstGeom prst="rightArrow">
              <a:avLst>
                <a:gd name="adj1" fmla="val 50000"/>
                <a:gd name="adj2" fmla="val 40000"/>
              </a:avLst>
            </a:prstGeom>
            <a:solidFill>
              <a:srgbClr val="E38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2928" y="2400"/>
              <a:ext cx="21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x-none" sz="3600" b="1">
                  <a:solidFill>
                    <a:schemeClr val="hlink"/>
                  </a:solidFill>
                  <a:latin typeface="Comic Sans MS" charset="0"/>
                  <a:sym typeface="Symbol" charset="2"/>
                </a:rPr>
                <a:t>ABC </a:t>
              </a:r>
              <a:r>
                <a:rPr lang="en-US" altLang="x-none" sz="3600">
                  <a:solidFill>
                    <a:schemeClr val="hlink"/>
                  </a:solidFill>
                  <a:latin typeface="Comic Sans MS" charset="0"/>
                  <a:sym typeface="Symbol" charset="2"/>
                </a:rPr>
                <a:t> </a:t>
              </a:r>
              <a:r>
                <a:rPr lang="en-US" altLang="x-none" sz="3600" b="1">
                  <a:solidFill>
                    <a:schemeClr val="hlink"/>
                  </a:solidFill>
                  <a:latin typeface="Comic Sans MS" charset="0"/>
                  <a:sym typeface="Symbol" charset="2"/>
                </a:rPr>
                <a:t></a:t>
              </a:r>
              <a:r>
                <a:rPr lang="en-US" altLang="x-none" sz="3600">
                  <a:solidFill>
                    <a:schemeClr val="hlink"/>
                  </a:solidFill>
                  <a:latin typeface="Comic Sans MS" charset="0"/>
                  <a:sym typeface="Symbol" charset="2"/>
                </a:rPr>
                <a:t> </a:t>
              </a:r>
              <a:r>
                <a:rPr lang="en-US" altLang="x-none" sz="3600" b="1">
                  <a:solidFill>
                    <a:schemeClr val="hlink"/>
                  </a:solidFill>
                  <a:latin typeface="Comic Sans MS" charset="0"/>
                  <a:sym typeface="Symbol" charset="2"/>
                </a:rPr>
                <a:t>DEF</a:t>
              </a:r>
            </a:p>
          </p:txBody>
        </p:sp>
        <p:grpSp>
          <p:nvGrpSpPr>
            <p:cNvPr id="22" name="Group 9"/>
            <p:cNvGrpSpPr>
              <a:grpSpLocks/>
            </p:cNvGrpSpPr>
            <p:nvPr/>
          </p:nvGrpSpPr>
          <p:grpSpPr bwMode="auto">
            <a:xfrm>
              <a:off x="1344" y="864"/>
              <a:ext cx="1342" cy="1109"/>
              <a:chOff x="3579" y="1003"/>
              <a:chExt cx="1342" cy="1109"/>
            </a:xfrm>
          </p:grpSpPr>
          <p:sp>
            <p:nvSpPr>
              <p:cNvPr id="43" name="AutoShape 10"/>
              <p:cNvSpPr>
                <a:spLocks noChangeAspect="1" noChangeArrowheads="1" noTextEdit="1"/>
              </p:cNvSpPr>
              <p:nvPr/>
            </p:nvSpPr>
            <p:spPr bwMode="auto">
              <a:xfrm rot="422102">
                <a:off x="3603" y="1003"/>
                <a:ext cx="1318" cy="10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Rectangle 11"/>
              <p:cNvSpPr>
                <a:spLocks noChangeArrowheads="1"/>
              </p:cNvSpPr>
              <p:nvPr/>
            </p:nvSpPr>
            <p:spPr bwMode="auto">
              <a:xfrm rot="422102">
                <a:off x="3654" y="1026"/>
                <a:ext cx="12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x-none" sz="600">
                    <a:solidFill>
                      <a:srgbClr val="000000"/>
                    </a:solidFill>
                    <a:latin typeface="Times New Roman" charset="0"/>
                  </a:rPr>
                  <a:t> </a:t>
                </a:r>
                <a:endParaRPr lang="en-US" altLang="x-none"/>
              </a:p>
            </p:txBody>
          </p:sp>
          <p:sp>
            <p:nvSpPr>
              <p:cNvPr id="45" name="Rectangle 12"/>
              <p:cNvSpPr>
                <a:spLocks noChangeArrowheads="1"/>
              </p:cNvSpPr>
              <p:nvPr/>
            </p:nvSpPr>
            <p:spPr bwMode="auto">
              <a:xfrm rot="422102">
                <a:off x="3821" y="1072"/>
                <a:ext cx="12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x-none" sz="600">
                    <a:solidFill>
                      <a:srgbClr val="000000"/>
                    </a:solidFill>
                    <a:latin typeface="Times New Roman" charset="0"/>
                  </a:rPr>
                  <a:t> </a:t>
                </a:r>
                <a:endParaRPr lang="en-US" altLang="x-none"/>
              </a:p>
            </p:txBody>
          </p:sp>
          <p:sp>
            <p:nvSpPr>
              <p:cNvPr id="46" name="Rectangle 13"/>
              <p:cNvSpPr>
                <a:spLocks noChangeArrowheads="1"/>
              </p:cNvSpPr>
              <p:nvPr/>
            </p:nvSpPr>
            <p:spPr bwMode="auto">
              <a:xfrm rot="422102">
                <a:off x="3811" y="1161"/>
                <a:ext cx="12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x-none" sz="600">
                    <a:solidFill>
                      <a:srgbClr val="000000"/>
                    </a:solidFill>
                    <a:latin typeface="Times New Roman" charset="0"/>
                  </a:rPr>
                  <a:t> </a:t>
                </a:r>
                <a:endParaRPr lang="en-US" altLang="x-none"/>
              </a:p>
            </p:txBody>
          </p:sp>
          <p:sp>
            <p:nvSpPr>
              <p:cNvPr id="47" name="Rectangle 14"/>
              <p:cNvSpPr>
                <a:spLocks noChangeArrowheads="1"/>
              </p:cNvSpPr>
              <p:nvPr/>
            </p:nvSpPr>
            <p:spPr bwMode="auto">
              <a:xfrm rot="422102">
                <a:off x="3798" y="1259"/>
                <a:ext cx="12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x-none" sz="600">
                    <a:solidFill>
                      <a:schemeClr val="folHlink"/>
                    </a:solidFill>
                    <a:latin typeface="Times New Roman" charset="0"/>
                  </a:rPr>
                  <a:t> </a:t>
                </a:r>
                <a:endParaRPr lang="en-US" altLang="x-none">
                  <a:solidFill>
                    <a:schemeClr val="folHlink"/>
                  </a:solidFill>
                </a:endParaRPr>
              </a:p>
            </p:txBody>
          </p:sp>
          <p:grpSp>
            <p:nvGrpSpPr>
              <p:cNvPr id="48" name="Group 15"/>
              <p:cNvGrpSpPr>
                <a:grpSpLocks/>
              </p:cNvGrpSpPr>
              <p:nvPr/>
            </p:nvGrpSpPr>
            <p:grpSpPr bwMode="auto">
              <a:xfrm rot="422102">
                <a:off x="3767" y="1311"/>
                <a:ext cx="844" cy="609"/>
                <a:chOff x="4105" y="2050"/>
                <a:chExt cx="584" cy="370"/>
              </a:xfrm>
            </p:grpSpPr>
            <p:sp>
              <p:nvSpPr>
                <p:cNvPr id="61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4105" y="2050"/>
                  <a:ext cx="146" cy="365"/>
                </a:xfrm>
                <a:prstGeom prst="line">
                  <a:avLst/>
                </a:prstGeom>
                <a:noFill/>
                <a:ln w="28575" cap="rnd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Line 17"/>
                <p:cNvSpPr>
                  <a:spLocks noChangeShapeType="1"/>
                </p:cNvSpPr>
                <p:nvPr/>
              </p:nvSpPr>
              <p:spPr bwMode="auto">
                <a:xfrm>
                  <a:off x="4105" y="2419"/>
                  <a:ext cx="584" cy="1"/>
                </a:xfrm>
                <a:prstGeom prst="line">
                  <a:avLst/>
                </a:prstGeom>
                <a:noFill/>
                <a:ln w="28575" cap="rnd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" name="Line 18"/>
                <p:cNvSpPr>
                  <a:spLocks noChangeShapeType="1"/>
                </p:cNvSpPr>
                <p:nvPr/>
              </p:nvSpPr>
              <p:spPr bwMode="auto">
                <a:xfrm>
                  <a:off x="4251" y="2054"/>
                  <a:ext cx="438" cy="365"/>
                </a:xfrm>
                <a:prstGeom prst="line">
                  <a:avLst/>
                </a:prstGeom>
                <a:noFill/>
                <a:ln w="28575" cap="rnd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" name="Rectangle 19"/>
              <p:cNvSpPr>
                <a:spLocks noChangeArrowheads="1"/>
              </p:cNvSpPr>
              <p:nvPr/>
            </p:nvSpPr>
            <p:spPr bwMode="auto">
              <a:xfrm rot="422102">
                <a:off x="4583" y="1911"/>
                <a:ext cx="12" cy="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x-none" sz="600">
                    <a:solidFill>
                      <a:srgbClr val="000000"/>
                    </a:solidFill>
                    <a:latin typeface="Times New Roman" charset="0"/>
                  </a:rPr>
                  <a:t> </a:t>
                </a:r>
                <a:endParaRPr lang="en-US" altLang="x-none"/>
              </a:p>
            </p:txBody>
          </p:sp>
          <p:sp>
            <p:nvSpPr>
              <p:cNvPr id="50" name="Rectangle 20"/>
              <p:cNvSpPr>
                <a:spLocks noChangeArrowheads="1"/>
              </p:cNvSpPr>
              <p:nvPr/>
            </p:nvSpPr>
            <p:spPr bwMode="auto">
              <a:xfrm rot="422102">
                <a:off x="3970" y="1104"/>
                <a:ext cx="1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x-none" sz="2000" b="1">
                    <a:solidFill>
                      <a:schemeClr val="folHlink"/>
                    </a:solidFill>
                    <a:latin typeface="Times New Roman" charset="0"/>
                  </a:rPr>
                  <a:t>B</a:t>
                </a:r>
                <a:endParaRPr lang="en-US" altLang="x-none" sz="2000" b="1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51" name="Rectangle 21"/>
              <p:cNvSpPr>
                <a:spLocks noChangeArrowheads="1"/>
              </p:cNvSpPr>
              <p:nvPr/>
            </p:nvSpPr>
            <p:spPr bwMode="auto">
              <a:xfrm rot="422102">
                <a:off x="3579" y="1728"/>
                <a:ext cx="11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x-none" sz="2000" b="1">
                    <a:solidFill>
                      <a:schemeClr val="folHlink"/>
                    </a:solidFill>
                    <a:latin typeface="Times New Roman" charset="0"/>
                  </a:rPr>
                  <a:t>A</a:t>
                </a:r>
                <a:endParaRPr lang="en-US" altLang="x-none" sz="2000" b="1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52" name="Rectangle 22"/>
              <p:cNvSpPr>
                <a:spLocks noChangeArrowheads="1"/>
              </p:cNvSpPr>
              <p:nvPr/>
            </p:nvSpPr>
            <p:spPr bwMode="auto">
              <a:xfrm rot="422102">
                <a:off x="3674" y="1787"/>
                <a:ext cx="1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x-none" sz="900">
                    <a:solidFill>
                      <a:srgbClr val="000000"/>
                    </a:solidFill>
                    <a:latin typeface="Times New Roman" charset="0"/>
                  </a:rPr>
                  <a:t> </a:t>
                </a:r>
                <a:endParaRPr lang="en-US" altLang="x-none"/>
              </a:p>
            </p:txBody>
          </p:sp>
          <p:sp>
            <p:nvSpPr>
              <p:cNvPr id="53" name="Rectangle 23"/>
              <p:cNvSpPr>
                <a:spLocks noChangeArrowheads="1"/>
              </p:cNvSpPr>
              <p:nvPr/>
            </p:nvSpPr>
            <p:spPr bwMode="auto">
              <a:xfrm rot="422102">
                <a:off x="4608" y="1920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x-none" sz="2000" b="1">
                    <a:solidFill>
                      <a:schemeClr val="folHlink"/>
                    </a:solidFill>
                    <a:latin typeface="Times New Roman" charset="0"/>
                  </a:rPr>
                  <a:t>C</a:t>
                </a:r>
                <a:endParaRPr lang="en-US" altLang="x-none" sz="2000" b="1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54" name="Rectangle 24"/>
              <p:cNvSpPr>
                <a:spLocks noChangeArrowheads="1"/>
              </p:cNvSpPr>
              <p:nvPr/>
            </p:nvSpPr>
            <p:spPr bwMode="auto">
              <a:xfrm rot="422102">
                <a:off x="4674" y="1913"/>
                <a:ext cx="1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x-none" sz="900">
                    <a:solidFill>
                      <a:srgbClr val="000000"/>
                    </a:solidFill>
                    <a:latin typeface="Times New Roman" charset="0"/>
                  </a:rPr>
                  <a:t> </a:t>
                </a:r>
                <a:endParaRPr lang="en-US" altLang="x-none"/>
              </a:p>
            </p:txBody>
          </p:sp>
          <p:sp>
            <p:nvSpPr>
              <p:cNvPr id="55" name="Line 25"/>
              <p:cNvSpPr>
                <a:spLocks noChangeShapeType="1"/>
              </p:cNvSpPr>
              <p:nvPr/>
            </p:nvSpPr>
            <p:spPr bwMode="auto">
              <a:xfrm>
                <a:off x="3840" y="1536"/>
                <a:ext cx="96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Line 26"/>
              <p:cNvSpPr>
                <a:spLocks noChangeShapeType="1"/>
              </p:cNvSpPr>
              <p:nvPr/>
            </p:nvSpPr>
            <p:spPr bwMode="auto">
              <a:xfrm flipH="1">
                <a:off x="4224" y="1536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27"/>
              <p:cNvSpPr>
                <a:spLocks noChangeShapeType="1"/>
              </p:cNvSpPr>
              <p:nvPr/>
            </p:nvSpPr>
            <p:spPr bwMode="auto">
              <a:xfrm flipH="1">
                <a:off x="4272" y="1584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Line 28"/>
              <p:cNvSpPr>
                <a:spLocks noChangeShapeType="1"/>
              </p:cNvSpPr>
              <p:nvPr/>
            </p:nvSpPr>
            <p:spPr bwMode="auto">
              <a:xfrm flipH="1">
                <a:off x="4032" y="1824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Line 29"/>
              <p:cNvSpPr>
                <a:spLocks noChangeShapeType="1"/>
              </p:cNvSpPr>
              <p:nvPr/>
            </p:nvSpPr>
            <p:spPr bwMode="auto">
              <a:xfrm flipH="1">
                <a:off x="4080" y="1824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Line 30"/>
              <p:cNvSpPr>
                <a:spLocks noChangeShapeType="1"/>
              </p:cNvSpPr>
              <p:nvPr/>
            </p:nvSpPr>
            <p:spPr bwMode="auto">
              <a:xfrm flipH="1">
                <a:off x="4128" y="1824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" name="AutoShape 31"/>
            <p:cNvSpPr>
              <a:spLocks noChangeAspect="1" noChangeArrowheads="1" noTextEdit="1"/>
            </p:cNvSpPr>
            <p:nvPr/>
          </p:nvSpPr>
          <p:spPr bwMode="auto">
            <a:xfrm rot="-1394921">
              <a:off x="2811" y="816"/>
              <a:ext cx="1132" cy="1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32"/>
            <p:cNvSpPr>
              <a:spLocks noChangeArrowheads="1"/>
            </p:cNvSpPr>
            <p:nvPr/>
          </p:nvSpPr>
          <p:spPr bwMode="auto">
            <a:xfrm rot="-1394921">
              <a:off x="2736" y="1233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 rot="-1394921">
              <a:off x="2879" y="1177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sp>
          <p:nvSpPr>
            <p:cNvPr id="26" name="Rectangle 34"/>
            <p:cNvSpPr>
              <a:spLocks noChangeArrowheads="1"/>
            </p:cNvSpPr>
            <p:nvPr/>
          </p:nvSpPr>
          <p:spPr bwMode="auto">
            <a:xfrm rot="20205079">
              <a:off x="2906" y="1260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sp>
          <p:nvSpPr>
            <p:cNvPr id="27" name="Rectangle 35"/>
            <p:cNvSpPr>
              <a:spLocks noChangeArrowheads="1"/>
            </p:cNvSpPr>
            <p:nvPr/>
          </p:nvSpPr>
          <p:spPr bwMode="auto">
            <a:xfrm rot="20205079">
              <a:off x="2935" y="1347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grpSp>
          <p:nvGrpSpPr>
            <p:cNvPr id="28" name="Group 36"/>
            <p:cNvGrpSpPr>
              <a:grpSpLocks/>
            </p:cNvGrpSpPr>
            <p:nvPr/>
          </p:nvGrpSpPr>
          <p:grpSpPr bwMode="auto">
            <a:xfrm rot="-1394921">
              <a:off x="2993" y="1145"/>
              <a:ext cx="725" cy="594"/>
              <a:chOff x="4105" y="2050"/>
              <a:chExt cx="584" cy="370"/>
            </a:xfrm>
          </p:grpSpPr>
          <p:sp>
            <p:nvSpPr>
              <p:cNvPr id="40" name="Line 37"/>
              <p:cNvSpPr>
                <a:spLocks noChangeShapeType="1"/>
              </p:cNvSpPr>
              <p:nvPr/>
            </p:nvSpPr>
            <p:spPr bwMode="auto">
              <a:xfrm flipV="1">
                <a:off x="4105" y="2050"/>
                <a:ext cx="146" cy="365"/>
              </a:xfrm>
              <a:prstGeom prst="line">
                <a:avLst/>
              </a:prstGeom>
              <a:noFill/>
              <a:ln w="28575" cap="rnd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38"/>
              <p:cNvSpPr>
                <a:spLocks noChangeShapeType="1"/>
              </p:cNvSpPr>
              <p:nvPr/>
            </p:nvSpPr>
            <p:spPr bwMode="auto">
              <a:xfrm>
                <a:off x="4105" y="2419"/>
                <a:ext cx="584" cy="1"/>
              </a:xfrm>
              <a:prstGeom prst="line">
                <a:avLst/>
              </a:prstGeom>
              <a:noFill/>
              <a:ln w="28575" cap="rnd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39"/>
              <p:cNvSpPr>
                <a:spLocks noChangeShapeType="1"/>
              </p:cNvSpPr>
              <p:nvPr/>
            </p:nvSpPr>
            <p:spPr bwMode="auto">
              <a:xfrm>
                <a:off x="4251" y="2054"/>
                <a:ext cx="438" cy="365"/>
              </a:xfrm>
              <a:prstGeom prst="line">
                <a:avLst/>
              </a:prstGeom>
              <a:noFill/>
              <a:ln w="28575" cap="rnd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" name="Rectangle 40"/>
            <p:cNvSpPr>
              <a:spLocks noChangeArrowheads="1"/>
            </p:cNvSpPr>
            <p:nvPr/>
          </p:nvSpPr>
          <p:spPr bwMode="auto">
            <a:xfrm rot="20205079">
              <a:off x="3776" y="1464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sp>
          <p:nvSpPr>
            <p:cNvPr id="30" name="Rectangle 41"/>
            <p:cNvSpPr>
              <a:spLocks noChangeArrowheads="1"/>
            </p:cNvSpPr>
            <p:nvPr/>
          </p:nvSpPr>
          <p:spPr bwMode="auto">
            <a:xfrm rot="-1394921">
              <a:off x="2977" y="1056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2000" b="1">
                  <a:solidFill>
                    <a:schemeClr val="tx2"/>
                  </a:solidFill>
                  <a:latin typeface="Times New Roman" charset="0"/>
                </a:rPr>
                <a:t>E</a:t>
              </a:r>
              <a:endParaRPr lang="en-US" altLang="x-none" sz="2000" b="1">
                <a:solidFill>
                  <a:schemeClr val="tx2"/>
                </a:solidFill>
              </a:endParaRPr>
            </a:p>
          </p:txBody>
        </p:sp>
        <p:sp>
          <p:nvSpPr>
            <p:cNvPr id="31" name="Rectangle 42"/>
            <p:cNvSpPr>
              <a:spLocks noChangeArrowheads="1"/>
            </p:cNvSpPr>
            <p:nvPr/>
          </p:nvSpPr>
          <p:spPr bwMode="auto">
            <a:xfrm rot="20205079">
              <a:off x="2956" y="1823"/>
              <a:ext cx="11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2000" b="1">
                  <a:solidFill>
                    <a:schemeClr val="tx2"/>
                  </a:solidFill>
                  <a:latin typeface="Times New Roman" charset="0"/>
                </a:rPr>
                <a:t>D</a:t>
              </a:r>
              <a:endParaRPr lang="en-US" altLang="x-none" sz="2000" b="1">
                <a:solidFill>
                  <a:schemeClr val="tx2"/>
                </a:solidFill>
              </a:endParaRPr>
            </a:p>
          </p:txBody>
        </p:sp>
        <p:sp>
          <p:nvSpPr>
            <p:cNvPr id="32" name="Rectangle 43"/>
            <p:cNvSpPr>
              <a:spLocks noChangeArrowheads="1"/>
            </p:cNvSpPr>
            <p:nvPr/>
          </p:nvSpPr>
          <p:spPr bwMode="auto">
            <a:xfrm rot="20205079">
              <a:off x="3053" y="1854"/>
              <a:ext cx="18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9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sp>
          <p:nvSpPr>
            <p:cNvPr id="33" name="Rectangle 44"/>
            <p:cNvSpPr>
              <a:spLocks noChangeArrowheads="1"/>
            </p:cNvSpPr>
            <p:nvPr/>
          </p:nvSpPr>
          <p:spPr bwMode="auto">
            <a:xfrm rot="-1394921">
              <a:off x="3886" y="1488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2000" b="1">
                  <a:solidFill>
                    <a:schemeClr val="tx2"/>
                  </a:solidFill>
                  <a:latin typeface="Times New Roman" charset="0"/>
                </a:rPr>
                <a:t>F</a:t>
              </a:r>
              <a:endParaRPr lang="en-US" altLang="x-none" sz="2000" b="1">
                <a:solidFill>
                  <a:schemeClr val="tx2"/>
                </a:solidFill>
              </a:endParaRPr>
            </a:p>
          </p:txBody>
        </p:sp>
        <p:sp>
          <p:nvSpPr>
            <p:cNvPr id="34" name="Line 45"/>
            <p:cNvSpPr>
              <a:spLocks noChangeShapeType="1"/>
            </p:cNvSpPr>
            <p:nvPr/>
          </p:nvSpPr>
          <p:spPr bwMode="auto">
            <a:xfrm>
              <a:off x="3031" y="148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46"/>
            <p:cNvSpPr>
              <a:spLocks noChangeShapeType="1"/>
            </p:cNvSpPr>
            <p:nvPr/>
          </p:nvSpPr>
          <p:spPr bwMode="auto">
            <a:xfrm flipV="1">
              <a:off x="3319" y="1296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47"/>
            <p:cNvSpPr>
              <a:spLocks noChangeShapeType="1"/>
            </p:cNvSpPr>
            <p:nvPr/>
          </p:nvSpPr>
          <p:spPr bwMode="auto">
            <a:xfrm flipV="1">
              <a:off x="3367" y="1344"/>
              <a:ext cx="96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48"/>
            <p:cNvSpPr>
              <a:spLocks noChangeShapeType="1"/>
            </p:cNvSpPr>
            <p:nvPr/>
          </p:nvSpPr>
          <p:spPr bwMode="auto">
            <a:xfrm>
              <a:off x="3367" y="1680"/>
              <a:ext cx="4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49"/>
            <p:cNvSpPr>
              <a:spLocks noChangeShapeType="1"/>
            </p:cNvSpPr>
            <p:nvPr/>
          </p:nvSpPr>
          <p:spPr bwMode="auto">
            <a:xfrm>
              <a:off x="3463" y="1680"/>
              <a:ext cx="4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50"/>
            <p:cNvSpPr>
              <a:spLocks noChangeShapeType="1"/>
            </p:cNvSpPr>
            <p:nvPr/>
          </p:nvSpPr>
          <p:spPr bwMode="auto">
            <a:xfrm>
              <a:off x="3415" y="1680"/>
              <a:ext cx="48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" name="Line 52"/>
          <p:cNvSpPr>
            <a:spLocks noChangeShapeType="1"/>
          </p:cNvSpPr>
          <p:nvPr/>
        </p:nvSpPr>
        <p:spPr bwMode="auto">
          <a:xfrm>
            <a:off x="6752417" y="3948174"/>
            <a:ext cx="533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" name="Line 53"/>
          <p:cNvSpPr>
            <a:spLocks noChangeShapeType="1"/>
          </p:cNvSpPr>
          <p:nvPr/>
        </p:nvSpPr>
        <p:spPr bwMode="auto">
          <a:xfrm>
            <a:off x="5508061" y="4665456"/>
            <a:ext cx="533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54"/>
          <p:cNvSpPr>
            <a:spLocks noChangeShapeType="1"/>
          </p:cNvSpPr>
          <p:nvPr/>
        </p:nvSpPr>
        <p:spPr bwMode="auto">
          <a:xfrm>
            <a:off x="6740597" y="5389356"/>
            <a:ext cx="533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55"/>
          <p:cNvSpPr>
            <a:spLocks noChangeShapeType="1"/>
          </p:cNvSpPr>
          <p:nvPr/>
        </p:nvSpPr>
        <p:spPr bwMode="auto">
          <a:xfrm>
            <a:off x="5508061" y="3986274"/>
            <a:ext cx="5334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56"/>
          <p:cNvSpPr>
            <a:spLocks noChangeShapeType="1"/>
          </p:cNvSpPr>
          <p:nvPr/>
        </p:nvSpPr>
        <p:spPr bwMode="auto">
          <a:xfrm>
            <a:off x="6674709" y="4665456"/>
            <a:ext cx="5334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57"/>
          <p:cNvSpPr>
            <a:spLocks noChangeShapeType="1"/>
          </p:cNvSpPr>
          <p:nvPr/>
        </p:nvSpPr>
        <p:spPr bwMode="auto">
          <a:xfrm>
            <a:off x="5546292" y="5389356"/>
            <a:ext cx="5334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9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749121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749121"/>
            <a:ext cx="29815" cy="448819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3652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Tests for 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83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test for congruency in triangles and how do they apply to quadrilaterals?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990682" y="2005978"/>
            <a:ext cx="2831953" cy="3429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/>
            <a:r>
              <a:rPr lang="en-US" altLang="x-none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Side-Angle-Side (SAS)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 rot="-1394921">
            <a:off x="11809464" y="6483294"/>
            <a:ext cx="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GB" altLang="x-none">
              <a:solidFill>
                <a:schemeClr val="tx2"/>
              </a:solidFill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4191082" y="1856911"/>
            <a:ext cx="7772400" cy="4191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4419682" y="3825411"/>
            <a:ext cx="3200400" cy="207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30000"/>
              </a:spcBef>
              <a:buFontTx/>
              <a:buAutoNum type="arabicPeriod"/>
            </a:pPr>
            <a:r>
              <a:rPr lang="en-US" altLang="x-none" sz="3600" b="1">
                <a:solidFill>
                  <a:schemeClr val="folHlink"/>
                </a:solidFill>
                <a:latin typeface="Comic Sans MS" charset="0"/>
              </a:rPr>
              <a:t> AB </a:t>
            </a:r>
            <a:r>
              <a:rPr lang="en-US" altLang="x-none" sz="3600" b="1">
                <a:latin typeface="Comic Sans MS" charset="0"/>
                <a:sym typeface="Symbol" charset="2"/>
              </a:rPr>
              <a:t></a:t>
            </a:r>
            <a:r>
              <a:rPr lang="en-US" altLang="x-none" sz="3600" b="1">
                <a:solidFill>
                  <a:schemeClr val="folHlink"/>
                </a:solidFill>
                <a:latin typeface="Comic Sans MS" charset="0"/>
                <a:sym typeface="Symbol" charset="2"/>
              </a:rPr>
              <a:t> </a:t>
            </a:r>
            <a:r>
              <a:rPr lang="en-US" altLang="x-none" sz="3600" b="1">
                <a:solidFill>
                  <a:schemeClr val="tx2"/>
                </a:solidFill>
                <a:latin typeface="Comic Sans MS" charset="0"/>
              </a:rPr>
              <a:t>DE</a:t>
            </a:r>
          </a:p>
          <a:p>
            <a:pPr>
              <a:spcBef>
                <a:spcPct val="30000"/>
              </a:spcBef>
              <a:buFontTx/>
              <a:buAutoNum type="arabicPeriod"/>
            </a:pPr>
            <a:r>
              <a:rPr lang="en-US" altLang="x-none" sz="3600" b="1">
                <a:solidFill>
                  <a:schemeClr val="folHlink"/>
                </a:solidFill>
                <a:latin typeface="Comic Sans MS" charset="0"/>
              </a:rPr>
              <a:t> </a:t>
            </a:r>
            <a:r>
              <a:rPr lang="en-US" altLang="x-none" sz="3600" b="1">
                <a:solidFill>
                  <a:schemeClr val="folHlink"/>
                </a:solidFill>
                <a:latin typeface="Comic Sans MS" charset="0"/>
                <a:sym typeface="Symbol" charset="2"/>
              </a:rPr>
              <a:t></a:t>
            </a:r>
            <a:r>
              <a:rPr lang="en-US" altLang="x-none" sz="3600" b="1">
                <a:solidFill>
                  <a:schemeClr val="folHlink"/>
                </a:solidFill>
                <a:latin typeface="Comic Sans MS" charset="0"/>
              </a:rPr>
              <a:t>A </a:t>
            </a:r>
            <a:r>
              <a:rPr lang="en-US" altLang="x-none" sz="3600" b="1">
                <a:latin typeface="Comic Sans MS" charset="0"/>
                <a:sym typeface="Symbol" charset="2"/>
              </a:rPr>
              <a:t></a:t>
            </a:r>
            <a:r>
              <a:rPr lang="en-US" altLang="x-none" sz="3600" b="1">
                <a:solidFill>
                  <a:schemeClr val="folHlink"/>
                </a:solidFill>
                <a:latin typeface="Comic Sans MS" charset="0"/>
              </a:rPr>
              <a:t> </a:t>
            </a:r>
            <a:r>
              <a:rPr lang="en-US" altLang="x-none" sz="3600" b="1">
                <a:solidFill>
                  <a:schemeClr val="tx2"/>
                </a:solidFill>
                <a:latin typeface="Comic Sans MS" charset="0"/>
                <a:sym typeface="Symbol" charset="2"/>
              </a:rPr>
              <a:t></a:t>
            </a:r>
            <a:r>
              <a:rPr lang="en-US" altLang="x-none" sz="1800">
                <a:latin typeface="Comic Sans MS" charset="0"/>
              </a:rPr>
              <a:t> </a:t>
            </a:r>
            <a:r>
              <a:rPr lang="en-US" altLang="x-none" sz="3600" b="1">
                <a:solidFill>
                  <a:schemeClr val="tx2"/>
                </a:solidFill>
                <a:latin typeface="Comic Sans MS" charset="0"/>
              </a:rPr>
              <a:t>D</a:t>
            </a:r>
          </a:p>
          <a:p>
            <a:pPr>
              <a:spcBef>
                <a:spcPct val="30000"/>
              </a:spcBef>
              <a:buFontTx/>
              <a:buAutoNum type="arabicPeriod"/>
            </a:pPr>
            <a:r>
              <a:rPr lang="en-US" altLang="x-none" sz="3600" b="1">
                <a:solidFill>
                  <a:schemeClr val="folHlink"/>
                </a:solidFill>
                <a:latin typeface="Comic Sans MS" charset="0"/>
              </a:rPr>
              <a:t> AC </a:t>
            </a:r>
            <a:r>
              <a:rPr lang="en-US" altLang="x-none" sz="3600" b="1">
                <a:latin typeface="Comic Sans MS" charset="0"/>
                <a:sym typeface="Symbol" charset="2"/>
              </a:rPr>
              <a:t></a:t>
            </a:r>
            <a:r>
              <a:rPr lang="en-US" altLang="x-none" sz="3600" b="1">
                <a:solidFill>
                  <a:schemeClr val="folHlink"/>
                </a:solidFill>
                <a:latin typeface="Comic Sans MS" charset="0"/>
                <a:sym typeface="Symbol" charset="2"/>
              </a:rPr>
              <a:t> </a:t>
            </a:r>
            <a:r>
              <a:rPr lang="en-US" altLang="x-none" sz="3600" b="1">
                <a:solidFill>
                  <a:schemeClr val="tx2"/>
                </a:solidFill>
                <a:latin typeface="Comic Sans MS" charset="0"/>
                <a:sym typeface="Symbol" charset="2"/>
              </a:rPr>
              <a:t>DF</a:t>
            </a:r>
          </a:p>
        </p:txBody>
      </p:sp>
      <p:sp>
        <p:nvSpPr>
          <p:cNvPr id="19" name="AutoShape 7"/>
          <p:cNvSpPr>
            <a:spLocks noChangeArrowheads="1"/>
          </p:cNvSpPr>
          <p:nvPr/>
        </p:nvSpPr>
        <p:spPr bwMode="auto">
          <a:xfrm>
            <a:off x="7620082" y="4523911"/>
            <a:ext cx="914400" cy="533400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E38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8534482" y="4447711"/>
            <a:ext cx="3429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x-none" sz="3600" b="1">
                <a:solidFill>
                  <a:schemeClr val="hlink"/>
                </a:solidFill>
                <a:latin typeface="Comic Sans MS" charset="0"/>
                <a:sym typeface="Symbol" charset="2"/>
              </a:rPr>
              <a:t>ABC </a:t>
            </a:r>
            <a:r>
              <a:rPr lang="en-US" altLang="x-none" sz="3600">
                <a:solidFill>
                  <a:schemeClr val="hlink"/>
                </a:solidFill>
                <a:latin typeface="Comic Sans MS" charset="0"/>
                <a:sym typeface="Symbol" charset="2"/>
              </a:rPr>
              <a:t> </a:t>
            </a:r>
            <a:r>
              <a:rPr lang="en-US" altLang="x-none" sz="3600" b="1">
                <a:solidFill>
                  <a:schemeClr val="hlink"/>
                </a:solidFill>
                <a:latin typeface="Comic Sans MS" charset="0"/>
                <a:sym typeface="Symbol" charset="2"/>
              </a:rPr>
              <a:t></a:t>
            </a:r>
            <a:r>
              <a:rPr lang="en-US" altLang="x-none" sz="3600">
                <a:solidFill>
                  <a:schemeClr val="hlink"/>
                </a:solidFill>
                <a:latin typeface="Comic Sans MS" charset="0"/>
                <a:sym typeface="Symbol" charset="2"/>
              </a:rPr>
              <a:t> </a:t>
            </a:r>
            <a:r>
              <a:rPr lang="en-US" altLang="x-none" sz="3600" b="1">
                <a:solidFill>
                  <a:schemeClr val="hlink"/>
                </a:solidFill>
                <a:latin typeface="Comic Sans MS" charset="0"/>
                <a:sym typeface="Symbol" charset="2"/>
              </a:rPr>
              <a:t>DEF</a:t>
            </a:r>
          </a:p>
        </p:txBody>
      </p:sp>
      <p:sp>
        <p:nvSpPr>
          <p:cNvPr id="21" name="AutoShape 10"/>
          <p:cNvSpPr>
            <a:spLocks noChangeAspect="1" noChangeArrowheads="1" noTextEdit="1"/>
          </p:cNvSpPr>
          <p:nvPr/>
        </p:nvSpPr>
        <p:spPr bwMode="auto">
          <a:xfrm rot="422102">
            <a:off x="6057983" y="2009312"/>
            <a:ext cx="2092325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Rectangle 11"/>
          <p:cNvSpPr>
            <a:spLocks noChangeArrowheads="1"/>
          </p:cNvSpPr>
          <p:nvPr/>
        </p:nvSpPr>
        <p:spPr bwMode="auto">
          <a:xfrm rot="422102">
            <a:off x="6138945" y="2045825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 rot="422102">
            <a:off x="6404758" y="2119515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24" name="Rectangle 13"/>
          <p:cNvSpPr>
            <a:spLocks noChangeArrowheads="1"/>
          </p:cNvSpPr>
          <p:nvPr/>
        </p:nvSpPr>
        <p:spPr bwMode="auto">
          <a:xfrm rot="422102">
            <a:off x="6388182" y="2260137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 rot="422102">
            <a:off x="6368245" y="2416377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folHlink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folHlink"/>
              </a:solidFill>
            </a:endParaRPr>
          </a:p>
        </p:txBody>
      </p:sp>
      <p:grpSp>
        <p:nvGrpSpPr>
          <p:cNvPr id="26" name="Group 15"/>
          <p:cNvGrpSpPr>
            <a:grpSpLocks/>
          </p:cNvGrpSpPr>
          <p:nvPr/>
        </p:nvGrpSpPr>
        <p:grpSpPr bwMode="auto">
          <a:xfrm rot="422102">
            <a:off x="6318332" y="2498261"/>
            <a:ext cx="1339850" cy="966788"/>
            <a:chOff x="4105" y="2050"/>
            <a:chExt cx="584" cy="370"/>
          </a:xfrm>
        </p:grpSpPr>
        <p:sp>
          <p:nvSpPr>
            <p:cNvPr id="27" name="Line 16"/>
            <p:cNvSpPr>
              <a:spLocks noChangeShapeType="1"/>
            </p:cNvSpPr>
            <p:nvPr/>
          </p:nvSpPr>
          <p:spPr bwMode="auto">
            <a:xfrm flipV="1">
              <a:off x="4105" y="2050"/>
              <a:ext cx="146" cy="365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7"/>
            <p:cNvSpPr>
              <a:spLocks noChangeShapeType="1"/>
            </p:cNvSpPr>
            <p:nvPr/>
          </p:nvSpPr>
          <p:spPr bwMode="auto">
            <a:xfrm>
              <a:off x="4105" y="2419"/>
              <a:ext cx="584" cy="1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8"/>
            <p:cNvSpPr>
              <a:spLocks noChangeShapeType="1"/>
            </p:cNvSpPr>
            <p:nvPr/>
          </p:nvSpPr>
          <p:spPr bwMode="auto">
            <a:xfrm>
              <a:off x="4251" y="2054"/>
              <a:ext cx="438" cy="365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Rectangle 19"/>
          <p:cNvSpPr>
            <a:spLocks noChangeArrowheads="1"/>
          </p:cNvSpPr>
          <p:nvPr/>
        </p:nvSpPr>
        <p:spPr bwMode="auto">
          <a:xfrm rot="422102">
            <a:off x="7614433" y="3451427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31" name="Rectangle 20"/>
          <p:cNvSpPr>
            <a:spLocks noChangeArrowheads="1"/>
          </p:cNvSpPr>
          <p:nvPr/>
        </p:nvSpPr>
        <p:spPr bwMode="auto">
          <a:xfrm rot="422102">
            <a:off x="6639765" y="2168162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folHlink"/>
                </a:solidFill>
                <a:latin typeface="Times New Roman" charset="0"/>
              </a:rPr>
              <a:t>B</a:t>
            </a:r>
            <a:endParaRPr lang="en-US" altLang="x-none" sz="2000" b="1">
              <a:solidFill>
                <a:schemeClr val="folHlink"/>
              </a:solidFill>
            </a:endParaRPr>
          </a:p>
        </p:txBody>
      </p:sp>
      <p:sp>
        <p:nvSpPr>
          <p:cNvPr id="32" name="Rectangle 21"/>
          <p:cNvSpPr>
            <a:spLocks noChangeArrowheads="1"/>
          </p:cNvSpPr>
          <p:nvPr/>
        </p:nvSpPr>
        <p:spPr bwMode="auto">
          <a:xfrm rot="422102">
            <a:off x="6019882" y="3160249"/>
            <a:ext cx="185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folHlink"/>
                </a:solidFill>
                <a:latin typeface="Times New Roman" charset="0"/>
              </a:rPr>
              <a:t>A</a:t>
            </a:r>
            <a:endParaRPr lang="en-US" altLang="x-none" sz="2000" b="1">
              <a:solidFill>
                <a:schemeClr val="folHlink"/>
              </a:solidFill>
            </a:endParaRPr>
          </a:p>
        </p:txBody>
      </p:sp>
      <p:sp>
        <p:nvSpPr>
          <p:cNvPr id="33" name="Rectangle 22"/>
          <p:cNvSpPr>
            <a:spLocks noChangeArrowheads="1"/>
          </p:cNvSpPr>
          <p:nvPr/>
        </p:nvSpPr>
        <p:spPr bwMode="auto">
          <a:xfrm rot="422102">
            <a:off x="6171349" y="3253719"/>
            <a:ext cx="288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9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 rot="422102">
            <a:off x="7653420" y="3465049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folHlink"/>
                </a:solidFill>
                <a:latin typeface="Times New Roman" charset="0"/>
              </a:rPr>
              <a:t>C</a:t>
            </a:r>
            <a:endParaRPr lang="en-US" altLang="x-none" sz="2000" b="1">
              <a:solidFill>
                <a:schemeClr val="folHlink"/>
              </a:solidFill>
            </a:endParaRPr>
          </a:p>
        </p:txBody>
      </p:sp>
      <p:sp>
        <p:nvSpPr>
          <p:cNvPr id="35" name="Rectangle 24"/>
          <p:cNvSpPr>
            <a:spLocks noChangeArrowheads="1"/>
          </p:cNvSpPr>
          <p:nvPr/>
        </p:nvSpPr>
        <p:spPr bwMode="auto">
          <a:xfrm rot="422102">
            <a:off x="7758849" y="3453744"/>
            <a:ext cx="288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9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>
            <a:off x="6434220" y="2855449"/>
            <a:ext cx="1524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8"/>
          <p:cNvSpPr>
            <a:spLocks noChangeShapeType="1"/>
          </p:cNvSpPr>
          <p:nvPr/>
        </p:nvSpPr>
        <p:spPr bwMode="auto">
          <a:xfrm flipH="1">
            <a:off x="6739020" y="3312649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9"/>
          <p:cNvSpPr>
            <a:spLocks noChangeShapeType="1"/>
          </p:cNvSpPr>
          <p:nvPr/>
        </p:nvSpPr>
        <p:spPr bwMode="auto">
          <a:xfrm flipH="1">
            <a:off x="6815220" y="3312649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AutoShape 31"/>
          <p:cNvSpPr>
            <a:spLocks noChangeAspect="1" noChangeArrowheads="1" noTextEdit="1"/>
          </p:cNvSpPr>
          <p:nvPr/>
        </p:nvSpPr>
        <p:spPr bwMode="auto">
          <a:xfrm rot="-1394921">
            <a:off x="8348745" y="1933112"/>
            <a:ext cx="179705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32"/>
          <p:cNvSpPr>
            <a:spLocks noChangeArrowheads="1"/>
          </p:cNvSpPr>
          <p:nvPr/>
        </p:nvSpPr>
        <p:spPr bwMode="auto">
          <a:xfrm rot="-1394921">
            <a:off x="8229682" y="2595100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41" name="Rectangle 33"/>
          <p:cNvSpPr>
            <a:spLocks noChangeArrowheads="1"/>
          </p:cNvSpPr>
          <p:nvPr/>
        </p:nvSpPr>
        <p:spPr bwMode="auto">
          <a:xfrm rot="-1394921">
            <a:off x="8456695" y="2506200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42" name="Rectangle 34"/>
          <p:cNvSpPr>
            <a:spLocks noChangeArrowheads="1"/>
          </p:cNvSpPr>
          <p:nvPr/>
        </p:nvSpPr>
        <p:spPr bwMode="auto">
          <a:xfrm rot="-1394921">
            <a:off x="8500258" y="2638627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43" name="Rectangle 35"/>
          <p:cNvSpPr>
            <a:spLocks noChangeArrowheads="1"/>
          </p:cNvSpPr>
          <p:nvPr/>
        </p:nvSpPr>
        <p:spPr bwMode="auto">
          <a:xfrm rot="-1394921">
            <a:off x="8546296" y="2775946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44" name="Line 37"/>
          <p:cNvSpPr>
            <a:spLocks noChangeShapeType="1"/>
          </p:cNvSpPr>
          <p:nvPr/>
        </p:nvSpPr>
        <p:spPr bwMode="auto">
          <a:xfrm rot="20205079" flipV="1">
            <a:off x="8669421" y="2625262"/>
            <a:ext cx="287337" cy="930275"/>
          </a:xfrm>
          <a:prstGeom prst="line">
            <a:avLst/>
          </a:prstGeom>
          <a:noFill/>
          <a:ln w="28575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38"/>
          <p:cNvSpPr>
            <a:spLocks noChangeShapeType="1"/>
          </p:cNvSpPr>
          <p:nvPr/>
        </p:nvSpPr>
        <p:spPr bwMode="auto">
          <a:xfrm rot="-1394921">
            <a:off x="8821821" y="3355512"/>
            <a:ext cx="1150937" cy="3175"/>
          </a:xfrm>
          <a:prstGeom prst="line">
            <a:avLst/>
          </a:prstGeom>
          <a:noFill/>
          <a:ln w="28575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39"/>
          <p:cNvSpPr>
            <a:spLocks noChangeShapeType="1"/>
          </p:cNvSpPr>
          <p:nvPr/>
        </p:nvSpPr>
        <p:spPr bwMode="auto">
          <a:xfrm rot="-1394921">
            <a:off x="8913895" y="2407775"/>
            <a:ext cx="863600" cy="930275"/>
          </a:xfrm>
          <a:prstGeom prst="line">
            <a:avLst/>
          </a:prstGeom>
          <a:noFill/>
          <a:ln w="28575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Rectangle 40"/>
          <p:cNvSpPr>
            <a:spLocks noChangeArrowheads="1"/>
          </p:cNvSpPr>
          <p:nvPr/>
        </p:nvSpPr>
        <p:spPr bwMode="auto">
          <a:xfrm rot="-1394921">
            <a:off x="9881383" y="2962477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48" name="Rectangle 41"/>
          <p:cNvSpPr>
            <a:spLocks noChangeArrowheads="1"/>
          </p:cNvSpPr>
          <p:nvPr/>
        </p:nvSpPr>
        <p:spPr bwMode="auto">
          <a:xfrm rot="-1394921">
            <a:off x="8611440" y="2312624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tx2"/>
                </a:solidFill>
                <a:latin typeface="Times New Roman" charset="0"/>
              </a:rPr>
              <a:t>E</a:t>
            </a:r>
            <a:endParaRPr lang="en-US" altLang="x-none" sz="2000" b="1">
              <a:solidFill>
                <a:schemeClr val="tx2"/>
              </a:solidFill>
            </a:endParaRPr>
          </a:p>
        </p:txBody>
      </p:sp>
      <p:sp>
        <p:nvSpPr>
          <p:cNvPr id="49" name="Rectangle 42"/>
          <p:cNvSpPr>
            <a:spLocks noChangeArrowheads="1"/>
          </p:cNvSpPr>
          <p:nvPr/>
        </p:nvSpPr>
        <p:spPr bwMode="auto">
          <a:xfrm rot="-1394921">
            <a:off x="8578827" y="3531030"/>
            <a:ext cx="1859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tx2"/>
                </a:solidFill>
                <a:latin typeface="Times New Roman" charset="0"/>
              </a:rPr>
              <a:t>D</a:t>
            </a:r>
            <a:endParaRPr lang="en-US" altLang="x-none" sz="2000" b="1">
              <a:solidFill>
                <a:schemeClr val="tx2"/>
              </a:solidFill>
            </a:endParaRPr>
          </a:p>
        </p:txBody>
      </p:sp>
      <p:sp>
        <p:nvSpPr>
          <p:cNvPr id="50" name="Rectangle 43"/>
          <p:cNvSpPr>
            <a:spLocks noChangeArrowheads="1"/>
          </p:cNvSpPr>
          <p:nvPr/>
        </p:nvSpPr>
        <p:spPr bwMode="auto">
          <a:xfrm rot="-1394921">
            <a:off x="8733574" y="3580744"/>
            <a:ext cx="288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9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51" name="Rectangle 44"/>
          <p:cNvSpPr>
            <a:spLocks noChangeArrowheads="1"/>
          </p:cNvSpPr>
          <p:nvPr/>
        </p:nvSpPr>
        <p:spPr bwMode="auto">
          <a:xfrm rot="-1394921">
            <a:off x="10055308" y="2999911"/>
            <a:ext cx="155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tx2"/>
                </a:solidFill>
                <a:latin typeface="Times New Roman" charset="0"/>
              </a:rPr>
              <a:t>F</a:t>
            </a:r>
            <a:endParaRPr lang="en-US" altLang="x-none" sz="2000" b="1">
              <a:solidFill>
                <a:schemeClr val="tx2"/>
              </a:solidFill>
            </a:endParaRP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>
            <a:off x="8697995" y="2999911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48"/>
          <p:cNvSpPr>
            <a:spLocks noChangeShapeType="1"/>
          </p:cNvSpPr>
          <p:nvPr/>
        </p:nvSpPr>
        <p:spPr bwMode="auto">
          <a:xfrm>
            <a:off x="9231395" y="3304711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Line 50"/>
          <p:cNvSpPr>
            <a:spLocks noChangeShapeType="1"/>
          </p:cNvSpPr>
          <p:nvPr/>
        </p:nvSpPr>
        <p:spPr bwMode="auto">
          <a:xfrm>
            <a:off x="9307595" y="3304711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Arc 52"/>
          <p:cNvSpPr>
            <a:spLocks/>
          </p:cNvSpPr>
          <p:nvPr/>
        </p:nvSpPr>
        <p:spPr bwMode="auto">
          <a:xfrm>
            <a:off x="6400882" y="3152311"/>
            <a:ext cx="1524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 flipH="1">
            <a:off x="6477082" y="3228511"/>
            <a:ext cx="1524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Arc 55"/>
          <p:cNvSpPr>
            <a:spLocks/>
          </p:cNvSpPr>
          <p:nvPr/>
        </p:nvSpPr>
        <p:spPr bwMode="auto">
          <a:xfrm>
            <a:off x="8839282" y="3304711"/>
            <a:ext cx="228600" cy="152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56"/>
          <p:cNvSpPr>
            <a:spLocks noChangeShapeType="1"/>
          </p:cNvSpPr>
          <p:nvPr/>
        </p:nvSpPr>
        <p:spPr bwMode="auto">
          <a:xfrm flipV="1">
            <a:off x="8915482" y="3304711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AutoShape 57"/>
          <p:cNvSpPr>
            <a:spLocks noChangeArrowheads="1"/>
          </p:cNvSpPr>
          <p:nvPr/>
        </p:nvSpPr>
        <p:spPr bwMode="auto">
          <a:xfrm>
            <a:off x="7620082" y="5590711"/>
            <a:ext cx="3048000" cy="1371600"/>
          </a:xfrm>
          <a:prstGeom prst="cloudCallout">
            <a:avLst>
              <a:gd name="adj1" fmla="val -61875"/>
              <a:gd name="adj2" fmla="val -87616"/>
            </a:avLst>
          </a:prstGeom>
          <a:solidFill>
            <a:srgbClr val="E6FCE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x-none" sz="2800" b="1"/>
              <a:t>included </a:t>
            </a:r>
          </a:p>
          <a:p>
            <a:pPr algn="ctr"/>
            <a:r>
              <a:rPr lang="en-US" altLang="x-none" sz="2800" b="1"/>
              <a:t>angle</a:t>
            </a:r>
          </a:p>
        </p:txBody>
      </p:sp>
      <p:sp>
        <p:nvSpPr>
          <p:cNvPr id="60" name="Line 58"/>
          <p:cNvSpPr>
            <a:spLocks noChangeShapeType="1"/>
          </p:cNvSpPr>
          <p:nvPr/>
        </p:nvSpPr>
        <p:spPr bwMode="auto">
          <a:xfrm>
            <a:off x="5257882" y="3914311"/>
            <a:ext cx="5334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59"/>
          <p:cNvSpPr>
            <a:spLocks noChangeShapeType="1"/>
          </p:cNvSpPr>
          <p:nvPr/>
        </p:nvSpPr>
        <p:spPr bwMode="auto">
          <a:xfrm>
            <a:off x="5257882" y="5362111"/>
            <a:ext cx="5334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Line 60"/>
          <p:cNvSpPr>
            <a:spLocks noChangeShapeType="1"/>
          </p:cNvSpPr>
          <p:nvPr/>
        </p:nvSpPr>
        <p:spPr bwMode="auto">
          <a:xfrm>
            <a:off x="6477082" y="3914311"/>
            <a:ext cx="533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Line 61"/>
          <p:cNvSpPr>
            <a:spLocks noChangeShapeType="1"/>
          </p:cNvSpPr>
          <p:nvPr/>
        </p:nvSpPr>
        <p:spPr bwMode="auto">
          <a:xfrm>
            <a:off x="6477082" y="5362111"/>
            <a:ext cx="533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749121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749121"/>
            <a:ext cx="29815" cy="448819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3652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Tests for 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83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test for congruency in triangles and how do they apply to quadrilaterals?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3899452" y="2032902"/>
            <a:ext cx="7239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2"/>
              <a:buNone/>
            </a:pPr>
            <a:r>
              <a:rPr lang="en-US" altLang="x-none" sz="3600">
                <a:latin typeface="Comic Sans MS" charset="0"/>
              </a:rPr>
              <a:t>  The angle </a:t>
            </a:r>
            <a:r>
              <a:rPr lang="en-US" altLang="x-none" sz="3600">
                <a:solidFill>
                  <a:schemeClr val="tx2"/>
                </a:solidFill>
                <a:latin typeface="Comic Sans MS" charset="0"/>
              </a:rPr>
              <a:t>between</a:t>
            </a:r>
            <a:r>
              <a:rPr lang="en-US" altLang="x-none" sz="3600">
                <a:latin typeface="Comic Sans MS" charset="0"/>
              </a:rPr>
              <a:t> two sides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2"/>
              <a:buNone/>
            </a:pPr>
            <a:endParaRPr lang="en-US" altLang="x-none" sz="3600">
              <a:latin typeface="Comic Sans MS" charset="0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085263" y="2046502"/>
            <a:ext cx="2668589" cy="1142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/>
            <a:r>
              <a:rPr lang="en-US" altLang="x-none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Included Angle</a:t>
            </a:r>
          </a:p>
        </p:txBody>
      </p:sp>
      <p:graphicFrame>
        <p:nvGraphicFramePr>
          <p:cNvPr id="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247661"/>
              </p:ext>
            </p:extLst>
          </p:nvPr>
        </p:nvGraphicFramePr>
        <p:xfrm>
          <a:off x="3775628" y="3099702"/>
          <a:ext cx="1878013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4" name="Bitmap Image" r:id="rId3" imgW="2580952" imgH="3352381" progId="Paint.Picture">
                  <p:embed/>
                </p:oleObj>
              </mc:Choice>
              <mc:Fallback>
                <p:oleObj name="Bitmap Image" r:id="rId3" imgW="2580952" imgH="33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628" y="3099702"/>
                        <a:ext cx="1878013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22"/>
          <p:cNvSpPr>
            <a:spLocks noChangeShapeType="1"/>
          </p:cNvSpPr>
          <p:nvPr/>
        </p:nvSpPr>
        <p:spPr bwMode="auto">
          <a:xfrm>
            <a:off x="3899452" y="4395102"/>
            <a:ext cx="3810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 flipH="1" flipV="1">
            <a:off x="4585252" y="4852302"/>
            <a:ext cx="228600" cy="228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4"/>
          <p:cNvSpPr>
            <a:spLocks noChangeShapeType="1"/>
          </p:cNvSpPr>
          <p:nvPr/>
        </p:nvSpPr>
        <p:spPr bwMode="auto">
          <a:xfrm flipH="1" flipV="1">
            <a:off x="4661452" y="4776102"/>
            <a:ext cx="228600" cy="228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4432853" y="5614303"/>
            <a:ext cx="766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 b="1">
                <a:solidFill>
                  <a:schemeClr val="tx2"/>
                </a:solidFill>
                <a:sym typeface="Symbol" charset="2"/>
              </a:rPr>
              <a:t></a:t>
            </a:r>
            <a:r>
              <a:rPr lang="en-US" altLang="x-none"/>
              <a:t> </a:t>
            </a:r>
            <a:r>
              <a:rPr lang="en-US" altLang="x-none" sz="2800">
                <a:solidFill>
                  <a:schemeClr val="tx2"/>
                </a:solidFill>
              </a:rPr>
              <a:t>G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7176052" y="5614302"/>
            <a:ext cx="603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 b="1">
                <a:solidFill>
                  <a:schemeClr val="tx2"/>
                </a:solidFill>
                <a:sym typeface="Symbol" charset="2"/>
              </a:rPr>
              <a:t></a:t>
            </a:r>
            <a:r>
              <a:rPr lang="en-US" altLang="x-none"/>
              <a:t> </a:t>
            </a:r>
            <a:r>
              <a:rPr lang="en-US" altLang="x-none" sz="2800">
                <a:solidFill>
                  <a:schemeClr val="tx2"/>
                </a:solidFill>
              </a:rPr>
              <a:t>I</a:t>
            </a:r>
          </a:p>
        </p:txBody>
      </p:sp>
      <p:sp>
        <p:nvSpPr>
          <p:cNvPr id="23" name="Text Box 27"/>
          <p:cNvSpPr txBox="1">
            <a:spLocks noChangeArrowheads="1"/>
          </p:cNvSpPr>
          <p:nvPr/>
        </p:nvSpPr>
        <p:spPr bwMode="auto">
          <a:xfrm>
            <a:off x="10224052" y="5538102"/>
            <a:ext cx="7377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 b="1">
                <a:solidFill>
                  <a:schemeClr val="tx2"/>
                </a:solidFill>
                <a:sym typeface="Symbol" charset="2"/>
              </a:rPr>
              <a:t></a:t>
            </a:r>
            <a:r>
              <a:rPr lang="en-US" altLang="x-none"/>
              <a:t> </a:t>
            </a:r>
            <a:r>
              <a:rPr lang="en-US" altLang="x-none" sz="2800">
                <a:solidFill>
                  <a:schemeClr val="tx2"/>
                </a:solidFill>
              </a:rPr>
              <a:t>H</a:t>
            </a:r>
          </a:p>
        </p:txBody>
      </p:sp>
      <p:graphicFrame>
        <p:nvGraphicFramePr>
          <p:cNvPr id="2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378595"/>
              </p:ext>
            </p:extLst>
          </p:nvPr>
        </p:nvGraphicFramePr>
        <p:xfrm>
          <a:off x="9462053" y="3023502"/>
          <a:ext cx="1878013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5" name="Bitmap Image" r:id="rId5" imgW="2580952" imgH="3352381" progId="Paint.Picture">
                  <p:embed/>
                </p:oleObj>
              </mc:Choice>
              <mc:Fallback>
                <p:oleObj name="Bitmap Image" r:id="rId5" imgW="2580952" imgH="33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2053" y="3023502"/>
                        <a:ext cx="1878013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438783"/>
              </p:ext>
            </p:extLst>
          </p:nvPr>
        </p:nvGraphicFramePr>
        <p:xfrm>
          <a:off x="6718853" y="3099702"/>
          <a:ext cx="1878013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6" name="Bitmap Image" r:id="rId7" imgW="2580952" imgH="3352381" progId="Paint.Picture">
                  <p:embed/>
                </p:oleObj>
              </mc:Choice>
              <mc:Fallback>
                <p:oleObj name="Bitmap Image" r:id="rId7" imgW="2580952" imgH="33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853" y="3099702"/>
                        <a:ext cx="1878013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30"/>
          <p:cNvSpPr>
            <a:spLocks noChangeShapeType="1"/>
          </p:cNvSpPr>
          <p:nvPr/>
        </p:nvSpPr>
        <p:spPr bwMode="auto">
          <a:xfrm>
            <a:off x="6795052" y="4395102"/>
            <a:ext cx="3810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33"/>
          <p:cNvSpPr>
            <a:spLocks noChangeShapeType="1"/>
          </p:cNvSpPr>
          <p:nvPr/>
        </p:nvSpPr>
        <p:spPr bwMode="auto">
          <a:xfrm flipV="1">
            <a:off x="7633252" y="4090302"/>
            <a:ext cx="304800" cy="152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35"/>
          <p:cNvSpPr>
            <a:spLocks noChangeShapeType="1"/>
          </p:cNvSpPr>
          <p:nvPr/>
        </p:nvSpPr>
        <p:spPr bwMode="auto">
          <a:xfrm flipV="1">
            <a:off x="7480852" y="3937902"/>
            <a:ext cx="304800" cy="152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36"/>
          <p:cNvSpPr>
            <a:spLocks noChangeShapeType="1"/>
          </p:cNvSpPr>
          <p:nvPr/>
        </p:nvSpPr>
        <p:spPr bwMode="auto">
          <a:xfrm flipV="1">
            <a:off x="7557052" y="4014102"/>
            <a:ext cx="304800" cy="152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37"/>
          <p:cNvSpPr>
            <a:spLocks noChangeShapeType="1"/>
          </p:cNvSpPr>
          <p:nvPr/>
        </p:nvSpPr>
        <p:spPr bwMode="auto">
          <a:xfrm flipV="1">
            <a:off x="10224052" y="3937902"/>
            <a:ext cx="304800" cy="152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38"/>
          <p:cNvSpPr>
            <a:spLocks noChangeShapeType="1"/>
          </p:cNvSpPr>
          <p:nvPr/>
        </p:nvSpPr>
        <p:spPr bwMode="auto">
          <a:xfrm flipV="1">
            <a:off x="10071652" y="3785502"/>
            <a:ext cx="304800" cy="152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39"/>
          <p:cNvSpPr>
            <a:spLocks noChangeShapeType="1"/>
          </p:cNvSpPr>
          <p:nvPr/>
        </p:nvSpPr>
        <p:spPr bwMode="auto">
          <a:xfrm flipV="1">
            <a:off x="10147852" y="3861702"/>
            <a:ext cx="304800" cy="152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42"/>
          <p:cNvSpPr>
            <a:spLocks noChangeShapeType="1"/>
          </p:cNvSpPr>
          <p:nvPr/>
        </p:nvSpPr>
        <p:spPr bwMode="auto">
          <a:xfrm flipH="1" flipV="1">
            <a:off x="10147852" y="4852302"/>
            <a:ext cx="228600" cy="228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flipH="1" flipV="1">
            <a:off x="10224052" y="4776102"/>
            <a:ext cx="228600" cy="228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Arc 44"/>
          <p:cNvSpPr>
            <a:spLocks/>
          </p:cNvSpPr>
          <p:nvPr/>
        </p:nvSpPr>
        <p:spPr bwMode="auto">
          <a:xfrm>
            <a:off x="4128052" y="4776102"/>
            <a:ext cx="3810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Arc 45"/>
          <p:cNvSpPr>
            <a:spLocks/>
          </p:cNvSpPr>
          <p:nvPr/>
        </p:nvSpPr>
        <p:spPr bwMode="auto">
          <a:xfrm flipV="1">
            <a:off x="7023652" y="3785502"/>
            <a:ext cx="304800" cy="152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Arc 46"/>
          <p:cNvSpPr>
            <a:spLocks/>
          </p:cNvSpPr>
          <p:nvPr/>
        </p:nvSpPr>
        <p:spPr bwMode="auto">
          <a:xfrm flipH="1">
            <a:off x="10605052" y="4318902"/>
            <a:ext cx="76200" cy="457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1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35" grpId="0" animBg="1"/>
      <p:bldP spid="36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749121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749121"/>
            <a:ext cx="29815" cy="448819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3652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Tests for 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83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test for congruency in triangles and how do they apply to quadrilaterals?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5312607" y="2362201"/>
            <a:ext cx="4953000" cy="3306763"/>
          </a:xfrm>
          <a:prstGeom prst="rect">
            <a:avLst/>
          </a:prstGeom>
          <a:solidFill>
            <a:srgbClr val="E6FCE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x-none" sz="2800"/>
              <a:t>  Name the </a:t>
            </a:r>
            <a:r>
              <a:rPr lang="en-US" altLang="x-none" sz="2800">
                <a:solidFill>
                  <a:schemeClr val="tx2"/>
                </a:solidFill>
              </a:rPr>
              <a:t>included</a:t>
            </a:r>
            <a:r>
              <a:rPr lang="en-US" altLang="x-none" sz="2800"/>
              <a:t> angle:</a:t>
            </a:r>
          </a:p>
          <a:p>
            <a:endParaRPr lang="en-US" altLang="x-none" sz="2800"/>
          </a:p>
          <a:p>
            <a:pPr>
              <a:spcBef>
                <a:spcPct val="50000"/>
              </a:spcBef>
            </a:pPr>
            <a:r>
              <a:rPr lang="en-US" altLang="x-none" sz="2800"/>
              <a:t>  Y</a:t>
            </a:r>
            <a:r>
              <a:rPr lang="en-US" altLang="x-none" sz="2800">
                <a:solidFill>
                  <a:schemeClr val="tx2"/>
                </a:solidFill>
              </a:rPr>
              <a:t>E</a:t>
            </a:r>
            <a:r>
              <a:rPr lang="en-US" altLang="x-none" sz="2800"/>
              <a:t> and </a:t>
            </a:r>
            <a:r>
              <a:rPr lang="en-US" altLang="x-none" sz="2800">
                <a:solidFill>
                  <a:schemeClr val="tx2"/>
                </a:solidFill>
              </a:rPr>
              <a:t>E</a:t>
            </a:r>
            <a:r>
              <a:rPr lang="en-US" altLang="x-none" sz="2800"/>
              <a:t>S</a:t>
            </a:r>
          </a:p>
          <a:p>
            <a:pPr>
              <a:spcBef>
                <a:spcPct val="50000"/>
              </a:spcBef>
            </a:pPr>
            <a:r>
              <a:rPr lang="en-US" altLang="x-none" sz="2800"/>
              <a:t>  E</a:t>
            </a:r>
            <a:r>
              <a:rPr lang="en-US" altLang="x-none" sz="2800">
                <a:solidFill>
                  <a:schemeClr val="tx2"/>
                </a:solidFill>
              </a:rPr>
              <a:t>S</a:t>
            </a:r>
            <a:r>
              <a:rPr lang="en-US" altLang="x-none" sz="2800"/>
              <a:t> and Y</a:t>
            </a:r>
            <a:r>
              <a:rPr lang="en-US" altLang="x-none" sz="2800">
                <a:solidFill>
                  <a:schemeClr val="tx2"/>
                </a:solidFill>
              </a:rPr>
              <a:t>S</a:t>
            </a:r>
          </a:p>
          <a:p>
            <a:pPr>
              <a:spcBef>
                <a:spcPct val="50000"/>
              </a:spcBef>
            </a:pPr>
            <a:r>
              <a:rPr lang="en-US" altLang="x-none" sz="2800"/>
              <a:t>  </a:t>
            </a:r>
            <a:r>
              <a:rPr lang="en-US" altLang="x-none" sz="2800">
                <a:solidFill>
                  <a:schemeClr val="tx2"/>
                </a:solidFill>
              </a:rPr>
              <a:t>Y</a:t>
            </a:r>
            <a:r>
              <a:rPr lang="en-US" altLang="x-none" sz="2800"/>
              <a:t>S and </a:t>
            </a:r>
            <a:r>
              <a:rPr lang="en-US" altLang="x-none" sz="2800">
                <a:solidFill>
                  <a:schemeClr val="tx2"/>
                </a:solidFill>
              </a:rPr>
              <a:t>Y</a:t>
            </a:r>
            <a:r>
              <a:rPr lang="en-US" altLang="x-none" sz="2800"/>
              <a:t>E</a:t>
            </a:r>
          </a:p>
          <a:p>
            <a:endParaRPr lang="en-US" altLang="x-none" sz="2800"/>
          </a:p>
        </p:txBody>
      </p:sp>
      <p:grpSp>
        <p:nvGrpSpPr>
          <p:cNvPr id="17" name="Group 5"/>
          <p:cNvGrpSpPr>
            <a:grpSpLocks/>
          </p:cNvGrpSpPr>
          <p:nvPr/>
        </p:nvGrpSpPr>
        <p:grpSpPr bwMode="auto">
          <a:xfrm>
            <a:off x="3026607" y="2895601"/>
            <a:ext cx="1150938" cy="2378075"/>
            <a:chOff x="3329" y="2246"/>
            <a:chExt cx="725" cy="1498"/>
          </a:xfrm>
        </p:grpSpPr>
        <p:sp>
          <p:nvSpPr>
            <p:cNvPr id="18" name="AutoShape 6"/>
            <p:cNvSpPr>
              <a:spLocks noChangeArrowheads="1"/>
            </p:cNvSpPr>
            <p:nvPr/>
          </p:nvSpPr>
          <p:spPr bwMode="auto">
            <a:xfrm rot="16200000">
              <a:off x="3192" y="2750"/>
              <a:ext cx="1008" cy="480"/>
            </a:xfrm>
            <a:prstGeom prst="rtTriangl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3800" y="3494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S</a:t>
              </a: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3329" y="3494"/>
              <a:ext cx="2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Y</a:t>
              </a:r>
            </a:p>
          </p:txBody>
        </p:sp>
        <p:sp>
          <p:nvSpPr>
            <p:cNvPr id="21" name="Text Box 9"/>
            <p:cNvSpPr txBox="1">
              <a:spLocks noChangeArrowheads="1"/>
            </p:cNvSpPr>
            <p:nvPr/>
          </p:nvSpPr>
          <p:spPr bwMode="auto">
            <a:xfrm>
              <a:off x="3840" y="2246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x-none" sz="2000">
                  <a:latin typeface="Times New Roman" charset="0"/>
                </a:rPr>
                <a:t>E</a:t>
              </a:r>
            </a:p>
          </p:txBody>
        </p:sp>
      </p:grp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8055808" y="3429000"/>
            <a:ext cx="6880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 b="1">
                <a:solidFill>
                  <a:schemeClr val="tx2"/>
                </a:solidFill>
                <a:sym typeface="Symbol" charset="2"/>
              </a:rPr>
              <a:t></a:t>
            </a:r>
            <a:r>
              <a:rPr lang="en-US" altLang="x-none"/>
              <a:t> </a:t>
            </a:r>
            <a:r>
              <a:rPr lang="en-US" altLang="x-none" sz="2800">
                <a:solidFill>
                  <a:schemeClr val="tx2"/>
                </a:solidFill>
              </a:rPr>
              <a:t>E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8055808" y="4038600"/>
            <a:ext cx="6783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 b="1">
                <a:solidFill>
                  <a:schemeClr val="tx2"/>
                </a:solidFill>
                <a:sym typeface="Symbol" charset="2"/>
              </a:rPr>
              <a:t></a:t>
            </a:r>
            <a:r>
              <a:rPr lang="en-US" altLang="x-none"/>
              <a:t> </a:t>
            </a:r>
            <a:r>
              <a:rPr lang="en-US" altLang="x-none" sz="2800">
                <a:solidFill>
                  <a:schemeClr val="tx2"/>
                </a:solidFill>
              </a:rPr>
              <a:t>S</a:t>
            </a: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8055808" y="4648200"/>
            <a:ext cx="6880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800" b="1">
                <a:solidFill>
                  <a:schemeClr val="tx2"/>
                </a:solidFill>
                <a:sym typeface="Symbol" charset="2"/>
              </a:rPr>
              <a:t></a:t>
            </a:r>
            <a:r>
              <a:rPr lang="en-US" altLang="x-none"/>
              <a:t> </a:t>
            </a:r>
            <a:r>
              <a:rPr lang="en-US" altLang="x-none" sz="2800">
                <a:solidFill>
                  <a:schemeClr val="tx2"/>
                </a:solidFill>
              </a:rPr>
              <a:t>Y</a:t>
            </a:r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5617407" y="3505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6608007" y="3505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5"/>
          <p:cNvSpPr>
            <a:spLocks noChangeShapeType="1"/>
          </p:cNvSpPr>
          <p:nvPr/>
        </p:nvSpPr>
        <p:spPr bwMode="auto">
          <a:xfrm>
            <a:off x="5617407" y="4114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6"/>
          <p:cNvSpPr>
            <a:spLocks noChangeShapeType="1"/>
          </p:cNvSpPr>
          <p:nvPr/>
        </p:nvSpPr>
        <p:spPr bwMode="auto">
          <a:xfrm>
            <a:off x="6599314" y="41275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7"/>
          <p:cNvSpPr>
            <a:spLocks noChangeShapeType="1"/>
          </p:cNvSpPr>
          <p:nvPr/>
        </p:nvSpPr>
        <p:spPr bwMode="auto">
          <a:xfrm>
            <a:off x="5617407" y="4724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>
            <a:off x="6599314" y="4724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2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7400" y="293341"/>
            <a:ext cx="11143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Label the congruency test you would use for each pair of triangles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074" y="1590674"/>
            <a:ext cx="2117726" cy="21846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074" y="4615617"/>
            <a:ext cx="3371850" cy="149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293" y="1590674"/>
            <a:ext cx="4184939" cy="17049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594" y="4290735"/>
            <a:ext cx="3835600" cy="18234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7400" y="149860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1.</a:t>
            </a:r>
            <a:endParaRPr 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638800" y="1406008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2.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918194" y="430316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3.</a:t>
            </a:r>
            <a:endParaRPr lang="en-US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818497" y="4290735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4.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2595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749121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749121"/>
            <a:ext cx="29815" cy="448819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3652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Tests for 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83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test for congruency in triangles and how do they apply to quadrilaterals?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 rot="-1394921">
            <a:off x="11644282" y="6501777"/>
            <a:ext cx="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GB" altLang="x-none">
              <a:solidFill>
                <a:schemeClr val="tx2"/>
              </a:solidFill>
            </a:endParaRP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 rot="422102">
            <a:off x="5973763" y="2064308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 rot="422102">
            <a:off x="6239576" y="2137998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 rot="422102">
            <a:off x="6223000" y="2278620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 rot="422102">
            <a:off x="6203063" y="2434860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folHlink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folHlink"/>
              </a:solidFill>
            </a:endParaRPr>
          </a:p>
        </p:txBody>
      </p:sp>
      <p:sp>
        <p:nvSpPr>
          <p:cNvPr id="30" name="Rectangle 17"/>
          <p:cNvSpPr>
            <a:spLocks noChangeArrowheads="1"/>
          </p:cNvSpPr>
          <p:nvPr/>
        </p:nvSpPr>
        <p:spPr bwMode="auto">
          <a:xfrm rot="422102">
            <a:off x="7449251" y="3469910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33" name="Rectangle 20"/>
          <p:cNvSpPr>
            <a:spLocks noChangeArrowheads="1"/>
          </p:cNvSpPr>
          <p:nvPr/>
        </p:nvSpPr>
        <p:spPr bwMode="auto">
          <a:xfrm rot="422102">
            <a:off x="6006167" y="3272202"/>
            <a:ext cx="288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9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35" name="Rectangle 22"/>
          <p:cNvSpPr>
            <a:spLocks noChangeArrowheads="1"/>
          </p:cNvSpPr>
          <p:nvPr/>
        </p:nvSpPr>
        <p:spPr bwMode="auto">
          <a:xfrm rot="422102">
            <a:off x="7593667" y="3472227"/>
            <a:ext cx="288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900" dirty="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 dirty="0"/>
          </a:p>
        </p:txBody>
      </p:sp>
      <p:sp>
        <p:nvSpPr>
          <p:cNvPr id="37" name="AutoShape 24"/>
          <p:cNvSpPr>
            <a:spLocks noChangeAspect="1" noChangeArrowheads="1" noTextEdit="1"/>
          </p:cNvSpPr>
          <p:nvPr/>
        </p:nvSpPr>
        <p:spPr bwMode="auto">
          <a:xfrm rot="-1394921">
            <a:off x="8183563" y="1951595"/>
            <a:ext cx="179705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Rectangle 25"/>
          <p:cNvSpPr>
            <a:spLocks noChangeArrowheads="1"/>
          </p:cNvSpPr>
          <p:nvPr/>
        </p:nvSpPr>
        <p:spPr bwMode="auto">
          <a:xfrm rot="-1394921">
            <a:off x="8064500" y="2613583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39" name="Rectangle 26"/>
          <p:cNvSpPr>
            <a:spLocks noChangeArrowheads="1"/>
          </p:cNvSpPr>
          <p:nvPr/>
        </p:nvSpPr>
        <p:spPr bwMode="auto">
          <a:xfrm rot="-1394921">
            <a:off x="8291513" y="2524683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40" name="Rectangle 27"/>
          <p:cNvSpPr>
            <a:spLocks noChangeArrowheads="1"/>
          </p:cNvSpPr>
          <p:nvPr/>
        </p:nvSpPr>
        <p:spPr bwMode="auto">
          <a:xfrm rot="-1394921">
            <a:off x="8335076" y="2657110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41" name="Rectangle 28"/>
          <p:cNvSpPr>
            <a:spLocks noChangeArrowheads="1"/>
          </p:cNvSpPr>
          <p:nvPr/>
        </p:nvSpPr>
        <p:spPr bwMode="auto">
          <a:xfrm rot="-1394921">
            <a:off x="8381114" y="2794429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45" name="Rectangle 32"/>
          <p:cNvSpPr>
            <a:spLocks noChangeArrowheads="1"/>
          </p:cNvSpPr>
          <p:nvPr/>
        </p:nvSpPr>
        <p:spPr bwMode="auto">
          <a:xfrm rot="-1394921">
            <a:off x="9716201" y="2980960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48" name="Rectangle 35"/>
          <p:cNvSpPr>
            <a:spLocks noChangeArrowheads="1"/>
          </p:cNvSpPr>
          <p:nvPr/>
        </p:nvSpPr>
        <p:spPr bwMode="auto">
          <a:xfrm rot="-1394921">
            <a:off x="8568392" y="3599227"/>
            <a:ext cx="288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9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64" name="Rectangle 2"/>
          <p:cNvSpPr>
            <a:spLocks noChangeArrowheads="1"/>
          </p:cNvSpPr>
          <p:nvPr/>
        </p:nvSpPr>
        <p:spPr bwMode="auto">
          <a:xfrm>
            <a:off x="1286987" y="3291240"/>
            <a:ext cx="2530498" cy="977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/>
            <a:r>
              <a:rPr lang="en-US" altLang="x-none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Angle-Angle-Side (</a:t>
            </a:r>
            <a:r>
              <a:rPr lang="en-US" altLang="x-none" sz="36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AAS, or ASA or SAA. Any order is accepted</a:t>
            </a:r>
            <a:endParaRPr lang="en-US" altLang="x-none" sz="36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65" name="Rectangle 3"/>
          <p:cNvSpPr>
            <a:spLocks noChangeArrowheads="1"/>
          </p:cNvSpPr>
          <p:nvPr/>
        </p:nvSpPr>
        <p:spPr bwMode="auto">
          <a:xfrm rot="-1394921">
            <a:off x="11833131" y="6483294"/>
            <a:ext cx="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GB" altLang="x-none">
              <a:solidFill>
                <a:schemeClr val="tx2"/>
              </a:solidFill>
            </a:endParaRPr>
          </a:p>
        </p:txBody>
      </p:sp>
      <p:sp>
        <p:nvSpPr>
          <p:cNvPr id="66" name="Rectangle 4"/>
          <p:cNvSpPr>
            <a:spLocks noChangeArrowheads="1"/>
          </p:cNvSpPr>
          <p:nvPr/>
        </p:nvSpPr>
        <p:spPr bwMode="auto">
          <a:xfrm>
            <a:off x="4214749" y="1856911"/>
            <a:ext cx="7772400" cy="4191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4443349" y="3825411"/>
            <a:ext cx="3581400" cy="207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30000"/>
              </a:spcBef>
              <a:buFontTx/>
              <a:buAutoNum type="arabicPeriod"/>
            </a:pPr>
            <a:r>
              <a:rPr lang="en-US" altLang="x-none" sz="3600" b="1">
                <a:solidFill>
                  <a:schemeClr val="folHlink"/>
                </a:solidFill>
                <a:latin typeface="Comic Sans MS" charset="0"/>
                <a:sym typeface="Symbol" charset="2"/>
              </a:rPr>
              <a:t> </a:t>
            </a:r>
            <a:r>
              <a:rPr lang="en-US" altLang="x-none" sz="3600" b="1">
                <a:solidFill>
                  <a:schemeClr val="folHlink"/>
                </a:solidFill>
                <a:latin typeface="Comic Sans MS" charset="0"/>
              </a:rPr>
              <a:t>A </a:t>
            </a:r>
            <a:r>
              <a:rPr lang="en-US" altLang="x-none" sz="3600" b="1">
                <a:latin typeface="Comic Sans MS" charset="0"/>
                <a:sym typeface="Symbol" charset="2"/>
              </a:rPr>
              <a:t></a:t>
            </a:r>
            <a:r>
              <a:rPr lang="en-US" altLang="x-none" sz="3600" b="1">
                <a:solidFill>
                  <a:schemeClr val="folHlink"/>
                </a:solidFill>
                <a:latin typeface="Comic Sans MS" charset="0"/>
                <a:sym typeface="Symbol" charset="2"/>
              </a:rPr>
              <a:t> </a:t>
            </a:r>
            <a:r>
              <a:rPr lang="en-US" altLang="x-none" sz="3600" b="1">
                <a:solidFill>
                  <a:schemeClr val="tx2"/>
                </a:solidFill>
                <a:latin typeface="Comic Sans MS" charset="0"/>
                <a:sym typeface="Symbol" charset="2"/>
              </a:rPr>
              <a:t></a:t>
            </a:r>
            <a:r>
              <a:rPr lang="en-US" altLang="x-none" sz="1800">
                <a:latin typeface="Comic Sans MS" charset="0"/>
              </a:rPr>
              <a:t> </a:t>
            </a:r>
            <a:r>
              <a:rPr lang="en-US" altLang="x-none" sz="3600" b="1">
                <a:solidFill>
                  <a:schemeClr val="tx2"/>
                </a:solidFill>
                <a:latin typeface="Comic Sans MS" charset="0"/>
              </a:rPr>
              <a:t>D</a:t>
            </a:r>
          </a:p>
          <a:p>
            <a:pPr>
              <a:spcBef>
                <a:spcPct val="30000"/>
              </a:spcBef>
              <a:buFontTx/>
              <a:buAutoNum type="arabicPeriod"/>
            </a:pPr>
            <a:r>
              <a:rPr lang="en-US" altLang="x-none" sz="3600" b="1">
                <a:solidFill>
                  <a:schemeClr val="folHlink"/>
                </a:solidFill>
                <a:latin typeface="Comic Sans MS" charset="0"/>
              </a:rPr>
              <a:t> </a:t>
            </a:r>
            <a:r>
              <a:rPr lang="en-US" altLang="x-none" sz="3600" b="1">
                <a:solidFill>
                  <a:schemeClr val="folHlink"/>
                </a:solidFill>
                <a:latin typeface="Comic Sans MS" charset="0"/>
                <a:sym typeface="Symbol" charset="2"/>
              </a:rPr>
              <a:t></a:t>
            </a:r>
            <a:r>
              <a:rPr lang="en-US" altLang="x-none" sz="1800">
                <a:latin typeface="Comic Sans MS" charset="0"/>
              </a:rPr>
              <a:t> </a:t>
            </a:r>
            <a:r>
              <a:rPr lang="en-US" altLang="x-none" sz="3600" b="1">
                <a:solidFill>
                  <a:schemeClr val="folHlink"/>
                </a:solidFill>
                <a:latin typeface="Comic Sans MS" charset="0"/>
              </a:rPr>
              <a:t>B </a:t>
            </a:r>
            <a:r>
              <a:rPr lang="en-US" altLang="x-none" sz="3600" b="1">
                <a:latin typeface="Comic Sans MS" charset="0"/>
                <a:sym typeface="Symbol" charset="2"/>
              </a:rPr>
              <a:t></a:t>
            </a:r>
            <a:r>
              <a:rPr lang="en-US" altLang="x-none" sz="3600" b="1">
                <a:solidFill>
                  <a:schemeClr val="folHlink"/>
                </a:solidFill>
                <a:latin typeface="Comic Sans MS" charset="0"/>
                <a:sym typeface="Symbol" charset="2"/>
              </a:rPr>
              <a:t> </a:t>
            </a:r>
            <a:r>
              <a:rPr lang="en-US" altLang="x-none" sz="3600" b="1">
                <a:solidFill>
                  <a:schemeClr val="tx2"/>
                </a:solidFill>
                <a:latin typeface="Comic Sans MS" charset="0"/>
                <a:sym typeface="Symbol" charset="2"/>
              </a:rPr>
              <a:t></a:t>
            </a:r>
            <a:r>
              <a:rPr lang="en-US" altLang="x-none" sz="1800">
                <a:latin typeface="Comic Sans MS" charset="0"/>
                <a:sym typeface="Symbol" charset="2"/>
              </a:rPr>
              <a:t> </a:t>
            </a:r>
            <a:r>
              <a:rPr lang="en-US" altLang="x-none" sz="3600" b="1">
                <a:solidFill>
                  <a:schemeClr val="tx2"/>
                </a:solidFill>
                <a:latin typeface="Comic Sans MS" charset="0"/>
                <a:sym typeface="Symbol" charset="2"/>
              </a:rPr>
              <a:t>E</a:t>
            </a:r>
            <a:endParaRPr lang="en-US" altLang="x-none" sz="3600" b="1">
              <a:solidFill>
                <a:schemeClr val="tx2"/>
              </a:solidFill>
              <a:latin typeface="Comic Sans MS" charset="0"/>
            </a:endParaRPr>
          </a:p>
          <a:p>
            <a:pPr>
              <a:spcBef>
                <a:spcPct val="30000"/>
              </a:spcBef>
              <a:buFontTx/>
              <a:buAutoNum type="arabicPeriod"/>
            </a:pPr>
            <a:r>
              <a:rPr lang="en-US" altLang="x-none" sz="3600" b="1">
                <a:solidFill>
                  <a:schemeClr val="folHlink"/>
                </a:solidFill>
                <a:latin typeface="Comic Sans MS" charset="0"/>
              </a:rPr>
              <a:t>  BC</a:t>
            </a:r>
            <a:r>
              <a:rPr lang="en-US" altLang="x-none" sz="3600" b="1">
                <a:latin typeface="Comic Sans MS" charset="0"/>
                <a:sym typeface="Symbol" charset="2"/>
              </a:rPr>
              <a:t>  </a:t>
            </a:r>
            <a:r>
              <a:rPr lang="en-US" altLang="x-none" sz="3600" b="1">
                <a:solidFill>
                  <a:schemeClr val="tx2"/>
                </a:solidFill>
                <a:latin typeface="Comic Sans MS" charset="0"/>
              </a:rPr>
              <a:t>EF</a:t>
            </a:r>
          </a:p>
        </p:txBody>
      </p:sp>
      <p:sp>
        <p:nvSpPr>
          <p:cNvPr id="68" name="AutoShape 6"/>
          <p:cNvSpPr>
            <a:spLocks noChangeArrowheads="1"/>
          </p:cNvSpPr>
          <p:nvPr/>
        </p:nvSpPr>
        <p:spPr bwMode="auto">
          <a:xfrm>
            <a:off x="7567549" y="4523911"/>
            <a:ext cx="914400" cy="533400"/>
          </a:xfrm>
          <a:prstGeom prst="rightArrow">
            <a:avLst>
              <a:gd name="adj1" fmla="val 50000"/>
              <a:gd name="adj2" fmla="val 42857"/>
            </a:avLst>
          </a:prstGeom>
          <a:solidFill>
            <a:srgbClr val="E38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" name="Text Box 7"/>
          <p:cNvSpPr txBox="1">
            <a:spLocks noChangeArrowheads="1"/>
          </p:cNvSpPr>
          <p:nvPr/>
        </p:nvSpPr>
        <p:spPr bwMode="auto">
          <a:xfrm>
            <a:off x="8558149" y="4447711"/>
            <a:ext cx="3429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x-none" sz="3600" b="1">
                <a:solidFill>
                  <a:schemeClr val="hlink"/>
                </a:solidFill>
                <a:latin typeface="Comic Sans MS" charset="0"/>
                <a:sym typeface="Symbol" charset="2"/>
              </a:rPr>
              <a:t>ABC </a:t>
            </a:r>
            <a:r>
              <a:rPr lang="en-US" altLang="x-none" sz="3600">
                <a:solidFill>
                  <a:schemeClr val="hlink"/>
                </a:solidFill>
                <a:latin typeface="Comic Sans MS" charset="0"/>
                <a:sym typeface="Symbol" charset="2"/>
              </a:rPr>
              <a:t> </a:t>
            </a:r>
            <a:r>
              <a:rPr lang="en-US" altLang="x-none" sz="3600" b="1">
                <a:solidFill>
                  <a:schemeClr val="hlink"/>
                </a:solidFill>
                <a:latin typeface="Comic Sans MS" charset="0"/>
                <a:sym typeface="Symbol" charset="2"/>
              </a:rPr>
              <a:t></a:t>
            </a:r>
            <a:r>
              <a:rPr lang="en-US" altLang="x-none" sz="3600">
                <a:solidFill>
                  <a:schemeClr val="hlink"/>
                </a:solidFill>
                <a:latin typeface="Comic Sans MS" charset="0"/>
                <a:sym typeface="Symbol" charset="2"/>
              </a:rPr>
              <a:t> </a:t>
            </a:r>
            <a:r>
              <a:rPr lang="en-US" altLang="x-none" sz="3600" b="1">
                <a:solidFill>
                  <a:schemeClr val="hlink"/>
                </a:solidFill>
                <a:latin typeface="Comic Sans MS" charset="0"/>
                <a:sym typeface="Symbol" charset="2"/>
              </a:rPr>
              <a:t>DEF</a:t>
            </a:r>
          </a:p>
        </p:txBody>
      </p:sp>
      <p:sp>
        <p:nvSpPr>
          <p:cNvPr id="70" name="AutoShape 8"/>
          <p:cNvSpPr>
            <a:spLocks noChangeAspect="1" noChangeArrowheads="1" noTextEdit="1"/>
          </p:cNvSpPr>
          <p:nvPr/>
        </p:nvSpPr>
        <p:spPr bwMode="auto">
          <a:xfrm rot="422102">
            <a:off x="6081650" y="2009312"/>
            <a:ext cx="2092325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Rectangle 9"/>
          <p:cNvSpPr>
            <a:spLocks noChangeArrowheads="1"/>
          </p:cNvSpPr>
          <p:nvPr/>
        </p:nvSpPr>
        <p:spPr bwMode="auto">
          <a:xfrm rot="422102">
            <a:off x="6162612" y="2045825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72" name="Rectangle 10"/>
          <p:cNvSpPr>
            <a:spLocks noChangeArrowheads="1"/>
          </p:cNvSpPr>
          <p:nvPr/>
        </p:nvSpPr>
        <p:spPr bwMode="auto">
          <a:xfrm rot="422102">
            <a:off x="6428425" y="2119515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73" name="Rectangle 11"/>
          <p:cNvSpPr>
            <a:spLocks noChangeArrowheads="1"/>
          </p:cNvSpPr>
          <p:nvPr/>
        </p:nvSpPr>
        <p:spPr bwMode="auto">
          <a:xfrm rot="422102">
            <a:off x="6411849" y="2260137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74" name="Rectangle 12"/>
          <p:cNvSpPr>
            <a:spLocks noChangeArrowheads="1"/>
          </p:cNvSpPr>
          <p:nvPr/>
        </p:nvSpPr>
        <p:spPr bwMode="auto">
          <a:xfrm rot="422102">
            <a:off x="6391912" y="2416377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folHlink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folHlink"/>
              </a:solidFill>
            </a:endParaRPr>
          </a:p>
        </p:txBody>
      </p:sp>
      <p:grpSp>
        <p:nvGrpSpPr>
          <p:cNvPr id="75" name="Group 13"/>
          <p:cNvGrpSpPr>
            <a:grpSpLocks/>
          </p:cNvGrpSpPr>
          <p:nvPr/>
        </p:nvGrpSpPr>
        <p:grpSpPr bwMode="auto">
          <a:xfrm rot="422102">
            <a:off x="6341999" y="2498261"/>
            <a:ext cx="1339850" cy="966788"/>
            <a:chOff x="4105" y="2050"/>
            <a:chExt cx="584" cy="370"/>
          </a:xfrm>
        </p:grpSpPr>
        <p:sp>
          <p:nvSpPr>
            <p:cNvPr id="76" name="Line 14"/>
            <p:cNvSpPr>
              <a:spLocks noChangeShapeType="1"/>
            </p:cNvSpPr>
            <p:nvPr/>
          </p:nvSpPr>
          <p:spPr bwMode="auto">
            <a:xfrm flipV="1">
              <a:off x="4105" y="2050"/>
              <a:ext cx="146" cy="365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15"/>
            <p:cNvSpPr>
              <a:spLocks noChangeShapeType="1"/>
            </p:cNvSpPr>
            <p:nvPr/>
          </p:nvSpPr>
          <p:spPr bwMode="auto">
            <a:xfrm>
              <a:off x="4105" y="2419"/>
              <a:ext cx="584" cy="1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16"/>
            <p:cNvSpPr>
              <a:spLocks noChangeShapeType="1"/>
            </p:cNvSpPr>
            <p:nvPr/>
          </p:nvSpPr>
          <p:spPr bwMode="auto">
            <a:xfrm>
              <a:off x="4251" y="2054"/>
              <a:ext cx="438" cy="365"/>
            </a:xfrm>
            <a:prstGeom prst="line">
              <a:avLst/>
            </a:prstGeom>
            <a:noFill/>
            <a:ln w="28575" cap="rnd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" name="Rectangle 17"/>
          <p:cNvSpPr>
            <a:spLocks noChangeArrowheads="1"/>
          </p:cNvSpPr>
          <p:nvPr/>
        </p:nvSpPr>
        <p:spPr bwMode="auto">
          <a:xfrm rot="422102">
            <a:off x="7638100" y="3451427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80" name="Rectangle 18"/>
          <p:cNvSpPr>
            <a:spLocks noChangeArrowheads="1"/>
          </p:cNvSpPr>
          <p:nvPr/>
        </p:nvSpPr>
        <p:spPr bwMode="auto">
          <a:xfrm rot="422102">
            <a:off x="6663432" y="2168162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folHlink"/>
                </a:solidFill>
                <a:latin typeface="Times New Roman" charset="0"/>
              </a:rPr>
              <a:t>B</a:t>
            </a:r>
            <a:endParaRPr lang="en-US" altLang="x-none" sz="2000" b="1">
              <a:solidFill>
                <a:schemeClr val="folHlink"/>
              </a:solidFill>
            </a:endParaRPr>
          </a:p>
        </p:txBody>
      </p:sp>
      <p:sp>
        <p:nvSpPr>
          <p:cNvPr id="81" name="Rectangle 19"/>
          <p:cNvSpPr>
            <a:spLocks noChangeArrowheads="1"/>
          </p:cNvSpPr>
          <p:nvPr/>
        </p:nvSpPr>
        <p:spPr bwMode="auto">
          <a:xfrm rot="422102">
            <a:off x="6043549" y="3160249"/>
            <a:ext cx="185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folHlink"/>
                </a:solidFill>
                <a:latin typeface="Times New Roman" charset="0"/>
              </a:rPr>
              <a:t>A</a:t>
            </a:r>
            <a:endParaRPr lang="en-US" altLang="x-none" sz="2000" b="1">
              <a:solidFill>
                <a:schemeClr val="folHlink"/>
              </a:solidFill>
            </a:endParaRPr>
          </a:p>
        </p:txBody>
      </p:sp>
      <p:sp>
        <p:nvSpPr>
          <p:cNvPr id="82" name="Rectangle 20"/>
          <p:cNvSpPr>
            <a:spLocks noChangeArrowheads="1"/>
          </p:cNvSpPr>
          <p:nvPr/>
        </p:nvSpPr>
        <p:spPr bwMode="auto">
          <a:xfrm rot="422102">
            <a:off x="6195016" y="3253719"/>
            <a:ext cx="288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9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83" name="Rectangle 21"/>
          <p:cNvSpPr>
            <a:spLocks noChangeArrowheads="1"/>
          </p:cNvSpPr>
          <p:nvPr/>
        </p:nvSpPr>
        <p:spPr bwMode="auto">
          <a:xfrm rot="422102">
            <a:off x="7677087" y="3465049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folHlink"/>
                </a:solidFill>
                <a:latin typeface="Times New Roman" charset="0"/>
              </a:rPr>
              <a:t>C</a:t>
            </a:r>
            <a:endParaRPr lang="en-US" altLang="x-none" sz="2000" b="1">
              <a:solidFill>
                <a:schemeClr val="folHlink"/>
              </a:solidFill>
            </a:endParaRPr>
          </a:p>
        </p:txBody>
      </p:sp>
      <p:sp>
        <p:nvSpPr>
          <p:cNvPr id="84" name="Rectangle 22"/>
          <p:cNvSpPr>
            <a:spLocks noChangeArrowheads="1"/>
          </p:cNvSpPr>
          <p:nvPr/>
        </p:nvSpPr>
        <p:spPr bwMode="auto">
          <a:xfrm rot="422102">
            <a:off x="7782516" y="3453744"/>
            <a:ext cx="288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900">
                <a:solidFill>
                  <a:srgbClr val="000000"/>
                </a:solidFill>
                <a:latin typeface="Times New Roman" charset="0"/>
              </a:rPr>
              <a:t> </a:t>
            </a:r>
            <a:endParaRPr lang="en-US" altLang="x-none"/>
          </a:p>
        </p:txBody>
      </p:sp>
      <p:sp>
        <p:nvSpPr>
          <p:cNvPr id="85" name="Line 23"/>
          <p:cNvSpPr>
            <a:spLocks noChangeShapeType="1"/>
          </p:cNvSpPr>
          <p:nvPr/>
        </p:nvSpPr>
        <p:spPr bwMode="auto">
          <a:xfrm flipV="1">
            <a:off x="7110349" y="2999911"/>
            <a:ext cx="1524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" name="AutoShape 26"/>
          <p:cNvSpPr>
            <a:spLocks noChangeAspect="1" noChangeArrowheads="1" noTextEdit="1"/>
          </p:cNvSpPr>
          <p:nvPr/>
        </p:nvSpPr>
        <p:spPr bwMode="auto">
          <a:xfrm rot="-1394921">
            <a:off x="8372412" y="1933112"/>
            <a:ext cx="179705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Rectangle 27"/>
          <p:cNvSpPr>
            <a:spLocks noChangeArrowheads="1"/>
          </p:cNvSpPr>
          <p:nvPr/>
        </p:nvSpPr>
        <p:spPr bwMode="auto">
          <a:xfrm rot="-1394921">
            <a:off x="8253349" y="2595100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88" name="Rectangle 28"/>
          <p:cNvSpPr>
            <a:spLocks noChangeArrowheads="1"/>
          </p:cNvSpPr>
          <p:nvPr/>
        </p:nvSpPr>
        <p:spPr bwMode="auto">
          <a:xfrm rot="-1394921">
            <a:off x="8480362" y="2506200"/>
            <a:ext cx="19050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89" name="Rectangle 29"/>
          <p:cNvSpPr>
            <a:spLocks noChangeArrowheads="1"/>
          </p:cNvSpPr>
          <p:nvPr/>
        </p:nvSpPr>
        <p:spPr bwMode="auto">
          <a:xfrm rot="-1394921">
            <a:off x="8523925" y="2638627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90" name="Rectangle 30"/>
          <p:cNvSpPr>
            <a:spLocks noChangeArrowheads="1"/>
          </p:cNvSpPr>
          <p:nvPr/>
        </p:nvSpPr>
        <p:spPr bwMode="auto">
          <a:xfrm rot="-1394921">
            <a:off x="8569963" y="2775946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91" name="Line 31"/>
          <p:cNvSpPr>
            <a:spLocks noChangeShapeType="1"/>
          </p:cNvSpPr>
          <p:nvPr/>
        </p:nvSpPr>
        <p:spPr bwMode="auto">
          <a:xfrm rot="20205079" flipV="1">
            <a:off x="8693088" y="2625262"/>
            <a:ext cx="287337" cy="930275"/>
          </a:xfrm>
          <a:prstGeom prst="line">
            <a:avLst/>
          </a:prstGeom>
          <a:noFill/>
          <a:ln w="28575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Line 32"/>
          <p:cNvSpPr>
            <a:spLocks noChangeShapeType="1"/>
          </p:cNvSpPr>
          <p:nvPr/>
        </p:nvSpPr>
        <p:spPr bwMode="auto">
          <a:xfrm rot="-1394921">
            <a:off x="8845488" y="3355512"/>
            <a:ext cx="1150937" cy="3175"/>
          </a:xfrm>
          <a:prstGeom prst="line">
            <a:avLst/>
          </a:prstGeom>
          <a:noFill/>
          <a:ln w="28575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Line 33"/>
          <p:cNvSpPr>
            <a:spLocks noChangeShapeType="1"/>
          </p:cNvSpPr>
          <p:nvPr/>
        </p:nvSpPr>
        <p:spPr bwMode="auto">
          <a:xfrm rot="-1394921">
            <a:off x="8937562" y="2407775"/>
            <a:ext cx="863600" cy="930275"/>
          </a:xfrm>
          <a:prstGeom prst="line">
            <a:avLst/>
          </a:prstGeom>
          <a:noFill/>
          <a:ln w="28575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Rectangle 34"/>
          <p:cNvSpPr>
            <a:spLocks noChangeArrowheads="1"/>
          </p:cNvSpPr>
          <p:nvPr/>
        </p:nvSpPr>
        <p:spPr bwMode="auto">
          <a:xfrm rot="-1394921">
            <a:off x="9905050" y="2962477"/>
            <a:ext cx="19236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6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95" name="Rectangle 35"/>
          <p:cNvSpPr>
            <a:spLocks noChangeArrowheads="1"/>
          </p:cNvSpPr>
          <p:nvPr/>
        </p:nvSpPr>
        <p:spPr bwMode="auto">
          <a:xfrm rot="-1394921">
            <a:off x="8635107" y="2312624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tx2"/>
                </a:solidFill>
                <a:latin typeface="Times New Roman" charset="0"/>
              </a:rPr>
              <a:t>E</a:t>
            </a:r>
            <a:endParaRPr lang="en-US" altLang="x-none" sz="2000" b="1">
              <a:solidFill>
                <a:schemeClr val="tx2"/>
              </a:solidFill>
            </a:endParaRPr>
          </a:p>
        </p:txBody>
      </p:sp>
      <p:sp>
        <p:nvSpPr>
          <p:cNvPr id="96" name="Rectangle 36"/>
          <p:cNvSpPr>
            <a:spLocks noChangeArrowheads="1"/>
          </p:cNvSpPr>
          <p:nvPr/>
        </p:nvSpPr>
        <p:spPr bwMode="auto">
          <a:xfrm rot="-1394921">
            <a:off x="8602494" y="3531030"/>
            <a:ext cx="1859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tx2"/>
                </a:solidFill>
                <a:latin typeface="Times New Roman" charset="0"/>
              </a:rPr>
              <a:t>D</a:t>
            </a:r>
            <a:endParaRPr lang="en-US" altLang="x-none" sz="2000" b="1">
              <a:solidFill>
                <a:schemeClr val="tx2"/>
              </a:solidFill>
            </a:endParaRPr>
          </a:p>
        </p:txBody>
      </p:sp>
      <p:sp>
        <p:nvSpPr>
          <p:cNvPr id="97" name="Rectangle 37"/>
          <p:cNvSpPr>
            <a:spLocks noChangeArrowheads="1"/>
          </p:cNvSpPr>
          <p:nvPr/>
        </p:nvSpPr>
        <p:spPr bwMode="auto">
          <a:xfrm rot="-1394921">
            <a:off x="8757241" y="3580744"/>
            <a:ext cx="2885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900">
                <a:solidFill>
                  <a:schemeClr val="tx2"/>
                </a:solidFill>
                <a:latin typeface="Times New Roman" charset="0"/>
              </a:rPr>
              <a:t> </a:t>
            </a:r>
            <a:endParaRPr lang="en-US" altLang="x-none">
              <a:solidFill>
                <a:schemeClr val="tx2"/>
              </a:solidFill>
            </a:endParaRPr>
          </a:p>
        </p:txBody>
      </p:sp>
      <p:sp>
        <p:nvSpPr>
          <p:cNvPr id="98" name="Rectangle 38"/>
          <p:cNvSpPr>
            <a:spLocks noChangeArrowheads="1"/>
          </p:cNvSpPr>
          <p:nvPr/>
        </p:nvSpPr>
        <p:spPr bwMode="auto">
          <a:xfrm rot="-1394921">
            <a:off x="10078975" y="2999911"/>
            <a:ext cx="155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x-none" sz="2000" b="1">
                <a:solidFill>
                  <a:schemeClr val="tx2"/>
                </a:solidFill>
                <a:latin typeface="Times New Roman" charset="0"/>
              </a:rPr>
              <a:t>F</a:t>
            </a:r>
            <a:endParaRPr lang="en-US" altLang="x-none" sz="2000" b="1">
              <a:solidFill>
                <a:schemeClr val="tx2"/>
              </a:solidFill>
            </a:endParaRPr>
          </a:p>
        </p:txBody>
      </p:sp>
      <p:sp>
        <p:nvSpPr>
          <p:cNvPr id="99" name="Line 39"/>
          <p:cNvSpPr>
            <a:spLocks noChangeShapeType="1"/>
          </p:cNvSpPr>
          <p:nvPr/>
        </p:nvSpPr>
        <p:spPr bwMode="auto">
          <a:xfrm flipV="1">
            <a:off x="9396349" y="2847511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Arc 42"/>
          <p:cNvSpPr>
            <a:spLocks/>
          </p:cNvSpPr>
          <p:nvPr/>
        </p:nvSpPr>
        <p:spPr bwMode="auto">
          <a:xfrm>
            <a:off x="6424549" y="3152311"/>
            <a:ext cx="1524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Line 43"/>
          <p:cNvSpPr>
            <a:spLocks noChangeShapeType="1"/>
          </p:cNvSpPr>
          <p:nvPr/>
        </p:nvSpPr>
        <p:spPr bwMode="auto">
          <a:xfrm flipH="1">
            <a:off x="6500749" y="3228511"/>
            <a:ext cx="1524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Arc 44"/>
          <p:cNvSpPr>
            <a:spLocks/>
          </p:cNvSpPr>
          <p:nvPr/>
        </p:nvSpPr>
        <p:spPr bwMode="auto">
          <a:xfrm>
            <a:off x="8862949" y="3304711"/>
            <a:ext cx="228600" cy="152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" name="Line 45"/>
          <p:cNvSpPr>
            <a:spLocks noChangeShapeType="1"/>
          </p:cNvSpPr>
          <p:nvPr/>
        </p:nvSpPr>
        <p:spPr bwMode="auto">
          <a:xfrm flipV="1">
            <a:off x="8939149" y="3304711"/>
            <a:ext cx="152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" name="AutoShape 46"/>
          <p:cNvSpPr>
            <a:spLocks noChangeArrowheads="1"/>
          </p:cNvSpPr>
          <p:nvPr/>
        </p:nvSpPr>
        <p:spPr bwMode="auto">
          <a:xfrm>
            <a:off x="8302932" y="5412802"/>
            <a:ext cx="3733800" cy="1600200"/>
          </a:xfrm>
          <a:prstGeom prst="cloudCallout">
            <a:avLst>
              <a:gd name="adj1" fmla="val -71088"/>
              <a:gd name="adj2" fmla="val -43255"/>
            </a:avLst>
          </a:prstGeom>
          <a:solidFill>
            <a:srgbClr val="E6FCE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x-none" sz="2800" b="1" dirty="0" smtClean="0"/>
              <a:t>Any equal, corresponding side</a:t>
            </a:r>
            <a:endParaRPr lang="en-US" altLang="x-none" sz="2800" b="1" dirty="0"/>
          </a:p>
        </p:txBody>
      </p:sp>
      <p:sp>
        <p:nvSpPr>
          <p:cNvPr id="105" name="Arc 47"/>
          <p:cNvSpPr>
            <a:spLocks/>
          </p:cNvSpPr>
          <p:nvPr/>
        </p:nvSpPr>
        <p:spPr bwMode="auto">
          <a:xfrm flipV="1">
            <a:off x="6576949" y="2664949"/>
            <a:ext cx="304800" cy="1063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0490"/>
              <a:gd name="T2" fmla="*/ 19686 w 21600"/>
              <a:gd name="T3" fmla="*/ 30490 h 30490"/>
              <a:gd name="T4" fmla="*/ 0 w 21600"/>
              <a:gd name="T5" fmla="*/ 21600 h 30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0490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665"/>
                  <a:pt x="20947" y="27696"/>
                  <a:pt x="19685" y="30489"/>
                </a:cubicBezTo>
              </a:path>
              <a:path w="21600" h="30490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665"/>
                  <a:pt x="20947" y="27696"/>
                  <a:pt x="19685" y="30489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" name="Line 49"/>
          <p:cNvSpPr>
            <a:spLocks noChangeShapeType="1"/>
          </p:cNvSpPr>
          <p:nvPr/>
        </p:nvSpPr>
        <p:spPr bwMode="auto">
          <a:xfrm>
            <a:off x="6729349" y="2695111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Line 50"/>
          <p:cNvSpPr>
            <a:spLocks noChangeShapeType="1"/>
          </p:cNvSpPr>
          <p:nvPr/>
        </p:nvSpPr>
        <p:spPr bwMode="auto">
          <a:xfrm>
            <a:off x="6805549" y="2695111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" name="Arc 51"/>
          <p:cNvSpPr>
            <a:spLocks/>
          </p:cNvSpPr>
          <p:nvPr/>
        </p:nvSpPr>
        <p:spPr bwMode="auto">
          <a:xfrm flipV="1">
            <a:off x="8786749" y="2771312"/>
            <a:ext cx="304800" cy="1063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0490"/>
              <a:gd name="T2" fmla="*/ 19686 w 21600"/>
              <a:gd name="T3" fmla="*/ 30490 h 30490"/>
              <a:gd name="T4" fmla="*/ 0 w 21600"/>
              <a:gd name="T5" fmla="*/ 21600 h 30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0490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665"/>
                  <a:pt x="20947" y="27696"/>
                  <a:pt x="19685" y="30489"/>
                </a:cubicBezTo>
              </a:path>
              <a:path w="21600" h="30490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665"/>
                  <a:pt x="20947" y="27696"/>
                  <a:pt x="19685" y="30489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" name="Line 52"/>
          <p:cNvSpPr>
            <a:spLocks noChangeShapeType="1"/>
          </p:cNvSpPr>
          <p:nvPr/>
        </p:nvSpPr>
        <p:spPr bwMode="auto">
          <a:xfrm>
            <a:off x="8939149" y="2801474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" name="Line 53"/>
          <p:cNvSpPr>
            <a:spLocks noChangeShapeType="1"/>
          </p:cNvSpPr>
          <p:nvPr/>
        </p:nvSpPr>
        <p:spPr bwMode="auto">
          <a:xfrm>
            <a:off x="9015349" y="2801474"/>
            <a:ext cx="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" name="Line 54"/>
          <p:cNvSpPr>
            <a:spLocks noChangeShapeType="1"/>
          </p:cNvSpPr>
          <p:nvPr/>
        </p:nvSpPr>
        <p:spPr bwMode="auto">
          <a:xfrm>
            <a:off x="6653149" y="5285911"/>
            <a:ext cx="533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56"/>
          <p:cNvSpPr>
            <a:spLocks noChangeShapeType="1"/>
          </p:cNvSpPr>
          <p:nvPr/>
        </p:nvSpPr>
        <p:spPr bwMode="auto">
          <a:xfrm>
            <a:off x="5433949" y="5362111"/>
            <a:ext cx="5334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749121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749121"/>
            <a:ext cx="29815" cy="448819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3652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Tests for 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83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test for congruency in triangles and how do they apply to quadrilaterals?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082" y="2133936"/>
            <a:ext cx="10058400" cy="371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7400" y="293341"/>
            <a:ext cx="11143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Label the congruency test you would use for each pair of triangles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150" y="1073150"/>
            <a:ext cx="4838700" cy="1536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0" y="3822700"/>
            <a:ext cx="3200400" cy="2311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846284"/>
            <a:ext cx="3962400" cy="2451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1073150"/>
            <a:ext cx="4038600" cy="2222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562" y="3003550"/>
            <a:ext cx="3225800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8000" y="116840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1.</a:t>
            </a:r>
            <a:endParaRPr lang="en-US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562600" y="107315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2.</a:t>
            </a:r>
            <a:endParaRPr 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55600" y="369570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3.</a:t>
            </a:r>
            <a:endParaRPr 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826000" y="361950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4.</a:t>
            </a:r>
            <a:endParaRPr 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318500" y="288290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5.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2059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</a:t>
            </a:r>
            <a:r>
              <a:rPr lang="en-US" smtClean="0"/>
              <a:t>understand?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56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219200" y="15240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/>
            <a:r>
              <a:rPr lang="en-US" altLang="x-none" sz="4400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Warning:</a:t>
            </a:r>
            <a:r>
              <a:rPr lang="en-US" altLang="x-none" sz="4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No SSA </a:t>
            </a:r>
            <a:r>
              <a:rPr lang="en-US" altLang="x-none" sz="4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Test</a:t>
            </a:r>
            <a:endParaRPr lang="en-US" altLang="x-none" sz="4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8196" name="AutoShape 4"/>
          <p:cNvSpPr>
            <a:spLocks noChangeArrowheads="1"/>
          </p:cNvSpPr>
          <p:nvPr/>
        </p:nvSpPr>
        <p:spPr bwMode="auto">
          <a:xfrm>
            <a:off x="4121150" y="4540250"/>
            <a:ext cx="1600200" cy="762000"/>
          </a:xfrm>
          <a:prstGeom prst="rtTriangle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3968750" y="5286376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A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5492751" y="530225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C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995738" y="4159251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B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6773863" y="5470526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D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6837364" y="4098926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E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8742364" y="4784726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F</a:t>
            </a:r>
          </a:p>
        </p:txBody>
      </p:sp>
      <p:sp>
        <p:nvSpPr>
          <p:cNvPr id="8206" name="Arc 14"/>
          <p:cNvSpPr>
            <a:spLocks/>
          </p:cNvSpPr>
          <p:nvPr/>
        </p:nvSpPr>
        <p:spPr bwMode="auto">
          <a:xfrm>
            <a:off x="4130675" y="5089525"/>
            <a:ext cx="3048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9" name="Line 17"/>
          <p:cNvSpPr>
            <a:spLocks noChangeShapeType="1"/>
          </p:cNvSpPr>
          <p:nvPr/>
        </p:nvSpPr>
        <p:spPr bwMode="auto">
          <a:xfrm rot="18976813">
            <a:off x="4206875" y="5165725"/>
            <a:ext cx="228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8220" name="Picture 28" descr="pe02854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81200"/>
            <a:ext cx="2743200" cy="193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22" name="AutoShape 30"/>
          <p:cNvSpPr>
            <a:spLocks noChangeArrowheads="1"/>
          </p:cNvSpPr>
          <p:nvPr/>
        </p:nvSpPr>
        <p:spPr bwMode="auto">
          <a:xfrm rot="5400000">
            <a:off x="7370763" y="4175125"/>
            <a:ext cx="914400" cy="1676400"/>
          </a:xfrm>
          <a:prstGeom prst="triangle">
            <a:avLst>
              <a:gd name="adj" fmla="val 50000"/>
            </a:avLst>
          </a:prstGeom>
          <a:noFill/>
          <a:ln w="28575">
            <a:solidFill>
              <a:srgbClr val="99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3" name="Line 31"/>
          <p:cNvSpPr>
            <a:spLocks noChangeShapeType="1"/>
          </p:cNvSpPr>
          <p:nvPr/>
        </p:nvSpPr>
        <p:spPr bwMode="auto">
          <a:xfrm>
            <a:off x="4054475" y="49371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24" name="Line 32"/>
          <p:cNvSpPr>
            <a:spLocks noChangeShapeType="1"/>
          </p:cNvSpPr>
          <p:nvPr/>
        </p:nvSpPr>
        <p:spPr bwMode="auto">
          <a:xfrm rot="-2969076">
            <a:off x="4702969" y="4861719"/>
            <a:ext cx="228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25" name="Line 33"/>
          <p:cNvSpPr>
            <a:spLocks noChangeShapeType="1"/>
          </p:cNvSpPr>
          <p:nvPr/>
        </p:nvSpPr>
        <p:spPr bwMode="auto">
          <a:xfrm rot="-2969076">
            <a:off x="4817269" y="4898231"/>
            <a:ext cx="228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26" name="Arc 34"/>
          <p:cNvSpPr>
            <a:spLocks/>
          </p:cNvSpPr>
          <p:nvPr/>
        </p:nvSpPr>
        <p:spPr bwMode="auto">
          <a:xfrm>
            <a:off x="6989763" y="5202238"/>
            <a:ext cx="3048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7" name="Line 35"/>
          <p:cNvSpPr>
            <a:spLocks noChangeShapeType="1"/>
          </p:cNvSpPr>
          <p:nvPr/>
        </p:nvSpPr>
        <p:spPr bwMode="auto">
          <a:xfrm rot="18976813">
            <a:off x="7065963" y="5278439"/>
            <a:ext cx="2286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28" name="Line 36"/>
          <p:cNvSpPr>
            <a:spLocks noChangeShapeType="1"/>
          </p:cNvSpPr>
          <p:nvPr/>
        </p:nvSpPr>
        <p:spPr bwMode="auto">
          <a:xfrm>
            <a:off x="6913563" y="504983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29" name="Line 37"/>
          <p:cNvSpPr>
            <a:spLocks noChangeShapeType="1"/>
          </p:cNvSpPr>
          <p:nvPr/>
        </p:nvSpPr>
        <p:spPr bwMode="auto">
          <a:xfrm rot="-2969076">
            <a:off x="7562057" y="4709320"/>
            <a:ext cx="2286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30" name="Line 38"/>
          <p:cNvSpPr>
            <a:spLocks noChangeShapeType="1"/>
          </p:cNvSpPr>
          <p:nvPr/>
        </p:nvSpPr>
        <p:spPr bwMode="auto">
          <a:xfrm rot="-2969076">
            <a:off x="7676357" y="4745832"/>
            <a:ext cx="2286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31" name="Text Box 39"/>
          <p:cNvSpPr txBox="1">
            <a:spLocks noChangeArrowheads="1"/>
          </p:cNvSpPr>
          <p:nvPr/>
        </p:nvSpPr>
        <p:spPr bwMode="auto">
          <a:xfrm>
            <a:off x="4800600" y="6019800"/>
            <a:ext cx="31242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x-none" sz="2400" b="1">
                <a:latin typeface="Times New Roman" charset="0"/>
              </a:rPr>
              <a:t>NOT CONGRUENT</a:t>
            </a:r>
          </a:p>
        </p:txBody>
      </p:sp>
      <p:sp>
        <p:nvSpPr>
          <p:cNvPr id="8221" name="AutoShape 29"/>
          <p:cNvSpPr>
            <a:spLocks noChangeArrowheads="1"/>
          </p:cNvSpPr>
          <p:nvPr/>
        </p:nvSpPr>
        <p:spPr bwMode="auto">
          <a:xfrm>
            <a:off x="4267200" y="1371600"/>
            <a:ext cx="3962400" cy="2057400"/>
          </a:xfrm>
          <a:prstGeom prst="wedgeEllipseCallout">
            <a:avLst>
              <a:gd name="adj1" fmla="val -66708"/>
              <a:gd name="adj2" fmla="val 23301"/>
            </a:avLst>
          </a:prstGeom>
          <a:solidFill>
            <a:srgbClr val="E6FCF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en-US" altLang="x-none" sz="2800" b="1" dirty="0">
                <a:latin typeface="Times New Roman" charset="0"/>
              </a:rPr>
              <a:t>There is no such thing as an SSA </a:t>
            </a:r>
            <a:r>
              <a:rPr lang="en-US" altLang="x-none" sz="2800" b="1" dirty="0" smtClean="0">
                <a:latin typeface="Times New Roman" charset="0"/>
              </a:rPr>
              <a:t>test! </a:t>
            </a:r>
            <a:endParaRPr lang="en-US" altLang="x-none" sz="2800" b="1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58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524000" y="15240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/>
            <a:r>
              <a:rPr lang="en-US" altLang="x-none" sz="4400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Warning:</a:t>
            </a:r>
            <a:r>
              <a:rPr lang="en-US" altLang="x-none" sz="4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No AAA </a:t>
            </a:r>
            <a:r>
              <a:rPr lang="en-US" altLang="x-none" sz="4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Test</a:t>
            </a:r>
            <a:endParaRPr lang="en-US" altLang="x-none" sz="4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9220" name="AutoShape 4"/>
          <p:cNvSpPr>
            <a:spLocks noChangeArrowheads="1"/>
          </p:cNvSpPr>
          <p:nvPr/>
        </p:nvSpPr>
        <p:spPr bwMode="auto">
          <a:xfrm>
            <a:off x="3760788" y="4616450"/>
            <a:ext cx="1600200" cy="762000"/>
          </a:xfrm>
          <a:prstGeom prst="rtTriangl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3608388" y="5362576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A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5132388" y="5378451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C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635376" y="4235451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B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6400800" y="5546726"/>
            <a:ext cx="368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D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6365876" y="4098926"/>
            <a:ext cx="339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E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9144000" y="5378451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x-none" sz="2000">
                <a:latin typeface="Times New Roman" charset="0"/>
              </a:rPr>
              <a:t>F</a:t>
            </a:r>
          </a:p>
        </p:txBody>
      </p:sp>
      <p:sp>
        <p:nvSpPr>
          <p:cNvPr id="9227" name="Arc 11"/>
          <p:cNvSpPr>
            <a:spLocks/>
          </p:cNvSpPr>
          <p:nvPr/>
        </p:nvSpPr>
        <p:spPr bwMode="auto">
          <a:xfrm>
            <a:off x="3770313" y="5165725"/>
            <a:ext cx="3048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 rot="18976813">
            <a:off x="3846513" y="5241925"/>
            <a:ext cx="228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9229" name="Picture 13" descr="pe02854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81200"/>
            <a:ext cx="2743200" cy="193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0" name="AutoShape 14"/>
          <p:cNvSpPr>
            <a:spLocks noChangeArrowheads="1"/>
          </p:cNvSpPr>
          <p:nvPr/>
        </p:nvSpPr>
        <p:spPr bwMode="auto">
          <a:xfrm>
            <a:off x="4572000" y="1295400"/>
            <a:ext cx="3962400" cy="2057400"/>
          </a:xfrm>
          <a:prstGeom prst="wedgeEllipseCallout">
            <a:avLst>
              <a:gd name="adj1" fmla="val -66708"/>
              <a:gd name="adj2" fmla="val 23301"/>
            </a:avLst>
          </a:prstGeom>
          <a:solidFill>
            <a:srgbClr val="F7DDF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en-US" altLang="x-none" sz="2800" b="1" dirty="0">
                <a:latin typeface="Times New Roman" charset="0"/>
              </a:rPr>
              <a:t>There is no such thing as an AAA </a:t>
            </a:r>
            <a:r>
              <a:rPr lang="en-US" altLang="x-none" sz="2800" b="1" dirty="0" smtClean="0">
                <a:latin typeface="Times New Roman" charset="0"/>
              </a:rPr>
              <a:t>test! </a:t>
            </a:r>
            <a:endParaRPr lang="en-US" altLang="x-none" sz="2800" b="1" dirty="0">
              <a:latin typeface="Times New Roman" charset="0"/>
            </a:endParaRPr>
          </a:p>
        </p:txBody>
      </p:sp>
      <p:sp>
        <p:nvSpPr>
          <p:cNvPr id="9240" name="Arc 24"/>
          <p:cNvSpPr>
            <a:spLocks/>
          </p:cNvSpPr>
          <p:nvPr/>
        </p:nvSpPr>
        <p:spPr bwMode="auto">
          <a:xfrm flipH="1">
            <a:off x="4724400" y="5089525"/>
            <a:ext cx="76200" cy="304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1" name="Line 25"/>
          <p:cNvSpPr>
            <a:spLocks noChangeShapeType="1"/>
          </p:cNvSpPr>
          <p:nvPr/>
        </p:nvSpPr>
        <p:spPr bwMode="auto">
          <a:xfrm rot="22753795">
            <a:off x="4648200" y="53181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42" name="Line 26"/>
          <p:cNvSpPr>
            <a:spLocks noChangeShapeType="1"/>
          </p:cNvSpPr>
          <p:nvPr/>
        </p:nvSpPr>
        <p:spPr bwMode="auto">
          <a:xfrm rot="22753795">
            <a:off x="4648200" y="52419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50" name="Line 34"/>
          <p:cNvSpPr>
            <a:spLocks noChangeShapeType="1"/>
          </p:cNvSpPr>
          <p:nvPr/>
        </p:nvSpPr>
        <p:spPr bwMode="auto">
          <a:xfrm rot="22753795">
            <a:off x="4648200" y="51657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52" name="Line 36"/>
          <p:cNvSpPr>
            <a:spLocks noChangeShapeType="1"/>
          </p:cNvSpPr>
          <p:nvPr/>
        </p:nvSpPr>
        <p:spPr bwMode="auto">
          <a:xfrm rot="22753795">
            <a:off x="3886200" y="47847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53" name="Line 37"/>
          <p:cNvSpPr>
            <a:spLocks noChangeShapeType="1"/>
          </p:cNvSpPr>
          <p:nvPr/>
        </p:nvSpPr>
        <p:spPr bwMode="auto">
          <a:xfrm rot="22753795">
            <a:off x="3810000" y="48609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54" name="Arc 38"/>
          <p:cNvSpPr>
            <a:spLocks/>
          </p:cNvSpPr>
          <p:nvPr/>
        </p:nvSpPr>
        <p:spPr bwMode="auto">
          <a:xfrm flipV="1">
            <a:off x="3733800" y="4784725"/>
            <a:ext cx="304800" cy="76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 eaLnBrk="1" hangingPunct="1"/>
            <a:endParaRPr lang="en-GB" altLang="x-none" sz="2400">
              <a:latin typeface="Times New Roman" charset="0"/>
            </a:endParaRPr>
          </a:p>
        </p:txBody>
      </p:sp>
      <p:sp>
        <p:nvSpPr>
          <p:cNvPr id="9255" name="AutoShape 39"/>
          <p:cNvSpPr>
            <a:spLocks noChangeArrowheads="1"/>
          </p:cNvSpPr>
          <p:nvPr/>
        </p:nvSpPr>
        <p:spPr bwMode="auto">
          <a:xfrm>
            <a:off x="6629400" y="4479925"/>
            <a:ext cx="2514600" cy="990600"/>
          </a:xfrm>
          <a:prstGeom prst="rtTriangl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6" name="Arc 40"/>
          <p:cNvSpPr>
            <a:spLocks/>
          </p:cNvSpPr>
          <p:nvPr/>
        </p:nvSpPr>
        <p:spPr bwMode="auto">
          <a:xfrm>
            <a:off x="6629400" y="5241925"/>
            <a:ext cx="3048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7" name="Line 41"/>
          <p:cNvSpPr>
            <a:spLocks noChangeShapeType="1"/>
          </p:cNvSpPr>
          <p:nvPr/>
        </p:nvSpPr>
        <p:spPr bwMode="auto">
          <a:xfrm rot="18976813">
            <a:off x="6705600" y="5241925"/>
            <a:ext cx="228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58" name="Line 42"/>
          <p:cNvSpPr>
            <a:spLocks noChangeShapeType="1"/>
          </p:cNvSpPr>
          <p:nvPr/>
        </p:nvSpPr>
        <p:spPr bwMode="auto">
          <a:xfrm rot="22753795">
            <a:off x="8305800" y="53943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59" name="Line 43"/>
          <p:cNvSpPr>
            <a:spLocks noChangeShapeType="1"/>
          </p:cNvSpPr>
          <p:nvPr/>
        </p:nvSpPr>
        <p:spPr bwMode="auto">
          <a:xfrm rot="22753795">
            <a:off x="8305800" y="53181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60" name="Line 44"/>
          <p:cNvSpPr>
            <a:spLocks noChangeShapeType="1"/>
          </p:cNvSpPr>
          <p:nvPr/>
        </p:nvSpPr>
        <p:spPr bwMode="auto">
          <a:xfrm rot="22753795">
            <a:off x="8305800" y="52419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64" name="Arc 48"/>
          <p:cNvSpPr>
            <a:spLocks/>
          </p:cNvSpPr>
          <p:nvPr/>
        </p:nvSpPr>
        <p:spPr bwMode="auto">
          <a:xfrm flipV="1">
            <a:off x="6629400" y="4632325"/>
            <a:ext cx="304800" cy="152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5" name="Line 49"/>
          <p:cNvSpPr>
            <a:spLocks noChangeShapeType="1"/>
          </p:cNvSpPr>
          <p:nvPr/>
        </p:nvSpPr>
        <p:spPr bwMode="auto">
          <a:xfrm rot="22753795">
            <a:off x="6781800" y="47085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66" name="Line 50"/>
          <p:cNvSpPr>
            <a:spLocks noChangeShapeType="1"/>
          </p:cNvSpPr>
          <p:nvPr/>
        </p:nvSpPr>
        <p:spPr bwMode="auto">
          <a:xfrm rot="22753795">
            <a:off x="6705600" y="47847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9267" name="Arc 51"/>
          <p:cNvSpPr>
            <a:spLocks/>
          </p:cNvSpPr>
          <p:nvPr/>
        </p:nvSpPr>
        <p:spPr bwMode="auto">
          <a:xfrm flipH="1">
            <a:off x="8382000" y="5241925"/>
            <a:ext cx="1524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9" name="Text Box 53"/>
          <p:cNvSpPr txBox="1">
            <a:spLocks noChangeArrowheads="1"/>
          </p:cNvSpPr>
          <p:nvPr/>
        </p:nvSpPr>
        <p:spPr bwMode="auto">
          <a:xfrm>
            <a:off x="4800600" y="6019800"/>
            <a:ext cx="31242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x-none" sz="2400" b="1">
                <a:latin typeface="Times New Roman" charset="0"/>
              </a:rPr>
              <a:t>NOT CONGRUENT</a:t>
            </a:r>
          </a:p>
        </p:txBody>
      </p:sp>
    </p:spTree>
    <p:extLst>
      <p:ext uri="{BB962C8B-B14F-4D97-AF65-F5344CB8AC3E}">
        <p14:creationId xmlns:p14="http://schemas.microsoft.com/office/powerpoint/2010/main" val="191879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749121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749121"/>
            <a:ext cx="29815" cy="448819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3652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Tests for Congruency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8351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test for congruency in triangles and how do they apply to quadrilaterals?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159165" y="2268148"/>
            <a:ext cx="3275175" cy="1187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/>
            <a:r>
              <a:rPr lang="en-US" altLang="x-none" sz="4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The Congruence </a:t>
            </a:r>
            <a:r>
              <a:rPr lang="en-US" altLang="x-none" sz="4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Tests</a:t>
            </a:r>
            <a:endParaRPr lang="en-US" altLang="x-none" sz="4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grpSp>
        <p:nvGrpSpPr>
          <p:cNvPr id="16" name="Group 12"/>
          <p:cNvGrpSpPr>
            <a:grpSpLocks/>
          </p:cNvGrpSpPr>
          <p:nvPr/>
        </p:nvGrpSpPr>
        <p:grpSpPr bwMode="auto">
          <a:xfrm>
            <a:off x="5159665" y="1723012"/>
            <a:ext cx="4267200" cy="4648200"/>
            <a:chOff x="1680" y="1056"/>
            <a:chExt cx="2688" cy="2928"/>
          </a:xfrm>
        </p:grpSpPr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680" y="1056"/>
              <a:ext cx="2688" cy="25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60000"/>
                </a:spcBef>
                <a:buClr>
                  <a:schemeClr val="accent2"/>
                </a:buClr>
                <a:buSzPct val="80000"/>
                <a:buFont typeface="Wingdings" charset="2"/>
                <a:buChar char="F"/>
              </a:pPr>
              <a:r>
                <a:rPr lang="en-US" altLang="x-none" sz="3200" dirty="0">
                  <a:solidFill>
                    <a:srgbClr val="0000FF"/>
                  </a:solidFill>
                  <a:latin typeface="Franklin Gothic Medium" charset="0"/>
                </a:rPr>
                <a:t>SSS correspondence</a:t>
              </a:r>
            </a:p>
            <a:p>
              <a:pPr eaLnBrk="1" hangingPunct="1">
                <a:spcBef>
                  <a:spcPct val="60000"/>
                </a:spcBef>
                <a:buClr>
                  <a:schemeClr val="accent2"/>
                </a:buClr>
                <a:buSzPct val="80000"/>
                <a:buFont typeface="Wingdings" charset="2"/>
                <a:buChar char="F"/>
              </a:pPr>
              <a:r>
                <a:rPr lang="en-US" altLang="x-none" sz="3200" dirty="0" smtClean="0">
                  <a:solidFill>
                    <a:srgbClr val="0000FF"/>
                  </a:solidFill>
                  <a:latin typeface="Franklin Gothic Medium" charset="0"/>
                </a:rPr>
                <a:t>SAS correspondence</a:t>
              </a:r>
            </a:p>
            <a:p>
              <a:pPr eaLnBrk="1" hangingPunct="1">
                <a:spcBef>
                  <a:spcPct val="60000"/>
                </a:spcBef>
                <a:buClr>
                  <a:schemeClr val="accent2"/>
                </a:buClr>
                <a:buSzPct val="80000"/>
                <a:buFont typeface="Wingdings" charset="2"/>
                <a:buChar char="F"/>
              </a:pPr>
              <a:r>
                <a:rPr lang="en-US" altLang="x-none" sz="3200" dirty="0" smtClean="0">
                  <a:solidFill>
                    <a:srgbClr val="0000FF"/>
                  </a:solidFill>
                  <a:latin typeface="Franklin Gothic Medium" charset="0"/>
                </a:rPr>
                <a:t>AAS </a:t>
              </a:r>
              <a:r>
                <a:rPr lang="en-US" altLang="x-none" sz="3200" dirty="0">
                  <a:solidFill>
                    <a:srgbClr val="0000FF"/>
                  </a:solidFill>
                  <a:latin typeface="Franklin Gothic Medium" charset="0"/>
                </a:rPr>
                <a:t>correspondence</a:t>
              </a:r>
            </a:p>
            <a:p>
              <a:pPr eaLnBrk="1" hangingPunct="1">
                <a:spcBef>
                  <a:spcPct val="60000"/>
                </a:spcBef>
                <a:buClr>
                  <a:schemeClr val="accent2"/>
                </a:buClr>
                <a:buSzPct val="80000"/>
                <a:buFont typeface="Wingdings" charset="2"/>
                <a:buChar char="F"/>
              </a:pPr>
              <a:r>
                <a:rPr lang="en-US" altLang="x-none" sz="3200" dirty="0" smtClean="0">
                  <a:solidFill>
                    <a:srgbClr val="0000FF"/>
                  </a:solidFill>
                  <a:latin typeface="Franklin Gothic Medium" charset="0"/>
                </a:rPr>
                <a:t>RHS </a:t>
              </a:r>
              <a:r>
                <a:rPr lang="en-US" altLang="x-none" sz="3200" dirty="0">
                  <a:solidFill>
                    <a:srgbClr val="0000FF"/>
                  </a:solidFill>
                  <a:latin typeface="Franklin Gothic Medium" charset="0"/>
                </a:rPr>
                <a:t>correspondence</a:t>
              </a:r>
            </a:p>
            <a:p>
              <a:pPr eaLnBrk="1" hangingPunct="1">
                <a:spcBef>
                  <a:spcPct val="60000"/>
                </a:spcBef>
                <a:buClr>
                  <a:schemeClr val="accent2"/>
                </a:buClr>
                <a:buSzPct val="80000"/>
                <a:buFont typeface="Wingdings" charset="2"/>
                <a:buChar char="F"/>
              </a:pPr>
              <a:r>
                <a:rPr lang="en-US" altLang="x-none" sz="3200" dirty="0">
                  <a:solidFill>
                    <a:schemeClr val="hlink"/>
                  </a:solidFill>
                  <a:latin typeface="Franklin Gothic Medium" charset="0"/>
                </a:rPr>
                <a:t>SSA correspondence</a:t>
              </a:r>
            </a:p>
            <a:p>
              <a:pPr eaLnBrk="1" hangingPunct="1">
                <a:spcBef>
                  <a:spcPct val="60000"/>
                </a:spcBef>
                <a:buClr>
                  <a:schemeClr val="accent2"/>
                </a:buClr>
                <a:buSzPct val="80000"/>
                <a:buFont typeface="Wingdings" charset="2"/>
                <a:buChar char="F"/>
              </a:pPr>
              <a:r>
                <a:rPr lang="en-US" altLang="x-none" sz="3200" dirty="0">
                  <a:solidFill>
                    <a:schemeClr val="hlink"/>
                  </a:solidFill>
                  <a:latin typeface="Franklin Gothic Medium" charset="0"/>
                </a:rPr>
                <a:t>AAA correspondence</a:t>
              </a:r>
            </a:p>
            <a:p>
              <a:pPr eaLnBrk="1" hangingPunct="1">
                <a:spcBef>
                  <a:spcPct val="60000"/>
                </a:spcBef>
                <a:buClr>
                  <a:schemeClr val="accent2"/>
                </a:buClr>
                <a:buSzPct val="80000"/>
                <a:buFont typeface="Wingdings" charset="2"/>
                <a:buNone/>
              </a:pPr>
              <a:endParaRPr lang="en-US" altLang="x-none" sz="3200" dirty="0">
                <a:solidFill>
                  <a:schemeClr val="hlink"/>
                </a:solidFill>
                <a:latin typeface="Franklin Gothic Medium" charset="0"/>
              </a:endParaRPr>
            </a:p>
          </p:txBody>
        </p:sp>
        <p:grpSp>
          <p:nvGrpSpPr>
            <p:cNvPr id="18" name="Group 11"/>
            <p:cNvGrpSpPr>
              <a:grpSpLocks/>
            </p:cNvGrpSpPr>
            <p:nvPr/>
          </p:nvGrpSpPr>
          <p:grpSpPr bwMode="auto">
            <a:xfrm>
              <a:off x="1920" y="3072"/>
              <a:ext cx="2112" cy="432"/>
              <a:chOff x="1920" y="2784"/>
              <a:chExt cx="2112" cy="432"/>
            </a:xfrm>
          </p:grpSpPr>
          <p:sp>
            <p:nvSpPr>
              <p:cNvPr id="22" name="Line 4"/>
              <p:cNvSpPr>
                <a:spLocks noChangeShapeType="1"/>
              </p:cNvSpPr>
              <p:nvPr/>
            </p:nvSpPr>
            <p:spPr bwMode="auto">
              <a:xfrm flipH="1">
                <a:off x="1968" y="2784"/>
                <a:ext cx="206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" name="Line 5"/>
              <p:cNvSpPr>
                <a:spLocks noChangeShapeType="1"/>
              </p:cNvSpPr>
              <p:nvPr/>
            </p:nvSpPr>
            <p:spPr bwMode="auto">
              <a:xfrm rot="16207177" flipH="1">
                <a:off x="2784" y="1920"/>
                <a:ext cx="383" cy="21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9" name="Group 10"/>
            <p:cNvGrpSpPr>
              <a:grpSpLocks/>
            </p:cNvGrpSpPr>
            <p:nvPr/>
          </p:nvGrpSpPr>
          <p:grpSpPr bwMode="auto">
            <a:xfrm>
              <a:off x="2016" y="3552"/>
              <a:ext cx="2112" cy="432"/>
              <a:chOff x="2016" y="3264"/>
              <a:chExt cx="2112" cy="432"/>
            </a:xfrm>
          </p:grpSpPr>
          <p:sp>
            <p:nvSpPr>
              <p:cNvPr id="20" name="Line 8"/>
              <p:cNvSpPr>
                <a:spLocks noChangeShapeType="1"/>
              </p:cNvSpPr>
              <p:nvPr/>
            </p:nvSpPr>
            <p:spPr bwMode="auto">
              <a:xfrm flipH="1">
                <a:off x="2064" y="3264"/>
                <a:ext cx="206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1" name="Line 9"/>
              <p:cNvSpPr>
                <a:spLocks noChangeShapeType="1"/>
              </p:cNvSpPr>
              <p:nvPr/>
            </p:nvSpPr>
            <p:spPr bwMode="auto">
              <a:xfrm rot="16207177" flipH="1">
                <a:off x="2880" y="2400"/>
                <a:ext cx="383" cy="21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060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201198"/>
            <a:ext cx="8064500" cy="61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9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152400"/>
            <a:ext cx="10198100" cy="615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3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538</Words>
  <Application>Microsoft Macintosh PowerPoint</Application>
  <PresentationFormat>Widescreen</PresentationFormat>
  <Paragraphs>200</Paragraphs>
  <Slides>16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Calibri</vt:lpstr>
      <vt:lpstr>Calibri Light</vt:lpstr>
      <vt:lpstr>Arial</vt:lpstr>
      <vt:lpstr>Comic Sans MS</vt:lpstr>
      <vt:lpstr>Franklin Gothic Medium</vt:lpstr>
      <vt:lpstr>Symbol</vt:lpstr>
      <vt:lpstr>Times New Roman</vt:lpstr>
      <vt:lpstr>Wingdings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SUMMERS Brad [Baldivis Secondary College]</dc:creator>
  <cp:lastModifiedBy>SUMMERS Brad [Baldivis Secondary College]</cp:lastModifiedBy>
  <cp:revision>15</cp:revision>
  <dcterms:created xsi:type="dcterms:W3CDTF">2017-05-21T07:55:45Z</dcterms:created>
  <dcterms:modified xsi:type="dcterms:W3CDTF">2017-05-21T09:34:22Z</dcterms:modified>
</cp:coreProperties>
</file>
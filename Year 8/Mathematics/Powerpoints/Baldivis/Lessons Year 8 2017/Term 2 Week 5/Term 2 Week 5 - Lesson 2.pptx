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86" r:id="rId5"/>
    <p:sldId id="285" r:id="rId6"/>
    <p:sldId id="283" r:id="rId7"/>
    <p:sldId id="267" r:id="rId8"/>
    <p:sldId id="277" r:id="rId9"/>
    <p:sldId id="278" r:id="rId10"/>
    <p:sldId id="279" r:id="rId11"/>
    <p:sldId id="280" r:id="rId12"/>
    <p:sldId id="281" r:id="rId13"/>
    <p:sldId id="2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94"/>
    <p:restoredTop sz="94674"/>
  </p:normalViewPr>
  <p:slideViewPr>
    <p:cSldViewPr snapToGrid="0" snapToObjects="1">
      <p:cViewPr varScale="1">
        <p:scale>
          <a:sx n="101" d="100"/>
          <a:sy n="101" d="100"/>
        </p:scale>
        <p:origin x="216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111E1-29CC-344E-9E8C-F9B3DBAA477B}" type="datetimeFigureOut">
              <a:rPr lang="en-US" smtClean="0"/>
              <a:t>5/21/17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171FE-7757-B84C-A420-5E16CC159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785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FCB066-47CD-934B-B260-8177D10DE2CC}" type="slidenum">
              <a:rPr lang="en-GB" altLang="x-none"/>
              <a:pPr/>
              <a:t>5</a:t>
            </a:fld>
            <a:endParaRPr lang="en-GB" altLang="x-none"/>
          </a:p>
        </p:txBody>
      </p:sp>
      <p:sp>
        <p:nvSpPr>
          <p:cNvPr id="6553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41300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8509AE-CA4F-5149-8EC8-0C7EB2B97274}" type="slidenum">
              <a:rPr lang="en-GB" altLang="x-none"/>
              <a:pPr/>
              <a:t>6</a:t>
            </a:fld>
            <a:endParaRPr lang="en-GB" altLang="x-none"/>
          </a:p>
        </p:txBody>
      </p:sp>
      <p:sp>
        <p:nvSpPr>
          <p:cNvPr id="634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255869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6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82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5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0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1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75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2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362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91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22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721A4-7D69-EE41-9F44-0774F418B9E4}" type="datetimeFigureOut">
              <a:rPr lang="en-US" smtClean="0"/>
              <a:t>5/21/17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ED4B7-7CC3-5848-B2EB-9DC9905217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40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643" y="1047885"/>
            <a:ext cx="8080514" cy="53839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8818" y="119269"/>
            <a:ext cx="40406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 smtClean="0"/>
              <a:t>From last lesson: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0548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539" y="1519280"/>
            <a:ext cx="4838700" cy="207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0978" y="327990"/>
            <a:ext cx="1139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Now look at the following 2 figures. Are they congruent? Why or Why not? What measurements could you make to check?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765313" y="3826564"/>
            <a:ext cx="104261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Think-Pair-Share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Spend 2 minutes writing down all the reasons you think these two shapes are/are not congruent. Be as specific as possible, using mathematical language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Find a partner and compare your reasons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 smtClean="0"/>
              <a:t>Share with the class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6313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1809141" y="1742297"/>
            <a:ext cx="7581280" cy="850186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4000" dirty="0"/>
              <a:t>What makes a pair of shapes “</a:t>
            </a:r>
            <a:r>
              <a:rPr lang="en-GB" sz="4000" dirty="0">
                <a:solidFill>
                  <a:schemeClr val="tx2"/>
                </a:solidFill>
              </a:rPr>
              <a:t>congruent</a:t>
            </a:r>
            <a:r>
              <a:rPr lang="en-GB" sz="4000" dirty="0"/>
              <a:t>”?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2242900" y="2440273"/>
            <a:ext cx="7147521" cy="36535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Blip>
                <a:blip r:embed="rId2"/>
              </a:buBlip>
              <a:defRPr/>
            </a:pPr>
            <a:r>
              <a:rPr lang="en-GB" dirty="0"/>
              <a:t>Same </a:t>
            </a:r>
            <a:r>
              <a:rPr lang="en-GB" dirty="0" smtClean="0"/>
              <a:t>size </a:t>
            </a:r>
            <a:r>
              <a:rPr lang="en-GB" smtClean="0"/>
              <a:t>and shape</a:t>
            </a:r>
            <a:endParaRPr lang="en-GB" dirty="0"/>
          </a:p>
          <a:p>
            <a:pPr>
              <a:buBlip>
                <a:blip r:embed="rId2"/>
              </a:buBlip>
              <a:defRPr/>
            </a:pPr>
            <a:r>
              <a:rPr lang="en-GB" dirty="0" smtClean="0"/>
              <a:t>The image of a figure that is reflected, rotated or translated is congruent to the original figure</a:t>
            </a:r>
          </a:p>
          <a:p>
            <a:pPr>
              <a:buBlip>
                <a:blip r:embed="rId2"/>
              </a:buBlip>
              <a:defRPr/>
            </a:pPr>
            <a:r>
              <a:rPr lang="en-GB" dirty="0" smtClean="0"/>
              <a:t>Corresponding (matching) parts of a figure have the same geometric properties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83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7" name="AutoShape 5"/>
          <p:cNvSpPr>
            <a:spLocks noChangeArrowheads="1"/>
          </p:cNvSpPr>
          <p:nvPr/>
        </p:nvSpPr>
        <p:spPr bwMode="auto">
          <a:xfrm>
            <a:off x="5181600" y="3429000"/>
            <a:ext cx="1828800" cy="1676400"/>
          </a:xfrm>
          <a:prstGeom prst="rightArrow">
            <a:avLst>
              <a:gd name="adj1" fmla="val 50000"/>
              <a:gd name="adj2" fmla="val 272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7239000" y="3962401"/>
            <a:ext cx="259080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x-none" sz="28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ABC </a:t>
            </a:r>
            <a:r>
              <a:rPr lang="en-US" altLang="x-none" sz="28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2800" b="1">
                <a:solidFill>
                  <a:schemeClr val="hlink"/>
                </a:solidFill>
                <a:latin typeface="Comic Sans MS" charset="0"/>
                <a:sym typeface="Symbol" charset="2"/>
              </a:rPr>
              <a:t></a:t>
            </a:r>
            <a:r>
              <a:rPr lang="en-US" altLang="x-none" sz="2800">
                <a:solidFill>
                  <a:schemeClr val="hlink"/>
                </a:solidFill>
                <a:latin typeface="Comic Sans MS" charset="0"/>
                <a:sym typeface="Symbol" charset="2"/>
              </a:rPr>
              <a:t> </a:t>
            </a:r>
            <a:r>
              <a:rPr lang="en-US" altLang="x-none" sz="2800" b="1">
                <a:solidFill>
                  <a:schemeClr val="hlink"/>
                </a:solidFill>
                <a:latin typeface="Comic Sans MS" charset="0"/>
                <a:sym typeface="Symbol" charset="2"/>
              </a:rPr>
              <a:t>DEF</a:t>
            </a:r>
          </a:p>
          <a:p>
            <a:pPr>
              <a:spcBef>
                <a:spcPct val="50000"/>
              </a:spcBef>
            </a:pPr>
            <a:endParaRPr lang="en-US" altLang="x-none" sz="2800" b="1">
              <a:solidFill>
                <a:schemeClr val="hlink"/>
              </a:solidFill>
              <a:latin typeface="Comic Sans MS" charset="0"/>
              <a:sym typeface="Symbol" charset="2"/>
            </a:endParaRPr>
          </a:p>
        </p:txBody>
      </p:sp>
      <p:grpSp>
        <p:nvGrpSpPr>
          <p:cNvPr id="20" name="Group 26"/>
          <p:cNvGrpSpPr>
            <a:grpSpLocks/>
          </p:cNvGrpSpPr>
          <p:nvPr/>
        </p:nvGrpSpPr>
        <p:grpSpPr bwMode="auto">
          <a:xfrm rot="422102">
            <a:off x="7848600" y="2667001"/>
            <a:ext cx="1449388" cy="1014413"/>
            <a:chOff x="3983" y="1857"/>
            <a:chExt cx="913" cy="639"/>
          </a:xfrm>
        </p:grpSpPr>
        <p:sp>
          <p:nvSpPr>
            <p:cNvPr id="21" name="AutoShape 8"/>
            <p:cNvSpPr>
              <a:spLocks noChangeAspect="1" noChangeArrowheads="1" noTextEdit="1"/>
            </p:cNvSpPr>
            <p:nvPr/>
          </p:nvSpPr>
          <p:spPr bwMode="auto">
            <a:xfrm>
              <a:off x="3984" y="1857"/>
              <a:ext cx="912" cy="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0"/>
            <p:cNvSpPr>
              <a:spLocks noChangeArrowheads="1"/>
            </p:cNvSpPr>
            <p:nvPr/>
          </p:nvSpPr>
          <p:spPr bwMode="auto">
            <a:xfrm>
              <a:off x="3984" y="1920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  <p:sp>
          <p:nvSpPr>
            <p:cNvPr id="23" name="Rectangle 11"/>
            <p:cNvSpPr>
              <a:spLocks noChangeArrowheads="1"/>
            </p:cNvSpPr>
            <p:nvPr/>
          </p:nvSpPr>
          <p:spPr bwMode="auto">
            <a:xfrm>
              <a:off x="4103" y="1935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  <p:sp>
          <p:nvSpPr>
            <p:cNvPr id="24" name="Rectangle 12"/>
            <p:cNvSpPr>
              <a:spLocks noChangeArrowheads="1"/>
            </p:cNvSpPr>
            <p:nvPr/>
          </p:nvSpPr>
          <p:spPr bwMode="auto">
            <a:xfrm>
              <a:off x="4103" y="1990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4103" y="2049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folHlink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folHlink"/>
                </a:solidFill>
              </a:endParaRPr>
            </a:p>
          </p:txBody>
        </p:sp>
        <p:grpSp>
          <p:nvGrpSpPr>
            <p:cNvPr id="26" name="Group 17"/>
            <p:cNvGrpSpPr>
              <a:grpSpLocks/>
            </p:cNvGrpSpPr>
            <p:nvPr/>
          </p:nvGrpSpPr>
          <p:grpSpPr bwMode="auto">
            <a:xfrm>
              <a:off x="4105" y="2050"/>
              <a:ext cx="584" cy="370"/>
              <a:chOff x="4105" y="2050"/>
              <a:chExt cx="584" cy="370"/>
            </a:xfrm>
          </p:grpSpPr>
          <p:sp>
            <p:nvSpPr>
              <p:cNvPr id="33" name="Line 14"/>
              <p:cNvSpPr>
                <a:spLocks noChangeShapeType="1"/>
              </p:cNvSpPr>
              <p:nvPr/>
            </p:nvSpPr>
            <p:spPr bwMode="auto">
              <a:xfrm flipV="1">
                <a:off x="4105" y="2050"/>
                <a:ext cx="146" cy="365"/>
              </a:xfrm>
              <a:prstGeom prst="line">
                <a:avLst/>
              </a:prstGeom>
              <a:noFill/>
              <a:ln w="28575" cap="rnd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Line 15"/>
              <p:cNvSpPr>
                <a:spLocks noChangeShapeType="1"/>
              </p:cNvSpPr>
              <p:nvPr/>
            </p:nvSpPr>
            <p:spPr bwMode="auto">
              <a:xfrm>
                <a:off x="4105" y="2419"/>
                <a:ext cx="584" cy="1"/>
              </a:xfrm>
              <a:prstGeom prst="line">
                <a:avLst/>
              </a:prstGeom>
              <a:noFill/>
              <a:ln w="28575" cap="rnd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Line 16"/>
              <p:cNvSpPr>
                <a:spLocks noChangeShapeType="1"/>
              </p:cNvSpPr>
              <p:nvPr/>
            </p:nvSpPr>
            <p:spPr bwMode="auto">
              <a:xfrm>
                <a:off x="4251" y="2054"/>
                <a:ext cx="438" cy="365"/>
              </a:xfrm>
              <a:prstGeom prst="line">
                <a:avLst/>
              </a:prstGeom>
              <a:noFill/>
              <a:ln w="28575" cap="rnd">
                <a:solidFill>
                  <a:schemeClr val="fol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" name="Rectangle 19"/>
            <p:cNvSpPr>
              <a:spLocks noChangeArrowheads="1"/>
            </p:cNvSpPr>
            <p:nvPr/>
          </p:nvSpPr>
          <p:spPr bwMode="auto">
            <a:xfrm>
              <a:off x="4696" y="2383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4203" y="1871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folHlink"/>
                  </a:solidFill>
                  <a:latin typeface="Times New Roman" charset="0"/>
                </a:rPr>
                <a:t>B</a:t>
              </a:r>
              <a:endParaRPr lang="en-US" altLang="x-none" sz="2000" b="1">
                <a:solidFill>
                  <a:schemeClr val="folHlink"/>
                </a:solidFill>
              </a:endParaRP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3983" y="2303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folHlink"/>
                  </a:solidFill>
                  <a:latin typeface="Times New Roman" charset="0"/>
                </a:rPr>
                <a:t>A</a:t>
              </a:r>
              <a:endParaRPr lang="en-US" altLang="x-none" sz="2000" b="1">
                <a:solidFill>
                  <a:schemeClr val="folHlink"/>
                </a:solidFill>
              </a:endParaRP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4063" y="2376"/>
              <a:ext cx="1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9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4732" y="2304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folHlink"/>
                  </a:solidFill>
                  <a:latin typeface="Times New Roman" charset="0"/>
                </a:rPr>
                <a:t>C</a:t>
              </a:r>
              <a:endParaRPr lang="en-US" altLang="x-none" sz="2000" b="1">
                <a:solidFill>
                  <a:schemeClr val="folHlink"/>
                </a:solidFill>
              </a:endParaRP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4760" y="2376"/>
              <a:ext cx="1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900">
                  <a:solidFill>
                    <a:srgbClr val="000000"/>
                  </a:solidFill>
                  <a:latin typeface="Times New Roman" charset="0"/>
                </a:rPr>
                <a:t> </a:t>
              </a:r>
              <a:endParaRPr lang="en-US" altLang="x-none"/>
            </a:p>
          </p:txBody>
        </p:sp>
      </p:grpSp>
      <p:grpSp>
        <p:nvGrpSpPr>
          <p:cNvPr id="36" name="Group 43"/>
          <p:cNvGrpSpPr>
            <a:grpSpLocks/>
          </p:cNvGrpSpPr>
          <p:nvPr/>
        </p:nvGrpSpPr>
        <p:grpSpPr bwMode="auto">
          <a:xfrm>
            <a:off x="7696201" y="4724400"/>
            <a:ext cx="1533525" cy="1233488"/>
            <a:chOff x="4074" y="3312"/>
            <a:chExt cx="966" cy="777"/>
          </a:xfrm>
        </p:grpSpPr>
        <p:sp>
          <p:nvSpPr>
            <p:cNvPr id="37" name="AutoShape 28"/>
            <p:cNvSpPr>
              <a:spLocks noChangeAspect="1" noChangeArrowheads="1" noTextEdit="1"/>
            </p:cNvSpPr>
            <p:nvPr/>
          </p:nvSpPr>
          <p:spPr bwMode="auto">
            <a:xfrm rot="-1394921">
              <a:off x="4128" y="3312"/>
              <a:ext cx="912" cy="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29"/>
            <p:cNvSpPr>
              <a:spLocks noChangeArrowheads="1"/>
            </p:cNvSpPr>
            <p:nvPr/>
          </p:nvSpPr>
          <p:spPr bwMode="auto">
            <a:xfrm rot="-1394921">
              <a:off x="4074" y="3571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39" name="Rectangle 30"/>
            <p:cNvSpPr>
              <a:spLocks noChangeArrowheads="1"/>
            </p:cNvSpPr>
            <p:nvPr/>
          </p:nvSpPr>
          <p:spPr bwMode="auto">
            <a:xfrm rot="-1394921">
              <a:off x="4189" y="3537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40" name="Rectangle 31"/>
            <p:cNvSpPr>
              <a:spLocks noChangeArrowheads="1"/>
            </p:cNvSpPr>
            <p:nvPr/>
          </p:nvSpPr>
          <p:spPr bwMode="auto">
            <a:xfrm rot="-1394921">
              <a:off x="4211" y="3588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 rot="-1394921">
              <a:off x="4234" y="3642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grpSp>
          <p:nvGrpSpPr>
            <p:cNvPr id="42" name="Group 33"/>
            <p:cNvGrpSpPr>
              <a:grpSpLocks/>
            </p:cNvGrpSpPr>
            <p:nvPr/>
          </p:nvGrpSpPr>
          <p:grpSpPr bwMode="auto">
            <a:xfrm rot="-1394921">
              <a:off x="4275" y="3517"/>
              <a:ext cx="584" cy="370"/>
              <a:chOff x="4105" y="2050"/>
              <a:chExt cx="584" cy="370"/>
            </a:xfrm>
          </p:grpSpPr>
          <p:sp>
            <p:nvSpPr>
              <p:cNvPr id="48" name="Line 34"/>
              <p:cNvSpPr>
                <a:spLocks noChangeShapeType="1"/>
              </p:cNvSpPr>
              <p:nvPr/>
            </p:nvSpPr>
            <p:spPr bwMode="auto">
              <a:xfrm flipV="1">
                <a:off x="4105" y="2050"/>
                <a:ext cx="146" cy="365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Line 35"/>
              <p:cNvSpPr>
                <a:spLocks noChangeShapeType="1"/>
              </p:cNvSpPr>
              <p:nvPr/>
            </p:nvSpPr>
            <p:spPr bwMode="auto">
              <a:xfrm>
                <a:off x="4105" y="2419"/>
                <a:ext cx="584" cy="1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Line 36"/>
              <p:cNvSpPr>
                <a:spLocks noChangeShapeType="1"/>
              </p:cNvSpPr>
              <p:nvPr/>
            </p:nvSpPr>
            <p:spPr bwMode="auto">
              <a:xfrm>
                <a:off x="4251" y="2054"/>
                <a:ext cx="438" cy="365"/>
              </a:xfrm>
              <a:prstGeom prst="line">
                <a:avLst/>
              </a:prstGeom>
              <a:noFill/>
              <a:ln w="28575" cap="rnd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3" name="Rectangle 37"/>
            <p:cNvSpPr>
              <a:spLocks noChangeArrowheads="1"/>
            </p:cNvSpPr>
            <p:nvPr/>
          </p:nvSpPr>
          <p:spPr bwMode="auto">
            <a:xfrm rot="-1394921">
              <a:off x="4911" y="3715"/>
              <a:ext cx="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6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 rot="-1394921">
              <a:off x="4279" y="3416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E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 rot="-1394921">
              <a:off x="4176" y="3897"/>
              <a:ext cx="11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D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 rot="20205079">
              <a:off x="4332" y="3956"/>
              <a:ext cx="1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900">
                  <a:solidFill>
                    <a:schemeClr val="tx2"/>
                  </a:solidFill>
                  <a:latin typeface="Times New Roman" charset="0"/>
                </a:rPr>
                <a:t> </a:t>
              </a:r>
              <a:endParaRPr lang="en-US" altLang="x-none">
                <a:solidFill>
                  <a:schemeClr val="tx2"/>
                </a:solidFill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 rot="-1394921">
              <a:off x="4936" y="3606"/>
              <a:ext cx="9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x-none" sz="2000" b="1">
                  <a:solidFill>
                    <a:schemeClr val="tx2"/>
                  </a:solidFill>
                  <a:latin typeface="Times New Roman" charset="0"/>
                </a:rPr>
                <a:t>F</a:t>
              </a:r>
              <a:endParaRPr lang="en-US" altLang="x-none" sz="2000" b="1">
                <a:solidFill>
                  <a:schemeClr val="tx2"/>
                </a:solidFill>
              </a:endParaRPr>
            </a:p>
          </p:txBody>
        </p:sp>
      </p:grpSp>
      <p:sp>
        <p:nvSpPr>
          <p:cNvPr id="51" name="Rectangle 42"/>
          <p:cNvSpPr>
            <a:spLocks noChangeArrowheads="1"/>
          </p:cNvSpPr>
          <p:nvPr/>
        </p:nvSpPr>
        <p:spPr bwMode="auto">
          <a:xfrm rot="-1394921">
            <a:off x="9447182" y="5845583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grpSp>
        <p:nvGrpSpPr>
          <p:cNvPr id="52" name="Group 50"/>
          <p:cNvGrpSpPr>
            <a:grpSpLocks/>
          </p:cNvGrpSpPr>
          <p:nvPr/>
        </p:nvGrpSpPr>
        <p:grpSpPr bwMode="auto">
          <a:xfrm>
            <a:off x="2743201" y="2743200"/>
            <a:ext cx="2590800" cy="3341688"/>
            <a:chOff x="768" y="1815"/>
            <a:chExt cx="1632" cy="2105"/>
          </a:xfrm>
        </p:grpSpPr>
        <p:sp>
          <p:nvSpPr>
            <p:cNvPr id="53" name="Text Box 4"/>
            <p:cNvSpPr txBox="1">
              <a:spLocks noChangeArrowheads="1"/>
            </p:cNvSpPr>
            <p:nvPr/>
          </p:nvSpPr>
          <p:spPr bwMode="auto">
            <a:xfrm>
              <a:off x="768" y="1815"/>
              <a:ext cx="1632" cy="2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4572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9144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3716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8288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2286000" indent="-457200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27432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32004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36576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4114800" indent="-4572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</a:rPr>
                <a:t>AB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</a:rPr>
                <a:t>DE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</a:rPr>
                <a:t>BC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</a:rPr>
                <a:t> 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</a:rPr>
                <a:t>EF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</a:rPr>
                <a:t>AC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  <a:sym typeface="Symbol" charset="2"/>
                </a:rPr>
                <a:t>DF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 A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  <a:sym typeface="Symbol" charset="2"/>
                </a:rPr>
                <a:t> D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 B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  <a:sym typeface="Symbol" charset="2"/>
                </a:rPr>
                <a:t> E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 C </a:t>
              </a:r>
              <a:r>
                <a:rPr lang="en-US" altLang="x-none" b="1" dirty="0">
                  <a:latin typeface="Comic Sans MS" charset="0"/>
                  <a:sym typeface="Symbol" charset="2"/>
                </a:rPr>
                <a:t></a:t>
              </a:r>
              <a:r>
                <a:rPr lang="en-US" altLang="x-none" b="1" dirty="0">
                  <a:solidFill>
                    <a:schemeClr val="folHlink"/>
                  </a:solidFill>
                  <a:latin typeface="Comic Sans MS" charset="0"/>
                  <a:sym typeface="Symbol" charset="2"/>
                </a:rPr>
                <a:t> </a:t>
              </a:r>
              <a:r>
                <a:rPr lang="en-US" altLang="x-none" b="1" dirty="0">
                  <a:solidFill>
                    <a:schemeClr val="tx2"/>
                  </a:solidFill>
                  <a:latin typeface="Comic Sans MS" charset="0"/>
                  <a:sym typeface="Symbol" charset="2"/>
                </a:rPr>
                <a:t> F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endParaRPr lang="en-US" altLang="x-none" b="1" dirty="0">
                <a:solidFill>
                  <a:schemeClr val="folHlink"/>
                </a:solidFill>
                <a:latin typeface="Comic Sans MS" charset="0"/>
                <a:sym typeface="Symbol" charset="2"/>
              </a:endParaRPr>
            </a:p>
          </p:txBody>
        </p:sp>
        <p:sp>
          <p:nvSpPr>
            <p:cNvPr id="54" name="Line 44"/>
            <p:cNvSpPr>
              <a:spLocks noChangeShapeType="1"/>
            </p:cNvSpPr>
            <p:nvPr/>
          </p:nvSpPr>
          <p:spPr bwMode="auto">
            <a:xfrm>
              <a:off x="1680" y="1872"/>
              <a:ext cx="24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45"/>
            <p:cNvSpPr>
              <a:spLocks noChangeShapeType="1"/>
            </p:cNvSpPr>
            <p:nvPr/>
          </p:nvSpPr>
          <p:spPr bwMode="auto">
            <a:xfrm>
              <a:off x="1728" y="2160"/>
              <a:ext cx="24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46"/>
            <p:cNvSpPr>
              <a:spLocks noChangeShapeType="1"/>
            </p:cNvSpPr>
            <p:nvPr/>
          </p:nvSpPr>
          <p:spPr bwMode="auto">
            <a:xfrm>
              <a:off x="1680" y="2448"/>
              <a:ext cx="240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47"/>
            <p:cNvSpPr>
              <a:spLocks noChangeShapeType="1"/>
            </p:cNvSpPr>
            <p:nvPr/>
          </p:nvSpPr>
          <p:spPr bwMode="auto">
            <a:xfrm>
              <a:off x="1152" y="1872"/>
              <a:ext cx="2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48"/>
            <p:cNvSpPr>
              <a:spLocks noChangeShapeType="1"/>
            </p:cNvSpPr>
            <p:nvPr/>
          </p:nvSpPr>
          <p:spPr bwMode="auto">
            <a:xfrm>
              <a:off x="1152" y="2160"/>
              <a:ext cx="2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49"/>
            <p:cNvSpPr>
              <a:spLocks noChangeShapeType="1"/>
            </p:cNvSpPr>
            <p:nvPr/>
          </p:nvSpPr>
          <p:spPr bwMode="auto">
            <a:xfrm>
              <a:off x="1152" y="2448"/>
              <a:ext cx="24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272765" y="1651658"/>
            <a:ext cx="107061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 the two triangles below, the conditions for congruency can be expressed like so: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25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447800" y="762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/>
            <a:r>
              <a:rPr lang="en-US" altLang="x-none" sz="4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But, do </a:t>
            </a:r>
            <a:r>
              <a:rPr lang="en-US" altLang="x-none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you need </a:t>
            </a:r>
            <a:r>
              <a:rPr lang="en-US" altLang="x-none" sz="4400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all six ?</a:t>
            </a:r>
          </a:p>
        </p:txBody>
      </p:sp>
      <p:sp>
        <p:nvSpPr>
          <p:cNvPr id="34854" name="Rectangle 38"/>
          <p:cNvSpPr>
            <a:spLocks noChangeArrowheads="1"/>
          </p:cNvSpPr>
          <p:nvPr/>
        </p:nvSpPr>
        <p:spPr bwMode="auto">
          <a:xfrm rot="-1394921">
            <a:off x="9447182" y="5845583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endParaRPr lang="en-GB" altLang="x-none">
              <a:solidFill>
                <a:schemeClr val="tx2"/>
              </a:solidFill>
            </a:endParaRPr>
          </a:p>
        </p:txBody>
      </p:sp>
      <p:pic>
        <p:nvPicPr>
          <p:cNvPr id="34855" name="Picture 39" descr="pe02854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19400"/>
            <a:ext cx="3733800" cy="263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856" name="AutoShape 40"/>
          <p:cNvSpPr>
            <a:spLocks noChangeArrowheads="1"/>
          </p:cNvSpPr>
          <p:nvPr/>
        </p:nvSpPr>
        <p:spPr bwMode="auto">
          <a:xfrm>
            <a:off x="5791200" y="1295400"/>
            <a:ext cx="6108700" cy="1341438"/>
          </a:xfrm>
          <a:prstGeom prst="wedgeRoundRectCallout">
            <a:avLst>
              <a:gd name="adj1" fmla="val -41227"/>
              <a:gd name="adj2" fmla="val 8761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x-none" sz="7200" b="1" smtClean="0">
                <a:solidFill>
                  <a:schemeClr val="folHlink"/>
                </a:solidFill>
              </a:rPr>
              <a:t>Let’s Find out </a:t>
            </a:r>
            <a:r>
              <a:rPr lang="en-US" altLang="x-none" sz="7200" b="1" dirty="0">
                <a:solidFill>
                  <a:schemeClr val="folHlink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7956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ChangeArrowheads="1"/>
          </p:cNvSpPr>
          <p:nvPr/>
        </p:nvSpPr>
        <p:spPr bwMode="auto">
          <a:xfrm>
            <a:off x="1981200" y="1219200"/>
            <a:ext cx="7467600" cy="426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r>
              <a:rPr lang="en-US" altLang="x-none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</a:rPr>
              <a:t>How much do you    </a:t>
            </a:r>
          </a:p>
          <a:p>
            <a:pPr eaLnBrk="1" hangingPunct="1"/>
            <a:r>
              <a:rPr lang="en-US" altLang="x-none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</a:rPr>
              <a:t>       need to know. . .</a:t>
            </a:r>
          </a:p>
          <a:p>
            <a:pPr eaLnBrk="1" hangingPunct="1"/>
            <a:endParaRPr lang="en-US" altLang="x-none" sz="440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mic Sans MS" charset="0"/>
            </a:endParaRPr>
          </a:p>
          <a:p>
            <a:pPr eaLnBrk="1" hangingPunct="1"/>
            <a:r>
              <a:rPr lang="en-US" altLang="x-none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</a:rPr>
              <a:t>      </a:t>
            </a:r>
            <a:r>
              <a:rPr lang="en-US" altLang="x-none" sz="4400">
                <a:solidFill>
                  <a:srgbClr val="0000FF"/>
                </a:solidFill>
                <a:latin typeface="Comic Sans MS" charset="0"/>
              </a:rPr>
              <a:t>. . . about two triangles   </a:t>
            </a:r>
          </a:p>
          <a:p>
            <a:pPr eaLnBrk="1" hangingPunct="1"/>
            <a:r>
              <a:rPr lang="en-US" altLang="x-none" sz="4400">
                <a:solidFill>
                  <a:srgbClr val="0000FF"/>
                </a:solidFill>
                <a:latin typeface="Comic Sans MS" charset="0"/>
              </a:rPr>
              <a:t>            to prove that they  </a:t>
            </a:r>
          </a:p>
          <a:p>
            <a:pPr eaLnBrk="1" hangingPunct="1"/>
            <a:r>
              <a:rPr lang="en-US" altLang="x-none" sz="4400">
                <a:solidFill>
                  <a:srgbClr val="0000FF"/>
                </a:solidFill>
                <a:latin typeface="Comic Sans MS" charset="0"/>
              </a:rPr>
              <a:t>            are congruent?</a:t>
            </a:r>
            <a:r>
              <a:rPr lang="en-US" altLang="x-none"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mic Sans MS" charset="0"/>
              </a:rPr>
              <a:t> </a:t>
            </a:r>
          </a:p>
        </p:txBody>
      </p:sp>
      <p:sp>
        <p:nvSpPr>
          <p:cNvPr id="32796" name="Rectangle 28"/>
          <p:cNvSpPr>
            <a:spLocks noChangeArrowheads="1"/>
          </p:cNvSpPr>
          <p:nvPr/>
        </p:nvSpPr>
        <p:spPr bwMode="auto">
          <a:xfrm>
            <a:off x="1524000" y="5486400"/>
            <a:ext cx="1981200" cy="1371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2789" name="Group 21"/>
          <p:cNvGrpSpPr>
            <a:grpSpLocks/>
          </p:cNvGrpSpPr>
          <p:nvPr/>
        </p:nvGrpSpPr>
        <p:grpSpPr bwMode="auto">
          <a:xfrm>
            <a:off x="1828800" y="4343401"/>
            <a:ext cx="941388" cy="2009775"/>
            <a:chOff x="2114" y="1422"/>
            <a:chExt cx="1167" cy="2322"/>
          </a:xfrm>
        </p:grpSpPr>
        <p:sp>
          <p:nvSpPr>
            <p:cNvPr id="32790" name="Freeform 22"/>
            <p:cNvSpPr>
              <a:spLocks/>
            </p:cNvSpPr>
            <p:nvPr/>
          </p:nvSpPr>
          <p:spPr bwMode="auto">
            <a:xfrm>
              <a:off x="2486" y="1552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1" name="Freeform 23"/>
            <p:cNvSpPr>
              <a:spLocks/>
            </p:cNvSpPr>
            <p:nvPr/>
          </p:nvSpPr>
          <p:spPr bwMode="auto">
            <a:xfrm>
              <a:off x="2114" y="1422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2" name="Freeform 24"/>
            <p:cNvSpPr>
              <a:spLocks/>
            </p:cNvSpPr>
            <p:nvPr/>
          </p:nvSpPr>
          <p:spPr bwMode="auto">
            <a:xfrm>
              <a:off x="2610" y="2096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3" name="Freeform 25"/>
            <p:cNvSpPr>
              <a:spLocks/>
            </p:cNvSpPr>
            <p:nvPr/>
          </p:nvSpPr>
          <p:spPr bwMode="auto">
            <a:xfrm>
              <a:off x="2737" y="2117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4" name="Freeform 26"/>
            <p:cNvSpPr>
              <a:spLocks/>
            </p:cNvSpPr>
            <p:nvPr/>
          </p:nvSpPr>
          <p:spPr bwMode="auto">
            <a:xfrm>
              <a:off x="2770" y="2781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5" name="Freeform 27"/>
            <p:cNvSpPr>
              <a:spLocks/>
            </p:cNvSpPr>
            <p:nvPr/>
          </p:nvSpPr>
          <p:spPr bwMode="auto">
            <a:xfrm>
              <a:off x="2449" y="2779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797" name="Group 29"/>
          <p:cNvGrpSpPr>
            <a:grpSpLocks/>
          </p:cNvGrpSpPr>
          <p:nvPr/>
        </p:nvGrpSpPr>
        <p:grpSpPr bwMode="auto">
          <a:xfrm>
            <a:off x="2362201" y="3886200"/>
            <a:ext cx="334963" cy="457200"/>
            <a:chOff x="2817" y="1229"/>
            <a:chExt cx="211" cy="285"/>
          </a:xfrm>
        </p:grpSpPr>
        <p:sp>
          <p:nvSpPr>
            <p:cNvPr id="32798" name="Freeform 30"/>
            <p:cNvSpPr>
              <a:spLocks/>
            </p:cNvSpPr>
            <p:nvPr/>
          </p:nvSpPr>
          <p:spPr bwMode="auto">
            <a:xfrm>
              <a:off x="2858" y="1229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Freeform 31"/>
            <p:cNvSpPr>
              <a:spLocks/>
            </p:cNvSpPr>
            <p:nvPr/>
          </p:nvSpPr>
          <p:spPr bwMode="auto">
            <a:xfrm>
              <a:off x="2817" y="1460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01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433" y="1648075"/>
            <a:ext cx="5206574" cy="7343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575" y="3225792"/>
            <a:ext cx="10680398" cy="28408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224161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Test 1: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1257175" y="2525696"/>
            <a:ext cx="7009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Materials: Pen/Pencil, Paper and a Protractor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47835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759" y="3035300"/>
            <a:ext cx="10852418" cy="23328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1900" y="1850805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Test 2: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7492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35955" y="1769542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Test 3: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955" y="2682588"/>
            <a:ext cx="10631296" cy="32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335955" y="1850805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Test 4: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03" y="3060700"/>
            <a:ext cx="10992534" cy="223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7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194376" y="1666680"/>
            <a:ext cx="12054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Test 5: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412" y="1747185"/>
            <a:ext cx="8748887" cy="416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0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93556"/>
            <a:ext cx="12192000" cy="4316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598844"/>
            <a:ext cx="12192000" cy="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8097" y="-20527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24</a:t>
            </a:r>
          </a:p>
          <a:p>
            <a:r>
              <a:rPr lang="en-AU" dirty="0"/>
              <a:t>7</a:t>
            </a:r>
          </a:p>
          <a:p>
            <a:r>
              <a:rPr lang="en-AU" dirty="0"/>
              <a:t>30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033672" y="1598844"/>
            <a:ext cx="19876" cy="46384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918306" y="10744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688725" y="144908"/>
            <a:ext cx="73150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 smtClean="0"/>
              <a:t>Congruency in Quadrilaterals </a:t>
            </a:r>
            <a:r>
              <a:rPr lang="en-AU" sz="3200" smtClean="0"/>
              <a:t>and Triangles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958" y="902804"/>
            <a:ext cx="11271524" cy="525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EQ – </a:t>
            </a:r>
            <a:r>
              <a:rPr lang="en-AU" sz="2800" dirty="0" smtClean="0"/>
              <a:t>What are the conditions of congruency for quadrilaterals and triangles? </a:t>
            </a:r>
            <a:endParaRPr lang="en-AU" sz="28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237312"/>
            <a:ext cx="12192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536" y="6237312"/>
            <a:ext cx="125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Summary - 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825647" y="2008591"/>
            <a:ext cx="90963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So</a:t>
            </a:r>
            <a:r>
              <a:rPr lang="mr-IN" sz="3600" dirty="0" smtClean="0"/>
              <a:t>…</a:t>
            </a:r>
            <a:r>
              <a:rPr lang="en-CA" sz="3600" dirty="0" smtClean="0"/>
              <a:t>what were your findings? </a:t>
            </a:r>
            <a:r>
              <a:rPr lang="en-CA" sz="3600" dirty="0"/>
              <a:t>W</a:t>
            </a:r>
            <a:r>
              <a:rPr lang="en-CA" sz="3600" dirty="0" smtClean="0"/>
              <a:t>hich tests proved to be successful?</a:t>
            </a:r>
          </a:p>
          <a:p>
            <a:endParaRPr lang="en-CA" sz="3600" dirty="0"/>
          </a:p>
          <a:p>
            <a:r>
              <a:rPr lang="en-CA" sz="3600" dirty="0" smtClean="0"/>
              <a:t>Share your findings with the class and summarise them in the Summary section of your INB</a:t>
            </a:r>
            <a:r>
              <a:rPr lang="en-CA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98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5100"/>
            <a:ext cx="6077820" cy="271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3924300"/>
            <a:ext cx="8928100" cy="2324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530" y="228600"/>
            <a:ext cx="588047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462</Words>
  <Application>Microsoft Macintosh PowerPoint</Application>
  <PresentationFormat>Widescreen</PresentationFormat>
  <Paragraphs>112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Calibri Light</vt:lpstr>
      <vt:lpstr>Mangal</vt:lpstr>
      <vt:lpstr>Arial</vt:lpstr>
      <vt:lpstr>Comic Sans MS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SUMMERS Brad [Baldivis Secondary College]</dc:creator>
  <cp:lastModifiedBy>SUMMERS Brad [Baldivis Secondary College]</cp:lastModifiedBy>
  <cp:revision>21</cp:revision>
  <dcterms:created xsi:type="dcterms:W3CDTF">2017-05-21T03:00:30Z</dcterms:created>
  <dcterms:modified xsi:type="dcterms:W3CDTF">2017-05-21T08:03:26Z</dcterms:modified>
</cp:coreProperties>
</file>
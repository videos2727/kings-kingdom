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9" r:id="rId5"/>
    <p:sldId id="320" r:id="rId6"/>
    <p:sldId id="336" r:id="rId7"/>
    <p:sldId id="321" r:id="rId8"/>
    <p:sldId id="337" r:id="rId9"/>
    <p:sldId id="338" r:id="rId10"/>
    <p:sldId id="339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687" y="61374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Algebra  </a:t>
            </a:r>
            <a:br>
              <a:rPr lang="en-AU" dirty="0" smtClean="0"/>
            </a:br>
            <a:r>
              <a:rPr lang="en-AU" dirty="0"/>
              <a:t>Factorising Expressions </a:t>
            </a:r>
            <a:br>
              <a:rPr lang="en-AU" dirty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4 Semester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factorise expressions?</a:t>
            </a:r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factorise expressions?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84794" y="2045047"/>
            <a:ext cx="203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factorising?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071268" y="2045047"/>
            <a:ext cx="496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expanding brackets is turning 2(a + 3) into 2a + 6,</a:t>
            </a:r>
          </a:p>
          <a:p>
            <a:r>
              <a:rPr lang="en-US" dirty="0" smtClean="0"/>
              <a:t>Then </a:t>
            </a:r>
            <a:r>
              <a:rPr lang="en-US" dirty="0" err="1" smtClean="0"/>
              <a:t>factorising</a:t>
            </a:r>
            <a:r>
              <a:rPr lang="en-US" dirty="0" smtClean="0"/>
              <a:t> is turning 2a + 6 back into 2(a + 3)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327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factorise expressions?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84794" y="2045047"/>
            <a:ext cx="203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factorising?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071268" y="2045047"/>
            <a:ext cx="496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expanding brackets is turning 2(a + 3) into 2a + 6,</a:t>
            </a:r>
          </a:p>
          <a:p>
            <a:r>
              <a:rPr lang="en-US" dirty="0" smtClean="0"/>
              <a:t>Then </a:t>
            </a:r>
            <a:r>
              <a:rPr lang="en-US" dirty="0" err="1" smtClean="0"/>
              <a:t>factorising</a:t>
            </a:r>
            <a:r>
              <a:rPr lang="en-US" dirty="0" smtClean="0"/>
              <a:t> is turning 2a + 6 back into 2(a + 3)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915816" y="2852936"/>
            <a:ext cx="63120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</a:p>
          <a:p>
            <a:r>
              <a:rPr lang="en-US" dirty="0" smtClean="0"/>
              <a:t>The HCF of both terms is placed outside the front of the brackets.</a:t>
            </a:r>
          </a:p>
          <a:p>
            <a:r>
              <a:rPr lang="en-US" i="1" dirty="0" smtClean="0"/>
              <a:t>If both terms have the same letter, that letter can be placed out</a:t>
            </a:r>
          </a:p>
          <a:p>
            <a:r>
              <a:rPr lang="en-US" i="1" dirty="0" smtClean="0"/>
              <a:t> the front too.</a:t>
            </a:r>
          </a:p>
          <a:p>
            <a:endParaRPr lang="en-US" i="1" dirty="0"/>
          </a:p>
          <a:p>
            <a:r>
              <a:rPr lang="en-US" dirty="0" smtClean="0"/>
              <a:t>Example: The HCF for 2a + 6 is ‘2’ so that is put out the front of</a:t>
            </a:r>
          </a:p>
          <a:p>
            <a:r>
              <a:rPr lang="en-US" dirty="0"/>
              <a:t>	</a:t>
            </a:r>
            <a:r>
              <a:rPr lang="en-US" dirty="0" smtClean="0"/>
              <a:t>brackets like so…</a:t>
            </a:r>
          </a:p>
          <a:p>
            <a:r>
              <a:rPr lang="en-US" dirty="0"/>
              <a:t>	</a:t>
            </a:r>
            <a:r>
              <a:rPr lang="en-US" dirty="0" smtClean="0"/>
              <a:t>		2 ( ____ + _____ )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93470" y="2823736"/>
            <a:ext cx="231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use the HCF to help factorise?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450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7643192" cy="1050131"/>
          </a:xfrm>
        </p:spPr>
        <p:txBody>
          <a:bodyPr>
            <a:normAutofit fontScale="92500" lnSpcReduction="20000"/>
          </a:bodyPr>
          <a:lstStyle/>
          <a:p>
            <a:r>
              <a:rPr lang="en-AU" b="0" dirty="0" smtClean="0"/>
              <a:t>Find the Highest Common Factor of the following?</a:t>
            </a:r>
          </a:p>
          <a:p>
            <a:r>
              <a:rPr lang="en-AU" dirty="0" smtClean="0"/>
              <a:t>Think</a:t>
            </a:r>
            <a:r>
              <a:rPr lang="en-AU" b="0" dirty="0" smtClean="0"/>
              <a:t>: Which times tables are both terms in?</a:t>
            </a:r>
          </a:p>
          <a:p>
            <a:r>
              <a:rPr lang="en-AU" dirty="0" smtClean="0"/>
              <a:t>Remember</a:t>
            </a:r>
            <a:r>
              <a:rPr lang="en-AU" b="0" dirty="0" smtClean="0"/>
              <a:t>: Letters can go out the front if they are in both terms</a:t>
            </a:r>
            <a:endParaRPr lang="en-AU" b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564904"/>
            <a:ext cx="4040188" cy="395128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4</a:t>
            </a:r>
            <a:r>
              <a:rPr lang="en-AU" dirty="0" smtClean="0"/>
              <a:t> and 6	    HCF: 2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10 and 15</a:t>
            </a:r>
            <a:r>
              <a:rPr lang="en-AU" dirty="0"/>
              <a:t>	 </a:t>
            </a:r>
            <a:r>
              <a:rPr lang="en-AU" dirty="0" smtClean="0"/>
              <a:t>   HCF</a:t>
            </a:r>
            <a:r>
              <a:rPr lang="en-AU" dirty="0"/>
              <a:t>:</a:t>
            </a: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</a:t>
            </a:r>
            <a:r>
              <a:rPr lang="en-AU" i="1" dirty="0" smtClean="0"/>
              <a:t>a</a:t>
            </a:r>
            <a:r>
              <a:rPr lang="en-AU" dirty="0" smtClean="0"/>
              <a:t> and </a:t>
            </a:r>
            <a:r>
              <a:rPr lang="en-AU" dirty="0"/>
              <a:t>6	 </a:t>
            </a:r>
            <a:r>
              <a:rPr lang="en-AU" dirty="0" smtClean="0"/>
              <a:t>   HCF</a:t>
            </a:r>
            <a:r>
              <a:rPr lang="en-AU" dirty="0"/>
              <a:t>:</a:t>
            </a: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21</a:t>
            </a:r>
            <a:r>
              <a:rPr lang="en-AU" i="1" dirty="0" smtClean="0"/>
              <a:t>a</a:t>
            </a:r>
            <a:r>
              <a:rPr lang="en-AU" dirty="0" smtClean="0"/>
              <a:t> and 28</a:t>
            </a:r>
            <a:r>
              <a:rPr lang="en-AU" i="1" dirty="0" smtClean="0"/>
              <a:t>b  </a:t>
            </a:r>
            <a:r>
              <a:rPr lang="en-AU" dirty="0" smtClean="0"/>
              <a:t>HCF</a:t>
            </a:r>
            <a:r>
              <a:rPr lang="en-AU" dirty="0"/>
              <a:t>:</a:t>
            </a:r>
            <a:endParaRPr lang="en-AU" i="1" dirty="0" smtClean="0"/>
          </a:p>
          <a:p>
            <a:pPr marL="0" indent="0">
              <a:buNone/>
            </a:pPr>
            <a:r>
              <a:rPr lang="en-US" dirty="0" smtClean="0"/>
              <a:t>5.   3k and 6k	    HCF: 3k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27733" y="2564904"/>
                <a:ext cx="4041775" cy="3951288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 smtClean="0"/>
                  <a:t>8</a:t>
                </a:r>
                <a:r>
                  <a:rPr lang="en-AU" i="1" dirty="0" smtClean="0"/>
                  <a:t>e</a:t>
                </a:r>
                <a:r>
                  <a:rPr lang="en-AU" dirty="0" smtClean="0"/>
                  <a:t> and 12</a:t>
                </a:r>
                <a:r>
                  <a:rPr lang="en-AU" i="1" dirty="0" smtClean="0"/>
                  <a:t>e	</a:t>
                </a:r>
                <a:r>
                  <a:rPr lang="en-AU" dirty="0"/>
                  <a:t> HCF:</a:t>
                </a:r>
                <a:endParaRPr lang="en-AU" i="1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6</m:t>
                    </m:r>
                    <m:r>
                      <a:rPr lang="en-AU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AU" dirty="0"/>
                  <a:t>		 HCF</a:t>
                </a:r>
                <a:r>
                  <a:rPr lang="en-AU" dirty="0" smtClean="0"/>
                  <a:t>: f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b="0" dirty="0" smtClean="0"/>
                  <a:t>	</a:t>
                </a:r>
                <a:r>
                  <a:rPr lang="en-AU" dirty="0"/>
                  <a:t> HCF:</a:t>
                </a:r>
                <a:endParaRPr lang="en-AU" b="0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𝑝𝑤</m:t>
                    </m:r>
                  </m:oMath>
                </a14:m>
                <a:r>
                  <a:rPr lang="en-AU" dirty="0" smtClean="0"/>
                  <a:t>and 24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b="0" dirty="0" smtClean="0"/>
                  <a:t>	</a:t>
                </a:r>
                <a:r>
                  <a:rPr lang="en-AU" dirty="0"/>
                  <a:t> HCF:</a:t>
                </a:r>
                <a:endParaRPr lang="en-AU" b="0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</m:t>
                    </m:r>
                    <m:r>
                      <a:rPr lang="en-AU" b="0" i="1" dirty="0" smtClean="0">
                        <a:latin typeface="Cambria Math"/>
                      </a:rPr>
                      <m:t>0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</m:oMath>
                </a14:m>
                <a:r>
                  <a:rPr lang="en-AU" dirty="0"/>
                  <a:t>and </a:t>
                </a:r>
                <a:r>
                  <a:rPr lang="en-AU" dirty="0" smtClean="0"/>
                  <a:t>15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/>
                  <a:t>	 HCF: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27733" y="2564904"/>
                <a:ext cx="4041775" cy="3951288"/>
              </a:xfrm>
              <a:blipFill rotWithShape="0">
                <a:blip r:embed="rId2"/>
                <a:stretch>
                  <a:fillRect l="-2413" t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88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factorise expressions?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010340"/>
            <a:ext cx="203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factorising?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010198" y="2000952"/>
            <a:ext cx="496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expanding brackets is turning 2(a + 3) into 2a + 6,</a:t>
            </a:r>
          </a:p>
          <a:p>
            <a:r>
              <a:rPr lang="en-US" dirty="0" smtClean="0"/>
              <a:t>Then </a:t>
            </a:r>
            <a:r>
              <a:rPr lang="en-US" dirty="0" err="1" smtClean="0"/>
              <a:t>factorising</a:t>
            </a:r>
            <a:r>
              <a:rPr lang="en-US" dirty="0" smtClean="0"/>
              <a:t> is turning 2a + 6 back into 2(a + 3)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915816" y="2731403"/>
            <a:ext cx="63367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HCF – Highest Common Factor</a:t>
            </a:r>
          </a:p>
          <a:p>
            <a:r>
              <a:rPr lang="en-US" dirty="0" smtClean="0"/>
              <a:t>The HCF of both terms is placed outside the front of the brackets.</a:t>
            </a:r>
          </a:p>
          <a:p>
            <a:r>
              <a:rPr lang="en-US" i="1" dirty="0" smtClean="0"/>
              <a:t>If both terms have the same letter, that letter can be placed out</a:t>
            </a:r>
          </a:p>
          <a:p>
            <a:r>
              <a:rPr lang="en-US" i="1" dirty="0" smtClean="0"/>
              <a:t> the front too.</a:t>
            </a:r>
          </a:p>
          <a:p>
            <a:endParaRPr lang="en-US" i="1" dirty="0"/>
          </a:p>
          <a:p>
            <a:r>
              <a:rPr lang="en-US" dirty="0" smtClean="0"/>
              <a:t>Example: The HCF for 2a + 6 is ‘2’ so that is put out the front of</a:t>
            </a:r>
          </a:p>
          <a:p>
            <a:r>
              <a:rPr lang="en-US" dirty="0"/>
              <a:t>	</a:t>
            </a:r>
            <a:r>
              <a:rPr lang="en-US" dirty="0" smtClean="0"/>
              <a:t>brackets like so…</a:t>
            </a:r>
          </a:p>
          <a:p>
            <a:r>
              <a:rPr lang="en-US" dirty="0"/>
              <a:t>	</a:t>
            </a:r>
            <a:r>
              <a:rPr lang="en-US" dirty="0" smtClean="0"/>
              <a:t>		2 ( ____ + _____ )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731403"/>
            <a:ext cx="231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use the HCF to help factorise?</a:t>
            </a:r>
            <a:endParaRPr lang="en-AU" dirty="0"/>
          </a:p>
        </p:txBody>
      </p:sp>
      <p:sp>
        <p:nvSpPr>
          <p:cNvPr id="2" name="Rectangle 1"/>
          <p:cNvSpPr/>
          <p:nvPr/>
        </p:nvSpPr>
        <p:spPr>
          <a:xfrm>
            <a:off x="93743" y="5039727"/>
            <a:ext cx="26668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What goes inside the brackets?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57031" y="5039727"/>
            <a:ext cx="57492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our knowledge of the Distributive Law, we know </a:t>
            </a:r>
          </a:p>
          <a:p>
            <a:r>
              <a:rPr lang="en-US" dirty="0" smtClean="0"/>
              <a:t> </a:t>
            </a:r>
            <a:r>
              <a:rPr lang="en-US" dirty="0"/>
              <a:t>2 ( ____ + _____ </a:t>
            </a:r>
            <a:r>
              <a:rPr lang="en-US" dirty="0" smtClean="0"/>
              <a:t>) = 2a + 6</a:t>
            </a:r>
          </a:p>
          <a:p>
            <a:endParaRPr lang="en-US" dirty="0" smtClean="0"/>
          </a:p>
          <a:p>
            <a:r>
              <a:rPr lang="en-US" dirty="0" smtClean="0"/>
              <a:t>This means 2 x ______ = 2a and 2 x ______ = 6</a:t>
            </a:r>
            <a:endParaRPr lang="en-AU" dirty="0"/>
          </a:p>
          <a:p>
            <a:r>
              <a:rPr lang="en-US" dirty="0" smtClean="0"/>
              <a:t>So 2a + 6 is </a:t>
            </a:r>
            <a:r>
              <a:rPr lang="en-US" dirty="0" err="1" smtClean="0"/>
              <a:t>factorisied</a:t>
            </a:r>
            <a:r>
              <a:rPr lang="en-US" dirty="0" smtClean="0"/>
              <a:t> to produce </a:t>
            </a:r>
          </a:p>
          <a:p>
            <a:r>
              <a:rPr lang="en-US" dirty="0" smtClean="0"/>
              <a:t>2 (__a__ + __3__)</a:t>
            </a:r>
            <a:endParaRPr lang="en-AU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568937" y="5646648"/>
            <a:ext cx="1795798" cy="3125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647126" y="5646648"/>
            <a:ext cx="792231" cy="304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28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Dwyer </a:t>
            </a:r>
            <a:r>
              <a:rPr lang="en-US" sz="3600" dirty="0" err="1" smtClean="0"/>
              <a:t>Pg</a:t>
            </a:r>
            <a:r>
              <a:rPr lang="en-US" sz="3600" dirty="0" smtClean="0"/>
              <a:t> 41- 3.11 (All the odd questions)</a:t>
            </a:r>
            <a:endParaRPr lang="en-A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1622"/>
            <a:ext cx="3826768" cy="5419746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2x + 6		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HCF</a:t>
            </a:r>
            <a:r>
              <a:rPr lang="en-US" dirty="0"/>
              <a:t>: ______</a:t>
            </a:r>
          </a:p>
          <a:p>
            <a:pPr marL="0" indent="0">
              <a:buNone/>
            </a:pPr>
            <a:r>
              <a:rPr lang="en-US" dirty="0"/>
              <a:t> ___ ( ____ + ____ )</a:t>
            </a:r>
            <a:endParaRPr lang="en-AU" dirty="0"/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dirty="0" smtClean="0"/>
              <a:t>3.  2c + 4</a:t>
            </a:r>
          </a:p>
          <a:p>
            <a:pPr marL="0" indent="0">
              <a:buNone/>
            </a:pPr>
            <a:r>
              <a:rPr lang="en-US" dirty="0" smtClean="0"/>
              <a:t>HCF: 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___ ( ____ + ____ )</a:t>
            </a:r>
          </a:p>
          <a:p>
            <a:pPr marL="0" indent="0">
              <a:buNone/>
            </a:pPr>
            <a:endParaRPr lang="en-US" sz="1300" dirty="0" smtClean="0"/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  3a – 6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HCF: ______</a:t>
            </a:r>
          </a:p>
          <a:p>
            <a:pPr marL="0" indent="0">
              <a:buNone/>
            </a:pPr>
            <a:r>
              <a:rPr lang="en-US" dirty="0"/>
              <a:t> ___ ( ____ + ____ )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899592" y="2348181"/>
            <a:ext cx="792087" cy="232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0" y="1321622"/>
                <a:ext cx="3528392" cy="5769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 smtClean="0"/>
                  <a:t>7. 5a </a:t>
                </a:r>
                <a:r>
                  <a:rPr lang="en-US" sz="3200" dirty="0"/>
                  <a:t>+ </a:t>
                </a:r>
                <a:r>
                  <a:rPr lang="en-US" sz="3200" dirty="0" smtClean="0"/>
                  <a:t>15b</a:t>
                </a:r>
                <a:r>
                  <a:rPr lang="en-US" sz="3200" dirty="0"/>
                  <a:t>		</a:t>
                </a:r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</a:t>
                </a:r>
                <a:r>
                  <a:rPr lang="en-US" sz="3200" dirty="0" smtClean="0"/>
                  <a:t>)</a:t>
                </a:r>
              </a:p>
              <a:p>
                <a:endParaRPr lang="en-US" sz="2000" dirty="0"/>
              </a:p>
              <a:p>
                <a:r>
                  <a:rPr lang="en-US" sz="3200" dirty="0"/>
                  <a:t>9</a:t>
                </a:r>
                <a:r>
                  <a:rPr lang="en-US" sz="3200" dirty="0" smtClean="0"/>
                  <a:t>. 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 smtClean="0"/>
                  <a:t> + 3</a:t>
                </a:r>
                <a:r>
                  <a:rPr lang="en-US" sz="3200" i="1" dirty="0" smtClean="0"/>
                  <a:t>a</a:t>
                </a:r>
                <a:endParaRPr lang="en-US" sz="3200" dirty="0"/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</a:t>
                </a:r>
                <a:r>
                  <a:rPr lang="en-US" sz="3200" dirty="0" smtClean="0"/>
                  <a:t>)</a:t>
                </a:r>
              </a:p>
              <a:p>
                <a:endParaRPr lang="en-US" sz="2400" dirty="0"/>
              </a:p>
              <a:p>
                <a:r>
                  <a:rPr lang="en-US" sz="3200" dirty="0" smtClean="0"/>
                  <a:t>11.  7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200" dirty="0"/>
                          <m:t>t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–</a:t>
                </a:r>
                <a:r>
                  <a:rPr lang="en-US" sz="3200" dirty="0" smtClean="0"/>
                  <a:t> 5t</a:t>
                </a:r>
                <a:endParaRPr lang="en-US" sz="3200" dirty="0"/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)</a:t>
                </a:r>
                <a:endParaRPr lang="en-AU" sz="3200" dirty="0"/>
              </a:p>
              <a:p>
                <a:endParaRPr lang="en-AU" sz="3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21622"/>
                <a:ext cx="3528392" cy="5769143"/>
              </a:xfrm>
              <a:prstGeom prst="rect">
                <a:avLst/>
              </a:prstGeom>
              <a:blipFill rotWithShape="0">
                <a:blip r:embed="rId2"/>
                <a:stretch>
                  <a:fillRect l="-4318" t="-1374" r="-12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40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Task- Fill in the blanks</a:t>
            </a:r>
            <a:endParaRPr lang="en-AU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388" y="4063079"/>
            <a:ext cx="4572000" cy="2434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" y="4106467"/>
            <a:ext cx="4330824" cy="2347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1560" y="1417638"/>
            <a:ext cx="82786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Remember!</a:t>
            </a:r>
          </a:p>
          <a:p>
            <a:r>
              <a:rPr lang="en-US" sz="2800" dirty="0" smtClean="0"/>
              <a:t>Expanding			   </a:t>
            </a:r>
            <a:r>
              <a:rPr lang="en-US" sz="2800" dirty="0" err="1" smtClean="0"/>
              <a:t>Factorising</a:t>
            </a:r>
            <a:endParaRPr lang="en-US" sz="2800" dirty="0" smtClean="0"/>
          </a:p>
          <a:p>
            <a:r>
              <a:rPr lang="en-US" sz="2800" dirty="0" smtClean="0"/>
              <a:t>      6 (a + 8)				6a + 48</a:t>
            </a:r>
          </a:p>
          <a:p>
            <a:r>
              <a:rPr lang="en-US" sz="2800" dirty="0" smtClean="0"/>
              <a:t>=   6 x a +  6 x 8		    HCF: 6</a:t>
            </a:r>
          </a:p>
          <a:p>
            <a:r>
              <a:rPr lang="en-US" sz="2800" dirty="0" smtClean="0"/>
              <a:t>=    6a	   +   48	               6 x ___ = 6a  &amp;  6 x ___ = 48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			    = 	6 ( a + 8 )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16216" y="5301208"/>
            <a:ext cx="43204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771800" y="4131583"/>
            <a:ext cx="576064" cy="483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81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2267</TotalTime>
  <Words>489</Words>
  <Application>Microsoft Office PowerPoint</Application>
  <PresentationFormat>On-screen Show (4:3)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Algebra   Factorising Expressions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Dwyer Pg 41- 3.11 (All the odd questions)</vt:lpstr>
      <vt:lpstr>Task- Fill in the blanks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84</cp:revision>
  <dcterms:created xsi:type="dcterms:W3CDTF">2014-05-14T02:58:57Z</dcterms:created>
  <dcterms:modified xsi:type="dcterms:W3CDTF">2017-03-16T08:15:17Z</dcterms:modified>
</cp:coreProperties>
</file>
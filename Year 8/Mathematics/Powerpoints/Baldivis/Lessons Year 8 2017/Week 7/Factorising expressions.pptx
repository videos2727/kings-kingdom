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3" r:id="rId2"/>
    <p:sldId id="264" r:id="rId3"/>
    <p:sldId id="257" r:id="rId4"/>
    <p:sldId id="258" r:id="rId5"/>
    <p:sldId id="260" r:id="rId6"/>
    <p:sldId id="266" r:id="rId7"/>
    <p:sldId id="267" r:id="rId8"/>
    <p:sldId id="268" r:id="rId9"/>
    <p:sldId id="262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2"/>
    <p:restoredTop sz="92197"/>
  </p:normalViewPr>
  <p:slideViewPr>
    <p:cSldViewPr>
      <p:cViewPr varScale="1">
        <p:scale>
          <a:sx n="51" d="100"/>
          <a:sy n="51" d="100"/>
        </p:scale>
        <p:origin x="1784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hook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</a:t>
            </a:r>
            <a:r>
              <a:rPr lang="en-AU" baseline="0" dirty="0" smtClean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Lesson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Input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Check</a:t>
            </a:r>
            <a:r>
              <a:rPr lang="en-AU" baseline="0" dirty="0" smtClean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Guided practice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Independent practice 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Closure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12/03/2017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Mental set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dirty="0" smtClean="0"/>
              <a:t>LHS-             What are the factors of 16?</a:t>
            </a:r>
          </a:p>
          <a:p>
            <a:pPr marL="0" indent="0">
              <a:buNone/>
            </a:pPr>
            <a:r>
              <a:rPr lang="en-AU" dirty="0" smtClean="0"/>
              <a:t>Find the  (HCF)Highest Common </a:t>
            </a:r>
            <a:r>
              <a:rPr lang="en-AU" dirty="0"/>
              <a:t>F</a:t>
            </a:r>
            <a:r>
              <a:rPr lang="en-AU" dirty="0" smtClean="0"/>
              <a:t>actor for</a:t>
            </a:r>
          </a:p>
          <a:p>
            <a:pPr marL="0" indent="0">
              <a:buNone/>
            </a:pPr>
            <a:endParaRPr lang="en-AU" dirty="0" smtClean="0"/>
          </a:p>
          <a:p>
            <a:pPr marL="514350" indent="-514350">
              <a:buAutoNum type="alphaLcParenR"/>
            </a:pPr>
            <a:r>
              <a:rPr lang="en-AU" dirty="0" smtClean="0"/>
              <a:t>20 and 35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 smtClean="0"/>
              <a:t>18a and 24a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 smtClean="0"/>
              <a:t>12</a:t>
            </a:r>
            <a:r>
              <a:rPr lang="en-AU" i="1" dirty="0" smtClean="0"/>
              <a:t>x</a:t>
            </a:r>
            <a:r>
              <a:rPr lang="en-AU" dirty="0" smtClean="0"/>
              <a:t> and 15</a:t>
            </a:r>
            <a:r>
              <a:rPr lang="en-AU" i="1" dirty="0" smtClean="0"/>
              <a:t>x</a:t>
            </a:r>
            <a:r>
              <a:rPr lang="en-AU" baseline="30000" dirty="0" smtClean="0"/>
              <a:t>2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–How do we factorise algebraic expressions?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Lesson objective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By the end of this lesson you will be able to;</a:t>
            </a:r>
          </a:p>
          <a:p>
            <a:pPr marL="0" indent="0" algn="ctr">
              <a:buNone/>
            </a:pPr>
            <a:endParaRPr lang="en-AU" dirty="0" smtClean="0"/>
          </a:p>
          <a:p>
            <a:pPr marL="0" indent="0" algn="ctr">
              <a:buNone/>
            </a:pPr>
            <a:endParaRPr lang="en-AU" dirty="0"/>
          </a:p>
          <a:p>
            <a:pPr algn="ctr">
              <a:buFontTx/>
              <a:buChar char="-"/>
            </a:pPr>
            <a:r>
              <a:rPr lang="en-AU" dirty="0" smtClean="0"/>
              <a:t>Factorise algebraic expressions</a:t>
            </a:r>
            <a:endParaRPr lang="en-AU" dirty="0"/>
          </a:p>
          <a:p>
            <a:pPr algn="ctr"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Success Criteria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You will know you are successful in achieving the objective by…</a:t>
            </a:r>
          </a:p>
          <a:p>
            <a:pPr marL="0" indent="0">
              <a:buNone/>
            </a:pPr>
            <a:r>
              <a:rPr lang="en-AU" dirty="0" smtClean="0"/>
              <a:t>If you</a:t>
            </a:r>
            <a:endParaRPr lang="en-AU" dirty="0"/>
          </a:p>
          <a:p>
            <a:pPr marL="0" indent="0">
              <a:buNone/>
            </a:pPr>
            <a:r>
              <a:rPr lang="en-AU" dirty="0" smtClean="0"/>
              <a:t>Factorise these correctly</a:t>
            </a:r>
            <a:r>
              <a:rPr lang="is-IS" dirty="0" smtClean="0"/>
              <a:t>… </a:t>
            </a:r>
            <a:r>
              <a:rPr lang="is-IS" dirty="0" smtClean="0"/>
              <a:t>	12</a:t>
            </a:r>
            <a:r>
              <a:rPr lang="is-IS" i="1" dirty="0" smtClean="0"/>
              <a:t>x</a:t>
            </a:r>
            <a:r>
              <a:rPr lang="is-IS" dirty="0" smtClean="0"/>
              <a:t> </a:t>
            </a:r>
            <a:r>
              <a:rPr lang="is-IS" dirty="0" smtClean="0"/>
              <a:t>+3</a:t>
            </a:r>
          </a:p>
          <a:p>
            <a:pPr marL="0" indent="0">
              <a:buNone/>
            </a:pPr>
            <a:r>
              <a:rPr lang="is-IS" dirty="0"/>
              <a:t>	</a:t>
            </a:r>
            <a:r>
              <a:rPr lang="is-IS" dirty="0" smtClean="0"/>
              <a:t>		</a:t>
            </a:r>
            <a:r>
              <a:rPr lang="is-IS" dirty="0" smtClean="0"/>
              <a:t>		12 </a:t>
            </a:r>
            <a:r>
              <a:rPr lang="is-IS" dirty="0" smtClean="0"/>
              <a:t>– 8</a:t>
            </a:r>
            <a:r>
              <a:rPr lang="is-IS" i="1" dirty="0" smtClean="0"/>
              <a:t>y</a:t>
            </a:r>
            <a:r>
              <a:rPr lang="is-IS" dirty="0" smtClean="0"/>
              <a:t>	</a:t>
            </a:r>
          </a:p>
          <a:p>
            <a:pPr marL="0" indent="0">
              <a:buNone/>
            </a:pPr>
            <a:r>
              <a:rPr lang="is-IS" dirty="0" smtClean="0"/>
              <a:t>			</a:t>
            </a:r>
            <a:r>
              <a:rPr lang="is-IS" dirty="0" smtClean="0"/>
              <a:t>		21</a:t>
            </a:r>
            <a:r>
              <a:rPr lang="is-IS" i="1" dirty="0" smtClean="0"/>
              <a:t>hm</a:t>
            </a:r>
            <a:r>
              <a:rPr lang="is-IS" dirty="0" smtClean="0"/>
              <a:t> </a:t>
            </a:r>
            <a:r>
              <a:rPr lang="is-IS" dirty="0" smtClean="0"/>
              <a:t>– 9mx</a:t>
            </a:r>
            <a:endParaRPr lang="en-AU" dirty="0" smtClean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210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–How do we Factorising algebraic fractions?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4272285" y="2809506"/>
            <a:ext cx="3515247" cy="24079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499992" y="3111520"/>
            <a:ext cx="852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 smtClean="0"/>
              <a:t>xy</a:t>
            </a:r>
            <a:endParaRPr lang="en-US" sz="3200" dirty="0"/>
          </a:p>
        </p:txBody>
      </p:sp>
      <p:sp>
        <p:nvSpPr>
          <p:cNvPr id="13" name="TextBox 12"/>
          <p:cNvSpPr txBox="1"/>
          <p:nvPr/>
        </p:nvSpPr>
        <p:spPr>
          <a:xfrm>
            <a:off x="6523680" y="3244625"/>
            <a:ext cx="730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3x</a:t>
            </a:r>
            <a:endParaRPr lang="en-US" sz="3200" dirty="0"/>
          </a:p>
        </p:txBody>
      </p:sp>
      <p:sp>
        <p:nvSpPr>
          <p:cNvPr id="14" name="TextBox 13"/>
          <p:cNvSpPr txBox="1"/>
          <p:nvPr/>
        </p:nvSpPr>
        <p:spPr>
          <a:xfrm>
            <a:off x="4499992" y="4149080"/>
            <a:ext cx="1080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2y</a:t>
            </a:r>
            <a:endParaRPr lang="en-US" sz="3200" dirty="0"/>
          </a:p>
        </p:txBody>
      </p:sp>
      <p:sp>
        <p:nvSpPr>
          <p:cNvPr id="15" name="TextBox 14"/>
          <p:cNvSpPr txBox="1"/>
          <p:nvPr/>
        </p:nvSpPr>
        <p:spPr>
          <a:xfrm flipV="1">
            <a:off x="6444208" y="4351306"/>
            <a:ext cx="576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9992" y="2018288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y</a:t>
            </a:r>
            <a:endParaRPr lang="en-US" sz="36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228184" y="2018288"/>
            <a:ext cx="12109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3</a:t>
            </a:r>
            <a:endParaRPr lang="en-US" sz="36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275856" y="3262819"/>
            <a:ext cx="720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x</a:t>
            </a:r>
            <a:endParaRPr lang="en-US" sz="32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3275856" y="4302387"/>
            <a:ext cx="720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mtClean="0"/>
              <a:t>2</a:t>
            </a:r>
            <a:endParaRPr lang="en-US" sz="3200" b="1"/>
          </a:p>
        </p:txBody>
      </p:sp>
      <p:sp>
        <p:nvSpPr>
          <p:cNvPr id="20" name="TextBox 19"/>
          <p:cNvSpPr txBox="1"/>
          <p:nvPr/>
        </p:nvSpPr>
        <p:spPr>
          <a:xfrm flipH="1">
            <a:off x="3275856" y="5362350"/>
            <a:ext cx="35283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We multiply  then have four </a:t>
            </a:r>
            <a:r>
              <a:rPr lang="en-US" sz="3200" smtClean="0"/>
              <a:t>terms  </a:t>
            </a:r>
          </a:p>
          <a:p>
            <a:r>
              <a:rPr lang="en-US" sz="3200" smtClean="0"/>
              <a:t>xy</a:t>
            </a:r>
            <a:r>
              <a:rPr lang="en-US" sz="3200" dirty="0" smtClean="0"/>
              <a:t> + 3x + 2y + 6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620688"/>
            <a:ext cx="57606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AU" sz="4000" dirty="0" smtClean="0"/>
          </a:p>
          <a:p>
            <a:pPr algn="ctr"/>
            <a:r>
              <a:rPr lang="en-AU" sz="4000" dirty="0" smtClean="0"/>
              <a:t>Check for Understanding</a:t>
            </a:r>
            <a:endParaRPr lang="en-AU"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611560" y="2852936"/>
            <a:ext cx="863360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12x + 3 First find the common factor or HCF in this case, 3</a:t>
            </a:r>
          </a:p>
          <a:p>
            <a:r>
              <a:rPr lang="en-US" sz="3600" dirty="0" smtClean="0"/>
              <a:t>Then divide 12x and 3 both by 3.  If you are not sure, expand the expression then put the factor at the front of the bracket and the rest inside.</a:t>
            </a:r>
          </a:p>
          <a:p>
            <a:r>
              <a:rPr lang="en-US" sz="3600" dirty="0" smtClean="0"/>
              <a:t>So 3(4x +1)</a:t>
            </a:r>
          </a:p>
          <a:p>
            <a:r>
              <a:rPr lang="en-US" sz="3600" dirty="0" smtClean="0"/>
              <a:t>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/>
              <a:t>Guided Practice</a:t>
            </a:r>
            <a:endParaRPr lang="en-AU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251521" y="2420888"/>
            <a:ext cx="87129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2. </a:t>
            </a:r>
          </a:p>
          <a:p>
            <a:r>
              <a:rPr lang="en-US" sz="3600" dirty="0" smtClean="0"/>
              <a:t>12 - 8y, the factors of 12 are 1, 2, 3, 4, 6 and 12</a:t>
            </a:r>
          </a:p>
          <a:p>
            <a:r>
              <a:rPr lang="en-US" sz="3600" dirty="0" smtClean="0"/>
              <a:t>The factors of 8 are 1, 2, 4 and 8</a:t>
            </a:r>
          </a:p>
          <a:p>
            <a:r>
              <a:rPr lang="en-US" sz="3600" dirty="0" smtClean="0"/>
              <a:t>The COMMON factors are 1, 2 and 4, so the HCF is 4.</a:t>
            </a:r>
          </a:p>
          <a:p>
            <a:r>
              <a:rPr lang="en-US" sz="3600" dirty="0" smtClean="0"/>
              <a:t>4(3 - 2y)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59632" y="1556792"/>
            <a:ext cx="295232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3. </a:t>
            </a:r>
          </a:p>
          <a:p>
            <a:r>
              <a:rPr lang="en-US" sz="3600" b="1" dirty="0" smtClean="0"/>
              <a:t>21hm - 9m</a:t>
            </a:r>
            <a:r>
              <a:rPr lang="en-US" sz="3600" b="1" i="1" dirty="0" smtClean="0"/>
              <a:t>x</a:t>
            </a:r>
          </a:p>
          <a:p>
            <a:r>
              <a:rPr lang="en-US" sz="3600" dirty="0" smtClean="0"/>
              <a:t>3 x 7 x h x m –</a:t>
            </a:r>
          </a:p>
          <a:p>
            <a:r>
              <a:rPr lang="en-US" sz="3600" dirty="0" smtClean="0"/>
              <a:t>3 x 3x m x (</a:t>
            </a:r>
            <a:r>
              <a:rPr lang="en-US" sz="3600" i="1" dirty="0" smtClean="0"/>
              <a:t>x</a:t>
            </a:r>
            <a:r>
              <a:rPr lang="en-US" sz="3600" dirty="0" smtClean="0"/>
              <a:t>) find the HCF’s</a:t>
            </a:r>
          </a:p>
          <a:p>
            <a:r>
              <a:rPr lang="en-US" sz="3600" dirty="0" smtClean="0"/>
              <a:t>3 &amp; m, / by these</a:t>
            </a:r>
            <a:r>
              <a:rPr lang="is-IS" sz="3600" dirty="0" smtClean="0"/>
              <a:t>…</a:t>
            </a:r>
            <a:endParaRPr lang="en-US" sz="3600" dirty="0" smtClean="0"/>
          </a:p>
          <a:p>
            <a:r>
              <a:rPr lang="en-US" sz="3600" dirty="0" smtClean="0"/>
              <a:t>Did you get</a:t>
            </a:r>
            <a:r>
              <a:rPr lang="is-IS" sz="3600" dirty="0"/>
              <a:t> </a:t>
            </a:r>
            <a:r>
              <a:rPr lang="en-US" sz="3600" b="1" dirty="0" smtClean="0"/>
              <a:t>3m(7h-3</a:t>
            </a:r>
            <a:r>
              <a:rPr lang="en-US" sz="3600" b="1" i="1" dirty="0" smtClean="0"/>
              <a:t>x</a:t>
            </a:r>
            <a:r>
              <a:rPr lang="en-US" sz="3600" b="1" dirty="0" smtClean="0"/>
              <a:t>)</a:t>
            </a:r>
            <a:r>
              <a:rPr lang="en-US" sz="3600" dirty="0" smtClean="0"/>
              <a:t>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2925952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How to simplify? 5x + 10/ 7x +14</a:t>
            </a:r>
          </a:p>
          <a:p>
            <a:r>
              <a:rPr lang="en-AU" dirty="0" smtClean="0"/>
              <a:t>Find </a:t>
            </a:r>
            <a:r>
              <a:rPr lang="en-AU" dirty="0" smtClean="0"/>
              <a:t>common </a:t>
            </a:r>
            <a:r>
              <a:rPr lang="en-AU" dirty="0" smtClean="0"/>
              <a:t>factors</a:t>
            </a:r>
            <a:r>
              <a:rPr lang="is-IS" dirty="0" smtClean="0"/>
              <a:t>….</a:t>
            </a:r>
            <a:r>
              <a:rPr lang="is-IS" dirty="0" smtClean="0"/>
              <a:t>x + 2....</a:t>
            </a:r>
            <a:endParaRPr lang="en-AU" dirty="0"/>
          </a:p>
          <a:p>
            <a:r>
              <a:rPr lang="en-AU" dirty="0" smtClean="0"/>
              <a:t>Try 5 ( x + 2 ) / 7 ( x + 2 )</a:t>
            </a:r>
          </a:p>
          <a:p>
            <a:r>
              <a:rPr lang="en-AU" dirty="0" smtClean="0"/>
              <a:t> then simplify</a:t>
            </a:r>
            <a:endParaRPr lang="en-AU" dirty="0"/>
          </a:p>
          <a:p>
            <a:r>
              <a:rPr lang="en-AU" dirty="0" smtClean="0"/>
              <a:t>So</a:t>
            </a:r>
            <a:r>
              <a:rPr lang="is-IS" dirty="0" smtClean="0"/>
              <a:t>…. 5/7</a:t>
            </a:r>
            <a:endParaRPr lang="en-AU" dirty="0" smtClean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Closure activity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Success Criteria</a:t>
            </a:r>
          </a:p>
          <a:p>
            <a:pPr marL="0" indent="0">
              <a:buNone/>
            </a:pPr>
            <a:r>
              <a:rPr lang="en-AU" dirty="0" smtClean="0"/>
              <a:t>Thumbs up </a:t>
            </a:r>
            <a:r>
              <a:rPr lang="en-AU" dirty="0" err="1" smtClean="0"/>
              <a:t>etc</a:t>
            </a:r>
            <a:endParaRPr lang="en-AU" dirty="0" smtClean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 smtClean="0"/>
              <a:t>Extension </a:t>
            </a:r>
            <a:r>
              <a:rPr lang="en-AU" dirty="0" err="1" smtClean="0"/>
              <a:t>Qn</a:t>
            </a:r>
            <a:r>
              <a:rPr lang="en-AU" dirty="0" smtClean="0"/>
              <a:t> : Factorise</a:t>
            </a:r>
          </a:p>
          <a:p>
            <a:pPr marL="0" indent="0">
              <a:buNone/>
            </a:pPr>
            <a:r>
              <a:rPr lang="en-AU" dirty="0" smtClean="0"/>
              <a:t>3(x + 1) +5 (x +1) by expanding, simplifying and factorising.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359</Words>
  <Application>Microsoft Macintosh PowerPoint</Application>
  <PresentationFormat>On-screen Show (4:3)</PresentationFormat>
  <Paragraphs>90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Arial</vt:lpstr>
      <vt:lpstr>Office Theme</vt:lpstr>
      <vt:lpstr>Mental set</vt:lpstr>
      <vt:lpstr>PowerPoint Presentation</vt:lpstr>
      <vt:lpstr>Lesson objective</vt:lpstr>
      <vt:lpstr>Success Criteria</vt:lpstr>
      <vt:lpstr>PowerPoint Presentation</vt:lpstr>
      <vt:lpstr>PowerPoint Presentation</vt:lpstr>
      <vt:lpstr>PowerPoint Presentation</vt:lpstr>
      <vt:lpstr>PowerPoint Presentation</vt:lpstr>
      <vt:lpstr>Activity</vt:lpstr>
      <vt:lpstr>Closure activity</vt:lpstr>
    </vt:vector>
  </TitlesOfParts>
  <Company>The Department of Education</Company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PATERSON Anne</cp:lastModifiedBy>
  <cp:revision>11</cp:revision>
  <dcterms:created xsi:type="dcterms:W3CDTF">2016-10-20T03:14:06Z</dcterms:created>
  <dcterms:modified xsi:type="dcterms:W3CDTF">2017-03-12T10:49:05Z</dcterms:modified>
</cp:coreProperties>
</file>
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60" r:id="rId2"/>
    <p:sldId id="257" r:id="rId3"/>
    <p:sldId id="286" r:id="rId4"/>
    <p:sldId id="274" r:id="rId5"/>
    <p:sldId id="258" r:id="rId6"/>
    <p:sldId id="275" r:id="rId7"/>
    <p:sldId id="276" r:id="rId8"/>
    <p:sldId id="277" r:id="rId9"/>
    <p:sldId id="278" r:id="rId10"/>
    <p:sldId id="279" r:id="rId11"/>
    <p:sldId id="280" r:id="rId12"/>
    <p:sldId id="272" r:id="rId13"/>
    <p:sldId id="281" r:id="rId14"/>
    <p:sldId id="282" r:id="rId15"/>
    <p:sldId id="283" r:id="rId16"/>
    <p:sldId id="284" r:id="rId17"/>
    <p:sldId id="285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829"/>
    <p:restoredTop sz="94674"/>
  </p:normalViewPr>
  <p:slideViewPr>
    <p:cSldViewPr snapToGrid="0" snapToObjects="1">
      <p:cViewPr>
        <p:scale>
          <a:sx n="130" d="100"/>
          <a:sy n="130" d="100"/>
        </p:scale>
        <p:origin x="384" y="-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A46A0E-FF27-B546-8D48-B21D599AAA39}" type="datetimeFigureOut">
              <a:rPr lang="en-US" smtClean="0"/>
              <a:t>3/12/17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F005D-10D6-CE40-8C02-461E214D5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385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DF005D-10D6-CE40-8C02-461E214D584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44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D2CFF-4863-5346-8641-1B68230FCB39}" type="datetimeFigureOut">
              <a:rPr lang="en-US" smtClean="0"/>
              <a:t>3/12/17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436D-3D72-844C-9A25-80A86732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386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D2CFF-4863-5346-8641-1B68230FCB39}" type="datetimeFigureOut">
              <a:rPr lang="en-US" smtClean="0"/>
              <a:t>3/12/17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436D-3D72-844C-9A25-80A86732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044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D2CFF-4863-5346-8641-1B68230FCB39}" type="datetimeFigureOut">
              <a:rPr lang="en-US" smtClean="0"/>
              <a:t>3/12/17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436D-3D72-844C-9A25-80A86732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144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D2CFF-4863-5346-8641-1B68230FCB39}" type="datetimeFigureOut">
              <a:rPr lang="en-US" smtClean="0"/>
              <a:t>3/12/17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436D-3D72-844C-9A25-80A86732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3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D2CFF-4863-5346-8641-1B68230FCB39}" type="datetimeFigureOut">
              <a:rPr lang="en-US" smtClean="0"/>
              <a:t>3/12/17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436D-3D72-844C-9A25-80A86732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805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D2CFF-4863-5346-8641-1B68230FCB39}" type="datetimeFigureOut">
              <a:rPr lang="en-US" smtClean="0"/>
              <a:t>3/12/17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436D-3D72-844C-9A25-80A86732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89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D2CFF-4863-5346-8641-1B68230FCB39}" type="datetimeFigureOut">
              <a:rPr lang="en-US" smtClean="0"/>
              <a:t>3/12/17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436D-3D72-844C-9A25-80A86732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772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D2CFF-4863-5346-8641-1B68230FCB39}" type="datetimeFigureOut">
              <a:rPr lang="en-US" smtClean="0"/>
              <a:t>3/12/17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436D-3D72-844C-9A25-80A86732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68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D2CFF-4863-5346-8641-1B68230FCB39}" type="datetimeFigureOut">
              <a:rPr lang="en-US" smtClean="0"/>
              <a:t>3/12/17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436D-3D72-844C-9A25-80A86732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478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D2CFF-4863-5346-8641-1B68230FCB39}" type="datetimeFigureOut">
              <a:rPr lang="en-US" smtClean="0"/>
              <a:t>3/12/17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436D-3D72-844C-9A25-80A86732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20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D2CFF-4863-5346-8641-1B68230FCB39}" type="datetimeFigureOut">
              <a:rPr lang="en-US" smtClean="0"/>
              <a:t>3/12/17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436D-3D72-844C-9A25-80A86732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661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D2CFF-4863-5346-8641-1B68230FCB39}" type="datetimeFigureOut">
              <a:rPr lang="en-US" smtClean="0"/>
              <a:t>3/12/17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3C436D-3D72-844C-9A25-80A86732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69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4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2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5560" y="332657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83765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Warm-Up Questions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sz="3200" dirty="0" smtClean="0"/>
              <a:t>LHS </a:t>
            </a:r>
            <a:r>
              <a:rPr lang="mr-IN" sz="3200" dirty="0" smtClean="0"/>
              <a:t>–</a:t>
            </a:r>
            <a:r>
              <a:rPr lang="en-US" sz="3200" dirty="0" smtClean="0"/>
              <a:t> Simplify the Following:</a:t>
            </a:r>
          </a:p>
          <a:p>
            <a:endParaRPr lang="en-US" sz="3200" dirty="0"/>
          </a:p>
          <a:p>
            <a:r>
              <a:rPr lang="en-US" sz="3200" dirty="0" smtClean="0"/>
              <a:t>3d + 4d</a:t>
            </a:r>
          </a:p>
          <a:p>
            <a:endParaRPr lang="en-US" sz="3200" dirty="0"/>
          </a:p>
          <a:p>
            <a:r>
              <a:rPr lang="en-US" sz="3200" dirty="0" smtClean="0"/>
              <a:t>3 x 5v</a:t>
            </a:r>
          </a:p>
          <a:p>
            <a:endParaRPr lang="en-US" sz="3200" dirty="0" smtClean="0"/>
          </a:p>
          <a:p>
            <a:r>
              <a:rPr lang="en-US" sz="3200" dirty="0" smtClean="0"/>
              <a:t>16n ÷ 12</a:t>
            </a:r>
          </a:p>
          <a:p>
            <a:endParaRPr lang="en-US" sz="3200" dirty="0"/>
          </a:p>
          <a:p>
            <a:r>
              <a:rPr lang="en-US" sz="3200" dirty="0" smtClean="0"/>
              <a:t>2c</a:t>
            </a:r>
            <a:r>
              <a:rPr lang="en-US" sz="3200" baseline="30000" dirty="0" smtClean="0"/>
              <a:t>3</a:t>
            </a:r>
            <a:r>
              <a:rPr lang="en-US" sz="3200" dirty="0" smtClean="0"/>
              <a:t> x 3c</a:t>
            </a:r>
          </a:p>
          <a:p>
            <a:endParaRPr lang="en-US" sz="3200" dirty="0"/>
          </a:p>
          <a:p>
            <a:r>
              <a:rPr lang="en-US" sz="3200" dirty="0" smtClean="0"/>
              <a:t>24d</a:t>
            </a:r>
            <a:r>
              <a:rPr lang="en-US" sz="3200" baseline="30000" dirty="0" smtClean="0"/>
              <a:t>3</a:t>
            </a:r>
            <a:r>
              <a:rPr lang="en-US" sz="3200" dirty="0"/>
              <a:t> </a:t>
            </a:r>
            <a:r>
              <a:rPr lang="en-US" sz="3200" dirty="0" smtClean="0"/>
              <a:t>÷ 12d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17246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7820" y="304800"/>
            <a:ext cx="11838038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Objective</a:t>
            </a:r>
          </a:p>
          <a:p>
            <a:pPr algn="ctr"/>
            <a:endParaRPr lang="en-US" sz="6600" dirty="0"/>
          </a:p>
          <a:p>
            <a:endParaRPr lang="en-US" sz="5400" dirty="0"/>
          </a:p>
          <a:p>
            <a:pPr algn="ctr"/>
            <a:r>
              <a:rPr lang="en-US" sz="5400" dirty="0"/>
              <a:t>By the end of this lesson, you will be able to use the Distributive Law to simplify basic algebraic expressions.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68232122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8213" y="1"/>
            <a:ext cx="7772400" cy="1470025"/>
          </a:xfrm>
        </p:spPr>
        <p:txBody>
          <a:bodyPr anchor="ctr"/>
          <a:lstStyle/>
          <a:p>
            <a:r>
              <a:rPr lang="en-US" altLang="x-none" sz="4400" b="1">
                <a:solidFill>
                  <a:srgbClr val="008000"/>
                </a:solidFill>
              </a:rPr>
              <a:t>The Distributive Law</a:t>
            </a:r>
            <a:r>
              <a:rPr lang="en-US" altLang="x-none" sz="4400"/>
              <a:t> 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527800" y="1484314"/>
            <a:ext cx="3200400" cy="4249737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altLang="x-none" sz="2800"/>
              <a:t>In a car the “Distributor” puts electric charge onto several different spark plugs.</a:t>
            </a:r>
            <a:br>
              <a:rPr lang="en-US" altLang="x-none" sz="2800"/>
            </a:br>
            <a:r>
              <a:rPr lang="en-US" altLang="x-none" sz="2800"/>
              <a:t> </a:t>
            </a:r>
            <a:br>
              <a:rPr lang="en-US" altLang="x-none" sz="2800"/>
            </a:br>
            <a:r>
              <a:rPr lang="en-US" altLang="x-none" sz="2800"/>
              <a:t>In maths we will distribute one item to multiply onto several other different items.  </a:t>
            </a:r>
          </a:p>
        </p:txBody>
      </p:sp>
      <p:pic>
        <p:nvPicPr>
          <p:cNvPr id="9220" name="Picture 4" descr="IgnitionDiagram"/>
          <p:cNvPicPr>
            <a:picLocks noChangeAspect="1" noChangeArrowheads="1"/>
          </p:cNvPicPr>
          <p:nvPr/>
        </p:nvPicPr>
        <p:blipFill>
          <a:blip r:embed="rId2">
            <a:lum bright="-6000"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3" y="1700213"/>
            <a:ext cx="3960812" cy="353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2351089" y="5516563"/>
            <a:ext cx="3457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1400" b="1">
                <a:solidFill>
                  <a:srgbClr val="3399FF"/>
                </a:solidFill>
              </a:rPr>
              <a:t>Image source: www.familycar.com</a:t>
            </a:r>
          </a:p>
        </p:txBody>
      </p:sp>
    </p:spTree>
    <p:extLst>
      <p:ext uri="{BB962C8B-B14F-4D97-AF65-F5344CB8AC3E}">
        <p14:creationId xmlns:p14="http://schemas.microsoft.com/office/powerpoint/2010/main" val="1416873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8459" y="2777986"/>
            <a:ext cx="56355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=gw893STHN9w&amp;t=1s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4045" y="706054"/>
            <a:ext cx="501900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Mashup Math Video</a:t>
            </a:r>
          </a:p>
          <a:p>
            <a:r>
              <a:rPr lang="en-US" sz="3200" dirty="0" smtClean="0"/>
              <a:t>Distributive Property </a:t>
            </a:r>
            <a:r>
              <a:rPr lang="mr-IN" sz="3200" dirty="0" smtClean="0"/>
              <a:t>–</a:t>
            </a:r>
            <a:r>
              <a:rPr lang="en-US" sz="3200" dirty="0" smtClean="0"/>
              <a:t> Sushi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14829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0" y="0"/>
            <a:ext cx="8229600" cy="1143000"/>
          </a:xfrm>
        </p:spPr>
        <p:txBody>
          <a:bodyPr/>
          <a:lstStyle/>
          <a:p>
            <a:r>
              <a:rPr lang="en-US" altLang="x-none" b="1">
                <a:solidFill>
                  <a:srgbClr val="008000"/>
                </a:solidFill>
              </a:rPr>
              <a:t>Several Ways to do our Maths </a:t>
            </a:r>
            <a:endParaRPr lang="en-AU" altLang="x-none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2648" y="1302109"/>
            <a:ext cx="8229600" cy="5040312"/>
          </a:xfrm>
        </p:spPr>
        <p:txBody>
          <a:bodyPr/>
          <a:lstStyle/>
          <a:p>
            <a:pPr marL="609600" indent="-609600">
              <a:buNone/>
            </a:pPr>
            <a:r>
              <a:rPr lang="en-US" altLang="x-none" dirty="0">
                <a:solidFill>
                  <a:srgbClr val="000099"/>
                </a:solidFill>
              </a:rPr>
              <a:t>  For the numeric expression below, there are three ways we can get to the answer:</a:t>
            </a:r>
            <a:br>
              <a:rPr lang="en-US" altLang="x-none" dirty="0">
                <a:solidFill>
                  <a:srgbClr val="000099"/>
                </a:solidFill>
              </a:rPr>
            </a:br>
            <a:r>
              <a:rPr lang="en-US" altLang="x-none" dirty="0">
                <a:solidFill>
                  <a:srgbClr val="000099"/>
                </a:solidFill>
              </a:rPr>
              <a:t> </a:t>
            </a:r>
            <a:br>
              <a:rPr lang="en-US" altLang="x-none" dirty="0">
                <a:solidFill>
                  <a:srgbClr val="000099"/>
                </a:solidFill>
              </a:rPr>
            </a:br>
            <a:r>
              <a:rPr lang="en-US" altLang="x-none" dirty="0">
                <a:solidFill>
                  <a:srgbClr val="000099"/>
                </a:solidFill>
              </a:rPr>
              <a:t> </a:t>
            </a:r>
            <a:r>
              <a:rPr lang="en-US" altLang="x-none" dirty="0"/>
              <a:t>          </a:t>
            </a:r>
            <a:r>
              <a:rPr lang="en-US" altLang="x-none" sz="4400" dirty="0"/>
              <a:t>2 (4 + 3) = 14 </a:t>
            </a:r>
            <a:br>
              <a:rPr lang="en-US" altLang="x-none" sz="4400" dirty="0"/>
            </a:br>
            <a:endParaRPr lang="en-US" altLang="x-none" sz="4400" dirty="0"/>
          </a:p>
          <a:p>
            <a:pPr marL="609600" indent="-609600">
              <a:buFontTx/>
              <a:buAutoNum type="arabicParenR"/>
            </a:pPr>
            <a:r>
              <a:rPr lang="en-AU" altLang="x-none" dirty="0">
                <a:solidFill>
                  <a:srgbClr val="000099"/>
                </a:solidFill>
              </a:rPr>
              <a:t>Using “</a:t>
            </a:r>
            <a:r>
              <a:rPr lang="en-AU" altLang="x-none" dirty="0" smtClean="0">
                <a:solidFill>
                  <a:srgbClr val="000099"/>
                </a:solidFill>
              </a:rPr>
              <a:t>BIMDAS</a:t>
            </a:r>
            <a:r>
              <a:rPr lang="en-AU" altLang="x-none" dirty="0">
                <a:solidFill>
                  <a:srgbClr val="000099"/>
                </a:solidFill>
              </a:rPr>
              <a:t>” </a:t>
            </a:r>
          </a:p>
          <a:p>
            <a:pPr marL="609600" indent="-609600">
              <a:buFontTx/>
              <a:buAutoNum type="arabicParenR"/>
            </a:pPr>
            <a:r>
              <a:rPr lang="en-AU" altLang="x-none" dirty="0">
                <a:solidFill>
                  <a:srgbClr val="000099"/>
                </a:solidFill>
              </a:rPr>
              <a:t>Changing multiply to adding “lots of”</a:t>
            </a:r>
          </a:p>
          <a:p>
            <a:pPr marL="609600" indent="-609600">
              <a:buFontTx/>
              <a:buAutoNum type="arabicParenR"/>
            </a:pPr>
            <a:r>
              <a:rPr lang="en-AU" altLang="x-none" dirty="0">
                <a:solidFill>
                  <a:srgbClr val="000099"/>
                </a:solidFill>
              </a:rPr>
              <a:t>Using the “Distributive Law” </a:t>
            </a:r>
            <a:br>
              <a:rPr lang="en-AU" altLang="x-none" dirty="0">
                <a:solidFill>
                  <a:srgbClr val="000099"/>
                </a:solidFill>
              </a:rPr>
            </a:br>
            <a:endParaRPr lang="en-AU" altLang="x-none" dirty="0">
              <a:solidFill>
                <a:srgbClr val="000099"/>
              </a:solidFill>
            </a:endParaRPr>
          </a:p>
        </p:txBody>
      </p:sp>
      <p:sp>
        <p:nvSpPr>
          <p:cNvPr id="3078" name="Oval 6"/>
          <p:cNvSpPr>
            <a:spLocks noChangeArrowheads="1"/>
          </p:cNvSpPr>
          <p:nvPr/>
        </p:nvSpPr>
        <p:spPr bwMode="auto">
          <a:xfrm>
            <a:off x="5832733" y="2375464"/>
            <a:ext cx="1081087" cy="863600"/>
          </a:xfrm>
          <a:prstGeom prst="ellips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3079" name="Picture 7" descr="greenti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299" y="2088127"/>
            <a:ext cx="982662" cy="115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2253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noFill/>
          <a:ln w="22225">
            <a:solidFill>
              <a:srgbClr val="008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x-none" b="1" dirty="0">
                <a:solidFill>
                  <a:srgbClr val="008000"/>
                </a:solidFill>
              </a:rPr>
              <a:t>Use “</a:t>
            </a:r>
            <a:r>
              <a:rPr lang="en-US" altLang="x-none" b="1" dirty="0" smtClean="0">
                <a:solidFill>
                  <a:srgbClr val="008000"/>
                </a:solidFill>
              </a:rPr>
              <a:t>BIDMAS</a:t>
            </a:r>
            <a:r>
              <a:rPr lang="en-US" altLang="x-none" b="1" dirty="0">
                <a:solidFill>
                  <a:srgbClr val="008000"/>
                </a:solidFill>
              </a:rPr>
              <a:t>” Order </a:t>
            </a:r>
            <a:endParaRPr lang="en-AU" altLang="x-none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x-none" dirty="0">
                <a:solidFill>
                  <a:srgbClr val="000099"/>
                </a:solidFill>
              </a:rPr>
              <a:t>When we apply “</a:t>
            </a:r>
            <a:r>
              <a:rPr lang="en-US" altLang="x-none" dirty="0" smtClean="0">
                <a:solidFill>
                  <a:srgbClr val="000099"/>
                </a:solidFill>
              </a:rPr>
              <a:t>BIDMAS</a:t>
            </a:r>
            <a:r>
              <a:rPr lang="en-US" altLang="x-none" dirty="0">
                <a:solidFill>
                  <a:srgbClr val="000099"/>
                </a:solidFill>
              </a:rPr>
              <a:t>” to the expression below, we need to do “Brackets” before “Multiplying”.</a:t>
            </a:r>
            <a:br>
              <a:rPr lang="en-US" altLang="x-none" dirty="0">
                <a:solidFill>
                  <a:srgbClr val="000099"/>
                </a:solidFill>
              </a:rPr>
            </a:br>
            <a:r>
              <a:rPr lang="en-US" altLang="x-none" dirty="0">
                <a:solidFill>
                  <a:srgbClr val="000099"/>
                </a:solidFill>
              </a:rPr>
              <a:t> </a:t>
            </a:r>
            <a:r>
              <a:rPr lang="en-US" altLang="x-none" dirty="0"/>
              <a:t>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x-none" sz="4400" dirty="0">
                <a:solidFill>
                  <a:srgbClr val="FF0000"/>
                </a:solidFill>
              </a:rPr>
              <a:t>2</a:t>
            </a:r>
            <a:r>
              <a:rPr lang="en-US" altLang="x-none" sz="4400" dirty="0"/>
              <a:t> (4 + 3) = </a:t>
            </a:r>
            <a:r>
              <a:rPr lang="en-US" altLang="x-none" sz="4400" dirty="0">
                <a:solidFill>
                  <a:srgbClr val="FF0000"/>
                </a:solidFill>
              </a:rPr>
              <a:t>2 x </a:t>
            </a:r>
            <a:r>
              <a:rPr lang="en-US" altLang="x-none" sz="4400" dirty="0"/>
              <a:t>(4+3) </a:t>
            </a:r>
            <a:br>
              <a:rPr lang="en-US" altLang="x-none" sz="4400" dirty="0"/>
            </a:br>
            <a:r>
              <a:rPr lang="en-US" altLang="x-none" sz="4400" dirty="0"/>
              <a:t>             = </a:t>
            </a:r>
            <a:r>
              <a:rPr lang="en-US" altLang="x-none" sz="4400" dirty="0">
                <a:solidFill>
                  <a:srgbClr val="FF0000"/>
                </a:solidFill>
              </a:rPr>
              <a:t>2 x </a:t>
            </a:r>
            <a:r>
              <a:rPr lang="en-US" altLang="x-none" sz="4400" dirty="0"/>
              <a:t>(7)</a:t>
            </a:r>
            <a:r>
              <a:rPr lang="en-US" altLang="x-none" sz="4400" dirty="0">
                <a:solidFill>
                  <a:srgbClr val="FF0000"/>
                </a:solidFill>
              </a:rPr>
              <a:t> </a:t>
            </a:r>
            <a:r>
              <a:rPr lang="en-US" altLang="x-none" sz="4400" dirty="0"/>
              <a:t/>
            </a:r>
            <a:br>
              <a:rPr lang="en-US" altLang="x-none" sz="4400" dirty="0"/>
            </a:br>
            <a:r>
              <a:rPr lang="en-US" altLang="x-none" sz="4400" dirty="0"/>
              <a:t>	          = </a:t>
            </a:r>
            <a:r>
              <a:rPr lang="en-US" altLang="x-none" sz="4400" dirty="0">
                <a:solidFill>
                  <a:srgbClr val="FF0000"/>
                </a:solidFill>
              </a:rPr>
              <a:t>2 x </a:t>
            </a:r>
            <a:r>
              <a:rPr lang="en-US" altLang="x-none" sz="4400" dirty="0"/>
              <a:t>7</a:t>
            </a:r>
            <a:br>
              <a:rPr lang="en-US" altLang="x-none" sz="4400" dirty="0"/>
            </a:br>
            <a:r>
              <a:rPr lang="en-US" altLang="x-none" sz="4400" dirty="0"/>
              <a:t>              = 14 </a:t>
            </a:r>
            <a:endParaRPr lang="en-AU" altLang="x-none" sz="4400" dirty="0"/>
          </a:p>
        </p:txBody>
      </p:sp>
      <p:sp>
        <p:nvSpPr>
          <p:cNvPr id="8196" name="Oval 4"/>
          <p:cNvSpPr>
            <a:spLocks noChangeArrowheads="1"/>
          </p:cNvSpPr>
          <p:nvPr/>
        </p:nvSpPr>
        <p:spPr bwMode="auto">
          <a:xfrm>
            <a:off x="3210388" y="4868044"/>
            <a:ext cx="1081087" cy="863600"/>
          </a:xfrm>
          <a:prstGeom prst="ellips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197" name="Picture 5" descr="greenti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8377" y="4580706"/>
            <a:ext cx="982662" cy="1150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4615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noFill/>
          <a:ln w="22225">
            <a:solidFill>
              <a:srgbClr val="008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x-none" b="1">
                <a:solidFill>
                  <a:srgbClr val="008000"/>
                </a:solidFill>
              </a:rPr>
              <a:t>Change Multiply to Addition</a:t>
            </a:r>
            <a:r>
              <a:rPr lang="en-US" altLang="x-none"/>
              <a:t> </a:t>
            </a:r>
            <a:endParaRPr lang="en-AU" altLang="x-none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x-none" dirty="0">
                <a:solidFill>
                  <a:srgbClr val="000099"/>
                </a:solidFill>
              </a:rPr>
              <a:t>Multiplying means having something several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x-none" dirty="0">
                <a:solidFill>
                  <a:srgbClr val="000099"/>
                </a:solidFill>
              </a:rPr>
              <a:t>times. (</a:t>
            </a:r>
            <a:r>
              <a:rPr lang="en-US" altLang="x-none" dirty="0" err="1">
                <a:solidFill>
                  <a:srgbClr val="000099"/>
                </a:solidFill>
              </a:rPr>
              <a:t>Eg</a:t>
            </a:r>
            <a:r>
              <a:rPr lang="en-US" altLang="x-none" dirty="0">
                <a:solidFill>
                  <a:srgbClr val="000099"/>
                </a:solidFill>
              </a:rPr>
              <a:t>. 3 x 5 means we have 3 lots of 5).</a:t>
            </a:r>
            <a:br>
              <a:rPr lang="en-US" altLang="x-none" dirty="0">
                <a:solidFill>
                  <a:srgbClr val="000099"/>
                </a:solidFill>
              </a:rPr>
            </a:br>
            <a:r>
              <a:rPr lang="en-US" altLang="x-none" dirty="0">
                <a:solidFill>
                  <a:srgbClr val="000099"/>
                </a:solidFill>
              </a:rPr>
              <a:t> </a:t>
            </a:r>
            <a:r>
              <a:rPr lang="en-US" altLang="x-none" dirty="0"/>
              <a:t>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x-none" sz="4400" dirty="0">
                <a:solidFill>
                  <a:srgbClr val="FF0000"/>
                </a:solidFill>
              </a:rPr>
              <a:t>2</a:t>
            </a:r>
            <a:r>
              <a:rPr lang="en-US" altLang="x-none" sz="4400" dirty="0"/>
              <a:t> (4 + 3) = </a:t>
            </a:r>
            <a:r>
              <a:rPr lang="en-US" altLang="x-none" sz="4400" dirty="0">
                <a:solidFill>
                  <a:srgbClr val="FF0000"/>
                </a:solidFill>
              </a:rPr>
              <a:t>2 x </a:t>
            </a:r>
            <a:r>
              <a:rPr lang="en-US" altLang="x-none" sz="4400" dirty="0"/>
              <a:t>(4 + 3)</a:t>
            </a:r>
            <a:r>
              <a:rPr lang="en-US" altLang="x-none" sz="4400" dirty="0">
                <a:solidFill>
                  <a:srgbClr val="FF0000"/>
                </a:solidFill>
              </a:rPr>
              <a:t> </a:t>
            </a:r>
            <a:r>
              <a:rPr lang="en-US" altLang="x-none" sz="4400" dirty="0"/>
              <a:t/>
            </a:r>
            <a:br>
              <a:rPr lang="en-US" altLang="x-none" sz="4400" dirty="0"/>
            </a:br>
            <a:r>
              <a:rPr lang="en-US" altLang="x-none" sz="4400" dirty="0"/>
              <a:t>	        </a:t>
            </a:r>
            <a:r>
              <a:rPr lang="en-US" altLang="x-none" sz="4400" dirty="0" smtClean="0"/>
              <a:t>= </a:t>
            </a:r>
            <a:r>
              <a:rPr lang="en-US" altLang="x-none" sz="4400" dirty="0">
                <a:solidFill>
                  <a:srgbClr val="FF0000"/>
                </a:solidFill>
              </a:rPr>
              <a:t>2 lots of</a:t>
            </a:r>
            <a:r>
              <a:rPr lang="en-US" altLang="x-none" sz="4400" dirty="0"/>
              <a:t> (4+3)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x-none" sz="4400" dirty="0"/>
              <a:t>               = 4+3  +  4+3 </a:t>
            </a:r>
            <a:br>
              <a:rPr lang="en-US" altLang="x-none" sz="4400" dirty="0"/>
            </a:br>
            <a:r>
              <a:rPr lang="en-US" altLang="x-none" dirty="0"/>
              <a:t>                 </a:t>
            </a:r>
            <a:r>
              <a:rPr lang="en-US" altLang="x-none" dirty="0" smtClean="0"/>
              <a:t>   </a:t>
            </a:r>
            <a:r>
              <a:rPr lang="en-US" altLang="x-none" sz="4400" dirty="0" smtClean="0"/>
              <a:t>= </a:t>
            </a:r>
            <a:r>
              <a:rPr lang="en-US" altLang="x-none" sz="4400" dirty="0"/>
              <a:t>14 </a:t>
            </a:r>
            <a:endParaRPr lang="en-AU" altLang="x-none" dirty="0"/>
          </a:p>
        </p:txBody>
      </p:sp>
      <p:sp>
        <p:nvSpPr>
          <p:cNvPr id="7172" name="Oval 4"/>
          <p:cNvSpPr>
            <a:spLocks noChangeArrowheads="1"/>
          </p:cNvSpPr>
          <p:nvPr/>
        </p:nvSpPr>
        <p:spPr bwMode="auto">
          <a:xfrm>
            <a:off x="3127017" y="5085556"/>
            <a:ext cx="1081088" cy="863600"/>
          </a:xfrm>
          <a:prstGeom prst="ellips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7173" name="Picture 5" descr="greenti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8353" y="4941888"/>
            <a:ext cx="982662" cy="115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7909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noFill/>
          <a:ln w="22225">
            <a:solidFill>
              <a:srgbClr val="008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x-none" b="1">
                <a:solidFill>
                  <a:srgbClr val="008000"/>
                </a:solidFill>
              </a:rPr>
              <a:t>Distributive Law</a:t>
            </a:r>
            <a:r>
              <a:rPr lang="en-US" altLang="x-none"/>
              <a:t> </a:t>
            </a:r>
            <a:endParaRPr lang="en-AU" altLang="x-none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x-none" sz="4000" dirty="0"/>
              <a:t>What is the answer to 2(4 + 3) ?</a:t>
            </a:r>
            <a:r>
              <a:rPr lang="en-US" altLang="x-none" sz="4800" dirty="0"/>
              <a:t> </a:t>
            </a:r>
            <a:endParaRPr lang="en-US" altLang="x-none" dirty="0"/>
          </a:p>
          <a:p>
            <a:pPr>
              <a:lnSpc>
                <a:spcPct val="90000"/>
              </a:lnSpc>
              <a:buFontTx/>
              <a:buNone/>
            </a:pPr>
            <a:endParaRPr lang="en-US" altLang="x-none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x-none" sz="4800" dirty="0">
                <a:solidFill>
                  <a:srgbClr val="FF0000"/>
                </a:solidFill>
              </a:rPr>
              <a:t>2</a:t>
            </a:r>
            <a:r>
              <a:rPr lang="en-US" altLang="x-none" sz="4800" dirty="0"/>
              <a:t> (4 + 3) = </a:t>
            </a:r>
            <a:r>
              <a:rPr lang="en-US" altLang="x-none" sz="4800" dirty="0">
                <a:solidFill>
                  <a:srgbClr val="FF0000"/>
                </a:solidFill>
              </a:rPr>
              <a:t>2</a:t>
            </a:r>
            <a:r>
              <a:rPr lang="en-US" altLang="x-none" sz="3600" dirty="0"/>
              <a:t>x</a:t>
            </a:r>
            <a:r>
              <a:rPr lang="en-US" altLang="x-none" sz="4800" dirty="0"/>
              <a:t>4 + </a:t>
            </a:r>
            <a:r>
              <a:rPr lang="en-US" altLang="x-none" sz="4800" dirty="0">
                <a:solidFill>
                  <a:srgbClr val="FF0000"/>
                </a:solidFill>
              </a:rPr>
              <a:t>2</a:t>
            </a:r>
            <a:r>
              <a:rPr lang="en-US" altLang="x-none" sz="3600" dirty="0"/>
              <a:t>x</a:t>
            </a:r>
            <a:r>
              <a:rPr lang="en-US" altLang="x-none" sz="4800" dirty="0"/>
              <a:t>3 = 14</a:t>
            </a:r>
            <a:br>
              <a:rPr lang="en-US" altLang="x-none" sz="4800" dirty="0"/>
            </a:br>
            <a:r>
              <a:rPr lang="en-US" altLang="x-none" sz="4800" dirty="0"/>
              <a:t/>
            </a:r>
            <a:br>
              <a:rPr lang="en-US" altLang="x-none" sz="4800" dirty="0"/>
            </a:br>
            <a:r>
              <a:rPr lang="en-US" altLang="x-none" sz="3600" dirty="0">
                <a:solidFill>
                  <a:srgbClr val="000099"/>
                </a:solidFill>
              </a:rPr>
              <a:t>The “2” outside the brackets is multiplied onto everything that is inside the brackets.</a:t>
            </a:r>
            <a:r>
              <a:rPr lang="en-US" altLang="x-none" sz="3600" dirty="0"/>
              <a:t> </a:t>
            </a:r>
            <a:endParaRPr lang="en-AU" altLang="x-none" sz="3600" dirty="0"/>
          </a:p>
        </p:txBody>
      </p:sp>
      <p:pic>
        <p:nvPicPr>
          <p:cNvPr id="6148" name="Picture 4" descr="redCurve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821" y="2714164"/>
            <a:ext cx="1008062" cy="7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9" name="Picture 5" descr="redCurveLONG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739" y="2564478"/>
            <a:ext cx="2305050" cy="124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0" name="Oval 6"/>
          <p:cNvSpPr>
            <a:spLocks noChangeArrowheads="1"/>
          </p:cNvSpPr>
          <p:nvPr/>
        </p:nvSpPr>
        <p:spPr bwMode="auto">
          <a:xfrm>
            <a:off x="6204744" y="2993231"/>
            <a:ext cx="1152525" cy="1008063"/>
          </a:xfrm>
          <a:prstGeom prst="ellips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6151" name="Picture 7" descr="greentic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2019" y="2921793"/>
            <a:ext cx="982662" cy="1150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0773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noFill/>
          <a:ln w="22225">
            <a:solidFill>
              <a:srgbClr val="008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x-none" b="1">
                <a:solidFill>
                  <a:srgbClr val="008000"/>
                </a:solidFill>
              </a:rPr>
              <a:t>Why Use Distributive Law</a:t>
            </a:r>
            <a:r>
              <a:rPr lang="en-US" altLang="x-none"/>
              <a:t> </a:t>
            </a:r>
            <a:r>
              <a:rPr lang="en-US" altLang="x-none" b="1">
                <a:solidFill>
                  <a:srgbClr val="008000"/>
                </a:solidFill>
              </a:rPr>
              <a:t>?</a:t>
            </a:r>
            <a:endParaRPr lang="en-AU" altLang="x-none" b="1">
              <a:solidFill>
                <a:srgbClr val="008000"/>
              </a:solidFill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altLang="x-none" dirty="0"/>
          </a:p>
          <a:p>
            <a:pPr>
              <a:buFontTx/>
              <a:buNone/>
            </a:pPr>
            <a:r>
              <a:rPr lang="en-US" altLang="x-none" sz="4800" dirty="0">
                <a:solidFill>
                  <a:srgbClr val="FF0000"/>
                </a:solidFill>
              </a:rPr>
              <a:t>2</a:t>
            </a:r>
            <a:r>
              <a:rPr lang="en-US" altLang="x-none" sz="4800" dirty="0"/>
              <a:t>(n + 3) = </a:t>
            </a:r>
            <a:r>
              <a:rPr lang="en-US" altLang="x-none" sz="4800" dirty="0">
                <a:solidFill>
                  <a:srgbClr val="FF0000"/>
                </a:solidFill>
              </a:rPr>
              <a:t>2</a:t>
            </a:r>
            <a:r>
              <a:rPr lang="en-US" altLang="x-none" sz="3600" dirty="0"/>
              <a:t>x</a:t>
            </a:r>
            <a:r>
              <a:rPr lang="en-US" altLang="x-none" sz="4800" dirty="0"/>
              <a:t>n + </a:t>
            </a:r>
            <a:r>
              <a:rPr lang="en-US" altLang="x-none" sz="4800" dirty="0">
                <a:solidFill>
                  <a:srgbClr val="FF0000"/>
                </a:solidFill>
              </a:rPr>
              <a:t>2</a:t>
            </a:r>
            <a:r>
              <a:rPr lang="en-US" altLang="x-none" sz="3600" dirty="0"/>
              <a:t>x</a:t>
            </a:r>
            <a:r>
              <a:rPr lang="en-US" altLang="x-none" sz="4800" dirty="0"/>
              <a:t>3 = 2n + 6</a:t>
            </a:r>
            <a:br>
              <a:rPr lang="en-US" altLang="x-none" sz="4800" dirty="0"/>
            </a:br>
            <a:r>
              <a:rPr lang="en-US" altLang="x-none" sz="4800" dirty="0"/>
              <a:t/>
            </a:r>
            <a:br>
              <a:rPr lang="en-US" altLang="x-none" sz="4800" dirty="0"/>
            </a:br>
            <a:r>
              <a:rPr lang="en-US" altLang="x-none" sz="3600" dirty="0">
                <a:solidFill>
                  <a:srgbClr val="000099"/>
                </a:solidFill>
              </a:rPr>
              <a:t>We cannot do Algebra expressions with </a:t>
            </a:r>
            <a:r>
              <a:rPr lang="en-US" altLang="x-none" sz="3600" dirty="0" smtClean="0">
                <a:solidFill>
                  <a:srgbClr val="000099"/>
                </a:solidFill>
              </a:rPr>
              <a:t>BIMDAS </a:t>
            </a:r>
            <a:r>
              <a:rPr lang="en-US" altLang="x-none" sz="3600" dirty="0">
                <a:solidFill>
                  <a:srgbClr val="000099"/>
                </a:solidFill>
              </a:rPr>
              <a:t>because n+3 does not simplify to a whole number.</a:t>
            </a:r>
            <a:br>
              <a:rPr lang="en-US" altLang="x-none" sz="3600" dirty="0">
                <a:solidFill>
                  <a:srgbClr val="000099"/>
                </a:solidFill>
              </a:rPr>
            </a:br>
            <a:r>
              <a:rPr lang="en-US" altLang="x-none" sz="3600" u="sng" dirty="0">
                <a:solidFill>
                  <a:srgbClr val="000099"/>
                </a:solidFill>
              </a:rPr>
              <a:t>So we have to use Distributive Law.</a:t>
            </a:r>
            <a:r>
              <a:rPr lang="en-US" altLang="x-none" sz="3600" dirty="0"/>
              <a:t> </a:t>
            </a:r>
            <a:endParaRPr lang="en-AU" altLang="x-none" sz="3600" dirty="0"/>
          </a:p>
        </p:txBody>
      </p:sp>
      <p:pic>
        <p:nvPicPr>
          <p:cNvPr id="12292" name="Picture 4" descr="redCurve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59" y="1941975"/>
            <a:ext cx="720725" cy="7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3" name="Picture 5" descr="redCurveLONG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210" y="1714962"/>
            <a:ext cx="2160588" cy="124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294" name="Oval 6"/>
          <p:cNvSpPr>
            <a:spLocks noChangeArrowheads="1"/>
          </p:cNvSpPr>
          <p:nvPr/>
        </p:nvSpPr>
        <p:spPr bwMode="auto">
          <a:xfrm>
            <a:off x="6096000" y="2133601"/>
            <a:ext cx="1944687" cy="1008062"/>
          </a:xfrm>
          <a:prstGeom prst="ellips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2295" name="Picture 7" descr="greentic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0687" y="2024857"/>
            <a:ext cx="922337" cy="1081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4365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noFill/>
          <a:ln w="22225">
            <a:solidFill>
              <a:srgbClr val="008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x-none" b="1">
                <a:solidFill>
                  <a:srgbClr val="008000"/>
                </a:solidFill>
              </a:rPr>
              <a:t>Why do we Expand Items?</a:t>
            </a:r>
            <a:endParaRPr lang="en-AU" altLang="x-none" b="1">
              <a:solidFill>
                <a:srgbClr val="008000"/>
              </a:solidFill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x-none" sz="4800"/>
              <a:t>          2(n + 3) = 2n + 6</a:t>
            </a:r>
            <a:br>
              <a:rPr lang="en-US" altLang="x-none" sz="4800"/>
            </a:br>
            <a:r>
              <a:rPr lang="en-US" altLang="x-none" sz="4800"/>
              <a:t/>
            </a:r>
            <a:br>
              <a:rPr lang="en-US" altLang="x-none" sz="4800"/>
            </a:br>
            <a:r>
              <a:rPr lang="en-US" altLang="x-none" sz="3600">
                <a:solidFill>
                  <a:srgbClr val="000099"/>
                </a:solidFill>
              </a:rPr>
              <a:t>We “expand” 2(n+3) to become</a:t>
            </a:r>
            <a:br>
              <a:rPr lang="en-US" altLang="x-none" sz="3600">
                <a:solidFill>
                  <a:srgbClr val="000099"/>
                </a:solidFill>
              </a:rPr>
            </a:br>
            <a:r>
              <a:rPr lang="en-US" altLang="x-none" sz="3600">
                <a:solidFill>
                  <a:srgbClr val="000099"/>
                </a:solidFill>
              </a:rPr>
              <a:t>2n + 6 so that we can solve for “n” </a:t>
            </a:r>
            <a:br>
              <a:rPr lang="en-US" altLang="x-none" sz="3600">
                <a:solidFill>
                  <a:srgbClr val="000099"/>
                </a:solidFill>
              </a:rPr>
            </a:br>
            <a:r>
              <a:rPr lang="en-US" altLang="x-none" sz="3600">
                <a:solidFill>
                  <a:srgbClr val="000099"/>
                </a:solidFill>
              </a:rPr>
              <a:t>in an equation like :  2n + 6 = 7 </a:t>
            </a:r>
            <a:br>
              <a:rPr lang="en-US" altLang="x-none" sz="3600">
                <a:solidFill>
                  <a:srgbClr val="000099"/>
                </a:solidFill>
              </a:rPr>
            </a:br>
            <a:r>
              <a:rPr lang="en-US" altLang="x-none" sz="3600">
                <a:solidFill>
                  <a:srgbClr val="000099"/>
                </a:solidFill>
              </a:rPr>
              <a:t/>
            </a:r>
            <a:br>
              <a:rPr lang="en-US" altLang="x-none" sz="3600">
                <a:solidFill>
                  <a:srgbClr val="000099"/>
                </a:solidFill>
              </a:rPr>
            </a:br>
            <a:r>
              <a:rPr lang="en-US" altLang="x-none" sz="3600" i="1" u="sng">
                <a:solidFill>
                  <a:srgbClr val="000099"/>
                </a:solidFill>
              </a:rPr>
              <a:t>It is harder to solve: 2(n+3) = 7</a:t>
            </a:r>
            <a:r>
              <a:rPr lang="en-US" altLang="x-none" sz="3600" u="sng">
                <a:solidFill>
                  <a:srgbClr val="000099"/>
                </a:solidFill>
              </a:rPr>
              <a:t> </a:t>
            </a:r>
            <a:r>
              <a:rPr lang="en-US" altLang="x-none" sz="3600">
                <a:solidFill>
                  <a:srgbClr val="000099"/>
                </a:solidFill>
              </a:rPr>
              <a:t>  </a:t>
            </a:r>
            <a:endParaRPr lang="en-AU" altLang="x-none" sz="3600"/>
          </a:p>
        </p:txBody>
      </p:sp>
      <p:pic>
        <p:nvPicPr>
          <p:cNvPr id="13321" name="Picture 9" descr="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1368425" cy="136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1050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 flipV="1">
            <a:off x="0" y="980729"/>
            <a:ext cx="12192000" cy="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89321" y="9532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3240280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225846" y="19687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2176" y="211420"/>
            <a:ext cx="34073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/>
              <a:t>Expanding Brackets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9093" y="1165186"/>
            <a:ext cx="10107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use the distributive law to expand expressions with brackets?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2110801"/>
            <a:ext cx="32402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is the distributive law?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71560" y="2135198"/>
            <a:ext cx="73863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best place to start is with a mathematical expression: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6423445" y="2907561"/>
            <a:ext cx="1394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Cambria Math" charset="0"/>
                <a:ea typeface="Cambria Math" charset="0"/>
                <a:cs typeface="Cambria Math" charset="0"/>
              </a:rPr>
              <a:t>a</a:t>
            </a:r>
            <a:r>
              <a:rPr lang="en-US" sz="2400" dirty="0">
                <a:latin typeface="Cambria Math" charset="0"/>
                <a:ea typeface="Cambria Math" charset="0"/>
                <a:cs typeface="Cambria Math" charset="0"/>
              </a:rPr>
              <a:t>(</a:t>
            </a:r>
            <a:r>
              <a:rPr lang="en-US" sz="2400" i="1" dirty="0">
                <a:solidFill>
                  <a:srgbClr val="FF0000"/>
                </a:solidFill>
                <a:latin typeface="Cambria Math" charset="0"/>
                <a:ea typeface="Cambria Math" charset="0"/>
                <a:cs typeface="Cambria Math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Cambria Math" charset="0"/>
                <a:ea typeface="Cambria Math" charset="0"/>
                <a:cs typeface="Cambria Math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latin typeface="Cambria Math" charset="0"/>
                <a:ea typeface="Cambria Math" charset="0"/>
                <a:cs typeface="Cambria Math" charset="0"/>
              </a:rPr>
              <a:t> +  </a:t>
            </a:r>
            <a:r>
              <a:rPr lang="en-US" sz="2400" i="1" dirty="0">
                <a:solidFill>
                  <a:srgbClr val="00B050"/>
                </a:solidFill>
                <a:latin typeface="Cambria Math" charset="0"/>
                <a:ea typeface="Cambria Math" charset="0"/>
                <a:cs typeface="Cambria Math" charset="0"/>
              </a:rPr>
              <a:t>c</a:t>
            </a:r>
            <a:r>
              <a:rPr lang="en-US" sz="2400" dirty="0">
                <a:latin typeface="Cambria Math" charset="0"/>
                <a:ea typeface="Cambria Math" charset="0"/>
                <a:cs typeface="Cambria Math" charset="0"/>
              </a:rPr>
              <a:t>)</a:t>
            </a:r>
            <a:endParaRPr lang="en-US" sz="2400" i="1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022150" y="3653822"/>
            <a:ext cx="68629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distributive law </a:t>
            </a:r>
            <a:r>
              <a:rPr lang="en-US" sz="2400" dirty="0" smtClean="0"/>
              <a:t>is the process of distributing the number or variable on the outside of the brackets </a:t>
            </a:r>
            <a:r>
              <a:rPr lang="en-US" sz="2400" dirty="0" smtClean="0">
                <a:ea typeface="Cambria Math" charset="0"/>
                <a:cs typeface="Cambria Math" charset="0"/>
              </a:rPr>
              <a:t>to </a:t>
            </a:r>
            <a:r>
              <a:rPr lang="en-US" sz="2400" dirty="0">
                <a:ea typeface="Cambria Math" charset="0"/>
                <a:cs typeface="Cambria Math" charset="0"/>
              </a:rPr>
              <a:t>every term inside the brackets. It looks like this:</a:t>
            </a:r>
            <a:endParaRPr lang="en-US" sz="2400" dirty="0"/>
          </a:p>
        </p:txBody>
      </p:sp>
      <p:sp>
        <p:nvSpPr>
          <p:cNvPr id="53" name="Rectangle 52"/>
          <p:cNvSpPr/>
          <p:nvPr/>
        </p:nvSpPr>
        <p:spPr>
          <a:xfrm>
            <a:off x="4660317" y="5517233"/>
            <a:ext cx="12602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>
                <a:latin typeface="Cambria Math" charset="0"/>
                <a:ea typeface="Cambria Math" charset="0"/>
                <a:cs typeface="Cambria Math" charset="0"/>
              </a:rPr>
              <a:t>a(</a:t>
            </a:r>
            <a:r>
              <a:rPr lang="en-US" sz="2400" i="1" dirty="0">
                <a:solidFill>
                  <a:srgbClr val="FF0000"/>
                </a:solidFill>
                <a:latin typeface="Cambria Math" charset="0"/>
                <a:ea typeface="Cambria Math" charset="0"/>
                <a:cs typeface="Cambria Math" charset="0"/>
              </a:rPr>
              <a:t>b </a:t>
            </a:r>
            <a:r>
              <a:rPr lang="en-US" sz="2400" dirty="0">
                <a:latin typeface="Cambria Math" charset="0"/>
                <a:ea typeface="Cambria Math" charset="0"/>
                <a:cs typeface="Cambria Math" charset="0"/>
              </a:rPr>
              <a:t>+</a:t>
            </a:r>
            <a:r>
              <a:rPr lang="en-US" sz="2400" i="1" dirty="0">
                <a:solidFill>
                  <a:srgbClr val="00B050"/>
                </a:solidFill>
                <a:latin typeface="Cambria Math" charset="0"/>
                <a:ea typeface="Cambria Math" charset="0"/>
                <a:cs typeface="Cambria Math" charset="0"/>
              </a:rPr>
              <a:t>c</a:t>
            </a:r>
            <a:r>
              <a:rPr lang="en-US" sz="2400" i="1" dirty="0">
                <a:latin typeface="Cambria Math" charset="0"/>
                <a:ea typeface="Cambria Math" charset="0"/>
                <a:cs typeface="Cambria Math" charset="0"/>
              </a:rPr>
              <a:t>) </a:t>
            </a:r>
            <a:endParaRPr lang="en-US" sz="2400" dirty="0"/>
          </a:p>
        </p:txBody>
      </p:sp>
      <p:sp>
        <p:nvSpPr>
          <p:cNvPr id="54" name="Rectangle 53"/>
          <p:cNvSpPr/>
          <p:nvPr/>
        </p:nvSpPr>
        <p:spPr>
          <a:xfrm>
            <a:off x="8123162" y="5463738"/>
            <a:ext cx="4138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ambria Math" charset="0"/>
                <a:ea typeface="Cambria Math" charset="0"/>
                <a:cs typeface="Cambria Math" charset="0"/>
              </a:rPr>
              <a:t>=</a:t>
            </a:r>
            <a:endParaRPr lang="en-US" sz="2400" dirty="0"/>
          </a:p>
        </p:txBody>
      </p:sp>
      <p:sp>
        <p:nvSpPr>
          <p:cNvPr id="55" name="Rectangle 54"/>
          <p:cNvSpPr/>
          <p:nvPr/>
        </p:nvSpPr>
        <p:spPr>
          <a:xfrm>
            <a:off x="6302949" y="5501889"/>
            <a:ext cx="8547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>
                <a:latin typeface="Cambria Math" charset="0"/>
                <a:ea typeface="Cambria Math" charset="0"/>
                <a:cs typeface="Cambria Math" charset="0"/>
              </a:rPr>
              <a:t>a </a:t>
            </a:r>
            <a:r>
              <a:rPr lang="en-US" sz="2400" dirty="0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sz="2400" i="1" dirty="0">
                <a:latin typeface="Cambria Math" charset="0"/>
                <a:ea typeface="Cambria Math" charset="0"/>
                <a:cs typeface="Cambria Math" charset="0"/>
              </a:rPr>
              <a:t> </a:t>
            </a:r>
            <a:r>
              <a:rPr lang="en-US" sz="2400" i="1" dirty="0">
                <a:solidFill>
                  <a:srgbClr val="FF0000"/>
                </a:solidFill>
                <a:latin typeface="Cambria Math" charset="0"/>
                <a:ea typeface="Cambria Math" charset="0"/>
                <a:cs typeface="Cambria Math" charset="0"/>
              </a:rPr>
              <a:t>b</a:t>
            </a:r>
            <a:r>
              <a:rPr lang="en-US" sz="2400" i="1" dirty="0">
                <a:latin typeface="Cambria Math" charset="0"/>
                <a:ea typeface="Cambria Math" charset="0"/>
                <a:cs typeface="Cambria Math" charset="0"/>
              </a:rPr>
              <a:t> </a:t>
            </a:r>
            <a:endParaRPr lang="en-US" sz="2400" dirty="0"/>
          </a:p>
        </p:txBody>
      </p:sp>
      <p:sp>
        <p:nvSpPr>
          <p:cNvPr id="56" name="Rectangle 55"/>
          <p:cNvSpPr/>
          <p:nvPr/>
        </p:nvSpPr>
        <p:spPr>
          <a:xfrm>
            <a:off x="7039712" y="5473682"/>
            <a:ext cx="4138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ambria Math" charset="0"/>
                <a:ea typeface="Cambria Math" charset="0"/>
                <a:cs typeface="Cambria Math" charset="0"/>
              </a:rPr>
              <a:t>+</a:t>
            </a:r>
            <a:endParaRPr lang="en-US" sz="2400" dirty="0"/>
          </a:p>
        </p:txBody>
      </p:sp>
      <p:sp>
        <p:nvSpPr>
          <p:cNvPr id="57" name="Rectangle 56"/>
          <p:cNvSpPr/>
          <p:nvPr/>
        </p:nvSpPr>
        <p:spPr>
          <a:xfrm>
            <a:off x="7383086" y="5463738"/>
            <a:ext cx="8226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>
                <a:latin typeface="Cambria Math" charset="0"/>
                <a:ea typeface="Cambria Math" charset="0"/>
                <a:cs typeface="Cambria Math" charset="0"/>
              </a:rPr>
              <a:t>a </a:t>
            </a:r>
            <a:r>
              <a:rPr lang="en-US" sz="2400" dirty="0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sz="2400" i="1" dirty="0">
                <a:latin typeface="Cambria Math" charset="0"/>
                <a:ea typeface="Cambria Math" charset="0"/>
                <a:cs typeface="Cambria Math" charset="0"/>
              </a:rPr>
              <a:t> </a:t>
            </a:r>
            <a:r>
              <a:rPr lang="en-US" sz="2400" i="1" dirty="0">
                <a:solidFill>
                  <a:srgbClr val="00B050"/>
                </a:solidFill>
                <a:latin typeface="Cambria Math" charset="0"/>
                <a:ea typeface="Cambria Math" charset="0"/>
                <a:cs typeface="Cambria Math" charset="0"/>
              </a:rPr>
              <a:t>c</a:t>
            </a:r>
            <a:r>
              <a:rPr lang="en-US" sz="2400" i="1" dirty="0">
                <a:latin typeface="Cambria Math" charset="0"/>
                <a:ea typeface="Cambria Math" charset="0"/>
                <a:cs typeface="Cambria Math" charset="0"/>
              </a:rPr>
              <a:t> </a:t>
            </a:r>
            <a:endParaRPr lang="en-US" sz="2400" dirty="0"/>
          </a:p>
        </p:txBody>
      </p:sp>
      <p:sp>
        <p:nvSpPr>
          <p:cNvPr id="58" name="Rectangle 57"/>
          <p:cNvSpPr/>
          <p:nvPr/>
        </p:nvSpPr>
        <p:spPr>
          <a:xfrm>
            <a:off x="5889052" y="5509561"/>
            <a:ext cx="4138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ambria Math" charset="0"/>
                <a:ea typeface="Cambria Math" charset="0"/>
                <a:cs typeface="Cambria Math" charset="0"/>
              </a:rPr>
              <a:t>=</a:t>
            </a:r>
            <a:endParaRPr lang="en-US" sz="2400" dirty="0"/>
          </a:p>
        </p:txBody>
      </p:sp>
      <p:sp>
        <p:nvSpPr>
          <p:cNvPr id="59" name="Rectangle 58"/>
          <p:cNvSpPr/>
          <p:nvPr/>
        </p:nvSpPr>
        <p:spPr>
          <a:xfrm>
            <a:off x="8629371" y="5463737"/>
            <a:ext cx="11544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>
                <a:latin typeface="Cambria Math" charset="0"/>
                <a:ea typeface="Cambria Math" charset="0"/>
                <a:cs typeface="Cambria Math" charset="0"/>
              </a:rPr>
              <a:t>a</a:t>
            </a:r>
            <a:r>
              <a:rPr lang="en-US" sz="2400" i="1" dirty="0">
                <a:solidFill>
                  <a:srgbClr val="FF0000"/>
                </a:solidFill>
                <a:latin typeface="Cambria Math" charset="0"/>
                <a:ea typeface="Cambria Math" charset="0"/>
                <a:cs typeface="Cambria Math" charset="0"/>
              </a:rPr>
              <a:t>b</a:t>
            </a:r>
            <a:r>
              <a:rPr lang="en-US" sz="2400" i="1" dirty="0">
                <a:latin typeface="Cambria Math" charset="0"/>
                <a:ea typeface="Cambria Math" charset="0"/>
                <a:cs typeface="Cambria Math" charset="0"/>
              </a:rPr>
              <a:t> </a:t>
            </a:r>
            <a:r>
              <a:rPr lang="en-US" sz="2400" dirty="0">
                <a:latin typeface="Cambria Math" charset="0"/>
                <a:ea typeface="Cambria Math" charset="0"/>
                <a:cs typeface="Cambria Math" charset="0"/>
              </a:rPr>
              <a:t>+</a:t>
            </a:r>
            <a:r>
              <a:rPr lang="en-US" sz="2400" i="1" dirty="0">
                <a:latin typeface="Cambria Math" charset="0"/>
                <a:ea typeface="Cambria Math" charset="0"/>
                <a:cs typeface="Cambria Math" charset="0"/>
              </a:rPr>
              <a:t> a</a:t>
            </a:r>
            <a:r>
              <a:rPr lang="en-US" sz="2400" i="1" dirty="0">
                <a:solidFill>
                  <a:srgbClr val="00B050"/>
                </a:solidFill>
                <a:latin typeface="Cambria Math" charset="0"/>
                <a:ea typeface="Cambria Math" charset="0"/>
                <a:cs typeface="Cambria Math" charset="0"/>
              </a:rPr>
              <a:t>c</a:t>
            </a:r>
          </a:p>
        </p:txBody>
      </p:sp>
      <p:sp>
        <p:nvSpPr>
          <p:cNvPr id="62" name="Freeform 61"/>
          <p:cNvSpPr/>
          <p:nvPr/>
        </p:nvSpPr>
        <p:spPr>
          <a:xfrm>
            <a:off x="4843975" y="5585606"/>
            <a:ext cx="304800" cy="108962"/>
          </a:xfrm>
          <a:custGeom>
            <a:avLst/>
            <a:gdLst>
              <a:gd name="connsiteX0" fmla="*/ 0 w 304800"/>
              <a:gd name="connsiteY0" fmla="*/ 108962 h 108962"/>
              <a:gd name="connsiteX1" fmla="*/ 130629 w 304800"/>
              <a:gd name="connsiteY1" fmla="*/ 105 h 108962"/>
              <a:gd name="connsiteX2" fmla="*/ 304800 w 304800"/>
              <a:gd name="connsiteY2" fmla="*/ 87191 h 108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108962">
                <a:moveTo>
                  <a:pt x="0" y="108962"/>
                </a:moveTo>
                <a:cubicBezTo>
                  <a:pt x="39914" y="56347"/>
                  <a:pt x="79829" y="3733"/>
                  <a:pt x="130629" y="105"/>
                </a:cubicBezTo>
                <a:cubicBezTo>
                  <a:pt x="181429" y="-3523"/>
                  <a:pt x="304800" y="87191"/>
                  <a:pt x="304800" y="8719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3" name="Freeform 62"/>
          <p:cNvSpPr/>
          <p:nvPr/>
        </p:nvSpPr>
        <p:spPr>
          <a:xfrm>
            <a:off x="4843976" y="5335268"/>
            <a:ext cx="805543" cy="348585"/>
          </a:xfrm>
          <a:custGeom>
            <a:avLst/>
            <a:gdLst>
              <a:gd name="connsiteX0" fmla="*/ 0 w 805543"/>
              <a:gd name="connsiteY0" fmla="*/ 305043 h 348585"/>
              <a:gd name="connsiteX1" fmla="*/ 326572 w 805543"/>
              <a:gd name="connsiteY1" fmla="*/ 243 h 348585"/>
              <a:gd name="connsiteX2" fmla="*/ 805543 w 805543"/>
              <a:gd name="connsiteY2" fmla="*/ 348585 h 34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5543" h="348585">
                <a:moveTo>
                  <a:pt x="0" y="305043"/>
                </a:moveTo>
                <a:cubicBezTo>
                  <a:pt x="96157" y="149014"/>
                  <a:pt x="192315" y="-7014"/>
                  <a:pt x="326572" y="243"/>
                </a:cubicBezTo>
                <a:cubicBezTo>
                  <a:pt x="460829" y="7500"/>
                  <a:pt x="805543" y="348585"/>
                  <a:pt x="805543" y="34858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858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4.375E-6 1.11111E-6 L -4.375E-6 -0.07222 " pathEditMode="relative" rAng="0" ptsTypes="AA">
                                      <p:cBhvr>
                                        <p:cTn id="15" dur="10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5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500" fill="hold">
                                          <p:stCondLst>
                                            <p:cond delay="15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80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" accel="1000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3" dur="9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64" dur="910" fill="hold">
                                          <p:stCondLst>
                                            <p:cond delay="91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9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12" decel="50000" autoRev="1" fill="hold">
                                          <p:stCondLst>
                                            <p:cond delay="91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72" fill="hold">
                                          <p:stCondLst>
                                            <p:cond delay="1728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6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7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78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9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2000" tmFilter="0,0; .5, 1; 1, 1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2" grpId="0"/>
      <p:bldP spid="45" grpId="0"/>
      <p:bldP spid="45" grpId="1"/>
      <p:bldP spid="46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2" grpId="0" animBg="1"/>
      <p:bldP spid="6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500284" y="2182204"/>
            <a:ext cx="4385188" cy="683893"/>
          </a:xfrm>
          <a:noFill/>
          <a:ln w="22225">
            <a:solidFill>
              <a:srgbClr val="008000"/>
            </a:solidFill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altLang="x-none" b="1" dirty="0">
                <a:solidFill>
                  <a:srgbClr val="008000"/>
                </a:solidFill>
              </a:rPr>
              <a:t>Distributive Law</a:t>
            </a:r>
            <a:r>
              <a:rPr lang="en-US" altLang="x-none" dirty="0"/>
              <a:t> </a:t>
            </a:r>
            <a:endParaRPr lang="en-AU" altLang="x-none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0284" y="3106353"/>
            <a:ext cx="7853516" cy="3079802"/>
          </a:xfrm>
        </p:spPr>
        <p:txBody>
          <a:bodyPr>
            <a:normAutofit fontScale="92500" lnSpcReduction="20000"/>
          </a:bodyPr>
          <a:lstStyle/>
          <a:p>
            <a:pPr>
              <a:buFontTx/>
              <a:buNone/>
            </a:pPr>
            <a:endParaRPr lang="en-US" altLang="x-none" dirty="0"/>
          </a:p>
          <a:p>
            <a:pPr>
              <a:buFontTx/>
              <a:buNone/>
            </a:pPr>
            <a:endParaRPr lang="en-US" altLang="x-none" dirty="0"/>
          </a:p>
          <a:p>
            <a:pPr>
              <a:buFontTx/>
              <a:buNone/>
            </a:pPr>
            <a:r>
              <a:rPr lang="en-US" altLang="x-none" sz="4800" dirty="0">
                <a:solidFill>
                  <a:srgbClr val="FF0000"/>
                </a:solidFill>
              </a:rPr>
              <a:t>2</a:t>
            </a:r>
            <a:r>
              <a:rPr lang="en-US" altLang="x-none" sz="4800" dirty="0"/>
              <a:t> (y + 3) = </a:t>
            </a:r>
            <a:r>
              <a:rPr lang="en-US" altLang="x-none" sz="4800" dirty="0">
                <a:solidFill>
                  <a:srgbClr val="FF0000"/>
                </a:solidFill>
              </a:rPr>
              <a:t>2</a:t>
            </a:r>
            <a:r>
              <a:rPr lang="en-US" altLang="x-none" sz="3600" dirty="0"/>
              <a:t>x</a:t>
            </a:r>
            <a:r>
              <a:rPr lang="en-US" altLang="x-none" sz="4800" dirty="0"/>
              <a:t>y + </a:t>
            </a:r>
            <a:r>
              <a:rPr lang="en-US" altLang="x-none" sz="4800" dirty="0">
                <a:solidFill>
                  <a:srgbClr val="FF0000"/>
                </a:solidFill>
              </a:rPr>
              <a:t>2</a:t>
            </a:r>
            <a:r>
              <a:rPr lang="en-US" altLang="x-none" sz="3600" dirty="0"/>
              <a:t>x</a:t>
            </a:r>
            <a:r>
              <a:rPr lang="en-US" altLang="x-none" sz="4800" dirty="0"/>
              <a:t>3 = 2y+6</a:t>
            </a:r>
            <a:br>
              <a:rPr lang="en-US" altLang="x-none" sz="4800" dirty="0"/>
            </a:br>
            <a:r>
              <a:rPr lang="en-US" altLang="x-none" sz="4800" dirty="0"/>
              <a:t/>
            </a:r>
            <a:br>
              <a:rPr lang="en-US" altLang="x-none" sz="4800" dirty="0"/>
            </a:br>
            <a:r>
              <a:rPr lang="en-US" altLang="x-none" sz="3600" dirty="0">
                <a:solidFill>
                  <a:srgbClr val="000099"/>
                </a:solidFill>
              </a:rPr>
              <a:t>The “2” outside the brackets multiplies onto all letters and numbers that are inside the brackets.</a:t>
            </a:r>
            <a:r>
              <a:rPr lang="en-US" altLang="x-none" sz="3600" dirty="0"/>
              <a:t> </a:t>
            </a:r>
            <a:endParaRPr lang="en-AU" altLang="x-none" sz="4800" dirty="0"/>
          </a:p>
        </p:txBody>
      </p:sp>
      <p:pic>
        <p:nvPicPr>
          <p:cNvPr id="5124" name="Picture 4" descr="redCurve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284" y="3321051"/>
            <a:ext cx="1008062" cy="7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5" name="Picture 5" descr="redCurveLONG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0280" y="3115545"/>
            <a:ext cx="2305050" cy="124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6" name="Oval 6"/>
          <p:cNvSpPr>
            <a:spLocks noChangeArrowheads="1"/>
          </p:cNvSpPr>
          <p:nvPr/>
        </p:nvSpPr>
        <p:spPr bwMode="auto">
          <a:xfrm>
            <a:off x="8360584" y="3578386"/>
            <a:ext cx="1657350" cy="1008063"/>
          </a:xfrm>
          <a:prstGeom prst="ellips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5127" name="Picture 7" descr="greentic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4299" y="3410840"/>
            <a:ext cx="982662" cy="1150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/>
          <p:cNvCxnSpPr/>
          <p:nvPr/>
        </p:nvCxnSpPr>
        <p:spPr>
          <a:xfrm flipV="1">
            <a:off x="0" y="980729"/>
            <a:ext cx="12192000" cy="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89321" y="9532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3240280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225846" y="19687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2176" y="211420"/>
            <a:ext cx="34073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/>
              <a:t>Expanding Brackets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5738" y="1155505"/>
            <a:ext cx="10107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use the distributive law to expand expressions with brackets?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65471" y="2182204"/>
            <a:ext cx="16802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Example 1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32319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417820" y="2015569"/>
            <a:ext cx="6699574" cy="744989"/>
          </a:xfrm>
          <a:noFill/>
          <a:ln w="22225">
            <a:solidFill>
              <a:srgbClr val="008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x-none" b="1" dirty="0" smtClean="0">
                <a:solidFill>
                  <a:srgbClr val="008000"/>
                </a:solidFill>
              </a:rPr>
              <a:t>Distributive </a:t>
            </a:r>
            <a:r>
              <a:rPr lang="en-US" altLang="x-none" b="1" dirty="0">
                <a:solidFill>
                  <a:srgbClr val="008000"/>
                </a:solidFill>
              </a:rPr>
              <a:t>Law</a:t>
            </a:r>
            <a:r>
              <a:rPr lang="en-US" altLang="x-none" dirty="0"/>
              <a:t> </a:t>
            </a:r>
            <a:endParaRPr lang="en-AU" altLang="x-none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25913" y="2852934"/>
            <a:ext cx="8066087" cy="429004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x-none" dirty="0">
                <a:solidFill>
                  <a:srgbClr val="FF0000"/>
                </a:solidFill>
              </a:rPr>
              <a:t/>
            </a:r>
            <a:br>
              <a:rPr lang="en-US" altLang="x-none" dirty="0">
                <a:solidFill>
                  <a:srgbClr val="FF0000"/>
                </a:solidFill>
              </a:rPr>
            </a:br>
            <a:r>
              <a:rPr lang="en-US" altLang="x-none" dirty="0">
                <a:solidFill>
                  <a:srgbClr val="FF0000"/>
                </a:solidFill>
              </a:rPr>
              <a:t/>
            </a:r>
            <a:br>
              <a:rPr lang="en-US" altLang="x-none" dirty="0">
                <a:solidFill>
                  <a:srgbClr val="FF0000"/>
                </a:solidFill>
              </a:rPr>
            </a:br>
            <a:r>
              <a:rPr lang="en-US" altLang="x-none" dirty="0">
                <a:solidFill>
                  <a:srgbClr val="FF0000"/>
                </a:solidFill>
              </a:rPr>
              <a:t>4</a:t>
            </a:r>
            <a:r>
              <a:rPr lang="en-US" altLang="x-none" dirty="0" smtClean="0"/>
              <a:t>(4e </a:t>
            </a:r>
            <a:r>
              <a:rPr lang="en-US" altLang="x-none" dirty="0"/>
              <a:t>- </a:t>
            </a:r>
            <a:r>
              <a:rPr lang="en-US" altLang="x-none" dirty="0" smtClean="0"/>
              <a:t>y) </a:t>
            </a:r>
            <a:r>
              <a:rPr lang="en-US" altLang="x-none" dirty="0"/>
              <a:t>= </a:t>
            </a:r>
            <a:r>
              <a:rPr lang="en-US" altLang="x-none" dirty="0">
                <a:solidFill>
                  <a:srgbClr val="FF0000"/>
                </a:solidFill>
              </a:rPr>
              <a:t>4</a:t>
            </a:r>
            <a:r>
              <a:rPr lang="en-US" altLang="x-none" sz="2400" dirty="0" smtClean="0">
                <a:solidFill>
                  <a:srgbClr val="FF0000"/>
                </a:solidFill>
              </a:rPr>
              <a:t>x</a:t>
            </a:r>
            <a:r>
              <a:rPr lang="en-US" altLang="x-none" dirty="0" smtClean="0"/>
              <a:t>4e </a:t>
            </a:r>
            <a:r>
              <a:rPr lang="en-US" altLang="x-none" dirty="0"/>
              <a:t>– </a:t>
            </a:r>
            <a:r>
              <a:rPr lang="en-US" altLang="x-none" dirty="0" smtClean="0">
                <a:solidFill>
                  <a:srgbClr val="FF0000"/>
                </a:solidFill>
              </a:rPr>
              <a:t>4</a:t>
            </a:r>
            <a:r>
              <a:rPr lang="en-US" altLang="x-none" sz="2400" dirty="0" smtClean="0">
                <a:solidFill>
                  <a:srgbClr val="FF0000"/>
                </a:solidFill>
              </a:rPr>
              <a:t>x</a:t>
            </a:r>
            <a:r>
              <a:rPr lang="en-US" altLang="x-none" dirty="0" smtClean="0"/>
              <a:t>y </a:t>
            </a:r>
            <a:r>
              <a:rPr lang="en-US" altLang="x-none" dirty="0"/>
              <a:t/>
            </a:r>
            <a:br>
              <a:rPr lang="en-US" altLang="x-none" dirty="0"/>
            </a:br>
            <a:r>
              <a:rPr lang="en-US" altLang="x-none" dirty="0"/>
              <a:t/>
            </a:r>
            <a:br>
              <a:rPr lang="en-US" altLang="x-none" dirty="0"/>
            </a:br>
            <a:r>
              <a:rPr lang="en-US" altLang="x-none" dirty="0"/>
              <a:t>                   = </a:t>
            </a:r>
            <a:r>
              <a:rPr lang="en-US" altLang="x-none" dirty="0" smtClean="0"/>
              <a:t>16e </a:t>
            </a:r>
            <a:r>
              <a:rPr lang="mr-IN" altLang="x-none" dirty="0" smtClean="0"/>
              <a:t>–</a:t>
            </a:r>
            <a:r>
              <a:rPr lang="en-US" altLang="x-none" dirty="0" smtClean="0"/>
              <a:t> 4y</a:t>
            </a:r>
            <a:r>
              <a:rPr lang="en-US" altLang="x-none" dirty="0"/>
              <a:t/>
            </a:r>
            <a:br>
              <a:rPr lang="en-US" altLang="x-none" dirty="0"/>
            </a:br>
            <a:r>
              <a:rPr lang="en-US" altLang="x-none" sz="4400" dirty="0"/>
              <a:t/>
            </a:r>
            <a:br>
              <a:rPr lang="en-US" altLang="x-none" sz="4400" dirty="0"/>
            </a:br>
            <a:r>
              <a:rPr lang="en-US" altLang="x-none" dirty="0">
                <a:solidFill>
                  <a:srgbClr val="000099"/>
                </a:solidFill>
              </a:rPr>
              <a:t>The </a:t>
            </a:r>
            <a:r>
              <a:rPr lang="en-US" altLang="x-none" dirty="0" smtClean="0">
                <a:solidFill>
                  <a:srgbClr val="000099"/>
                </a:solidFill>
              </a:rPr>
              <a:t>“4” </a:t>
            </a:r>
            <a:r>
              <a:rPr lang="en-US" altLang="x-none" dirty="0">
                <a:solidFill>
                  <a:srgbClr val="000099"/>
                </a:solidFill>
              </a:rPr>
              <a:t>outside the brackets is multiplied onto everything that is inside the brackets.</a:t>
            </a:r>
            <a:r>
              <a:rPr lang="en-US" altLang="x-none" dirty="0"/>
              <a:t> </a:t>
            </a:r>
            <a:endParaRPr lang="en-AU" altLang="x-none" sz="4400" dirty="0"/>
          </a:p>
        </p:txBody>
      </p:sp>
      <p:pic>
        <p:nvPicPr>
          <p:cNvPr id="4100" name="Picture 4" descr="redCurve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8498" y="3325340"/>
            <a:ext cx="712869" cy="65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 descr="redCurveLONG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0422" y="3260053"/>
            <a:ext cx="1349097" cy="863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3" name="Picture 7" descr="greentic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607" y="4027329"/>
            <a:ext cx="798512" cy="935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5" name="Oval 9"/>
          <p:cNvSpPr>
            <a:spLocks noChangeArrowheads="1"/>
          </p:cNvSpPr>
          <p:nvPr/>
        </p:nvSpPr>
        <p:spPr bwMode="auto">
          <a:xfrm>
            <a:off x="6096000" y="4278816"/>
            <a:ext cx="1396180" cy="719138"/>
          </a:xfrm>
          <a:prstGeom prst="ellips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0" y="980729"/>
            <a:ext cx="12192000" cy="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89321" y="9532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3240280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225846" y="19687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2176" y="211420"/>
            <a:ext cx="34073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/>
              <a:t>Expanding Brackets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5738" y="1155505"/>
            <a:ext cx="10107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use the distributive law to expand expressions with brackets?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13773" y="2126453"/>
            <a:ext cx="16802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Example 2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65048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3635" y="2023775"/>
            <a:ext cx="8730104" cy="887475"/>
          </a:xfrm>
          <a:noFill/>
          <a:ln w="22225">
            <a:solidFill>
              <a:srgbClr val="008000"/>
            </a:solidFill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altLang="x-none" b="1" dirty="0">
                <a:solidFill>
                  <a:srgbClr val="008000"/>
                </a:solidFill>
              </a:rPr>
              <a:t>Distributive </a:t>
            </a:r>
            <a:r>
              <a:rPr lang="en-US" altLang="x-none" b="1" dirty="0" smtClean="0">
                <a:solidFill>
                  <a:srgbClr val="008000"/>
                </a:solidFill>
              </a:rPr>
              <a:t>Law</a:t>
            </a:r>
            <a:r>
              <a:rPr lang="en-US" altLang="x-none" dirty="0" smtClean="0"/>
              <a:t> </a:t>
            </a:r>
            <a:r>
              <a:rPr lang="en-US" altLang="x-none" b="1" dirty="0" smtClean="0">
                <a:solidFill>
                  <a:srgbClr val="008000"/>
                </a:solidFill>
              </a:rPr>
              <a:t>with Negative Integers</a:t>
            </a:r>
            <a:endParaRPr lang="en-AU" altLang="x-none" b="1" dirty="0">
              <a:solidFill>
                <a:srgbClr val="008000"/>
              </a:solidFill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3635" y="2626791"/>
            <a:ext cx="8506810" cy="4097906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Tx/>
              <a:buNone/>
            </a:pPr>
            <a:endParaRPr lang="en-US" altLang="x-none" dirty="0"/>
          </a:p>
          <a:p>
            <a:pPr>
              <a:lnSpc>
                <a:spcPct val="90000"/>
              </a:lnSpc>
              <a:buFontTx/>
              <a:buNone/>
            </a:pPr>
            <a:endParaRPr lang="en-US" altLang="x-none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x-none" sz="4800" dirty="0">
                <a:solidFill>
                  <a:srgbClr val="FF0000"/>
                </a:solidFill>
              </a:rPr>
              <a:t>-6</a:t>
            </a:r>
            <a:r>
              <a:rPr lang="en-US" altLang="x-none" sz="4800" dirty="0"/>
              <a:t> (h - 3) = </a:t>
            </a:r>
            <a:r>
              <a:rPr lang="en-US" altLang="x-none" sz="4800" dirty="0">
                <a:solidFill>
                  <a:srgbClr val="FF0000"/>
                </a:solidFill>
              </a:rPr>
              <a:t>-6</a:t>
            </a:r>
            <a:r>
              <a:rPr lang="en-US" altLang="x-none" sz="3600" dirty="0"/>
              <a:t>x</a:t>
            </a:r>
            <a:r>
              <a:rPr lang="en-US" altLang="x-none" sz="4800" dirty="0"/>
              <a:t>h  </a:t>
            </a:r>
            <a:r>
              <a:rPr lang="en-US" altLang="x-none" sz="4800" dirty="0">
                <a:solidFill>
                  <a:srgbClr val="FF0000"/>
                </a:solidFill>
              </a:rPr>
              <a:t>-6</a:t>
            </a:r>
            <a:r>
              <a:rPr lang="en-US" altLang="x-none" sz="3600" dirty="0"/>
              <a:t>x-</a:t>
            </a:r>
            <a:r>
              <a:rPr lang="en-US" altLang="x-none" sz="4800" dirty="0"/>
              <a:t>3 </a:t>
            </a:r>
            <a:br>
              <a:rPr lang="en-US" altLang="x-none" sz="4800" dirty="0"/>
            </a:br>
            <a:r>
              <a:rPr lang="en-US" altLang="x-none" sz="4800" dirty="0"/>
              <a:t>             = -6h + 18</a:t>
            </a:r>
            <a:br>
              <a:rPr lang="en-US" altLang="x-none" sz="4800" dirty="0"/>
            </a:br>
            <a:r>
              <a:rPr lang="en-US" altLang="x-none" sz="4800" dirty="0"/>
              <a:t/>
            </a:r>
            <a:br>
              <a:rPr lang="en-US" altLang="x-none" sz="4800" dirty="0"/>
            </a:br>
            <a:r>
              <a:rPr lang="en-US" altLang="x-none" sz="3600" dirty="0">
                <a:solidFill>
                  <a:srgbClr val="000099"/>
                </a:solidFill>
              </a:rPr>
              <a:t>We need to be careful with the signs.</a:t>
            </a:r>
            <a:br>
              <a:rPr lang="en-US" altLang="x-none" sz="3600" dirty="0">
                <a:solidFill>
                  <a:srgbClr val="000099"/>
                </a:solidFill>
              </a:rPr>
            </a:br>
            <a:r>
              <a:rPr lang="en-US" altLang="x-none" sz="3600" dirty="0">
                <a:solidFill>
                  <a:srgbClr val="000099"/>
                </a:solidFill>
              </a:rPr>
              <a:t>      </a:t>
            </a:r>
            <a:r>
              <a:rPr lang="en-US" altLang="x-none" sz="4400" b="1" dirty="0">
                <a:solidFill>
                  <a:srgbClr val="FF6600"/>
                </a:solidFill>
              </a:rPr>
              <a:t>-</a:t>
            </a:r>
            <a:r>
              <a:rPr lang="en-US" altLang="x-none" sz="4400" dirty="0">
                <a:solidFill>
                  <a:srgbClr val="000099"/>
                </a:solidFill>
              </a:rPr>
              <a:t> </a:t>
            </a:r>
            <a:r>
              <a:rPr lang="en-US" altLang="x-none" sz="2400" dirty="0"/>
              <a:t>x</a:t>
            </a:r>
            <a:r>
              <a:rPr lang="en-US" altLang="x-none" sz="2400" dirty="0">
                <a:solidFill>
                  <a:srgbClr val="000099"/>
                </a:solidFill>
              </a:rPr>
              <a:t>  </a:t>
            </a:r>
            <a:r>
              <a:rPr lang="en-US" altLang="x-none" sz="4400" b="1" dirty="0">
                <a:solidFill>
                  <a:srgbClr val="008000"/>
                </a:solidFill>
              </a:rPr>
              <a:t>+</a:t>
            </a:r>
            <a:r>
              <a:rPr lang="en-US" altLang="x-none" sz="3600" dirty="0">
                <a:solidFill>
                  <a:srgbClr val="000099"/>
                </a:solidFill>
              </a:rPr>
              <a:t> </a:t>
            </a:r>
            <a:r>
              <a:rPr lang="en-US" altLang="x-none" sz="2400" dirty="0"/>
              <a:t>=</a:t>
            </a:r>
            <a:r>
              <a:rPr lang="en-US" altLang="x-none" sz="3600" dirty="0">
                <a:solidFill>
                  <a:srgbClr val="000099"/>
                </a:solidFill>
              </a:rPr>
              <a:t> </a:t>
            </a:r>
            <a:r>
              <a:rPr lang="en-US" altLang="x-none" sz="4400" b="1" dirty="0">
                <a:solidFill>
                  <a:srgbClr val="FF6600"/>
                </a:solidFill>
              </a:rPr>
              <a:t>-</a:t>
            </a:r>
            <a:r>
              <a:rPr lang="en-US" altLang="x-none" sz="3600" dirty="0">
                <a:solidFill>
                  <a:srgbClr val="000099"/>
                </a:solidFill>
              </a:rPr>
              <a:t> </a:t>
            </a:r>
            <a:r>
              <a:rPr lang="en-US" altLang="x-none" sz="3600" dirty="0"/>
              <a:t>    </a:t>
            </a:r>
            <a:r>
              <a:rPr lang="en-US" altLang="x-none" sz="3600" dirty="0">
                <a:solidFill>
                  <a:srgbClr val="000099"/>
                </a:solidFill>
              </a:rPr>
              <a:t>and</a:t>
            </a:r>
            <a:r>
              <a:rPr lang="en-US" altLang="x-none" sz="3600" dirty="0"/>
              <a:t>     </a:t>
            </a:r>
            <a:r>
              <a:rPr lang="en-US" altLang="x-none" sz="4400" b="1" dirty="0">
                <a:solidFill>
                  <a:srgbClr val="FF6600"/>
                </a:solidFill>
              </a:rPr>
              <a:t>-</a:t>
            </a:r>
            <a:r>
              <a:rPr lang="en-US" altLang="x-none" sz="3600" dirty="0">
                <a:solidFill>
                  <a:srgbClr val="000099"/>
                </a:solidFill>
              </a:rPr>
              <a:t> </a:t>
            </a:r>
            <a:r>
              <a:rPr lang="en-US" altLang="x-none" sz="2400" dirty="0"/>
              <a:t>x</a:t>
            </a:r>
            <a:r>
              <a:rPr lang="en-US" altLang="x-none" sz="2400" dirty="0">
                <a:solidFill>
                  <a:srgbClr val="000099"/>
                </a:solidFill>
              </a:rPr>
              <a:t> </a:t>
            </a:r>
            <a:r>
              <a:rPr lang="en-US" altLang="x-none" sz="4400" b="1" dirty="0">
                <a:solidFill>
                  <a:srgbClr val="FF6600"/>
                </a:solidFill>
              </a:rPr>
              <a:t>-</a:t>
            </a:r>
            <a:r>
              <a:rPr lang="en-US" altLang="x-none" sz="2400" dirty="0">
                <a:solidFill>
                  <a:srgbClr val="000099"/>
                </a:solidFill>
              </a:rPr>
              <a:t> </a:t>
            </a:r>
            <a:r>
              <a:rPr lang="en-US" altLang="x-none" sz="2400" dirty="0"/>
              <a:t>= </a:t>
            </a:r>
            <a:r>
              <a:rPr lang="en-US" altLang="x-none" sz="4400" b="1" dirty="0">
                <a:solidFill>
                  <a:srgbClr val="008000"/>
                </a:solidFill>
              </a:rPr>
              <a:t>+</a:t>
            </a:r>
            <a:endParaRPr lang="en-AU" altLang="x-none" sz="4400" dirty="0">
              <a:solidFill>
                <a:srgbClr val="008000"/>
              </a:solidFill>
            </a:endParaRPr>
          </a:p>
        </p:txBody>
      </p:sp>
      <p:pic>
        <p:nvPicPr>
          <p:cNvPr id="10244" name="Picture 4" descr="redCurve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698" y="3207543"/>
            <a:ext cx="833326" cy="653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5" name="Picture 5" descr="redCurveLONG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004" y="3012790"/>
            <a:ext cx="2010146" cy="1085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6" name="Oval 6"/>
          <p:cNvSpPr>
            <a:spLocks noChangeArrowheads="1"/>
          </p:cNvSpPr>
          <p:nvPr/>
        </p:nvSpPr>
        <p:spPr bwMode="auto">
          <a:xfrm>
            <a:off x="5501633" y="4079727"/>
            <a:ext cx="2808288" cy="792162"/>
          </a:xfrm>
          <a:prstGeom prst="ellips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0247" name="Picture 7" descr="greentic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1263" y="3656537"/>
            <a:ext cx="982662" cy="115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0" y="980728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1916832"/>
            <a:ext cx="12113342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022169" y="27799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190946" y="266510"/>
            <a:ext cx="3001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Brackets</a:t>
            </a:r>
            <a:endParaRPr lang="en-AU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distributive law to expand expressions with brackets? 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86813" y="2103571"/>
            <a:ext cx="16802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Example 3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71744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5384" y="1969900"/>
            <a:ext cx="8787581" cy="1011254"/>
          </a:xfrm>
          <a:noFill/>
          <a:ln w="22225">
            <a:solidFill>
              <a:srgbClr val="008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x-none" b="1">
                <a:solidFill>
                  <a:srgbClr val="008000"/>
                </a:solidFill>
              </a:rPr>
              <a:t>Distributive Law</a:t>
            </a:r>
            <a:r>
              <a:rPr lang="en-US" altLang="x-none"/>
              <a:t> </a:t>
            </a:r>
            <a:r>
              <a:rPr lang="en-US" altLang="x-none" b="1">
                <a:solidFill>
                  <a:srgbClr val="008000"/>
                </a:solidFill>
              </a:rPr>
              <a:t>with Indices</a:t>
            </a:r>
            <a:endParaRPr lang="en-AU" altLang="x-none" b="1">
              <a:solidFill>
                <a:srgbClr val="008000"/>
              </a:solidFill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87328" y="2852935"/>
            <a:ext cx="9210367" cy="364137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Tx/>
              <a:buNone/>
            </a:pPr>
            <a:endParaRPr lang="en-US" altLang="x-none" dirty="0"/>
          </a:p>
          <a:p>
            <a:pPr>
              <a:lnSpc>
                <a:spcPct val="90000"/>
              </a:lnSpc>
              <a:buFontTx/>
              <a:buNone/>
            </a:pPr>
            <a:endParaRPr lang="en-US" altLang="x-none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x-none" sz="4800" dirty="0">
                <a:solidFill>
                  <a:srgbClr val="FF0000"/>
                </a:solidFill>
              </a:rPr>
              <a:t>-9k</a:t>
            </a:r>
            <a:r>
              <a:rPr lang="en-US" altLang="x-none" sz="4800" dirty="0"/>
              <a:t> (k - 2) = </a:t>
            </a:r>
            <a:r>
              <a:rPr lang="en-US" altLang="x-none" sz="4800" dirty="0">
                <a:solidFill>
                  <a:srgbClr val="FF0000"/>
                </a:solidFill>
              </a:rPr>
              <a:t>-9k</a:t>
            </a:r>
            <a:r>
              <a:rPr lang="en-US" altLang="x-none" sz="3600" dirty="0"/>
              <a:t>x</a:t>
            </a:r>
            <a:r>
              <a:rPr lang="en-US" altLang="x-none" sz="4800" dirty="0"/>
              <a:t>k  </a:t>
            </a:r>
            <a:r>
              <a:rPr lang="en-US" altLang="x-none" sz="4800" dirty="0">
                <a:solidFill>
                  <a:srgbClr val="FF0000"/>
                </a:solidFill>
              </a:rPr>
              <a:t>-9k</a:t>
            </a:r>
            <a:r>
              <a:rPr lang="en-US" altLang="x-none" sz="3600" dirty="0"/>
              <a:t>x-</a:t>
            </a:r>
            <a:r>
              <a:rPr lang="en-US" altLang="x-none" sz="4800" dirty="0"/>
              <a:t>2 </a:t>
            </a:r>
            <a:br>
              <a:rPr lang="en-US" altLang="x-none" sz="4800" dirty="0"/>
            </a:br>
            <a:r>
              <a:rPr lang="en-US" altLang="x-none" sz="4800" dirty="0"/>
              <a:t>             = -9k</a:t>
            </a:r>
            <a:r>
              <a:rPr lang="en-US" altLang="x-none" sz="4800" b="1" baseline="30000" dirty="0"/>
              <a:t>2</a:t>
            </a:r>
            <a:r>
              <a:rPr lang="en-US" altLang="x-none" sz="4800" dirty="0"/>
              <a:t> + 18k</a:t>
            </a:r>
            <a:br>
              <a:rPr lang="en-US" altLang="x-none" sz="4800" dirty="0"/>
            </a:br>
            <a:r>
              <a:rPr lang="en-US" altLang="x-none" sz="4800" dirty="0"/>
              <a:t/>
            </a:r>
            <a:br>
              <a:rPr lang="en-US" altLang="x-none" sz="4800" dirty="0"/>
            </a:br>
            <a:r>
              <a:rPr lang="en-US" altLang="x-none" sz="3600" dirty="0">
                <a:solidFill>
                  <a:srgbClr val="000099"/>
                </a:solidFill>
              </a:rPr>
              <a:t>We need to be careful with the signs.</a:t>
            </a:r>
            <a:br>
              <a:rPr lang="en-US" altLang="x-none" sz="3600" dirty="0">
                <a:solidFill>
                  <a:srgbClr val="000099"/>
                </a:solidFill>
              </a:rPr>
            </a:br>
            <a:r>
              <a:rPr lang="en-US" altLang="x-none" sz="3600" dirty="0">
                <a:solidFill>
                  <a:srgbClr val="000099"/>
                </a:solidFill>
              </a:rPr>
              <a:t>      </a:t>
            </a:r>
            <a:r>
              <a:rPr lang="en-US" altLang="x-none" sz="4400" b="1" dirty="0">
                <a:solidFill>
                  <a:srgbClr val="FF6600"/>
                </a:solidFill>
              </a:rPr>
              <a:t>-</a:t>
            </a:r>
            <a:r>
              <a:rPr lang="en-US" altLang="x-none" sz="4400" dirty="0">
                <a:solidFill>
                  <a:srgbClr val="000099"/>
                </a:solidFill>
              </a:rPr>
              <a:t> </a:t>
            </a:r>
            <a:r>
              <a:rPr lang="en-US" altLang="x-none" sz="2400" dirty="0"/>
              <a:t>x</a:t>
            </a:r>
            <a:r>
              <a:rPr lang="en-US" altLang="x-none" sz="2400" dirty="0">
                <a:solidFill>
                  <a:srgbClr val="000099"/>
                </a:solidFill>
              </a:rPr>
              <a:t>  </a:t>
            </a:r>
            <a:r>
              <a:rPr lang="en-US" altLang="x-none" sz="4400" b="1" dirty="0">
                <a:solidFill>
                  <a:srgbClr val="008000"/>
                </a:solidFill>
              </a:rPr>
              <a:t>+</a:t>
            </a:r>
            <a:r>
              <a:rPr lang="en-US" altLang="x-none" sz="3600" dirty="0">
                <a:solidFill>
                  <a:srgbClr val="000099"/>
                </a:solidFill>
              </a:rPr>
              <a:t> </a:t>
            </a:r>
            <a:r>
              <a:rPr lang="en-US" altLang="x-none" sz="2400" dirty="0"/>
              <a:t>=</a:t>
            </a:r>
            <a:r>
              <a:rPr lang="en-US" altLang="x-none" sz="3600" dirty="0">
                <a:solidFill>
                  <a:srgbClr val="000099"/>
                </a:solidFill>
              </a:rPr>
              <a:t> </a:t>
            </a:r>
            <a:r>
              <a:rPr lang="en-US" altLang="x-none" sz="4400" b="1" dirty="0">
                <a:solidFill>
                  <a:srgbClr val="FF6600"/>
                </a:solidFill>
              </a:rPr>
              <a:t>-</a:t>
            </a:r>
            <a:r>
              <a:rPr lang="en-US" altLang="x-none" sz="3600" dirty="0">
                <a:solidFill>
                  <a:srgbClr val="000099"/>
                </a:solidFill>
              </a:rPr>
              <a:t> </a:t>
            </a:r>
            <a:r>
              <a:rPr lang="en-US" altLang="x-none" sz="3600" dirty="0"/>
              <a:t>    </a:t>
            </a:r>
            <a:r>
              <a:rPr lang="en-US" altLang="x-none" sz="3600" dirty="0">
                <a:solidFill>
                  <a:srgbClr val="000099"/>
                </a:solidFill>
              </a:rPr>
              <a:t>and</a:t>
            </a:r>
            <a:r>
              <a:rPr lang="en-US" altLang="x-none" sz="3600" dirty="0"/>
              <a:t>     </a:t>
            </a:r>
            <a:r>
              <a:rPr lang="en-US" altLang="x-none" sz="4400" b="1" dirty="0">
                <a:solidFill>
                  <a:srgbClr val="FF6600"/>
                </a:solidFill>
              </a:rPr>
              <a:t>-</a:t>
            </a:r>
            <a:r>
              <a:rPr lang="en-US" altLang="x-none" sz="3600" dirty="0">
                <a:solidFill>
                  <a:srgbClr val="000099"/>
                </a:solidFill>
              </a:rPr>
              <a:t> </a:t>
            </a:r>
            <a:r>
              <a:rPr lang="en-US" altLang="x-none" sz="2400" dirty="0"/>
              <a:t>x</a:t>
            </a:r>
            <a:r>
              <a:rPr lang="en-US" altLang="x-none" sz="2400" dirty="0">
                <a:solidFill>
                  <a:srgbClr val="000099"/>
                </a:solidFill>
              </a:rPr>
              <a:t> </a:t>
            </a:r>
            <a:r>
              <a:rPr lang="en-US" altLang="x-none" sz="4400" b="1" dirty="0">
                <a:solidFill>
                  <a:srgbClr val="FF6600"/>
                </a:solidFill>
              </a:rPr>
              <a:t>-</a:t>
            </a:r>
            <a:r>
              <a:rPr lang="en-US" altLang="x-none" sz="2400" dirty="0">
                <a:solidFill>
                  <a:srgbClr val="000099"/>
                </a:solidFill>
              </a:rPr>
              <a:t> </a:t>
            </a:r>
            <a:r>
              <a:rPr lang="en-US" altLang="x-none" sz="2400" dirty="0"/>
              <a:t>= </a:t>
            </a:r>
            <a:r>
              <a:rPr lang="en-US" altLang="x-none" sz="4400" b="1" dirty="0">
                <a:solidFill>
                  <a:srgbClr val="008000"/>
                </a:solidFill>
              </a:rPr>
              <a:t>+</a:t>
            </a:r>
            <a:endParaRPr lang="en-AU" altLang="x-none" sz="4400" dirty="0">
              <a:solidFill>
                <a:srgbClr val="008000"/>
              </a:solidFill>
            </a:endParaRPr>
          </a:p>
        </p:txBody>
      </p:sp>
      <p:pic>
        <p:nvPicPr>
          <p:cNvPr id="11268" name="Picture 4" descr="redCurve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1999" y="3381712"/>
            <a:ext cx="1122311" cy="68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9" name="Picture 5" descr="redCurveLONG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5071" y="3170822"/>
            <a:ext cx="2178151" cy="1106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70" name="Oval 6"/>
          <p:cNvSpPr>
            <a:spLocks noChangeArrowheads="1"/>
          </p:cNvSpPr>
          <p:nvPr/>
        </p:nvSpPr>
        <p:spPr bwMode="auto">
          <a:xfrm>
            <a:off x="5303222" y="4230670"/>
            <a:ext cx="3167063" cy="792162"/>
          </a:xfrm>
          <a:prstGeom prst="ellips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1271" name="Picture 7" descr="greentic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209" y="3826474"/>
            <a:ext cx="982662" cy="115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0" y="980728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2910348" y="1916832"/>
            <a:ext cx="5468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76362" y="128827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013965" y="262390"/>
            <a:ext cx="3001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Brackets</a:t>
            </a:r>
            <a:endParaRPr lang="en-AU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distributive law to expand expressions with brackets? </a:t>
            </a:r>
            <a:endParaRPr lang="en-A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235975" y="2123274"/>
            <a:ext cx="16802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Example 4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95049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70494" y="180309"/>
            <a:ext cx="32282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Now it’s your Turn</a:t>
            </a:r>
            <a:endParaRPr lang="en-US" sz="32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027" y="1124698"/>
            <a:ext cx="7109132" cy="72407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496" y="2421096"/>
            <a:ext cx="6148439" cy="11189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29" y="4053155"/>
            <a:ext cx="4992738" cy="3662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622" y="4684661"/>
            <a:ext cx="3683000" cy="9398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29" y="4595761"/>
            <a:ext cx="34163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115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PQuestion"/>
          <p:cNvSpPr>
            <a:spLocks noGrp="1" noChangeArrowheads="1"/>
          </p:cNvSpPr>
          <p:nvPr>
            <p:ph type="title"/>
          </p:nvPr>
        </p:nvSpPr>
        <p:spPr>
          <a:xfrm>
            <a:off x="1752600" y="381000"/>
            <a:ext cx="8610600" cy="1524000"/>
          </a:xfrm>
        </p:spPr>
        <p:txBody>
          <a:bodyPr/>
          <a:lstStyle/>
          <a:p>
            <a:r>
              <a:rPr lang="en-US" altLang="x-none" sz="4000"/>
              <a:t>Which statement demonstrates the distributive property </a:t>
            </a:r>
            <a:r>
              <a:rPr lang="en-US" altLang="x-none" sz="4000" b="1"/>
              <a:t>incorrectly</a:t>
            </a:r>
            <a:r>
              <a:rPr lang="en-US" altLang="x-none" sz="4000"/>
              <a:t>? </a:t>
            </a:r>
          </a:p>
        </p:txBody>
      </p:sp>
      <p:sp>
        <p:nvSpPr>
          <p:cNvPr id="5123" name="TPAnswers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1981200" y="2133600"/>
            <a:ext cx="5372100" cy="3581400"/>
          </a:xfrm>
        </p:spPr>
        <p:txBody>
          <a:bodyPr/>
          <a:lstStyle/>
          <a:p>
            <a:pPr marL="609600" indent="-609600">
              <a:buFontTx/>
              <a:buAutoNum type="arabicPeriod"/>
            </a:pPr>
            <a:r>
              <a:rPr lang="en-US" altLang="x-none"/>
              <a:t>3(x + y + z) = 3x + 3y + 3z</a:t>
            </a:r>
          </a:p>
          <a:p>
            <a:pPr marL="609600" indent="-609600">
              <a:buFontTx/>
              <a:buAutoNum type="arabicPeriod"/>
            </a:pPr>
            <a:r>
              <a:rPr lang="en-US" altLang="x-none"/>
              <a:t>(a + b) c = ac + bc</a:t>
            </a:r>
          </a:p>
          <a:p>
            <a:pPr marL="609600" indent="-609600">
              <a:buFontTx/>
              <a:buAutoNum type="arabicPeriod"/>
            </a:pPr>
            <a:r>
              <a:rPr lang="en-US" altLang="x-none"/>
              <a:t>5(2 + 3x) = 10 + 3x</a:t>
            </a:r>
          </a:p>
          <a:p>
            <a:pPr marL="609600" indent="-609600">
              <a:buFontTx/>
              <a:buAutoNum type="arabicPeriod"/>
            </a:pPr>
            <a:r>
              <a:rPr lang="en-US" altLang="x-none"/>
              <a:t>6(3k - 4) = 18k - 24</a:t>
            </a:r>
          </a:p>
        </p:txBody>
      </p:sp>
      <p:grpSp>
        <p:nvGrpSpPr>
          <p:cNvPr id="5125" name="AnswerNow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2743199" y="4800599"/>
            <a:ext cx="3893575" cy="1275735"/>
            <a:chOff x="2000" y="3720"/>
            <a:chExt cx="1760" cy="520"/>
          </a:xfrm>
        </p:grpSpPr>
        <p:sp>
          <p:nvSpPr>
            <p:cNvPr id="5126" name="ANShape"/>
            <p:cNvSpPr>
              <a:spLocks noChangeArrowheads="1"/>
            </p:cNvSpPr>
            <p:nvPr/>
          </p:nvSpPr>
          <p:spPr bwMode="auto">
            <a:xfrm>
              <a:off x="2000" y="3720"/>
              <a:ext cx="1760" cy="520"/>
            </a:xfrm>
            <a:prstGeom prst="horizontalScroll">
              <a:avLst>
                <a:gd name="adj" fmla="val 12500"/>
              </a:avLst>
            </a:prstGeom>
            <a:solidFill>
              <a:schemeClr val="accent1">
                <a:alpha val="50195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5127" name="ANText"/>
            <p:cNvSpPr txBox="1">
              <a:spLocks noChangeArrowheads="1"/>
            </p:cNvSpPr>
            <p:nvPr/>
          </p:nvSpPr>
          <p:spPr bwMode="auto">
            <a:xfrm>
              <a:off x="2000" y="3720"/>
              <a:ext cx="1760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 sz="2400">
                  <a:solidFill>
                    <a:schemeClr val="tx1"/>
                  </a:solidFill>
                  <a:latin typeface="Times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9pPr>
            </a:lstStyle>
            <a:p>
              <a:pPr algn="ctr"/>
              <a:r>
                <a:rPr lang="en-US" altLang="x-none" sz="3200" dirty="0" smtClean="0">
                  <a:latin typeface="Old English Text MT" charset="0"/>
                </a:rPr>
                <a:t>Use the Exit Slip to Answer</a:t>
              </a:r>
              <a:endParaRPr lang="en-US" altLang="x-none" sz="3200" dirty="0">
                <a:latin typeface="Old English Text MT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559560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D" val="B4A29EC729234B338FF0CB31877515B2"/>
  <p:tag name="SLIDETYPE" val="Q"/>
  <p:tag name="DEMOGRAPHIC" val="False"/>
  <p:tag name="SPEEDSCORING" val="False"/>
  <p:tag name="VALUES" val="Incorrect¤Incorrect¤Correct¤Incorrect"/>
  <p:tag name="SLIDEORDER" val="5"/>
  <p:tag name="SLIDEGUID" val="58AEEDC1616543EF88B5E58F9747618A"/>
  <p:tag name="QUESTIONALIAS" val="Which statement demonstrates the distributive property incorrectly? "/>
  <p:tag name="ANSWERSALIAS" val="3(x + y + z) = 3x + 3y + 3z¤(a + b) c = ac + bc¤5(2 + 3x) = 10 + 3x¤6(3k - 4) = 18k - 24"/>
  <p:tag name="TOTALRESPONSES" val="22"/>
  <p:tag name="SLICED" val="False"/>
  <p:tag name="RESPONSES" val="COM12,1,32,2;3;-;3;3;3;3;2;4;3;-;3;-;3;-;-;3;3;3;3;-;-;3;-;-;3;3;3;-;1;3;3;"/>
  <p:tag name="CHARTSTRINGSTD" val="1&#9;2&#9;18&#9;1"/>
  <p:tag name="CHARTSTRINGREV" val="1&#9;18&#9;2&#9;1"/>
  <p:tag name="CHARTSTRINGSTDPER" val="0.0454545454545455&#9;0.0909090909090909&#9;0.818181818181818&#9;0.0454545454545455"/>
  <p:tag name="CHARTSTRINGREVPER" val="0.0454545454545455&#9;0.818181818181818&#9;0.0909090909090909&#9;0.0454545454545455"/>
  <p:tag name="RESPONSESGATHERED" val="Fals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LENGTH" val="91"/>
  <p:tag name="FONTSIZE" val="32"/>
  <p:tag name="BULLETTYPE" val="ppBulletArabicPeriod"/>
  <p:tag name="ANSWERTEXT" val="3(x + y + z) = 3x + 3y + 3z&#13;&#10;(a + b) c = ac + bc&#13;&#10;5(2 + 3x) = 10 + 3x&#13;&#10;6(3k - 4) = 18k - 2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507</Words>
  <Application>Microsoft Macintosh PowerPoint</Application>
  <PresentationFormat>Widescreen</PresentationFormat>
  <Paragraphs>119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Calibri</vt:lpstr>
      <vt:lpstr>Calibri Light</vt:lpstr>
      <vt:lpstr>Cambria Math</vt:lpstr>
      <vt:lpstr>Mangal</vt:lpstr>
      <vt:lpstr>Old English Text MT</vt:lpstr>
      <vt:lpstr>Arial</vt:lpstr>
      <vt:lpstr>Times</vt:lpstr>
      <vt:lpstr>Office Theme</vt:lpstr>
      <vt:lpstr>My Number Interactive Notebook</vt:lpstr>
      <vt:lpstr>PowerPoint Presentation</vt:lpstr>
      <vt:lpstr>PowerPoint Presentation</vt:lpstr>
      <vt:lpstr>The Distributive Law </vt:lpstr>
      <vt:lpstr>PowerPoint Presentation</vt:lpstr>
      <vt:lpstr>Several Ways to do our Maths </vt:lpstr>
      <vt:lpstr>Use “BIDMAS” Order </vt:lpstr>
      <vt:lpstr>Change Multiply to Addition </vt:lpstr>
      <vt:lpstr>Distributive Law </vt:lpstr>
      <vt:lpstr>Why Use Distributive Law ?</vt:lpstr>
      <vt:lpstr>Why do we Expand Items?</vt:lpstr>
      <vt:lpstr>PowerPoint Presentation</vt:lpstr>
      <vt:lpstr>Distributive Law </vt:lpstr>
      <vt:lpstr>Distributive Law </vt:lpstr>
      <vt:lpstr>Distributive Law with Negative Integers</vt:lpstr>
      <vt:lpstr>Distributive Law with Indices</vt:lpstr>
      <vt:lpstr>PowerPoint Presentation</vt:lpstr>
      <vt:lpstr>Which statement demonstrates the distributive property incorrectly? </vt:lpstr>
    </vt:vector>
  </TitlesOfParts>
  <Company/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SUMMERS Brad [Baldivis Secondary College]</dc:creator>
  <cp:lastModifiedBy>SUMMERS Brad [Baldivis Secondary College]</cp:lastModifiedBy>
  <cp:revision>16</cp:revision>
  <dcterms:created xsi:type="dcterms:W3CDTF">2017-03-11T11:03:54Z</dcterms:created>
  <dcterms:modified xsi:type="dcterms:W3CDTF">2017-03-12T09:41:47Z</dcterms:modified>
</cp:coreProperties>
</file>
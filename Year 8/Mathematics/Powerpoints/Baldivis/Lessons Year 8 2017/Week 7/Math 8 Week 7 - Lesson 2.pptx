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93"/>
    <p:restoredTop sz="94674"/>
  </p:normalViewPr>
  <p:slideViewPr>
    <p:cSldViewPr snapToGrid="0" snapToObjects="1">
      <p:cViewPr>
        <p:scale>
          <a:sx n="120" d="100"/>
          <a:sy n="120" d="100"/>
        </p:scale>
        <p:origin x="68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20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28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8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3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4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9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2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569AF-AB97-254C-BA7E-4195F44FA7FF}" type="datetimeFigureOut">
              <a:rPr lang="en-US" smtClean="0"/>
              <a:t>3/12/17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7B5EC-1550-2343-8086-FAC1A10C2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5560" y="33265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1959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820" y="304800"/>
            <a:ext cx="1183803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Objective</a:t>
            </a:r>
          </a:p>
          <a:p>
            <a:endParaRPr lang="en-US" sz="5400" dirty="0"/>
          </a:p>
          <a:p>
            <a:pPr algn="ctr"/>
            <a:r>
              <a:rPr lang="en-US" sz="5400" dirty="0"/>
              <a:t>By the end of this lesson, you will be able to use the Distributive Law to simplify </a:t>
            </a:r>
            <a:r>
              <a:rPr lang="en-US" sz="5400" dirty="0" smtClean="0"/>
              <a:t>algebraic expressions involving multiple variables.</a:t>
            </a:r>
            <a:endParaRPr lang="en-US" sz="5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0241658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34974" y="2954967"/>
            <a:ext cx="3080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</a:t>
            </a:r>
            <a:r>
              <a:rPr lang="en-US" dirty="0" err="1" smtClean="0"/>
              <a:t>youtu.be</a:t>
            </a:r>
            <a:r>
              <a:rPr lang="en-US" dirty="0" smtClean="0"/>
              <a:t>/n99K96Ektqo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14045" y="706054"/>
            <a:ext cx="936391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PBS MATH CLUB Video</a:t>
            </a:r>
          </a:p>
          <a:p>
            <a:r>
              <a:rPr lang="en-US" sz="3200" dirty="0" smtClean="0"/>
              <a:t>Distributive Property </a:t>
            </a:r>
            <a:r>
              <a:rPr lang="mr-IN" sz="3200" dirty="0" smtClean="0"/>
              <a:t>–</a:t>
            </a:r>
            <a:r>
              <a:rPr lang="en-US" sz="3200" dirty="0" smtClean="0"/>
              <a:t> Friendship Bracelets and Oprah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9084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00284" y="2182204"/>
            <a:ext cx="4385188" cy="683893"/>
          </a:xfrm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x-none" b="1" dirty="0">
                <a:solidFill>
                  <a:srgbClr val="008000"/>
                </a:solidFill>
              </a:rPr>
              <a:t>Distributive Law</a:t>
            </a:r>
            <a:r>
              <a:rPr lang="en-US" altLang="x-none" dirty="0"/>
              <a:t> </a:t>
            </a:r>
            <a:endParaRPr lang="en-AU" altLang="x-none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0284" y="3106353"/>
            <a:ext cx="7853516" cy="3079802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endParaRPr lang="en-US" altLang="x-none" dirty="0"/>
          </a:p>
          <a:p>
            <a:pPr>
              <a:buFontTx/>
              <a:buNone/>
            </a:pPr>
            <a:endParaRPr lang="en-US" altLang="x-none" dirty="0"/>
          </a:p>
          <a:p>
            <a:pPr>
              <a:buFontTx/>
              <a:buNone/>
            </a:pP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4800" dirty="0"/>
              <a:t> (y + 3) =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y + </a:t>
            </a:r>
            <a:r>
              <a:rPr lang="en-US" altLang="x-none" sz="4800" dirty="0">
                <a:solidFill>
                  <a:srgbClr val="FF0000"/>
                </a:solidFill>
              </a:rPr>
              <a:t>2</a:t>
            </a:r>
            <a:r>
              <a:rPr lang="en-US" altLang="x-none" sz="3600" dirty="0"/>
              <a:t>x</a:t>
            </a:r>
            <a:r>
              <a:rPr lang="en-US" altLang="x-none" sz="4800" dirty="0"/>
              <a:t>3 = 2y+6</a:t>
            </a:r>
            <a:br>
              <a:rPr lang="en-US" altLang="x-none" sz="4800" dirty="0"/>
            </a:br>
            <a:r>
              <a:rPr lang="en-US" altLang="x-none" sz="4800" dirty="0"/>
              <a:t/>
            </a:r>
            <a:br>
              <a:rPr lang="en-US" altLang="x-none" sz="4800" dirty="0"/>
            </a:br>
            <a:r>
              <a:rPr lang="en-US" altLang="x-none" sz="3600" dirty="0">
                <a:solidFill>
                  <a:srgbClr val="000099"/>
                </a:solidFill>
              </a:rPr>
              <a:t>The “2” outside the brackets multiplies onto all letters and numbers that are inside the brackets.</a:t>
            </a:r>
            <a:r>
              <a:rPr lang="en-US" altLang="x-none" sz="3600" dirty="0"/>
              <a:t> </a:t>
            </a:r>
            <a:endParaRPr lang="en-AU" altLang="x-none" sz="4800" dirty="0"/>
          </a:p>
        </p:txBody>
      </p:sp>
      <p:pic>
        <p:nvPicPr>
          <p:cNvPr id="5124" name="Picture 4" descr="redCurv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284" y="3321051"/>
            <a:ext cx="1008062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280" y="3115545"/>
            <a:ext cx="2305050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6" name="Oval 6"/>
          <p:cNvSpPr>
            <a:spLocks noChangeArrowheads="1"/>
          </p:cNvSpPr>
          <p:nvPr/>
        </p:nvSpPr>
        <p:spPr bwMode="auto">
          <a:xfrm>
            <a:off x="8360584" y="3578386"/>
            <a:ext cx="1657350" cy="1008063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127" name="Picture 7" descr="greent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299" y="3410840"/>
            <a:ext cx="982662" cy="115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>
          <a:xfrm flipV="1">
            <a:off x="0" y="980729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9321" y="953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2402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25846" y="19687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2176" y="211420"/>
            <a:ext cx="3407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Expanding Brackets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738" y="1055228"/>
            <a:ext cx="10107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use the distributive law to expand </a:t>
            </a:r>
            <a:r>
              <a:rPr lang="en-AU" sz="2400" dirty="0" smtClean="0"/>
              <a:t>expressions </a:t>
            </a:r>
            <a:r>
              <a:rPr lang="en-AU" sz="2400" dirty="0"/>
              <a:t>with </a:t>
            </a:r>
            <a:r>
              <a:rPr lang="en-AU" sz="2400" dirty="0" smtClean="0"/>
              <a:t>more than two terms in the brackets</a:t>
            </a:r>
            <a:r>
              <a:rPr lang="en-AU" sz="2400" dirty="0"/>
              <a:t>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5471" y="2182204"/>
            <a:ext cx="2646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From last class</a:t>
            </a:r>
            <a:r>
              <a:rPr lang="mr-IN" sz="2800" dirty="0" smtClean="0"/>
              <a:t>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996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417820" y="2015569"/>
            <a:ext cx="6699574" cy="744989"/>
          </a:xfrm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x-none" b="1">
                <a:solidFill>
                  <a:srgbClr val="008000"/>
                </a:solidFill>
              </a:rPr>
              <a:t>Three Item Distributive Law</a:t>
            </a:r>
            <a:r>
              <a:rPr lang="en-US" altLang="x-none"/>
              <a:t> </a:t>
            </a:r>
            <a:endParaRPr lang="en-AU" altLang="x-non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25913" y="2852934"/>
            <a:ext cx="8066087" cy="429004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x-none" dirty="0">
                <a:solidFill>
                  <a:srgbClr val="FF0000"/>
                </a:solidFill>
              </a:rPr>
              <a:t/>
            </a:r>
            <a:br>
              <a:rPr lang="en-US" altLang="x-none" dirty="0">
                <a:solidFill>
                  <a:srgbClr val="FF0000"/>
                </a:solidFill>
              </a:rPr>
            </a:br>
            <a:r>
              <a:rPr lang="en-US" altLang="x-none" dirty="0">
                <a:solidFill>
                  <a:srgbClr val="FF0000"/>
                </a:solidFill>
              </a:rPr>
              <a:t/>
            </a:r>
            <a:br>
              <a:rPr lang="en-US" altLang="x-none" dirty="0">
                <a:solidFill>
                  <a:srgbClr val="FF0000"/>
                </a:solidFill>
              </a:rPr>
            </a:br>
            <a:r>
              <a:rPr lang="en-US" altLang="x-none" dirty="0">
                <a:solidFill>
                  <a:srgbClr val="FF0000"/>
                </a:solidFill>
              </a:rPr>
              <a:t>2</a:t>
            </a:r>
            <a:r>
              <a:rPr lang="en-US" altLang="x-none" dirty="0"/>
              <a:t> (4e - y + 3) = </a:t>
            </a:r>
            <a:r>
              <a:rPr lang="en-US" altLang="x-none" dirty="0">
                <a:solidFill>
                  <a:srgbClr val="FF0000"/>
                </a:solidFill>
              </a:rPr>
              <a:t>2</a:t>
            </a:r>
            <a:r>
              <a:rPr lang="en-US" altLang="x-none" sz="2400" dirty="0">
                <a:solidFill>
                  <a:srgbClr val="FF0000"/>
                </a:solidFill>
              </a:rPr>
              <a:t>x</a:t>
            </a:r>
            <a:r>
              <a:rPr lang="en-US" altLang="x-none" dirty="0"/>
              <a:t>4e – </a:t>
            </a:r>
            <a:r>
              <a:rPr lang="en-US" altLang="x-none" dirty="0">
                <a:solidFill>
                  <a:srgbClr val="FF0000"/>
                </a:solidFill>
              </a:rPr>
              <a:t>2</a:t>
            </a:r>
            <a:r>
              <a:rPr lang="en-US" altLang="x-none" sz="2400" dirty="0">
                <a:solidFill>
                  <a:srgbClr val="FF0000"/>
                </a:solidFill>
              </a:rPr>
              <a:t>x</a:t>
            </a:r>
            <a:r>
              <a:rPr lang="en-US" altLang="x-none" dirty="0"/>
              <a:t>y + </a:t>
            </a:r>
            <a:r>
              <a:rPr lang="en-US" altLang="x-none" dirty="0">
                <a:solidFill>
                  <a:srgbClr val="FF0000"/>
                </a:solidFill>
              </a:rPr>
              <a:t>2</a:t>
            </a:r>
            <a:r>
              <a:rPr lang="en-US" altLang="x-none" sz="2400" dirty="0">
                <a:solidFill>
                  <a:srgbClr val="FF0000"/>
                </a:solidFill>
              </a:rPr>
              <a:t>x</a:t>
            </a:r>
            <a:r>
              <a:rPr lang="en-US" altLang="x-none" dirty="0"/>
              <a:t>3 </a:t>
            </a:r>
            <a:br>
              <a:rPr lang="en-US" altLang="x-none" dirty="0"/>
            </a:br>
            <a:r>
              <a:rPr lang="en-US" altLang="x-none" dirty="0"/>
              <a:t/>
            </a:r>
            <a:br>
              <a:rPr lang="en-US" altLang="x-none" dirty="0"/>
            </a:br>
            <a:r>
              <a:rPr lang="en-US" altLang="x-none" dirty="0"/>
              <a:t>                   = 8e - 2y + 6</a:t>
            </a:r>
            <a:br>
              <a:rPr lang="en-US" altLang="x-none" dirty="0"/>
            </a:br>
            <a:r>
              <a:rPr lang="en-US" altLang="x-none" sz="4400" dirty="0"/>
              <a:t/>
            </a:r>
            <a:br>
              <a:rPr lang="en-US" altLang="x-none" sz="4400" dirty="0"/>
            </a:br>
            <a:r>
              <a:rPr lang="en-US" altLang="x-none" dirty="0">
                <a:solidFill>
                  <a:srgbClr val="000099"/>
                </a:solidFill>
              </a:rPr>
              <a:t>The “2” outside the brackets is multiplied onto everything that is inside the brackets.</a:t>
            </a:r>
            <a:r>
              <a:rPr lang="en-US" altLang="x-none" dirty="0"/>
              <a:t> </a:t>
            </a:r>
            <a:endParaRPr lang="en-AU" altLang="x-none" sz="4400" dirty="0"/>
          </a:p>
        </p:txBody>
      </p:sp>
      <p:pic>
        <p:nvPicPr>
          <p:cNvPr id="4100" name="Picture 4" descr="redCurv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498" y="3325340"/>
            <a:ext cx="712869" cy="65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422" y="3260053"/>
            <a:ext cx="1349097" cy="86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greent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334" y="4026679"/>
            <a:ext cx="798512" cy="93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805" y="3201039"/>
            <a:ext cx="2003467" cy="90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Oval 9"/>
          <p:cNvSpPr>
            <a:spLocks noChangeArrowheads="1"/>
          </p:cNvSpPr>
          <p:nvPr/>
        </p:nvSpPr>
        <p:spPr bwMode="auto">
          <a:xfrm>
            <a:off x="6096000" y="4242578"/>
            <a:ext cx="2232025" cy="719138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0" y="980729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9321" y="953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2402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25846" y="19687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2176" y="211420"/>
            <a:ext cx="3407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Expanding Brackets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3773" y="2126452"/>
            <a:ext cx="20408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Now an example with 3 terms inside the brackets:</a:t>
            </a:r>
          </a:p>
          <a:p>
            <a:endParaRPr lang="en-US" sz="2400" dirty="0"/>
          </a:p>
          <a:p>
            <a:r>
              <a:rPr lang="en-US" sz="2400" dirty="0" smtClean="0"/>
              <a:t>The rules stay the same.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89320" y="1025056"/>
            <a:ext cx="96280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EQ – How do I use the distributive law to expand expressions with more than two terms in the brackets?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27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417820" y="2015569"/>
            <a:ext cx="6699574" cy="744989"/>
          </a:xfrm>
          <a:noFill/>
          <a:ln w="22225">
            <a:solidFill>
              <a:srgbClr val="008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x-none" b="1" dirty="0">
                <a:solidFill>
                  <a:srgbClr val="008000"/>
                </a:solidFill>
              </a:rPr>
              <a:t>Three Item Distributive Law</a:t>
            </a:r>
            <a:r>
              <a:rPr lang="en-US" altLang="x-none" dirty="0"/>
              <a:t> </a:t>
            </a:r>
            <a:endParaRPr lang="en-AU" altLang="x-none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125913" y="2852934"/>
            <a:ext cx="8066087" cy="4290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x-none" dirty="0" smtClean="0">
                <a:solidFill>
                  <a:srgbClr val="FF0000"/>
                </a:solidFill>
              </a:rPr>
              <a:t/>
            </a:r>
            <a:br>
              <a:rPr lang="en-US" altLang="x-none" dirty="0" smtClean="0">
                <a:solidFill>
                  <a:srgbClr val="FF0000"/>
                </a:solidFill>
              </a:rPr>
            </a:br>
            <a:r>
              <a:rPr lang="en-US" altLang="x-none" dirty="0" smtClean="0">
                <a:solidFill>
                  <a:srgbClr val="FF0000"/>
                </a:solidFill>
              </a:rPr>
              <a:t/>
            </a:r>
            <a:br>
              <a:rPr lang="en-US" altLang="x-none" dirty="0" smtClean="0">
                <a:solidFill>
                  <a:srgbClr val="FF0000"/>
                </a:solidFill>
              </a:rPr>
            </a:br>
            <a:r>
              <a:rPr lang="en-US" altLang="x-none" dirty="0" smtClean="0">
                <a:solidFill>
                  <a:srgbClr val="FF0000"/>
                </a:solidFill>
              </a:rPr>
              <a:t>7</a:t>
            </a:r>
            <a:r>
              <a:rPr lang="en-US" altLang="x-none" dirty="0" smtClean="0"/>
              <a:t> (3a </a:t>
            </a:r>
            <a:r>
              <a:rPr lang="mr-IN" altLang="x-none" dirty="0" smtClean="0"/>
              <a:t>–</a:t>
            </a:r>
            <a:r>
              <a:rPr lang="en-US" altLang="x-none" dirty="0" smtClean="0"/>
              <a:t> 2b + 4) = </a:t>
            </a:r>
            <a:r>
              <a:rPr lang="en-US" altLang="x-none" dirty="0" smtClean="0">
                <a:solidFill>
                  <a:srgbClr val="FF0000"/>
                </a:solidFill>
              </a:rPr>
              <a:t>7</a:t>
            </a:r>
            <a:r>
              <a:rPr lang="en-US" altLang="x-none" sz="2400" dirty="0" smtClean="0">
                <a:solidFill>
                  <a:srgbClr val="FF0000"/>
                </a:solidFill>
              </a:rPr>
              <a:t>x</a:t>
            </a:r>
            <a:r>
              <a:rPr lang="en-US" altLang="x-none" dirty="0" smtClean="0"/>
              <a:t>3</a:t>
            </a:r>
            <a:r>
              <a:rPr lang="en-US" altLang="x-none" dirty="0"/>
              <a:t>a</a:t>
            </a:r>
            <a:r>
              <a:rPr lang="en-US" altLang="x-none" dirty="0" smtClean="0"/>
              <a:t> – </a:t>
            </a:r>
            <a:r>
              <a:rPr lang="en-US" altLang="x-none" dirty="0" smtClean="0">
                <a:solidFill>
                  <a:srgbClr val="FF0000"/>
                </a:solidFill>
              </a:rPr>
              <a:t>7</a:t>
            </a:r>
            <a:r>
              <a:rPr lang="en-US" altLang="x-none" sz="2400" dirty="0" smtClean="0">
                <a:solidFill>
                  <a:srgbClr val="FF0000"/>
                </a:solidFill>
              </a:rPr>
              <a:t>x</a:t>
            </a:r>
            <a:r>
              <a:rPr lang="en-US" altLang="x-none" dirty="0" smtClean="0"/>
              <a:t>2b + </a:t>
            </a:r>
            <a:r>
              <a:rPr lang="en-US" altLang="x-none" dirty="0">
                <a:solidFill>
                  <a:srgbClr val="FF0000"/>
                </a:solidFill>
              </a:rPr>
              <a:t>7</a:t>
            </a:r>
            <a:r>
              <a:rPr lang="en-US" altLang="x-none" sz="2400" dirty="0" smtClean="0">
                <a:solidFill>
                  <a:srgbClr val="FF0000"/>
                </a:solidFill>
              </a:rPr>
              <a:t>x</a:t>
            </a:r>
            <a:r>
              <a:rPr lang="en-US" altLang="x-none" dirty="0" smtClean="0"/>
              <a:t>3 </a:t>
            </a:r>
            <a:br>
              <a:rPr lang="en-US" altLang="x-none" dirty="0" smtClean="0"/>
            </a:br>
            <a:r>
              <a:rPr lang="en-US" altLang="x-none" dirty="0" smtClean="0"/>
              <a:t/>
            </a:r>
            <a:br>
              <a:rPr lang="en-US" altLang="x-none" dirty="0" smtClean="0"/>
            </a:br>
            <a:r>
              <a:rPr lang="en-US" altLang="x-none" dirty="0" smtClean="0"/>
              <a:t>                   = 21a </a:t>
            </a:r>
            <a:r>
              <a:rPr lang="mr-IN" altLang="x-none" dirty="0" smtClean="0"/>
              <a:t>–</a:t>
            </a:r>
            <a:r>
              <a:rPr lang="en-US" altLang="x-none" dirty="0" smtClean="0"/>
              <a:t> 14b + 28</a:t>
            </a:r>
            <a:br>
              <a:rPr lang="en-US" altLang="x-none" dirty="0" smtClean="0"/>
            </a:br>
            <a:r>
              <a:rPr lang="en-US" altLang="x-none" sz="4400" dirty="0" smtClean="0"/>
              <a:t/>
            </a:r>
            <a:br>
              <a:rPr lang="en-US" altLang="x-none" sz="4400" dirty="0" smtClean="0"/>
            </a:br>
            <a:r>
              <a:rPr lang="en-US" altLang="x-none" dirty="0" smtClean="0">
                <a:solidFill>
                  <a:srgbClr val="000099"/>
                </a:solidFill>
              </a:rPr>
              <a:t>The “7” outside the brackets is multiplied onto everything that is inside the brackets.</a:t>
            </a:r>
            <a:r>
              <a:rPr lang="en-US" altLang="x-none" dirty="0" smtClean="0"/>
              <a:t> </a:t>
            </a:r>
            <a:endParaRPr lang="en-AU" altLang="x-none" sz="4400" dirty="0"/>
          </a:p>
        </p:txBody>
      </p:sp>
      <p:pic>
        <p:nvPicPr>
          <p:cNvPr id="6" name="Picture 4" descr="redCurv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498" y="3283120"/>
            <a:ext cx="712869" cy="65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978" y="3215474"/>
            <a:ext cx="1349097" cy="86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greenti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334" y="4026679"/>
            <a:ext cx="798512" cy="93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redCurveLONG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978" y="3084524"/>
            <a:ext cx="2003467" cy="90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6195309" y="4278816"/>
            <a:ext cx="2232025" cy="719138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0" y="980729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9321" y="953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2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25846" y="19687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2176" y="211420"/>
            <a:ext cx="3407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Expanding Brackets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773" y="2126452"/>
            <a:ext cx="2040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Another examples with three terms</a:t>
            </a:r>
            <a:r>
              <a:rPr lang="mr-IN" sz="2400" dirty="0" smtClean="0"/>
              <a:t>…</a:t>
            </a:r>
            <a:endParaRPr lang="en-US" sz="2400" dirty="0"/>
          </a:p>
        </p:txBody>
      </p:sp>
      <p:sp>
        <p:nvSpPr>
          <p:cNvPr id="20" name="Rectangle 19"/>
          <p:cNvSpPr/>
          <p:nvPr/>
        </p:nvSpPr>
        <p:spPr>
          <a:xfrm>
            <a:off x="531675" y="1020360"/>
            <a:ext cx="8486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EQ – How do I use the distributive law to expand expressions with more than two terms in the brackets?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5373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 flipV="1">
            <a:off x="0" y="980729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9321" y="9532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2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225846" y="19687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2176" y="211420"/>
            <a:ext cx="3407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Expanding Brackets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675" y="1020360"/>
            <a:ext cx="8486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EQ – How do I use the distributive law to expand expressions with more than two terms in the brackets? </a:t>
            </a:r>
            <a:endParaRPr lang="en-AU" sz="24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989" y="1982308"/>
            <a:ext cx="3429000" cy="1841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4549" y="2126512"/>
            <a:ext cx="24562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Let’s look at some visual</a:t>
            </a:r>
          </a:p>
          <a:p>
            <a:r>
              <a:rPr lang="en-US" dirty="0"/>
              <a:t>r</a:t>
            </a:r>
            <a:r>
              <a:rPr lang="en-US" dirty="0" smtClean="0"/>
              <a:t>epresentations of the</a:t>
            </a:r>
          </a:p>
          <a:p>
            <a:r>
              <a:rPr lang="en-US" dirty="0" smtClean="0"/>
              <a:t>Distributive Law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950" y="4201337"/>
            <a:ext cx="51181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19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346" y="4582042"/>
            <a:ext cx="5143500" cy="201930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flipV="1">
            <a:off x="0" y="980729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3643" y="107009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24028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225846" y="19687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2176" y="211420"/>
            <a:ext cx="3407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Expanding Brackets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675" y="1020360"/>
            <a:ext cx="8486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 smtClean="0"/>
              <a:t>EQ – How do I use the distributive law to expand expressions with more than two terms in the brackets? </a:t>
            </a:r>
            <a:endParaRPr lang="en-AU" sz="24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847" y="2148911"/>
            <a:ext cx="34163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70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4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dirty="0" smtClean="0">
                <a:solidFill>
                  <a:schemeClr val="tx2"/>
                </a:solidFill>
              </a:rPr>
              <a:t>Write </a:t>
            </a:r>
            <a:r>
              <a:rPr lang="en-US" sz="3200" dirty="0">
                <a:solidFill>
                  <a:schemeClr val="tx2"/>
                </a:solidFill>
              </a:rPr>
              <a:t>an expression that shows how to find the area of the rectangle and uses the distributive property.</a:t>
            </a:r>
          </a:p>
        </p:txBody>
      </p:sp>
      <p:sp>
        <p:nvSpPr>
          <p:cNvPr id="100355" name="Rectangle 5"/>
          <p:cNvSpPr>
            <a:spLocks noChangeArrowheads="1"/>
          </p:cNvSpPr>
          <p:nvPr/>
        </p:nvSpPr>
        <p:spPr bwMode="auto">
          <a:xfrm>
            <a:off x="4267200" y="3124200"/>
            <a:ext cx="1752600" cy="18288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56" name="Rectangle 6"/>
          <p:cNvSpPr>
            <a:spLocks noChangeArrowheads="1"/>
          </p:cNvSpPr>
          <p:nvPr/>
        </p:nvSpPr>
        <p:spPr bwMode="auto">
          <a:xfrm>
            <a:off x="6019800" y="3124200"/>
            <a:ext cx="2362200" cy="18288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57" name="Text Box 7"/>
          <p:cNvSpPr txBox="1">
            <a:spLocks noChangeArrowheads="1"/>
          </p:cNvSpPr>
          <p:nvPr/>
        </p:nvSpPr>
        <p:spPr bwMode="auto">
          <a:xfrm>
            <a:off x="2438400" y="3352801"/>
            <a:ext cx="1143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/>
              <a:t>5 yds</a:t>
            </a:r>
          </a:p>
        </p:txBody>
      </p:sp>
      <p:sp>
        <p:nvSpPr>
          <p:cNvPr id="100358" name="Text Box 8"/>
          <p:cNvSpPr txBox="1">
            <a:spLocks noChangeArrowheads="1"/>
          </p:cNvSpPr>
          <p:nvPr/>
        </p:nvSpPr>
        <p:spPr bwMode="auto">
          <a:xfrm>
            <a:off x="4038600" y="5638801"/>
            <a:ext cx="1524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/>
              <a:t>x yds</a:t>
            </a:r>
          </a:p>
        </p:txBody>
      </p:sp>
      <p:sp>
        <p:nvSpPr>
          <p:cNvPr id="100359" name="Text Box 9"/>
          <p:cNvSpPr txBox="1">
            <a:spLocks noChangeArrowheads="1"/>
          </p:cNvSpPr>
          <p:nvPr/>
        </p:nvSpPr>
        <p:spPr bwMode="auto">
          <a:xfrm>
            <a:off x="6248400" y="5638801"/>
            <a:ext cx="2819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/>
              <a:t>   10 yds</a:t>
            </a:r>
          </a:p>
        </p:txBody>
      </p:sp>
      <p:sp>
        <p:nvSpPr>
          <p:cNvPr id="100360" name="AutoShape 10"/>
          <p:cNvSpPr>
            <a:spLocks/>
          </p:cNvSpPr>
          <p:nvPr/>
        </p:nvSpPr>
        <p:spPr bwMode="auto">
          <a:xfrm>
            <a:off x="3581400" y="3200400"/>
            <a:ext cx="381000" cy="1676400"/>
          </a:xfrm>
          <a:prstGeom prst="leftBrace">
            <a:avLst>
              <a:gd name="adj1" fmla="val 3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61" name="AutoShape 11"/>
          <p:cNvSpPr>
            <a:spLocks/>
          </p:cNvSpPr>
          <p:nvPr/>
        </p:nvSpPr>
        <p:spPr bwMode="auto">
          <a:xfrm rot="-5400000">
            <a:off x="6858000" y="4038600"/>
            <a:ext cx="228600" cy="2667000"/>
          </a:xfrm>
          <a:prstGeom prst="leftBrace">
            <a:avLst>
              <a:gd name="adj1" fmla="val 9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62" name="AutoShape 12"/>
          <p:cNvSpPr>
            <a:spLocks/>
          </p:cNvSpPr>
          <p:nvPr/>
        </p:nvSpPr>
        <p:spPr bwMode="auto">
          <a:xfrm rot="-5400000">
            <a:off x="4610100" y="4610100"/>
            <a:ext cx="228600" cy="1524000"/>
          </a:xfrm>
          <a:prstGeom prst="leftBrace">
            <a:avLst>
              <a:gd name="adj1" fmla="val 55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8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4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dirty="0" smtClean="0">
                <a:solidFill>
                  <a:schemeClr val="tx2"/>
                </a:solidFill>
              </a:rPr>
              <a:t>Write </a:t>
            </a:r>
            <a:r>
              <a:rPr lang="en-US" sz="3200" dirty="0">
                <a:solidFill>
                  <a:schemeClr val="tx2"/>
                </a:solidFill>
              </a:rPr>
              <a:t>an expression that shows how to find the area of the rectangle and uses the distributive property.</a:t>
            </a:r>
          </a:p>
        </p:txBody>
      </p:sp>
      <p:sp>
        <p:nvSpPr>
          <p:cNvPr id="101379" name="Rectangle 5"/>
          <p:cNvSpPr>
            <a:spLocks noChangeArrowheads="1"/>
          </p:cNvSpPr>
          <p:nvPr/>
        </p:nvSpPr>
        <p:spPr bwMode="auto">
          <a:xfrm>
            <a:off x="4267200" y="3124200"/>
            <a:ext cx="1752600" cy="18288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380" name="Rectangle 6"/>
          <p:cNvSpPr>
            <a:spLocks noChangeArrowheads="1"/>
          </p:cNvSpPr>
          <p:nvPr/>
        </p:nvSpPr>
        <p:spPr bwMode="auto">
          <a:xfrm>
            <a:off x="6019800" y="3124200"/>
            <a:ext cx="2362200" cy="18288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381" name="Text Box 7"/>
          <p:cNvSpPr txBox="1">
            <a:spLocks noChangeArrowheads="1"/>
          </p:cNvSpPr>
          <p:nvPr/>
        </p:nvSpPr>
        <p:spPr bwMode="auto">
          <a:xfrm>
            <a:off x="2438400" y="3352801"/>
            <a:ext cx="1143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/>
              <a:t>5 yds</a:t>
            </a:r>
          </a:p>
        </p:txBody>
      </p:sp>
      <p:sp>
        <p:nvSpPr>
          <p:cNvPr id="101382" name="Text Box 8"/>
          <p:cNvSpPr txBox="1">
            <a:spLocks noChangeArrowheads="1"/>
          </p:cNvSpPr>
          <p:nvPr/>
        </p:nvSpPr>
        <p:spPr bwMode="auto">
          <a:xfrm>
            <a:off x="4038600" y="5638801"/>
            <a:ext cx="1524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/>
              <a:t>x yds</a:t>
            </a:r>
          </a:p>
        </p:txBody>
      </p:sp>
      <p:sp>
        <p:nvSpPr>
          <p:cNvPr id="101383" name="Text Box 9"/>
          <p:cNvSpPr txBox="1">
            <a:spLocks noChangeArrowheads="1"/>
          </p:cNvSpPr>
          <p:nvPr/>
        </p:nvSpPr>
        <p:spPr bwMode="auto">
          <a:xfrm>
            <a:off x="6248400" y="5638801"/>
            <a:ext cx="2819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/>
              <a:t>   10 yds</a:t>
            </a:r>
          </a:p>
        </p:txBody>
      </p:sp>
      <p:sp>
        <p:nvSpPr>
          <p:cNvPr id="101384" name="AutoShape 10"/>
          <p:cNvSpPr>
            <a:spLocks/>
          </p:cNvSpPr>
          <p:nvPr/>
        </p:nvSpPr>
        <p:spPr bwMode="auto">
          <a:xfrm>
            <a:off x="3581400" y="3200400"/>
            <a:ext cx="381000" cy="1676400"/>
          </a:xfrm>
          <a:prstGeom prst="leftBrace">
            <a:avLst>
              <a:gd name="adj1" fmla="val 3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385" name="AutoShape 11"/>
          <p:cNvSpPr>
            <a:spLocks/>
          </p:cNvSpPr>
          <p:nvPr/>
        </p:nvSpPr>
        <p:spPr bwMode="auto">
          <a:xfrm rot="-5400000">
            <a:off x="6858000" y="4038600"/>
            <a:ext cx="228600" cy="2667000"/>
          </a:xfrm>
          <a:prstGeom prst="leftBrace">
            <a:avLst>
              <a:gd name="adj1" fmla="val 9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386" name="AutoShape 12"/>
          <p:cNvSpPr>
            <a:spLocks/>
          </p:cNvSpPr>
          <p:nvPr/>
        </p:nvSpPr>
        <p:spPr bwMode="auto">
          <a:xfrm rot="-5400000">
            <a:off x="4610100" y="4610100"/>
            <a:ext cx="228600" cy="1524000"/>
          </a:xfrm>
          <a:prstGeom prst="leftBrace">
            <a:avLst>
              <a:gd name="adj1" fmla="val 55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387" name="Text Box 13"/>
          <p:cNvSpPr txBox="1">
            <a:spLocks noChangeArrowheads="1"/>
          </p:cNvSpPr>
          <p:nvPr/>
        </p:nvSpPr>
        <p:spPr bwMode="auto">
          <a:xfrm>
            <a:off x="4343400" y="3810000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5x</a:t>
            </a:r>
          </a:p>
        </p:txBody>
      </p:sp>
      <p:sp>
        <p:nvSpPr>
          <p:cNvPr id="101388" name="Text Box 14"/>
          <p:cNvSpPr txBox="1">
            <a:spLocks noChangeArrowheads="1"/>
          </p:cNvSpPr>
          <p:nvPr/>
        </p:nvSpPr>
        <p:spPr bwMode="auto">
          <a:xfrm>
            <a:off x="6096000" y="3810000"/>
            <a:ext cx="1752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5 ∙ 10 </a:t>
            </a:r>
          </a:p>
        </p:txBody>
      </p:sp>
    </p:spTree>
    <p:extLst>
      <p:ext uri="{BB962C8B-B14F-4D97-AF65-F5344CB8AC3E}">
        <p14:creationId xmlns:p14="http://schemas.microsoft.com/office/powerpoint/2010/main" val="1600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4"/>
          <p:cNvSpPr>
            <a:spLocks noChangeArrowheads="1"/>
          </p:cNvSpPr>
          <p:nvPr/>
        </p:nvSpPr>
        <p:spPr bwMode="auto">
          <a:xfrm>
            <a:off x="2209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3200" dirty="0">
              <a:solidFill>
                <a:schemeClr val="tx2"/>
              </a:solidFill>
            </a:endParaRPr>
          </a:p>
          <a:p>
            <a:pPr algn="ctr"/>
            <a:r>
              <a:rPr lang="en-US" sz="3200" dirty="0" smtClean="0">
                <a:solidFill>
                  <a:schemeClr val="tx2"/>
                </a:solidFill>
              </a:rPr>
              <a:t>Write </a:t>
            </a:r>
            <a:r>
              <a:rPr lang="en-US" sz="3200" dirty="0">
                <a:solidFill>
                  <a:schemeClr val="tx2"/>
                </a:solidFill>
              </a:rPr>
              <a:t>an expression that shows how to find the area of the rectangle and uses the distributive property.</a:t>
            </a:r>
          </a:p>
        </p:txBody>
      </p:sp>
      <p:sp>
        <p:nvSpPr>
          <p:cNvPr id="102403" name="Rectangle 5"/>
          <p:cNvSpPr>
            <a:spLocks noChangeArrowheads="1"/>
          </p:cNvSpPr>
          <p:nvPr/>
        </p:nvSpPr>
        <p:spPr bwMode="auto">
          <a:xfrm>
            <a:off x="4267200" y="3124200"/>
            <a:ext cx="1752600" cy="18288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04" name="Rectangle 6"/>
          <p:cNvSpPr>
            <a:spLocks noChangeArrowheads="1"/>
          </p:cNvSpPr>
          <p:nvPr/>
        </p:nvSpPr>
        <p:spPr bwMode="auto">
          <a:xfrm>
            <a:off x="6019800" y="3124200"/>
            <a:ext cx="2362200" cy="1828800"/>
          </a:xfrm>
          <a:prstGeom prst="rect">
            <a:avLst/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05" name="Text Box 7"/>
          <p:cNvSpPr txBox="1">
            <a:spLocks noChangeArrowheads="1"/>
          </p:cNvSpPr>
          <p:nvPr/>
        </p:nvSpPr>
        <p:spPr bwMode="auto">
          <a:xfrm>
            <a:off x="2438400" y="3352801"/>
            <a:ext cx="1143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/>
              <a:t>5 yds</a:t>
            </a:r>
          </a:p>
        </p:txBody>
      </p:sp>
      <p:sp>
        <p:nvSpPr>
          <p:cNvPr id="102406" name="Text Box 8"/>
          <p:cNvSpPr txBox="1">
            <a:spLocks noChangeArrowheads="1"/>
          </p:cNvSpPr>
          <p:nvPr/>
        </p:nvSpPr>
        <p:spPr bwMode="auto">
          <a:xfrm>
            <a:off x="4038600" y="5638801"/>
            <a:ext cx="1524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/>
              <a:t>x yds</a:t>
            </a:r>
          </a:p>
        </p:txBody>
      </p:sp>
      <p:sp>
        <p:nvSpPr>
          <p:cNvPr id="102407" name="Text Box 9"/>
          <p:cNvSpPr txBox="1">
            <a:spLocks noChangeArrowheads="1"/>
          </p:cNvSpPr>
          <p:nvPr/>
        </p:nvSpPr>
        <p:spPr bwMode="auto">
          <a:xfrm>
            <a:off x="6248400" y="5638801"/>
            <a:ext cx="2819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/>
              <a:t>   10 yds</a:t>
            </a:r>
          </a:p>
        </p:txBody>
      </p:sp>
      <p:sp>
        <p:nvSpPr>
          <p:cNvPr id="102408" name="AutoShape 10"/>
          <p:cNvSpPr>
            <a:spLocks/>
          </p:cNvSpPr>
          <p:nvPr/>
        </p:nvSpPr>
        <p:spPr bwMode="auto">
          <a:xfrm>
            <a:off x="3581400" y="3200400"/>
            <a:ext cx="381000" cy="1676400"/>
          </a:xfrm>
          <a:prstGeom prst="leftBrace">
            <a:avLst>
              <a:gd name="adj1" fmla="val 3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09" name="AutoShape 11"/>
          <p:cNvSpPr>
            <a:spLocks/>
          </p:cNvSpPr>
          <p:nvPr/>
        </p:nvSpPr>
        <p:spPr bwMode="auto">
          <a:xfrm rot="-5400000">
            <a:off x="6858000" y="4038600"/>
            <a:ext cx="228600" cy="2667000"/>
          </a:xfrm>
          <a:prstGeom prst="leftBrace">
            <a:avLst>
              <a:gd name="adj1" fmla="val 9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10" name="AutoShape 12"/>
          <p:cNvSpPr>
            <a:spLocks/>
          </p:cNvSpPr>
          <p:nvPr/>
        </p:nvSpPr>
        <p:spPr bwMode="auto">
          <a:xfrm rot="-5400000">
            <a:off x="4610100" y="4610100"/>
            <a:ext cx="228600" cy="1524000"/>
          </a:xfrm>
          <a:prstGeom prst="leftBrace">
            <a:avLst>
              <a:gd name="adj1" fmla="val 55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11" name="Text Box 13"/>
          <p:cNvSpPr txBox="1">
            <a:spLocks noChangeArrowheads="1"/>
          </p:cNvSpPr>
          <p:nvPr/>
        </p:nvSpPr>
        <p:spPr bwMode="auto">
          <a:xfrm>
            <a:off x="4648200" y="2514600"/>
            <a:ext cx="1371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5x   +</a:t>
            </a:r>
          </a:p>
        </p:txBody>
      </p:sp>
      <p:sp>
        <p:nvSpPr>
          <p:cNvPr id="102412" name="Text Box 14"/>
          <p:cNvSpPr txBox="1">
            <a:spLocks noChangeArrowheads="1"/>
          </p:cNvSpPr>
          <p:nvPr/>
        </p:nvSpPr>
        <p:spPr bwMode="auto">
          <a:xfrm>
            <a:off x="5486400" y="2514600"/>
            <a:ext cx="1752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solidFill>
                  <a:schemeClr val="accent2"/>
                </a:solidFill>
              </a:rPr>
              <a:t>5 ∙ 10 </a:t>
            </a:r>
          </a:p>
        </p:txBody>
      </p:sp>
    </p:spTree>
    <p:extLst>
      <p:ext uri="{BB962C8B-B14F-4D97-AF65-F5344CB8AC3E}">
        <p14:creationId xmlns:p14="http://schemas.microsoft.com/office/powerpoint/2010/main" val="52629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75098" y="276446"/>
            <a:ext cx="4101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Class and Homework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25" y="1284177"/>
            <a:ext cx="6172200" cy="355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25" y="1709077"/>
            <a:ext cx="2082800" cy="1257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391" y="1690068"/>
            <a:ext cx="2590800" cy="965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391" y="1709077"/>
            <a:ext cx="2590800" cy="965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25" y="3185239"/>
            <a:ext cx="8102600" cy="1371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25" y="4846832"/>
            <a:ext cx="89281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72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332</Words>
  <Application>Microsoft Macintosh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Mangal</vt:lpstr>
      <vt:lpstr>Arial</vt:lpstr>
      <vt:lpstr>Office Theme</vt:lpstr>
      <vt:lpstr>My Number Interactive Notebook</vt:lpstr>
      <vt:lpstr>PowerPoint Presentation</vt:lpstr>
      <vt:lpstr>PowerPoint Presentation</vt:lpstr>
      <vt:lpstr>Distributive Law </vt:lpstr>
      <vt:lpstr>Three Item Distributive Law </vt:lpstr>
      <vt:lpstr>Three Item Distributive Law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Number Interactive Notebook</dc:title>
  <dc:creator>SUMMERS Brad [Baldivis Secondary College]</dc:creator>
  <cp:lastModifiedBy>SUMMERS Brad [Baldivis Secondary College]</cp:lastModifiedBy>
  <cp:revision>9</cp:revision>
  <dcterms:created xsi:type="dcterms:W3CDTF">2017-03-12T09:16:40Z</dcterms:created>
  <dcterms:modified xsi:type="dcterms:W3CDTF">2017-03-12T10:13:44Z</dcterms:modified>
</cp:coreProperties>
</file>
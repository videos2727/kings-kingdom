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7" r:id="rId2"/>
    <p:sldId id="263" r:id="rId3"/>
    <p:sldId id="259" r:id="rId4"/>
    <p:sldId id="264" r:id="rId5"/>
    <p:sldId id="265" r:id="rId6"/>
    <p:sldId id="260" r:id="rId7"/>
    <p:sldId id="266" r:id="rId8"/>
    <p:sldId id="267" r:id="rId9"/>
    <p:sldId id="268" r:id="rId10"/>
    <p:sldId id="269" r:id="rId11"/>
    <p:sldId id="270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7E127-1EBA-4CCB-BFF5-D8EE72D6061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2AF9-1A51-4242-B23A-B41D0660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84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5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40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8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0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20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8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021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747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99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00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5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341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79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689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2873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0064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8297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707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352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9290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24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FC22-BCBD-492B-88F3-473F1F2A4F78}" type="datetimeFigureOut">
              <a:rPr lang="en-AU" smtClean="0"/>
              <a:t>28/11/2017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681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Congruent triangles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59" y="1842220"/>
            <a:ext cx="8943390" cy="5015780"/>
          </a:xfrm>
          <a:prstGeom prst="rect">
            <a:avLst/>
          </a:prstGeom>
        </p:spPr>
      </p:pic>
      <p:sp>
        <p:nvSpPr>
          <p:cNvPr id="11" name="TextBox 10">
            <a:extLst/>
          </p:cNvPr>
          <p:cNvSpPr txBox="1"/>
          <p:nvPr/>
        </p:nvSpPr>
        <p:spPr>
          <a:xfrm>
            <a:off x="187569" y="2523780"/>
            <a:ext cx="2953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Which shapes are the same?</a:t>
            </a:r>
          </a:p>
          <a:p>
            <a:endParaRPr lang="en-AU" sz="2880" dirty="0"/>
          </a:p>
          <a:p>
            <a:r>
              <a:rPr lang="en-AU" sz="2880" dirty="0"/>
              <a:t>Can you pair them up?</a:t>
            </a:r>
          </a:p>
        </p:txBody>
      </p:sp>
      <p:sp>
        <p:nvSpPr>
          <p:cNvPr id="13" name="Oval 12"/>
          <p:cNvSpPr/>
          <p:nvPr/>
        </p:nvSpPr>
        <p:spPr>
          <a:xfrm>
            <a:off x="3751384" y="4958714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3733799" y="2265124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7819291" y="3990735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673755" y="2237937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5757010" y="5710312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920387" y="2496593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912627" y="3013905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7262745" y="5710312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5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Congruence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know if two triangles are congruent?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FA2FBA-9826-45D0-A46F-1CB437FB0EC3}"/>
              </a:ext>
            </a:extLst>
          </p:cNvPr>
          <p:cNvSpPr txBox="1"/>
          <p:nvPr/>
        </p:nvSpPr>
        <p:spPr>
          <a:xfrm>
            <a:off x="0" y="1580870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Congruent Shapes?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F9CA1-C27B-4E7C-A786-F74836D45B7E}"/>
              </a:ext>
            </a:extLst>
          </p:cNvPr>
          <p:cNvSpPr/>
          <p:nvPr/>
        </p:nvSpPr>
        <p:spPr>
          <a:xfrm>
            <a:off x="2000107" y="1580870"/>
            <a:ext cx="1000635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  <a:p>
            <a:endParaRPr lang="en-US" sz="2800" dirty="0"/>
          </a:p>
          <a:p>
            <a:r>
              <a:rPr lang="en-US" sz="2800" dirty="0"/>
              <a:t>If something is flipped, rotated or translated (slide) then it is still congruent.</a:t>
            </a:r>
          </a:p>
          <a:p>
            <a:endParaRPr lang="en-US" sz="2800" dirty="0"/>
          </a:p>
          <a:p>
            <a:r>
              <a:rPr lang="en-US" sz="2800" dirty="0"/>
              <a:t>If something is enlarged, shrunk or stretched it is </a:t>
            </a:r>
            <a:r>
              <a:rPr lang="en-US" sz="2800" b="1" dirty="0"/>
              <a:t>no longer </a:t>
            </a:r>
            <a:r>
              <a:rPr lang="en-US" sz="2800" dirty="0"/>
              <a:t>congruent.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9433-FFEA-43AC-8A8A-729A1069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912" y="5670439"/>
            <a:ext cx="79533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FD0-A631-44A5-91BE-D67904D0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086" y="69739"/>
            <a:ext cx="9464040" cy="1325563"/>
          </a:xfrm>
        </p:spPr>
        <p:txBody>
          <a:bodyPr/>
          <a:lstStyle/>
          <a:p>
            <a:r>
              <a:rPr lang="en-AU" dirty="0"/>
              <a:t>For example:</a:t>
            </a: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1154A42F-33D2-48FD-BE84-D4D90E07C70F}"/>
              </a:ext>
            </a:extLst>
          </p:cNvPr>
          <p:cNvSpPr/>
          <p:nvPr/>
        </p:nvSpPr>
        <p:spPr>
          <a:xfrm>
            <a:off x="1261903" y="2311223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56707A9A-8526-49E4-A6CD-38F5CC211081}"/>
              </a:ext>
            </a:extLst>
          </p:cNvPr>
          <p:cNvSpPr/>
          <p:nvPr/>
        </p:nvSpPr>
        <p:spPr>
          <a:xfrm rot="993291">
            <a:off x="2831884" y="2265680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5FF01CDF-887F-464D-B216-700F8B5C51AB}"/>
              </a:ext>
            </a:extLst>
          </p:cNvPr>
          <p:cNvSpPr/>
          <p:nvPr/>
        </p:nvSpPr>
        <p:spPr>
          <a:xfrm>
            <a:off x="4326347" y="2112839"/>
            <a:ext cx="1623060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E636771-D1E3-42BC-8C8A-290671A76EB6}"/>
              </a:ext>
            </a:extLst>
          </p:cNvPr>
          <p:cNvSpPr/>
          <p:nvPr/>
        </p:nvSpPr>
        <p:spPr>
          <a:xfrm flipH="1">
            <a:off x="5956027" y="2353248"/>
            <a:ext cx="1586526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81D818B-95A6-4C62-B6AC-EC98451210D2}"/>
              </a:ext>
            </a:extLst>
          </p:cNvPr>
          <p:cNvSpPr/>
          <p:nvPr/>
        </p:nvSpPr>
        <p:spPr>
          <a:xfrm>
            <a:off x="7702246" y="2366571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DFE37083-335D-4B19-880B-58D3E8CD66E6}"/>
              </a:ext>
            </a:extLst>
          </p:cNvPr>
          <p:cNvSpPr/>
          <p:nvPr/>
        </p:nvSpPr>
        <p:spPr>
          <a:xfrm>
            <a:off x="8924929" y="3179612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2" name="Star: 7 Points 11">
            <a:extLst>
              <a:ext uri="{FF2B5EF4-FFF2-40B4-BE49-F238E27FC236}">
                <a16:creationId xmlns:a16="http://schemas.microsoft.com/office/drawing/2014/main" id="{70950C93-2398-4278-8A84-CF8F15AAA1CA}"/>
              </a:ext>
            </a:extLst>
          </p:cNvPr>
          <p:cNvSpPr/>
          <p:nvPr/>
        </p:nvSpPr>
        <p:spPr>
          <a:xfrm>
            <a:off x="1009804" y="4915810"/>
            <a:ext cx="1703070" cy="1253755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3" name="Star: 7 Points 12">
            <a:extLst>
              <a:ext uri="{FF2B5EF4-FFF2-40B4-BE49-F238E27FC236}">
                <a16:creationId xmlns:a16="http://schemas.microsoft.com/office/drawing/2014/main" id="{471D2567-293E-42B1-AAC9-6E6CC05E56FC}"/>
              </a:ext>
            </a:extLst>
          </p:cNvPr>
          <p:cNvSpPr/>
          <p:nvPr/>
        </p:nvSpPr>
        <p:spPr>
          <a:xfrm rot="993291">
            <a:off x="2956775" y="5133094"/>
            <a:ext cx="722153" cy="563803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25BDA5A9-9946-4033-8C71-1924335CF5BD}"/>
              </a:ext>
            </a:extLst>
          </p:cNvPr>
          <p:cNvSpPr/>
          <p:nvPr/>
        </p:nvSpPr>
        <p:spPr>
          <a:xfrm flipH="1">
            <a:off x="5311570" y="4768655"/>
            <a:ext cx="2056082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314FBD87-17F3-4C54-A20E-235EC07E207D}"/>
              </a:ext>
            </a:extLst>
          </p:cNvPr>
          <p:cNvSpPr/>
          <p:nvPr/>
        </p:nvSpPr>
        <p:spPr>
          <a:xfrm rot="20563963">
            <a:off x="4529864" y="4614088"/>
            <a:ext cx="379344" cy="185719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C37960AB-7070-46E8-9B45-4BA3B3C8A175}"/>
              </a:ext>
            </a:extLst>
          </p:cNvPr>
          <p:cNvSpPr/>
          <p:nvPr/>
        </p:nvSpPr>
        <p:spPr>
          <a:xfrm>
            <a:off x="7788218" y="4785735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8A1A6CD8-1E8D-4993-B479-F99FD952D68E}"/>
              </a:ext>
            </a:extLst>
          </p:cNvPr>
          <p:cNvSpPr/>
          <p:nvPr/>
        </p:nvSpPr>
        <p:spPr>
          <a:xfrm>
            <a:off x="9987919" y="5542687"/>
            <a:ext cx="1438636" cy="236984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3885F-D7DD-4FA0-8EC9-6C2363622420}"/>
              </a:ext>
            </a:extLst>
          </p:cNvPr>
          <p:cNvSpPr txBox="1"/>
          <p:nvPr/>
        </p:nvSpPr>
        <p:spPr>
          <a:xfrm>
            <a:off x="2312915" y="1365069"/>
            <a:ext cx="1304115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7A00C-EC0F-4467-A725-CDFF1D2C50E8}"/>
              </a:ext>
            </a:extLst>
          </p:cNvPr>
          <p:cNvSpPr txBox="1"/>
          <p:nvPr/>
        </p:nvSpPr>
        <p:spPr>
          <a:xfrm>
            <a:off x="5553038" y="1582545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327B3-7DA1-42C4-B78D-BB4A5E194CEF}"/>
              </a:ext>
            </a:extLst>
          </p:cNvPr>
          <p:cNvSpPr txBox="1"/>
          <p:nvPr/>
        </p:nvSpPr>
        <p:spPr>
          <a:xfrm>
            <a:off x="8118951" y="2660138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E481-282E-46F1-9E8A-066D00C126F0}"/>
              </a:ext>
            </a:extLst>
          </p:cNvPr>
          <p:cNvSpPr txBox="1"/>
          <p:nvPr/>
        </p:nvSpPr>
        <p:spPr>
          <a:xfrm>
            <a:off x="2290025" y="5414995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776F2-975B-418A-B7C7-211A2D221A70}"/>
              </a:ext>
            </a:extLst>
          </p:cNvPr>
          <p:cNvSpPr txBox="1"/>
          <p:nvPr/>
        </p:nvSpPr>
        <p:spPr>
          <a:xfrm>
            <a:off x="4969059" y="4222683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567-1EF6-447B-AE6E-0733866D8850}"/>
              </a:ext>
            </a:extLst>
          </p:cNvPr>
          <p:cNvSpPr txBox="1"/>
          <p:nvPr/>
        </p:nvSpPr>
        <p:spPr>
          <a:xfrm>
            <a:off x="9110099" y="5257649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EAEC4-F3C1-4AF3-8E4C-41B83FB4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89" y="0"/>
            <a:ext cx="11208854" cy="68605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FDD862-6FFE-4ADB-AD65-A9234B1F33BA}"/>
              </a:ext>
            </a:extLst>
          </p:cNvPr>
          <p:cNvSpPr/>
          <p:nvPr/>
        </p:nvSpPr>
        <p:spPr>
          <a:xfrm>
            <a:off x="638589" y="3949148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44ACA-C3E5-46C8-8019-0CCF2656824B}"/>
              </a:ext>
            </a:extLst>
          </p:cNvPr>
          <p:cNvSpPr/>
          <p:nvPr/>
        </p:nvSpPr>
        <p:spPr>
          <a:xfrm>
            <a:off x="8265215" y="3949148"/>
            <a:ext cx="258831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A6E22-7FE7-4713-BC94-C268870562AD}"/>
              </a:ext>
            </a:extLst>
          </p:cNvPr>
          <p:cNvSpPr/>
          <p:nvPr/>
        </p:nvSpPr>
        <p:spPr>
          <a:xfrm>
            <a:off x="638589" y="5267739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8A1C28-6144-448F-8A49-CD15B372C9D6}"/>
              </a:ext>
            </a:extLst>
          </p:cNvPr>
          <p:cNvSpPr/>
          <p:nvPr/>
        </p:nvSpPr>
        <p:spPr>
          <a:xfrm>
            <a:off x="8265215" y="5404870"/>
            <a:ext cx="270758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18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SSS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5"/>
            <a:ext cx="11071190" cy="1665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Side,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all three sides of the triangles are </a:t>
            </a:r>
            <a:r>
              <a:rPr lang="en-AU" sz="2800" b="1" dirty="0">
                <a:latin typeface="Century Gothic" panose="020B0502020202020204" pitchFamily="34" charset="0"/>
              </a:rPr>
              <a:t>equal in length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7BA3D-D965-4314-9C3C-8DB8B3784F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196" b="13929"/>
          <a:stretch/>
        </p:blipFill>
        <p:spPr>
          <a:xfrm>
            <a:off x="3569434" y="3823840"/>
            <a:ext cx="8622566" cy="291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636A85-8E84-4F7B-A3B2-A0B1F2098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49" y="4024279"/>
            <a:ext cx="3505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3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SaS</a:t>
            </a:r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1854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matching sides have </a:t>
            </a:r>
            <a:r>
              <a:rPr lang="en-AU" sz="2800" b="1" dirty="0">
                <a:latin typeface="Century Gothic" panose="020B0502020202020204" pitchFamily="34" charset="0"/>
              </a:rPr>
              <a:t>equal lengths,</a:t>
            </a:r>
            <a:r>
              <a:rPr lang="en-AU" sz="2800" dirty="0">
                <a:latin typeface="Century Gothic" panose="020B0502020202020204" pitchFamily="34" charset="0"/>
              </a:rPr>
              <a:t> and the </a:t>
            </a:r>
            <a:r>
              <a:rPr lang="en-AU" sz="2800" b="1" dirty="0">
                <a:latin typeface="Century Gothic" panose="020B0502020202020204" pitchFamily="34" charset="0"/>
              </a:rPr>
              <a:t>angle in between </a:t>
            </a:r>
            <a:r>
              <a:rPr lang="en-AU" sz="2800" dirty="0">
                <a:latin typeface="Century Gothic" panose="020B0502020202020204" pitchFamily="34" charset="0"/>
              </a:rPr>
              <a:t>these two sides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6E43E-DA4F-4906-B5DF-B68149426C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197" r="4576" b="14547"/>
          <a:stretch/>
        </p:blipFill>
        <p:spPr>
          <a:xfrm>
            <a:off x="3742101" y="3880532"/>
            <a:ext cx="8290873" cy="26968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F04B35-7295-49C9-B3DC-3729ABFF8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5470"/>
            <a:ext cx="3931048" cy="23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ASA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Side, Angle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the side length in between the angles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AC279-4ACE-460B-B6B8-DFFAF624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64" y="3220278"/>
            <a:ext cx="5946193" cy="34190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11483B-73B0-4CAD-92DE-F514963ABDC2}"/>
              </a:ext>
            </a:extLst>
          </p:cNvPr>
          <p:cNvSpPr/>
          <p:nvPr/>
        </p:nvSpPr>
        <p:spPr>
          <a:xfrm>
            <a:off x="10813775" y="3220278"/>
            <a:ext cx="1113182" cy="1033670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69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AAS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one side is matching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B4C70-033A-4F01-A296-ECD220585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9" t="42760" r="3879" b="17837"/>
          <a:stretch/>
        </p:blipFill>
        <p:spPr>
          <a:xfrm>
            <a:off x="2090846" y="3482724"/>
            <a:ext cx="9730094" cy="303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0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RHS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Right-Angle, Hypotenuse,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the hypotenuse and one matching side are equal in length. They also have a 90° angle equal. 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8C942-8B5D-451C-B53B-B28ADD12AD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4" t="42097" r="3601" b="14276"/>
          <a:stretch/>
        </p:blipFill>
        <p:spPr>
          <a:xfrm>
            <a:off x="3150057" y="3432318"/>
            <a:ext cx="8901794" cy="31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8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1CFF9-930D-4C1E-A703-CEC33CF0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311"/>
            <a:ext cx="12192000" cy="550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66" y="1909727"/>
            <a:ext cx="10344667" cy="4027247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Century Gothic" panose="020B0502020202020204" pitchFamily="34" charset="0"/>
              </a:rPr>
              <a:t>Complete the activity sheet as your exit pass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(The HL column is the same as the RHS rule)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r>
              <a:rPr lang="en-AU" sz="3200" dirty="0">
                <a:latin typeface="Century Gothic" panose="020B0502020202020204" pitchFamily="34" charset="0"/>
              </a:rPr>
              <a:t>Get your teacher to check that you are correct before you glue in the triangles!! 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45</TotalTime>
  <Words>428</Words>
  <Application>Microsoft Office PowerPoint</Application>
  <PresentationFormat>Widescreen</PresentationFormat>
  <Paragraphs>86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Bodoni MT</vt:lpstr>
      <vt:lpstr>Calibri</vt:lpstr>
      <vt:lpstr>Century Gothic</vt:lpstr>
      <vt:lpstr>DJB Fancy Nancy</vt:lpstr>
      <vt:lpstr>Kiwi School Handwriting</vt:lpstr>
      <vt:lpstr>Wingdings</vt:lpstr>
      <vt:lpstr>Vapor Trail</vt:lpstr>
      <vt:lpstr>Congruent triangles</vt:lpstr>
      <vt:lpstr>PowerPoint Presentation</vt:lpstr>
      <vt:lpstr>PowerPoint Presentation</vt:lpstr>
      <vt:lpstr>For example:</vt:lpstr>
      <vt:lpstr>PowerPoint Presentation</vt:lpstr>
      <vt:lpstr>PowerPoint Presentation</vt:lpstr>
      <vt:lpstr>SSS Rule</vt:lpstr>
      <vt:lpstr>SaS Rule</vt:lpstr>
      <vt:lpstr>ASA Rule</vt:lpstr>
      <vt:lpstr>AAS Rule</vt:lpstr>
      <vt:lpstr>RHS Rule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Congruent triangles</dc:title>
  <dc:creator>Nine Labuschagne</dc:creator>
  <cp:lastModifiedBy>Nine Labuschagne</cp:lastModifiedBy>
  <cp:revision>10</cp:revision>
  <dcterms:created xsi:type="dcterms:W3CDTF">2017-11-28T00:00:34Z</dcterms:created>
  <dcterms:modified xsi:type="dcterms:W3CDTF">2017-11-28T00:45:38Z</dcterms:modified>
</cp:coreProperties>
</file>
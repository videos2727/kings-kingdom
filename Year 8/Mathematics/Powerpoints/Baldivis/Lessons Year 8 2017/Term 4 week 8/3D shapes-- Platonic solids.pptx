
<file path=[Content_Types].xml><?xml version="1.0" encoding="utf-8"?>
<Types xmlns="http://schemas.openxmlformats.org/package/2006/content-types">
  <Default Extension="xml" ContentType="application/xml"/>
  <Default Extension="jpeg" ContentType="image/jpeg"/>
  <Default Extension="rels" ContentType="application/vnd.openxmlformats-package.relationships+xml"/>
  <Default Extension="gif" ContentType="image/gif"/>
  <Default Extension="jpg" ContentType="image/jpeg"/>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84" r:id="rId2"/>
    <p:sldId id="285" r:id="rId3"/>
    <p:sldId id="286" r:id="rId4"/>
    <p:sldId id="283" r:id="rId5"/>
    <p:sldId id="290" r:id="rId6"/>
    <p:sldId id="287" r:id="rId7"/>
    <p:sldId id="257" r:id="rId8"/>
    <p:sldId id="259" r:id="rId9"/>
    <p:sldId id="288" r:id="rId10"/>
    <p:sldId id="289" r:id="rId11"/>
    <p:sldId id="291" r:id="rId12"/>
    <p:sldId id="294" r:id="rId13"/>
    <p:sldId id="293"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599"/>
  </p:normalViewPr>
  <p:slideViewPr>
    <p:cSldViewPr>
      <p:cViewPr>
        <p:scale>
          <a:sx n="55" d="100"/>
          <a:sy n="55" d="100"/>
        </p:scale>
        <p:origin x="3280" y="128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AFC3922-5EB1-4A7A-9541-7BF1BE1740EC}" type="datetimeFigureOut">
              <a:rPr lang="en-GB" smtClean="0"/>
              <a:t>25/11/2017</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369C9D-0B2A-4FA1-8511-1F1FCA5D7A80}" type="slidenum">
              <a:rPr lang="en-GB" smtClean="0"/>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D72DA05D-E6B5-46FE-9D2D-1DC465FF46A5}" type="datetimeFigureOut">
              <a:rPr lang="en-GB" smtClean="0"/>
              <a:pPr/>
              <a:t>25/11/2017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BA0279-C754-44BB-8ACC-4DAC2E8364C4}"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D72DA05D-E6B5-46FE-9D2D-1DC465FF46A5}" type="datetimeFigureOut">
              <a:rPr lang="en-GB" smtClean="0"/>
              <a:pPr/>
              <a:t>25/11/2017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BA0279-C754-44BB-8ACC-4DAC2E8364C4}"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72DA05D-E6B5-46FE-9D2D-1DC465FF46A5}" type="datetimeFigureOut">
              <a:rPr lang="en-GB" smtClean="0"/>
              <a:pPr/>
              <a:t>25/11/2017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BA0279-C754-44BB-8ACC-4DAC2E8364C4}"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D72DA05D-E6B5-46FE-9D2D-1DC465FF46A5}" type="datetimeFigureOut">
              <a:rPr lang="en-GB" smtClean="0"/>
              <a:pPr/>
              <a:t>25/11/2017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BA0279-C754-44BB-8ACC-4DAC2E8364C4}"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D72DA05D-E6B5-46FE-9D2D-1DC465FF46A5}" type="datetimeFigureOut">
              <a:rPr lang="en-GB" smtClean="0"/>
              <a:pPr/>
              <a:t>25/11/2017</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BBA0279-C754-44BB-8ACC-4DAC2E8364C4}"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D72DA05D-E6B5-46FE-9D2D-1DC465FF46A5}" type="datetimeFigureOut">
              <a:rPr lang="en-GB" smtClean="0"/>
              <a:pPr/>
              <a:t>25/11/2017</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BBA0279-C754-44BB-8ACC-4DAC2E8364C4}"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2DA05D-E6B5-46FE-9D2D-1DC465FF46A5}" type="datetimeFigureOut">
              <a:rPr lang="en-GB" smtClean="0"/>
              <a:pPr/>
              <a:t>25/11/2017</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BBA0279-C754-44BB-8ACC-4DAC2E8364C4}"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2DA05D-E6B5-46FE-9D2D-1DC465FF46A5}" type="datetimeFigureOut">
              <a:rPr lang="en-GB" smtClean="0"/>
              <a:pPr/>
              <a:t>25/11/2017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BA0279-C754-44BB-8ACC-4DAC2E8364C4}"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2DA05D-E6B5-46FE-9D2D-1DC465FF46A5}" type="datetimeFigureOut">
              <a:rPr lang="en-GB" smtClean="0"/>
              <a:pPr/>
              <a:t>25/11/2017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BA0279-C754-44BB-8ACC-4DAC2E8364C4}"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D72DA05D-E6B5-46FE-9D2D-1DC465FF46A5}" type="datetimeFigureOut">
              <a:rPr lang="en-GB" smtClean="0"/>
              <a:pPr/>
              <a:t>25/11/2017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BA0279-C754-44BB-8ACC-4DAC2E8364C4}"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D72DA05D-E6B5-46FE-9D2D-1DC465FF46A5}" type="datetimeFigureOut">
              <a:rPr lang="en-GB" smtClean="0"/>
              <a:pPr/>
              <a:t>25/11/2017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BA0279-C754-44BB-8ACC-4DAC2E8364C4}"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2DA05D-E6B5-46FE-9D2D-1DC465FF46A5}" type="datetimeFigureOut">
              <a:rPr lang="en-GB" smtClean="0"/>
              <a:pPr/>
              <a:t>25/11/2017</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BA0279-C754-44BB-8ACC-4DAC2E8364C4}"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tif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32658"/>
            <a:ext cx="7772400" cy="1470025"/>
          </a:xfrm>
        </p:spPr>
        <p:txBody>
          <a:bodyPr/>
          <a:lstStyle/>
          <a:p>
            <a:r>
              <a:rPr lang="en-AU" dirty="0" smtClean="0"/>
              <a:t/>
            </a:r>
            <a:br>
              <a:rPr lang="en-AU" dirty="0" smtClean="0"/>
            </a:br>
            <a:r>
              <a:rPr lang="en-AU" dirty="0" smtClean="0"/>
              <a:t>Interactive Notebook</a:t>
            </a:r>
            <a:endParaRPr lang="en-AU" dirty="0"/>
          </a:p>
        </p:txBody>
      </p:sp>
      <p:sp>
        <p:nvSpPr>
          <p:cNvPr id="3" name="Subtitle 2"/>
          <p:cNvSpPr>
            <a:spLocks noGrp="1"/>
          </p:cNvSpPr>
          <p:nvPr>
            <p:ph type="subTitle" idx="1"/>
          </p:nvPr>
        </p:nvSpPr>
        <p:spPr>
          <a:xfrm>
            <a:off x="755576" y="3140968"/>
            <a:ext cx="6400800" cy="1752600"/>
          </a:xfrm>
        </p:spPr>
        <p:txBody>
          <a:bodyPr>
            <a:normAutofit fontScale="85000" lnSpcReduction="20000"/>
          </a:bodyPr>
          <a:lstStyle/>
          <a:p>
            <a:pPr algn="l"/>
            <a:r>
              <a:rPr lang="en-AU" dirty="0" smtClean="0"/>
              <a:t>Name </a:t>
            </a:r>
          </a:p>
          <a:p>
            <a:pPr algn="l"/>
            <a:r>
              <a:rPr lang="en-AU" dirty="0" smtClean="0"/>
              <a:t>Class </a:t>
            </a:r>
          </a:p>
          <a:p>
            <a:pPr algn="l"/>
            <a:r>
              <a:rPr lang="en-AU" dirty="0" smtClean="0"/>
              <a:t>Teacher</a:t>
            </a:r>
          </a:p>
          <a:p>
            <a:pPr algn="l"/>
            <a:r>
              <a:rPr lang="en-AU" dirty="0" smtClean="0"/>
              <a:t>Term 4 Semester 2</a:t>
            </a:r>
          </a:p>
        </p:txBody>
      </p:sp>
      <p:sp>
        <p:nvSpPr>
          <p:cNvPr id="13" name="TextBox 12"/>
          <p:cNvSpPr txBox="1"/>
          <p:nvPr/>
        </p:nvSpPr>
        <p:spPr>
          <a:xfrm>
            <a:off x="8748467" y="6488668"/>
            <a:ext cx="549775" cy="369332"/>
          </a:xfrm>
          <a:prstGeom prst="rect">
            <a:avLst/>
          </a:prstGeom>
          <a:noFill/>
        </p:spPr>
        <p:txBody>
          <a:bodyPr wrap="square" rtlCol="0">
            <a:spAutoFit/>
          </a:bodyPr>
          <a:lstStyle/>
          <a:p>
            <a:r>
              <a:rPr lang="en-AU" dirty="0"/>
              <a:t>1</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7944" y="3183629"/>
            <a:ext cx="4038600" cy="2695575"/>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528" y="438126"/>
            <a:ext cx="1590675" cy="1857375"/>
          </a:xfrm>
          <a:prstGeom prst="rect">
            <a:avLst/>
          </a:prstGeom>
        </p:spPr>
      </p:pic>
    </p:spTree>
    <p:extLst>
      <p:ext uri="{BB962C8B-B14F-4D97-AF65-F5344CB8AC3E}">
        <p14:creationId xmlns:p14="http://schemas.microsoft.com/office/powerpoint/2010/main" val="21262437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1"/>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03" y="6474667"/>
            <a:ext cx="301686" cy="369332"/>
          </a:xfrm>
          <a:prstGeom prst="rect">
            <a:avLst/>
          </a:prstGeom>
          <a:noFill/>
        </p:spPr>
        <p:txBody>
          <a:bodyPr wrap="none" rtlCol="0">
            <a:spAutoFit/>
          </a:bodyPr>
          <a:lstStyle/>
          <a:p>
            <a:r>
              <a:rPr lang="en-AU" dirty="0" smtClean="0"/>
              <a:t>2</a:t>
            </a:r>
            <a:endParaRPr lang="en-AU" dirty="0"/>
          </a:p>
        </p:txBody>
      </p:sp>
      <p:sp>
        <p:nvSpPr>
          <p:cNvPr id="7" name="TextBox 6"/>
          <p:cNvSpPr txBox="1"/>
          <p:nvPr/>
        </p:nvSpPr>
        <p:spPr>
          <a:xfrm>
            <a:off x="8748467" y="6488668"/>
            <a:ext cx="549775" cy="369332"/>
          </a:xfrm>
          <a:prstGeom prst="rect">
            <a:avLst/>
          </a:prstGeom>
          <a:noFill/>
        </p:spPr>
        <p:txBody>
          <a:bodyPr wrap="square" rtlCol="0">
            <a:spAutoFit/>
          </a:bodyPr>
          <a:lstStyle/>
          <a:p>
            <a:r>
              <a:rPr lang="en-AU" dirty="0" smtClean="0"/>
              <a:t>3</a:t>
            </a:r>
            <a:endParaRPr lang="en-AU" dirty="0"/>
          </a:p>
        </p:txBody>
      </p:sp>
      <p:cxnSp>
        <p:nvCxnSpPr>
          <p:cNvPr id="9" name="Straight Connector 8"/>
          <p:cNvCxnSpPr/>
          <p:nvPr/>
        </p:nvCxnSpPr>
        <p:spPr>
          <a:xfrm>
            <a:off x="107504" y="620688"/>
            <a:ext cx="439257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1115616"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p:cNvSpPr txBox="1"/>
          <p:nvPr/>
        </p:nvSpPr>
        <p:spPr>
          <a:xfrm>
            <a:off x="577648" y="5803"/>
            <a:ext cx="932050" cy="338554"/>
          </a:xfrm>
          <a:prstGeom prst="rect">
            <a:avLst/>
          </a:prstGeom>
          <a:noFill/>
        </p:spPr>
        <p:txBody>
          <a:bodyPr wrap="none" rtlCol="0">
            <a:spAutoFit/>
          </a:bodyPr>
          <a:lstStyle/>
          <a:p>
            <a:r>
              <a:rPr lang="en-AU" sz="1600" dirty="0" smtClean="0"/>
              <a:t>Contents</a:t>
            </a:r>
            <a:endParaRPr lang="en-AU" sz="1600" dirty="0"/>
          </a:p>
        </p:txBody>
      </p:sp>
      <p:sp>
        <p:nvSpPr>
          <p:cNvPr id="23" name="TextBox 22"/>
          <p:cNvSpPr txBox="1"/>
          <p:nvPr/>
        </p:nvSpPr>
        <p:spPr>
          <a:xfrm>
            <a:off x="223226" y="374467"/>
            <a:ext cx="580865" cy="338554"/>
          </a:xfrm>
          <a:prstGeom prst="rect">
            <a:avLst/>
          </a:prstGeom>
          <a:noFill/>
        </p:spPr>
        <p:txBody>
          <a:bodyPr wrap="none" rtlCol="0">
            <a:spAutoFit/>
          </a:bodyPr>
          <a:lstStyle/>
          <a:p>
            <a:r>
              <a:rPr lang="en-AU" sz="1600" dirty="0" smtClean="0"/>
              <a:t>Page</a:t>
            </a:r>
            <a:endParaRPr lang="en-AU" sz="1600" dirty="0"/>
          </a:p>
        </p:txBody>
      </p:sp>
      <p:cxnSp>
        <p:nvCxnSpPr>
          <p:cNvPr id="16" name="Straight Connector 15"/>
          <p:cNvCxnSpPr/>
          <p:nvPr/>
        </p:nvCxnSpPr>
        <p:spPr>
          <a:xfrm>
            <a:off x="2143811"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p:cNvSpPr txBox="1"/>
          <p:nvPr/>
        </p:nvSpPr>
        <p:spPr>
          <a:xfrm>
            <a:off x="1403647" y="344357"/>
            <a:ext cx="576504" cy="338554"/>
          </a:xfrm>
          <a:prstGeom prst="rect">
            <a:avLst/>
          </a:prstGeom>
          <a:noFill/>
        </p:spPr>
        <p:txBody>
          <a:bodyPr wrap="none" rtlCol="0">
            <a:spAutoFit/>
          </a:bodyPr>
          <a:lstStyle/>
          <a:p>
            <a:r>
              <a:rPr lang="en-AU" sz="1600" dirty="0" smtClean="0"/>
              <a:t>Date</a:t>
            </a:r>
            <a:endParaRPr lang="en-AU" sz="1600" dirty="0"/>
          </a:p>
        </p:txBody>
      </p:sp>
      <p:sp>
        <p:nvSpPr>
          <p:cNvPr id="18" name="TextBox 17"/>
          <p:cNvSpPr txBox="1"/>
          <p:nvPr/>
        </p:nvSpPr>
        <p:spPr>
          <a:xfrm>
            <a:off x="2555776" y="344359"/>
            <a:ext cx="1398888" cy="338554"/>
          </a:xfrm>
          <a:prstGeom prst="rect">
            <a:avLst/>
          </a:prstGeom>
          <a:noFill/>
        </p:spPr>
        <p:txBody>
          <a:bodyPr wrap="square" rtlCol="0">
            <a:spAutoFit/>
          </a:bodyPr>
          <a:lstStyle/>
          <a:p>
            <a:r>
              <a:rPr lang="en-AU" sz="1600" dirty="0" smtClean="0"/>
              <a:t>Description</a:t>
            </a:r>
            <a:endParaRPr lang="en-AU" sz="1600" dirty="0"/>
          </a:p>
        </p:txBody>
      </p:sp>
      <p:sp>
        <p:nvSpPr>
          <p:cNvPr id="21" name="TextBox 20"/>
          <p:cNvSpPr txBox="1"/>
          <p:nvPr/>
        </p:nvSpPr>
        <p:spPr>
          <a:xfrm>
            <a:off x="5796136" y="66506"/>
            <a:ext cx="2592288" cy="338554"/>
          </a:xfrm>
          <a:prstGeom prst="rect">
            <a:avLst/>
          </a:prstGeom>
          <a:noFill/>
        </p:spPr>
        <p:txBody>
          <a:bodyPr wrap="square" rtlCol="0">
            <a:spAutoFit/>
          </a:bodyPr>
          <a:lstStyle/>
          <a:p>
            <a:r>
              <a:rPr lang="en-AU" sz="1600" dirty="0" smtClean="0"/>
              <a:t>Glossary or Formula Page</a:t>
            </a:r>
            <a:endParaRPr lang="en-AU" sz="1600" dirty="0"/>
          </a:p>
        </p:txBody>
      </p:sp>
    </p:spTree>
    <p:extLst>
      <p:ext uri="{BB962C8B-B14F-4D97-AF65-F5344CB8AC3E}">
        <p14:creationId xmlns:p14="http://schemas.microsoft.com/office/powerpoint/2010/main" val="16510386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1"/>
            <a:ext cx="2" cy="6843998"/>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03" y="6474667"/>
            <a:ext cx="301686" cy="369332"/>
          </a:xfrm>
          <a:prstGeom prst="rect">
            <a:avLst/>
          </a:prstGeom>
          <a:noFill/>
        </p:spPr>
        <p:txBody>
          <a:bodyPr wrap="none" rtlCol="0">
            <a:spAutoFit/>
          </a:bodyPr>
          <a:lstStyle/>
          <a:p>
            <a:r>
              <a:rPr lang="en-AU" dirty="0"/>
              <a:t>4</a:t>
            </a:r>
          </a:p>
        </p:txBody>
      </p:sp>
      <p:sp>
        <p:nvSpPr>
          <p:cNvPr id="7" name="TextBox 6"/>
          <p:cNvSpPr txBox="1"/>
          <p:nvPr/>
        </p:nvSpPr>
        <p:spPr>
          <a:xfrm>
            <a:off x="8748466" y="6525528"/>
            <a:ext cx="549775" cy="369332"/>
          </a:xfrm>
          <a:prstGeom prst="rect">
            <a:avLst/>
          </a:prstGeom>
          <a:noFill/>
        </p:spPr>
        <p:txBody>
          <a:bodyPr wrap="square" rtlCol="0">
            <a:spAutoFit/>
          </a:bodyPr>
          <a:lstStyle/>
          <a:p>
            <a:r>
              <a:rPr lang="en-AU" dirty="0"/>
              <a:t>5</a:t>
            </a:r>
          </a:p>
        </p:txBody>
      </p:sp>
      <p:cxnSp>
        <p:nvCxnSpPr>
          <p:cNvPr id="9" name="Straight Connector 8"/>
          <p:cNvCxnSpPr/>
          <p:nvPr/>
        </p:nvCxnSpPr>
        <p:spPr>
          <a:xfrm>
            <a:off x="4500083"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Straight Connector 10"/>
          <p:cNvCxnSpPr/>
          <p:nvPr/>
        </p:nvCxnSpPr>
        <p:spPr>
          <a:xfrm>
            <a:off x="4500083" y="1196752"/>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p:cNvCxnSpPr/>
          <p:nvPr/>
        </p:nvCxnSpPr>
        <p:spPr>
          <a:xfrm>
            <a:off x="4572091" y="5373216"/>
            <a:ext cx="4726151"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5868144" y="1196752"/>
            <a:ext cx="0" cy="4176464"/>
          </a:xfrm>
          <a:prstGeom prst="line">
            <a:avLst/>
          </a:prstGeom>
        </p:spPr>
        <p:style>
          <a:lnRef idx="1">
            <a:schemeClr val="accent2"/>
          </a:lnRef>
          <a:fillRef idx="0">
            <a:schemeClr val="accent2"/>
          </a:fillRef>
          <a:effectRef idx="0">
            <a:schemeClr val="accent2"/>
          </a:effectRef>
          <a:fontRef idx="minor">
            <a:schemeClr val="tx1"/>
          </a:fontRef>
        </p:style>
      </p:cxnSp>
      <p:sp>
        <p:nvSpPr>
          <p:cNvPr id="19" name="TextBox 18"/>
          <p:cNvSpPr txBox="1"/>
          <p:nvPr/>
        </p:nvSpPr>
        <p:spPr>
          <a:xfrm>
            <a:off x="4533263" y="66690"/>
            <a:ext cx="431959" cy="553998"/>
          </a:xfrm>
          <a:prstGeom prst="rect">
            <a:avLst/>
          </a:prstGeom>
          <a:noFill/>
        </p:spPr>
        <p:txBody>
          <a:bodyPr wrap="square" rtlCol="0">
            <a:spAutoFit/>
          </a:bodyPr>
          <a:lstStyle/>
          <a:p>
            <a:r>
              <a:rPr lang="en-AU" sz="1000" dirty="0" smtClean="0"/>
              <a:t>24</a:t>
            </a:r>
          </a:p>
          <a:p>
            <a:r>
              <a:rPr lang="en-AU" sz="1000" dirty="0" smtClean="0"/>
              <a:t>7</a:t>
            </a:r>
          </a:p>
          <a:p>
            <a:r>
              <a:rPr lang="en-AU" sz="1000" dirty="0" smtClean="0"/>
              <a:t>30</a:t>
            </a:r>
            <a:endParaRPr lang="en-AU" sz="1000" dirty="0"/>
          </a:p>
        </p:txBody>
      </p:sp>
      <p:sp>
        <p:nvSpPr>
          <p:cNvPr id="20" name="TextBox 19"/>
          <p:cNvSpPr txBox="1"/>
          <p:nvPr/>
        </p:nvSpPr>
        <p:spPr>
          <a:xfrm>
            <a:off x="4572090" y="601550"/>
            <a:ext cx="1143262" cy="246221"/>
          </a:xfrm>
          <a:prstGeom prst="rect">
            <a:avLst/>
          </a:prstGeom>
          <a:noFill/>
        </p:spPr>
        <p:txBody>
          <a:bodyPr wrap="none" rtlCol="0">
            <a:spAutoFit/>
          </a:bodyPr>
          <a:lstStyle/>
          <a:p>
            <a:r>
              <a:rPr lang="en-AU" sz="1000" dirty="0" smtClean="0"/>
              <a:t>Essential Question</a:t>
            </a:r>
            <a:endParaRPr lang="en-AU" sz="1000" dirty="0"/>
          </a:p>
        </p:txBody>
      </p:sp>
      <p:sp>
        <p:nvSpPr>
          <p:cNvPr id="22" name="TextBox 21"/>
          <p:cNvSpPr txBox="1"/>
          <p:nvPr/>
        </p:nvSpPr>
        <p:spPr>
          <a:xfrm>
            <a:off x="5867753" y="1196753"/>
            <a:ext cx="492443" cy="246221"/>
          </a:xfrm>
          <a:prstGeom prst="rect">
            <a:avLst/>
          </a:prstGeom>
          <a:noFill/>
        </p:spPr>
        <p:txBody>
          <a:bodyPr wrap="none" rtlCol="0">
            <a:spAutoFit/>
          </a:bodyPr>
          <a:lstStyle/>
          <a:p>
            <a:r>
              <a:rPr lang="en-AU" sz="1000" dirty="0" smtClean="0"/>
              <a:t>Notes</a:t>
            </a:r>
            <a:endParaRPr lang="en-AU" sz="1000" dirty="0"/>
          </a:p>
        </p:txBody>
      </p:sp>
      <p:sp>
        <p:nvSpPr>
          <p:cNvPr id="23" name="TextBox 22"/>
          <p:cNvSpPr txBox="1"/>
          <p:nvPr/>
        </p:nvSpPr>
        <p:spPr>
          <a:xfrm>
            <a:off x="4521851" y="1196754"/>
            <a:ext cx="708848" cy="246221"/>
          </a:xfrm>
          <a:prstGeom prst="rect">
            <a:avLst/>
          </a:prstGeom>
          <a:noFill/>
        </p:spPr>
        <p:txBody>
          <a:bodyPr wrap="none" rtlCol="0">
            <a:spAutoFit/>
          </a:bodyPr>
          <a:lstStyle/>
          <a:p>
            <a:r>
              <a:rPr lang="en-AU" sz="1000" dirty="0" smtClean="0"/>
              <a:t>Questions</a:t>
            </a:r>
            <a:endParaRPr lang="en-AU" sz="1000" dirty="0"/>
          </a:p>
        </p:txBody>
      </p:sp>
      <p:sp>
        <p:nvSpPr>
          <p:cNvPr id="24" name="TextBox 23"/>
          <p:cNvSpPr txBox="1"/>
          <p:nvPr/>
        </p:nvSpPr>
        <p:spPr>
          <a:xfrm>
            <a:off x="4572089" y="5373218"/>
            <a:ext cx="679994" cy="246221"/>
          </a:xfrm>
          <a:prstGeom prst="rect">
            <a:avLst/>
          </a:prstGeom>
          <a:noFill/>
        </p:spPr>
        <p:txBody>
          <a:bodyPr wrap="none" rtlCol="0">
            <a:spAutoFit/>
          </a:bodyPr>
          <a:lstStyle/>
          <a:p>
            <a:r>
              <a:rPr lang="en-AU" sz="1000" dirty="0" smtClean="0"/>
              <a:t>Summary</a:t>
            </a:r>
            <a:endParaRPr lang="en-AU" sz="1000" dirty="0"/>
          </a:p>
        </p:txBody>
      </p:sp>
      <p:sp>
        <p:nvSpPr>
          <p:cNvPr id="25" name="TextBox 24"/>
          <p:cNvSpPr txBox="1"/>
          <p:nvPr/>
        </p:nvSpPr>
        <p:spPr>
          <a:xfrm>
            <a:off x="151249" y="142494"/>
            <a:ext cx="671081" cy="369332"/>
          </a:xfrm>
          <a:prstGeom prst="rect">
            <a:avLst/>
          </a:prstGeom>
          <a:noFill/>
        </p:spPr>
        <p:txBody>
          <a:bodyPr wrap="none" rtlCol="0">
            <a:spAutoFit/>
          </a:bodyPr>
          <a:lstStyle/>
          <a:p>
            <a:r>
              <a:rPr lang="en-AU" dirty="0" smtClean="0"/>
              <a:t>Tasks</a:t>
            </a:r>
            <a:endParaRPr lang="en-AU" dirty="0"/>
          </a:p>
        </p:txBody>
      </p:sp>
    </p:spTree>
    <p:extLst>
      <p:ext uri="{BB962C8B-B14F-4D97-AF65-F5344CB8AC3E}">
        <p14:creationId xmlns:p14="http://schemas.microsoft.com/office/powerpoint/2010/main" val="13705725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177" y="-1535307"/>
            <a:ext cx="8229600" cy="1143000"/>
          </a:xfrm>
          <a:solidFill>
            <a:schemeClr val="accent5">
              <a:lumMod val="20000"/>
              <a:lumOff val="80000"/>
            </a:schemeClr>
          </a:solidFill>
          <a:ln w="38100">
            <a:solidFill>
              <a:schemeClr val="tx1"/>
            </a:solidFill>
          </a:ln>
        </p:spPr>
        <p:txBody>
          <a:bodyPr>
            <a:noAutofit/>
          </a:bodyPr>
          <a:lstStyle/>
          <a:p>
            <a:r>
              <a:rPr lang="en-GB" sz="11500" dirty="0" smtClean="0">
                <a:latin typeface="Martina" pitchFamily="2" charset="0"/>
              </a:rPr>
              <a:t>Warm up</a:t>
            </a:r>
            <a:endParaRPr lang="en-GB" sz="11500" dirty="0">
              <a:latin typeface="Martina" pitchFamily="2" charset="0"/>
            </a:endParaRPr>
          </a:p>
        </p:txBody>
      </p:sp>
      <p:sp>
        <p:nvSpPr>
          <p:cNvPr id="3" name="Content Placeholder 2"/>
          <p:cNvSpPr>
            <a:spLocks noGrp="1"/>
          </p:cNvSpPr>
          <p:nvPr>
            <p:ph idx="1"/>
          </p:nvPr>
        </p:nvSpPr>
        <p:spPr>
          <a:xfrm>
            <a:off x="683568" y="1437289"/>
            <a:ext cx="8229600" cy="5030275"/>
          </a:xfrm>
          <a:solidFill>
            <a:schemeClr val="accent1">
              <a:lumMod val="20000"/>
              <a:lumOff val="80000"/>
            </a:schemeClr>
          </a:solidFill>
          <a:ln w="76200">
            <a:solidFill>
              <a:schemeClr val="tx1"/>
            </a:solidFill>
          </a:ln>
        </p:spPr>
        <p:txBody>
          <a:bodyPr numCol="2">
            <a:normAutofit fontScale="92500" lnSpcReduction="20000"/>
          </a:bodyPr>
          <a:lstStyle/>
          <a:p>
            <a:pPr>
              <a:buNone/>
            </a:pPr>
            <a:r>
              <a:rPr lang="en-GB" dirty="0" smtClean="0">
                <a:latin typeface="Century Gothic" charset="0"/>
                <a:ea typeface="Century Gothic" charset="0"/>
                <a:cs typeface="Century Gothic" charset="0"/>
              </a:rPr>
              <a:t>Do you know that </a:t>
            </a:r>
            <a:r>
              <a:rPr lang="en-GB" b="1" dirty="0" smtClean="0">
                <a:latin typeface="Century Gothic" charset="0"/>
                <a:ea typeface="Century Gothic" charset="0"/>
                <a:cs typeface="Century Gothic" charset="0"/>
              </a:rPr>
              <a:t>x8</a:t>
            </a:r>
            <a:r>
              <a:rPr lang="en-GB" dirty="0">
                <a:latin typeface="Century Gothic" charset="0"/>
                <a:ea typeface="Century Gothic" charset="0"/>
                <a:cs typeface="Century Gothic" charset="0"/>
              </a:rPr>
              <a:t> </a:t>
            </a:r>
            <a:r>
              <a:rPr lang="en-GB" dirty="0" smtClean="0">
                <a:latin typeface="Century Gothic" charset="0"/>
                <a:ea typeface="Century Gothic" charset="0"/>
                <a:cs typeface="Century Gothic" charset="0"/>
              </a:rPr>
              <a:t>is the same as </a:t>
            </a:r>
            <a:r>
              <a:rPr lang="en-GB" b="1" smtClean="0">
                <a:latin typeface="Century Gothic" charset="0"/>
                <a:ea typeface="Century Gothic" charset="0"/>
                <a:cs typeface="Century Gothic" charset="0"/>
              </a:rPr>
              <a:t>Doubling x 3? </a:t>
            </a:r>
          </a:p>
          <a:p>
            <a:pPr>
              <a:buNone/>
            </a:pPr>
            <a:r>
              <a:rPr lang="en-GB" smtClean="0">
                <a:latin typeface="Century Gothic" charset="0"/>
                <a:ea typeface="Century Gothic" charset="0"/>
                <a:cs typeface="Century Gothic" charset="0"/>
              </a:rPr>
              <a:t>So</a:t>
            </a:r>
            <a:r>
              <a:rPr lang="en-GB" dirty="0" smtClean="0">
                <a:latin typeface="Century Gothic" charset="0"/>
                <a:ea typeface="Century Gothic" charset="0"/>
                <a:cs typeface="Century Gothic" charset="0"/>
              </a:rPr>
              <a:t>, now can you calculate the following?</a:t>
            </a:r>
          </a:p>
          <a:p>
            <a:pPr>
              <a:buNone/>
            </a:pPr>
            <a:endParaRPr lang="en-GB" dirty="0" smtClean="0">
              <a:latin typeface="Century Gothic" charset="0"/>
              <a:ea typeface="Century Gothic" charset="0"/>
              <a:cs typeface="Century Gothic" charset="0"/>
            </a:endParaRPr>
          </a:p>
          <a:p>
            <a:pPr marL="514350" indent="-514350">
              <a:buAutoNum type="arabicParenR"/>
            </a:pPr>
            <a:r>
              <a:rPr lang="en-GB" dirty="0" smtClean="0">
                <a:latin typeface="Century Gothic" charset="0"/>
                <a:ea typeface="Century Gothic" charset="0"/>
                <a:cs typeface="Century Gothic" charset="0"/>
              </a:rPr>
              <a:t> 8 x  8 ?</a:t>
            </a:r>
          </a:p>
          <a:p>
            <a:pPr marL="514350" indent="-514350">
              <a:buAutoNum type="arabicParenR"/>
            </a:pPr>
            <a:endParaRPr lang="en-GB" dirty="0" smtClean="0">
              <a:latin typeface="Century Gothic" charset="0"/>
              <a:ea typeface="Century Gothic" charset="0"/>
              <a:cs typeface="Century Gothic" charset="0"/>
            </a:endParaRPr>
          </a:p>
          <a:p>
            <a:pPr marL="514350" indent="-514350">
              <a:buFont typeface="Arial" pitchFamily="34" charset="0"/>
              <a:buAutoNum type="arabicParenR"/>
            </a:pPr>
            <a:r>
              <a:rPr lang="en-GB" dirty="0" smtClean="0">
                <a:latin typeface="Century Gothic" charset="0"/>
                <a:ea typeface="Century Gothic" charset="0"/>
                <a:cs typeface="Century Gothic" charset="0"/>
              </a:rPr>
              <a:t> 13  x 8 ?</a:t>
            </a:r>
          </a:p>
          <a:p>
            <a:pPr marL="514350" indent="-514350">
              <a:buAutoNum type="arabicParenR"/>
            </a:pPr>
            <a:endParaRPr lang="en-GB" dirty="0" smtClean="0">
              <a:latin typeface="Century Gothic" charset="0"/>
              <a:ea typeface="Century Gothic" charset="0"/>
              <a:cs typeface="Century Gothic" charset="0"/>
            </a:endParaRPr>
          </a:p>
          <a:p>
            <a:pPr marL="514350" indent="-514350">
              <a:buFont typeface="Arial" pitchFamily="34" charset="0"/>
              <a:buAutoNum type="arabicParenR"/>
            </a:pPr>
            <a:endParaRPr lang="en-GB" dirty="0" smtClean="0">
              <a:latin typeface="Century Gothic" charset="0"/>
              <a:ea typeface="Century Gothic" charset="0"/>
              <a:cs typeface="Century Gothic" charset="0"/>
            </a:endParaRPr>
          </a:p>
          <a:p>
            <a:pPr marL="514350" indent="-514350">
              <a:buFont typeface="Arial" pitchFamily="34" charset="0"/>
              <a:buAutoNum type="arabicParenR"/>
            </a:pPr>
            <a:endParaRPr lang="en-GB" dirty="0" smtClean="0">
              <a:latin typeface="Century Gothic" charset="0"/>
              <a:ea typeface="Century Gothic" charset="0"/>
              <a:cs typeface="Century Gothic" charset="0"/>
            </a:endParaRPr>
          </a:p>
          <a:p>
            <a:pPr marL="514350" indent="-514350">
              <a:buFont typeface="Arial" pitchFamily="34" charset="0"/>
              <a:buAutoNum type="arabicParenR"/>
            </a:pPr>
            <a:endParaRPr lang="en-GB" dirty="0" smtClean="0">
              <a:latin typeface="Century Gothic" charset="0"/>
              <a:ea typeface="Century Gothic" charset="0"/>
              <a:cs typeface="Century Gothic" charset="0"/>
            </a:endParaRPr>
          </a:p>
          <a:p>
            <a:pPr marL="514350" indent="-514350">
              <a:buFont typeface="Arial" pitchFamily="34" charset="0"/>
              <a:buAutoNum type="arabicParenR"/>
            </a:pPr>
            <a:endParaRPr lang="en-GB" dirty="0" smtClean="0">
              <a:latin typeface="Century Gothic" charset="0"/>
              <a:ea typeface="Century Gothic" charset="0"/>
              <a:cs typeface="Century Gothic" charset="0"/>
            </a:endParaRPr>
          </a:p>
          <a:p>
            <a:pPr marL="514350" indent="-514350">
              <a:buFont typeface="Arial" pitchFamily="34" charset="0"/>
              <a:buAutoNum type="arabicParenR"/>
            </a:pPr>
            <a:r>
              <a:rPr lang="en-GB" dirty="0">
                <a:latin typeface="Century Gothic" charset="0"/>
                <a:ea typeface="Century Gothic" charset="0"/>
                <a:cs typeface="Century Gothic" charset="0"/>
              </a:rPr>
              <a:t> </a:t>
            </a:r>
            <a:r>
              <a:rPr lang="en-GB" dirty="0" smtClean="0">
                <a:latin typeface="Century Gothic" charset="0"/>
                <a:ea typeface="Century Gothic" charset="0"/>
                <a:cs typeface="Century Gothic" charset="0"/>
              </a:rPr>
              <a:t>8 x 17 ?</a:t>
            </a:r>
          </a:p>
          <a:p>
            <a:pPr marL="514350" indent="-514350">
              <a:buAutoNum type="arabicParenR"/>
            </a:pPr>
            <a:endParaRPr lang="en-GB" dirty="0" smtClean="0">
              <a:latin typeface="Century Gothic" charset="0"/>
              <a:ea typeface="Century Gothic" charset="0"/>
              <a:cs typeface="Century Gothic" charset="0"/>
            </a:endParaRPr>
          </a:p>
          <a:p>
            <a:pPr marL="514350" indent="-514350">
              <a:buFont typeface="Arial" pitchFamily="34" charset="0"/>
              <a:buAutoNum type="arabicParenR"/>
            </a:pPr>
            <a:endParaRPr lang="en-GB" dirty="0" smtClean="0">
              <a:latin typeface="Century Gothic" charset="0"/>
              <a:ea typeface="Century Gothic" charset="0"/>
              <a:cs typeface="Century Gothic" charset="0"/>
            </a:endParaRPr>
          </a:p>
          <a:p>
            <a:pPr marL="514350" indent="-514350">
              <a:buAutoNum type="arabicParenR"/>
            </a:pPr>
            <a:endParaRPr lang="en-GB" dirty="0" smtClean="0">
              <a:latin typeface="Century Gothic" charset="0"/>
              <a:ea typeface="Century Gothic" charset="0"/>
              <a:cs typeface="Century Gothic" charset="0"/>
            </a:endParaRPr>
          </a:p>
          <a:p>
            <a:pPr marL="514350" indent="-514350">
              <a:buAutoNum type="arabicParenR"/>
            </a:pPr>
            <a:endParaRPr lang="en-GB" dirty="0" smtClean="0">
              <a:latin typeface="Century Gothic" charset="0"/>
              <a:ea typeface="Century Gothic" charset="0"/>
              <a:cs typeface="Century Gothic" charset="0"/>
            </a:endParaRPr>
          </a:p>
          <a:p>
            <a:pPr marL="514350" indent="-514350">
              <a:buFont typeface="Arial" pitchFamily="34" charset="0"/>
              <a:buAutoNum type="arabicParenR"/>
            </a:pPr>
            <a:r>
              <a:rPr lang="en-GB" dirty="0" smtClean="0">
                <a:latin typeface="Century Gothic" charset="0"/>
                <a:ea typeface="Century Gothic" charset="0"/>
                <a:cs typeface="Century Gothic" charset="0"/>
              </a:rPr>
              <a:t> 190  x  8 ?</a:t>
            </a:r>
          </a:p>
          <a:p>
            <a:pPr marL="514350" indent="-514350">
              <a:buAutoNum type="arabicParenR"/>
            </a:pPr>
            <a:endParaRPr lang="en-GB" dirty="0"/>
          </a:p>
        </p:txBody>
      </p:sp>
      <p:sp>
        <p:nvSpPr>
          <p:cNvPr id="4" name="TextBox 3"/>
          <p:cNvSpPr txBox="1"/>
          <p:nvPr/>
        </p:nvSpPr>
        <p:spPr>
          <a:xfrm>
            <a:off x="1691680" y="2852936"/>
            <a:ext cx="936104" cy="830997"/>
          </a:xfrm>
          <a:prstGeom prst="rect">
            <a:avLst/>
          </a:prstGeom>
          <a:noFill/>
        </p:spPr>
        <p:txBody>
          <a:bodyPr wrap="square" rtlCol="0">
            <a:spAutoFit/>
          </a:bodyPr>
          <a:lstStyle/>
          <a:p>
            <a:endParaRPr lang="en-GB" sz="2400" u="sng" dirty="0" smtClean="0"/>
          </a:p>
          <a:p>
            <a:r>
              <a:rPr lang="en-GB" sz="2400" dirty="0" smtClean="0"/>
              <a:t> </a:t>
            </a:r>
            <a:endParaRPr lang="en-GB" sz="2400" dirty="0"/>
          </a:p>
        </p:txBody>
      </p:sp>
      <p:pic>
        <p:nvPicPr>
          <p:cNvPr id="1026" name="Picture 2" descr="C:\Users\Ben\AppData\Local\Microsoft\Windows\Temporary Internet Files\Content.IE5\W2NO9NUW\MM900236357[1].gif"/>
          <p:cNvPicPr>
            <a:picLocks noChangeAspect="1" noChangeArrowheads="1" noCrop="1"/>
          </p:cNvPicPr>
          <p:nvPr/>
        </p:nvPicPr>
        <p:blipFill>
          <a:blip r:embed="rId2" cstate="print"/>
          <a:srcRect/>
          <a:stretch>
            <a:fillRect/>
          </a:stretch>
        </p:blipFill>
        <p:spPr bwMode="auto">
          <a:xfrm>
            <a:off x="7452320" y="197663"/>
            <a:ext cx="864096" cy="1176641"/>
          </a:xfrm>
          <a:prstGeom prst="rect">
            <a:avLst/>
          </a:prstGeom>
          <a:noFill/>
        </p:spPr>
      </p:pic>
      <p:pic>
        <p:nvPicPr>
          <p:cNvPr id="10" name="Picture 2" descr="C:\Users\Ben\AppData\Local\Microsoft\Windows\Temporary Internet Files\Content.IE5\W2NO9NUW\MM900236357[1].gif"/>
          <p:cNvPicPr>
            <a:picLocks noChangeAspect="1" noChangeArrowheads="1" noCrop="1"/>
          </p:cNvPicPr>
          <p:nvPr/>
        </p:nvPicPr>
        <p:blipFill>
          <a:blip r:embed="rId2" cstate="print"/>
          <a:srcRect/>
          <a:stretch>
            <a:fillRect/>
          </a:stretch>
        </p:blipFill>
        <p:spPr bwMode="auto">
          <a:xfrm>
            <a:off x="971600" y="260648"/>
            <a:ext cx="864096" cy="1176641"/>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1729</a:t>
            </a:r>
            <a:endParaRPr lang="en-US" b="1" dirty="0"/>
          </a:p>
        </p:txBody>
      </p:sp>
      <p:sp>
        <p:nvSpPr>
          <p:cNvPr id="3" name="Content Placeholder 2"/>
          <p:cNvSpPr>
            <a:spLocks noGrp="1"/>
          </p:cNvSpPr>
          <p:nvPr>
            <p:ph idx="1"/>
          </p:nvPr>
        </p:nvSpPr>
        <p:spPr/>
        <p:txBody>
          <a:bodyPr>
            <a:normAutofit/>
          </a:bodyPr>
          <a:lstStyle/>
          <a:p>
            <a:r>
              <a:rPr lang="en-US" dirty="0" smtClean="0"/>
              <a:t>Is there anything special about this number?</a:t>
            </a:r>
          </a:p>
          <a:p>
            <a:r>
              <a:rPr lang="en-US" b="1" dirty="0" smtClean="0"/>
              <a:t>8</a:t>
            </a:r>
            <a:r>
              <a:rPr lang="en-US" dirty="0" smtClean="0"/>
              <a:t> is the same as     </a:t>
            </a:r>
            <a:r>
              <a:rPr lang="en-US" b="1" dirty="0" smtClean="0"/>
              <a:t>2</a:t>
            </a:r>
            <a:r>
              <a:rPr lang="en-US" b="1" baseline="30000" dirty="0" smtClean="0"/>
              <a:t>3</a:t>
            </a:r>
            <a:r>
              <a:rPr lang="en-US" baseline="30000" dirty="0" smtClean="0"/>
              <a:t>.  </a:t>
            </a:r>
            <a:r>
              <a:rPr lang="en-US" dirty="0" smtClean="0"/>
              <a:t>(2 x 2 x 2).   </a:t>
            </a:r>
          </a:p>
          <a:p>
            <a:r>
              <a:rPr lang="en-US" dirty="0" smtClean="0"/>
              <a:t>Therefore, </a:t>
            </a:r>
            <a:r>
              <a:rPr lang="en-US" b="1" dirty="0" smtClean="0"/>
              <a:t>8</a:t>
            </a:r>
            <a:r>
              <a:rPr lang="en-US" dirty="0" smtClean="0"/>
              <a:t> It is a cubed number.</a:t>
            </a:r>
          </a:p>
          <a:p>
            <a:r>
              <a:rPr lang="en-US" dirty="0"/>
              <a:t> </a:t>
            </a:r>
            <a:r>
              <a:rPr lang="en-US" dirty="0" smtClean="0"/>
              <a:t>Can you find at least TWO others?</a:t>
            </a:r>
          </a:p>
          <a:p>
            <a:r>
              <a:rPr lang="en-US" dirty="0" smtClean="0"/>
              <a:t>10</a:t>
            </a:r>
            <a:r>
              <a:rPr lang="en-US" baseline="30000" dirty="0" smtClean="0"/>
              <a:t>3 </a:t>
            </a:r>
            <a:r>
              <a:rPr lang="en-US" dirty="0" smtClean="0"/>
              <a:t>= 1000.   1</a:t>
            </a:r>
            <a:r>
              <a:rPr lang="en-US" baseline="30000" dirty="0" smtClean="0"/>
              <a:t>3</a:t>
            </a:r>
            <a:r>
              <a:rPr lang="en-US" dirty="0" smtClean="0"/>
              <a:t> = 1</a:t>
            </a:r>
            <a:endParaRPr lang="en-US" dirty="0"/>
          </a:p>
          <a:p>
            <a:r>
              <a:rPr lang="en-US" dirty="0" smtClean="0"/>
              <a:t>Could </a:t>
            </a:r>
            <a:r>
              <a:rPr lang="en-US" b="1" dirty="0" smtClean="0"/>
              <a:t>1729</a:t>
            </a:r>
            <a:r>
              <a:rPr lang="en-US" dirty="0" smtClean="0"/>
              <a:t> be made up of two cubed numbers added together?</a:t>
            </a:r>
          </a:p>
          <a:p>
            <a:r>
              <a:rPr lang="en-US" sz="2400" i="1" dirty="0" smtClean="0"/>
              <a:t>SOURCE: “THE MAN WHO KNEW INFINITY” RAMUNUJAN</a:t>
            </a:r>
          </a:p>
        </p:txBody>
      </p:sp>
    </p:spTree>
    <p:extLst>
      <p:ext uri="{BB962C8B-B14F-4D97-AF65-F5344CB8AC3E}">
        <p14:creationId xmlns:p14="http://schemas.microsoft.com/office/powerpoint/2010/main" val="2013670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7"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0" y="1"/>
            <a:ext cx="4838570" cy="1138773"/>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                                     </a:t>
            </a:r>
            <a:r>
              <a:rPr lang="en-AU" sz="3600" b="1" dirty="0" smtClean="0">
                <a:latin typeface="Century Gothic" charset="0"/>
                <a:ea typeface="Century Gothic" charset="0"/>
                <a:cs typeface="Century Gothic" charset="0"/>
              </a:rPr>
              <a:t>3D shapes</a:t>
            </a:r>
            <a:endParaRPr lang="en-AU" sz="3600" b="1" dirty="0">
              <a:latin typeface="Century Gothic" charset="0"/>
              <a:ea typeface="Century Gothic" charset="0"/>
              <a:cs typeface="Century Gothic" charset="0"/>
            </a:endParaRPr>
          </a:p>
        </p:txBody>
      </p:sp>
      <p:cxnSp>
        <p:nvCxnSpPr>
          <p:cNvPr id="9" name="Straight Connector 8"/>
          <p:cNvCxnSpPr/>
          <p:nvPr/>
        </p:nvCxnSpPr>
        <p:spPr>
          <a:xfrm>
            <a:off x="2411760"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6300192" y="260649"/>
            <a:ext cx="2723159"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200049" y="1057672"/>
            <a:ext cx="8620423" cy="830997"/>
          </a:xfrm>
          <a:prstGeom prst="rect">
            <a:avLst/>
          </a:prstGeom>
          <a:noFill/>
        </p:spPr>
        <p:txBody>
          <a:bodyPr wrap="square" rtlCol="0">
            <a:spAutoFit/>
          </a:bodyPr>
          <a:lstStyle/>
          <a:p>
            <a:r>
              <a:rPr lang="en-AU" sz="2400" dirty="0" smtClean="0"/>
              <a:t>EQ:  </a:t>
            </a:r>
            <a:r>
              <a:rPr lang="en-AU" sz="2400" dirty="0" smtClean="0">
                <a:latin typeface="Century Gothic" charset="0"/>
                <a:ea typeface="Century Gothic" charset="0"/>
                <a:cs typeface="Century Gothic" charset="0"/>
              </a:rPr>
              <a:t>How many 3D shapes can be made from using just one type of face ?</a:t>
            </a:r>
            <a:endParaRPr lang="en-AU" sz="2400" dirty="0">
              <a:latin typeface="Century Gothic" charset="0"/>
              <a:ea typeface="Century Gothic" charset="0"/>
              <a:cs typeface="Century Gothic" charset="0"/>
            </a:endParaRPr>
          </a:p>
        </p:txBody>
      </p:sp>
      <p:sp>
        <p:nvSpPr>
          <p:cNvPr id="15" name="TextBox 14"/>
          <p:cNvSpPr txBox="1"/>
          <p:nvPr/>
        </p:nvSpPr>
        <p:spPr>
          <a:xfrm>
            <a:off x="2627784" y="3573016"/>
            <a:ext cx="6192688" cy="369332"/>
          </a:xfrm>
          <a:prstGeom prst="rect">
            <a:avLst/>
          </a:prstGeom>
          <a:noFill/>
        </p:spPr>
        <p:txBody>
          <a:bodyPr wrap="square" rtlCol="0">
            <a:spAutoFit/>
          </a:bodyPr>
          <a:lstStyle/>
          <a:p>
            <a:endParaRPr lang="en-US" dirty="0"/>
          </a:p>
        </p:txBody>
      </p:sp>
      <p:sp>
        <p:nvSpPr>
          <p:cNvPr id="8" name="TextBox 7"/>
          <p:cNvSpPr txBox="1"/>
          <p:nvPr/>
        </p:nvSpPr>
        <p:spPr>
          <a:xfrm>
            <a:off x="2805609" y="5248894"/>
            <a:ext cx="1771639" cy="369332"/>
          </a:xfrm>
          <a:prstGeom prst="rect">
            <a:avLst/>
          </a:prstGeom>
          <a:noFill/>
        </p:spPr>
        <p:txBody>
          <a:bodyPr wrap="none" rtlCol="0">
            <a:spAutoFit/>
          </a:bodyPr>
          <a:lstStyle/>
          <a:p>
            <a:r>
              <a:rPr lang="en-US" dirty="0"/>
              <a:t> </a:t>
            </a:r>
            <a:r>
              <a:rPr lang="en-US" dirty="0" smtClean="0"/>
              <a:t>                             </a:t>
            </a:r>
            <a:endParaRPr lang="en-US" dirty="0"/>
          </a:p>
        </p:txBody>
      </p:sp>
      <p:sp>
        <p:nvSpPr>
          <p:cNvPr id="14" name="TextBox 13"/>
          <p:cNvSpPr txBox="1"/>
          <p:nvPr/>
        </p:nvSpPr>
        <p:spPr>
          <a:xfrm>
            <a:off x="2627785" y="2028860"/>
            <a:ext cx="4752528" cy="6124754"/>
          </a:xfrm>
          <a:prstGeom prst="rect">
            <a:avLst/>
          </a:prstGeom>
          <a:noFill/>
        </p:spPr>
        <p:txBody>
          <a:bodyPr wrap="square" rtlCol="0">
            <a:spAutoFit/>
          </a:bodyPr>
          <a:lstStyle/>
          <a:p>
            <a:r>
              <a:rPr lang="en-US" sz="2800" dirty="0" smtClean="0"/>
              <a:t> </a:t>
            </a:r>
            <a:r>
              <a:rPr lang="en-US" sz="2800" u="sng" dirty="0" smtClean="0">
                <a:latin typeface="Century Gothic" charset="0"/>
                <a:ea typeface="Century Gothic" charset="0"/>
                <a:cs typeface="Century Gothic" charset="0"/>
              </a:rPr>
              <a:t>3-D Shapes </a:t>
            </a:r>
            <a:r>
              <a:rPr lang="en-US" sz="2800" dirty="0">
                <a:latin typeface="Century Gothic" charset="0"/>
                <a:ea typeface="Century Gothic" charset="0"/>
                <a:cs typeface="Century Gothic" charset="0"/>
              </a:rPr>
              <a:t>c</a:t>
            </a:r>
            <a:r>
              <a:rPr lang="en-US" sz="2800" dirty="0" smtClean="0">
                <a:latin typeface="Century Gothic" charset="0"/>
                <a:ea typeface="Century Gothic" charset="0"/>
                <a:cs typeface="Century Gothic" charset="0"/>
              </a:rPr>
              <a:t>an be made from 2D shapes joined to form a net in flat form.  The net must include every FACE of the shape. As you cut it out, bend the faces along the lines (or edges). Tabs are included to help you glue the faces together to form </a:t>
            </a:r>
            <a:r>
              <a:rPr lang="en-US" sz="2800" dirty="0">
                <a:latin typeface="Century Gothic" charset="0"/>
                <a:ea typeface="Century Gothic" charset="0"/>
                <a:cs typeface="Century Gothic" charset="0"/>
              </a:rPr>
              <a:t>1</a:t>
            </a:r>
            <a:r>
              <a:rPr lang="en-US" sz="2800" dirty="0" smtClean="0">
                <a:latin typeface="Century Gothic" charset="0"/>
                <a:ea typeface="Century Gothic" charset="0"/>
                <a:cs typeface="Century Gothic" charset="0"/>
              </a:rPr>
              <a:t> complete shape. </a:t>
            </a:r>
            <a:endParaRPr lang="en-US" sz="2800" dirty="0">
              <a:latin typeface="Century Gothic" charset="0"/>
              <a:ea typeface="Century Gothic" charset="0"/>
              <a:cs typeface="Century Gothic" charset="0"/>
            </a:endParaRPr>
          </a:p>
          <a:p>
            <a:endParaRPr lang="en-US" sz="2800" dirty="0"/>
          </a:p>
          <a:p>
            <a:endParaRPr lang="en-US" sz="2800" dirty="0"/>
          </a:p>
          <a:p>
            <a:endParaRPr lang="en-US" sz="2800" dirty="0"/>
          </a:p>
        </p:txBody>
      </p:sp>
    </p:spTree>
    <p:extLst>
      <p:ext uri="{BB962C8B-B14F-4D97-AF65-F5344CB8AC3E}">
        <p14:creationId xmlns:p14="http://schemas.microsoft.com/office/powerpoint/2010/main" val="13030820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2362669"/>
            <a:ext cx="8229600" cy="4525963"/>
          </a:xfrm>
        </p:spPr>
        <p:txBody>
          <a:bodyPr>
            <a:normAutofit/>
          </a:bodyPr>
          <a:lstStyle/>
          <a:p>
            <a:r>
              <a:rPr lang="en-GB" dirty="0" smtClean="0">
                <a:latin typeface="Century Gothic" charset="0"/>
                <a:ea typeface="Century Gothic" charset="0"/>
                <a:cs typeface="Century Gothic" charset="0"/>
              </a:rPr>
              <a:t>How many use only squares?</a:t>
            </a:r>
          </a:p>
          <a:p>
            <a:endParaRPr lang="en-GB" dirty="0" smtClean="0">
              <a:latin typeface="Century Gothic" charset="0"/>
              <a:ea typeface="Century Gothic" charset="0"/>
              <a:cs typeface="Century Gothic" charset="0"/>
            </a:endParaRPr>
          </a:p>
          <a:p>
            <a:r>
              <a:rPr lang="en-GB" dirty="0" smtClean="0">
                <a:latin typeface="Century Gothic" charset="0"/>
                <a:ea typeface="Century Gothic" charset="0"/>
                <a:cs typeface="Century Gothic" charset="0"/>
              </a:rPr>
              <a:t>How many use only triangles?</a:t>
            </a:r>
          </a:p>
          <a:p>
            <a:endParaRPr lang="en-GB" dirty="0" smtClean="0">
              <a:latin typeface="Century Gothic" charset="0"/>
              <a:ea typeface="Century Gothic" charset="0"/>
              <a:cs typeface="Century Gothic" charset="0"/>
            </a:endParaRPr>
          </a:p>
          <a:p>
            <a:r>
              <a:rPr lang="en-GB" dirty="0" smtClean="0">
                <a:latin typeface="Century Gothic" charset="0"/>
                <a:ea typeface="Century Gothic" charset="0"/>
                <a:cs typeface="Century Gothic" charset="0"/>
              </a:rPr>
              <a:t>Can any other shapes work in this way?</a:t>
            </a:r>
            <a:endParaRPr lang="en-AU" dirty="0" smtClean="0">
              <a:latin typeface="Century Gothic" charset="0"/>
              <a:ea typeface="Century Gothic" charset="0"/>
              <a:cs typeface="Century Gothic" charset="0"/>
            </a:endParaRPr>
          </a:p>
          <a:p>
            <a:pPr algn="ctr"/>
            <a:endParaRPr lang="en-AU" sz="7200" dirty="0" smtClean="0"/>
          </a:p>
          <a:p>
            <a:pPr algn="ctr"/>
            <a:endParaRPr lang="en-GB" sz="7200" dirty="0" smtClean="0"/>
          </a:p>
          <a:p>
            <a:endParaRPr lang="en-GB" dirty="0" smtClean="0"/>
          </a:p>
        </p:txBody>
      </p:sp>
      <p:sp>
        <p:nvSpPr>
          <p:cNvPr id="4" name="Title 3"/>
          <p:cNvSpPr>
            <a:spLocks noGrp="1"/>
          </p:cNvSpPr>
          <p:nvPr>
            <p:ph type="title"/>
          </p:nvPr>
        </p:nvSpPr>
        <p:spPr/>
        <p:txBody>
          <a:bodyPr/>
          <a:lstStyle/>
          <a:p>
            <a:r>
              <a:rPr lang="en-US" dirty="0" smtClean="0">
                <a:latin typeface="Century Gothic" charset="0"/>
                <a:ea typeface="Century Gothic" charset="0"/>
                <a:cs typeface="Century Gothic" charset="0"/>
              </a:rPr>
              <a:t>Platonic Solids</a:t>
            </a:r>
            <a:endParaRPr lang="en-US" dirty="0">
              <a:latin typeface="Century Gothic" charset="0"/>
              <a:ea typeface="Century Gothic" charset="0"/>
              <a:cs typeface="Century Gothic" charset="0"/>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80" y="-54259"/>
            <a:ext cx="8301608" cy="1503040"/>
          </a:xfrm>
          <a:solidFill>
            <a:schemeClr val="accent1">
              <a:lumMod val="20000"/>
              <a:lumOff val="80000"/>
            </a:schemeClr>
          </a:solidFill>
          <a:ln>
            <a:solidFill>
              <a:schemeClr val="tx1"/>
            </a:solidFill>
          </a:ln>
        </p:spPr>
        <p:txBody>
          <a:bodyPr>
            <a:normAutofit/>
          </a:bodyPr>
          <a:lstStyle/>
          <a:p>
            <a:r>
              <a:rPr lang="en-GB" sz="5400" dirty="0" smtClean="0">
                <a:latin typeface="Century Gothic" charset="0"/>
                <a:ea typeface="Century Gothic" charset="0"/>
                <a:cs typeface="Century Gothic" charset="0"/>
              </a:rPr>
              <a:t>How many did you find?</a:t>
            </a:r>
            <a:endParaRPr lang="en-GB" sz="5400" dirty="0">
              <a:latin typeface="Century Gothic" charset="0"/>
              <a:ea typeface="Century Gothic" charset="0"/>
              <a:cs typeface="Century Gothic" charset="0"/>
            </a:endParaRPr>
          </a:p>
        </p:txBody>
      </p:sp>
      <p:sp>
        <p:nvSpPr>
          <p:cNvPr id="7" name="Title 1"/>
          <p:cNvSpPr txBox="1">
            <a:spLocks/>
          </p:cNvSpPr>
          <p:nvPr/>
        </p:nvSpPr>
        <p:spPr>
          <a:xfrm>
            <a:off x="4139952" y="2420888"/>
            <a:ext cx="4824536" cy="936104"/>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GB" sz="2000" b="0" i="0" u="none" strike="noStrike" kern="1200" cap="none" spc="0" normalizeH="0" baseline="0" noProof="0" dirty="0" smtClean="0">
              <a:ln>
                <a:noFill/>
              </a:ln>
              <a:solidFill>
                <a:schemeClr val="tx1"/>
              </a:solidFill>
              <a:effectLst/>
              <a:uLnTx/>
              <a:uFillTx/>
              <a:latin typeface="+mj-lt"/>
              <a:ea typeface="+mj-ea"/>
              <a:cs typeface="+mj-cs"/>
            </a:endParaRPr>
          </a:p>
        </p:txBody>
      </p:sp>
      <p:sp>
        <p:nvSpPr>
          <p:cNvPr id="8" name="Title 1"/>
          <p:cNvSpPr txBox="1">
            <a:spLocks/>
          </p:cNvSpPr>
          <p:nvPr/>
        </p:nvSpPr>
        <p:spPr>
          <a:xfrm>
            <a:off x="323528" y="1268760"/>
            <a:ext cx="8640960" cy="936104"/>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GB" sz="2000" b="1" i="0" u="none" strike="noStrike" kern="1200" cap="none" spc="0" normalizeH="0" baseline="0" noProof="0" dirty="0" smtClean="0">
              <a:ln>
                <a:noFill/>
              </a:ln>
              <a:solidFill>
                <a:schemeClr val="tx1"/>
              </a:solidFill>
              <a:effectLst/>
              <a:uLnTx/>
              <a:uFillTx/>
              <a:latin typeface="+mj-lt"/>
              <a:ea typeface="+mj-ea"/>
              <a:cs typeface="+mj-cs"/>
            </a:endParaRPr>
          </a:p>
        </p:txBody>
      </p:sp>
      <p:sp>
        <p:nvSpPr>
          <p:cNvPr id="3" name="TextBox 2"/>
          <p:cNvSpPr txBox="1"/>
          <p:nvPr/>
        </p:nvSpPr>
        <p:spPr>
          <a:xfrm>
            <a:off x="1763688" y="1628801"/>
            <a:ext cx="5328592" cy="5632311"/>
          </a:xfrm>
          <a:prstGeom prst="rect">
            <a:avLst/>
          </a:prstGeom>
          <a:noFill/>
        </p:spPr>
        <p:txBody>
          <a:bodyPr wrap="square" rtlCol="0">
            <a:spAutoFit/>
          </a:bodyPr>
          <a:lstStyle/>
          <a:p>
            <a:pPr marL="742950" indent="-742950">
              <a:buFont typeface="+mj-lt"/>
              <a:buAutoNum type="arabicPeriod"/>
            </a:pPr>
            <a:r>
              <a:rPr lang="en-US" sz="4000" dirty="0" smtClean="0"/>
              <a:t>----</a:t>
            </a:r>
          </a:p>
          <a:p>
            <a:pPr marL="742950" indent="-742950">
              <a:buFont typeface="+mj-lt"/>
              <a:buAutoNum type="arabicPeriod"/>
            </a:pPr>
            <a:endParaRPr lang="en-US" sz="4000" dirty="0" smtClean="0"/>
          </a:p>
          <a:p>
            <a:pPr marL="742950" indent="-742950">
              <a:buFont typeface="+mj-lt"/>
              <a:buAutoNum type="arabicPeriod"/>
            </a:pPr>
            <a:r>
              <a:rPr lang="en-US" sz="4000" dirty="0" smtClean="0"/>
              <a:t>----------</a:t>
            </a:r>
          </a:p>
          <a:p>
            <a:pPr marL="742950" indent="-742950">
              <a:buFont typeface="+mj-lt"/>
              <a:buAutoNum type="arabicPeriod"/>
            </a:pPr>
            <a:endParaRPr lang="en-US" sz="4000" dirty="0" smtClean="0"/>
          </a:p>
          <a:p>
            <a:pPr marL="742950" indent="-742950">
              <a:buFont typeface="+mj-lt"/>
              <a:buAutoNum type="arabicPeriod"/>
            </a:pPr>
            <a:r>
              <a:rPr lang="en-US" sz="4000" dirty="0" smtClean="0"/>
              <a:t>-----------</a:t>
            </a:r>
          </a:p>
          <a:p>
            <a:pPr marL="742950" indent="-742950">
              <a:buFont typeface="+mj-lt"/>
              <a:buAutoNum type="arabicPeriod"/>
            </a:pPr>
            <a:endParaRPr lang="en-US" sz="4000" dirty="0" smtClean="0"/>
          </a:p>
          <a:p>
            <a:pPr marL="742950" indent="-742950">
              <a:buFont typeface="+mj-lt"/>
              <a:buAutoNum type="arabicPeriod"/>
            </a:pPr>
            <a:r>
              <a:rPr lang="en-US" sz="4000" dirty="0" smtClean="0"/>
              <a:t>-- ----------</a:t>
            </a:r>
          </a:p>
          <a:p>
            <a:pPr marL="742950" indent="-742950">
              <a:buFont typeface="+mj-lt"/>
              <a:buAutoNum type="arabicPeriod"/>
            </a:pPr>
            <a:r>
              <a:rPr lang="en-US" sz="4000" dirty="0" smtClean="0"/>
              <a:t>-----------</a:t>
            </a:r>
            <a:endParaRPr lang="en-US" sz="4000" dirty="0"/>
          </a:p>
          <a:p>
            <a:pPr marL="742950" indent="-742950">
              <a:buFont typeface="+mj-lt"/>
              <a:buAutoNum type="arabicPeriod"/>
            </a:pPr>
            <a:endParaRPr lang="en-US" sz="40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entury Gothic" charset="0"/>
                <a:ea typeface="Century Gothic" charset="0"/>
                <a:cs typeface="Century Gothic" charset="0"/>
              </a:rPr>
              <a:t> You-tube- Answer</a:t>
            </a:r>
            <a:endParaRPr lang="en-US" dirty="0">
              <a:latin typeface="Century Gothic" charset="0"/>
              <a:ea typeface="Century Gothic" charset="0"/>
              <a:cs typeface="Century Gothic" charset="0"/>
            </a:endParaRPr>
          </a:p>
        </p:txBody>
      </p:sp>
      <p:sp>
        <p:nvSpPr>
          <p:cNvPr id="3" name="Content Placeholder 2"/>
          <p:cNvSpPr>
            <a:spLocks noGrp="1"/>
          </p:cNvSpPr>
          <p:nvPr>
            <p:ph idx="1"/>
          </p:nvPr>
        </p:nvSpPr>
        <p:spPr/>
        <p:txBody>
          <a:bodyPr>
            <a:normAutofit/>
          </a:bodyPr>
          <a:lstStyle/>
          <a:p>
            <a:r>
              <a:rPr lang="en-US" dirty="0" smtClean="0">
                <a:latin typeface="Century Gothic" charset="0"/>
                <a:ea typeface="Century Gothic" charset="0"/>
                <a:cs typeface="Century Gothic" charset="0"/>
              </a:rPr>
              <a:t>Video </a:t>
            </a:r>
            <a:endParaRPr lang="en-US" dirty="0">
              <a:latin typeface="Century Gothic" charset="0"/>
              <a:ea typeface="Century Gothic" charset="0"/>
              <a:cs typeface="Century Gothic" charset="0"/>
            </a:endParaRPr>
          </a:p>
          <a:p>
            <a:endParaRPr lang="en-US" dirty="0"/>
          </a:p>
          <a:p>
            <a:endParaRPr lang="en-US" dirty="0"/>
          </a:p>
        </p:txBody>
      </p:sp>
      <p:sp>
        <p:nvSpPr>
          <p:cNvPr id="4" name="TextBox 3"/>
          <p:cNvSpPr txBox="1"/>
          <p:nvPr/>
        </p:nvSpPr>
        <p:spPr>
          <a:xfrm>
            <a:off x="2411760" y="1916832"/>
            <a:ext cx="5040560" cy="954107"/>
          </a:xfrm>
          <a:prstGeom prst="rect">
            <a:avLst/>
          </a:prstGeom>
          <a:noFill/>
        </p:spPr>
        <p:txBody>
          <a:bodyPr wrap="square" rtlCol="0">
            <a:spAutoFit/>
          </a:bodyPr>
          <a:lstStyle/>
          <a:p>
            <a:r>
              <a:rPr lang="en-US" sz="2800" dirty="0"/>
              <a:t>https://</a:t>
            </a:r>
            <a:r>
              <a:rPr lang="en-US" sz="2800" u="sng" dirty="0" err="1"/>
              <a:t>www.youtube.com</a:t>
            </a:r>
            <a:r>
              <a:rPr lang="en-US" sz="2800" u="sng" dirty="0"/>
              <a:t>/</a:t>
            </a:r>
            <a:r>
              <a:rPr lang="en-US" sz="2800" u="sng" dirty="0" err="1"/>
              <a:t>watch?v</a:t>
            </a:r>
            <a:r>
              <a:rPr lang="en-US" sz="2800" u="sng" dirty="0"/>
              <a:t>=gVzu1_12FUc</a:t>
            </a:r>
          </a:p>
        </p:txBody>
      </p:sp>
    </p:spTree>
    <p:extLst>
      <p:ext uri="{BB962C8B-B14F-4D97-AF65-F5344CB8AC3E}">
        <p14:creationId xmlns:p14="http://schemas.microsoft.com/office/powerpoint/2010/main" val="3601275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entury Gothic" charset="0"/>
                <a:ea typeface="Century Gothic" charset="0"/>
                <a:cs typeface="Century Gothic" charset="0"/>
              </a:rPr>
              <a:t>ACTIVITY</a:t>
            </a:r>
            <a:endParaRPr lang="en-US" dirty="0">
              <a:latin typeface="Century Gothic" charset="0"/>
              <a:ea typeface="Century Gothic" charset="0"/>
              <a:cs typeface="Century Gothic" charset="0"/>
            </a:endParaRPr>
          </a:p>
        </p:txBody>
      </p:sp>
      <p:sp>
        <p:nvSpPr>
          <p:cNvPr id="3" name="Content Placeholder 2"/>
          <p:cNvSpPr>
            <a:spLocks noGrp="1"/>
          </p:cNvSpPr>
          <p:nvPr>
            <p:ph idx="1"/>
          </p:nvPr>
        </p:nvSpPr>
        <p:spPr/>
        <p:txBody>
          <a:bodyPr/>
          <a:lstStyle/>
          <a:p>
            <a:r>
              <a:rPr lang="en-US" dirty="0" smtClean="0">
                <a:latin typeface="Century Gothic" charset="0"/>
                <a:ea typeface="Century Gothic" charset="0"/>
                <a:cs typeface="Century Gothic" charset="0"/>
              </a:rPr>
              <a:t>Here is </a:t>
            </a:r>
            <a:r>
              <a:rPr lang="en-US" u="sng" dirty="0" smtClean="0">
                <a:latin typeface="Century Gothic" charset="0"/>
                <a:ea typeface="Century Gothic" charset="0"/>
                <a:cs typeface="Century Gothic" charset="0"/>
              </a:rPr>
              <a:t>the net </a:t>
            </a:r>
            <a:r>
              <a:rPr lang="en-US" dirty="0" smtClean="0">
                <a:latin typeface="Century Gothic" charset="0"/>
                <a:ea typeface="Century Gothic" charset="0"/>
                <a:cs typeface="Century Gothic" charset="0"/>
              </a:rPr>
              <a:t>for one platonic solid.</a:t>
            </a:r>
          </a:p>
          <a:p>
            <a:r>
              <a:rPr lang="en-US" dirty="0" smtClean="0">
                <a:latin typeface="Century Gothic" charset="0"/>
                <a:ea typeface="Century Gothic" charset="0"/>
                <a:cs typeface="Century Gothic" charset="0"/>
              </a:rPr>
              <a:t>Once cut out, there are 12 faces</a:t>
            </a:r>
            <a:r>
              <a:rPr lang="mr-IN" dirty="0" smtClean="0">
                <a:latin typeface="Century Gothic" charset="0"/>
                <a:ea typeface="Century Gothic" charset="0"/>
                <a:cs typeface="Century Gothic" charset="0"/>
              </a:rPr>
              <a:t>…</a:t>
            </a:r>
            <a:r>
              <a:rPr lang="en-AU" dirty="0" smtClean="0">
                <a:latin typeface="Century Gothic" charset="0"/>
                <a:ea typeface="Century Gothic" charset="0"/>
                <a:cs typeface="Century Gothic" charset="0"/>
              </a:rPr>
              <a:t>..</a:t>
            </a:r>
          </a:p>
          <a:p>
            <a:r>
              <a:rPr lang="en-AU" dirty="0" smtClean="0">
                <a:latin typeface="Century Gothic" charset="0"/>
                <a:ea typeface="Century Gothic" charset="0"/>
                <a:cs typeface="Century Gothic" charset="0"/>
              </a:rPr>
              <a:t>Ideal for creating a calendar for next year as there are 12 months in a year.</a:t>
            </a:r>
          </a:p>
          <a:p>
            <a:endParaRPr lang="en-US" dirty="0"/>
          </a:p>
        </p:txBody>
      </p:sp>
    </p:spTree>
    <p:extLst>
      <p:ext uri="{BB962C8B-B14F-4D97-AF65-F5344CB8AC3E}">
        <p14:creationId xmlns:p14="http://schemas.microsoft.com/office/powerpoint/2010/main" val="20235769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Dodecahedron Calendar</a:t>
            </a:r>
            <a:endParaRPr lang="en-US" dirty="0"/>
          </a:p>
        </p:txBody>
      </p:sp>
      <p:sp>
        <p:nvSpPr>
          <p:cNvPr id="3" name="Content Placeholder 2"/>
          <p:cNvSpPr>
            <a:spLocks noGrp="1"/>
          </p:cNvSpPr>
          <p:nvPr>
            <p:ph idx="1"/>
          </p:nvPr>
        </p:nvSpPr>
        <p:spPr/>
        <p:txBody>
          <a:bodyPr>
            <a:normAutofit fontScale="62500" lnSpcReduction="20000"/>
          </a:bodyPr>
          <a:lstStyle/>
          <a:p>
            <a:r>
              <a:rPr lang="en-US" sz="4400" b="1" dirty="0">
                <a:latin typeface="Times" charset="0"/>
              </a:rPr>
              <a:t>Dodecahedron Net </a:t>
            </a:r>
            <a:endParaRPr lang="en-US" dirty="0"/>
          </a:p>
          <a:p>
            <a:r>
              <a:rPr lang="en-US" dirty="0">
                <a:latin typeface="Times" charset="0"/>
              </a:rPr>
              <a:t>Back to </a:t>
            </a:r>
            <a:r>
              <a:rPr lang="en-US" dirty="0" err="1">
                <a:solidFill>
                  <a:srgbClr val="0000ED"/>
                </a:solidFill>
                <a:latin typeface="Times" charset="0"/>
              </a:rPr>
              <a:t>Polyhedra</a:t>
            </a:r>
            <a:r>
              <a:rPr lang="en-US" dirty="0">
                <a:solidFill>
                  <a:srgbClr val="0000ED"/>
                </a:solidFill>
                <a:latin typeface="Times" charset="0"/>
              </a:rPr>
              <a:t> Unit - Student Activities </a:t>
            </a:r>
            <a:r>
              <a:rPr lang="en-US" dirty="0">
                <a:latin typeface="Times" charset="0"/>
              </a:rPr>
              <a:t>|| </a:t>
            </a:r>
            <a:r>
              <a:rPr lang="en-US" dirty="0" err="1">
                <a:solidFill>
                  <a:srgbClr val="0000ED"/>
                </a:solidFill>
                <a:latin typeface="Times" charset="0"/>
              </a:rPr>
              <a:t>Polyhedra</a:t>
            </a:r>
            <a:r>
              <a:rPr lang="en-US" dirty="0">
                <a:solidFill>
                  <a:srgbClr val="0000ED"/>
                </a:solidFill>
                <a:latin typeface="Times" charset="0"/>
              </a:rPr>
              <a:t> Net Activity </a:t>
            </a:r>
            <a:r>
              <a:rPr lang="en-US" dirty="0">
                <a:latin typeface="Times" charset="0"/>
              </a:rPr>
              <a:t>Cut out, fold all edges, and tape together. </a:t>
            </a:r>
            <a:endParaRPr lang="en-US" dirty="0"/>
          </a:p>
          <a:p>
            <a:r>
              <a:rPr lang="en-US" dirty="0">
                <a:latin typeface="Times" charset="0"/>
              </a:rPr>
              <a:t>[</a:t>
            </a:r>
            <a:r>
              <a:rPr lang="en-US" b="1" dirty="0">
                <a:solidFill>
                  <a:srgbClr val="0000ED"/>
                </a:solidFill>
                <a:latin typeface="Times" charset="0"/>
              </a:rPr>
              <a:t>Privacy Policy</a:t>
            </a:r>
            <a:r>
              <a:rPr lang="en-US" dirty="0">
                <a:latin typeface="Times" charset="0"/>
              </a:rPr>
              <a:t>] [</a:t>
            </a:r>
            <a:r>
              <a:rPr lang="en-US" b="1" dirty="0">
                <a:solidFill>
                  <a:srgbClr val="0000ED"/>
                </a:solidFill>
                <a:latin typeface="Times" charset="0"/>
              </a:rPr>
              <a:t>Terms of Use</a:t>
            </a:r>
            <a:r>
              <a:rPr lang="en-US" dirty="0">
                <a:latin typeface="Times" charset="0"/>
              </a:rPr>
              <a:t>]</a:t>
            </a:r>
            <a:br>
              <a:rPr lang="en-US" dirty="0">
                <a:latin typeface="Times" charset="0"/>
              </a:rPr>
            </a:br>
            <a:r>
              <a:rPr lang="en-US" dirty="0">
                <a:solidFill>
                  <a:srgbClr val="0000ED"/>
                </a:solidFill>
                <a:latin typeface="Times" charset="0"/>
              </a:rPr>
              <a:t>Home </a:t>
            </a:r>
            <a:r>
              <a:rPr lang="en-US" dirty="0">
                <a:latin typeface="Times" charset="0"/>
              </a:rPr>
              <a:t>|| </a:t>
            </a:r>
            <a:r>
              <a:rPr lang="en-US" dirty="0">
                <a:solidFill>
                  <a:srgbClr val="0000ED"/>
                </a:solidFill>
                <a:latin typeface="Times" charset="0"/>
              </a:rPr>
              <a:t>The Math Library </a:t>
            </a:r>
            <a:r>
              <a:rPr lang="en-US" dirty="0">
                <a:latin typeface="Times" charset="0"/>
              </a:rPr>
              <a:t>|| </a:t>
            </a:r>
            <a:r>
              <a:rPr lang="en-US" dirty="0">
                <a:solidFill>
                  <a:srgbClr val="0000ED"/>
                </a:solidFill>
                <a:latin typeface="Times" charset="0"/>
              </a:rPr>
              <a:t>Quick Reference </a:t>
            </a:r>
            <a:r>
              <a:rPr lang="en-US" dirty="0">
                <a:latin typeface="Times" charset="0"/>
              </a:rPr>
              <a:t>|| </a:t>
            </a:r>
            <a:r>
              <a:rPr lang="en-US" dirty="0">
                <a:solidFill>
                  <a:srgbClr val="0000ED"/>
                </a:solidFill>
                <a:latin typeface="Times" charset="0"/>
              </a:rPr>
              <a:t>Search </a:t>
            </a:r>
            <a:r>
              <a:rPr lang="en-US" dirty="0">
                <a:latin typeface="Times" charset="0"/>
              </a:rPr>
              <a:t>|| </a:t>
            </a:r>
            <a:r>
              <a:rPr lang="en-US" dirty="0">
                <a:solidFill>
                  <a:srgbClr val="0000ED"/>
                </a:solidFill>
                <a:latin typeface="Times" charset="0"/>
              </a:rPr>
              <a:t>Help </a:t>
            </a:r>
            <a:endParaRPr lang="en-US" dirty="0"/>
          </a:p>
          <a:p>
            <a:r>
              <a:rPr lang="en-US" sz="2800" dirty="0">
                <a:latin typeface="Times" charset="0"/>
              </a:rPr>
              <a:t>© 1994-20172017 The Math Forum at NCTM. All rights reserved. http://</a:t>
            </a:r>
            <a:r>
              <a:rPr lang="en-US" sz="2800" dirty="0" err="1">
                <a:latin typeface="Times" charset="0"/>
              </a:rPr>
              <a:t>mathforum.org</a:t>
            </a:r>
            <a:r>
              <a:rPr lang="en-US" sz="2800" dirty="0">
                <a:latin typeface="Times" charset="0"/>
              </a:rPr>
              <a:t>/</a:t>
            </a:r>
            <a:br>
              <a:rPr lang="en-US" sz="2800" dirty="0">
                <a:latin typeface="Times" charset="0"/>
              </a:rPr>
            </a:br>
            <a:r>
              <a:rPr lang="en-US" sz="2800" dirty="0">
                <a:latin typeface="Times" charset="0"/>
              </a:rPr>
              <a:t>Send comments to: </a:t>
            </a:r>
            <a:r>
              <a:rPr lang="en-US" sz="2800" dirty="0">
                <a:solidFill>
                  <a:srgbClr val="0000ED"/>
                </a:solidFill>
                <a:latin typeface="Times" charset="0"/>
              </a:rPr>
              <a:t>Suzanne </a:t>
            </a:r>
            <a:r>
              <a:rPr lang="en-US" sz="2800" dirty="0" err="1">
                <a:solidFill>
                  <a:srgbClr val="0000ED"/>
                </a:solidFill>
                <a:latin typeface="Times" charset="0"/>
              </a:rPr>
              <a:t>Alejandre</a:t>
            </a:r>
            <a:r>
              <a:rPr lang="en-US" sz="2800" dirty="0">
                <a:solidFill>
                  <a:srgbClr val="0000ED"/>
                </a:solidFill>
                <a:latin typeface="Times" charset="0"/>
              </a:rPr>
              <a:t> </a:t>
            </a:r>
            <a:endParaRPr lang="en-US" dirty="0"/>
          </a:p>
          <a:p>
            <a:r>
              <a:rPr lang="en-US" b="1" dirty="0" smtClean="0"/>
              <a:t>Dodecahedron </a:t>
            </a:r>
            <a:r>
              <a:rPr lang="en-US" b="1" dirty="0"/>
              <a:t>Net </a:t>
            </a:r>
            <a:endParaRPr lang="en-US" dirty="0"/>
          </a:p>
          <a:p>
            <a:r>
              <a:rPr lang="en-US" dirty="0"/>
              <a:t>Back to </a:t>
            </a:r>
            <a:r>
              <a:rPr lang="en-US" dirty="0" err="1"/>
              <a:t>Polyhedra</a:t>
            </a:r>
            <a:r>
              <a:rPr lang="en-US" dirty="0"/>
              <a:t> Unit - Student Activities || </a:t>
            </a:r>
            <a:r>
              <a:rPr lang="en-US" dirty="0" err="1"/>
              <a:t>Polyhedra</a:t>
            </a:r>
            <a:r>
              <a:rPr lang="en-US" dirty="0"/>
              <a:t> Net Activity Cut out, fold all edges, and tape together. </a:t>
            </a:r>
          </a:p>
          <a:p>
            <a:r>
              <a:rPr lang="en-US" dirty="0"/>
              <a:t>[</a:t>
            </a:r>
            <a:r>
              <a:rPr lang="en-US" b="1" dirty="0"/>
              <a:t>Privacy Policy</a:t>
            </a:r>
            <a:r>
              <a:rPr lang="en-US" dirty="0"/>
              <a:t>] [</a:t>
            </a:r>
            <a:r>
              <a:rPr lang="en-US" b="1" dirty="0"/>
              <a:t>Terms of Use</a:t>
            </a:r>
            <a:r>
              <a:rPr lang="en-US" dirty="0"/>
              <a:t>]</a:t>
            </a:r>
            <a:br>
              <a:rPr lang="en-US" dirty="0"/>
            </a:br>
            <a:r>
              <a:rPr lang="en-US" dirty="0"/>
              <a:t>Home || The Math Library || Quick Reference || Search || Help </a:t>
            </a:r>
          </a:p>
          <a:p>
            <a:r>
              <a:rPr lang="en-US" dirty="0"/>
              <a:t>© 1994-20172017 The Math Forum at NCTM. All rights reserved. http://</a:t>
            </a:r>
            <a:r>
              <a:rPr lang="en-US" dirty="0" err="1"/>
              <a:t>mathforum.org</a:t>
            </a:r>
            <a:r>
              <a:rPr lang="en-US" dirty="0"/>
              <a:t>/</a:t>
            </a:r>
            <a:br>
              <a:rPr lang="en-US" dirty="0"/>
            </a:br>
            <a:r>
              <a:rPr lang="en-US" dirty="0"/>
              <a:t>Send comments to: Suzanne </a:t>
            </a:r>
            <a:r>
              <a:rPr lang="en-US" dirty="0" err="1"/>
              <a:t>Alejandre</a:t>
            </a:r>
            <a:r>
              <a:rPr lang="en-US" dirty="0"/>
              <a:t> </a:t>
            </a:r>
          </a:p>
          <a:p>
            <a:endParaRPr lang="en-US" dirty="0"/>
          </a:p>
        </p:txBody>
      </p:sp>
    </p:spTree>
    <p:extLst>
      <p:ext uri="{BB962C8B-B14F-4D97-AF65-F5344CB8AC3E}">
        <p14:creationId xmlns:p14="http://schemas.microsoft.com/office/powerpoint/2010/main" val="1440148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Platonic Solid Nets</a:t>
            </a:r>
            <a:endParaRPr lang="en-US" dirty="0"/>
          </a:p>
        </p:txBody>
      </p:sp>
      <p:sp>
        <p:nvSpPr>
          <p:cNvPr id="3" name="Content Placeholder 2"/>
          <p:cNvSpPr>
            <a:spLocks noGrp="1"/>
          </p:cNvSpPr>
          <p:nvPr>
            <p:ph idx="1"/>
          </p:nvPr>
        </p:nvSpPr>
        <p:spPr/>
        <p:txBody>
          <a:bodyPr/>
          <a:lstStyle/>
          <a:p>
            <a:r>
              <a:rPr lang="en-US" dirty="0" smtClean="0"/>
              <a:t>Tetrahedron- 4 sides, each a triangle.</a:t>
            </a:r>
          </a:p>
          <a:p>
            <a:endParaRPr lang="en-US" dirty="0"/>
          </a:p>
          <a:p>
            <a:endParaRPr lang="en-US" dirty="0" smtClean="0"/>
          </a:p>
          <a:p>
            <a:endParaRPr lang="en-US" dirty="0"/>
          </a:p>
          <a:p>
            <a:r>
              <a:rPr lang="en-US" dirty="0" smtClean="0"/>
              <a:t>Cube- 6 sides, each a square,</a:t>
            </a:r>
          </a:p>
          <a:p>
            <a:r>
              <a:rPr lang="en-US" smtClean="0"/>
              <a:t>In your group- </a:t>
            </a:r>
            <a:r>
              <a:rPr lang="en-US" dirty="0" smtClean="0"/>
              <a:t>How many nets can you find for a cube?</a:t>
            </a:r>
            <a:endParaRPr lang="en-US" dirty="0"/>
          </a:p>
        </p:txBody>
      </p:sp>
    </p:spTree>
    <p:extLst>
      <p:ext uri="{BB962C8B-B14F-4D97-AF65-F5344CB8AC3E}">
        <p14:creationId xmlns:p14="http://schemas.microsoft.com/office/powerpoint/2010/main" val="19774636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Calendar</a:t>
            </a:r>
            <a:endParaRPr lang="en-US" dirty="0"/>
          </a:p>
        </p:txBody>
      </p:sp>
      <p:pic>
        <p:nvPicPr>
          <p:cNvPr id="4" name="Content Placeholder 3"/>
          <p:cNvPicPr>
            <a:picLocks noGrp="1" noChangeAspect="1"/>
          </p:cNvPicPr>
          <p:nvPr>
            <p:ph idx="1"/>
          </p:nvPr>
        </p:nvPicPr>
        <p:blipFill>
          <a:blip r:embed="rId2"/>
          <a:stretch>
            <a:fillRect/>
          </a:stretch>
        </p:blipFill>
        <p:spPr>
          <a:xfrm>
            <a:off x="1591059" y="1600200"/>
            <a:ext cx="5961882" cy="4525963"/>
          </a:xfrm>
          <a:prstGeom prst="rect">
            <a:avLst/>
          </a:prstGeom>
        </p:spPr>
      </p:pic>
    </p:spTree>
    <p:extLst>
      <p:ext uri="{BB962C8B-B14F-4D97-AF65-F5344CB8AC3E}">
        <p14:creationId xmlns:p14="http://schemas.microsoft.com/office/powerpoint/2010/main" val="1459200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ntro to Time" id="{44290B67-6DC5-2146-B370-5D37082B0A7C}" vid="{BC3CC409-C3EB-3A43-86E6-347A04B7408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12 &amp; 24 hour time</Template>
  <TotalTime>57</TotalTime>
  <Words>377</Words>
  <Application>Microsoft Macintosh PowerPoint</Application>
  <PresentationFormat>On-screen Show (4:3)</PresentationFormat>
  <Paragraphs>100</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Calibri</vt:lpstr>
      <vt:lpstr>Century Gothic</vt:lpstr>
      <vt:lpstr>Martina</vt:lpstr>
      <vt:lpstr>Times</vt:lpstr>
      <vt:lpstr>Arial</vt:lpstr>
      <vt:lpstr>Office Theme</vt:lpstr>
      <vt:lpstr> Interactive Notebook</vt:lpstr>
      <vt:lpstr>PowerPoint Presentation</vt:lpstr>
      <vt:lpstr>PowerPoint Presentation</vt:lpstr>
      <vt:lpstr>Warm up</vt:lpstr>
      <vt:lpstr>1729</vt:lpstr>
      <vt:lpstr>PowerPoint Presentation</vt:lpstr>
      <vt:lpstr>Platonic Solids</vt:lpstr>
      <vt:lpstr>How many did you find?</vt:lpstr>
      <vt:lpstr> You-tube- Answer</vt:lpstr>
      <vt:lpstr>ACTIVITY</vt:lpstr>
      <vt:lpstr>Dodecahedron Calendar</vt:lpstr>
      <vt:lpstr>Platonic Solid Nets</vt:lpstr>
      <vt:lpstr>Calendar</vt:lpstr>
    </vt:vector>
  </TitlesOfParts>
  <Company/>
  <LinksUpToDate>false</LinksUpToDate>
  <SharedDoc>false</SharedDoc>
  <HyperlinksChanged>false</HyperlinksChanged>
  <AppVersion>15.0035</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Interactive Notebook</dc:title>
  <dc:creator>PATERSON Anne [Baldivis Secondary College]</dc:creator>
  <cp:lastModifiedBy>PATERSON Anne [Baldivis Secondary College]</cp:lastModifiedBy>
  <cp:revision>19</cp:revision>
  <dcterms:created xsi:type="dcterms:W3CDTF">2017-08-30T11:53:26Z</dcterms:created>
  <dcterms:modified xsi:type="dcterms:W3CDTF">2017-11-25T12:31:17Z</dcterms:modified>
</cp:coreProperties>
</file>
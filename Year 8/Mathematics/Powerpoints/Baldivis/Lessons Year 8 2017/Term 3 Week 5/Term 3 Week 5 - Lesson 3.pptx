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2" r:id="rId2"/>
    <p:sldId id="263" r:id="rId3"/>
    <p:sldId id="280" r:id="rId4"/>
    <p:sldId id="281" r:id="rId5"/>
    <p:sldId id="283" r:id="rId6"/>
    <p:sldId id="282" r:id="rId7"/>
    <p:sldId id="284" r:id="rId8"/>
    <p:sldId id="285" r:id="rId9"/>
    <p:sldId id="286" r:id="rId10"/>
    <p:sldId id="257" r:id="rId11"/>
    <p:sldId id="287" r:id="rId12"/>
    <p:sldId id="306" r:id="rId13"/>
    <p:sldId id="307" r:id="rId14"/>
    <p:sldId id="309" r:id="rId15"/>
    <p:sldId id="311" r:id="rId16"/>
    <p:sldId id="310" r:id="rId17"/>
    <p:sldId id="315" r:id="rId18"/>
    <p:sldId id="312" r:id="rId19"/>
    <p:sldId id="26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16"/>
    <p:restoredTop sz="94674"/>
  </p:normalViewPr>
  <p:slideViewPr>
    <p:cSldViewPr snapToGrid="0" snapToObjects="1">
      <p:cViewPr>
        <p:scale>
          <a:sx n="102" d="100"/>
          <a:sy n="102" d="100"/>
        </p:scale>
        <p:origin x="312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4" Type="http://schemas.openxmlformats.org/officeDocument/2006/relationships/image" Target="../media/image7.wmf"/><Relationship Id="rId1" Type="http://schemas.openxmlformats.org/officeDocument/2006/relationships/image" Target="../media/image4.wmf"/><Relationship Id="rId2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0B74E-9298-9340-8A39-86B32EB17FAC}" type="datetimeFigureOut">
              <a:rPr lang="en-US" smtClean="0"/>
              <a:t>8/13/17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2EF8D-6866-E54A-B4E6-1FCB05DA6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25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9A4369-789F-9547-99BC-4ADD61D1D083}" type="slidenum">
              <a:rPr lang="en-US" altLang="x-none"/>
              <a:pPr/>
              <a:t>3</a:t>
            </a:fld>
            <a:endParaRPr lang="en-US" altLang="x-none"/>
          </a:p>
        </p:txBody>
      </p:sp>
      <p:sp>
        <p:nvSpPr>
          <p:cNvPr id="1443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291760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546B93-C29F-DC46-836C-B7FA514C9FAE}" type="slidenum">
              <a:rPr lang="en-US" altLang="x-none"/>
              <a:pPr/>
              <a:t>4</a:t>
            </a:fld>
            <a:endParaRPr lang="en-US" altLang="x-none"/>
          </a:p>
        </p:txBody>
      </p:sp>
      <p:sp>
        <p:nvSpPr>
          <p:cNvPr id="1464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464066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53F229-D623-F04A-8DF6-F8208043E076}" type="slidenum">
              <a:rPr lang="en-US" altLang="x-none"/>
              <a:pPr/>
              <a:t>5</a:t>
            </a:fld>
            <a:endParaRPr lang="en-US" altLang="x-none"/>
          </a:p>
        </p:txBody>
      </p:sp>
      <p:sp>
        <p:nvSpPr>
          <p:cNvPr id="1484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294369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F537C1-4447-8248-9692-93A79A31F3A9}" type="slidenum">
              <a:rPr lang="en-US" altLang="x-none"/>
              <a:pPr/>
              <a:t>6</a:t>
            </a:fld>
            <a:endParaRPr lang="en-US" altLang="x-none"/>
          </a:p>
        </p:txBody>
      </p:sp>
      <p:sp>
        <p:nvSpPr>
          <p:cNvPr id="1505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89433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40AE24-0FF9-114C-A654-95BC396E4022}" type="slidenum">
              <a:rPr lang="en-US" altLang="x-none"/>
              <a:pPr/>
              <a:t>7</a:t>
            </a:fld>
            <a:endParaRPr lang="en-US" altLang="x-none"/>
          </a:p>
        </p:txBody>
      </p:sp>
      <p:sp>
        <p:nvSpPr>
          <p:cNvPr id="1525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05067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5B4A9-4456-E14F-844E-AF0C4AD024CB}" type="slidenum">
              <a:rPr lang="en-US" altLang="x-none"/>
              <a:pPr/>
              <a:t>8</a:t>
            </a:fld>
            <a:endParaRPr lang="en-US" altLang="x-none"/>
          </a:p>
        </p:txBody>
      </p:sp>
      <p:sp>
        <p:nvSpPr>
          <p:cNvPr id="1546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62120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7AA3CF-4442-704F-8080-AB1F0623C0D8}" type="slidenum">
              <a:rPr lang="en-US" altLang="x-none"/>
              <a:pPr/>
              <a:t>9</a:t>
            </a:fld>
            <a:endParaRPr lang="en-US" altLang="x-none"/>
          </a:p>
        </p:txBody>
      </p:sp>
      <p:sp>
        <p:nvSpPr>
          <p:cNvPr id="1566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334075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7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7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7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9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8/13/17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4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8/13/17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1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8/13/17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49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1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9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1D4B-607C-7847-B492-C8BA76FEFEC0}" type="datetimeFigureOut">
              <a:rPr lang="en-US" smtClean="0"/>
              <a:t>8/13/17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1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png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png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13.bin"/><Relationship Id="rId12" Type="http://schemas.openxmlformats.org/officeDocument/2006/relationships/image" Target="../media/image7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7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4.wmf"/><Relationship Id="rId5" Type="http://schemas.openxmlformats.org/officeDocument/2006/relationships/oleObject" Target="../embeddings/oleObject9.bin"/><Relationship Id="rId6" Type="http://schemas.openxmlformats.org/officeDocument/2006/relationships/image" Target="../media/image5.wmf"/><Relationship Id="rId7" Type="http://schemas.openxmlformats.org/officeDocument/2006/relationships/oleObject" Target="../embeddings/oleObject10.bin"/><Relationship Id="rId8" Type="http://schemas.openxmlformats.org/officeDocument/2006/relationships/oleObject" Target="../embeddings/oleObject11.bin"/><Relationship Id="rId9" Type="http://schemas.openxmlformats.org/officeDocument/2006/relationships/oleObject" Target="../embeddings/oleObject12.bin"/><Relationship Id="rId10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6182" y="548482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</a:t>
            </a:r>
            <a:r>
              <a:rPr lang="en-AU" sz="4800" dirty="0" smtClean="0">
                <a:latin typeface="+mn-lt"/>
              </a:rPr>
              <a:t>Algebra</a:t>
            </a:r>
            <a:r>
              <a:rPr lang="en-AU" sz="4800" dirty="0">
                <a:latin typeface="+mn-lt"/>
              </a:rPr>
              <a:t/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3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Image result for graph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624" y="2018506"/>
            <a:ext cx="2746917" cy="206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20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5765911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66940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838200"/>
            <a:ext cx="77724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75000"/>
              </a:lnSpc>
            </a:pPr>
            <a:r>
              <a:rPr lang="en-US" altLang="x-none" b="1"/>
              <a:t>An Equation is like a balance scale.  Everything must be equal on both sides.</a:t>
            </a:r>
          </a:p>
        </p:txBody>
      </p:sp>
      <p:sp>
        <p:nvSpPr>
          <p:cNvPr id="143363" name="Rectangle 3"/>
          <p:cNvSpPr>
            <a:spLocks noChangeArrowheads="1"/>
          </p:cNvSpPr>
          <p:nvPr/>
        </p:nvSpPr>
        <p:spPr bwMode="auto">
          <a:xfrm>
            <a:off x="2209800" y="2438400"/>
            <a:ext cx="7848600" cy="3962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364" name="Object 4"/>
          <p:cNvGraphicFramePr>
            <a:graphicFrameLocks noChangeAspect="1"/>
          </p:cNvGraphicFramePr>
          <p:nvPr/>
        </p:nvGraphicFramePr>
        <p:xfrm>
          <a:off x="3352800" y="2590801"/>
          <a:ext cx="5734050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GALLERY Clipart" r:id="rId4" imgW="79654400" imgH="49796700" progId="GALLERYClipart">
                  <p:embed/>
                </p:oleObj>
              </mc:Choice>
              <mc:Fallback>
                <p:oleObj name="GALLERY Clipart" r:id="rId4" imgW="79654400" imgH="49796700" progId="GALLERYClipar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590801"/>
                        <a:ext cx="5734050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5" name="Text Box 5"/>
          <p:cNvSpPr txBox="1">
            <a:spLocks noChangeArrowheads="1"/>
          </p:cNvSpPr>
          <p:nvPr/>
        </p:nvSpPr>
        <p:spPr bwMode="auto">
          <a:xfrm>
            <a:off x="3810000" y="4191000"/>
            <a:ext cx="8699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20</a:t>
            </a:r>
          </a:p>
        </p:txBody>
      </p:sp>
      <p:sp>
        <p:nvSpPr>
          <p:cNvPr id="143366" name="Text Box 6"/>
          <p:cNvSpPr txBox="1">
            <a:spLocks noChangeArrowheads="1"/>
          </p:cNvSpPr>
          <p:nvPr/>
        </p:nvSpPr>
        <p:spPr bwMode="auto">
          <a:xfrm>
            <a:off x="7315201" y="4267200"/>
            <a:ext cx="17748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2x +5</a:t>
            </a:r>
          </a:p>
        </p:txBody>
      </p:sp>
      <p:sp>
        <p:nvSpPr>
          <p:cNvPr id="143367" name="Oval 7"/>
          <p:cNvSpPr>
            <a:spLocks noChangeArrowheads="1"/>
          </p:cNvSpPr>
          <p:nvPr/>
        </p:nvSpPr>
        <p:spPr bwMode="auto">
          <a:xfrm>
            <a:off x="5638800" y="3429000"/>
            <a:ext cx="1143000" cy="990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451333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20"/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20"/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20"/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2" grpId="0"/>
      <p:bldP spid="143365" grpId="0" autoUpdateAnimBg="0"/>
      <p:bldP spid="143366" grpId="0" autoUpdateAnimBg="0"/>
      <p:bldP spid="143367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2209800" y="2438400"/>
            <a:ext cx="7848600" cy="3962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5411" name="Object 3"/>
          <p:cNvGraphicFramePr>
            <a:graphicFrameLocks noChangeAspect="1"/>
          </p:cNvGraphicFramePr>
          <p:nvPr/>
        </p:nvGraphicFramePr>
        <p:xfrm>
          <a:off x="3352800" y="2590801"/>
          <a:ext cx="5734050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GALLERY Clipart" r:id="rId4" imgW="79654400" imgH="49796700" progId="GALLERYClipart">
                  <p:embed/>
                </p:oleObj>
              </mc:Choice>
              <mc:Fallback>
                <p:oleObj name="GALLERY Clipart" r:id="rId4" imgW="79654400" imgH="49796700" progId="GALLERYClipar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590801"/>
                        <a:ext cx="5734050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3810000" y="4191000"/>
            <a:ext cx="8699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20</a:t>
            </a:r>
          </a:p>
        </p:txBody>
      </p:sp>
      <p:sp>
        <p:nvSpPr>
          <p:cNvPr id="145413" name="Text Box 5"/>
          <p:cNvSpPr txBox="1">
            <a:spLocks noChangeArrowheads="1"/>
          </p:cNvSpPr>
          <p:nvPr/>
        </p:nvSpPr>
        <p:spPr bwMode="auto">
          <a:xfrm>
            <a:off x="7315201" y="4267200"/>
            <a:ext cx="17748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2x +5</a:t>
            </a:r>
          </a:p>
        </p:txBody>
      </p:sp>
      <p:sp>
        <p:nvSpPr>
          <p:cNvPr id="145414" name="Oval 6"/>
          <p:cNvSpPr>
            <a:spLocks noChangeArrowheads="1"/>
          </p:cNvSpPr>
          <p:nvPr/>
        </p:nvSpPr>
        <p:spPr bwMode="auto">
          <a:xfrm>
            <a:off x="5638800" y="3429000"/>
            <a:ext cx="1143000" cy="990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=</a:t>
            </a:r>
          </a:p>
        </p:txBody>
      </p:sp>
      <p:sp>
        <p:nvSpPr>
          <p:cNvPr id="145415" name="Rectangle 7"/>
          <p:cNvSpPr>
            <a:spLocks noChangeArrowheads="1"/>
          </p:cNvSpPr>
          <p:nvPr/>
        </p:nvSpPr>
        <p:spPr bwMode="auto">
          <a:xfrm>
            <a:off x="2286000" y="838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ctr">
              <a:defRPr sz="4400" i="1">
                <a:solidFill>
                  <a:srgbClr val="FFFFFF"/>
                </a:solidFill>
                <a:latin typeface="Times New Roman" charset="0"/>
              </a:defRPr>
            </a:lvl1pPr>
            <a:lvl2pPr algn="ctr">
              <a:defRPr sz="4400" i="1">
                <a:solidFill>
                  <a:srgbClr val="FFFFFF"/>
                </a:solidFill>
                <a:latin typeface="Times New Roman" charset="0"/>
              </a:defRPr>
            </a:lvl2pPr>
            <a:lvl3pPr algn="ctr">
              <a:defRPr sz="4400" i="1">
                <a:solidFill>
                  <a:srgbClr val="FFFFFF"/>
                </a:solidFill>
                <a:latin typeface="Times New Roman" charset="0"/>
              </a:defRPr>
            </a:lvl3pPr>
            <a:lvl4pPr algn="ctr">
              <a:defRPr sz="4400" i="1">
                <a:solidFill>
                  <a:srgbClr val="FFFFFF"/>
                </a:solidFill>
                <a:latin typeface="Times New Roman" charset="0"/>
              </a:defRPr>
            </a:lvl4pPr>
            <a:lvl5pPr algn="ctr">
              <a:defRPr sz="4400" i="1">
                <a:solidFill>
                  <a:srgbClr val="FFFFFF"/>
                </a:solidFill>
                <a:latin typeface="Times New Roman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x-none" b="1" dirty="0">
                <a:solidFill>
                  <a:schemeClr val="tx1"/>
                </a:solidFill>
              </a:rPr>
              <a:t>What you do to one side of an equation, you must do to the other side to keep it balanced!</a:t>
            </a:r>
          </a:p>
        </p:txBody>
      </p:sp>
      <p:sp>
        <p:nvSpPr>
          <p:cNvPr id="145416" name="Oval 8"/>
          <p:cNvSpPr>
            <a:spLocks noChangeArrowheads="1"/>
          </p:cNvSpPr>
          <p:nvPr/>
        </p:nvSpPr>
        <p:spPr bwMode="auto">
          <a:xfrm>
            <a:off x="8229600" y="510540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-5</a:t>
            </a:r>
          </a:p>
        </p:txBody>
      </p:sp>
      <p:sp>
        <p:nvSpPr>
          <p:cNvPr id="145417" name="Oval 9"/>
          <p:cNvSpPr>
            <a:spLocks noChangeArrowheads="1"/>
          </p:cNvSpPr>
          <p:nvPr/>
        </p:nvSpPr>
        <p:spPr bwMode="auto">
          <a:xfrm>
            <a:off x="3733800" y="510540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-5</a:t>
            </a:r>
          </a:p>
        </p:txBody>
      </p:sp>
      <p:sp>
        <p:nvSpPr>
          <p:cNvPr id="145418" name="Line 10"/>
          <p:cNvSpPr>
            <a:spLocks noChangeShapeType="1"/>
          </p:cNvSpPr>
          <p:nvPr/>
        </p:nvSpPr>
        <p:spPr bwMode="auto">
          <a:xfrm flipH="1">
            <a:off x="8763000" y="4495800"/>
            <a:ext cx="76200" cy="13716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2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20"/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20"/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20"/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5" grpId="0"/>
      <p:bldP spid="145416" grpId="0" animBg="1" autoUpdateAnimBg="0"/>
      <p:bldP spid="145417" grpId="0" animBg="1" autoUpdateAnimBg="0"/>
      <p:bldP spid="1454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ChangeArrowheads="1"/>
          </p:cNvSpPr>
          <p:nvPr/>
        </p:nvSpPr>
        <p:spPr bwMode="auto">
          <a:xfrm>
            <a:off x="2209800" y="2438400"/>
            <a:ext cx="7848600" cy="3962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7459" name="Object 3"/>
          <p:cNvGraphicFramePr>
            <a:graphicFrameLocks noChangeAspect="1"/>
          </p:cNvGraphicFramePr>
          <p:nvPr/>
        </p:nvGraphicFramePr>
        <p:xfrm>
          <a:off x="3352800" y="2590801"/>
          <a:ext cx="5734050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GALLERY Clipart" r:id="rId4" imgW="79654400" imgH="49796700" progId="GALLERYClipart">
                  <p:embed/>
                </p:oleObj>
              </mc:Choice>
              <mc:Fallback>
                <p:oleObj name="GALLERY Clipart" r:id="rId4" imgW="79654400" imgH="49796700" progId="GALLERYClipar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590801"/>
                        <a:ext cx="5734050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0" name="Text Box 4"/>
          <p:cNvSpPr txBox="1">
            <a:spLocks noChangeArrowheads="1"/>
          </p:cNvSpPr>
          <p:nvPr/>
        </p:nvSpPr>
        <p:spPr bwMode="auto">
          <a:xfrm>
            <a:off x="3810000" y="4191000"/>
            <a:ext cx="8699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15</a:t>
            </a:r>
          </a:p>
        </p:txBody>
      </p:sp>
      <p:sp>
        <p:nvSpPr>
          <p:cNvPr id="147461" name="Text Box 5"/>
          <p:cNvSpPr txBox="1">
            <a:spLocks noChangeArrowheads="1"/>
          </p:cNvSpPr>
          <p:nvPr/>
        </p:nvSpPr>
        <p:spPr bwMode="auto">
          <a:xfrm>
            <a:off x="7315200" y="4267200"/>
            <a:ext cx="1041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2x </a:t>
            </a:r>
          </a:p>
        </p:txBody>
      </p:sp>
      <p:sp>
        <p:nvSpPr>
          <p:cNvPr id="147462" name="Oval 6"/>
          <p:cNvSpPr>
            <a:spLocks noChangeArrowheads="1"/>
          </p:cNvSpPr>
          <p:nvPr/>
        </p:nvSpPr>
        <p:spPr bwMode="auto">
          <a:xfrm>
            <a:off x="5638800" y="3429000"/>
            <a:ext cx="1143000" cy="990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=</a:t>
            </a:r>
          </a:p>
        </p:txBody>
      </p:sp>
      <p:sp>
        <p:nvSpPr>
          <p:cNvPr id="147463" name="Rectangle 7"/>
          <p:cNvSpPr>
            <a:spLocks noChangeArrowheads="1"/>
          </p:cNvSpPr>
          <p:nvPr/>
        </p:nvSpPr>
        <p:spPr bwMode="auto">
          <a:xfrm>
            <a:off x="2286000" y="838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ctr">
              <a:defRPr sz="4400" i="1">
                <a:solidFill>
                  <a:srgbClr val="FFFFFF"/>
                </a:solidFill>
                <a:latin typeface="Times New Roman" charset="0"/>
              </a:defRPr>
            </a:lvl1pPr>
            <a:lvl2pPr algn="ctr">
              <a:defRPr sz="4400" i="1">
                <a:solidFill>
                  <a:srgbClr val="FFFFFF"/>
                </a:solidFill>
                <a:latin typeface="Times New Roman" charset="0"/>
              </a:defRPr>
            </a:lvl2pPr>
            <a:lvl3pPr algn="ctr">
              <a:defRPr sz="4400" i="1">
                <a:solidFill>
                  <a:srgbClr val="FFFFFF"/>
                </a:solidFill>
                <a:latin typeface="Times New Roman" charset="0"/>
              </a:defRPr>
            </a:lvl3pPr>
            <a:lvl4pPr algn="ctr">
              <a:defRPr sz="4400" i="1">
                <a:solidFill>
                  <a:srgbClr val="FFFFFF"/>
                </a:solidFill>
                <a:latin typeface="Times New Roman" charset="0"/>
              </a:defRPr>
            </a:lvl4pPr>
            <a:lvl5pPr algn="ctr">
              <a:defRPr sz="4400" i="1">
                <a:solidFill>
                  <a:srgbClr val="FFFFFF"/>
                </a:solidFill>
                <a:latin typeface="Times New Roman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x-none" b="1"/>
              <a:t>What you do to one side of an equation, you must do to the other side to keep it balanced!</a:t>
            </a:r>
          </a:p>
        </p:txBody>
      </p:sp>
      <p:sp>
        <p:nvSpPr>
          <p:cNvPr id="147464" name="Oval 8"/>
          <p:cNvSpPr>
            <a:spLocks noChangeArrowheads="1"/>
          </p:cNvSpPr>
          <p:nvPr/>
        </p:nvSpPr>
        <p:spPr bwMode="auto">
          <a:xfrm>
            <a:off x="7315200" y="4800600"/>
            <a:ext cx="914400" cy="914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__</a:t>
            </a:r>
          </a:p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2</a:t>
            </a:r>
          </a:p>
        </p:txBody>
      </p:sp>
      <p:sp>
        <p:nvSpPr>
          <p:cNvPr id="147465" name="Oval 9"/>
          <p:cNvSpPr>
            <a:spLocks noChangeArrowheads="1"/>
          </p:cNvSpPr>
          <p:nvPr/>
        </p:nvSpPr>
        <p:spPr bwMode="auto">
          <a:xfrm>
            <a:off x="3733800" y="4800600"/>
            <a:ext cx="914400" cy="914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__</a:t>
            </a:r>
          </a:p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2</a:t>
            </a:r>
          </a:p>
        </p:txBody>
      </p:sp>
      <p:sp>
        <p:nvSpPr>
          <p:cNvPr id="147466" name="Line 10"/>
          <p:cNvSpPr>
            <a:spLocks noChangeShapeType="1"/>
          </p:cNvSpPr>
          <p:nvPr/>
        </p:nvSpPr>
        <p:spPr bwMode="auto">
          <a:xfrm>
            <a:off x="7467600" y="4267200"/>
            <a:ext cx="457200" cy="18288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43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4" grpId="0"/>
      <p:bldP spid="147465" grpId="0"/>
      <p:bldP spid="14746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ChangeArrowheads="1"/>
          </p:cNvSpPr>
          <p:nvPr/>
        </p:nvSpPr>
        <p:spPr bwMode="auto">
          <a:xfrm>
            <a:off x="2209800" y="2438400"/>
            <a:ext cx="7848600" cy="3962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9507" name="Object 3"/>
          <p:cNvGraphicFramePr>
            <a:graphicFrameLocks noChangeAspect="1"/>
          </p:cNvGraphicFramePr>
          <p:nvPr/>
        </p:nvGraphicFramePr>
        <p:xfrm>
          <a:off x="3352800" y="2590801"/>
          <a:ext cx="5734050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GALLERY Clipart" r:id="rId4" imgW="79654400" imgH="49796700" progId="GALLERYClipart">
                  <p:embed/>
                </p:oleObj>
              </mc:Choice>
              <mc:Fallback>
                <p:oleObj name="GALLERY Clipart" r:id="rId4" imgW="79654400" imgH="49796700" progId="GALLERYClipar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590801"/>
                        <a:ext cx="5734050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3810000" y="4191000"/>
            <a:ext cx="1041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7.5</a:t>
            </a:r>
          </a:p>
        </p:txBody>
      </p:sp>
      <p:sp>
        <p:nvSpPr>
          <p:cNvPr id="149509" name="Text Box 5"/>
          <p:cNvSpPr txBox="1">
            <a:spLocks noChangeArrowheads="1"/>
          </p:cNvSpPr>
          <p:nvPr/>
        </p:nvSpPr>
        <p:spPr bwMode="auto">
          <a:xfrm>
            <a:off x="7315200" y="4267200"/>
            <a:ext cx="1041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  x </a:t>
            </a:r>
          </a:p>
        </p:txBody>
      </p:sp>
      <p:sp>
        <p:nvSpPr>
          <p:cNvPr id="149510" name="Oval 6"/>
          <p:cNvSpPr>
            <a:spLocks noChangeArrowheads="1"/>
          </p:cNvSpPr>
          <p:nvPr/>
        </p:nvSpPr>
        <p:spPr bwMode="auto">
          <a:xfrm>
            <a:off x="5638800" y="3429000"/>
            <a:ext cx="1143000" cy="990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=</a:t>
            </a:r>
          </a:p>
        </p:txBody>
      </p:sp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2286000" y="838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ctr">
              <a:defRPr sz="4400" i="1">
                <a:solidFill>
                  <a:srgbClr val="FFFFFF"/>
                </a:solidFill>
                <a:latin typeface="Times New Roman" charset="0"/>
              </a:defRPr>
            </a:lvl1pPr>
            <a:lvl2pPr algn="ctr">
              <a:defRPr sz="4400" i="1">
                <a:solidFill>
                  <a:srgbClr val="FFFFFF"/>
                </a:solidFill>
                <a:latin typeface="Times New Roman" charset="0"/>
              </a:defRPr>
            </a:lvl2pPr>
            <a:lvl3pPr algn="ctr">
              <a:defRPr sz="4400" i="1">
                <a:solidFill>
                  <a:srgbClr val="FFFFFF"/>
                </a:solidFill>
                <a:latin typeface="Times New Roman" charset="0"/>
              </a:defRPr>
            </a:lvl3pPr>
            <a:lvl4pPr algn="ctr">
              <a:defRPr sz="4400" i="1">
                <a:solidFill>
                  <a:srgbClr val="FFFFFF"/>
                </a:solidFill>
                <a:latin typeface="Times New Roman" charset="0"/>
              </a:defRPr>
            </a:lvl4pPr>
            <a:lvl5pPr algn="ctr">
              <a:defRPr sz="4400" i="1">
                <a:solidFill>
                  <a:srgbClr val="FFFFFF"/>
                </a:solidFill>
                <a:latin typeface="Times New Roman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x-none" b="1"/>
              <a:t>What you do to one side of an equation, you must do to the other side to keep it balanced!</a:t>
            </a:r>
          </a:p>
        </p:txBody>
      </p:sp>
    </p:spTree>
    <p:extLst>
      <p:ext uri="{BB962C8B-B14F-4D97-AF65-F5344CB8AC3E}">
        <p14:creationId xmlns:p14="http://schemas.microsoft.com/office/powerpoint/2010/main" val="461777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219200"/>
          </a:xfrm>
        </p:spPr>
        <p:txBody>
          <a:bodyPr/>
          <a:lstStyle/>
          <a:p>
            <a:pPr>
              <a:lnSpc>
                <a:spcPct val="75000"/>
              </a:lnSpc>
            </a:pPr>
            <a:r>
              <a:rPr lang="en-US" altLang="x-none" b="1">
                <a:solidFill>
                  <a:srgbClr val="FFFF00"/>
                </a:solidFill>
              </a:rPr>
              <a:t>Try to solve this subtraction equation</a:t>
            </a:r>
          </a:p>
        </p:txBody>
      </p:sp>
      <p:sp>
        <p:nvSpPr>
          <p:cNvPr id="151555" name="Rectangle 3"/>
          <p:cNvSpPr>
            <a:spLocks noChangeArrowheads="1"/>
          </p:cNvSpPr>
          <p:nvPr/>
        </p:nvSpPr>
        <p:spPr bwMode="auto">
          <a:xfrm>
            <a:off x="2209800" y="2438400"/>
            <a:ext cx="7848600" cy="3962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1556" name="Object 4"/>
          <p:cNvGraphicFramePr>
            <a:graphicFrameLocks noChangeAspect="1"/>
          </p:cNvGraphicFramePr>
          <p:nvPr/>
        </p:nvGraphicFramePr>
        <p:xfrm>
          <a:off x="3352800" y="2590801"/>
          <a:ext cx="5734050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GALLERY Clipart" r:id="rId4" imgW="79654400" imgH="49796700" progId="GALLERYClipart">
                  <p:embed/>
                </p:oleObj>
              </mc:Choice>
              <mc:Fallback>
                <p:oleObj name="GALLERY Clipart" r:id="rId4" imgW="79654400" imgH="49796700" progId="GALLERYClipar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590801"/>
                        <a:ext cx="5734050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7" name="Text Box 5"/>
          <p:cNvSpPr txBox="1">
            <a:spLocks noChangeArrowheads="1"/>
          </p:cNvSpPr>
          <p:nvPr/>
        </p:nvSpPr>
        <p:spPr bwMode="auto">
          <a:xfrm>
            <a:off x="3810000" y="4191000"/>
            <a:ext cx="8699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18</a:t>
            </a:r>
          </a:p>
        </p:txBody>
      </p:sp>
      <p:sp>
        <p:nvSpPr>
          <p:cNvPr id="151558" name="Text Box 6"/>
          <p:cNvSpPr txBox="1">
            <a:spLocks noChangeArrowheads="1"/>
          </p:cNvSpPr>
          <p:nvPr/>
        </p:nvSpPr>
        <p:spPr bwMode="auto">
          <a:xfrm>
            <a:off x="7315200" y="4267200"/>
            <a:ext cx="1651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n  - 3</a:t>
            </a:r>
          </a:p>
        </p:txBody>
      </p:sp>
      <p:sp>
        <p:nvSpPr>
          <p:cNvPr id="151559" name="Oval 7"/>
          <p:cNvSpPr>
            <a:spLocks noChangeArrowheads="1"/>
          </p:cNvSpPr>
          <p:nvPr/>
        </p:nvSpPr>
        <p:spPr bwMode="auto">
          <a:xfrm>
            <a:off x="5638800" y="3429000"/>
            <a:ext cx="1143000" cy="990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=</a:t>
            </a:r>
          </a:p>
        </p:txBody>
      </p:sp>
      <p:sp>
        <p:nvSpPr>
          <p:cNvPr id="151560" name="Rectangle 8"/>
          <p:cNvSpPr>
            <a:spLocks noChangeArrowheads="1"/>
          </p:cNvSpPr>
          <p:nvPr/>
        </p:nvSpPr>
        <p:spPr bwMode="auto">
          <a:xfrm>
            <a:off x="1524000" y="914400"/>
            <a:ext cx="9144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ctr">
              <a:defRPr sz="4400" i="1">
                <a:solidFill>
                  <a:srgbClr val="FFFFFF"/>
                </a:solidFill>
                <a:latin typeface="Times New Roman" charset="0"/>
              </a:defRPr>
            </a:lvl1pPr>
            <a:lvl2pPr algn="ctr">
              <a:defRPr sz="4400" i="1">
                <a:solidFill>
                  <a:srgbClr val="FFFFFF"/>
                </a:solidFill>
                <a:latin typeface="Times New Roman" charset="0"/>
              </a:defRPr>
            </a:lvl2pPr>
            <a:lvl3pPr algn="ctr">
              <a:defRPr sz="4400" i="1">
                <a:solidFill>
                  <a:srgbClr val="FFFFFF"/>
                </a:solidFill>
                <a:latin typeface="Times New Roman" charset="0"/>
              </a:defRPr>
            </a:lvl3pPr>
            <a:lvl4pPr algn="ctr">
              <a:defRPr sz="4400" i="1">
                <a:solidFill>
                  <a:srgbClr val="FFFFFF"/>
                </a:solidFill>
                <a:latin typeface="Times New Roman" charset="0"/>
              </a:defRPr>
            </a:lvl4pPr>
            <a:lvl5pPr algn="ctr">
              <a:defRPr sz="4400" i="1">
                <a:solidFill>
                  <a:srgbClr val="FFFFFF"/>
                </a:solidFill>
                <a:latin typeface="Times New Roman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x-none"/>
              <a:t>How do you get n all by itself?</a:t>
            </a:r>
          </a:p>
        </p:txBody>
      </p:sp>
      <p:sp>
        <p:nvSpPr>
          <p:cNvPr id="151561" name="Oval 9"/>
          <p:cNvSpPr>
            <a:spLocks noChangeArrowheads="1"/>
          </p:cNvSpPr>
          <p:nvPr/>
        </p:nvSpPr>
        <p:spPr bwMode="auto">
          <a:xfrm>
            <a:off x="8382000" y="525780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+3</a:t>
            </a:r>
          </a:p>
        </p:txBody>
      </p:sp>
      <p:sp>
        <p:nvSpPr>
          <p:cNvPr id="151562" name="Oval 10"/>
          <p:cNvSpPr>
            <a:spLocks noChangeArrowheads="1"/>
          </p:cNvSpPr>
          <p:nvPr/>
        </p:nvSpPr>
        <p:spPr bwMode="auto">
          <a:xfrm>
            <a:off x="3657600" y="510540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+3</a:t>
            </a:r>
          </a:p>
        </p:txBody>
      </p:sp>
      <p:sp>
        <p:nvSpPr>
          <p:cNvPr id="151563" name="Line 11"/>
          <p:cNvSpPr>
            <a:spLocks noChangeShapeType="1"/>
          </p:cNvSpPr>
          <p:nvPr/>
        </p:nvSpPr>
        <p:spPr bwMode="auto">
          <a:xfrm>
            <a:off x="8534400" y="4191000"/>
            <a:ext cx="457200" cy="18288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57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515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151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4" grpId="0"/>
      <p:bldP spid="151557" grpId="0" autoUpdateAnimBg="0"/>
      <p:bldP spid="151558" grpId="0" autoUpdateAnimBg="0"/>
      <p:bldP spid="151559" grpId="0" animBg="1" autoUpdateAnimBg="0"/>
      <p:bldP spid="151560" grpId="0"/>
      <p:bldP spid="151561" grpId="0" animBg="1" autoUpdateAnimBg="0"/>
      <p:bldP spid="151562" grpId="0" animBg="1" autoUpdateAnimBg="0"/>
      <p:bldP spid="15156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219200"/>
          </a:xfrm>
        </p:spPr>
        <p:txBody>
          <a:bodyPr/>
          <a:lstStyle/>
          <a:p>
            <a:pPr>
              <a:lnSpc>
                <a:spcPct val="75000"/>
              </a:lnSpc>
            </a:pPr>
            <a:r>
              <a:rPr lang="en-US" altLang="x-none" b="1">
                <a:solidFill>
                  <a:srgbClr val="FFFF00"/>
                </a:solidFill>
              </a:rPr>
              <a:t>Try to solve this subtraction equation</a:t>
            </a:r>
          </a:p>
        </p:txBody>
      </p:sp>
      <p:sp>
        <p:nvSpPr>
          <p:cNvPr id="153603" name="Rectangle 3"/>
          <p:cNvSpPr>
            <a:spLocks noChangeArrowheads="1"/>
          </p:cNvSpPr>
          <p:nvPr/>
        </p:nvSpPr>
        <p:spPr bwMode="auto">
          <a:xfrm>
            <a:off x="2209800" y="2438400"/>
            <a:ext cx="7848600" cy="3962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04" name="Object 4"/>
          <p:cNvGraphicFramePr>
            <a:graphicFrameLocks noChangeAspect="1"/>
          </p:cNvGraphicFramePr>
          <p:nvPr/>
        </p:nvGraphicFramePr>
        <p:xfrm>
          <a:off x="3352800" y="2590801"/>
          <a:ext cx="5734050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GALLERY Clipart" r:id="rId4" imgW="79654400" imgH="49796700" progId="GALLERYClipart">
                  <p:embed/>
                </p:oleObj>
              </mc:Choice>
              <mc:Fallback>
                <p:oleObj name="GALLERY Clipart" r:id="rId4" imgW="79654400" imgH="49796700" progId="GALLERYClipar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590801"/>
                        <a:ext cx="5734050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5" name="Text Box 5"/>
          <p:cNvSpPr txBox="1">
            <a:spLocks noChangeArrowheads="1"/>
          </p:cNvSpPr>
          <p:nvPr/>
        </p:nvSpPr>
        <p:spPr bwMode="auto">
          <a:xfrm>
            <a:off x="3810000" y="4191000"/>
            <a:ext cx="8699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21</a:t>
            </a:r>
          </a:p>
        </p:txBody>
      </p:sp>
      <p:sp>
        <p:nvSpPr>
          <p:cNvPr id="153606" name="Text Box 6"/>
          <p:cNvSpPr txBox="1">
            <a:spLocks noChangeArrowheads="1"/>
          </p:cNvSpPr>
          <p:nvPr/>
        </p:nvSpPr>
        <p:spPr bwMode="auto">
          <a:xfrm>
            <a:off x="7315200" y="4267200"/>
            <a:ext cx="9080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n  </a:t>
            </a:r>
          </a:p>
        </p:txBody>
      </p:sp>
      <p:sp>
        <p:nvSpPr>
          <p:cNvPr id="153607" name="Oval 7"/>
          <p:cNvSpPr>
            <a:spLocks noChangeArrowheads="1"/>
          </p:cNvSpPr>
          <p:nvPr/>
        </p:nvSpPr>
        <p:spPr bwMode="auto">
          <a:xfrm>
            <a:off x="5638800" y="3429000"/>
            <a:ext cx="1143000" cy="990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=</a:t>
            </a:r>
          </a:p>
        </p:txBody>
      </p:sp>
      <p:sp>
        <p:nvSpPr>
          <p:cNvPr id="153608" name="Rectangle 8"/>
          <p:cNvSpPr>
            <a:spLocks noChangeArrowheads="1"/>
          </p:cNvSpPr>
          <p:nvPr/>
        </p:nvSpPr>
        <p:spPr bwMode="auto">
          <a:xfrm>
            <a:off x="1524000" y="914400"/>
            <a:ext cx="9144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ctr">
              <a:defRPr sz="4400" i="1">
                <a:solidFill>
                  <a:srgbClr val="FFFFFF"/>
                </a:solidFill>
                <a:latin typeface="Times New Roman" charset="0"/>
              </a:defRPr>
            </a:lvl1pPr>
            <a:lvl2pPr algn="ctr">
              <a:defRPr sz="4400" i="1">
                <a:solidFill>
                  <a:srgbClr val="FFFFFF"/>
                </a:solidFill>
                <a:latin typeface="Times New Roman" charset="0"/>
              </a:defRPr>
            </a:lvl2pPr>
            <a:lvl3pPr algn="ctr">
              <a:defRPr sz="4400" i="1">
                <a:solidFill>
                  <a:srgbClr val="FFFFFF"/>
                </a:solidFill>
                <a:latin typeface="Times New Roman" charset="0"/>
              </a:defRPr>
            </a:lvl3pPr>
            <a:lvl4pPr algn="ctr">
              <a:defRPr sz="4400" i="1">
                <a:solidFill>
                  <a:srgbClr val="FFFFFF"/>
                </a:solidFill>
                <a:latin typeface="Times New Roman" charset="0"/>
              </a:defRPr>
            </a:lvl4pPr>
            <a:lvl5pPr algn="ctr">
              <a:defRPr sz="4400" i="1">
                <a:solidFill>
                  <a:srgbClr val="FFFFFF"/>
                </a:solidFill>
                <a:latin typeface="Times New Roman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rgbClr val="FFFFFF"/>
                </a:solidFill>
                <a:latin typeface="Times New Roman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x-none"/>
              <a:t>How do you get n all by itself?</a:t>
            </a:r>
          </a:p>
        </p:txBody>
      </p:sp>
    </p:spTree>
    <p:extLst>
      <p:ext uri="{BB962C8B-B14F-4D97-AF65-F5344CB8AC3E}">
        <p14:creationId xmlns:p14="http://schemas.microsoft.com/office/powerpoint/2010/main" val="631443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80772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75000"/>
              </a:lnSpc>
            </a:pPr>
            <a:r>
              <a:rPr lang="en-US" altLang="x-none" sz="4000"/>
              <a:t>Show your check by substituting your answer back into the original equation.</a:t>
            </a:r>
          </a:p>
        </p:txBody>
      </p:sp>
      <p:sp>
        <p:nvSpPr>
          <p:cNvPr id="155651" name="Rectangle 3"/>
          <p:cNvSpPr>
            <a:spLocks noChangeArrowheads="1"/>
          </p:cNvSpPr>
          <p:nvPr/>
        </p:nvSpPr>
        <p:spPr bwMode="auto">
          <a:xfrm>
            <a:off x="2209800" y="2438400"/>
            <a:ext cx="7848600" cy="3962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5652" name="Object 4"/>
          <p:cNvGraphicFramePr>
            <a:graphicFrameLocks noChangeAspect="1"/>
          </p:cNvGraphicFramePr>
          <p:nvPr/>
        </p:nvGraphicFramePr>
        <p:xfrm>
          <a:off x="3352800" y="2590801"/>
          <a:ext cx="5734050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GALLERY Clipart" r:id="rId4" imgW="79654400" imgH="49796700" progId="GALLERYClipart">
                  <p:embed/>
                </p:oleObj>
              </mc:Choice>
              <mc:Fallback>
                <p:oleObj name="GALLERY Clipart" r:id="rId4" imgW="79654400" imgH="49796700" progId="GALLERYClipar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590801"/>
                        <a:ext cx="5734050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3810000" y="4191000"/>
            <a:ext cx="8699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18</a:t>
            </a:r>
          </a:p>
        </p:txBody>
      </p:sp>
      <p:sp>
        <p:nvSpPr>
          <p:cNvPr id="155654" name="Text Box 6"/>
          <p:cNvSpPr txBox="1">
            <a:spLocks noChangeArrowheads="1"/>
          </p:cNvSpPr>
          <p:nvPr/>
        </p:nvSpPr>
        <p:spPr bwMode="auto">
          <a:xfrm>
            <a:off x="7315200" y="4267200"/>
            <a:ext cx="18224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n   - 3</a:t>
            </a:r>
          </a:p>
        </p:txBody>
      </p:sp>
      <p:sp>
        <p:nvSpPr>
          <p:cNvPr id="155655" name="Oval 7"/>
          <p:cNvSpPr>
            <a:spLocks noChangeArrowheads="1"/>
          </p:cNvSpPr>
          <p:nvPr/>
        </p:nvSpPr>
        <p:spPr bwMode="auto">
          <a:xfrm>
            <a:off x="5638800" y="3429000"/>
            <a:ext cx="1143000" cy="990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=</a:t>
            </a:r>
          </a:p>
        </p:txBody>
      </p:sp>
      <p:sp>
        <p:nvSpPr>
          <p:cNvPr id="155656" name="Oval 8"/>
          <p:cNvSpPr>
            <a:spLocks noChangeArrowheads="1"/>
          </p:cNvSpPr>
          <p:nvPr/>
        </p:nvSpPr>
        <p:spPr bwMode="auto">
          <a:xfrm>
            <a:off x="7086600" y="426720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5400" b="1">
                <a:solidFill>
                  <a:schemeClr val="accent2"/>
                </a:solidFill>
                <a:latin typeface="Times New Roman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04898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0" grpId="0"/>
      <p:bldP spid="155656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09500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91222" y="1921365"/>
            <a:ext cx="60398" cy="423115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What are the steps involved in solving two-step algebraic equations?</a:t>
            </a:r>
            <a:endParaRPr lang="en-AU" sz="2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0" y="6152517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3471" y="6152517"/>
            <a:ext cx="1524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 </a:t>
            </a:r>
            <a:endParaRPr lang="en-US" sz="2400" dirty="0"/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2301686" y="2106317"/>
            <a:ext cx="8382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x-none" sz="4400" dirty="0" smtClean="0"/>
              <a:t>  To solve any equation, you want to get the </a:t>
            </a:r>
            <a:r>
              <a:rPr lang="en-US" altLang="x-none" sz="4400" dirty="0" smtClean="0">
                <a:solidFill>
                  <a:srgbClr val="FF0000"/>
                </a:solidFill>
                <a:latin typeface="Impact" charset="0"/>
              </a:rPr>
              <a:t>variable all by itself</a:t>
            </a:r>
            <a:r>
              <a:rPr lang="en-US" altLang="x-none" sz="4400" dirty="0" smtClean="0"/>
              <a:t>.  You get the variable alone by using inverse operations.  </a:t>
            </a:r>
          </a:p>
          <a:p>
            <a:pPr>
              <a:buFontTx/>
              <a:buNone/>
            </a:pPr>
            <a:endParaRPr lang="en-US" altLang="x-none" sz="4400" dirty="0" smtClean="0">
              <a:solidFill>
                <a:schemeClr val="tx2"/>
              </a:solidFill>
            </a:endParaRPr>
          </a:p>
          <a:p>
            <a:pPr>
              <a:buFontTx/>
              <a:buNone/>
            </a:pPr>
            <a:r>
              <a:rPr lang="en-US" altLang="x-none" sz="4000" dirty="0" smtClean="0">
                <a:solidFill>
                  <a:srgbClr val="FF0000"/>
                </a:solidFill>
              </a:rPr>
              <a:t>  </a:t>
            </a:r>
            <a:r>
              <a:rPr lang="en-US" altLang="x-none" sz="4000" dirty="0" smtClean="0">
                <a:solidFill>
                  <a:schemeClr val="accent2"/>
                </a:solidFill>
                <a:latin typeface="Impact" charset="0"/>
              </a:rPr>
              <a:t>Inverse Operations</a:t>
            </a:r>
            <a:r>
              <a:rPr lang="en-US" altLang="x-none" sz="4000" dirty="0" smtClean="0">
                <a:solidFill>
                  <a:schemeClr val="tx2"/>
                </a:solidFill>
              </a:rPr>
              <a:t> are like </a:t>
            </a:r>
            <a:r>
              <a:rPr lang="en-US" altLang="x-none" sz="4000" dirty="0" smtClean="0">
                <a:solidFill>
                  <a:schemeClr val="accent2"/>
                </a:solidFill>
                <a:latin typeface="Impact" charset="0"/>
              </a:rPr>
              <a:t>Opposites</a:t>
            </a:r>
            <a:r>
              <a:rPr lang="en-US" altLang="x-none" sz="4000" dirty="0" smtClean="0">
                <a:solidFill>
                  <a:schemeClr val="tx2"/>
                </a:solidFill>
                <a:latin typeface="Impact" charset="0"/>
              </a:rPr>
              <a:t>.</a:t>
            </a:r>
            <a:endParaRPr lang="en-US" altLang="x-none" sz="4000" dirty="0">
              <a:solidFill>
                <a:schemeClr val="tx2"/>
              </a:solidFill>
              <a:latin typeface="Impact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471" y="2106317"/>
            <a:ext cx="1697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Solving Two-Step</a:t>
            </a:r>
          </a:p>
          <a:p>
            <a:r>
              <a:rPr lang="en-US" sz="2800" b="1" dirty="0" smtClean="0"/>
              <a:t>Equations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7150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91222" y="1671506"/>
            <a:ext cx="37578" cy="51864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What are the steps involved in solving two-step algebraic equations?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93471" y="2106317"/>
            <a:ext cx="1697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Solving Two-Step</a:t>
            </a:r>
          </a:p>
          <a:p>
            <a:r>
              <a:rPr lang="en-US" sz="2800" b="1" dirty="0" smtClean="0"/>
              <a:t>Equations</a:t>
            </a:r>
            <a:endParaRPr lang="en-US" sz="2800" b="1" dirty="0"/>
          </a:p>
        </p:txBody>
      </p: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-526094" y="2454568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 dirty="0">
                <a:latin typeface="Times New Roman" charset="0"/>
              </a:rPr>
              <a:t>to one side of an equation,</a:t>
            </a: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-592899" y="1852820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 dirty="0">
                <a:latin typeface="Times New Roman" charset="0"/>
              </a:rPr>
              <a:t>When you do something</a:t>
            </a:r>
          </a:p>
        </p:txBody>
      </p:sp>
      <p:graphicFrame>
        <p:nvGraphicFramePr>
          <p:cNvPr id="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573727"/>
              </p:ext>
            </p:extLst>
          </p:nvPr>
        </p:nvGraphicFramePr>
        <p:xfrm>
          <a:off x="2611850" y="4010129"/>
          <a:ext cx="25781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7" name="Equation" r:id="rId3" imgW="2577960" imgH="622080" progId="Equation.3">
                  <p:embed/>
                </p:oleObj>
              </mc:Choice>
              <mc:Fallback>
                <p:oleObj name="Equation" r:id="rId3" imgW="257796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850" y="4010129"/>
                        <a:ext cx="25781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655598"/>
              </p:ext>
            </p:extLst>
          </p:nvPr>
        </p:nvGraphicFramePr>
        <p:xfrm>
          <a:off x="3030729" y="4875000"/>
          <a:ext cx="10668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8" name="Equation" r:id="rId5" imgW="190440" imgH="164880" progId="Equation.DSMT4">
                  <p:embed/>
                </p:oleObj>
              </mc:Choice>
              <mc:Fallback>
                <p:oleObj name="Equation" r:id="rId5" imgW="1904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729" y="4875000"/>
                        <a:ext cx="106680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146235"/>
              </p:ext>
            </p:extLst>
          </p:nvPr>
        </p:nvGraphicFramePr>
        <p:xfrm>
          <a:off x="7765046" y="4010129"/>
          <a:ext cx="25781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9" name="Equation" r:id="rId7" imgW="2577960" imgH="622080" progId="Equation.3">
                  <p:embed/>
                </p:oleObj>
              </mc:Choice>
              <mc:Fallback>
                <p:oleObj name="Equation" r:id="rId7" imgW="257796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5046" y="4010129"/>
                        <a:ext cx="25781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628559"/>
              </p:ext>
            </p:extLst>
          </p:nvPr>
        </p:nvGraphicFramePr>
        <p:xfrm>
          <a:off x="8146046" y="4695930"/>
          <a:ext cx="10668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0" name="Equation" r:id="rId8" imgW="190440" imgH="164880" progId="Equation.DSMT4">
                  <p:embed/>
                </p:oleObj>
              </mc:Choice>
              <mc:Fallback>
                <p:oleObj name="Equation" r:id="rId8" imgW="1904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6046" y="4695930"/>
                        <a:ext cx="106680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010710"/>
              </p:ext>
            </p:extLst>
          </p:nvPr>
        </p:nvGraphicFramePr>
        <p:xfrm>
          <a:off x="9441446" y="4695930"/>
          <a:ext cx="10668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1" name="Equation" r:id="rId9" imgW="190440" imgH="164880" progId="Equation.DSMT4">
                  <p:embed/>
                </p:oleObj>
              </mc:Choice>
              <mc:Fallback>
                <p:oleObj name="Equation" r:id="rId9" imgW="1904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1446" y="4695930"/>
                        <a:ext cx="106680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9"/>
          <p:cNvSpPr>
            <a:spLocks noChangeShapeType="1"/>
          </p:cNvSpPr>
          <p:nvPr/>
        </p:nvSpPr>
        <p:spPr bwMode="auto">
          <a:xfrm>
            <a:off x="7993646" y="5546829"/>
            <a:ext cx="2590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908808"/>
              </p:ext>
            </p:extLst>
          </p:nvPr>
        </p:nvGraphicFramePr>
        <p:xfrm>
          <a:off x="8603246" y="5762729"/>
          <a:ext cx="1574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2" name="Equation" r:id="rId11" imgW="1574640" imgH="622080" progId="Equation.3">
                  <p:embed/>
                </p:oleObj>
              </mc:Choice>
              <mc:Fallback>
                <p:oleObj name="Equation" r:id="rId11" imgW="157464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3246" y="5762729"/>
                        <a:ext cx="1574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11"/>
          <p:cNvSpPr>
            <a:spLocks noChangeShapeType="1"/>
          </p:cNvSpPr>
          <p:nvPr/>
        </p:nvSpPr>
        <p:spPr bwMode="auto">
          <a:xfrm flipH="1">
            <a:off x="3445701" y="4010129"/>
            <a:ext cx="533400" cy="1676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4588701" y="1710055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 dirty="0">
                <a:latin typeface="Times New Roman" charset="0"/>
              </a:rPr>
              <a:t>you have to do </a:t>
            </a:r>
            <a:r>
              <a:rPr lang="en-US" altLang="x-none" sz="2800" b="1" dirty="0">
                <a:solidFill>
                  <a:srgbClr val="FF0000"/>
                </a:solidFill>
                <a:latin typeface="Times New Roman" charset="0"/>
              </a:rPr>
              <a:t>exactly</a:t>
            </a:r>
            <a:endParaRPr lang="en-US" altLang="x-none" sz="2800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34" name="Text Box 6"/>
          <p:cNvSpPr txBox="1">
            <a:spLocks noChangeArrowheads="1"/>
          </p:cNvSpPr>
          <p:nvPr/>
        </p:nvSpPr>
        <p:spPr bwMode="auto">
          <a:xfrm>
            <a:off x="4588701" y="2319655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 dirty="0">
                <a:latin typeface="Times New Roman" charset="0"/>
              </a:rPr>
              <a:t>the same thing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4588701" y="3005455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 dirty="0">
                <a:latin typeface="Times New Roman" charset="0"/>
              </a:rPr>
              <a:t>to the other side.</a:t>
            </a:r>
          </a:p>
        </p:txBody>
      </p:sp>
      <p:sp>
        <p:nvSpPr>
          <p:cNvPr id="44" name="Line 11"/>
          <p:cNvSpPr>
            <a:spLocks noChangeShapeType="1"/>
          </p:cNvSpPr>
          <p:nvPr/>
        </p:nvSpPr>
        <p:spPr bwMode="auto">
          <a:xfrm flipH="1">
            <a:off x="8609555" y="3943455"/>
            <a:ext cx="533400" cy="1676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1"/>
          <p:cNvSpPr>
            <a:spLocks noChangeShapeType="1"/>
          </p:cNvSpPr>
          <p:nvPr/>
        </p:nvSpPr>
        <p:spPr bwMode="auto">
          <a:xfrm flipH="1">
            <a:off x="9727503" y="3870429"/>
            <a:ext cx="533400" cy="1676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6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9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00"/>
                            </p:stCondLst>
                            <p:childTnLst>
                              <p:par>
                                <p:cTn id="94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9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9" grpId="1" animBg="1"/>
      <p:bldP spid="31" grpId="0" animBg="1"/>
      <p:bldP spid="32" grpId="0" autoUpdateAnimBg="0"/>
      <p:bldP spid="34" grpId="0" autoUpdateAnimBg="0"/>
      <p:bldP spid="36" grpId="0" autoUpdateAnimBg="0"/>
      <p:bldP spid="44" grpId="0" animBg="1"/>
      <p:bldP spid="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7150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91222" y="1671506"/>
            <a:ext cx="37578" cy="51864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What are the steps involved in solving two-step algebraic equations?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106317"/>
            <a:ext cx="1697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Solving Two-Step</a:t>
            </a:r>
          </a:p>
          <a:p>
            <a:r>
              <a:rPr lang="en-US" sz="2800" b="1" dirty="0" smtClean="0"/>
              <a:t>Equations</a:t>
            </a:r>
            <a:endParaRPr lang="en-US" sz="2800" b="1" dirty="0"/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2781822" y="1944718"/>
            <a:ext cx="8229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 cap="rnd">
                <a:solidFill>
                  <a:srgbClr val="339966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 dirty="0">
                <a:latin typeface="Times New Roman" charset="0"/>
              </a:rPr>
              <a:t>1) Undo the </a:t>
            </a:r>
            <a:r>
              <a:rPr lang="en-US" altLang="x-none" sz="4000" dirty="0">
                <a:solidFill>
                  <a:srgbClr val="FF0000"/>
                </a:solidFill>
                <a:latin typeface="Impact" charset="0"/>
              </a:rPr>
              <a:t>addition or subtraction</a:t>
            </a:r>
            <a:r>
              <a:rPr lang="en-US" altLang="x-none" sz="4000" dirty="0">
                <a:latin typeface="Times New Roman" charset="0"/>
              </a:rPr>
              <a:t> operation </a:t>
            </a:r>
            <a:r>
              <a:rPr lang="en-US" altLang="x-none" sz="4000" b="1" dirty="0">
                <a:solidFill>
                  <a:srgbClr val="FF0000"/>
                </a:solidFill>
                <a:latin typeface="Impact" charset="0"/>
              </a:rPr>
              <a:t>first</a:t>
            </a:r>
            <a:r>
              <a:rPr lang="en-US" altLang="x-none" sz="4000" dirty="0">
                <a:latin typeface="Times New Roman" charset="0"/>
              </a:rPr>
              <a:t>, by using inverse  operations.</a:t>
            </a: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2858022" y="4383118"/>
            <a:ext cx="8305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 cap="rnd">
                <a:solidFill>
                  <a:srgbClr val="339966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 dirty="0">
                <a:latin typeface="Times New Roman" charset="0"/>
              </a:rPr>
              <a:t>2) Undo the </a:t>
            </a:r>
            <a:r>
              <a:rPr lang="en-US" altLang="x-none" sz="4000" dirty="0">
                <a:solidFill>
                  <a:srgbClr val="0066CC"/>
                </a:solidFill>
                <a:latin typeface="Impact" charset="0"/>
              </a:rPr>
              <a:t>multiplication or division</a:t>
            </a:r>
            <a:r>
              <a:rPr lang="en-US" altLang="x-none" sz="4000" b="1" dirty="0">
                <a:solidFill>
                  <a:srgbClr val="009900"/>
                </a:solidFill>
                <a:latin typeface="Times New Roman" charset="0"/>
              </a:rPr>
              <a:t> </a:t>
            </a:r>
            <a:r>
              <a:rPr lang="en-US" altLang="x-none" sz="4000" dirty="0">
                <a:latin typeface="Times New Roman" charset="0"/>
              </a:rPr>
              <a:t>operation</a:t>
            </a:r>
            <a:r>
              <a:rPr lang="en-US" altLang="x-none" sz="4000" b="1" dirty="0">
                <a:solidFill>
                  <a:srgbClr val="009900"/>
                </a:solidFill>
                <a:latin typeface="Times New Roman" charset="0"/>
              </a:rPr>
              <a:t> </a:t>
            </a:r>
            <a:r>
              <a:rPr lang="en-US" altLang="x-none" sz="4000" dirty="0">
                <a:solidFill>
                  <a:srgbClr val="0066CC"/>
                </a:solidFill>
                <a:latin typeface="Impact" charset="0"/>
              </a:rPr>
              <a:t>second</a:t>
            </a:r>
            <a:r>
              <a:rPr lang="en-US" altLang="x-none" sz="4000" dirty="0">
                <a:latin typeface="Times New Roman" charset="0"/>
              </a:rPr>
              <a:t>, by using inverse operations.</a:t>
            </a:r>
          </a:p>
        </p:txBody>
      </p:sp>
    </p:spTree>
    <p:extLst>
      <p:ext uri="{BB962C8B-B14F-4D97-AF65-F5344CB8AC3E}">
        <p14:creationId xmlns:p14="http://schemas.microsoft.com/office/powerpoint/2010/main" val="192459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7150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91222" y="1671506"/>
            <a:ext cx="37578" cy="51864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What are the steps involved in solving two-step algebraic equations?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106317"/>
            <a:ext cx="1697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Solving Two-Step</a:t>
            </a:r>
          </a:p>
          <a:p>
            <a:r>
              <a:rPr lang="en-US" sz="2800" b="1" dirty="0" smtClean="0"/>
              <a:t>Equations</a:t>
            </a:r>
            <a:endParaRPr lang="en-US" sz="2800" b="1" dirty="0"/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859022" y="1802845"/>
            <a:ext cx="50955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x-none" sz="5400" smtClean="0">
                <a:latin typeface="Impact" charset="0"/>
              </a:rPr>
              <a:t>Solve: 3x </a:t>
            </a:r>
            <a:r>
              <a:rPr lang="en-US" altLang="x-none" sz="5400" b="1">
                <a:latin typeface="Impact" charset="0"/>
              </a:rPr>
              <a:t>+</a:t>
            </a:r>
            <a:r>
              <a:rPr lang="en-US" altLang="x-none" sz="5400">
                <a:latin typeface="Impact" charset="0"/>
              </a:rPr>
              <a:t> 4 </a:t>
            </a:r>
            <a:r>
              <a:rPr lang="en-US" altLang="x-none" sz="5400" b="1">
                <a:latin typeface="Impact" charset="0"/>
              </a:rPr>
              <a:t>=</a:t>
            </a:r>
            <a:r>
              <a:rPr lang="en-US" altLang="x-none" sz="5400">
                <a:latin typeface="Impact" charset="0"/>
              </a:rPr>
              <a:t> 16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6435275" y="4070751"/>
            <a:ext cx="4364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x-none" sz="2400" dirty="0">
                <a:latin typeface="Times New Roman" charset="0"/>
              </a:rPr>
              <a:t> Undo </a:t>
            </a:r>
            <a:r>
              <a:rPr lang="en-US" altLang="x-none" sz="2400" dirty="0">
                <a:solidFill>
                  <a:srgbClr val="FF0000"/>
                </a:solidFill>
                <a:latin typeface="Impact" charset="0"/>
              </a:rPr>
              <a:t>Addition</a:t>
            </a:r>
            <a:r>
              <a:rPr lang="en-US" altLang="x-none" sz="2400" dirty="0">
                <a:latin typeface="Times New Roman" charset="0"/>
              </a:rPr>
              <a:t> or </a:t>
            </a:r>
            <a:r>
              <a:rPr lang="en-US" altLang="x-none" sz="2400" dirty="0">
                <a:solidFill>
                  <a:srgbClr val="FF0000"/>
                </a:solidFill>
                <a:latin typeface="Impact" charset="0"/>
              </a:rPr>
              <a:t>Subtraction</a:t>
            </a:r>
            <a:r>
              <a:rPr lang="en-US" altLang="x-none" sz="2400" dirty="0">
                <a:latin typeface="Times New Roman" charset="0"/>
              </a:rPr>
              <a:t> 1</a:t>
            </a:r>
            <a:r>
              <a:rPr lang="en-US" altLang="x-none" sz="2400" baseline="30000" dirty="0">
                <a:latin typeface="Times New Roman" charset="0"/>
              </a:rPr>
              <a:t>st</a:t>
            </a:r>
            <a:r>
              <a:rPr lang="en-US" altLang="x-none" sz="2400" dirty="0">
                <a:latin typeface="Times New Roman" charset="0"/>
              </a:rPr>
              <a:t> </a:t>
            </a:r>
          </a:p>
        </p:txBody>
      </p:sp>
      <p:sp>
        <p:nvSpPr>
          <p:cNvPr id="18" name="Text Box 52"/>
          <p:cNvSpPr txBox="1">
            <a:spLocks noChangeArrowheads="1"/>
          </p:cNvSpPr>
          <p:nvPr/>
        </p:nvSpPr>
        <p:spPr bwMode="auto">
          <a:xfrm>
            <a:off x="3236722" y="3643712"/>
            <a:ext cx="2070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x-none" sz="3200" dirty="0">
                <a:latin typeface="Times New Roman" charset="0"/>
              </a:rPr>
              <a:t>3x </a:t>
            </a:r>
            <a:r>
              <a:rPr lang="en-US" altLang="x-none" sz="3200" b="1" dirty="0">
                <a:latin typeface="Times New Roman" charset="0"/>
              </a:rPr>
              <a:t>+</a:t>
            </a:r>
            <a:r>
              <a:rPr lang="en-US" altLang="x-none" sz="3200" dirty="0">
                <a:latin typeface="Times New Roman" charset="0"/>
              </a:rPr>
              <a:t> 4 </a:t>
            </a:r>
            <a:r>
              <a:rPr lang="en-US" altLang="x-none" sz="3200" b="1" dirty="0">
                <a:latin typeface="Times New Roman" charset="0"/>
              </a:rPr>
              <a:t>=</a:t>
            </a:r>
            <a:r>
              <a:rPr lang="en-US" altLang="x-none" sz="3200" dirty="0">
                <a:latin typeface="Times New Roman" charset="0"/>
              </a:rPr>
              <a:t> 16</a:t>
            </a:r>
          </a:p>
        </p:txBody>
      </p:sp>
      <p:sp>
        <p:nvSpPr>
          <p:cNvPr id="19" name="Text Box 53"/>
          <p:cNvSpPr txBox="1">
            <a:spLocks noChangeArrowheads="1"/>
          </p:cNvSpPr>
          <p:nvPr/>
        </p:nvSpPr>
        <p:spPr bwMode="auto">
          <a:xfrm>
            <a:off x="3951098" y="4070751"/>
            <a:ext cx="12668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3200" dirty="0">
                <a:solidFill>
                  <a:schemeClr val="accent2"/>
                </a:solidFill>
                <a:latin typeface="Times New Roman" charset="0"/>
              </a:rPr>
              <a:t>-4    -4</a:t>
            </a:r>
          </a:p>
        </p:txBody>
      </p:sp>
      <p:sp>
        <p:nvSpPr>
          <p:cNvPr id="20" name="Line 54"/>
          <p:cNvSpPr>
            <a:spLocks noChangeShapeType="1"/>
          </p:cNvSpPr>
          <p:nvPr/>
        </p:nvSpPr>
        <p:spPr bwMode="auto">
          <a:xfrm>
            <a:off x="3325622" y="4591450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55"/>
          <p:cNvSpPr txBox="1">
            <a:spLocks noChangeArrowheads="1"/>
          </p:cNvSpPr>
          <p:nvPr/>
        </p:nvSpPr>
        <p:spPr bwMode="auto">
          <a:xfrm>
            <a:off x="3859022" y="4634312"/>
            <a:ext cx="1460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x-none" sz="3200">
                <a:latin typeface="Times New Roman" charset="0"/>
              </a:rPr>
              <a:t>3x </a:t>
            </a:r>
            <a:r>
              <a:rPr lang="en-US" altLang="x-none" sz="3200" b="1">
                <a:latin typeface="Times New Roman" charset="0"/>
              </a:rPr>
              <a:t>=</a:t>
            </a:r>
            <a:r>
              <a:rPr lang="en-US" altLang="x-none" sz="3200">
                <a:latin typeface="Times New Roman" charset="0"/>
              </a:rPr>
              <a:t> 12</a:t>
            </a:r>
          </a:p>
        </p:txBody>
      </p:sp>
      <p:sp>
        <p:nvSpPr>
          <p:cNvPr id="22" name="Line 56"/>
          <p:cNvSpPr>
            <a:spLocks noChangeShapeType="1"/>
          </p:cNvSpPr>
          <p:nvPr/>
        </p:nvSpPr>
        <p:spPr bwMode="auto">
          <a:xfrm>
            <a:off x="3859022" y="513755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57"/>
          <p:cNvSpPr>
            <a:spLocks noChangeShapeType="1"/>
          </p:cNvSpPr>
          <p:nvPr/>
        </p:nvSpPr>
        <p:spPr bwMode="auto">
          <a:xfrm>
            <a:off x="4760722" y="513755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Text Box 58"/>
          <p:cNvSpPr txBox="1">
            <a:spLocks noChangeArrowheads="1"/>
          </p:cNvSpPr>
          <p:nvPr/>
        </p:nvSpPr>
        <p:spPr bwMode="auto">
          <a:xfrm>
            <a:off x="3935222" y="5080401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3200">
                <a:solidFill>
                  <a:schemeClr val="accent2"/>
                </a:solidFill>
                <a:latin typeface="Times New Roman" charset="0"/>
              </a:rPr>
              <a:t>3</a:t>
            </a:r>
          </a:p>
        </p:txBody>
      </p:sp>
      <p:sp>
        <p:nvSpPr>
          <p:cNvPr id="25" name="Text Box 59"/>
          <p:cNvSpPr txBox="1">
            <a:spLocks noChangeArrowheads="1"/>
          </p:cNvSpPr>
          <p:nvPr/>
        </p:nvSpPr>
        <p:spPr bwMode="auto">
          <a:xfrm>
            <a:off x="4786122" y="5086751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3200">
                <a:solidFill>
                  <a:schemeClr val="accent2"/>
                </a:solidFill>
                <a:latin typeface="Times New Roman" charset="0"/>
              </a:rPr>
              <a:t>3</a:t>
            </a:r>
          </a:p>
        </p:txBody>
      </p:sp>
      <p:sp>
        <p:nvSpPr>
          <p:cNvPr id="26" name="Text Box 60"/>
          <p:cNvSpPr txBox="1">
            <a:spLocks noChangeArrowheads="1"/>
          </p:cNvSpPr>
          <p:nvPr/>
        </p:nvSpPr>
        <p:spPr bwMode="auto">
          <a:xfrm>
            <a:off x="4074922" y="5701112"/>
            <a:ext cx="1460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x-none" sz="3200">
                <a:latin typeface="Times New Roman" charset="0"/>
              </a:rPr>
              <a:t>x </a:t>
            </a:r>
            <a:r>
              <a:rPr lang="en-US" altLang="x-none" sz="3200" b="1">
                <a:latin typeface="Times New Roman" charset="0"/>
              </a:rPr>
              <a:t>=</a:t>
            </a:r>
            <a:r>
              <a:rPr lang="en-US" altLang="x-none" sz="3200">
                <a:latin typeface="Times New Roman" charset="0"/>
              </a:rPr>
              <a:t> 4</a:t>
            </a:r>
          </a:p>
        </p:txBody>
      </p:sp>
      <p:sp>
        <p:nvSpPr>
          <p:cNvPr id="27" name="Oval 61"/>
          <p:cNvSpPr>
            <a:spLocks noChangeArrowheads="1"/>
          </p:cNvSpPr>
          <p:nvPr/>
        </p:nvSpPr>
        <p:spPr bwMode="auto">
          <a:xfrm>
            <a:off x="3782822" y="5747150"/>
            <a:ext cx="1676400" cy="533400"/>
          </a:xfrm>
          <a:prstGeom prst="ellipse">
            <a:avLst/>
          </a:prstGeom>
          <a:noFill/>
          <a:ln w="38100" cap="rnd">
            <a:solidFill>
              <a:srgbClr val="006699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62"/>
          <p:cNvSpPr>
            <a:spLocks noChangeShapeType="1"/>
          </p:cNvSpPr>
          <p:nvPr/>
        </p:nvSpPr>
        <p:spPr bwMode="auto">
          <a:xfrm>
            <a:off x="4151122" y="3689750"/>
            <a:ext cx="228600" cy="91440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63"/>
          <p:cNvSpPr>
            <a:spLocks noChangeShapeType="1"/>
          </p:cNvSpPr>
          <p:nvPr/>
        </p:nvSpPr>
        <p:spPr bwMode="auto">
          <a:xfrm>
            <a:off x="3998722" y="4680350"/>
            <a:ext cx="152400" cy="91440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6435275" y="5112105"/>
            <a:ext cx="4900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x-none" sz="2400" dirty="0">
                <a:latin typeface="Times New Roman" charset="0"/>
              </a:rPr>
              <a:t> Undo </a:t>
            </a:r>
            <a:r>
              <a:rPr lang="en-US" altLang="x-none" sz="2400" dirty="0" smtClean="0">
                <a:solidFill>
                  <a:srgbClr val="FF0000"/>
                </a:solidFill>
                <a:latin typeface="Impact" charset="0"/>
              </a:rPr>
              <a:t>Multiplication</a:t>
            </a:r>
            <a:r>
              <a:rPr lang="en-US" altLang="x-none" sz="2400" dirty="0" smtClean="0">
                <a:latin typeface="Times New Roman" charset="0"/>
              </a:rPr>
              <a:t> </a:t>
            </a:r>
            <a:r>
              <a:rPr lang="en-US" altLang="x-none" sz="2400" dirty="0">
                <a:latin typeface="Times New Roman" charset="0"/>
              </a:rPr>
              <a:t>or </a:t>
            </a:r>
            <a:r>
              <a:rPr lang="en-US" altLang="x-none" sz="2400" dirty="0" smtClean="0">
                <a:solidFill>
                  <a:srgbClr val="FF0000"/>
                </a:solidFill>
                <a:latin typeface="Impact" charset="0"/>
              </a:rPr>
              <a:t>Division </a:t>
            </a:r>
            <a:r>
              <a:rPr lang="en-US" altLang="x-none" sz="2400" dirty="0" smtClean="0">
                <a:latin typeface="Times New Roman" charset="0"/>
              </a:rPr>
              <a:t>2</a:t>
            </a:r>
            <a:r>
              <a:rPr lang="en-US" altLang="x-none" sz="2400" baseline="30000" dirty="0" smtClean="0">
                <a:latin typeface="Times New Roman" charset="0"/>
              </a:rPr>
              <a:t>nd</a:t>
            </a:r>
            <a:r>
              <a:rPr lang="en-US" altLang="x-none" sz="2400" dirty="0" smtClean="0">
                <a:latin typeface="Times New Roman" charset="0"/>
              </a:rPr>
              <a:t> </a:t>
            </a:r>
            <a:endParaRPr lang="en-US" altLang="x-none" sz="2400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626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 autoUpdateAnimBg="0"/>
      <p:bldP spid="20" grpId="0" animBg="1"/>
      <p:bldP spid="21" grpId="0" autoUpdateAnimBg="0"/>
      <p:bldP spid="22" grpId="0" animBg="1"/>
      <p:bldP spid="23" grpId="0" animBg="1"/>
      <p:bldP spid="24" grpId="0" autoUpdateAnimBg="0"/>
      <p:bldP spid="25" grpId="0" autoUpdateAnimBg="0"/>
      <p:bldP spid="26" grpId="0" autoUpdateAnimBg="0"/>
      <p:bldP spid="27" grpId="0" animBg="1"/>
      <p:bldP spid="28" grpId="0" animBg="1"/>
      <p:bldP spid="29" grpId="0" animBg="1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7150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91222" y="1671506"/>
            <a:ext cx="37578" cy="51864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What are the steps involved in solving two-step algebraic equations?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106317"/>
            <a:ext cx="1697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To Review</a:t>
            </a:r>
            <a:endParaRPr lang="en-US" sz="2800" b="1" dirty="0"/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314166" y="1962890"/>
            <a:ext cx="13853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800" dirty="0">
                <a:latin typeface="Times New Roman" charset="0"/>
              </a:rPr>
              <a:t>1)</a:t>
            </a:r>
            <a:r>
              <a:rPr lang="en-US" altLang="x-none" sz="2800" dirty="0">
                <a:solidFill>
                  <a:srgbClr val="CC0000"/>
                </a:solidFill>
                <a:latin typeface="Times New Roman" charset="0"/>
              </a:rPr>
              <a:t> </a:t>
            </a:r>
            <a:r>
              <a:rPr lang="en-US" altLang="x-none" sz="2800" dirty="0">
                <a:solidFill>
                  <a:srgbClr val="FF0000"/>
                </a:solidFill>
                <a:latin typeface="Impact" charset="0"/>
              </a:rPr>
              <a:t>GOAL</a:t>
            </a:r>
            <a:r>
              <a:rPr lang="en-US" altLang="x-none" sz="2800" dirty="0">
                <a:latin typeface="Times New Roman" charset="0"/>
              </a:rPr>
              <a:t>: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699482" y="2072334"/>
            <a:ext cx="4307589" cy="741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75000"/>
              </a:lnSpc>
            </a:pPr>
            <a:r>
              <a:rPr lang="en-US" altLang="x-none" sz="2800">
                <a:solidFill>
                  <a:srgbClr val="FF0000"/>
                </a:solidFill>
                <a:latin typeface="Impact" charset="0"/>
              </a:rPr>
              <a:t>Get the variable</a:t>
            </a:r>
            <a:r>
              <a:rPr lang="en-US" altLang="x-none" sz="2800">
                <a:latin typeface="Times New Roman" charset="0"/>
              </a:rPr>
              <a:t> on one side </a:t>
            </a:r>
          </a:p>
          <a:p>
            <a:pPr eaLnBrk="0" hangingPunct="0">
              <a:lnSpc>
                <a:spcPct val="75000"/>
              </a:lnSpc>
            </a:pPr>
            <a:r>
              <a:rPr lang="en-US" altLang="x-none" sz="2800" dirty="0">
                <a:latin typeface="Times New Roman" charset="0"/>
              </a:rPr>
              <a:t>of the equation.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301686" y="2956068"/>
            <a:ext cx="6778330" cy="7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75000"/>
              </a:lnSpc>
            </a:pPr>
            <a:r>
              <a:rPr lang="en-US" altLang="x-none" sz="2800">
                <a:latin typeface="Times New Roman" charset="0"/>
              </a:rPr>
              <a:t>2) You always perform the </a:t>
            </a:r>
            <a:r>
              <a:rPr lang="en-US" altLang="x-none" sz="2800">
                <a:solidFill>
                  <a:srgbClr val="9900FF"/>
                </a:solidFill>
                <a:latin typeface="Impact" charset="0"/>
              </a:rPr>
              <a:t>same operation</a:t>
            </a:r>
            <a:r>
              <a:rPr lang="en-US" altLang="x-none" sz="2800">
                <a:latin typeface="Times New Roman" charset="0"/>
              </a:rPr>
              <a:t> to</a:t>
            </a:r>
          </a:p>
          <a:p>
            <a:pPr eaLnBrk="0" hangingPunct="0">
              <a:lnSpc>
                <a:spcPct val="75000"/>
              </a:lnSpc>
            </a:pPr>
            <a:r>
              <a:rPr lang="en-US" altLang="x-none" sz="2800" dirty="0">
                <a:solidFill>
                  <a:srgbClr val="9900FF"/>
                </a:solidFill>
                <a:latin typeface="Impact" charset="0"/>
              </a:rPr>
              <a:t>both sides</a:t>
            </a:r>
            <a:r>
              <a:rPr lang="en-US" altLang="x-none" sz="2800" dirty="0">
                <a:latin typeface="Times New Roman" charset="0"/>
              </a:rPr>
              <a:t> of an equation.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2301686" y="4095497"/>
            <a:ext cx="8153400" cy="7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75000"/>
              </a:lnSpc>
            </a:pPr>
            <a:r>
              <a:rPr lang="en-US" altLang="x-none" sz="2800">
                <a:latin typeface="Times New Roman" charset="0"/>
              </a:rPr>
              <a:t>3) To undo an operation you perform its </a:t>
            </a:r>
            <a:r>
              <a:rPr lang="en-US" altLang="x-none" sz="2800">
                <a:solidFill>
                  <a:schemeClr val="accent2"/>
                </a:solidFill>
                <a:latin typeface="Impact" charset="0"/>
              </a:rPr>
              <a:t>opposite operation</a:t>
            </a:r>
            <a:r>
              <a:rPr lang="en-US" altLang="x-none" sz="2800">
                <a:latin typeface="Times New Roman" charset="0"/>
              </a:rPr>
              <a:t> to both sides of the equation.</a:t>
            </a: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301686" y="5234926"/>
            <a:ext cx="8643938" cy="7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75000"/>
              </a:lnSpc>
            </a:pPr>
            <a:r>
              <a:rPr lang="en-US" altLang="x-none" sz="2800" dirty="0">
                <a:latin typeface="Times New Roman" charset="0"/>
              </a:rPr>
              <a:t>4) It is easier if you undo </a:t>
            </a:r>
            <a:r>
              <a:rPr lang="en-US" altLang="x-none" sz="2800" dirty="0">
                <a:solidFill>
                  <a:srgbClr val="CC0000"/>
                </a:solidFill>
                <a:latin typeface="Impact" charset="0"/>
              </a:rPr>
              <a:t>addition or subtraction</a:t>
            </a:r>
            <a:r>
              <a:rPr lang="en-US" altLang="x-none" sz="2800" dirty="0">
                <a:latin typeface="Times New Roman" charset="0"/>
              </a:rPr>
              <a:t> before you undo </a:t>
            </a:r>
            <a:r>
              <a:rPr lang="en-US" altLang="x-none" sz="2800" dirty="0">
                <a:solidFill>
                  <a:srgbClr val="CC0000"/>
                </a:solidFill>
                <a:latin typeface="Impact" charset="0"/>
              </a:rPr>
              <a:t>multiplication or division.</a:t>
            </a:r>
            <a:endParaRPr lang="en-US" altLang="x-none" sz="2800" dirty="0">
              <a:solidFill>
                <a:srgbClr val="CC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51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7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770" decel="100000"/>
                                        <p:tgtEl>
                                          <p:spTgt spid="1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7" dur="7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" dur="7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7150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91222" y="1671506"/>
            <a:ext cx="37578" cy="51864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What are the steps involved in solving two-step algebraic equations?</a:t>
            </a:r>
            <a:endParaRPr lang="en-AU" sz="2400" dirty="0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2799567" y="1782846"/>
            <a:ext cx="4038600" cy="7778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x-none" smtClean="0">
                <a:solidFill>
                  <a:schemeClr val="tx2"/>
                </a:solidFill>
              </a:rPr>
              <a:t>  </a:t>
            </a:r>
            <a:r>
              <a:rPr lang="en-US" altLang="x-none" sz="4000" smtClean="0">
                <a:solidFill>
                  <a:schemeClr val="tx2"/>
                </a:solidFill>
              </a:rPr>
              <a:t>2x</a:t>
            </a:r>
            <a:r>
              <a:rPr lang="en-US" altLang="x-none" sz="4000" smtClean="0"/>
              <a:t> + </a:t>
            </a:r>
            <a:r>
              <a:rPr lang="en-US" altLang="x-none" sz="4000" smtClean="0">
                <a:solidFill>
                  <a:schemeClr val="tx2"/>
                </a:solidFill>
              </a:rPr>
              <a:t>4 = 10 	</a:t>
            </a:r>
            <a:endParaRPr lang="en-US" altLang="x-none" sz="4000">
              <a:solidFill>
                <a:schemeClr val="tx2"/>
              </a:solidFill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6152367" y="1782845"/>
            <a:ext cx="426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3200">
                <a:latin typeface="Times New Roman" charset="0"/>
              </a:rPr>
              <a:t> Get the variable alone.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2875767" y="2392446"/>
            <a:ext cx="2927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600">
                <a:solidFill>
                  <a:srgbClr val="9900CC"/>
                </a:solidFill>
                <a:latin typeface="Times New Roman" charset="0"/>
              </a:rPr>
              <a:t>       </a:t>
            </a:r>
            <a:r>
              <a:rPr lang="en-US" altLang="x-none" sz="4000">
                <a:solidFill>
                  <a:srgbClr val="9900CC"/>
                </a:solidFill>
                <a:latin typeface="Times New Roman" charset="0"/>
              </a:rPr>
              <a:t>- 4     - 4</a:t>
            </a:r>
            <a:r>
              <a:rPr lang="en-US" altLang="x-none" sz="4000">
                <a:solidFill>
                  <a:schemeClr val="tx2"/>
                </a:solidFill>
                <a:latin typeface="Times New Roman" charset="0"/>
              </a:rPr>
              <a:t> 	</a:t>
            </a:r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2799567" y="3154445"/>
            <a:ext cx="2743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3256767" y="3078246"/>
            <a:ext cx="2209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000">
                <a:solidFill>
                  <a:schemeClr val="tx2"/>
                </a:solidFill>
                <a:latin typeface="Times New Roman" charset="0"/>
              </a:rPr>
              <a:t>2x</a:t>
            </a:r>
            <a:r>
              <a:rPr lang="en-US" altLang="x-none" sz="4000">
                <a:latin typeface="Times New Roman" charset="0"/>
              </a:rPr>
              <a:t> </a:t>
            </a:r>
            <a:r>
              <a:rPr lang="en-US" altLang="x-none" sz="4000">
                <a:solidFill>
                  <a:schemeClr val="tx2"/>
                </a:solidFill>
                <a:latin typeface="Times New Roman" charset="0"/>
              </a:rPr>
              <a:t>    = 6 	</a:t>
            </a:r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 flipH="1">
            <a:off x="4094967" y="1859045"/>
            <a:ext cx="304800" cy="1219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6228567" y="3230645"/>
            <a:ext cx="35067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+4 and </a:t>
            </a:r>
            <a:r>
              <a:rPr lang="en-US" altLang="x-none" sz="3200">
                <a:solidFill>
                  <a:srgbClr val="FF0000"/>
                </a:solidFill>
                <a:latin typeface="Times New Roman" charset="0"/>
              </a:rPr>
              <a:t>-4</a:t>
            </a:r>
            <a:r>
              <a:rPr lang="en-US" altLang="x-none" sz="3200">
                <a:latin typeface="Times New Roman" charset="0"/>
              </a:rPr>
              <a:t> cancel out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3256767" y="3078246"/>
            <a:ext cx="2286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000">
                <a:solidFill>
                  <a:schemeClr val="tx2"/>
                </a:solidFill>
                <a:latin typeface="Times New Roman" charset="0"/>
              </a:rPr>
              <a:t>__        __    </a:t>
            </a:r>
            <a:r>
              <a:rPr lang="en-US" altLang="x-none" sz="4000">
                <a:solidFill>
                  <a:srgbClr val="9900CC"/>
                </a:solidFill>
                <a:latin typeface="Times New Roman" charset="0"/>
              </a:rPr>
              <a:t>2           2</a:t>
            </a: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6304767" y="3916445"/>
            <a:ext cx="3843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Divide both sides by 2</a:t>
            </a:r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3332967" y="4373646"/>
            <a:ext cx="2209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>
                <a:latin typeface="Times New Roman" charset="0"/>
              </a:rPr>
              <a:t> x      = 3</a:t>
            </a:r>
          </a:p>
        </p:txBody>
      </p:sp>
      <p:sp>
        <p:nvSpPr>
          <p:cNvPr id="22" name="Line 13"/>
          <p:cNvSpPr>
            <a:spLocks noChangeShapeType="1"/>
          </p:cNvSpPr>
          <p:nvPr/>
        </p:nvSpPr>
        <p:spPr bwMode="auto">
          <a:xfrm>
            <a:off x="3409167" y="3230645"/>
            <a:ext cx="76200" cy="990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4"/>
          <p:cNvSpPr>
            <a:spLocks noChangeArrowheads="1"/>
          </p:cNvSpPr>
          <p:nvPr/>
        </p:nvSpPr>
        <p:spPr bwMode="auto">
          <a:xfrm>
            <a:off x="3028167" y="4373645"/>
            <a:ext cx="2590800" cy="685800"/>
          </a:xfrm>
          <a:prstGeom prst="ellips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15"/>
          <p:cNvSpPr>
            <a:spLocks noChangeArrowheads="1"/>
          </p:cNvSpPr>
          <p:nvPr/>
        </p:nvSpPr>
        <p:spPr bwMode="auto">
          <a:xfrm>
            <a:off x="6228568" y="5516645"/>
            <a:ext cx="31083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Show your check.</a:t>
            </a:r>
          </a:p>
        </p:txBody>
      </p:sp>
      <p:sp>
        <p:nvSpPr>
          <p:cNvPr id="25" name="Text Box 16"/>
          <p:cNvSpPr txBox="1">
            <a:spLocks noChangeArrowheads="1"/>
          </p:cNvSpPr>
          <p:nvPr/>
        </p:nvSpPr>
        <p:spPr bwMode="auto">
          <a:xfrm>
            <a:off x="2494767" y="5059446"/>
            <a:ext cx="3657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>
                <a:latin typeface="Times New Roman" charset="0"/>
              </a:rPr>
              <a:t>   2</a:t>
            </a:r>
            <a:r>
              <a:rPr lang="en-US" altLang="x-none" sz="4000">
                <a:solidFill>
                  <a:srgbClr val="9900CC"/>
                </a:solidFill>
                <a:latin typeface="Times New Roman" charset="0"/>
              </a:rPr>
              <a:t>(3)</a:t>
            </a:r>
            <a:r>
              <a:rPr lang="en-US" altLang="x-none" sz="4000">
                <a:latin typeface="Times New Roman" charset="0"/>
              </a:rPr>
              <a:t> +4 = 10</a:t>
            </a:r>
          </a:p>
        </p:txBody>
      </p:sp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6228568" y="6278645"/>
            <a:ext cx="31988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Finish your check.</a:t>
            </a:r>
          </a:p>
        </p:txBody>
      </p:sp>
      <p:sp>
        <p:nvSpPr>
          <p:cNvPr id="27" name="Text Box 18"/>
          <p:cNvSpPr txBox="1">
            <a:spLocks noChangeArrowheads="1"/>
          </p:cNvSpPr>
          <p:nvPr/>
        </p:nvSpPr>
        <p:spPr bwMode="auto">
          <a:xfrm>
            <a:off x="3332967" y="5669046"/>
            <a:ext cx="3429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>
                <a:latin typeface="Times New Roman" charset="0"/>
              </a:rPr>
              <a:t>6 + 4 = 10</a:t>
            </a: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auto">
          <a:xfrm>
            <a:off x="3561567" y="6278646"/>
            <a:ext cx="3429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>
                <a:latin typeface="Times New Roman" charset="0"/>
              </a:rPr>
              <a:t>  10 = 10</a:t>
            </a:r>
          </a:p>
        </p:txBody>
      </p:sp>
      <p:sp>
        <p:nvSpPr>
          <p:cNvPr id="29" name="Rectangle 20"/>
          <p:cNvSpPr>
            <a:spLocks noChangeArrowheads="1"/>
          </p:cNvSpPr>
          <p:nvPr/>
        </p:nvSpPr>
        <p:spPr bwMode="auto">
          <a:xfrm>
            <a:off x="6228568" y="4678445"/>
            <a:ext cx="4384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2 divided by 2 cancel to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286" y="1863445"/>
            <a:ext cx="1680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Example 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7272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800"/>
                            </p:stCondLst>
                            <p:childTnLst>
                              <p:par>
                                <p:cTn id="10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300"/>
                            </p:stCondLst>
                            <p:childTnLst>
                              <p:par>
                                <p:cTn id="1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5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35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utoUpdateAnimBg="0"/>
      <p:bldP spid="13" grpId="0" autoUpdateAnimBg="0"/>
      <p:bldP spid="14" grpId="0" autoUpdateAnimBg="0"/>
      <p:bldP spid="15" grpId="0" animBg="1"/>
      <p:bldP spid="16" grpId="0" autoUpdateAnimBg="0"/>
      <p:bldP spid="17" grpId="0" animBg="1"/>
      <p:bldP spid="18" grpId="0" autoUpdateAnimBg="0"/>
      <p:bldP spid="19" grpId="0" autoUpdateAnimBg="0"/>
      <p:bldP spid="20" grpId="0" autoUpdateAnimBg="0"/>
      <p:bldP spid="21" grpId="0" autoUpdateAnimBg="0"/>
      <p:bldP spid="22" grpId="0" animBg="1"/>
      <p:bldP spid="23" grpId="0" animBg="1"/>
      <p:bldP spid="24" grpId="0" autoUpdateAnimBg="0"/>
      <p:bldP spid="25" grpId="0" autoUpdateAnimBg="0"/>
      <p:bldP spid="26" grpId="0" autoUpdateAnimBg="0"/>
      <p:bldP spid="27" grpId="0" autoUpdateAnimBg="0"/>
      <p:bldP spid="28" grpId="0" autoUpdateAnimBg="0"/>
      <p:bldP spid="2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7150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91222" y="1671506"/>
            <a:ext cx="37578" cy="51864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What are the steps involved in solving two-step algebraic equations?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8286" y="1863445"/>
            <a:ext cx="1680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Example 2</a:t>
            </a:r>
            <a:endParaRPr lang="en-US" sz="2800" dirty="0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2835086" y="1585189"/>
            <a:ext cx="4038600" cy="7778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x-none" smtClean="0">
                <a:solidFill>
                  <a:schemeClr val="tx2"/>
                </a:solidFill>
              </a:rPr>
              <a:t>  </a:t>
            </a:r>
            <a:r>
              <a:rPr lang="en-US" altLang="x-none" sz="4000" smtClean="0">
                <a:solidFill>
                  <a:schemeClr val="tx2"/>
                </a:solidFill>
              </a:rPr>
              <a:t>3m</a:t>
            </a:r>
            <a:r>
              <a:rPr lang="en-US" altLang="x-none" sz="4000" smtClean="0"/>
              <a:t> - </a:t>
            </a:r>
            <a:r>
              <a:rPr lang="en-US" altLang="x-none" sz="4000" smtClean="0">
                <a:solidFill>
                  <a:schemeClr val="tx2"/>
                </a:solidFill>
              </a:rPr>
              <a:t>10 = 17 	</a:t>
            </a:r>
            <a:endParaRPr lang="en-US" altLang="x-none" sz="4000">
              <a:solidFill>
                <a:schemeClr val="tx2"/>
              </a:solidFill>
            </a:endParaRPr>
          </a:p>
        </p:txBody>
      </p:sp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6416486" y="1661388"/>
            <a:ext cx="426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3200">
                <a:latin typeface="Times New Roman" charset="0"/>
              </a:rPr>
              <a:t>Get the variable alone.</a:t>
            </a: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2911286" y="2118589"/>
            <a:ext cx="38417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600">
                <a:solidFill>
                  <a:srgbClr val="9900CC"/>
                </a:solidFill>
                <a:latin typeface="Times New Roman" charset="0"/>
              </a:rPr>
              <a:t>       </a:t>
            </a:r>
            <a:r>
              <a:rPr lang="en-US" altLang="x-none" sz="4000">
                <a:solidFill>
                  <a:srgbClr val="9900CC"/>
                </a:solidFill>
                <a:latin typeface="Times New Roman" charset="0"/>
              </a:rPr>
              <a:t>+ 10   +10</a:t>
            </a:r>
            <a:r>
              <a:rPr lang="en-US" altLang="x-none" sz="4000">
                <a:solidFill>
                  <a:schemeClr val="tx2"/>
                </a:solidFill>
                <a:latin typeface="Times New Roman" charset="0"/>
              </a:rPr>
              <a:t> 	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6416486" y="2347188"/>
            <a:ext cx="3651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3200">
                <a:latin typeface="Times New Roman" charset="0"/>
              </a:rPr>
              <a:t>Add 10 to both sides.</a:t>
            </a:r>
          </a:p>
        </p:txBody>
      </p:sp>
      <p:sp>
        <p:nvSpPr>
          <p:cNvPr id="35" name="Line 6"/>
          <p:cNvSpPr>
            <a:spLocks noChangeShapeType="1"/>
          </p:cNvSpPr>
          <p:nvPr/>
        </p:nvSpPr>
        <p:spPr bwMode="auto">
          <a:xfrm>
            <a:off x="2987486" y="2956788"/>
            <a:ext cx="304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3292286" y="3032989"/>
            <a:ext cx="3581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000">
                <a:solidFill>
                  <a:schemeClr val="tx2"/>
                </a:solidFill>
                <a:latin typeface="Times New Roman" charset="0"/>
              </a:rPr>
              <a:t>3m</a:t>
            </a:r>
            <a:r>
              <a:rPr lang="en-US" altLang="x-none" sz="4000">
                <a:latin typeface="Times New Roman" charset="0"/>
              </a:rPr>
              <a:t> </a:t>
            </a:r>
            <a:r>
              <a:rPr lang="en-US" altLang="x-none" sz="4000">
                <a:solidFill>
                  <a:schemeClr val="tx2"/>
                </a:solidFill>
                <a:latin typeface="Times New Roman" charset="0"/>
              </a:rPr>
              <a:t>     = 27 	</a:t>
            </a:r>
          </a:p>
        </p:txBody>
      </p:sp>
      <p:sp>
        <p:nvSpPr>
          <p:cNvPr id="37" name="Line 8"/>
          <p:cNvSpPr>
            <a:spLocks noChangeShapeType="1"/>
          </p:cNvSpPr>
          <p:nvPr/>
        </p:nvSpPr>
        <p:spPr bwMode="auto">
          <a:xfrm flipH="1">
            <a:off x="4130486" y="1661388"/>
            <a:ext cx="533400" cy="1143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" name="Rectangle 9"/>
          <p:cNvSpPr>
            <a:spLocks noChangeArrowheads="1"/>
          </p:cNvSpPr>
          <p:nvPr/>
        </p:nvSpPr>
        <p:spPr bwMode="auto">
          <a:xfrm>
            <a:off x="6492686" y="3185388"/>
            <a:ext cx="39131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+10 and </a:t>
            </a:r>
            <a:r>
              <a:rPr lang="en-US" altLang="x-none" sz="3200">
                <a:solidFill>
                  <a:srgbClr val="FF0000"/>
                </a:solidFill>
                <a:latin typeface="Times New Roman" charset="0"/>
              </a:rPr>
              <a:t>-10</a:t>
            </a:r>
            <a:r>
              <a:rPr lang="en-US" altLang="x-none" sz="3200">
                <a:latin typeface="Times New Roman" charset="0"/>
              </a:rPr>
              <a:t> cancel out</a:t>
            </a:r>
          </a:p>
        </p:txBody>
      </p:sp>
      <p:sp>
        <p:nvSpPr>
          <p:cNvPr id="39" name="Rectangle 10"/>
          <p:cNvSpPr>
            <a:spLocks noChangeArrowheads="1"/>
          </p:cNvSpPr>
          <p:nvPr/>
        </p:nvSpPr>
        <p:spPr bwMode="auto">
          <a:xfrm>
            <a:off x="3368486" y="3032989"/>
            <a:ext cx="24384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000">
                <a:solidFill>
                  <a:schemeClr val="tx2"/>
                </a:solidFill>
                <a:latin typeface="Times New Roman" charset="0"/>
              </a:rPr>
              <a:t>__         __    </a:t>
            </a:r>
            <a:r>
              <a:rPr lang="en-US" altLang="x-none" sz="4000">
                <a:solidFill>
                  <a:srgbClr val="9900CC"/>
                </a:solidFill>
                <a:latin typeface="Times New Roman" charset="0"/>
              </a:rPr>
              <a:t>3            3</a:t>
            </a:r>
          </a:p>
        </p:txBody>
      </p:sp>
      <p:sp>
        <p:nvSpPr>
          <p:cNvPr id="40" name="Rectangle 11"/>
          <p:cNvSpPr>
            <a:spLocks noChangeArrowheads="1"/>
          </p:cNvSpPr>
          <p:nvPr/>
        </p:nvSpPr>
        <p:spPr bwMode="auto">
          <a:xfrm>
            <a:off x="6492686" y="3947388"/>
            <a:ext cx="3843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Divide both sides by 3</a:t>
            </a:r>
          </a:p>
        </p:txBody>
      </p:sp>
      <p:sp>
        <p:nvSpPr>
          <p:cNvPr id="41" name="Text Box 12"/>
          <p:cNvSpPr txBox="1">
            <a:spLocks noChangeArrowheads="1"/>
          </p:cNvSpPr>
          <p:nvPr/>
        </p:nvSpPr>
        <p:spPr bwMode="auto">
          <a:xfrm>
            <a:off x="3139886" y="4328389"/>
            <a:ext cx="2743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>
                <a:latin typeface="Times New Roman" charset="0"/>
              </a:rPr>
              <a:t> m        = 9</a:t>
            </a:r>
          </a:p>
        </p:txBody>
      </p:sp>
      <p:sp>
        <p:nvSpPr>
          <p:cNvPr id="42" name="Line 13"/>
          <p:cNvSpPr>
            <a:spLocks noChangeShapeType="1"/>
          </p:cNvSpPr>
          <p:nvPr/>
        </p:nvSpPr>
        <p:spPr bwMode="auto">
          <a:xfrm>
            <a:off x="3444686" y="3109188"/>
            <a:ext cx="228600" cy="1066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Oval 14"/>
          <p:cNvSpPr>
            <a:spLocks noChangeArrowheads="1"/>
          </p:cNvSpPr>
          <p:nvPr/>
        </p:nvSpPr>
        <p:spPr bwMode="auto">
          <a:xfrm>
            <a:off x="2987486" y="4328388"/>
            <a:ext cx="2819400" cy="685800"/>
          </a:xfrm>
          <a:prstGeom prst="ellips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Rectangle 15"/>
          <p:cNvSpPr>
            <a:spLocks noChangeArrowheads="1"/>
          </p:cNvSpPr>
          <p:nvPr/>
        </p:nvSpPr>
        <p:spPr bwMode="auto">
          <a:xfrm>
            <a:off x="6492687" y="5395188"/>
            <a:ext cx="31083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Show your check.</a:t>
            </a:r>
          </a:p>
        </p:txBody>
      </p:sp>
      <p:sp>
        <p:nvSpPr>
          <p:cNvPr id="45" name="Text Box 16"/>
          <p:cNvSpPr txBox="1">
            <a:spLocks noChangeArrowheads="1"/>
          </p:cNvSpPr>
          <p:nvPr/>
        </p:nvSpPr>
        <p:spPr bwMode="auto">
          <a:xfrm>
            <a:off x="2301686" y="5090389"/>
            <a:ext cx="3657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>
                <a:latin typeface="Times New Roman" charset="0"/>
              </a:rPr>
              <a:t>   3</a:t>
            </a:r>
            <a:r>
              <a:rPr lang="en-US" altLang="x-none" sz="4000">
                <a:solidFill>
                  <a:srgbClr val="9900CC"/>
                </a:solidFill>
                <a:latin typeface="Times New Roman" charset="0"/>
              </a:rPr>
              <a:t>(9)</a:t>
            </a:r>
            <a:r>
              <a:rPr lang="en-US" altLang="x-none" sz="4000">
                <a:latin typeface="Times New Roman" charset="0"/>
              </a:rPr>
              <a:t> – 10 = 17</a:t>
            </a:r>
          </a:p>
        </p:txBody>
      </p:sp>
      <p:sp>
        <p:nvSpPr>
          <p:cNvPr id="46" name="Rectangle 17"/>
          <p:cNvSpPr>
            <a:spLocks noChangeArrowheads="1"/>
          </p:cNvSpPr>
          <p:nvPr/>
        </p:nvSpPr>
        <p:spPr bwMode="auto">
          <a:xfrm>
            <a:off x="6492687" y="6157188"/>
            <a:ext cx="31988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Finish your check.</a:t>
            </a:r>
          </a:p>
        </p:txBody>
      </p:sp>
      <p:sp>
        <p:nvSpPr>
          <p:cNvPr id="47" name="Text Box 18"/>
          <p:cNvSpPr txBox="1">
            <a:spLocks noChangeArrowheads="1"/>
          </p:cNvSpPr>
          <p:nvPr/>
        </p:nvSpPr>
        <p:spPr bwMode="auto">
          <a:xfrm>
            <a:off x="2987486" y="5776189"/>
            <a:ext cx="3429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>
                <a:latin typeface="Times New Roman" charset="0"/>
              </a:rPr>
              <a:t>27 – 10 = 17</a:t>
            </a:r>
          </a:p>
        </p:txBody>
      </p:sp>
      <p:sp>
        <p:nvSpPr>
          <p:cNvPr id="48" name="Text Box 19"/>
          <p:cNvSpPr txBox="1">
            <a:spLocks noChangeArrowheads="1"/>
          </p:cNvSpPr>
          <p:nvPr/>
        </p:nvSpPr>
        <p:spPr bwMode="auto">
          <a:xfrm>
            <a:off x="3216086" y="6385789"/>
            <a:ext cx="3429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>
                <a:latin typeface="Times New Roman" charset="0"/>
              </a:rPr>
              <a:t>      17 = 17</a:t>
            </a:r>
          </a:p>
        </p:txBody>
      </p:sp>
      <p:sp>
        <p:nvSpPr>
          <p:cNvPr id="49" name="Rectangle 20"/>
          <p:cNvSpPr>
            <a:spLocks noChangeArrowheads="1"/>
          </p:cNvSpPr>
          <p:nvPr/>
        </p:nvSpPr>
        <p:spPr bwMode="auto">
          <a:xfrm>
            <a:off x="6492687" y="4633188"/>
            <a:ext cx="4384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3 divided by 3 cancel to 1</a:t>
            </a:r>
          </a:p>
        </p:txBody>
      </p:sp>
    </p:spTree>
    <p:extLst>
      <p:ext uri="{BB962C8B-B14F-4D97-AF65-F5344CB8AC3E}">
        <p14:creationId xmlns:p14="http://schemas.microsoft.com/office/powerpoint/2010/main" val="136199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800"/>
                            </p:stCondLst>
                            <p:childTnLst>
                              <p:par>
                                <p:cTn id="10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tmFilter="0,0; .5, 1; 1, 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350"/>
                            </p:stCondLst>
                            <p:childTnLst>
                              <p:par>
                                <p:cTn id="6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 tmFilter="0,0; .5, 1; 1, 1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 autoUpdateAnimBg="0"/>
      <p:bldP spid="31" grpId="0" autoUpdateAnimBg="0"/>
      <p:bldP spid="32" grpId="0" autoUpdateAnimBg="0"/>
      <p:bldP spid="34" grpId="0" autoUpdateAnimBg="0"/>
      <p:bldP spid="35" grpId="0" animBg="1"/>
      <p:bldP spid="36" grpId="0" autoUpdateAnimBg="0"/>
      <p:bldP spid="37" grpId="0" animBg="1"/>
      <p:bldP spid="38" grpId="0" autoUpdateAnimBg="0"/>
      <p:bldP spid="39" grpId="0" autoUpdateAnimBg="0"/>
      <p:bldP spid="40" grpId="0" autoUpdateAnimBg="0"/>
      <p:bldP spid="41" grpId="0" autoUpdateAnimBg="0"/>
      <p:bldP spid="42" grpId="0" animBg="1"/>
      <p:bldP spid="43" grpId="0" animBg="1"/>
      <p:bldP spid="44" grpId="0" autoUpdateAnimBg="0"/>
      <p:bldP spid="45" grpId="0" autoUpdateAnimBg="0"/>
      <p:bldP spid="46" grpId="0" autoUpdateAnimBg="0"/>
      <p:bldP spid="47" grpId="0" autoUpdateAnimBg="0"/>
      <p:bldP spid="48" grpId="0" autoUpdateAnimBg="0"/>
      <p:bldP spid="4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22" y="147356"/>
            <a:ext cx="8668674" cy="30843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96" y="3051850"/>
            <a:ext cx="6995264" cy="366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1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7150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66170" y="1671506"/>
            <a:ext cx="62630" cy="448101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What are the steps involved in solving two-step algebraic equations?</a:t>
            </a:r>
            <a:endParaRPr lang="en-AU" sz="2400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0" y="6152517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0889" y="6152517"/>
            <a:ext cx="1524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 </a:t>
            </a:r>
            <a:endParaRPr lang="en-US" sz="2400" dirty="0"/>
          </a:p>
        </p:txBody>
      </p:sp>
      <p:sp>
        <p:nvSpPr>
          <p:cNvPr id="8" name="Down Arrow 7"/>
          <p:cNvSpPr/>
          <p:nvPr/>
        </p:nvSpPr>
        <p:spPr>
          <a:xfrm>
            <a:off x="2906038" y="471244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949689" y="3975454"/>
            <a:ext cx="4835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Don’t forget!!!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1302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719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765</Words>
  <Application>Microsoft Macintosh PowerPoint</Application>
  <PresentationFormat>Widescreen</PresentationFormat>
  <Paragraphs>192</Paragraphs>
  <Slides>19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Calibri</vt:lpstr>
      <vt:lpstr>Calibri Light</vt:lpstr>
      <vt:lpstr>Arial</vt:lpstr>
      <vt:lpstr>Impact</vt:lpstr>
      <vt:lpstr>Times New Roman</vt:lpstr>
      <vt:lpstr>Office Theme</vt:lpstr>
      <vt:lpstr>Corel GALLERY Clipart</vt:lpstr>
      <vt:lpstr>Microsoft Equation 3.0</vt:lpstr>
      <vt:lpstr>MathType 5.0 Equation</vt:lpstr>
      <vt:lpstr>My Algebra Interactive Notebook</vt:lpstr>
      <vt:lpstr>Interactive Notebooks!</vt:lpstr>
      <vt:lpstr>An Equation is like a balance scale.  Everything must be equal on both sides.</vt:lpstr>
      <vt:lpstr>PowerPoint Presentation</vt:lpstr>
      <vt:lpstr>PowerPoint Presentation</vt:lpstr>
      <vt:lpstr>PowerPoint Presentation</vt:lpstr>
      <vt:lpstr>Try to solve this subtraction equation</vt:lpstr>
      <vt:lpstr>Try to solve this subtraction equation</vt:lpstr>
      <vt:lpstr>Show your check by substituting your answer back into the original equation.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</vt:vector>
  </TitlesOfParts>
  <Company/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SUMMERS Brad [Baldivis Secondary College]</dc:creator>
  <cp:lastModifiedBy>SUMMERS Brad [Baldivis Secondary College]</cp:lastModifiedBy>
  <cp:revision>32</cp:revision>
  <dcterms:created xsi:type="dcterms:W3CDTF">2017-07-23T05:14:02Z</dcterms:created>
  <dcterms:modified xsi:type="dcterms:W3CDTF">2017-08-13T10:26:24Z</dcterms:modified>
</cp:coreProperties>
</file>
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87" r:id="rId3"/>
  </p:sldMasterIdLst>
  <p:sldIdLst>
    <p:sldId id="263" r:id="rId4"/>
    <p:sldId id="265" r:id="rId5"/>
    <p:sldId id="266" r:id="rId6"/>
    <p:sldId id="267" r:id="rId7"/>
    <p:sldId id="268" r:id="rId8"/>
    <p:sldId id="264" r:id="rId9"/>
    <p:sldId id="269" r:id="rId10"/>
    <p:sldId id="272" r:id="rId11"/>
    <p:sldId id="270" r:id="rId12"/>
    <p:sldId id="271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6" autoAdjust="0"/>
    <p:restoredTop sz="94660"/>
  </p:normalViewPr>
  <p:slideViewPr>
    <p:cSldViewPr snapToGrid="0">
      <p:cViewPr varScale="1">
        <p:scale>
          <a:sx n="86" d="100"/>
          <a:sy n="86" d="100"/>
        </p:scale>
        <p:origin x="8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38" name="Picture 37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39" name="Picture 38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77" name="Picture 76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78" name="Picture 77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155" name="Picture 154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156" name="Picture 155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68697-B1DF-4B5B-AAF0-43E2BEB8C2AB}" type="datetimeFigureOut">
              <a:rPr lang="en-AU" smtClean="0"/>
              <a:t>9/08/2017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C5908-F1B5-4B4E-BFD8-3717645C7C8D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AU" sz="120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15/02/16</a:t>
            </a:r>
            <a:endParaRPr lang="en-AU" sz="1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 lang="en-AU" sz="2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8D77708F-50B4-4D66-9CC0-6E463D5C47FE}" type="slidenum">
              <a:rPr lang="en-AU" sz="120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‹#›</a:t>
            </a:fld>
            <a:endParaRPr lang="en-AU" sz="1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the title text format</a:t>
            </a: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Master title style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Outline Level</a:t>
            </a:r>
            <a:endParaRPr lang="en-US" sz="2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Outline Level</a:t>
            </a:r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Outline Level</a:t>
            </a:r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Outline Level</a:t>
            </a:r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Sixth Outline Level</a:t>
            </a:r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Seventh Outline LevelClick to edit Master text styles</a:t>
            </a:r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56000" lvl="7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level</a:t>
            </a:r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888000" lvl="8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level</a:t>
            </a:r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4320000" lvl="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level</a:t>
            </a:r>
          </a:p>
          <a:p>
            <a:pPr marL="4320000" lvl="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level</a:t>
            </a:r>
          </a:p>
        </p:txBody>
      </p:sp>
      <p:sp>
        <p:nvSpPr>
          <p:cNvPr id="120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AU" sz="120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15/02/16</a:t>
            </a:r>
            <a:endParaRPr lang="en-AU" sz="1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 lang="en-AU" sz="2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629E2C80-11B1-4BDD-9EF4-AC2B8A69EBA6}" type="slidenum">
              <a:rPr lang="en-AU" sz="120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‹#›</a:t>
            </a:fld>
            <a:endParaRPr lang="en-AU" sz="1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1.png"/><Relationship Id="rId10" Type="http://schemas.openxmlformats.org/officeDocument/2006/relationships/image" Target="../media/image12.png"/><Relationship Id="rId4" Type="http://schemas.openxmlformats.org/officeDocument/2006/relationships/image" Target="../media/image71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6.png"/><Relationship Id="rId3" Type="http://schemas.openxmlformats.org/officeDocument/2006/relationships/image" Target="../media/image70.png"/><Relationship Id="rId7" Type="http://schemas.openxmlformats.org/officeDocument/2006/relationships/image" Target="../media/image10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10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0.png"/><Relationship Id="rId11" Type="http://schemas.openxmlformats.org/officeDocument/2006/relationships/image" Target="../media/image14.png"/><Relationship Id="rId5" Type="http://schemas.openxmlformats.org/officeDocument/2006/relationships/image" Target="../media/image5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80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8868" y="3096408"/>
            <a:ext cx="68356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/>
              <a:t>Algebra Revision</a:t>
            </a:r>
            <a:endParaRPr lang="en-AU" sz="6000" dirty="0"/>
          </a:p>
        </p:txBody>
      </p:sp>
      <p:pic>
        <p:nvPicPr>
          <p:cNvPr id="1028" name="Picture 4" descr="Image result for banana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" y="4112071"/>
            <a:ext cx="2532185" cy="2532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carrot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467" y="1076699"/>
            <a:ext cx="3952123" cy="2420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appl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89" y="857090"/>
            <a:ext cx="2975316" cy="1979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square apple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345" y="3897409"/>
            <a:ext cx="2717786" cy="2319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1955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Image result for app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603231"/>
            <a:ext cx="2975316" cy="1979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Image result for apples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7364" y="2724150"/>
            <a:ext cx="3019425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Can you remember these?</a:t>
            </a:r>
            <a:endParaRPr lang="en-AU" dirty="0"/>
          </a:p>
        </p:txBody>
      </p:sp>
      <p:sp>
        <p:nvSpPr>
          <p:cNvPr id="8" name="Subtitle 2"/>
          <p:cNvSpPr>
            <a:spLocks noGrp="1"/>
          </p:cNvSpPr>
          <p:nvPr>
            <p:ph type="subTitle"/>
          </p:nvPr>
        </p:nvSpPr>
        <p:spPr>
          <a:xfrm>
            <a:off x="385869" y="4549524"/>
            <a:ext cx="8229240" cy="1144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dirty="0"/>
              <a:t> </a:t>
            </a:r>
            <a:r>
              <a:rPr lang="en-US" dirty="0" smtClean="0"/>
              <a:t> 2a</a:t>
            </a:r>
            <a:r>
              <a:rPr lang="en-US" sz="2800" dirty="0" smtClean="0"/>
              <a:t>	</a:t>
            </a:r>
            <a:r>
              <a:rPr lang="en-US" sz="2800" dirty="0" smtClean="0"/>
              <a:t>   +                </a:t>
            </a:r>
            <a:r>
              <a:rPr lang="en-US" dirty="0" smtClean="0"/>
              <a:t>3a</a:t>
            </a:r>
            <a:r>
              <a:rPr lang="en-US" sz="2800" dirty="0" smtClean="0"/>
              <a:t>		</a:t>
            </a:r>
            <a:r>
              <a:rPr lang="en-US" sz="2800" dirty="0" smtClean="0"/>
              <a:t>       =</a:t>
            </a:r>
            <a:r>
              <a:rPr lang="en-US" dirty="0" smtClean="0"/>
              <a:t> </a:t>
            </a:r>
            <a:endParaRPr lang="en-AU" dirty="0"/>
          </a:p>
        </p:txBody>
      </p:sp>
      <p:sp>
        <p:nvSpPr>
          <p:cNvPr id="9" name="Subtitle 2"/>
          <p:cNvSpPr>
            <a:spLocks noGrp="1"/>
          </p:cNvSpPr>
          <p:nvPr>
            <p:ph type="subTitle"/>
          </p:nvPr>
        </p:nvSpPr>
        <p:spPr>
          <a:xfrm>
            <a:off x="385869" y="3262985"/>
            <a:ext cx="8229240" cy="1144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			   </a:t>
            </a:r>
            <a:r>
              <a:rPr lang="en-US" sz="2800" dirty="0" smtClean="0"/>
              <a:t>and				=</a:t>
            </a:r>
            <a:r>
              <a:rPr lang="en-US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72084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233469" y="3110585"/>
            <a:ext cx="8229240" cy="1144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			   </a:t>
            </a:r>
            <a:r>
              <a:rPr lang="en-US" sz="2800" dirty="0" smtClean="0"/>
              <a:t>and				=</a:t>
            </a:r>
            <a:r>
              <a:rPr lang="en-US" dirty="0" smtClean="0"/>
              <a:t> </a:t>
            </a:r>
            <a:endParaRPr lang="en-AU" dirty="0"/>
          </a:p>
        </p:txBody>
      </p:sp>
      <p:pic>
        <p:nvPicPr>
          <p:cNvPr id="4" name="Picture 10" descr="Image result for app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603231"/>
            <a:ext cx="2975316" cy="1979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 result for banana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089" y="2222902"/>
            <a:ext cx="2532185" cy="2532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2"/>
          <p:cNvSpPr>
            <a:spLocks noGrp="1"/>
          </p:cNvSpPr>
          <p:nvPr>
            <p:ph type="subTitle"/>
          </p:nvPr>
        </p:nvSpPr>
        <p:spPr>
          <a:xfrm>
            <a:off x="385869" y="4549524"/>
            <a:ext cx="8229240" cy="1144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dirty="0"/>
              <a:t> </a:t>
            </a:r>
            <a:r>
              <a:rPr lang="en-US" dirty="0" smtClean="0"/>
              <a:t> 2a</a:t>
            </a:r>
            <a:r>
              <a:rPr lang="en-US" sz="2800" dirty="0" smtClean="0"/>
              <a:t>	</a:t>
            </a:r>
            <a:r>
              <a:rPr lang="en-US" sz="2800" dirty="0" smtClean="0"/>
              <a:t>   +                </a:t>
            </a:r>
            <a:r>
              <a:rPr lang="en-US" dirty="0" smtClean="0"/>
              <a:t>3b</a:t>
            </a:r>
            <a:r>
              <a:rPr lang="en-US" sz="2800" dirty="0" smtClean="0"/>
              <a:t>		</a:t>
            </a:r>
            <a:r>
              <a:rPr lang="en-US" sz="2800" dirty="0" smtClean="0"/>
              <a:t>       =</a:t>
            </a:r>
            <a:r>
              <a:rPr lang="en-US" dirty="0" smtClean="0"/>
              <a:t> </a:t>
            </a:r>
            <a:endParaRPr lang="en-AU" dirty="0"/>
          </a:p>
        </p:txBody>
      </p:sp>
      <p:sp>
        <p:nvSpPr>
          <p:cNvPr id="8" name="Title 4"/>
          <p:cNvSpPr txBox="1">
            <a:spLocks/>
          </p:cNvSpPr>
          <p:nvPr/>
        </p:nvSpPr>
        <p:spPr>
          <a:xfrm>
            <a:off x="609600" y="4260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mtClean="0"/>
              <a:t>Can you remember these?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80061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Can you remember these?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233469" y="3110585"/>
            <a:ext cx="8229240" cy="1144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			   </a:t>
            </a:r>
            <a:r>
              <a:rPr lang="en-US" sz="2800" dirty="0" smtClean="0"/>
              <a:t>and				=</a:t>
            </a:r>
            <a:r>
              <a:rPr lang="en-US" dirty="0" smtClean="0"/>
              <a:t> </a:t>
            </a:r>
            <a:endParaRPr lang="en-AU" dirty="0"/>
          </a:p>
        </p:txBody>
      </p:sp>
      <p:pic>
        <p:nvPicPr>
          <p:cNvPr id="4" name="Picture 10" descr="Image result for app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603231"/>
            <a:ext cx="2975316" cy="1979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Image result for carrot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5774" y="2603231"/>
            <a:ext cx="3952123" cy="2420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ubtitle 2"/>
          <p:cNvSpPr>
            <a:spLocks noGrp="1"/>
          </p:cNvSpPr>
          <p:nvPr>
            <p:ph type="subTitle"/>
          </p:nvPr>
        </p:nvSpPr>
        <p:spPr>
          <a:xfrm>
            <a:off x="385869" y="4549524"/>
            <a:ext cx="8229240" cy="1144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dirty="0"/>
              <a:t> </a:t>
            </a:r>
            <a:r>
              <a:rPr lang="en-US" dirty="0" smtClean="0"/>
              <a:t> 2a</a:t>
            </a:r>
            <a:r>
              <a:rPr lang="en-US" sz="2800" dirty="0" smtClean="0"/>
              <a:t>	</a:t>
            </a:r>
            <a:r>
              <a:rPr lang="en-US" sz="2800" dirty="0" smtClean="0"/>
              <a:t>   +                </a:t>
            </a:r>
            <a:r>
              <a:rPr lang="en-US" dirty="0" smtClean="0"/>
              <a:t>4c</a:t>
            </a:r>
            <a:r>
              <a:rPr lang="en-US" sz="2800" dirty="0" smtClean="0"/>
              <a:t>		</a:t>
            </a:r>
            <a:r>
              <a:rPr lang="en-US" sz="2800" dirty="0" smtClean="0"/>
              <a:t>       =</a:t>
            </a:r>
            <a:r>
              <a:rPr lang="en-US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6551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Activity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233469" y="3110585"/>
            <a:ext cx="8229240" cy="1144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			   </a:t>
            </a:r>
            <a:r>
              <a:rPr lang="en-US" sz="2800" dirty="0" smtClean="0"/>
              <a:t>and				=</a:t>
            </a:r>
            <a:r>
              <a:rPr lang="en-US" dirty="0" smtClean="0"/>
              <a:t> </a:t>
            </a:r>
            <a:endParaRPr lang="en-AU" dirty="0"/>
          </a:p>
        </p:txBody>
      </p:sp>
      <p:pic>
        <p:nvPicPr>
          <p:cNvPr id="4" name="Picture 10" descr="Image result for app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603231"/>
            <a:ext cx="2975316" cy="1979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Image result for square appl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2807" y="2523396"/>
            <a:ext cx="2717786" cy="2319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2"/>
          <p:cNvSpPr>
            <a:spLocks noGrp="1"/>
          </p:cNvSpPr>
          <p:nvPr>
            <p:ph type="subTitle"/>
          </p:nvPr>
        </p:nvSpPr>
        <p:spPr>
          <a:xfrm>
            <a:off x="385869" y="4549524"/>
            <a:ext cx="8229240" cy="1144800"/>
          </a:xfrm>
        </p:spPr>
        <p:txBody>
          <a:bodyPr/>
          <a:lstStyle/>
          <a:p>
            <a:r>
              <a:rPr lang="en-US" dirty="0"/>
              <a:t>	</a:t>
            </a:r>
            <a:r>
              <a:rPr lang="en-US" dirty="0"/>
              <a:t> </a:t>
            </a:r>
            <a:r>
              <a:rPr lang="en-US" dirty="0" smtClean="0"/>
              <a:t> 2a</a:t>
            </a:r>
            <a:r>
              <a:rPr lang="en-US" sz="2800" dirty="0" smtClean="0"/>
              <a:t>	</a:t>
            </a:r>
            <a:r>
              <a:rPr lang="en-US" sz="2800" dirty="0" smtClean="0"/>
              <a:t>   +                </a:t>
            </a:r>
            <a:r>
              <a:rPr lang="en-AU" dirty="0" smtClean="0"/>
              <a:t>a</a:t>
            </a:r>
            <a:r>
              <a:rPr lang="en-AU" baseline="30000" dirty="0" smtClean="0"/>
              <a:t>2</a:t>
            </a:r>
            <a:r>
              <a:rPr lang="en-AU" dirty="0"/>
              <a:t> </a:t>
            </a:r>
            <a:r>
              <a:rPr lang="en-AU" sz="2800" dirty="0" smtClean="0"/>
              <a:t>		=</a:t>
            </a:r>
            <a:r>
              <a:rPr lang="en-US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56150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CustomShape 1"/>
          <p:cNvSpPr/>
          <p:nvPr/>
        </p:nvSpPr>
        <p:spPr>
          <a:xfrm>
            <a:off x="8748360" y="6488640"/>
            <a:ext cx="5493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8" name="Line 2"/>
          <p:cNvSpPr/>
          <p:nvPr/>
        </p:nvSpPr>
        <p:spPr>
          <a:xfrm>
            <a:off x="0" y="980640"/>
            <a:ext cx="9144000" cy="0"/>
          </a:xfrm>
          <a:prstGeom prst="line">
            <a:avLst/>
          </a:prstGeom>
          <a:ln w="9360">
            <a:solidFill>
              <a:srgbClr val="BE4B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9" name="Line 3"/>
          <p:cNvSpPr/>
          <p:nvPr/>
        </p:nvSpPr>
        <p:spPr>
          <a:xfrm>
            <a:off x="0" y="1916640"/>
            <a:ext cx="9144000" cy="0"/>
          </a:xfrm>
          <a:prstGeom prst="line">
            <a:avLst/>
          </a:prstGeom>
          <a:ln w="9360">
            <a:solidFill>
              <a:srgbClr val="BE4B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0" name="CustomShape 4"/>
          <p:cNvSpPr/>
          <p:nvPr/>
        </p:nvSpPr>
        <p:spPr>
          <a:xfrm>
            <a:off x="93600" y="149760"/>
            <a:ext cx="575640" cy="82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24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AU" sz="1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7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AU" sz="1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30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1" name="Line 5"/>
          <p:cNvSpPr/>
          <p:nvPr/>
        </p:nvSpPr>
        <p:spPr>
          <a:xfrm>
            <a:off x="2851126" y="1989000"/>
            <a:ext cx="0" cy="5112720"/>
          </a:xfrm>
          <a:prstGeom prst="line">
            <a:avLst/>
          </a:prstGeom>
          <a:ln w="9360">
            <a:solidFill>
              <a:srgbClr val="BE4B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2" name="CustomShape 6"/>
          <p:cNvSpPr/>
          <p:nvPr/>
        </p:nvSpPr>
        <p:spPr>
          <a:xfrm>
            <a:off x="1125360" y="404640"/>
            <a:ext cx="1682280" cy="51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2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Like Terms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3" name="CustomShape 7"/>
          <p:cNvSpPr/>
          <p:nvPr/>
        </p:nvSpPr>
        <p:spPr>
          <a:xfrm>
            <a:off x="7439040" y="106200"/>
            <a:ext cx="158364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Date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4" name="CustomShape 8"/>
          <p:cNvSpPr/>
          <p:nvPr/>
        </p:nvSpPr>
        <p:spPr>
          <a:xfrm>
            <a:off x="119520" y="1074960"/>
            <a:ext cx="862020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EQ </a:t>
            </a:r>
            <a:r>
              <a:rPr lang="en-AU" sz="240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– How do we simplify algebraic expressions?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5" name="CustomShape 9"/>
          <p:cNvSpPr/>
          <p:nvPr/>
        </p:nvSpPr>
        <p:spPr>
          <a:xfrm>
            <a:off x="2915640" y="1989000"/>
            <a:ext cx="6768720" cy="6390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5" name="CustomShape 19"/>
          <p:cNvSpPr/>
          <p:nvPr/>
        </p:nvSpPr>
        <p:spPr>
          <a:xfrm>
            <a:off x="284145" y="4051978"/>
            <a:ext cx="2461646" cy="6327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Can we add </a:t>
            </a:r>
            <a:r>
              <a:rPr lang="en-AU" sz="180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‘like terms’?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6" name="CustomShape 20"/>
          <p:cNvSpPr/>
          <p:nvPr/>
        </p:nvSpPr>
        <p:spPr>
          <a:xfrm>
            <a:off x="3110685" y="3005008"/>
            <a:ext cx="4308472" cy="3646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i="1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4ab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and </a:t>
            </a:r>
            <a:r>
              <a:rPr lang="en-AU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7</a:t>
            </a:r>
            <a:r>
              <a:rPr lang="en-AU" i="1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</a:t>
            </a:r>
            <a:r>
              <a:rPr lang="en-AU" sz="1800" i="1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is an example of </a:t>
            </a:r>
            <a:r>
              <a:rPr lang="en-AU" sz="1800" b="1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LIKE TERMS.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7" name="CustomShape 21"/>
          <p:cNvSpPr/>
          <p:nvPr/>
        </p:nvSpPr>
        <p:spPr>
          <a:xfrm>
            <a:off x="3073785" y="4068471"/>
            <a:ext cx="5976720" cy="402334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 dirty="0" smtClean="0">
                <a:uFill>
                  <a:solidFill>
                    <a:srgbClr val="FFFFFF"/>
                  </a:solidFill>
                </a:uFill>
                <a:latin typeface="Calibri"/>
              </a:rPr>
              <a:t>Like </a:t>
            </a:r>
            <a:r>
              <a:rPr lang="en-AU" sz="1800" strike="noStrike" spc="-1" dirty="0">
                <a:uFill>
                  <a:solidFill>
                    <a:srgbClr val="FFFFFF"/>
                  </a:solidFill>
                </a:uFill>
                <a:latin typeface="Calibri"/>
              </a:rPr>
              <a:t>terms </a:t>
            </a:r>
            <a:r>
              <a:rPr lang="en-AU" b="1" spc="-1" dirty="0" smtClean="0">
                <a:uFill>
                  <a:solidFill>
                    <a:srgbClr val="FFFFFF"/>
                  </a:solidFill>
                </a:uFill>
                <a:latin typeface="Calibri"/>
              </a:rPr>
              <a:t>CAN</a:t>
            </a:r>
            <a:r>
              <a:rPr lang="en-AU" sz="1800" b="1" strike="noStrike" spc="-1" dirty="0" smtClean="0"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AU" sz="1800" strike="noStrike" spc="-1" dirty="0">
                <a:uFill>
                  <a:solidFill>
                    <a:srgbClr val="FFFFFF"/>
                  </a:solidFill>
                </a:uFill>
                <a:latin typeface="Calibri"/>
              </a:rPr>
              <a:t>be </a:t>
            </a:r>
            <a:r>
              <a:rPr lang="en-AU" sz="1800" strike="noStrike" spc="-1" dirty="0" smtClean="0">
                <a:uFill>
                  <a:solidFill>
                    <a:srgbClr val="FFFFFF"/>
                  </a:solidFill>
                </a:uFill>
                <a:latin typeface="Calibri"/>
              </a:rPr>
              <a:t>added </a:t>
            </a:r>
            <a:r>
              <a:rPr lang="en-AU" sz="1800" strike="noStrike" spc="-1" dirty="0">
                <a:uFill>
                  <a:solidFill>
                    <a:srgbClr val="FFFFFF"/>
                  </a:solidFill>
                </a:uFill>
                <a:latin typeface="Calibri"/>
              </a:rPr>
              <a:t>to get a simpler </a:t>
            </a:r>
            <a:r>
              <a:rPr lang="en-AU" sz="1800" strike="noStrike" spc="-1" dirty="0" smtClean="0">
                <a:uFill>
                  <a:solidFill>
                    <a:srgbClr val="FFFFFF"/>
                  </a:solidFill>
                </a:uFill>
                <a:latin typeface="Calibri"/>
              </a:rPr>
              <a:t>answer</a:t>
            </a:r>
            <a:endParaRPr lang="en-AU" sz="180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73785" y="2002707"/>
            <a:ext cx="6193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AU" b="1" spc="-1" dirty="0" smtClean="0">
                <a:uFill>
                  <a:solidFill>
                    <a:srgbClr val="FFFFFF"/>
                  </a:solidFill>
                </a:uFill>
                <a:latin typeface="Calibri"/>
              </a:rPr>
              <a:t>LIKE TERMS </a:t>
            </a:r>
            <a:r>
              <a:rPr lang="en-AU" spc="-1" dirty="0" smtClean="0">
                <a:uFill>
                  <a:solidFill>
                    <a:srgbClr val="FFFFFF"/>
                  </a:solidFill>
                </a:uFill>
                <a:latin typeface="Calibri"/>
              </a:rPr>
              <a:t>are terms that have exactly the same pronumerals</a:t>
            </a:r>
            <a:endParaRPr lang="en-AU" spc="-1" dirty="0"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24" name="CustomShape 20"/>
          <p:cNvSpPr/>
          <p:nvPr/>
        </p:nvSpPr>
        <p:spPr>
          <a:xfrm>
            <a:off x="3097195" y="4416444"/>
            <a:ext cx="4048431" cy="3646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</a:t>
            </a:r>
            <a:r>
              <a:rPr lang="en-AU" sz="1800" i="1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+ </a:t>
            </a:r>
            <a:r>
              <a:rPr lang="en-AU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</a:t>
            </a:r>
            <a:r>
              <a:rPr lang="en-AU" sz="1800" i="1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= 5a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CustomShape 20"/>
          <p:cNvSpPr/>
          <p:nvPr/>
        </p:nvSpPr>
        <p:spPr>
          <a:xfrm>
            <a:off x="3130456" y="3687298"/>
            <a:ext cx="4048431" cy="3646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8</a:t>
            </a:r>
            <a:r>
              <a:rPr lang="en-AU" sz="1800" i="1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sz="1800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and </a:t>
            </a:r>
            <a:r>
              <a:rPr lang="en-AU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8</a:t>
            </a:r>
            <a:r>
              <a:rPr lang="en-AU" sz="1800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are </a:t>
            </a:r>
            <a:r>
              <a:rPr lang="en-AU" b="1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NOT </a:t>
            </a:r>
            <a:r>
              <a:rPr lang="en-AU" sz="1800" b="1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LIKE TERMS.</a:t>
            </a:r>
            <a:r>
              <a:rPr lang="en-AU" sz="1800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endParaRPr lang="en-AU" sz="1800" strike="noStrike" spc="-1" dirty="0">
              <a:solidFill>
                <a:srgbClr val="FF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" name="CustomShape 20"/>
          <p:cNvSpPr/>
          <p:nvPr/>
        </p:nvSpPr>
        <p:spPr>
          <a:xfrm>
            <a:off x="3097553" y="4727245"/>
            <a:ext cx="4048431" cy="3646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</a:t>
            </a:r>
            <a:r>
              <a:rPr lang="en-AU" sz="1800" i="1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sz="1800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+ </a:t>
            </a:r>
            <a:r>
              <a:rPr lang="en-AU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</a:t>
            </a:r>
            <a:r>
              <a:rPr lang="en-AU" i="1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</a:t>
            </a:r>
            <a:r>
              <a:rPr lang="en-AU" sz="1800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=  </a:t>
            </a:r>
            <a:r>
              <a:rPr lang="en-AU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</a:t>
            </a:r>
            <a:r>
              <a:rPr lang="en-AU" i="1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</a:t>
            </a:r>
            <a:r>
              <a:rPr lang="en-AU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+ </a:t>
            </a:r>
            <a:r>
              <a:rPr lang="en-AU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</a:t>
            </a:r>
            <a:r>
              <a:rPr lang="en-AU" i="1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    </a:t>
            </a:r>
            <a:r>
              <a:rPr lang="en-AU" b="1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NO CHANGE!!!</a:t>
            </a:r>
            <a:r>
              <a:rPr lang="en-AU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AU" sz="1800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endParaRPr lang="en-AU" sz="1800" strike="noStrike" spc="-1" dirty="0">
              <a:solidFill>
                <a:srgbClr val="FF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CustomShape 20"/>
          <p:cNvSpPr/>
          <p:nvPr/>
        </p:nvSpPr>
        <p:spPr>
          <a:xfrm>
            <a:off x="3255339" y="4400632"/>
            <a:ext cx="4048431" cy="3646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endParaRPr lang="en-AU" sz="1800" strike="noStrike" spc="-1" dirty="0">
              <a:solidFill>
                <a:srgbClr val="FF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CustomShape 19"/>
          <p:cNvSpPr/>
          <p:nvPr/>
        </p:nvSpPr>
        <p:spPr>
          <a:xfrm>
            <a:off x="252342" y="1998262"/>
            <a:ext cx="2461646" cy="6327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What are ‘like terms’?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CustomShape 20"/>
          <p:cNvSpPr/>
          <p:nvPr/>
        </p:nvSpPr>
        <p:spPr>
          <a:xfrm>
            <a:off x="3130456" y="2317680"/>
            <a:ext cx="4048431" cy="3646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</a:t>
            </a:r>
            <a:r>
              <a:rPr lang="en-AU" sz="1800" i="1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and </a:t>
            </a:r>
            <a:r>
              <a:rPr lang="en-AU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5</a:t>
            </a:r>
            <a:r>
              <a:rPr lang="en-AU" sz="1800" i="1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is an example of </a:t>
            </a:r>
            <a:r>
              <a:rPr lang="en-AU" sz="1800" b="1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LIKE TERMS.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CustomShape 20"/>
          <p:cNvSpPr/>
          <p:nvPr/>
        </p:nvSpPr>
        <p:spPr>
          <a:xfrm>
            <a:off x="3130456" y="3337026"/>
            <a:ext cx="4048431" cy="383214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r>
              <a:rPr lang="en-AU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</a:t>
            </a:r>
            <a:r>
              <a:rPr lang="en-AU" sz="1800" i="1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sz="1800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and </a:t>
            </a:r>
            <a:r>
              <a:rPr lang="en-AU" i="1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sz="1600" baseline="30000" dirty="0" smtClean="0">
                <a:solidFill>
                  <a:srgbClr val="FF0000"/>
                </a:solidFill>
              </a:rPr>
              <a:t>2</a:t>
            </a:r>
            <a:r>
              <a:rPr lang="en-AU" sz="1600" dirty="0" smtClean="0">
                <a:solidFill>
                  <a:srgbClr val="FF0000"/>
                </a:solidFill>
              </a:rPr>
              <a:t> </a:t>
            </a:r>
            <a:r>
              <a:rPr lang="en-AU" sz="1800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are </a:t>
            </a:r>
            <a:r>
              <a:rPr lang="en-AU" b="1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NOT </a:t>
            </a:r>
            <a:r>
              <a:rPr lang="en-AU" sz="1800" b="1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LIKE TERMS.</a:t>
            </a:r>
            <a:r>
              <a:rPr lang="en-AU" sz="1800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endParaRPr lang="en-AU" sz="1800" strike="noStrike" spc="-1" dirty="0">
              <a:solidFill>
                <a:srgbClr val="FF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CustomShape 20"/>
          <p:cNvSpPr/>
          <p:nvPr/>
        </p:nvSpPr>
        <p:spPr>
          <a:xfrm>
            <a:off x="3130456" y="2667978"/>
            <a:ext cx="4048431" cy="3646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</a:t>
            </a:r>
            <a:r>
              <a:rPr lang="en-AU" sz="1800" i="1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sz="1800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and </a:t>
            </a:r>
            <a:r>
              <a:rPr lang="en-AU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</a:t>
            </a:r>
            <a:r>
              <a:rPr lang="en-AU" i="1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</a:t>
            </a:r>
            <a:r>
              <a:rPr lang="en-AU" sz="1800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are </a:t>
            </a:r>
            <a:r>
              <a:rPr lang="en-AU" b="1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NOT </a:t>
            </a:r>
            <a:r>
              <a:rPr lang="en-AU" sz="1800" b="1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LIKE TERMS.</a:t>
            </a:r>
            <a:r>
              <a:rPr lang="en-AU" sz="1800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endParaRPr lang="en-AU" sz="1800" strike="noStrike" spc="-1" dirty="0">
              <a:solidFill>
                <a:srgbClr val="FF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CustomShape 20"/>
          <p:cNvSpPr/>
          <p:nvPr/>
        </p:nvSpPr>
        <p:spPr>
          <a:xfrm>
            <a:off x="3110685" y="5419339"/>
            <a:ext cx="4048431" cy="3646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</a:t>
            </a:r>
            <a:r>
              <a:rPr lang="en-AU" sz="1800" i="1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+ </a:t>
            </a:r>
            <a:r>
              <a:rPr lang="en-AU" i="1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sz="1600" baseline="30000" dirty="0" smtClean="0">
                <a:solidFill>
                  <a:srgbClr val="FF0000"/>
                </a:solidFill>
              </a:rPr>
              <a:t>2 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+ 8a + </a:t>
            </a:r>
            <a:r>
              <a:rPr lang="en-AU" sz="1800" strike="noStrike" spc="-1" dirty="0" smtClean="0">
                <a:solidFill>
                  <a:schemeClr val="accent5">
                    <a:lumMod val="75000"/>
                  </a:schemeClr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8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= </a:t>
            </a:r>
            <a:r>
              <a:rPr lang="en-AU" i="1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baseline="30000" dirty="0" smtClean="0">
                <a:solidFill>
                  <a:srgbClr val="FF0000"/>
                </a:solidFill>
              </a:rPr>
              <a:t>2 </a:t>
            </a:r>
            <a:r>
              <a:rPr lang="en-AU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+ 10</a:t>
            </a:r>
            <a:r>
              <a:rPr lang="en-AU" sz="1800" i="1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 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+</a:t>
            </a:r>
            <a:r>
              <a:rPr lang="en-AU" spc="-1" dirty="0">
                <a:solidFill>
                  <a:schemeClr val="accent5">
                    <a:lumMod val="75000"/>
                  </a:schemeClr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AU" spc="-1" dirty="0" smtClean="0">
                <a:solidFill>
                  <a:schemeClr val="accent5">
                    <a:lumMod val="75000"/>
                  </a:schemeClr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8 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AU" sz="1800" i="1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4" name="CustomShape 20"/>
          <p:cNvSpPr/>
          <p:nvPr/>
        </p:nvSpPr>
        <p:spPr>
          <a:xfrm>
            <a:off x="3095681" y="5073292"/>
            <a:ext cx="4048431" cy="3646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4</a:t>
            </a:r>
            <a:r>
              <a:rPr lang="en-AU" sz="1800" i="1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ab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+ </a:t>
            </a:r>
            <a:r>
              <a:rPr lang="en-AU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7</a:t>
            </a:r>
            <a:r>
              <a:rPr lang="en-AU" i="1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</a:t>
            </a:r>
            <a:r>
              <a:rPr lang="en-AU" sz="1800" i="1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= 11</a:t>
            </a:r>
            <a:r>
              <a:rPr lang="en-AU" sz="1800" i="1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ab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CustomShape 19"/>
          <p:cNvSpPr/>
          <p:nvPr/>
        </p:nvSpPr>
        <p:spPr>
          <a:xfrm>
            <a:off x="302150" y="5605579"/>
            <a:ext cx="2626740" cy="70757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Is subtracting like terms the same?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CustomShape 9"/>
          <p:cNvSpPr/>
          <p:nvPr/>
        </p:nvSpPr>
        <p:spPr>
          <a:xfrm>
            <a:off x="3023463" y="5747837"/>
            <a:ext cx="5832720" cy="44487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60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Yes but we must </a:t>
            </a:r>
            <a:r>
              <a:rPr lang="en-US" sz="1600" b="1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check the sign in front </a:t>
            </a:r>
            <a:r>
              <a:rPr lang="en-US" sz="160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of the term</a:t>
            </a:r>
            <a:endParaRPr lang="en-AU" sz="16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7" name="CustomShape 20"/>
          <p:cNvSpPr/>
          <p:nvPr/>
        </p:nvSpPr>
        <p:spPr>
          <a:xfrm>
            <a:off x="3095681" y="6058156"/>
            <a:ext cx="4048431" cy="3646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12</a:t>
            </a:r>
            <a:r>
              <a:rPr lang="en-AU" sz="1800" i="1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AU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– </a:t>
            </a:r>
            <a:r>
              <a:rPr lang="en-AU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5</a:t>
            </a:r>
            <a:r>
              <a:rPr lang="en-AU" i="1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AU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+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2</a:t>
            </a:r>
            <a:r>
              <a:rPr lang="en-AU" sz="1800" i="1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– </a:t>
            </a:r>
            <a:r>
              <a:rPr lang="en-AU" i="1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= </a:t>
            </a:r>
            <a:r>
              <a:rPr lang="en-AU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8</a:t>
            </a:r>
            <a:r>
              <a:rPr lang="en-AU" i="1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8" name="CustomShape 20"/>
          <p:cNvSpPr/>
          <p:nvPr/>
        </p:nvSpPr>
        <p:spPr>
          <a:xfrm>
            <a:off x="3110684" y="6455678"/>
            <a:ext cx="4048431" cy="3646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10</a:t>
            </a:r>
            <a:r>
              <a:rPr lang="en-AU" sz="1800" i="1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+ </a:t>
            </a:r>
            <a:r>
              <a:rPr lang="en-AU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5</a:t>
            </a:r>
            <a:r>
              <a:rPr lang="en-AU" i="1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– 6</a:t>
            </a:r>
            <a:r>
              <a:rPr lang="en-AU" sz="1800" i="1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– 8</a:t>
            </a:r>
            <a:r>
              <a:rPr lang="en-AU" sz="1800" i="1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</a:t>
            </a:r>
            <a:r>
              <a:rPr lang="en-AU" sz="1800" strike="noStrike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= </a:t>
            </a:r>
            <a:r>
              <a:rPr lang="en-AU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4</a:t>
            </a:r>
            <a:r>
              <a:rPr lang="en-AU" i="1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en-AU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– 3</a:t>
            </a:r>
            <a:r>
              <a:rPr lang="en-AU" i="1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</a:t>
            </a:r>
            <a:r>
              <a:rPr lang="en-AU" spc="-1" dirty="0" smtClean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5427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/>
      <p:bldP spid="177" grpId="0"/>
      <p:bldP spid="2" grpId="0"/>
      <p:bldP spid="24" grpId="0"/>
      <p:bldP spid="25" grpId="0"/>
      <p:bldP spid="26" grpId="0"/>
      <p:bldP spid="29" grpId="0"/>
      <p:bldP spid="31" grpId="0"/>
      <p:bldP spid="32" grpId="0"/>
      <p:bldP spid="33" grpId="0"/>
      <p:bldP spid="34" grpId="0"/>
      <p:bldP spid="36" grpId="0"/>
      <p:bldP spid="37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42387" y="1939315"/>
                <a:ext cx="59809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1939315"/>
                <a:ext cx="5980963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15" r="-9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042387" y="3232001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232001"/>
                <a:ext cx="5616624" cy="646331"/>
              </a:xfrm>
              <a:prstGeom prst="rect">
                <a:avLst/>
              </a:prstGeom>
              <a:blipFill rotWithShape="0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044214" y="3809264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dirty="0" smtClean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𝑥𝑦𝑚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blipFill rotWithShape="0"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Something harder: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𝑥𝑦𝑧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84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×3×2×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3848" y="6246604"/>
                <a:ext cx="53285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24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6246604"/>
                <a:ext cx="5328592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105305" y="5850576"/>
                <a:ext cx="14418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2=24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5" y="5850576"/>
                <a:ext cx="1441863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547169" y="5850576"/>
                <a:ext cx="12844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169" y="5850576"/>
                <a:ext cx="1284464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015120" y="5836378"/>
                <a:ext cx="10801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Only 1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120" y="5836378"/>
                <a:ext cx="1080120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5085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095240" y="5850576"/>
                <a:ext cx="17077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240" y="5850576"/>
                <a:ext cx="1707787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>
          <a:xfrm flipV="1">
            <a:off x="4067944" y="5589240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5403844" y="5643679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6500131" y="5719908"/>
            <a:ext cx="55049" cy="2043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7380312" y="5663824"/>
            <a:ext cx="339148" cy="1981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5315" y="2008218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81485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m:rPr>
                          <m:nor/>
                        </m:rPr>
                        <a:rPr lang="en-AU" dirty="0"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AU" dirty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03406" y="31836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794758" y="3571448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𝑚𝑒𝑎𝑛𝑠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1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1400" dirty="0" smtClean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1400" dirty="0" smtClean="0">
                    <a:solidFill>
                      <a:srgbClr val="FF0000"/>
                    </a:solidFill>
                  </a:rPr>
                  <a:t>We don’t need to write the 1</a:t>
                </a:r>
                <a:endParaRPr lang="en-AU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blipFill rotWithShape="0">
                <a:blip r:embed="rId11"/>
                <a:stretch>
                  <a:fillRect b="-104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3275856" y="4941168"/>
            <a:ext cx="127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5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blipFill rotWithShape="0">
                <a:blip r:embed="rId13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blipFill rotWithShape="0">
                <a:blip r:embed="rId14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6901814" y="488106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165314" y="47932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314" y="4793218"/>
                <a:ext cx="273045" cy="369332"/>
              </a:xfrm>
              <a:prstGeom prst="rect">
                <a:avLst/>
              </a:prstGeom>
              <a:blipFill rotWithShape="0">
                <a:blip r:embed="rId15"/>
                <a:stretch>
                  <a:fillRect r="-8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6165314" y="5094736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314" y="5094736"/>
                <a:ext cx="273045" cy="369332"/>
              </a:xfrm>
              <a:prstGeom prst="rect">
                <a:avLst/>
              </a:prstGeom>
              <a:blipFill rotWithShape="0">
                <a:blip r:embed="rId16"/>
                <a:stretch>
                  <a:fillRect r="-8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51"/>
          <p:cNvCxnSpPr/>
          <p:nvPr/>
        </p:nvCxnSpPr>
        <p:spPr>
          <a:xfrm flipV="1">
            <a:off x="5622645" y="48318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5606581" y="5163393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5809317" y="4813954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5794006" y="5144413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12623" y="454477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58" name="TextBox 57"/>
          <p:cNvSpPr txBox="1"/>
          <p:nvPr/>
        </p:nvSpPr>
        <p:spPr>
          <a:xfrm>
            <a:off x="5463640" y="5394184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932040" y="5763516"/>
                <a:ext cx="1233274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040" y="5763516"/>
                <a:ext cx="1233274" cy="634789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6234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68215"/>
          </a:xfrm>
        </p:spPr>
        <p:txBody>
          <a:bodyPr/>
          <a:lstStyle/>
          <a:p>
            <a:pPr algn="ctr"/>
            <a:r>
              <a:rPr lang="en-US" b="1" dirty="0" smtClean="0"/>
              <a:t>Algebra Review</a:t>
            </a:r>
            <a:endParaRPr lang="en-AU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628650" y="1133341"/>
                <a:ext cx="7886700" cy="4958366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sz="3000" dirty="0" smtClean="0"/>
                  <a:t>Do YOU know how to…</a:t>
                </a:r>
              </a:p>
              <a:p>
                <a:r>
                  <a:rPr lang="en-US" sz="2400" dirty="0" smtClean="0"/>
                  <a:t>Write an algebraic expression		</a:t>
                </a:r>
              </a:p>
              <a:p>
                <a:pPr marL="0" indent="0">
                  <a:buNone/>
                </a:pPr>
                <a:r>
                  <a:rPr lang="en-US" sz="2400" i="1" dirty="0" smtClean="0"/>
                  <a:t>     </a:t>
                </a:r>
                <a:r>
                  <a:rPr lang="en-US" sz="2000" i="1" dirty="0" smtClean="0"/>
                  <a:t>If x is the amount of biscuits in a jar, and we eat 3 biscuits, how many…</a:t>
                </a:r>
                <a:endParaRPr lang="en-US" sz="2000" dirty="0" smtClean="0"/>
              </a:p>
              <a:p>
                <a:r>
                  <a:rPr lang="en-US" sz="2400" dirty="0" smtClean="0"/>
                  <a:t>Add/subtract with like terms</a:t>
                </a:r>
              </a:p>
              <a:p>
                <a:pPr marL="457200" lvl="1" indent="0">
                  <a:buNone/>
                </a:pPr>
                <a:r>
                  <a:rPr lang="en-US" sz="2000" i="1" dirty="0" smtClean="0"/>
                  <a:t>3a + 2a = 5a	           3a + 2b </a:t>
                </a:r>
                <a:r>
                  <a:rPr lang="en-AU" sz="2000" i="1" dirty="0" smtClean="0"/>
                  <a:t>=</a:t>
                </a:r>
                <a:r>
                  <a:rPr lang="en-US" sz="2000" i="1" dirty="0" smtClean="0"/>
                  <a:t> </a:t>
                </a:r>
                <a:r>
                  <a:rPr lang="en-US" sz="2000" i="1" dirty="0"/>
                  <a:t>3a + </a:t>
                </a:r>
                <a:r>
                  <a:rPr lang="en-US" sz="2000" i="1" dirty="0" smtClean="0"/>
                  <a:t>2b               3a + 2c – a </a:t>
                </a:r>
                <a:r>
                  <a:rPr lang="en-US" sz="2000" i="1" dirty="0"/>
                  <a:t>– </a:t>
                </a:r>
                <a:r>
                  <a:rPr lang="en-US" sz="2000" i="1" dirty="0" smtClean="0"/>
                  <a:t>5c = 2a – 3c</a:t>
                </a:r>
              </a:p>
              <a:p>
                <a:r>
                  <a:rPr lang="en-US" sz="2400" dirty="0" smtClean="0"/>
                  <a:t>Multiply/divide with algebraic terms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     </a:t>
                </a:r>
                <a:r>
                  <a:rPr lang="en-US" sz="2000" i="1" dirty="0" smtClean="0"/>
                  <a:t>2a x 3 = 6a	</a:t>
                </a:r>
                <a:r>
                  <a:rPr lang="en-AU" sz="2000" dirty="0"/>
                  <a:t> </a:t>
                </a:r>
                <a:r>
                  <a:rPr lang="en-AU" sz="2000" dirty="0" smtClean="0"/>
                  <a:t>        </a:t>
                </a:r>
                <a:r>
                  <a:rPr lang="en-AU" sz="2000" i="1" dirty="0" smtClean="0"/>
                  <a:t>2a</a:t>
                </a:r>
                <a:r>
                  <a:rPr lang="en-AU" sz="2000" i="1" baseline="30000" dirty="0" smtClean="0"/>
                  <a:t>2</a:t>
                </a:r>
                <a:r>
                  <a:rPr lang="en-US" sz="2000" i="1" dirty="0" smtClean="0"/>
                  <a:t> x 5ab = 10</a:t>
                </a:r>
                <a:r>
                  <a:rPr lang="en-AU" sz="2000" i="1" dirty="0" smtClean="0"/>
                  <a:t>a</a:t>
                </a:r>
                <a:r>
                  <a:rPr lang="en-AU" sz="2000" i="1" baseline="30000" dirty="0" smtClean="0"/>
                  <a:t>3</a:t>
                </a:r>
                <a:r>
                  <a:rPr lang="en-US" sz="2000" i="1" dirty="0"/>
                  <a:t>b</a:t>
                </a:r>
                <a:r>
                  <a:rPr lang="en-US" sz="2000" i="1" dirty="0" smtClean="0"/>
                  <a:t> </a:t>
                </a:r>
                <a:r>
                  <a:rPr lang="en-US" sz="2000" dirty="0" smtClean="0"/>
                  <a:t>    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𝑎𝑏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sz="2000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000" dirty="0" smtClean="0"/>
              </a:p>
              <a:p>
                <a:r>
                  <a:rPr lang="en-US" sz="2400" dirty="0" smtClean="0"/>
                  <a:t>Expand out brackets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       </a:t>
                </a:r>
                <a:r>
                  <a:rPr lang="en-US" sz="2000" i="1" dirty="0" smtClean="0"/>
                  <a:t>3 (p + 6 ) = 3p + 18	5w (w </a:t>
                </a:r>
                <a:r>
                  <a:rPr lang="en-US" sz="2000" i="1" dirty="0"/>
                  <a:t>–</a:t>
                </a:r>
                <a:r>
                  <a:rPr lang="en-US" sz="2000" i="1" dirty="0" smtClean="0"/>
                  <a:t> 2) + 3w = 5w</a:t>
                </a:r>
                <a:r>
                  <a:rPr lang="en-AU" sz="2400" i="1" baseline="30000" dirty="0" smtClean="0"/>
                  <a:t>2</a:t>
                </a:r>
                <a:r>
                  <a:rPr lang="en-US" sz="2400" i="1" dirty="0"/>
                  <a:t> </a:t>
                </a:r>
                <a:r>
                  <a:rPr lang="en-US" sz="2100" i="1" dirty="0"/>
                  <a:t>–</a:t>
                </a:r>
                <a:r>
                  <a:rPr lang="en-US" sz="2100" i="1" dirty="0" smtClean="0"/>
                  <a:t> 10w + 3w = </a:t>
                </a:r>
                <a:r>
                  <a:rPr lang="en-US" sz="2000" i="1" dirty="0"/>
                  <a:t>5w</a:t>
                </a:r>
                <a:r>
                  <a:rPr lang="en-AU" sz="2400" i="1" baseline="30000" dirty="0"/>
                  <a:t>2</a:t>
                </a:r>
                <a:r>
                  <a:rPr lang="en-US" sz="2400" i="1" dirty="0"/>
                  <a:t> </a:t>
                </a:r>
                <a:r>
                  <a:rPr lang="en-US" sz="2100" i="1" dirty="0"/>
                  <a:t>–</a:t>
                </a:r>
                <a:r>
                  <a:rPr lang="en-US" sz="2100" i="1" dirty="0" smtClean="0"/>
                  <a:t> 7w </a:t>
                </a:r>
              </a:p>
              <a:p>
                <a:r>
                  <a:rPr lang="en-US" sz="2400" dirty="0" err="1" smtClean="0"/>
                  <a:t>Factorise</a:t>
                </a:r>
                <a:r>
                  <a:rPr lang="en-US" sz="2400" dirty="0" smtClean="0"/>
                  <a:t> algebraic expressions</a:t>
                </a:r>
              </a:p>
              <a:p>
                <a:pPr marL="0" indent="0">
                  <a:buNone/>
                </a:pPr>
                <a:r>
                  <a:rPr lang="en-US" sz="2400" dirty="0"/>
                  <a:t> </a:t>
                </a:r>
                <a:r>
                  <a:rPr lang="en-US" sz="2400" dirty="0" smtClean="0"/>
                  <a:t>     </a:t>
                </a:r>
                <a:r>
                  <a:rPr lang="en-US" sz="2000" i="1" dirty="0"/>
                  <a:t>3</a:t>
                </a:r>
                <a:r>
                  <a:rPr lang="en-US" sz="2000" i="1" dirty="0" smtClean="0"/>
                  <a:t>j + 15 = 3 (j + 5)		8x</a:t>
                </a:r>
                <a:r>
                  <a:rPr lang="en-AU" sz="2000" i="1" baseline="30000" dirty="0" smtClean="0"/>
                  <a:t> </a:t>
                </a:r>
                <a:r>
                  <a:rPr lang="en-AU" sz="2000" i="1" baseline="30000" dirty="0"/>
                  <a:t>2</a:t>
                </a:r>
                <a:r>
                  <a:rPr lang="en-US" sz="2000" i="1" dirty="0" smtClean="0"/>
                  <a:t> + 12x = 4x (2x + 3)  </a:t>
                </a:r>
                <a:endParaRPr lang="en-US" sz="2400" dirty="0" smtClean="0"/>
              </a:p>
              <a:p>
                <a:r>
                  <a:rPr lang="en-US" sz="2400" dirty="0" smtClean="0"/>
                  <a:t>Substitute numbers into algebraic expressions</a:t>
                </a:r>
              </a:p>
              <a:p>
                <a:pPr marL="0" indent="0">
                  <a:buNone/>
                </a:pPr>
                <a:r>
                  <a:rPr lang="en-US" sz="2100" dirty="0" smtClean="0"/>
                  <a:t>      </a:t>
                </a:r>
                <a:r>
                  <a:rPr lang="en-US" sz="2100" i="1" dirty="0" smtClean="0"/>
                  <a:t>If a = 2 and b = 3, evaluate </a:t>
                </a:r>
                <a:r>
                  <a:rPr lang="en-US" sz="2100" i="1" dirty="0"/>
                  <a:t> </a:t>
                </a:r>
                <a:r>
                  <a:rPr lang="en-US" sz="2100" i="1" dirty="0" smtClean="0"/>
                  <a:t>4a + b</a:t>
                </a:r>
                <a:r>
                  <a:rPr lang="en-AU" sz="2000" i="1" baseline="30000" dirty="0" smtClean="0"/>
                  <a:t>2</a:t>
                </a:r>
                <a:r>
                  <a:rPr lang="en-US" sz="2100" i="1" dirty="0" smtClean="0"/>
                  <a:t> = 4 x 2 + 3</a:t>
                </a:r>
                <a:r>
                  <a:rPr lang="en-AU" sz="2000" i="1" baseline="30000" dirty="0" smtClean="0"/>
                  <a:t>2</a:t>
                </a:r>
                <a:r>
                  <a:rPr lang="en-US" sz="2100" i="1" dirty="0" smtClean="0"/>
                  <a:t> = 8 + 9 = 17</a:t>
                </a:r>
                <a:endParaRPr lang="en-US" sz="2100" dirty="0" smtClean="0"/>
              </a:p>
              <a:p>
                <a:endParaRPr lang="en-US" sz="2400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28650" y="1133341"/>
                <a:ext cx="7886700" cy="4958366"/>
              </a:xfrm>
              <a:prstGeom prst="rect">
                <a:avLst/>
              </a:prstGeom>
              <a:blipFill rotWithShape="0">
                <a:blip r:embed="rId2"/>
                <a:stretch>
                  <a:fillRect l="-1391" t="-270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521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 smtClean="0"/>
              <a:t>Don’t forget what these words mean!</a:t>
            </a:r>
            <a:endParaRPr lang="en-AU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28650" y="1825625"/>
            <a:ext cx="2552432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Expression</a:t>
            </a:r>
          </a:p>
          <a:p>
            <a:r>
              <a:rPr lang="en-US" dirty="0" smtClean="0"/>
              <a:t>Term</a:t>
            </a:r>
          </a:p>
          <a:p>
            <a:r>
              <a:rPr lang="en-US" dirty="0" smtClean="0"/>
              <a:t>Coefficient</a:t>
            </a:r>
          </a:p>
          <a:p>
            <a:r>
              <a:rPr lang="en-US" dirty="0" smtClean="0"/>
              <a:t>Constant</a:t>
            </a:r>
          </a:p>
          <a:p>
            <a:r>
              <a:rPr lang="en-US" dirty="0" smtClean="0"/>
              <a:t>Pronumeral</a:t>
            </a:r>
          </a:p>
          <a:p>
            <a:r>
              <a:rPr lang="en-US" dirty="0" smtClean="0"/>
              <a:t>Like Terms</a:t>
            </a:r>
          </a:p>
          <a:p>
            <a:r>
              <a:rPr lang="en-US" dirty="0" smtClean="0"/>
              <a:t>Expand</a:t>
            </a:r>
          </a:p>
          <a:p>
            <a:r>
              <a:rPr lang="en-US" dirty="0" err="1" smtClean="0"/>
              <a:t>Factorise</a:t>
            </a:r>
            <a:endParaRPr lang="en-US" dirty="0" smtClean="0"/>
          </a:p>
          <a:p>
            <a:r>
              <a:rPr lang="en-US" dirty="0" smtClean="0"/>
              <a:t>Evaluate</a:t>
            </a:r>
          </a:p>
          <a:p>
            <a:r>
              <a:rPr lang="en-US" dirty="0" smtClean="0"/>
              <a:t>Simplify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955073" y="3195828"/>
            <a:ext cx="6099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3a + a + 4ab – 5ba + 3</a:t>
            </a:r>
            <a:r>
              <a:rPr lang="en-AU" sz="3600" dirty="0" smtClean="0"/>
              <a:t>a</a:t>
            </a:r>
            <a:r>
              <a:rPr lang="en-AU" sz="3600" baseline="30000" dirty="0" smtClean="0"/>
              <a:t>2</a:t>
            </a:r>
            <a:r>
              <a:rPr lang="en-AU" sz="3600" dirty="0" smtClean="0"/>
              <a:t> + 7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3712935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2659</TotalTime>
  <Words>466</Words>
  <Application>Microsoft Office PowerPoint</Application>
  <PresentationFormat>On-screen Show (4:3)</PresentationFormat>
  <Paragraphs>124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DejaVu Sans</vt:lpstr>
      <vt:lpstr>Symbol</vt:lpstr>
      <vt:lpstr>Times New Roman</vt:lpstr>
      <vt:lpstr>Wingdings</vt:lpstr>
      <vt:lpstr>Office Theme</vt:lpstr>
      <vt:lpstr>Office Theme</vt:lpstr>
      <vt:lpstr>Office Theme</vt:lpstr>
      <vt:lpstr>PowerPoint Presentation</vt:lpstr>
      <vt:lpstr>Can you remember these?</vt:lpstr>
      <vt:lpstr>PowerPoint Presentation</vt:lpstr>
      <vt:lpstr>Can you remember these?</vt:lpstr>
      <vt:lpstr>Activity</vt:lpstr>
      <vt:lpstr>PowerPoint Presentation</vt:lpstr>
      <vt:lpstr>PowerPoint Presentation</vt:lpstr>
      <vt:lpstr>PowerPoint Presentation</vt:lpstr>
      <vt:lpstr>Algebra Review</vt:lpstr>
      <vt:lpstr>Don’t forget what these words mean!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e4057735</cp:lastModifiedBy>
  <cp:revision>136</cp:revision>
  <dcterms:created xsi:type="dcterms:W3CDTF">2014-05-14T02:58:57Z</dcterms:created>
  <dcterms:modified xsi:type="dcterms:W3CDTF">2017-08-09T08:41:51Z</dcterms:modified>
  <dc:language>en-AU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Company">
    <vt:lpwstr>The Department of Education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14</vt:i4>
  </property>
</Properties>
</file>
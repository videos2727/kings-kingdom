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0" r:id="rId2"/>
    <p:sldId id="259" r:id="rId3"/>
    <p:sldId id="258" r:id="rId4"/>
    <p:sldId id="334" r:id="rId5"/>
    <p:sldId id="335" r:id="rId6"/>
    <p:sldId id="337" r:id="rId7"/>
    <p:sldId id="336" r:id="rId8"/>
    <p:sldId id="338" r:id="rId9"/>
    <p:sldId id="339" r:id="rId10"/>
    <p:sldId id="315" r:id="rId11"/>
    <p:sldId id="316" r:id="rId12"/>
    <p:sldId id="319" r:id="rId13"/>
    <p:sldId id="321" r:id="rId14"/>
    <p:sldId id="292" r:id="rId15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34" autoAdjust="0"/>
    <p:restoredTop sz="89165" autoAdjust="0"/>
  </p:normalViewPr>
  <p:slideViewPr>
    <p:cSldViewPr>
      <p:cViewPr varScale="1">
        <p:scale>
          <a:sx n="86" d="100"/>
          <a:sy n="86" d="100"/>
        </p:scale>
        <p:origin x="930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2805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14/08/2017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14/08/2017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14/08/2017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14/08/2017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14/08/2017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14/08/2017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14/08/2017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Solving Equations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Teacher: Mr </a:t>
            </a:r>
            <a:r>
              <a:rPr lang="en-AU" dirty="0" err="1" smtClean="0"/>
              <a:t>Heptinstall</a:t>
            </a:r>
            <a:endParaRPr lang="en-AU" dirty="0" smtClean="0"/>
          </a:p>
          <a:p>
            <a:pPr algn="l"/>
            <a:r>
              <a:rPr lang="en-AU" dirty="0" smtClean="0"/>
              <a:t>Term 3 Semester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2856644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6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=17</m:t>
                      </m:r>
                    </m:oMath>
                  </m:oMathPara>
                </a14:m>
                <a:endParaRPr lang="en-AU" sz="6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2856644" cy="101566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4307644" y="1902233"/>
            <a:ext cx="20966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6000" dirty="0" smtClean="0">
                <a:solidFill>
                  <a:srgbClr val="0070C0"/>
                </a:solidFill>
                <a:latin typeface="Cambria" panose="02040503050406030204" pitchFamily="18" charset="0"/>
              </a:rPr>
              <a:t>a-4=7</a:t>
            </a:r>
            <a:endParaRPr lang="en-AU" sz="6000" dirty="0">
              <a:solidFill>
                <a:srgbClr val="0070C0"/>
              </a:solidFill>
              <a:latin typeface="Cambria" panose="020405030504060302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76256" y="437585"/>
            <a:ext cx="226774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5000" dirty="0" smtClean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AU" sz="5000" i="1" dirty="0" smtClean="0">
                <a:solidFill>
                  <a:srgbClr val="FFFF00"/>
                </a:solidFill>
                <a:latin typeface="Cambria" panose="02040503050406030204" pitchFamily="18" charset="0"/>
                <a:ea typeface="Cambria Math" panose="02040503050406030204" pitchFamily="18" charset="0"/>
              </a:rPr>
              <a:t>x</a:t>
            </a:r>
            <a:r>
              <a:rPr lang="en-AU" sz="5000" dirty="0" smtClean="0">
                <a:solidFill>
                  <a:srgbClr val="FFFF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=4</a:t>
            </a:r>
            <a:endParaRPr lang="en-AU" sz="5000" dirty="0">
              <a:solidFill>
                <a:srgbClr val="FFFF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504" y="5626894"/>
            <a:ext cx="280831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5000" dirty="0" smtClean="0">
                <a:solidFill>
                  <a:srgbClr val="7030A0"/>
                </a:solidFill>
                <a:latin typeface="Cambria" panose="02040503050406030204" pitchFamily="18" charset="0"/>
              </a:rPr>
              <a:t>2b+7=13</a:t>
            </a:r>
            <a:endParaRPr lang="en-AU" sz="5000" dirty="0">
              <a:solidFill>
                <a:srgbClr val="7030A0"/>
              </a:solidFill>
              <a:latin typeface="Cambria" panose="020405030504060302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64088" y="4797152"/>
            <a:ext cx="223224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5000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 Math" panose="02040503050406030204" pitchFamily="18" charset="0"/>
              </a:rPr>
              <a:t>x</a:t>
            </a:r>
            <a:r>
              <a:rPr lang="en-AU" sz="50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+5=9</a:t>
            </a:r>
            <a:endParaRPr lang="en-AU" sz="5000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213378" y="946268"/>
            <a:ext cx="38164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</a:t>
            </a:r>
            <a:r>
              <a:rPr lang="en-US" sz="2800" dirty="0" smtClean="0"/>
              <a:t>omplete the following tasks on this side (left) of your page</a:t>
            </a:r>
            <a:endParaRPr lang="en-AU" sz="2800" dirty="0"/>
          </a:p>
        </p:txBody>
      </p:sp>
      <p:sp>
        <p:nvSpPr>
          <p:cNvPr id="14" name="Title 2"/>
          <p:cNvSpPr txBox="1">
            <a:spLocks/>
          </p:cNvSpPr>
          <p:nvPr/>
        </p:nvSpPr>
        <p:spPr>
          <a:xfrm>
            <a:off x="4572089" y="5600296"/>
            <a:ext cx="4561918" cy="11430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smtClean="0"/>
              <a:t>Have YOU been doing your summaries?</a:t>
            </a:r>
            <a:endParaRPr lang="en-AU" sz="3200" dirty="0"/>
          </a:p>
        </p:txBody>
      </p:sp>
      <p:pic>
        <p:nvPicPr>
          <p:cNvPr id="16" name="Picture 15" descr="Image result for finger you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470" y="2856048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26173" y="5807659"/>
            <a:ext cx="5117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Your book, your responsibility!</a:t>
            </a:r>
            <a:endParaRPr lang="en-AU" sz="2800" dirty="0"/>
          </a:p>
        </p:txBody>
      </p:sp>
      <p:sp>
        <p:nvSpPr>
          <p:cNvPr id="18" name="TextBox 17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1" name="Right Arrow 20"/>
          <p:cNvSpPr/>
          <p:nvPr/>
        </p:nvSpPr>
        <p:spPr>
          <a:xfrm rot="13196492">
            <a:off x="4569761" y="536610"/>
            <a:ext cx="2290349" cy="13040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6705190" y="1785590"/>
            <a:ext cx="1755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You should be ticking these off!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18" grpId="0"/>
      <p:bldP spid="21" grpId="0" animBg="1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Let’s start with a game of 25c Pyramid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In pairs, choose one person to be A and one person to be B</a:t>
            </a:r>
          </a:p>
          <a:p>
            <a:r>
              <a:rPr lang="en-US" dirty="0" smtClean="0"/>
              <a:t>Person A will be looking at the board, Person B will look at the back of the room (no peeking!)</a:t>
            </a:r>
          </a:p>
          <a:p>
            <a:r>
              <a:rPr lang="en-US" dirty="0" smtClean="0"/>
              <a:t>A number will be displayed on the screen and you have to get your partner to be the first person to say it but…</a:t>
            </a:r>
          </a:p>
          <a:p>
            <a:r>
              <a:rPr lang="en-US" dirty="0" smtClean="0"/>
              <a:t>Person A can </a:t>
            </a:r>
            <a:r>
              <a:rPr lang="en-US" b="1" dirty="0" smtClean="0"/>
              <a:t>only</a:t>
            </a:r>
            <a:r>
              <a:rPr lang="en-US" dirty="0" smtClean="0"/>
              <a:t> use the variables, numbers and operations surrounding the number. Nothing else!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51289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For example…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3898152" y="2795607"/>
            <a:ext cx="115212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0" dirty="0" smtClean="0"/>
              <a:t>8</a:t>
            </a:r>
            <a:endParaRPr lang="en-AU" sz="15000" dirty="0"/>
          </a:p>
        </p:txBody>
      </p:sp>
      <p:sp>
        <p:nvSpPr>
          <p:cNvPr id="5" name="TextBox 4"/>
          <p:cNvSpPr txBox="1"/>
          <p:nvPr/>
        </p:nvSpPr>
        <p:spPr>
          <a:xfrm>
            <a:off x="1595496" y="3237656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 smtClean="0">
                <a:solidFill>
                  <a:srgbClr val="00B0F0"/>
                </a:solidFill>
              </a:rPr>
              <a:t>6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97536" y="1319679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00B0F0"/>
                </a:solidFill>
              </a:rPr>
              <a:t>4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52120" y="1844824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+</a:t>
            </a:r>
            <a:endParaRPr lang="en-AU" sz="10000" dirty="0">
              <a:solidFill>
                <a:srgbClr val="7030A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7361" y="3237656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chemeClr val="tx2">
                    <a:lumMod val="75000"/>
                  </a:schemeClr>
                </a:solidFill>
              </a:rPr>
              <a:t>m</a:t>
            </a:r>
            <a:endParaRPr lang="en-AU" sz="10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94796" y="1939225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=</a:t>
            </a:r>
            <a:r>
              <a:rPr lang="en-US" sz="10000" dirty="0" smtClean="0">
                <a:solidFill>
                  <a:srgbClr val="00B0F0"/>
                </a:solidFill>
              </a:rPr>
              <a:t>  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75378" y="4480450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×</a:t>
            </a:r>
            <a:endParaRPr lang="en-AU" sz="10000" dirty="0">
              <a:solidFill>
                <a:srgbClr val="7030A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93600" y="5085184"/>
            <a:ext cx="1556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 smtClean="0">
                <a:solidFill>
                  <a:srgbClr val="00B0F0"/>
                </a:solidFill>
              </a:rPr>
              <a:t>12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65219" y="4489261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÷</a:t>
            </a:r>
            <a:endParaRPr lang="en-AU" sz="10000" dirty="0">
              <a:solidFill>
                <a:srgbClr val="7030A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 rot="1941978">
            <a:off x="3922168" y="854637"/>
            <a:ext cx="562014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 smtClean="0">
                <a:solidFill>
                  <a:srgbClr val="FF0000"/>
                </a:solidFill>
              </a:rPr>
              <a:t>m + 4 = 12</a:t>
            </a:r>
            <a:endParaRPr lang="en-AU" sz="10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1324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Person A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3898152" y="2795607"/>
            <a:ext cx="115212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0" dirty="0" smtClean="0"/>
              <a:t>2</a:t>
            </a:r>
            <a:endParaRPr lang="en-AU" sz="15000" dirty="0"/>
          </a:p>
        </p:txBody>
      </p:sp>
      <p:sp>
        <p:nvSpPr>
          <p:cNvPr id="5" name="TextBox 4"/>
          <p:cNvSpPr txBox="1"/>
          <p:nvPr/>
        </p:nvSpPr>
        <p:spPr>
          <a:xfrm>
            <a:off x="1595496" y="3237656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 smtClean="0">
                <a:solidFill>
                  <a:srgbClr val="00B0F0"/>
                </a:solidFill>
              </a:rPr>
              <a:t>3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97536" y="1319679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00B0F0"/>
                </a:solidFill>
              </a:rPr>
              <a:t>4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52120" y="1844824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 smtClean="0">
                <a:solidFill>
                  <a:srgbClr val="7030A0"/>
                </a:solidFill>
              </a:rPr>
              <a:t>+</a:t>
            </a:r>
            <a:endParaRPr lang="en-AU" sz="10000" dirty="0">
              <a:solidFill>
                <a:srgbClr val="7030A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7361" y="3237656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chemeClr val="tx2">
                    <a:lumMod val="75000"/>
                  </a:schemeClr>
                </a:solidFill>
              </a:rPr>
              <a:t>w</a:t>
            </a:r>
            <a:endParaRPr lang="en-AU" sz="10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94796" y="1939225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=</a:t>
            </a:r>
            <a:r>
              <a:rPr lang="en-US" sz="10000" dirty="0" smtClean="0">
                <a:solidFill>
                  <a:srgbClr val="00B0F0"/>
                </a:solidFill>
              </a:rPr>
              <a:t>  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20850" y="4480450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×</a:t>
            </a:r>
            <a:endParaRPr lang="en-AU" sz="10000" dirty="0">
              <a:solidFill>
                <a:srgbClr val="7030A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20295" y="5098305"/>
            <a:ext cx="95073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 smtClean="0">
                <a:solidFill>
                  <a:srgbClr val="00B0F0"/>
                </a:solidFill>
              </a:rPr>
              <a:t>5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39736" y="4380656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÷</a:t>
            </a:r>
            <a:endParaRPr lang="en-AU" sz="10000" dirty="0">
              <a:solidFill>
                <a:srgbClr val="7030A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 rot="1941978">
            <a:off x="4217422" y="888790"/>
            <a:ext cx="49670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FF0000"/>
                </a:solidFill>
              </a:rPr>
              <a:t>w</a:t>
            </a:r>
            <a:r>
              <a:rPr lang="en-US" sz="10000" dirty="0" smtClean="0">
                <a:solidFill>
                  <a:srgbClr val="FF0000"/>
                </a:solidFill>
              </a:rPr>
              <a:t> + 3 = 5</a:t>
            </a:r>
            <a:endParaRPr lang="en-AU" sz="10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4709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Person B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3898152" y="2795607"/>
            <a:ext cx="115212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0" dirty="0"/>
              <a:t>7</a:t>
            </a:r>
            <a:endParaRPr lang="en-AU" sz="15000" dirty="0"/>
          </a:p>
        </p:txBody>
      </p:sp>
      <p:sp>
        <p:nvSpPr>
          <p:cNvPr id="5" name="TextBox 4"/>
          <p:cNvSpPr txBox="1"/>
          <p:nvPr/>
        </p:nvSpPr>
        <p:spPr>
          <a:xfrm>
            <a:off x="1595496" y="3237656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00B0F0"/>
                </a:solidFill>
              </a:rPr>
              <a:t>8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97536" y="1319679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 smtClean="0">
                <a:solidFill>
                  <a:srgbClr val="00B0F0"/>
                </a:solidFill>
              </a:rPr>
              <a:t>2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52120" y="1844824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–</a:t>
            </a:r>
            <a:endParaRPr lang="en-AU" sz="10000" dirty="0">
              <a:solidFill>
                <a:srgbClr val="7030A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7361" y="3237656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 smtClean="0">
                <a:solidFill>
                  <a:schemeClr val="tx2">
                    <a:lumMod val="75000"/>
                  </a:schemeClr>
                </a:solidFill>
              </a:rPr>
              <a:t>g</a:t>
            </a:r>
            <a:endParaRPr lang="en-AU" sz="10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94796" y="1939225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=</a:t>
            </a:r>
            <a:r>
              <a:rPr lang="en-US" sz="10000" dirty="0" smtClean="0">
                <a:solidFill>
                  <a:srgbClr val="00B0F0"/>
                </a:solidFill>
              </a:rPr>
              <a:t>  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20850" y="4480450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×</a:t>
            </a:r>
            <a:endParaRPr lang="en-AU" sz="10000" dirty="0">
              <a:solidFill>
                <a:srgbClr val="7030A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93600" y="5085184"/>
            <a:ext cx="1556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 smtClean="0">
                <a:solidFill>
                  <a:srgbClr val="00B0F0"/>
                </a:solidFill>
              </a:rPr>
              <a:t>15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39736" y="4380656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÷</a:t>
            </a:r>
            <a:endParaRPr lang="en-AU" sz="10000" dirty="0">
              <a:solidFill>
                <a:srgbClr val="7030A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 rot="1941978">
            <a:off x="4020350" y="1044442"/>
            <a:ext cx="562014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 smtClean="0">
                <a:solidFill>
                  <a:srgbClr val="FF0000"/>
                </a:solidFill>
              </a:rPr>
              <a:t>15 </a:t>
            </a:r>
            <a:r>
              <a:rPr lang="en-US" sz="10000" dirty="0">
                <a:solidFill>
                  <a:srgbClr val="FF0000"/>
                </a:solidFill>
              </a:rPr>
              <a:t>–</a:t>
            </a:r>
            <a:r>
              <a:rPr lang="en-US" sz="10000" dirty="0" smtClean="0">
                <a:solidFill>
                  <a:srgbClr val="FF0000"/>
                </a:solidFill>
              </a:rPr>
              <a:t> </a:t>
            </a:r>
            <a:r>
              <a:rPr lang="en-US" sz="10000" dirty="0">
                <a:solidFill>
                  <a:srgbClr val="FF0000"/>
                </a:solidFill>
              </a:rPr>
              <a:t>g</a:t>
            </a:r>
            <a:r>
              <a:rPr lang="en-US" sz="10000" dirty="0" smtClean="0">
                <a:solidFill>
                  <a:srgbClr val="FF0000"/>
                </a:solidFill>
              </a:rPr>
              <a:t> = 8</a:t>
            </a:r>
            <a:endParaRPr lang="en-AU" sz="10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8403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Person A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3898152" y="2795607"/>
            <a:ext cx="115212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0" dirty="0" smtClean="0"/>
              <a:t>5</a:t>
            </a:r>
            <a:endParaRPr lang="en-AU" sz="15000" dirty="0"/>
          </a:p>
        </p:txBody>
      </p:sp>
      <p:sp>
        <p:nvSpPr>
          <p:cNvPr id="5" name="TextBox 4"/>
          <p:cNvSpPr txBox="1"/>
          <p:nvPr/>
        </p:nvSpPr>
        <p:spPr>
          <a:xfrm>
            <a:off x="1595496" y="3237656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 smtClean="0">
                <a:solidFill>
                  <a:srgbClr val="00B0F0"/>
                </a:solidFill>
              </a:rPr>
              <a:t>6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97536" y="1319679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00B0F0"/>
                </a:solidFill>
              </a:rPr>
              <a:t>4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52120" y="1844824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–</a:t>
            </a:r>
            <a:endParaRPr lang="en-AU" sz="10000" dirty="0">
              <a:solidFill>
                <a:srgbClr val="7030A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7361" y="3237656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chemeClr val="tx2">
                    <a:lumMod val="75000"/>
                  </a:schemeClr>
                </a:solidFill>
              </a:rPr>
              <a:t>h</a:t>
            </a:r>
            <a:endParaRPr lang="en-AU" sz="10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94796" y="1939225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=</a:t>
            </a:r>
            <a:r>
              <a:rPr lang="en-US" sz="10000" dirty="0" smtClean="0">
                <a:solidFill>
                  <a:srgbClr val="00B0F0"/>
                </a:solidFill>
              </a:rPr>
              <a:t>  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20850" y="4480450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×</a:t>
            </a:r>
            <a:endParaRPr lang="en-AU" sz="10000" dirty="0">
              <a:solidFill>
                <a:srgbClr val="7030A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93600" y="5085184"/>
            <a:ext cx="1556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 smtClean="0">
                <a:solidFill>
                  <a:srgbClr val="00B0F0"/>
                </a:solidFill>
              </a:rPr>
              <a:t>30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39736" y="4380656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 smtClean="0">
                <a:solidFill>
                  <a:srgbClr val="7030A0"/>
                </a:solidFill>
              </a:rPr>
              <a:t>+</a:t>
            </a:r>
            <a:endParaRPr lang="en-AU" sz="10000" dirty="0">
              <a:solidFill>
                <a:srgbClr val="7030A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 rot="1941978">
            <a:off x="4558374" y="992736"/>
            <a:ext cx="464916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 smtClean="0">
                <a:solidFill>
                  <a:srgbClr val="FF0000"/>
                </a:solidFill>
              </a:rPr>
              <a:t> 6h = 30</a:t>
            </a:r>
            <a:endParaRPr lang="en-AU" sz="10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2741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Person B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3372382" y="2754833"/>
            <a:ext cx="218601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0" dirty="0" smtClean="0"/>
              <a:t>18</a:t>
            </a:r>
            <a:endParaRPr lang="en-AU" sz="15000" dirty="0"/>
          </a:p>
        </p:txBody>
      </p:sp>
      <p:sp>
        <p:nvSpPr>
          <p:cNvPr id="5" name="TextBox 4"/>
          <p:cNvSpPr txBox="1"/>
          <p:nvPr/>
        </p:nvSpPr>
        <p:spPr>
          <a:xfrm>
            <a:off x="1595496" y="3237656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 smtClean="0">
                <a:solidFill>
                  <a:srgbClr val="00B0F0"/>
                </a:solidFill>
              </a:rPr>
              <a:t>6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97536" y="1319679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 smtClean="0">
                <a:solidFill>
                  <a:srgbClr val="00B0F0"/>
                </a:solidFill>
              </a:rPr>
              <a:t>2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52120" y="1844824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–</a:t>
            </a:r>
            <a:endParaRPr lang="en-AU" sz="10000" dirty="0">
              <a:solidFill>
                <a:srgbClr val="7030A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7361" y="3237656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 smtClean="0">
                <a:solidFill>
                  <a:schemeClr val="tx2">
                    <a:lumMod val="75000"/>
                  </a:schemeClr>
                </a:solidFill>
              </a:rPr>
              <a:t>k</a:t>
            </a:r>
            <a:endParaRPr lang="en-AU" sz="10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94796" y="1939225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7030A0"/>
                </a:solidFill>
              </a:rPr>
              <a:t>=</a:t>
            </a:r>
            <a:r>
              <a:rPr lang="en-US" sz="10000" dirty="0" smtClean="0">
                <a:solidFill>
                  <a:srgbClr val="00B0F0"/>
                </a:solidFill>
              </a:rPr>
              <a:t>  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20850" y="4480450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 smtClean="0">
                <a:solidFill>
                  <a:srgbClr val="7030A0"/>
                </a:solidFill>
              </a:rPr>
              <a:t>÷</a:t>
            </a:r>
            <a:endParaRPr lang="en-AU" sz="10000" dirty="0">
              <a:solidFill>
                <a:srgbClr val="7030A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01535" y="5155490"/>
            <a:ext cx="106643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00B0F0"/>
                </a:solidFill>
              </a:rPr>
              <a:t>9</a:t>
            </a:r>
            <a:endParaRPr lang="en-AU" sz="10000" dirty="0">
              <a:solidFill>
                <a:srgbClr val="00B0F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39736" y="4380656"/>
            <a:ext cx="10801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 smtClean="0">
                <a:solidFill>
                  <a:srgbClr val="7030A0"/>
                </a:solidFill>
              </a:rPr>
              <a:t>+</a:t>
            </a:r>
            <a:endParaRPr lang="en-AU" sz="10000" dirty="0">
              <a:solidFill>
                <a:srgbClr val="7030A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 rot="1941978">
            <a:off x="4558374" y="992736"/>
            <a:ext cx="464916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 smtClean="0">
                <a:solidFill>
                  <a:srgbClr val="FF0000"/>
                </a:solidFill>
              </a:rPr>
              <a:t> k÷9=2</a:t>
            </a:r>
            <a:endParaRPr lang="en-AU" sz="10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5947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8448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339752" y="1783038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7408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Solving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 smtClean="0"/>
              <a:t>–  How do I find an unknown value in an algebraic equation?  </a:t>
            </a:r>
            <a:endParaRPr lang="en-AU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-23704" y="3201825"/>
            <a:ext cx="245532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</a:t>
            </a:r>
            <a:r>
              <a:rPr lang="en-AU" dirty="0" smtClean="0"/>
              <a:t>happens if the variable comes second?</a:t>
            </a:r>
            <a:r>
              <a:rPr lang="en-AU" dirty="0" smtClean="0"/>
              <a:t>	</a:t>
            </a:r>
          </a:p>
          <a:p>
            <a:r>
              <a:rPr lang="en-AU" dirty="0" smtClean="0"/>
              <a:t>Examples</a:t>
            </a:r>
          </a:p>
          <a:p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415140" y="1906611"/>
            <a:ext cx="6333324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 smtClean="0"/>
              <a:t>To </a:t>
            </a:r>
            <a:r>
              <a:rPr lang="en-AU" i="1" dirty="0" smtClean="0"/>
              <a:t>solve an equation with a variable, we </a:t>
            </a:r>
            <a:r>
              <a:rPr lang="en-AU" b="1" i="1" dirty="0" smtClean="0"/>
              <a:t>rearrange the </a:t>
            </a:r>
            <a:r>
              <a:rPr lang="en-AU" b="1" i="1" dirty="0" smtClean="0"/>
              <a:t>equation </a:t>
            </a:r>
            <a:r>
              <a:rPr lang="en-AU" i="1" dirty="0" smtClean="0"/>
              <a:t>so our unknown value is </a:t>
            </a:r>
            <a:r>
              <a:rPr lang="en-AU" b="1" i="1" dirty="0" smtClean="0"/>
              <a:t>by itself </a:t>
            </a:r>
            <a:r>
              <a:rPr lang="en-AU" i="1" dirty="0" smtClean="0"/>
              <a:t>on one side of the equals sign. </a:t>
            </a:r>
            <a:endParaRPr lang="en-AU" i="1" dirty="0" smtClean="0"/>
          </a:p>
          <a:p>
            <a:endParaRPr lang="en-AU" i="1" dirty="0"/>
          </a:p>
          <a:p>
            <a:endParaRPr lang="en-AU" sz="1600" dirty="0" smtClean="0"/>
          </a:p>
          <a:p>
            <a:endParaRPr lang="en-US" dirty="0" smtClean="0"/>
          </a:p>
          <a:p>
            <a:r>
              <a:rPr lang="en-US" dirty="0" smtClean="0"/>
              <a:t>If the variable comes after the operation, be careful! For </a:t>
            </a:r>
            <a:r>
              <a:rPr lang="en-US" dirty="0" smtClean="0"/>
              <a:t>subtraction and division</a:t>
            </a:r>
            <a:r>
              <a:rPr lang="en-US" dirty="0" smtClean="0"/>
              <a:t>, we must do more rearranging. </a:t>
            </a:r>
            <a:endParaRPr lang="en-AU" dirty="0" smtClean="0"/>
          </a:p>
          <a:p>
            <a:endParaRPr lang="en-AU" sz="1600" dirty="0"/>
          </a:p>
          <a:p>
            <a:r>
              <a:rPr lang="en-AU" sz="1600" dirty="0" smtClean="0"/>
              <a:t>  6 – x </a:t>
            </a:r>
            <a:r>
              <a:rPr lang="en-AU" sz="1600" dirty="0" smtClean="0"/>
              <a:t> </a:t>
            </a:r>
            <a:r>
              <a:rPr lang="en-AU" sz="1600" dirty="0" smtClean="0"/>
              <a:t>= </a:t>
            </a:r>
            <a:r>
              <a:rPr lang="en-AU" sz="1600" dirty="0" smtClean="0"/>
              <a:t> 4</a:t>
            </a:r>
            <a:endParaRPr lang="en-AU" sz="1600" dirty="0" smtClean="0"/>
          </a:p>
          <a:p>
            <a:r>
              <a:rPr lang="en-AU" sz="1600" dirty="0"/>
              <a:t> </a:t>
            </a:r>
            <a:r>
              <a:rPr lang="en-AU" sz="1600" dirty="0" smtClean="0"/>
              <a:t>   </a:t>
            </a:r>
            <a:r>
              <a:rPr lang="en-AU" sz="1600" dirty="0">
                <a:solidFill>
                  <a:srgbClr val="0070C0"/>
                </a:solidFill>
              </a:rPr>
              <a:t>+x       +x</a:t>
            </a:r>
            <a:endParaRPr lang="en-AU" sz="1600" dirty="0"/>
          </a:p>
          <a:p>
            <a:endParaRPr lang="en-AU" sz="1600" dirty="0"/>
          </a:p>
          <a:p>
            <a:r>
              <a:rPr lang="en-AU" sz="1600" dirty="0" smtClean="0"/>
              <a:t>    </a:t>
            </a:r>
            <a:r>
              <a:rPr lang="en-AU" sz="1600" dirty="0" smtClean="0"/>
              <a:t>6    </a:t>
            </a:r>
            <a:r>
              <a:rPr lang="en-AU" sz="1600" dirty="0" smtClean="0"/>
              <a:t>=   </a:t>
            </a:r>
            <a:r>
              <a:rPr lang="en-AU" sz="1600" dirty="0" smtClean="0"/>
              <a:t>4 + x</a:t>
            </a:r>
            <a:endParaRPr lang="en-AU" sz="1600" dirty="0" smtClean="0"/>
          </a:p>
          <a:p>
            <a:r>
              <a:rPr lang="en-AU" sz="1600" dirty="0" smtClean="0">
                <a:solidFill>
                  <a:srgbClr val="0070C0"/>
                </a:solidFill>
              </a:rPr>
              <a:t>    -4       -4</a:t>
            </a:r>
            <a:endParaRPr lang="en-AU" sz="1600" dirty="0"/>
          </a:p>
          <a:p>
            <a:endParaRPr lang="en-US" sz="1600" dirty="0" smtClean="0"/>
          </a:p>
          <a:p>
            <a:r>
              <a:rPr lang="en-US" sz="1600" dirty="0"/>
              <a:t> </a:t>
            </a:r>
            <a:r>
              <a:rPr lang="en-US" sz="1600" dirty="0" smtClean="0"/>
              <a:t>     2   =   x</a:t>
            </a:r>
            <a:endParaRPr lang="en-AU" sz="1600" dirty="0" smtClean="0"/>
          </a:p>
          <a:p>
            <a:endParaRPr lang="en-AU" sz="1600" dirty="0" smtClean="0"/>
          </a:p>
          <a:p>
            <a:r>
              <a:rPr lang="en-AU" sz="1600" dirty="0" smtClean="0"/>
              <a:t>CHECK </a:t>
            </a:r>
            <a:r>
              <a:rPr lang="en-AU" sz="1600" dirty="0" smtClean="0"/>
              <a:t>YOUR ANSWER!!</a:t>
            </a:r>
          </a:p>
          <a:p>
            <a:endParaRPr lang="en-AU" sz="1600" dirty="0"/>
          </a:p>
          <a:p>
            <a:r>
              <a:rPr lang="en-AU" sz="1600" dirty="0" smtClean="0"/>
              <a:t> </a:t>
            </a:r>
            <a:r>
              <a:rPr lang="en-AU" sz="1600" dirty="0" smtClean="0"/>
              <a:t>    6 – 2 = 4 </a:t>
            </a:r>
            <a:endParaRPr lang="en-AU" sz="1600" dirty="0" smtClean="0"/>
          </a:p>
        </p:txBody>
      </p:sp>
      <p:pic>
        <p:nvPicPr>
          <p:cNvPr id="1030" name="Picture 6" descr="https://openclipart.org/image/2400px/svg_to_png/167549/Kliponious-green-tick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3088" y="6195752"/>
            <a:ext cx="511870" cy="585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879270" y="4030656"/>
            <a:ext cx="267899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36 </a:t>
            </a:r>
            <a:r>
              <a:rPr lang="en-AU" sz="1600" dirty="0"/>
              <a:t>÷</a:t>
            </a:r>
            <a:r>
              <a:rPr lang="en-AU" sz="1600" dirty="0" smtClean="0"/>
              <a:t> </a:t>
            </a:r>
            <a:r>
              <a:rPr lang="en-AU" sz="1600" dirty="0"/>
              <a:t>m</a:t>
            </a:r>
            <a:r>
              <a:rPr lang="en-AU" sz="1600" dirty="0" smtClean="0"/>
              <a:t> </a:t>
            </a:r>
            <a:r>
              <a:rPr lang="en-AU" sz="1600" dirty="0"/>
              <a:t>= 4</a:t>
            </a:r>
          </a:p>
          <a:p>
            <a:r>
              <a:rPr lang="en-AU" sz="1600" dirty="0" smtClean="0">
                <a:solidFill>
                  <a:srgbClr val="00B0F0"/>
                </a:solidFill>
              </a:rPr>
              <a:t>  × m     × </a:t>
            </a:r>
            <a:r>
              <a:rPr lang="en-AU" sz="1600" dirty="0">
                <a:solidFill>
                  <a:srgbClr val="00B0F0"/>
                </a:solidFill>
              </a:rPr>
              <a:t>m </a:t>
            </a:r>
            <a:endParaRPr lang="en-AU" sz="1600" dirty="0"/>
          </a:p>
          <a:p>
            <a:endParaRPr lang="en-AU" sz="1600" dirty="0" smtClean="0"/>
          </a:p>
          <a:p>
            <a:r>
              <a:rPr lang="en-AU" sz="1600" dirty="0" smtClean="0"/>
              <a:t>   36   </a:t>
            </a:r>
            <a:r>
              <a:rPr lang="en-AU" sz="1600" dirty="0"/>
              <a:t>= 4 </a:t>
            </a:r>
            <a:r>
              <a:rPr lang="en-AU" sz="1600" dirty="0"/>
              <a:t>× m </a:t>
            </a:r>
            <a:endParaRPr lang="en-AU" sz="1600" dirty="0" smtClean="0"/>
          </a:p>
          <a:p>
            <a:r>
              <a:rPr lang="en-AU" sz="1600" dirty="0">
                <a:solidFill>
                  <a:srgbClr val="00B0F0"/>
                </a:solidFill>
              </a:rPr>
              <a:t> </a:t>
            </a:r>
            <a:r>
              <a:rPr lang="en-AU" sz="1600" dirty="0" smtClean="0">
                <a:solidFill>
                  <a:srgbClr val="00B0F0"/>
                </a:solidFill>
              </a:rPr>
              <a:t>   ÷ 4     ÷ 4</a:t>
            </a:r>
            <a:endParaRPr lang="en-AU" sz="1600" dirty="0">
              <a:solidFill>
                <a:srgbClr val="00B0F0"/>
              </a:solidFill>
            </a:endParaRPr>
          </a:p>
          <a:p>
            <a:endParaRPr lang="en-AU" sz="1600" dirty="0"/>
          </a:p>
          <a:p>
            <a:r>
              <a:rPr lang="en-AU" sz="1600" dirty="0" smtClean="0"/>
              <a:t>    </a:t>
            </a:r>
            <a:r>
              <a:rPr lang="en-AU" sz="1600" dirty="0" smtClean="0"/>
              <a:t>9    </a:t>
            </a:r>
            <a:r>
              <a:rPr lang="en-AU" sz="1600" dirty="0" smtClean="0"/>
              <a:t>=  </a:t>
            </a:r>
            <a:r>
              <a:rPr lang="en-AU" sz="1600" dirty="0"/>
              <a:t>m</a:t>
            </a:r>
            <a:endParaRPr lang="en-AU" sz="1600" dirty="0"/>
          </a:p>
          <a:p>
            <a:endParaRPr lang="en-AU" sz="1600" dirty="0"/>
          </a:p>
          <a:p>
            <a:r>
              <a:rPr lang="en-AU" sz="1600" dirty="0"/>
              <a:t>CHECK YOUR ANSWER!!</a:t>
            </a:r>
          </a:p>
          <a:p>
            <a:endParaRPr lang="en-AU" sz="1600" dirty="0"/>
          </a:p>
          <a:p>
            <a:r>
              <a:rPr lang="en-AU" sz="1600" dirty="0"/>
              <a:t>  </a:t>
            </a:r>
            <a:r>
              <a:rPr lang="en-AU" sz="1600" dirty="0" smtClean="0"/>
              <a:t>36</a:t>
            </a:r>
            <a:r>
              <a:rPr lang="en-AU" sz="1600" dirty="0" smtClean="0"/>
              <a:t> </a:t>
            </a:r>
            <a:r>
              <a:rPr lang="en-AU" sz="1600" dirty="0"/>
              <a:t>÷ </a:t>
            </a:r>
            <a:r>
              <a:rPr lang="en-AU" sz="1600" dirty="0"/>
              <a:t>9</a:t>
            </a:r>
            <a:r>
              <a:rPr lang="en-AU" sz="1600" dirty="0" smtClean="0"/>
              <a:t> </a:t>
            </a:r>
            <a:r>
              <a:rPr lang="en-AU" sz="1600" dirty="0" smtClean="0"/>
              <a:t>= 4 </a:t>
            </a:r>
            <a:endParaRPr lang="en-AU" sz="1600" dirty="0"/>
          </a:p>
        </p:txBody>
      </p:sp>
      <p:pic>
        <p:nvPicPr>
          <p:cNvPr id="42" name="Picture 6" descr="https://openclipart.org/image/2400px/svg_to_png/167549/Kliponious-green-tick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9634" y="6122251"/>
            <a:ext cx="511870" cy="585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onut 7"/>
          <p:cNvSpPr/>
          <p:nvPr/>
        </p:nvSpPr>
        <p:spPr>
          <a:xfrm>
            <a:off x="2594954" y="4327601"/>
            <a:ext cx="357202" cy="360040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43" name="Donut 42"/>
          <p:cNvSpPr/>
          <p:nvPr/>
        </p:nvSpPr>
        <p:spPr>
          <a:xfrm>
            <a:off x="3115492" y="4313421"/>
            <a:ext cx="360040" cy="360040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44" name="Donut 43"/>
          <p:cNvSpPr/>
          <p:nvPr/>
        </p:nvSpPr>
        <p:spPr>
          <a:xfrm>
            <a:off x="5036842" y="4327601"/>
            <a:ext cx="360040" cy="360040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45" name="Donut 44"/>
          <p:cNvSpPr/>
          <p:nvPr/>
        </p:nvSpPr>
        <p:spPr>
          <a:xfrm>
            <a:off x="5575684" y="4325672"/>
            <a:ext cx="360040" cy="360040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09126" y="4022231"/>
            <a:ext cx="16890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b="1" dirty="0">
                <a:ln>
                  <a:solidFill>
                    <a:schemeClr val="accent1"/>
                  </a:solidFill>
                </a:ln>
              </a:rPr>
              <a:t>The inverse functions are</a:t>
            </a:r>
            <a:r>
              <a:rPr lang="en-AU" b="1" dirty="0" smtClean="0">
                <a:ln>
                  <a:solidFill>
                    <a:schemeClr val="accent1"/>
                  </a:solidFill>
                </a:ln>
              </a:rPr>
              <a:t>:</a:t>
            </a:r>
          </a:p>
          <a:p>
            <a:r>
              <a:rPr lang="en-AU" b="1" dirty="0" smtClean="0">
                <a:ln>
                  <a:solidFill>
                    <a:schemeClr val="accent1"/>
                  </a:solidFill>
                </a:ln>
              </a:rPr>
              <a:t>         +       </a:t>
            </a:r>
            <a:r>
              <a:rPr lang="en-AU" b="1" dirty="0">
                <a:ln>
                  <a:solidFill>
                    <a:schemeClr val="accent1"/>
                  </a:solidFill>
                </a:ln>
              </a:rPr>
              <a:t>-</a:t>
            </a:r>
          </a:p>
          <a:p>
            <a:pPr marL="285750" indent="-285750" algn="ctr">
              <a:buFontTx/>
              <a:buChar char="-"/>
            </a:pPr>
            <a:r>
              <a:rPr lang="en-AU" b="1" dirty="0">
                <a:ln>
                  <a:solidFill>
                    <a:schemeClr val="accent1"/>
                  </a:solidFill>
                </a:ln>
              </a:rPr>
              <a:t>   +</a:t>
            </a:r>
          </a:p>
          <a:p>
            <a:pPr algn="ctr"/>
            <a:r>
              <a:rPr lang="en-AU" b="1" dirty="0">
                <a:ln>
                  <a:solidFill>
                    <a:schemeClr val="accent1"/>
                  </a:solidFill>
                </a:ln>
              </a:rPr>
              <a:t>x      ÷</a:t>
            </a:r>
          </a:p>
          <a:p>
            <a:pPr algn="ctr"/>
            <a:r>
              <a:rPr lang="en-AU" b="1" dirty="0">
                <a:ln>
                  <a:solidFill>
                    <a:schemeClr val="accent1"/>
                  </a:solidFill>
                </a:ln>
              </a:rPr>
              <a:t>÷      </a:t>
            </a:r>
            <a:r>
              <a:rPr lang="en-AU" b="1" dirty="0" smtClean="0">
                <a:ln>
                  <a:solidFill>
                    <a:schemeClr val="accent1"/>
                  </a:solidFill>
                </a:ln>
              </a:rPr>
              <a:t>x</a:t>
            </a:r>
            <a:endParaRPr lang="en-AU" b="1" dirty="0">
              <a:ln>
                <a:solidFill>
                  <a:schemeClr val="accent1"/>
                </a:solidFill>
              </a:ln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60103" y="2675708"/>
            <a:ext cx="6922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/>
              <a:t>If you do something on one side of the equals sign, do it on the other!</a:t>
            </a:r>
            <a:endParaRPr lang="en-AU" b="1" i="1" dirty="0"/>
          </a:p>
        </p:txBody>
      </p:sp>
      <p:sp>
        <p:nvSpPr>
          <p:cNvPr id="21" name="TextBox 20"/>
          <p:cNvSpPr txBox="1"/>
          <p:nvPr/>
        </p:nvSpPr>
        <p:spPr>
          <a:xfrm>
            <a:off x="-10465" y="1906611"/>
            <a:ext cx="2312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From yesterday</a:t>
            </a:r>
            <a:endParaRPr lang="en-AU" dirty="0"/>
          </a:p>
        </p:txBody>
      </p:sp>
      <p:sp>
        <p:nvSpPr>
          <p:cNvPr id="23" name="Donut 22"/>
          <p:cNvSpPr/>
          <p:nvPr/>
        </p:nvSpPr>
        <p:spPr>
          <a:xfrm>
            <a:off x="2594954" y="5053130"/>
            <a:ext cx="357202" cy="360040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4" name="Donut 23"/>
          <p:cNvSpPr/>
          <p:nvPr/>
        </p:nvSpPr>
        <p:spPr>
          <a:xfrm>
            <a:off x="3098513" y="5055830"/>
            <a:ext cx="357202" cy="360040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7" name="Donut 26"/>
          <p:cNvSpPr/>
          <p:nvPr/>
        </p:nvSpPr>
        <p:spPr>
          <a:xfrm>
            <a:off x="5579146" y="5055830"/>
            <a:ext cx="360040" cy="360040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9" name="Donut 28"/>
          <p:cNvSpPr/>
          <p:nvPr/>
        </p:nvSpPr>
        <p:spPr>
          <a:xfrm>
            <a:off x="5095988" y="5046807"/>
            <a:ext cx="360040" cy="360040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762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Let’s try some together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a)  </a:t>
            </a:r>
            <a:r>
              <a:rPr lang="en-US" dirty="0" smtClean="0"/>
              <a:t>7 </a:t>
            </a:r>
            <a:r>
              <a:rPr lang="en-US" dirty="0" smtClean="0"/>
              <a:t>+ </a:t>
            </a:r>
            <a:r>
              <a:rPr lang="en-US" dirty="0"/>
              <a:t>d</a:t>
            </a:r>
            <a:r>
              <a:rPr lang="en-US" dirty="0" smtClean="0"/>
              <a:t> </a:t>
            </a:r>
            <a:r>
              <a:rPr lang="en-US" dirty="0" smtClean="0"/>
              <a:t>= </a:t>
            </a:r>
            <a:r>
              <a:rPr lang="en-US" dirty="0" smtClean="0"/>
              <a:t>24</a:t>
            </a:r>
            <a:r>
              <a:rPr lang="en-US" dirty="0" smtClean="0"/>
              <a:t>	b) </a:t>
            </a:r>
            <a:r>
              <a:rPr lang="en-US" dirty="0"/>
              <a:t>3</a:t>
            </a:r>
            <a:r>
              <a:rPr lang="en-US" dirty="0" smtClean="0"/>
              <a:t>8 </a:t>
            </a:r>
            <a:r>
              <a:rPr lang="en-US" dirty="0" smtClean="0"/>
              <a:t>– </a:t>
            </a:r>
            <a:r>
              <a:rPr lang="en-US" dirty="0"/>
              <a:t>f</a:t>
            </a:r>
            <a:r>
              <a:rPr lang="en-US" dirty="0" smtClean="0"/>
              <a:t> </a:t>
            </a:r>
            <a:r>
              <a:rPr lang="en-US" dirty="0" smtClean="0"/>
              <a:t>= </a:t>
            </a:r>
            <a:r>
              <a:rPr lang="en-US" dirty="0" smtClean="0"/>
              <a:t>16</a:t>
            </a:r>
            <a:r>
              <a:rPr lang="en-US" dirty="0" smtClean="0"/>
              <a:t>	c) </a:t>
            </a:r>
            <a:r>
              <a:rPr lang="en-US" dirty="0"/>
              <a:t>8</a:t>
            </a:r>
            <a:r>
              <a:rPr lang="en-US" dirty="0" smtClean="0"/>
              <a:t> </a:t>
            </a:r>
            <a:r>
              <a:rPr lang="en-US" dirty="0" smtClean="0"/>
              <a:t>× </a:t>
            </a:r>
            <a:r>
              <a:rPr lang="en-US" dirty="0" smtClean="0"/>
              <a:t>j </a:t>
            </a:r>
            <a:r>
              <a:rPr lang="en-US" dirty="0" smtClean="0"/>
              <a:t>= </a:t>
            </a:r>
            <a:r>
              <a:rPr lang="en-US" dirty="0" smtClean="0"/>
              <a:t>-40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d) </a:t>
            </a:r>
            <a:r>
              <a:rPr lang="en-US" dirty="0" smtClean="0"/>
              <a:t>63</a:t>
            </a:r>
            <a:r>
              <a:rPr lang="en-US" dirty="0" smtClean="0"/>
              <a:t> </a:t>
            </a:r>
            <a:r>
              <a:rPr lang="en-US" dirty="0" smtClean="0"/>
              <a:t>÷ </a:t>
            </a:r>
            <a:r>
              <a:rPr lang="en-US" dirty="0" smtClean="0"/>
              <a:t>q = </a:t>
            </a:r>
            <a:r>
              <a:rPr lang="en-US" dirty="0" smtClean="0"/>
              <a:t>9	</a:t>
            </a:r>
            <a:r>
              <a:rPr lang="en-US" dirty="0" smtClean="0"/>
              <a:t>e</a:t>
            </a:r>
            <a:r>
              <a:rPr lang="en-US" dirty="0" smtClean="0"/>
              <a:t>) </a:t>
            </a:r>
            <a:r>
              <a:rPr lang="en-US" dirty="0"/>
              <a:t>2</a:t>
            </a:r>
            <a:r>
              <a:rPr lang="en-US" dirty="0" smtClean="0"/>
              <a:t>2 – n </a:t>
            </a:r>
            <a:r>
              <a:rPr lang="en-US" dirty="0" smtClean="0"/>
              <a:t>= </a:t>
            </a:r>
            <a:r>
              <a:rPr lang="en-US" dirty="0" smtClean="0"/>
              <a:t>8</a:t>
            </a:r>
            <a:r>
              <a:rPr lang="en-US" dirty="0" smtClean="0"/>
              <a:t>	f)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6588224" y="3877657"/>
                <a:ext cx="1368152" cy="7039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84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en-AU" sz="2800" dirty="0" smtClean="0"/>
                  <a:t> = </a:t>
                </a:r>
                <a:r>
                  <a:rPr lang="en-AU" sz="2800" dirty="0"/>
                  <a:t>7</a:t>
                </a:r>
                <a:r>
                  <a:rPr lang="en-AU" sz="2800" dirty="0" smtClean="0"/>
                  <a:t> </a:t>
                </a:r>
                <a:endParaRPr lang="en-AU" sz="280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224" y="3877657"/>
                <a:ext cx="1368152" cy="703911"/>
              </a:xfrm>
              <a:prstGeom prst="rect">
                <a:avLst/>
              </a:prstGeom>
              <a:blipFill rotWithShape="0">
                <a:blip r:embed="rId2"/>
                <a:stretch>
                  <a:fillRect b="-112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4077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 you </a:t>
            </a:r>
            <a:r>
              <a:rPr lang="en-US" smtClean="0"/>
              <a:t>understand? </a:t>
            </a:r>
            <a:r>
              <a:rPr lang="en-US" dirty="0" smtClean="0"/>
              <a:t>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8495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Now your turn! 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542" y="1268760"/>
            <a:ext cx="7430916" cy="52517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35896" y="1419506"/>
            <a:ext cx="3600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3635896" y="2132856"/>
            <a:ext cx="288032" cy="1904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31277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30680</TotalTime>
  <Words>485</Words>
  <Application>Microsoft Office PowerPoint</Application>
  <PresentationFormat>On-screen Show (4:3)</PresentationFormat>
  <Paragraphs>161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Cambria Math</vt:lpstr>
      <vt:lpstr>Office Theme</vt:lpstr>
      <vt:lpstr>My Solving Equations Interactive Notebook</vt:lpstr>
      <vt:lpstr>PowerPoint Presentation</vt:lpstr>
      <vt:lpstr>PowerPoint Presentation</vt:lpstr>
      <vt:lpstr>Let’s start with a game of 25c Pyramid</vt:lpstr>
      <vt:lpstr>For example…</vt:lpstr>
      <vt:lpstr>Person A</vt:lpstr>
      <vt:lpstr>Person B</vt:lpstr>
      <vt:lpstr>Person A</vt:lpstr>
      <vt:lpstr>Person B</vt:lpstr>
      <vt:lpstr>PowerPoint Presentation</vt:lpstr>
      <vt:lpstr>Let’s try some together</vt:lpstr>
      <vt:lpstr>Do you understand? Fists of Five</vt:lpstr>
      <vt:lpstr>Now your turn! </vt:lpstr>
      <vt:lpstr>Notes Review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e4057735</cp:lastModifiedBy>
  <cp:revision>177</cp:revision>
  <cp:lastPrinted>2016-08-09T01:13:02Z</cp:lastPrinted>
  <dcterms:created xsi:type="dcterms:W3CDTF">2014-05-14T02:58:57Z</dcterms:created>
  <dcterms:modified xsi:type="dcterms:W3CDTF">2017-08-14T08:51:38Z</dcterms:modified>
</cp:coreProperties>
</file>
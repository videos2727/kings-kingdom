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315" r:id="rId3"/>
    <p:sldId id="259" r:id="rId4"/>
    <p:sldId id="258" r:id="rId5"/>
    <p:sldId id="332" r:id="rId6"/>
    <p:sldId id="303" r:id="rId7"/>
    <p:sldId id="328" r:id="rId8"/>
    <p:sldId id="330" r:id="rId9"/>
    <p:sldId id="32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9" d="100"/>
          <a:sy n="69" d="100"/>
        </p:scale>
        <p:origin x="141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19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Semester </a:t>
            </a:r>
            <a:r>
              <a:rPr lang="en-AU" dirty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8" name="Picture 4" descr="Image result for australian coi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6" y="2489365"/>
            <a:ext cx="2736305" cy="93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Image result for cards"/>
          <p:cNvSpPr>
            <a:spLocks noChangeAspect="1" noChangeArrowheads="1"/>
          </p:cNvSpPr>
          <p:nvPr/>
        </p:nvSpPr>
        <p:spPr bwMode="auto">
          <a:xfrm>
            <a:off x="155575" y="-144463"/>
            <a:ext cx="1557234" cy="15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56" y="3328276"/>
            <a:ext cx="3158654" cy="2452602"/>
          </a:xfrm>
          <a:prstGeom prst="rect">
            <a:avLst/>
          </a:prstGeom>
        </p:spPr>
      </p:pic>
      <p:pic>
        <p:nvPicPr>
          <p:cNvPr id="1032" name="Picture 8" descr="Image result for d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73961"/>
            <a:ext cx="2903886" cy="193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Warm Up Dice Bingo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a 3 x 3 table.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Two dice will be rolled. The uppermost faces then added together. Write the totals you think will come up. </a:t>
            </a:r>
          </a:p>
          <a:p>
            <a:r>
              <a:rPr lang="en-AU" dirty="0" smtClean="0"/>
              <a:t>You may use the same number more than once, but can only cross one number each go.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77041"/>
              </p:ext>
            </p:extLst>
          </p:nvPr>
        </p:nvGraphicFramePr>
        <p:xfrm>
          <a:off x="4499994" y="1340768"/>
          <a:ext cx="2232249" cy="12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83"/>
                <a:gridCol w="744083"/>
                <a:gridCol w="744083"/>
              </a:tblGrid>
              <a:tr h="43204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7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5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00081" y="5373216"/>
            <a:ext cx="479815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2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8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42" y="46898"/>
            <a:ext cx="8229600" cy="778098"/>
          </a:xfrm>
        </p:spPr>
        <p:txBody>
          <a:bodyPr>
            <a:normAutofit/>
          </a:bodyPr>
          <a:lstStyle/>
          <a:p>
            <a:r>
              <a:rPr lang="en-US" sz="4000" dirty="0"/>
              <a:t>Consider the following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83" y="731785"/>
            <a:ext cx="8229600" cy="140107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Have a think about the following questions.</a:t>
            </a:r>
          </a:p>
          <a:p>
            <a:r>
              <a:rPr lang="en-US" sz="2400" dirty="0"/>
              <a:t>Do you like football?</a:t>
            </a:r>
          </a:p>
          <a:p>
            <a:r>
              <a:rPr lang="en-US" sz="2400" dirty="0"/>
              <a:t>Do you like music?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30235"/>
              </p:ext>
            </p:extLst>
          </p:nvPr>
        </p:nvGraphicFramePr>
        <p:xfrm>
          <a:off x="586199" y="3123015"/>
          <a:ext cx="5760640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  <a:gridCol w="1968219"/>
                <a:gridCol w="1872208"/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Dislike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Dislike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29231"/>
              </p:ext>
            </p:extLst>
          </p:nvPr>
        </p:nvGraphicFramePr>
        <p:xfrm>
          <a:off x="586199" y="5211246"/>
          <a:ext cx="5760640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  <a:gridCol w="1968219"/>
                <a:gridCol w="1872208"/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597485"/>
              </p:ext>
            </p:extLst>
          </p:nvPr>
        </p:nvGraphicFramePr>
        <p:xfrm>
          <a:off x="6346841" y="3123015"/>
          <a:ext cx="1920213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008733"/>
              </p:ext>
            </p:extLst>
          </p:nvPr>
        </p:nvGraphicFramePr>
        <p:xfrm>
          <a:off x="6346840" y="5211245"/>
          <a:ext cx="1920213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/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86924" y="6021290"/>
            <a:ext cx="576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This is a two-way table!!!</a:t>
            </a:r>
            <a:endParaRPr lang="en-AU" sz="3200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326" y="2079100"/>
            <a:ext cx="8265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might be interested to find out if people liked both (or neither).</a:t>
            </a:r>
          </a:p>
          <a:p>
            <a:r>
              <a:rPr lang="en-US" sz="2400" dirty="0"/>
              <a:t>So let’s set it up like this…</a:t>
            </a:r>
          </a:p>
        </p:txBody>
      </p:sp>
    </p:spTree>
    <p:extLst>
      <p:ext uri="{BB962C8B-B14F-4D97-AF65-F5344CB8AC3E}">
        <p14:creationId xmlns:p14="http://schemas.microsoft.com/office/powerpoint/2010/main" val="175772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9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758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351" y="1850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597530" y="1508656"/>
            <a:ext cx="24209" cy="53493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1415" y="195900"/>
            <a:ext cx="2520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Two-Way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351" y="94824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can obtain probabilities from a two-way table?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07300" y="1550115"/>
            <a:ext cx="740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Two-way tables </a:t>
            </a:r>
            <a:r>
              <a:rPr lang="en-US" sz="2400" dirty="0" smtClean="0"/>
              <a:t>list</a:t>
            </a:r>
            <a:r>
              <a:rPr lang="en-US" sz="2400" dirty="0" smtClean="0"/>
              <a:t>s</a:t>
            </a:r>
            <a:r>
              <a:rPr lang="en-US" sz="2400" dirty="0" smtClean="0"/>
              <a:t> </a:t>
            </a:r>
            <a:r>
              <a:rPr lang="en-US" sz="2400" dirty="0"/>
              <a:t>the number of outcomes (or people) in different categories, with totals at the bottom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 display them like this.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5351" y="1541843"/>
            <a:ext cx="1396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What is a two-way table?</a:t>
            </a:r>
            <a:endParaRPr lang="en-AU" sz="22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20345"/>
              </p:ext>
            </p:extLst>
          </p:nvPr>
        </p:nvGraphicFramePr>
        <p:xfrm>
          <a:off x="2005582" y="2799935"/>
          <a:ext cx="4942682" cy="29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27"/>
                <a:gridCol w="827047"/>
                <a:gridCol w="988536"/>
                <a:gridCol w="988536"/>
                <a:gridCol w="988536"/>
              </a:tblGrid>
              <a:tr h="58931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Event 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A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A’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Total</a:t>
                      </a:r>
                      <a:endParaRPr lang="en-AU" sz="2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rowSpan="3">
                  <a:txBody>
                    <a:bodyPr/>
                    <a:lstStyle/>
                    <a:p>
                      <a:pPr algn="ctr"/>
                      <a:endParaRPr lang="en-US" sz="24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B’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Total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𝐻𝑜𝑤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𝑚𝑎𝑛𝑦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US" sz="2400" dirty="0" smtClean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blipFill rotWithShape="0">
                <a:blip r:embed="rId2"/>
                <a:stretch>
                  <a:fillRect l="-2564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152887" y="405957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13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4152887" y="461960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27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5184802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17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6166679" y="458664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r>
              <a:rPr lang="en-US" sz="2400" dirty="0" smtClean="0"/>
              <a:t>0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 rot="2118287">
            <a:off x="7288003" y="252788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Not A</a:t>
            </a:r>
            <a:endParaRPr lang="en-AU" sz="2400" b="1" dirty="0"/>
          </a:p>
        </p:txBody>
      </p:sp>
      <p:sp>
        <p:nvSpPr>
          <p:cNvPr id="17" name="Left Arrow 16"/>
          <p:cNvSpPr/>
          <p:nvPr/>
        </p:nvSpPr>
        <p:spPr>
          <a:xfrm rot="20271546">
            <a:off x="5643173" y="2944686"/>
            <a:ext cx="1795968" cy="4793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-21410" y="5630563"/>
            <a:ext cx="19443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How do we find probabilities?</a:t>
            </a:r>
            <a:endParaRPr lang="en-AU" sz="2200" dirty="0"/>
          </a:p>
        </p:txBody>
      </p:sp>
      <p:sp>
        <p:nvSpPr>
          <p:cNvPr id="31" name="TextBox 30"/>
          <p:cNvSpPr txBox="1"/>
          <p:nvPr/>
        </p:nvSpPr>
        <p:spPr>
          <a:xfrm>
            <a:off x="4202427" y="517963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blipFill rotWithShape="0">
                <a:blip r:embed="rId3"/>
                <a:stretch>
                  <a:fillRect l="-4682"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170035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5196907" y="461959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23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5196907" y="519681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6115880" y="519681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  <a:r>
              <a:rPr lang="en-US" sz="2400" dirty="0" smtClean="0"/>
              <a:t>0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(A and B)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blipFill rotWithShape="0"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P (B’) =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blipFill rotWithShape="0"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1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Let’s try this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9" y="980728"/>
            <a:ext cx="8730582" cy="39387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7" y="4919495"/>
            <a:ext cx="2323787" cy="141447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73" y="4901685"/>
            <a:ext cx="2886075" cy="1447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48" y="4892160"/>
            <a:ext cx="3086100" cy="1457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05" y="5123887"/>
            <a:ext cx="868531" cy="12100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087" y="4892160"/>
            <a:ext cx="2857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3074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11" y="1628968"/>
            <a:ext cx="7360006" cy="410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4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854968"/>
          </a:xfrm>
        </p:spPr>
        <p:txBody>
          <a:bodyPr/>
          <a:lstStyle/>
          <a:p>
            <a:pPr algn="ctr"/>
            <a:r>
              <a:rPr lang="en-US" dirty="0" smtClean="0"/>
              <a:t>Your </a:t>
            </a:r>
            <a:r>
              <a:rPr lang="en-US" dirty="0" smtClean="0"/>
              <a:t>Turn (LHS)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8" y="766002"/>
            <a:ext cx="8856984" cy="28083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5" y="3598877"/>
            <a:ext cx="8810970" cy="6883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92" y="4572000"/>
            <a:ext cx="7414375" cy="20555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929" y="3859080"/>
            <a:ext cx="4238647" cy="14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9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260</Words>
  <Application>Microsoft Office PowerPoint</Application>
  <PresentationFormat>On-screen Show (4:3)</PresentationFormat>
  <Paragraphs>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Cambria Math</vt:lpstr>
      <vt:lpstr>Office Theme</vt:lpstr>
      <vt:lpstr>My Probability Interactive Notebook</vt:lpstr>
      <vt:lpstr>Warm Up Dice Bingo</vt:lpstr>
      <vt:lpstr>PowerPoint Presentation</vt:lpstr>
      <vt:lpstr>PowerPoint Presentation</vt:lpstr>
      <vt:lpstr>Consider the following</vt:lpstr>
      <vt:lpstr>PowerPoint Presentation</vt:lpstr>
      <vt:lpstr>Let’s try this together</vt:lpstr>
      <vt:lpstr>Do you understand? </vt:lpstr>
      <vt:lpstr>Your Turn (LHS)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104</cp:revision>
  <dcterms:created xsi:type="dcterms:W3CDTF">2014-05-14T02:58:57Z</dcterms:created>
  <dcterms:modified xsi:type="dcterms:W3CDTF">2017-10-24T09:17:56Z</dcterms:modified>
</cp:coreProperties>
</file>
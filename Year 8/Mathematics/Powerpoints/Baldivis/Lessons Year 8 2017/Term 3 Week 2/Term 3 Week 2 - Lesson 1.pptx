
<file path=[Content_Types].xml><?xml version="1.0" encoding="utf-8"?>
<Types xmlns="http://schemas.openxmlformats.org/package/2006/content-types">
  <Default Extension="xml" ContentType="application/xml"/>
  <Default Extension="jpeg" ContentType="image/jpeg"/>
  <Default Extension="png" ContentType="image/png"/>
  <Default Extension="jpg" ContentType="image/jpe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307" r:id="rId2"/>
    <p:sldId id="312" r:id="rId3"/>
    <p:sldId id="310" r:id="rId4"/>
    <p:sldId id="308" r:id="rId5"/>
    <p:sldId id="315" r:id="rId6"/>
    <p:sldId id="319" r:id="rId7"/>
    <p:sldId id="320" r:id="rId8"/>
    <p:sldId id="316" r:id="rId9"/>
    <p:sldId id="321" r:id="rId10"/>
    <p:sldId id="322" r:id="rId11"/>
    <p:sldId id="323" r:id="rId12"/>
    <p:sldId id="292" r:id="rId13"/>
    <p:sldId id="291" r:id="rId1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362" autoAdjust="0"/>
    <p:restoredTop sz="92943" autoAdjust="0"/>
  </p:normalViewPr>
  <p:slideViewPr>
    <p:cSldViewPr>
      <p:cViewPr varScale="1">
        <p:scale>
          <a:sx n="119" d="100"/>
          <a:sy n="119" d="100"/>
        </p:scale>
        <p:origin x="1856" y="19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75AD73A-AE13-444E-A6A8-7967ABAB8119}" type="datetimeFigureOut">
              <a:rPr lang="en-AU" smtClean="0"/>
              <a:pPr/>
              <a:t>23/7/17</a:t>
            </a:fld>
            <a:endParaRPr lang="en-AU"/>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516DE00-3598-450D-9FD4-B3F4D33F029B}" type="slidenum">
              <a:rPr lang="en-AU" smtClean="0"/>
              <a:pPr/>
              <a:t>‹#›</a:t>
            </a:fld>
            <a:endParaRPr lang="en-AU"/>
          </a:p>
        </p:txBody>
      </p:sp>
    </p:spTree>
    <p:extLst>
      <p:ext uri="{BB962C8B-B14F-4D97-AF65-F5344CB8AC3E}">
        <p14:creationId xmlns:p14="http://schemas.microsoft.com/office/powerpoint/2010/main" val="5759409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9516DE00-3598-450D-9FD4-B3F4D33F029B}" type="slidenum">
              <a:rPr lang="en-AU" smtClean="0"/>
              <a:pPr/>
              <a:t>8</a:t>
            </a:fld>
            <a:endParaRPr lang="en-AU"/>
          </a:p>
        </p:txBody>
      </p:sp>
    </p:spTree>
    <p:extLst>
      <p:ext uri="{BB962C8B-B14F-4D97-AF65-F5344CB8AC3E}">
        <p14:creationId xmlns:p14="http://schemas.microsoft.com/office/powerpoint/2010/main" val="36632927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516DE00-3598-450D-9FD4-B3F4D33F029B}" type="slidenum">
              <a:rPr lang="en-AU" smtClean="0"/>
              <a:pPr/>
              <a:t>10</a:t>
            </a:fld>
            <a:endParaRPr lang="en-AU"/>
          </a:p>
        </p:txBody>
      </p:sp>
    </p:spTree>
    <p:extLst>
      <p:ext uri="{BB962C8B-B14F-4D97-AF65-F5344CB8AC3E}">
        <p14:creationId xmlns:p14="http://schemas.microsoft.com/office/powerpoint/2010/main" val="7265277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AU"/>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AU"/>
          </a:p>
        </p:txBody>
      </p:sp>
      <p:sp>
        <p:nvSpPr>
          <p:cNvPr id="4" name="Date Placeholder 3"/>
          <p:cNvSpPr>
            <a:spLocks noGrp="1"/>
          </p:cNvSpPr>
          <p:nvPr>
            <p:ph type="dt" sz="half" idx="10"/>
          </p:nvPr>
        </p:nvSpPr>
        <p:spPr/>
        <p:txBody>
          <a:bodyPr/>
          <a:lstStyle/>
          <a:p>
            <a:fld id="{303B91B3-E50F-4EFF-8D5F-21DA810ECD9F}" type="datetimeFigureOut">
              <a:rPr lang="en-AU" smtClean="0"/>
              <a:pPr/>
              <a:t>23/7/17</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D937BE4-3242-4672-8D3A-460DCD9877AE}" type="slidenum">
              <a:rPr lang="en-AU" smtClean="0"/>
              <a:pPr/>
              <a:t>‹#›</a:t>
            </a:fld>
            <a:endParaRPr lang="en-AU" dirty="0"/>
          </a:p>
        </p:txBody>
      </p:sp>
    </p:spTree>
    <p:extLst>
      <p:ext uri="{BB962C8B-B14F-4D97-AF65-F5344CB8AC3E}">
        <p14:creationId xmlns:p14="http://schemas.microsoft.com/office/powerpoint/2010/main" val="34326484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303B91B3-E50F-4EFF-8D5F-21DA810ECD9F}" type="datetimeFigureOut">
              <a:rPr lang="en-AU" smtClean="0"/>
              <a:pPr/>
              <a:t>23/7/17</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D937BE4-3242-4672-8D3A-460DCD9877AE}" type="slidenum">
              <a:rPr lang="en-AU" smtClean="0"/>
              <a:pPr/>
              <a:t>‹#›</a:t>
            </a:fld>
            <a:endParaRPr lang="en-AU" dirty="0"/>
          </a:p>
        </p:txBody>
      </p:sp>
    </p:spTree>
    <p:extLst>
      <p:ext uri="{BB962C8B-B14F-4D97-AF65-F5344CB8AC3E}">
        <p14:creationId xmlns:p14="http://schemas.microsoft.com/office/powerpoint/2010/main" val="38355484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03B91B3-E50F-4EFF-8D5F-21DA810ECD9F}" type="datetimeFigureOut">
              <a:rPr lang="en-AU" smtClean="0"/>
              <a:pPr/>
              <a:t>23/7/17</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D937BE4-3242-4672-8D3A-460DCD9877AE}" type="slidenum">
              <a:rPr lang="en-AU" smtClean="0"/>
              <a:pPr/>
              <a:t>‹#›</a:t>
            </a:fld>
            <a:endParaRPr lang="en-AU" dirty="0"/>
          </a:p>
        </p:txBody>
      </p:sp>
    </p:spTree>
    <p:extLst>
      <p:ext uri="{BB962C8B-B14F-4D97-AF65-F5344CB8AC3E}">
        <p14:creationId xmlns:p14="http://schemas.microsoft.com/office/powerpoint/2010/main" val="41804912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p:cNvSpPr>
            <a:spLocks noGrp="1"/>
          </p:cNvSpPr>
          <p:nvPr>
            <p:ph type="dt" sz="half" idx="10"/>
          </p:nvPr>
        </p:nvSpPr>
        <p:spPr/>
        <p:txBody>
          <a:bodyPr/>
          <a:lstStyle/>
          <a:p>
            <a:fld id="{303B91B3-E50F-4EFF-8D5F-21DA810ECD9F}" type="datetimeFigureOut">
              <a:rPr lang="en-AU" smtClean="0"/>
              <a:pPr/>
              <a:t>23/7/17</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FD937BE4-3242-4672-8D3A-460DCD9877AE}" type="slidenum">
              <a:rPr lang="en-AU" smtClean="0"/>
              <a:pPr/>
              <a:t>‹#›</a:t>
            </a:fld>
            <a:endParaRPr lang="en-AU" dirty="0"/>
          </a:p>
        </p:txBody>
      </p:sp>
    </p:spTree>
    <p:extLst>
      <p:ext uri="{BB962C8B-B14F-4D97-AF65-F5344CB8AC3E}">
        <p14:creationId xmlns:p14="http://schemas.microsoft.com/office/powerpoint/2010/main" val="17425957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p:cNvSpPr>
            <a:spLocks noGrp="1"/>
          </p:cNvSpPr>
          <p:nvPr>
            <p:ph type="dt" sz="half" idx="10"/>
          </p:nvPr>
        </p:nvSpPr>
        <p:spPr/>
        <p:txBody>
          <a:bodyPr/>
          <a:lstStyle/>
          <a:p>
            <a:fld id="{303B91B3-E50F-4EFF-8D5F-21DA810ECD9F}" type="datetimeFigureOut">
              <a:rPr lang="en-AU" smtClean="0"/>
              <a:pPr/>
              <a:t>23/7/17</a:t>
            </a:fld>
            <a:endParaRPr lang="en-AU" dirty="0"/>
          </a:p>
        </p:txBody>
      </p:sp>
      <p:sp>
        <p:nvSpPr>
          <p:cNvPr id="8" name="Footer Placeholder 7"/>
          <p:cNvSpPr>
            <a:spLocks noGrp="1"/>
          </p:cNvSpPr>
          <p:nvPr>
            <p:ph type="ftr" sz="quarter" idx="11"/>
          </p:nvPr>
        </p:nvSpPr>
        <p:spPr/>
        <p:txBody>
          <a:bodyPr/>
          <a:lstStyle/>
          <a:p>
            <a:endParaRPr lang="en-AU" dirty="0"/>
          </a:p>
        </p:txBody>
      </p:sp>
      <p:sp>
        <p:nvSpPr>
          <p:cNvPr id="9" name="Slide Number Placeholder 8"/>
          <p:cNvSpPr>
            <a:spLocks noGrp="1"/>
          </p:cNvSpPr>
          <p:nvPr>
            <p:ph type="sldNum" sz="quarter" idx="12"/>
          </p:nvPr>
        </p:nvSpPr>
        <p:spPr/>
        <p:txBody>
          <a:bodyPr/>
          <a:lstStyle/>
          <a:p>
            <a:fld id="{FD937BE4-3242-4672-8D3A-460DCD9877AE}" type="slidenum">
              <a:rPr lang="en-AU" smtClean="0"/>
              <a:pPr/>
              <a:t>‹#›</a:t>
            </a:fld>
            <a:endParaRPr lang="en-AU" dirty="0"/>
          </a:p>
        </p:txBody>
      </p:sp>
    </p:spTree>
    <p:extLst>
      <p:ext uri="{BB962C8B-B14F-4D97-AF65-F5344CB8AC3E}">
        <p14:creationId xmlns:p14="http://schemas.microsoft.com/office/powerpoint/2010/main" val="20071826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Date Placeholder 2"/>
          <p:cNvSpPr>
            <a:spLocks noGrp="1"/>
          </p:cNvSpPr>
          <p:nvPr>
            <p:ph type="dt" sz="half" idx="10"/>
          </p:nvPr>
        </p:nvSpPr>
        <p:spPr/>
        <p:txBody>
          <a:bodyPr/>
          <a:lstStyle/>
          <a:p>
            <a:fld id="{303B91B3-E50F-4EFF-8D5F-21DA810ECD9F}" type="datetimeFigureOut">
              <a:rPr lang="en-AU" smtClean="0"/>
              <a:pPr/>
              <a:t>23/7/17</a:t>
            </a:fld>
            <a:endParaRPr lang="en-AU" dirty="0"/>
          </a:p>
        </p:txBody>
      </p:sp>
      <p:sp>
        <p:nvSpPr>
          <p:cNvPr id="4" name="Footer Placeholder 3"/>
          <p:cNvSpPr>
            <a:spLocks noGrp="1"/>
          </p:cNvSpPr>
          <p:nvPr>
            <p:ph type="ftr" sz="quarter" idx="11"/>
          </p:nvPr>
        </p:nvSpPr>
        <p:spPr/>
        <p:txBody>
          <a:bodyPr/>
          <a:lstStyle/>
          <a:p>
            <a:endParaRPr lang="en-AU" dirty="0"/>
          </a:p>
        </p:txBody>
      </p:sp>
      <p:sp>
        <p:nvSpPr>
          <p:cNvPr id="5" name="Slide Number Placeholder 4"/>
          <p:cNvSpPr>
            <a:spLocks noGrp="1"/>
          </p:cNvSpPr>
          <p:nvPr>
            <p:ph type="sldNum" sz="quarter" idx="12"/>
          </p:nvPr>
        </p:nvSpPr>
        <p:spPr/>
        <p:txBody>
          <a:bodyPr/>
          <a:lstStyle/>
          <a:p>
            <a:fld id="{FD937BE4-3242-4672-8D3A-460DCD9877AE}" type="slidenum">
              <a:rPr lang="en-AU" smtClean="0"/>
              <a:pPr/>
              <a:t>‹#›</a:t>
            </a:fld>
            <a:endParaRPr lang="en-AU" dirty="0"/>
          </a:p>
        </p:txBody>
      </p:sp>
    </p:spTree>
    <p:extLst>
      <p:ext uri="{BB962C8B-B14F-4D97-AF65-F5344CB8AC3E}">
        <p14:creationId xmlns:p14="http://schemas.microsoft.com/office/powerpoint/2010/main" val="5772354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03B91B3-E50F-4EFF-8D5F-21DA810ECD9F}" type="datetimeFigureOut">
              <a:rPr lang="en-AU" smtClean="0"/>
              <a:pPr/>
              <a:t>23/7/17</a:t>
            </a:fld>
            <a:endParaRPr lang="en-AU" dirty="0"/>
          </a:p>
        </p:txBody>
      </p:sp>
      <p:sp>
        <p:nvSpPr>
          <p:cNvPr id="3" name="Footer Placeholder 2"/>
          <p:cNvSpPr>
            <a:spLocks noGrp="1"/>
          </p:cNvSpPr>
          <p:nvPr>
            <p:ph type="ftr" sz="quarter" idx="11"/>
          </p:nvPr>
        </p:nvSpPr>
        <p:spPr/>
        <p:txBody>
          <a:bodyPr/>
          <a:lstStyle/>
          <a:p>
            <a:endParaRPr lang="en-AU" dirty="0"/>
          </a:p>
        </p:txBody>
      </p:sp>
      <p:sp>
        <p:nvSpPr>
          <p:cNvPr id="4" name="Slide Number Placeholder 3"/>
          <p:cNvSpPr>
            <a:spLocks noGrp="1"/>
          </p:cNvSpPr>
          <p:nvPr>
            <p:ph type="sldNum" sz="quarter" idx="12"/>
          </p:nvPr>
        </p:nvSpPr>
        <p:spPr/>
        <p:txBody>
          <a:bodyPr/>
          <a:lstStyle/>
          <a:p>
            <a:fld id="{FD937BE4-3242-4672-8D3A-460DCD9877AE}" type="slidenum">
              <a:rPr lang="en-AU" smtClean="0"/>
              <a:pPr/>
              <a:t>‹#›</a:t>
            </a:fld>
            <a:endParaRPr lang="en-AU" dirty="0"/>
          </a:p>
        </p:txBody>
      </p:sp>
    </p:spTree>
    <p:extLst>
      <p:ext uri="{BB962C8B-B14F-4D97-AF65-F5344CB8AC3E}">
        <p14:creationId xmlns:p14="http://schemas.microsoft.com/office/powerpoint/2010/main" val="1919919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03B91B3-E50F-4EFF-8D5F-21DA810ECD9F}" type="datetimeFigureOut">
              <a:rPr lang="en-AU" smtClean="0"/>
              <a:pPr/>
              <a:t>23/7/17</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FD937BE4-3242-4672-8D3A-460DCD9877AE}" type="slidenum">
              <a:rPr lang="en-AU" smtClean="0"/>
              <a:pPr/>
              <a:t>‹#›</a:t>
            </a:fld>
            <a:endParaRPr lang="en-AU" dirty="0"/>
          </a:p>
        </p:txBody>
      </p:sp>
    </p:spTree>
    <p:extLst>
      <p:ext uri="{BB962C8B-B14F-4D97-AF65-F5344CB8AC3E}">
        <p14:creationId xmlns:p14="http://schemas.microsoft.com/office/powerpoint/2010/main" val="8185026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03B91B3-E50F-4EFF-8D5F-21DA810ECD9F}" type="datetimeFigureOut">
              <a:rPr lang="en-AU" smtClean="0"/>
              <a:pPr/>
              <a:t>23/7/17</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FD937BE4-3242-4672-8D3A-460DCD9877AE}" type="slidenum">
              <a:rPr lang="en-AU" smtClean="0"/>
              <a:pPr/>
              <a:t>‹#›</a:t>
            </a:fld>
            <a:endParaRPr lang="en-AU" dirty="0"/>
          </a:p>
        </p:txBody>
      </p:sp>
    </p:spTree>
    <p:extLst>
      <p:ext uri="{BB962C8B-B14F-4D97-AF65-F5344CB8AC3E}">
        <p14:creationId xmlns:p14="http://schemas.microsoft.com/office/powerpoint/2010/main" val="23839825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303B91B3-E50F-4EFF-8D5F-21DA810ECD9F}" type="datetimeFigureOut">
              <a:rPr lang="en-AU" smtClean="0"/>
              <a:pPr/>
              <a:t>23/7/17</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D937BE4-3242-4672-8D3A-460DCD9877AE}" type="slidenum">
              <a:rPr lang="en-AU" smtClean="0"/>
              <a:pPr/>
              <a:t>‹#›</a:t>
            </a:fld>
            <a:endParaRPr lang="en-AU" dirty="0"/>
          </a:p>
        </p:txBody>
      </p:sp>
    </p:spTree>
    <p:extLst>
      <p:ext uri="{BB962C8B-B14F-4D97-AF65-F5344CB8AC3E}">
        <p14:creationId xmlns:p14="http://schemas.microsoft.com/office/powerpoint/2010/main" val="40963694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AU"/>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303B91B3-E50F-4EFF-8D5F-21DA810ECD9F}" type="datetimeFigureOut">
              <a:rPr lang="en-AU" smtClean="0"/>
              <a:pPr/>
              <a:t>23/7/17</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D937BE4-3242-4672-8D3A-460DCD9877AE}" type="slidenum">
              <a:rPr lang="en-AU" smtClean="0"/>
              <a:pPr/>
              <a:t>‹#›</a:t>
            </a:fld>
            <a:endParaRPr lang="en-AU" dirty="0"/>
          </a:p>
        </p:txBody>
      </p:sp>
    </p:spTree>
    <p:extLst>
      <p:ext uri="{BB962C8B-B14F-4D97-AF65-F5344CB8AC3E}">
        <p14:creationId xmlns:p14="http://schemas.microsoft.com/office/powerpoint/2010/main" val="1880215744"/>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03B91B3-E50F-4EFF-8D5F-21DA810ECD9F}" type="datetimeFigureOut">
              <a:rPr lang="en-AU" smtClean="0"/>
              <a:pPr/>
              <a:t>23/7/17</a:t>
            </a:fld>
            <a:endParaRPr lang="en-AU"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D937BE4-3242-4672-8D3A-460DCD9877AE}" type="slidenum">
              <a:rPr lang="en-AU" smtClean="0"/>
              <a:pPr/>
              <a:t>‹#›</a:t>
            </a:fld>
            <a:endParaRPr lang="en-AU" dirty="0"/>
          </a:p>
        </p:txBody>
      </p:sp>
    </p:spTree>
    <p:extLst>
      <p:ext uri="{BB962C8B-B14F-4D97-AF65-F5344CB8AC3E}">
        <p14:creationId xmlns:p14="http://schemas.microsoft.com/office/powerpoint/2010/main" val="24286664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video" Target="https://www.youtube.com/embed/MK3-MtrvSWs" TargetMode="External"/><Relationship Id="rId2" Type="http://schemas.openxmlformats.org/officeDocument/2006/relationships/slideLayout" Target="../slideLayouts/slideLayout7.xml"/><Relationship Id="rId3" Type="http://schemas.openxmlformats.org/officeDocument/2006/relationships/image" Target="../media/image3.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043608" y="692696"/>
            <a:ext cx="6984776" cy="523220"/>
          </a:xfrm>
          <a:prstGeom prst="rect">
            <a:avLst/>
          </a:prstGeom>
          <a:noFill/>
        </p:spPr>
        <p:txBody>
          <a:bodyPr wrap="square" rtlCol="0">
            <a:spAutoFit/>
          </a:bodyPr>
          <a:lstStyle/>
          <a:p>
            <a:pPr algn="ctr"/>
            <a:r>
              <a:rPr lang="en-US" sz="2800" dirty="0"/>
              <a:t>My Statistics Interactive Notebook</a:t>
            </a:r>
          </a:p>
        </p:txBody>
      </p:sp>
      <p:sp>
        <p:nvSpPr>
          <p:cNvPr id="4" name="TextBox 3"/>
          <p:cNvSpPr txBox="1"/>
          <p:nvPr/>
        </p:nvSpPr>
        <p:spPr>
          <a:xfrm>
            <a:off x="827584" y="3068960"/>
            <a:ext cx="3456384" cy="2031325"/>
          </a:xfrm>
          <a:prstGeom prst="rect">
            <a:avLst/>
          </a:prstGeom>
          <a:noFill/>
        </p:spPr>
        <p:txBody>
          <a:bodyPr wrap="square" rtlCol="0">
            <a:spAutoFit/>
          </a:bodyPr>
          <a:lstStyle/>
          <a:p>
            <a:r>
              <a:rPr lang="en-US" dirty="0"/>
              <a:t>Name:</a:t>
            </a:r>
          </a:p>
          <a:p>
            <a:endParaRPr lang="en-US" dirty="0"/>
          </a:p>
          <a:p>
            <a:r>
              <a:rPr lang="en-US" dirty="0" smtClean="0"/>
              <a:t>Year 8 </a:t>
            </a:r>
            <a:r>
              <a:rPr lang="en-US" dirty="0" err="1" smtClean="0"/>
              <a:t>Maths</a:t>
            </a:r>
            <a:endParaRPr lang="en-US" dirty="0"/>
          </a:p>
          <a:p>
            <a:endParaRPr lang="en-US" dirty="0"/>
          </a:p>
          <a:p>
            <a:r>
              <a:rPr lang="en-US" dirty="0"/>
              <a:t>Teacher: </a:t>
            </a:r>
            <a:r>
              <a:rPr lang="en-US" dirty="0" err="1"/>
              <a:t>Mr</a:t>
            </a:r>
            <a:r>
              <a:rPr lang="en-US" dirty="0"/>
              <a:t> </a:t>
            </a:r>
            <a:r>
              <a:rPr lang="en-US" dirty="0" smtClean="0"/>
              <a:t>Summers</a:t>
            </a:r>
            <a:endParaRPr lang="en-US" dirty="0"/>
          </a:p>
          <a:p>
            <a:endParaRPr lang="en-US" dirty="0"/>
          </a:p>
          <a:p>
            <a:r>
              <a:rPr lang="en-US" dirty="0"/>
              <a:t>Term 3 Semester 2</a:t>
            </a:r>
          </a:p>
        </p:txBody>
      </p:sp>
      <p:pic>
        <p:nvPicPr>
          <p:cNvPr id="7" name="Picture 6">
            <a:extLst>
              <a:ext uri="{FF2B5EF4-FFF2-40B4-BE49-F238E27FC236}">
                <a16:creationId xmlns:a16="http://schemas.microsoft.com/office/drawing/2014/main" xmlns="" id="{C0548773-B9B4-410A-BC49-020F5D0BE1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07576" y="3501008"/>
            <a:ext cx="4572000" cy="3429000"/>
          </a:xfrm>
          <a:prstGeom prst="rect">
            <a:avLst/>
          </a:prstGeom>
        </p:spPr>
      </p:pic>
      <p:pic>
        <p:nvPicPr>
          <p:cNvPr id="9" name="Picture 8">
            <a:extLst>
              <a:ext uri="{FF2B5EF4-FFF2-40B4-BE49-F238E27FC236}">
                <a16:creationId xmlns:a16="http://schemas.microsoft.com/office/drawing/2014/main" xmlns="" id="{F40B79AE-6BF8-4125-878B-7FC9AF668DD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83970"/>
            <a:ext cx="3707904" cy="1739625"/>
          </a:xfrm>
          <a:prstGeom prst="rect">
            <a:avLst/>
          </a:prstGeom>
        </p:spPr>
      </p:pic>
    </p:spTree>
    <p:extLst>
      <p:ext uri="{BB962C8B-B14F-4D97-AF65-F5344CB8AC3E}">
        <p14:creationId xmlns:p14="http://schemas.microsoft.com/office/powerpoint/2010/main" val="24153189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MK3-MtrvSWs">
            <a:hlinkClick r:id="" action="ppaction://media"/>
            <a:extLst>
              <a:ext uri="{FF2B5EF4-FFF2-40B4-BE49-F238E27FC236}">
                <a16:creationId xmlns:a16="http://schemas.microsoft.com/office/drawing/2014/main" xmlns="" id="{5115CF61-720B-4EB3-B17C-651568BDA5AE}"/>
              </a:ext>
            </a:extLst>
          </p:cNvPr>
          <p:cNvPicPr>
            <a:picLocks noRot="1" noChangeAspect="1"/>
          </p:cNvPicPr>
          <p:nvPr>
            <a:videoFile r:link="rId1"/>
          </p:nvPr>
        </p:nvPicPr>
        <p:blipFill>
          <a:blip r:embed="rId3"/>
          <a:stretch>
            <a:fillRect/>
          </a:stretch>
        </p:blipFill>
        <p:spPr>
          <a:xfrm>
            <a:off x="827584" y="548680"/>
            <a:ext cx="7392822" cy="5544616"/>
          </a:xfrm>
          <a:prstGeom prst="rect">
            <a:avLst/>
          </a:prstGeom>
        </p:spPr>
      </p:pic>
    </p:spTree>
    <p:extLst>
      <p:ext uri="{BB962C8B-B14F-4D97-AF65-F5344CB8AC3E}">
        <p14:creationId xmlns:p14="http://schemas.microsoft.com/office/powerpoint/2010/main" val="123589912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3416" y="488760"/>
            <a:ext cx="8064896" cy="523220"/>
          </a:xfrm>
          <a:prstGeom prst="rect">
            <a:avLst/>
          </a:prstGeom>
          <a:noFill/>
        </p:spPr>
        <p:txBody>
          <a:bodyPr wrap="square" rtlCol="0">
            <a:spAutoFit/>
          </a:bodyPr>
          <a:lstStyle/>
          <a:p>
            <a:pPr algn="ctr"/>
            <a:r>
              <a:rPr lang="en-US" sz="2800" b="1" dirty="0"/>
              <a:t>Warm Up</a:t>
            </a:r>
          </a:p>
        </p:txBody>
      </p:sp>
      <p:sp>
        <p:nvSpPr>
          <p:cNvPr id="4" name="TextBox 3"/>
          <p:cNvSpPr txBox="1"/>
          <p:nvPr/>
        </p:nvSpPr>
        <p:spPr>
          <a:xfrm>
            <a:off x="611560" y="1371789"/>
            <a:ext cx="5342745" cy="1938992"/>
          </a:xfrm>
          <a:prstGeom prst="rect">
            <a:avLst/>
          </a:prstGeom>
          <a:noFill/>
        </p:spPr>
        <p:txBody>
          <a:bodyPr wrap="none" rtlCol="0">
            <a:spAutoFit/>
          </a:bodyPr>
          <a:lstStyle/>
          <a:p>
            <a:r>
              <a:rPr lang="en-US" sz="2400" dirty="0" smtClean="0"/>
              <a:t>Arrange the following in ascending order:</a:t>
            </a:r>
          </a:p>
          <a:p>
            <a:endParaRPr lang="en-US" sz="2400" dirty="0"/>
          </a:p>
          <a:p>
            <a:pPr marL="342900" indent="-342900">
              <a:buAutoNum type="alphaLcParenR"/>
            </a:pPr>
            <a:r>
              <a:rPr lang="en-US" sz="2400" dirty="0" smtClean="0"/>
              <a:t>2, 4, 7, 1, 0, 10, 6, 14, 9</a:t>
            </a:r>
          </a:p>
          <a:p>
            <a:pPr marL="342900" indent="-342900">
              <a:buAutoNum type="alphaLcParenR"/>
            </a:pPr>
            <a:r>
              <a:rPr lang="en-US" sz="2400" dirty="0" smtClean="0"/>
              <a:t>101, 20, 30.6, 204, 26, 100</a:t>
            </a:r>
          </a:p>
          <a:p>
            <a:pPr marL="342900" indent="-342900">
              <a:buAutoNum type="alphaLcParenR"/>
            </a:pPr>
            <a:r>
              <a:rPr lang="en-US" sz="2400" dirty="0" smtClean="0"/>
              <a:t>1.2, 2.9, 2.7, 1.9, 3.5, 3.2</a:t>
            </a:r>
            <a:endParaRPr lang="en-US" sz="2400" dirty="0"/>
          </a:p>
        </p:txBody>
      </p:sp>
      <p:sp>
        <p:nvSpPr>
          <p:cNvPr id="5" name="TextBox 4"/>
          <p:cNvSpPr txBox="1"/>
          <p:nvPr/>
        </p:nvSpPr>
        <p:spPr>
          <a:xfrm>
            <a:off x="611560" y="3717032"/>
            <a:ext cx="7412542" cy="2215991"/>
          </a:xfrm>
          <a:prstGeom prst="rect">
            <a:avLst/>
          </a:prstGeom>
          <a:noFill/>
        </p:spPr>
        <p:txBody>
          <a:bodyPr wrap="none" rtlCol="0">
            <a:spAutoFit/>
          </a:bodyPr>
          <a:lstStyle/>
          <a:p>
            <a:r>
              <a:rPr lang="en-US" sz="2400" dirty="0"/>
              <a:t>F</a:t>
            </a:r>
            <a:r>
              <a:rPr lang="en-US" sz="2400" dirty="0" smtClean="0"/>
              <a:t>ind the value(s) that occur the most in the following lists:</a:t>
            </a:r>
          </a:p>
          <a:p>
            <a:endParaRPr lang="en-US" sz="2400" dirty="0"/>
          </a:p>
          <a:p>
            <a:pPr marL="342900" indent="-342900">
              <a:buAutoNum type="alphaLcParenR"/>
            </a:pPr>
            <a:r>
              <a:rPr lang="en-US" sz="2400" dirty="0" smtClean="0"/>
              <a:t>2,3,1,5,2,7,8,5,10,9,10</a:t>
            </a:r>
          </a:p>
          <a:p>
            <a:pPr marL="342900" indent="-342900">
              <a:buAutoNum type="alphaLcParenR"/>
            </a:pPr>
            <a:r>
              <a:rPr lang="en-US" sz="2400" dirty="0" err="1" smtClean="0"/>
              <a:t>a,a,a,b,c,d,c,d,b,b,e,f,a</a:t>
            </a:r>
            <a:endParaRPr lang="en-US" sz="2400" dirty="0" smtClean="0"/>
          </a:p>
          <a:p>
            <a:pPr marL="342900" indent="-342900">
              <a:buAutoNum type="alphaLcParenR"/>
            </a:pPr>
            <a:r>
              <a:rPr lang="en-US" sz="2400" dirty="0" smtClean="0"/>
              <a:t>blue, orange, red, yellow, green, orange, green</a:t>
            </a:r>
          </a:p>
          <a:p>
            <a:endParaRPr lang="en-US" dirty="0"/>
          </a:p>
        </p:txBody>
      </p:sp>
    </p:spTree>
    <p:extLst>
      <p:ext uri="{BB962C8B-B14F-4D97-AF65-F5344CB8AC3E}">
        <p14:creationId xmlns:p14="http://schemas.microsoft.com/office/powerpoint/2010/main" val="264948750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a:t> </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cxnSp>
        <p:nvCxnSpPr>
          <p:cNvPr id="9" name="Straight Connector 8"/>
          <p:cNvCxnSpPr/>
          <p:nvPr/>
        </p:nvCxnSpPr>
        <p:spPr>
          <a:xfrm>
            <a:off x="1907704" y="1909499"/>
            <a:ext cx="0" cy="4948501"/>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3310715" cy="523220"/>
          </a:xfrm>
          <a:prstGeom prst="rect">
            <a:avLst/>
          </a:prstGeom>
          <a:noFill/>
        </p:spPr>
        <p:txBody>
          <a:bodyPr wrap="none" rtlCol="0">
            <a:spAutoFit/>
          </a:bodyPr>
          <a:lstStyle/>
          <a:p>
            <a:r>
              <a:rPr lang="en-AU" sz="2800" dirty="0"/>
              <a:t>Measures of Location</a:t>
            </a:r>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a:t>Date</a:t>
            </a:r>
          </a:p>
        </p:txBody>
      </p:sp>
      <p:sp>
        <p:nvSpPr>
          <p:cNvPr id="12" name="TextBox 11"/>
          <p:cNvSpPr txBox="1"/>
          <p:nvPr/>
        </p:nvSpPr>
        <p:spPr>
          <a:xfrm>
            <a:off x="93471" y="1078502"/>
            <a:ext cx="8510977" cy="830997"/>
          </a:xfrm>
          <a:prstGeom prst="rect">
            <a:avLst/>
          </a:prstGeom>
          <a:noFill/>
        </p:spPr>
        <p:txBody>
          <a:bodyPr wrap="square" rtlCol="0">
            <a:spAutoFit/>
          </a:bodyPr>
          <a:lstStyle/>
          <a:p>
            <a:r>
              <a:rPr lang="en-AU" sz="2400" dirty="0"/>
              <a:t>EQ – What are </a:t>
            </a:r>
            <a:r>
              <a:rPr lang="en-AU" sz="2400" dirty="0" smtClean="0"/>
              <a:t>some examples of descriptive statistics </a:t>
            </a:r>
            <a:r>
              <a:rPr lang="en-AU" sz="2400" dirty="0"/>
              <a:t>and </a:t>
            </a:r>
            <a:r>
              <a:rPr lang="en-AU" sz="2400" dirty="0" smtClean="0"/>
              <a:t>what do we use them for?</a:t>
            </a:r>
            <a:endParaRPr lang="en-AU" sz="2400" dirty="0"/>
          </a:p>
        </p:txBody>
      </p:sp>
      <p:sp>
        <p:nvSpPr>
          <p:cNvPr id="3" name="TextBox 2"/>
          <p:cNvSpPr txBox="1"/>
          <p:nvPr/>
        </p:nvSpPr>
        <p:spPr>
          <a:xfrm>
            <a:off x="181315" y="1961950"/>
            <a:ext cx="1582373" cy="923330"/>
          </a:xfrm>
          <a:prstGeom prst="rect">
            <a:avLst/>
          </a:prstGeom>
          <a:noFill/>
        </p:spPr>
        <p:txBody>
          <a:bodyPr wrap="square" rtlCol="0">
            <a:spAutoFit/>
          </a:bodyPr>
          <a:lstStyle/>
          <a:p>
            <a:r>
              <a:rPr lang="en-AU" dirty="0"/>
              <a:t>What are measures of </a:t>
            </a:r>
          </a:p>
          <a:p>
            <a:r>
              <a:rPr lang="en-AU" dirty="0"/>
              <a:t>location?</a:t>
            </a:r>
          </a:p>
        </p:txBody>
      </p:sp>
      <p:sp>
        <p:nvSpPr>
          <p:cNvPr id="13" name="TextBox 12"/>
          <p:cNvSpPr txBox="1"/>
          <p:nvPr/>
        </p:nvSpPr>
        <p:spPr>
          <a:xfrm>
            <a:off x="179512" y="3068960"/>
            <a:ext cx="1728192" cy="923330"/>
          </a:xfrm>
          <a:prstGeom prst="rect">
            <a:avLst/>
          </a:prstGeom>
          <a:noFill/>
        </p:spPr>
        <p:txBody>
          <a:bodyPr wrap="square" rtlCol="0">
            <a:spAutoFit/>
          </a:bodyPr>
          <a:lstStyle/>
          <a:p>
            <a:r>
              <a:rPr lang="en-US" dirty="0"/>
              <a:t>How do we find the measures of location?</a:t>
            </a:r>
          </a:p>
        </p:txBody>
      </p:sp>
      <p:sp>
        <p:nvSpPr>
          <p:cNvPr id="14" name="TextBox 13">
            <a:extLst>
              <a:ext uri="{FF2B5EF4-FFF2-40B4-BE49-F238E27FC236}">
                <a16:creationId xmlns:a16="http://schemas.microsoft.com/office/drawing/2014/main" xmlns="" id="{50C2A13A-9599-4BC7-ADE9-5DC21BD637B3}"/>
              </a:ext>
            </a:extLst>
          </p:cNvPr>
          <p:cNvSpPr txBox="1"/>
          <p:nvPr/>
        </p:nvSpPr>
        <p:spPr>
          <a:xfrm>
            <a:off x="2110582" y="1961950"/>
            <a:ext cx="6120681" cy="830997"/>
          </a:xfrm>
          <a:prstGeom prst="rect">
            <a:avLst/>
          </a:prstGeom>
          <a:noFill/>
        </p:spPr>
        <p:txBody>
          <a:bodyPr wrap="square" rtlCol="0">
            <a:spAutoFit/>
          </a:bodyPr>
          <a:lstStyle/>
          <a:p>
            <a:r>
              <a:rPr lang="en-AU" sz="2400" dirty="0"/>
              <a:t>The </a:t>
            </a:r>
            <a:r>
              <a:rPr lang="en-AU" sz="2400" b="1" dirty="0"/>
              <a:t>three</a:t>
            </a:r>
            <a:r>
              <a:rPr lang="en-AU" sz="2400" dirty="0"/>
              <a:t> most common </a:t>
            </a:r>
            <a:r>
              <a:rPr lang="en-AU" sz="2400" b="1" dirty="0"/>
              <a:t>measures of location</a:t>
            </a:r>
            <a:r>
              <a:rPr lang="en-AU" sz="2400" dirty="0"/>
              <a:t> are the mean, the median, and the mode.</a:t>
            </a:r>
          </a:p>
        </p:txBody>
      </p:sp>
      <p:sp>
        <p:nvSpPr>
          <p:cNvPr id="15" name="TextBox 14">
            <a:extLst>
              <a:ext uri="{FF2B5EF4-FFF2-40B4-BE49-F238E27FC236}">
                <a16:creationId xmlns:a16="http://schemas.microsoft.com/office/drawing/2014/main" xmlns="" id="{956CDCAE-D359-443C-BAFA-EF2F483F8946}"/>
              </a:ext>
            </a:extLst>
          </p:cNvPr>
          <p:cNvSpPr txBox="1"/>
          <p:nvPr/>
        </p:nvSpPr>
        <p:spPr>
          <a:xfrm>
            <a:off x="2166304" y="3030798"/>
            <a:ext cx="6323559" cy="3457870"/>
          </a:xfrm>
          <a:prstGeom prst="rect">
            <a:avLst/>
          </a:prstGeom>
          <a:noFill/>
        </p:spPr>
        <p:txBody>
          <a:bodyPr wrap="square" rtlCol="0">
            <a:spAutoFit/>
          </a:bodyPr>
          <a:lstStyle/>
          <a:p>
            <a:pPr>
              <a:lnSpc>
                <a:spcPct val="135000"/>
              </a:lnSpc>
            </a:pPr>
            <a:r>
              <a:rPr lang="en-US" altLang="en-US" sz="2400" b="1" dirty="0" smtClean="0">
                <a:solidFill>
                  <a:schemeClr val="accent2"/>
                </a:solidFill>
              </a:rPr>
              <a:t>Mean</a:t>
            </a:r>
            <a:endParaRPr lang="en-US" altLang="en-US" sz="2400" b="1" dirty="0">
              <a:solidFill>
                <a:schemeClr val="hlink"/>
              </a:solidFill>
            </a:endParaRPr>
          </a:p>
          <a:p>
            <a:pPr marL="285750" indent="-285750">
              <a:lnSpc>
                <a:spcPct val="135000"/>
              </a:lnSpc>
              <a:buFont typeface="Arial" charset="0"/>
              <a:buChar char="•"/>
            </a:pPr>
            <a:r>
              <a:rPr lang="en-US" altLang="en-US" sz="2400" dirty="0" smtClean="0"/>
              <a:t>Most </a:t>
            </a:r>
            <a:r>
              <a:rPr lang="en-US" altLang="en-US" sz="2400" dirty="0"/>
              <a:t>commonly used measure of central tendency</a:t>
            </a:r>
          </a:p>
          <a:p>
            <a:pPr marL="285750" indent="-285750">
              <a:lnSpc>
                <a:spcPct val="135000"/>
              </a:lnSpc>
              <a:buFont typeface="Arial" charset="0"/>
              <a:buChar char="•"/>
            </a:pPr>
            <a:r>
              <a:rPr lang="en-US" altLang="en-US" sz="2400" dirty="0" smtClean="0"/>
              <a:t>Also known as the </a:t>
            </a:r>
            <a:r>
              <a:rPr lang="en-US" altLang="en-US" sz="2400" b="1" dirty="0" smtClean="0">
                <a:solidFill>
                  <a:schemeClr val="accent2"/>
                </a:solidFill>
              </a:rPr>
              <a:t>Average</a:t>
            </a:r>
            <a:r>
              <a:rPr lang="en-US" altLang="en-US" sz="2400" dirty="0" smtClean="0"/>
              <a:t> </a:t>
            </a:r>
            <a:r>
              <a:rPr lang="en-US" altLang="en-US" sz="2400" dirty="0"/>
              <a:t>of all </a:t>
            </a:r>
            <a:r>
              <a:rPr lang="en-US" altLang="en-US" sz="2400" dirty="0" smtClean="0"/>
              <a:t>observations.</a:t>
            </a:r>
            <a:endParaRPr lang="en-US" altLang="en-US" sz="2400" dirty="0"/>
          </a:p>
          <a:p>
            <a:pPr marL="285750" indent="-285750">
              <a:lnSpc>
                <a:spcPct val="135000"/>
              </a:lnSpc>
              <a:buFont typeface="Arial" charset="0"/>
              <a:buChar char="•"/>
            </a:pPr>
            <a:r>
              <a:rPr lang="en-US" altLang="en-US" sz="2400" dirty="0"/>
              <a:t>I</a:t>
            </a:r>
            <a:r>
              <a:rPr lang="en-US" altLang="en-US" sz="2400" dirty="0" smtClean="0"/>
              <a:t>t is </a:t>
            </a:r>
            <a:r>
              <a:rPr lang="en-US" altLang="en-US" sz="2400" i="1" dirty="0" smtClean="0"/>
              <a:t>the </a:t>
            </a:r>
            <a:r>
              <a:rPr lang="en-US" altLang="en-US" sz="2400" i="1" dirty="0"/>
              <a:t>sum of all the scores </a:t>
            </a:r>
            <a:r>
              <a:rPr lang="en-US" altLang="en-US" sz="2400" dirty="0"/>
              <a:t>divided by </a:t>
            </a:r>
            <a:r>
              <a:rPr lang="en-US" altLang="en-US" sz="2400" i="1" dirty="0"/>
              <a:t>the number of scores</a:t>
            </a:r>
          </a:p>
          <a:p>
            <a:pPr>
              <a:lnSpc>
                <a:spcPct val="135000"/>
              </a:lnSpc>
            </a:pPr>
            <a:endParaRPr lang="en-US" altLang="en-US" dirty="0"/>
          </a:p>
        </p:txBody>
      </p:sp>
    </p:spTree>
    <p:extLst>
      <p:ext uri="{BB962C8B-B14F-4D97-AF65-F5344CB8AC3E}">
        <p14:creationId xmlns:p14="http://schemas.microsoft.com/office/powerpoint/2010/main" val="376811371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a:t> </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cxnSp>
        <p:nvCxnSpPr>
          <p:cNvPr id="9" name="Straight Connector 8"/>
          <p:cNvCxnSpPr/>
          <p:nvPr/>
        </p:nvCxnSpPr>
        <p:spPr>
          <a:xfrm>
            <a:off x="1907704" y="1916832"/>
            <a:ext cx="0" cy="49411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3310715" cy="523220"/>
          </a:xfrm>
          <a:prstGeom prst="rect">
            <a:avLst/>
          </a:prstGeom>
          <a:noFill/>
        </p:spPr>
        <p:txBody>
          <a:bodyPr wrap="none" rtlCol="0">
            <a:spAutoFit/>
          </a:bodyPr>
          <a:lstStyle/>
          <a:p>
            <a:r>
              <a:rPr lang="en-AU" sz="2800" dirty="0"/>
              <a:t>Measures of Location</a:t>
            </a:r>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a:t>Date</a:t>
            </a:r>
          </a:p>
        </p:txBody>
      </p:sp>
      <p:sp>
        <p:nvSpPr>
          <p:cNvPr id="12" name="TextBox 11"/>
          <p:cNvSpPr txBox="1"/>
          <p:nvPr/>
        </p:nvSpPr>
        <p:spPr>
          <a:xfrm>
            <a:off x="93471" y="1078502"/>
            <a:ext cx="8620422" cy="830997"/>
          </a:xfrm>
          <a:prstGeom prst="rect">
            <a:avLst/>
          </a:prstGeom>
          <a:noFill/>
        </p:spPr>
        <p:txBody>
          <a:bodyPr wrap="square" rtlCol="0">
            <a:spAutoFit/>
          </a:bodyPr>
          <a:lstStyle/>
          <a:p>
            <a:r>
              <a:rPr lang="en-AU" sz="2400" dirty="0"/>
              <a:t>EQ – What are the measures of location in statistics and how do we find them?</a:t>
            </a:r>
          </a:p>
        </p:txBody>
      </p:sp>
      <p:sp>
        <p:nvSpPr>
          <p:cNvPr id="13" name="TextBox 12"/>
          <p:cNvSpPr txBox="1"/>
          <p:nvPr/>
        </p:nvSpPr>
        <p:spPr>
          <a:xfrm>
            <a:off x="251521" y="2025214"/>
            <a:ext cx="1440159" cy="1200329"/>
          </a:xfrm>
          <a:prstGeom prst="rect">
            <a:avLst/>
          </a:prstGeom>
          <a:noFill/>
        </p:spPr>
        <p:txBody>
          <a:bodyPr wrap="square" rtlCol="0">
            <a:spAutoFit/>
          </a:bodyPr>
          <a:lstStyle/>
          <a:p>
            <a:r>
              <a:rPr lang="en-US" dirty="0"/>
              <a:t>How do we find the measures of location?</a:t>
            </a:r>
          </a:p>
        </p:txBody>
      </p:sp>
      <p:sp>
        <p:nvSpPr>
          <p:cNvPr id="17" name="Rectangle 16">
            <a:extLst>
              <a:ext uri="{FF2B5EF4-FFF2-40B4-BE49-F238E27FC236}">
                <a16:creationId xmlns:a16="http://schemas.microsoft.com/office/drawing/2014/main" xmlns="" id="{B09753AB-4790-4D0A-B8FE-AA5E76046980}"/>
              </a:ext>
            </a:extLst>
          </p:cNvPr>
          <p:cNvSpPr/>
          <p:nvPr/>
        </p:nvSpPr>
        <p:spPr>
          <a:xfrm>
            <a:off x="3563888" y="4725144"/>
            <a:ext cx="1296144" cy="1065394"/>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AU"/>
          </a:p>
        </p:txBody>
      </p:sp>
      <p:sp>
        <p:nvSpPr>
          <p:cNvPr id="18" name="TextBox 17">
            <a:extLst>
              <a:ext uri="{FF2B5EF4-FFF2-40B4-BE49-F238E27FC236}">
                <a16:creationId xmlns:a16="http://schemas.microsoft.com/office/drawing/2014/main" xmlns="" id="{88D9B15E-5695-484F-8D30-2CF999EADCAA}"/>
              </a:ext>
            </a:extLst>
          </p:cNvPr>
          <p:cNvSpPr txBox="1"/>
          <p:nvPr/>
        </p:nvSpPr>
        <p:spPr>
          <a:xfrm>
            <a:off x="2087724" y="2048866"/>
            <a:ext cx="4968552" cy="1426224"/>
          </a:xfrm>
          <a:prstGeom prst="rect">
            <a:avLst/>
          </a:prstGeom>
          <a:noFill/>
        </p:spPr>
        <p:txBody>
          <a:bodyPr wrap="square" rtlCol="0">
            <a:spAutoFit/>
          </a:bodyPr>
          <a:lstStyle/>
          <a:p>
            <a:pPr>
              <a:lnSpc>
                <a:spcPct val="110000"/>
              </a:lnSpc>
            </a:pPr>
            <a:r>
              <a:rPr lang="en-US" altLang="en-US" sz="2800" b="1" u="sng">
                <a:solidFill>
                  <a:schemeClr val="accent2"/>
                </a:solidFill>
              </a:rPr>
              <a:t>Example </a:t>
            </a:r>
            <a:r>
              <a:rPr lang="en-US" altLang="en-US" sz="2800" b="1" u="sng" smtClean="0">
                <a:solidFill>
                  <a:schemeClr val="accent2"/>
                </a:solidFill>
              </a:rPr>
              <a:t>1</a:t>
            </a:r>
          </a:p>
          <a:p>
            <a:pPr>
              <a:lnSpc>
                <a:spcPct val="110000"/>
              </a:lnSpc>
            </a:pPr>
            <a:endParaRPr lang="en-US" altLang="en-US" sz="2800" b="1" u="sng" dirty="0">
              <a:solidFill>
                <a:schemeClr val="accent2"/>
              </a:solidFill>
            </a:endParaRPr>
          </a:p>
          <a:p>
            <a:pPr lvl="1">
              <a:lnSpc>
                <a:spcPct val="110000"/>
              </a:lnSpc>
            </a:pPr>
            <a:r>
              <a:rPr lang="en-US" altLang="en-US" sz="2400" dirty="0"/>
              <a:t>Data: 8, 4, 2, 6, 10</a:t>
            </a:r>
          </a:p>
        </p:txBody>
      </p:sp>
      <mc:AlternateContent xmlns:mc="http://schemas.openxmlformats.org/markup-compatibility/2006">
        <mc:Choice xmlns:a14="http://schemas.microsoft.com/office/drawing/2010/main" Requires="a14">
          <p:sp>
            <p:nvSpPr>
              <p:cNvPr id="20" name="TextBox 19"/>
              <p:cNvSpPr txBox="1"/>
              <p:nvPr/>
            </p:nvSpPr>
            <p:spPr>
              <a:xfrm>
                <a:off x="2605812" y="3987610"/>
                <a:ext cx="4824536" cy="1808572"/>
              </a:xfrm>
              <a:prstGeom prst="rect">
                <a:avLst/>
              </a:prstGeom>
              <a:noFill/>
            </p:spPr>
            <p:txBody>
              <a:bodyPr wrap="square" rtlCol="0">
                <a:spAutoFit/>
              </a:bodyPr>
              <a:lstStyle/>
              <a:p>
                <a:r>
                  <a:rPr lang="en-US" sz="2800" dirty="0" smtClean="0"/>
                  <a:t>Mean = </a:t>
                </a:r>
                <a14:m>
                  <m:oMath xmlns:m="http://schemas.openxmlformats.org/officeDocument/2006/math">
                    <m:f>
                      <m:fPr>
                        <m:ctrlPr>
                          <a:rPr lang="mr-IN" sz="2800" i="1" smtClean="0">
                            <a:latin typeface="Cambria Math" charset="0"/>
                          </a:rPr>
                        </m:ctrlPr>
                      </m:fPr>
                      <m:num>
                        <m:r>
                          <a:rPr lang="en-CA" sz="2800" b="0" i="1" smtClean="0">
                            <a:latin typeface="Cambria Math" charset="0"/>
                          </a:rPr>
                          <m:t>𝑠𝑢𝑚</m:t>
                        </m:r>
                        <m:r>
                          <a:rPr lang="en-CA" sz="2800" b="0" i="1" smtClean="0">
                            <a:latin typeface="Cambria Math" charset="0"/>
                          </a:rPr>
                          <m:t> </m:t>
                        </m:r>
                        <m:r>
                          <a:rPr lang="en-CA" sz="2800" b="0" i="1" smtClean="0">
                            <a:latin typeface="Cambria Math" charset="0"/>
                          </a:rPr>
                          <m:t>𝑜𝑓</m:t>
                        </m:r>
                        <m:r>
                          <a:rPr lang="en-CA" sz="2800" b="0" i="1" smtClean="0">
                            <a:latin typeface="Cambria Math" charset="0"/>
                          </a:rPr>
                          <m:t> </m:t>
                        </m:r>
                        <m:r>
                          <a:rPr lang="en-CA" sz="2800" b="0" i="1" smtClean="0">
                            <a:latin typeface="Cambria Math" charset="0"/>
                          </a:rPr>
                          <m:t>𝑠𝑐𝑜𝑟𝑒𝑠</m:t>
                        </m:r>
                      </m:num>
                      <m:den>
                        <m:r>
                          <a:rPr lang="en-CA" sz="2800" b="0" i="1" smtClean="0">
                            <a:latin typeface="Cambria Math" charset="0"/>
                          </a:rPr>
                          <m:t>𝑛𝑢𝑚𝑏𝑒𝑟</m:t>
                        </m:r>
                        <m:r>
                          <a:rPr lang="en-CA" sz="2800" b="0" i="1" smtClean="0">
                            <a:latin typeface="Cambria Math" charset="0"/>
                          </a:rPr>
                          <m:t> </m:t>
                        </m:r>
                        <m:r>
                          <a:rPr lang="en-CA" sz="2800" b="0" i="1" smtClean="0">
                            <a:latin typeface="Cambria Math" charset="0"/>
                          </a:rPr>
                          <m:t>𝑜𝑓</m:t>
                        </m:r>
                        <m:r>
                          <a:rPr lang="en-CA" sz="2800" b="0" i="1" smtClean="0">
                            <a:latin typeface="Cambria Math" charset="0"/>
                          </a:rPr>
                          <m:t> </m:t>
                        </m:r>
                        <m:r>
                          <a:rPr lang="en-CA" sz="2800" b="0" i="1" smtClean="0">
                            <a:latin typeface="Cambria Math" charset="0"/>
                          </a:rPr>
                          <m:t>𝑠𝑐𝑜𝑟𝑒𝑠</m:t>
                        </m:r>
                      </m:den>
                    </m:f>
                  </m:oMath>
                </a14:m>
                <a:r>
                  <a:rPr lang="en-US" sz="2800" dirty="0" smtClean="0"/>
                  <a:t> =</a:t>
                </a:r>
              </a:p>
              <a:p>
                <a:endParaRPr lang="en-US" sz="2800" dirty="0"/>
              </a:p>
              <a:p>
                <a:r>
                  <a:rPr lang="en-US" sz="2800" dirty="0" smtClean="0"/>
                  <a:t> </a:t>
                </a:r>
                <a14:m>
                  <m:oMath xmlns:m="http://schemas.openxmlformats.org/officeDocument/2006/math">
                    <m:f>
                      <m:fPr>
                        <m:ctrlPr>
                          <a:rPr lang="mr-IN" sz="2800" i="1" smtClean="0">
                            <a:latin typeface="Cambria Math" charset="0"/>
                          </a:rPr>
                        </m:ctrlPr>
                      </m:fPr>
                      <m:num>
                        <m:r>
                          <a:rPr lang="en-CA" sz="2800" b="0" i="1" smtClean="0">
                            <a:latin typeface="Cambria Math" charset="0"/>
                          </a:rPr>
                          <m:t>8+4+2+6+10</m:t>
                        </m:r>
                      </m:num>
                      <m:den>
                        <m:r>
                          <a:rPr lang="en-CA" sz="2800" b="0" i="1" smtClean="0">
                            <a:latin typeface="Cambria Math" charset="0"/>
                          </a:rPr>
                          <m:t>5</m:t>
                        </m:r>
                      </m:den>
                    </m:f>
                  </m:oMath>
                </a14:m>
                <a:r>
                  <a:rPr lang="en-US" sz="2800" dirty="0" smtClean="0"/>
                  <a:t> = </a:t>
                </a:r>
                <a14:m>
                  <m:oMath xmlns:m="http://schemas.openxmlformats.org/officeDocument/2006/math">
                    <m:f>
                      <m:fPr>
                        <m:ctrlPr>
                          <a:rPr lang="mr-IN" sz="2800" i="1" smtClean="0">
                            <a:latin typeface="Cambria Math" charset="0"/>
                          </a:rPr>
                        </m:ctrlPr>
                      </m:fPr>
                      <m:num>
                        <m:r>
                          <a:rPr lang="en-CA" sz="2800" b="0" i="1" smtClean="0">
                            <a:latin typeface="Cambria Math" charset="0"/>
                          </a:rPr>
                          <m:t>30</m:t>
                        </m:r>
                      </m:num>
                      <m:den>
                        <m:r>
                          <a:rPr lang="en-CA" sz="2800" b="0" i="1" smtClean="0">
                            <a:latin typeface="Cambria Math" charset="0"/>
                          </a:rPr>
                          <m:t>5</m:t>
                        </m:r>
                      </m:den>
                    </m:f>
                    <m:r>
                      <a:rPr lang="en-CA" sz="2800" b="0" i="1" smtClean="0">
                        <a:latin typeface="Cambria Math" charset="0"/>
                      </a:rPr>
                      <m:t>=6</m:t>
                    </m:r>
                  </m:oMath>
                </a14:m>
                <a:endParaRPr lang="en-US" sz="2800" dirty="0"/>
              </a:p>
            </p:txBody>
          </p:sp>
        </mc:Choice>
        <mc:Fallback>
          <p:sp>
            <p:nvSpPr>
              <p:cNvPr id="20" name="TextBox 19"/>
              <p:cNvSpPr txBox="1">
                <a:spLocks noRot="1" noChangeAspect="1" noMove="1" noResize="1" noEditPoints="1" noAdjustHandles="1" noChangeArrowheads="1" noChangeShapeType="1" noTextEdit="1"/>
              </p:cNvSpPr>
              <p:nvPr/>
            </p:nvSpPr>
            <p:spPr>
              <a:xfrm>
                <a:off x="2605812" y="3987610"/>
                <a:ext cx="4824536" cy="1808572"/>
              </a:xfrm>
              <a:prstGeom prst="rect">
                <a:avLst/>
              </a:prstGeom>
              <a:blipFill rotWithShape="0">
                <a:blip r:embed="rId2"/>
                <a:stretch>
                  <a:fillRect l="-2525" b="-3704"/>
                </a:stretch>
              </a:blipFill>
            </p:spPr>
            <p:txBody>
              <a:bodyPr/>
              <a:lstStyle/>
              <a:p>
                <a:r>
                  <a:rPr lang="en-US">
                    <a:noFill/>
                  </a:rPr>
                  <a:t> </a:t>
                </a:r>
              </a:p>
            </p:txBody>
          </p:sp>
        </mc:Fallback>
      </mc:AlternateContent>
    </p:spTree>
    <p:extLst>
      <p:ext uri="{BB962C8B-B14F-4D97-AF65-F5344CB8AC3E}">
        <p14:creationId xmlns:p14="http://schemas.microsoft.com/office/powerpoint/2010/main" val="60022663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a:t> </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cxnSp>
        <p:nvCxnSpPr>
          <p:cNvPr id="9" name="Straight Connector 8"/>
          <p:cNvCxnSpPr/>
          <p:nvPr/>
        </p:nvCxnSpPr>
        <p:spPr>
          <a:xfrm>
            <a:off x="1907704" y="1916832"/>
            <a:ext cx="0" cy="49411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3310715" cy="523220"/>
          </a:xfrm>
          <a:prstGeom prst="rect">
            <a:avLst/>
          </a:prstGeom>
          <a:noFill/>
        </p:spPr>
        <p:txBody>
          <a:bodyPr wrap="none" rtlCol="0">
            <a:spAutoFit/>
          </a:bodyPr>
          <a:lstStyle/>
          <a:p>
            <a:r>
              <a:rPr lang="en-AU" sz="2800" dirty="0"/>
              <a:t>Measures of Location</a:t>
            </a:r>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a:t>Date</a:t>
            </a:r>
          </a:p>
        </p:txBody>
      </p:sp>
      <p:sp>
        <p:nvSpPr>
          <p:cNvPr id="12" name="TextBox 11"/>
          <p:cNvSpPr txBox="1"/>
          <p:nvPr/>
        </p:nvSpPr>
        <p:spPr>
          <a:xfrm>
            <a:off x="93471" y="1078502"/>
            <a:ext cx="8620422" cy="830997"/>
          </a:xfrm>
          <a:prstGeom prst="rect">
            <a:avLst/>
          </a:prstGeom>
          <a:noFill/>
        </p:spPr>
        <p:txBody>
          <a:bodyPr wrap="square" rtlCol="0">
            <a:spAutoFit/>
          </a:bodyPr>
          <a:lstStyle/>
          <a:p>
            <a:r>
              <a:rPr lang="en-AU" sz="2400" dirty="0"/>
              <a:t>EQ – What are the measures of location in statistics and how do we find them?</a:t>
            </a:r>
          </a:p>
        </p:txBody>
      </p:sp>
      <p:sp>
        <p:nvSpPr>
          <p:cNvPr id="13" name="TextBox 12"/>
          <p:cNvSpPr txBox="1"/>
          <p:nvPr/>
        </p:nvSpPr>
        <p:spPr>
          <a:xfrm>
            <a:off x="251521" y="2025214"/>
            <a:ext cx="1440159" cy="1200329"/>
          </a:xfrm>
          <a:prstGeom prst="rect">
            <a:avLst/>
          </a:prstGeom>
          <a:noFill/>
        </p:spPr>
        <p:txBody>
          <a:bodyPr wrap="square" rtlCol="0">
            <a:spAutoFit/>
          </a:bodyPr>
          <a:lstStyle/>
          <a:p>
            <a:r>
              <a:rPr lang="en-US" dirty="0"/>
              <a:t>How do we find the measures of location?</a:t>
            </a:r>
          </a:p>
        </p:txBody>
      </p:sp>
      <p:sp>
        <p:nvSpPr>
          <p:cNvPr id="17" name="Rectangle 16">
            <a:extLst>
              <a:ext uri="{FF2B5EF4-FFF2-40B4-BE49-F238E27FC236}">
                <a16:creationId xmlns:a16="http://schemas.microsoft.com/office/drawing/2014/main" xmlns="" id="{B09753AB-4790-4D0A-B8FE-AA5E76046980}"/>
              </a:ext>
            </a:extLst>
          </p:cNvPr>
          <p:cNvSpPr/>
          <p:nvPr/>
        </p:nvSpPr>
        <p:spPr>
          <a:xfrm>
            <a:off x="3563888" y="4725144"/>
            <a:ext cx="1296144" cy="1065394"/>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AU"/>
          </a:p>
        </p:txBody>
      </p:sp>
      <p:sp>
        <p:nvSpPr>
          <p:cNvPr id="3" name="TextBox 2"/>
          <p:cNvSpPr txBox="1"/>
          <p:nvPr/>
        </p:nvSpPr>
        <p:spPr>
          <a:xfrm>
            <a:off x="2123729" y="2052517"/>
            <a:ext cx="1680204" cy="523220"/>
          </a:xfrm>
          <a:prstGeom prst="rect">
            <a:avLst/>
          </a:prstGeom>
          <a:noFill/>
        </p:spPr>
        <p:txBody>
          <a:bodyPr wrap="none" rtlCol="0">
            <a:spAutoFit/>
          </a:bodyPr>
          <a:lstStyle/>
          <a:p>
            <a:r>
              <a:rPr lang="en-US" sz="2800" dirty="0" smtClean="0"/>
              <a:t>Example 2</a:t>
            </a:r>
            <a:endParaRPr lang="en-US" sz="2800" dirty="0"/>
          </a:p>
        </p:txBody>
      </p:sp>
      <p:pic>
        <p:nvPicPr>
          <p:cNvPr id="14" name="Picture 1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22891" y="2988622"/>
            <a:ext cx="7000460" cy="2672626"/>
          </a:xfrm>
          <a:prstGeom prst="rect">
            <a:avLst/>
          </a:prstGeom>
        </p:spPr>
      </p:pic>
    </p:spTree>
    <p:extLst>
      <p:ext uri="{BB962C8B-B14F-4D97-AF65-F5344CB8AC3E}">
        <p14:creationId xmlns:p14="http://schemas.microsoft.com/office/powerpoint/2010/main" val="202375065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75856" y="260648"/>
            <a:ext cx="1573764" cy="523220"/>
          </a:xfrm>
          <a:prstGeom prst="rect">
            <a:avLst/>
          </a:prstGeom>
          <a:noFill/>
        </p:spPr>
        <p:txBody>
          <a:bodyPr wrap="none" rtlCol="0">
            <a:spAutoFit/>
          </a:bodyPr>
          <a:lstStyle/>
          <a:p>
            <a:r>
              <a:rPr lang="en-US" sz="2800" dirty="0" smtClean="0"/>
              <a:t>Your Turn</a:t>
            </a:r>
            <a:endParaRPr lang="en-US" sz="2800"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9552" y="1268760"/>
            <a:ext cx="3911600" cy="1295400"/>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8074" y="3284984"/>
            <a:ext cx="3606800" cy="2540000"/>
          </a:xfrm>
          <a:prstGeom prst="rect">
            <a:avLst/>
          </a:prstGeom>
        </p:spPr>
      </p:pic>
    </p:spTree>
    <p:extLst>
      <p:ext uri="{BB962C8B-B14F-4D97-AF65-F5344CB8AC3E}">
        <p14:creationId xmlns:p14="http://schemas.microsoft.com/office/powerpoint/2010/main" val="161504524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a:t> </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cxnSp>
        <p:nvCxnSpPr>
          <p:cNvPr id="9" name="Straight Connector 8"/>
          <p:cNvCxnSpPr/>
          <p:nvPr/>
        </p:nvCxnSpPr>
        <p:spPr>
          <a:xfrm>
            <a:off x="1465356" y="1909499"/>
            <a:ext cx="0" cy="4948501"/>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3310715" cy="523220"/>
          </a:xfrm>
          <a:prstGeom prst="rect">
            <a:avLst/>
          </a:prstGeom>
          <a:noFill/>
        </p:spPr>
        <p:txBody>
          <a:bodyPr wrap="none" rtlCol="0">
            <a:spAutoFit/>
          </a:bodyPr>
          <a:lstStyle/>
          <a:p>
            <a:r>
              <a:rPr lang="en-AU" sz="2800" dirty="0"/>
              <a:t>Measures of Location</a:t>
            </a:r>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a:t>Date</a:t>
            </a:r>
          </a:p>
        </p:txBody>
      </p:sp>
      <p:sp>
        <p:nvSpPr>
          <p:cNvPr id="12" name="TextBox 11"/>
          <p:cNvSpPr txBox="1"/>
          <p:nvPr/>
        </p:nvSpPr>
        <p:spPr>
          <a:xfrm>
            <a:off x="93471" y="1078502"/>
            <a:ext cx="8620422" cy="830997"/>
          </a:xfrm>
          <a:prstGeom prst="rect">
            <a:avLst/>
          </a:prstGeom>
          <a:noFill/>
        </p:spPr>
        <p:txBody>
          <a:bodyPr wrap="square" rtlCol="0">
            <a:spAutoFit/>
          </a:bodyPr>
          <a:lstStyle/>
          <a:p>
            <a:r>
              <a:rPr lang="en-AU" sz="2400" dirty="0"/>
              <a:t>EQ – What are the measures of location in statistics and how do we find them?</a:t>
            </a:r>
          </a:p>
        </p:txBody>
      </p:sp>
      <p:sp>
        <p:nvSpPr>
          <p:cNvPr id="13" name="TextBox 12"/>
          <p:cNvSpPr txBox="1"/>
          <p:nvPr/>
        </p:nvSpPr>
        <p:spPr>
          <a:xfrm>
            <a:off x="110648" y="2066316"/>
            <a:ext cx="1368151" cy="1200329"/>
          </a:xfrm>
          <a:prstGeom prst="rect">
            <a:avLst/>
          </a:prstGeom>
          <a:noFill/>
        </p:spPr>
        <p:txBody>
          <a:bodyPr wrap="square" rtlCol="0">
            <a:spAutoFit/>
          </a:bodyPr>
          <a:lstStyle/>
          <a:p>
            <a:r>
              <a:rPr lang="en-US" dirty="0"/>
              <a:t>How do we find the measures of location?</a:t>
            </a:r>
          </a:p>
        </p:txBody>
      </p:sp>
      <p:sp>
        <p:nvSpPr>
          <p:cNvPr id="3" name="TextBox 2">
            <a:extLst>
              <a:ext uri="{FF2B5EF4-FFF2-40B4-BE49-F238E27FC236}">
                <a16:creationId xmlns:a16="http://schemas.microsoft.com/office/drawing/2014/main" xmlns="" id="{E8BA37B9-996B-449A-96B8-1D91D92BC37A}"/>
              </a:ext>
            </a:extLst>
          </p:cNvPr>
          <p:cNvSpPr txBox="1"/>
          <p:nvPr/>
        </p:nvSpPr>
        <p:spPr>
          <a:xfrm>
            <a:off x="1638843" y="2007272"/>
            <a:ext cx="7331671" cy="1766317"/>
          </a:xfrm>
          <a:prstGeom prst="rect">
            <a:avLst/>
          </a:prstGeom>
          <a:noFill/>
        </p:spPr>
        <p:txBody>
          <a:bodyPr wrap="square" rtlCol="0">
            <a:spAutoFit/>
          </a:bodyPr>
          <a:lstStyle/>
          <a:p>
            <a:pPr>
              <a:lnSpc>
                <a:spcPct val="115000"/>
              </a:lnSpc>
              <a:spcBef>
                <a:spcPct val="55000"/>
              </a:spcBef>
            </a:pPr>
            <a:r>
              <a:rPr lang="en-US" altLang="en-US" sz="2400" b="1" dirty="0">
                <a:solidFill>
                  <a:schemeClr val="accent2"/>
                </a:solidFill>
              </a:rPr>
              <a:t>Median</a:t>
            </a:r>
            <a:r>
              <a:rPr lang="en-US" altLang="en-US" sz="2400" dirty="0"/>
              <a:t> </a:t>
            </a:r>
            <a:r>
              <a:rPr lang="en-US" altLang="en-US" sz="2400" dirty="0" smtClean="0"/>
              <a:t>– This is the middle value if the values are in order (ascending or descending). If there are two middle values then the average of them is taken, by adding them together and dividing by 2.</a:t>
            </a:r>
            <a:endParaRPr lang="en-US" altLang="en-US" sz="2400" dirty="0"/>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63688" y="4149080"/>
            <a:ext cx="6070600" cy="2438400"/>
          </a:xfrm>
          <a:prstGeom prst="rect">
            <a:avLst/>
          </a:prstGeom>
        </p:spPr>
      </p:pic>
    </p:spTree>
    <p:extLst>
      <p:ext uri="{BB962C8B-B14F-4D97-AF65-F5344CB8AC3E}">
        <p14:creationId xmlns:p14="http://schemas.microsoft.com/office/powerpoint/2010/main" val="2385660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dissolv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80" y="1196752"/>
            <a:ext cx="5461000" cy="1651000"/>
          </a:xfrm>
          <a:prstGeom prst="rect">
            <a:avLst/>
          </a:prstGeom>
        </p:spPr>
      </p:pic>
      <p:sp>
        <p:nvSpPr>
          <p:cNvPr id="3" name="TextBox 2"/>
          <p:cNvSpPr txBox="1"/>
          <p:nvPr/>
        </p:nvSpPr>
        <p:spPr>
          <a:xfrm>
            <a:off x="3635896" y="188640"/>
            <a:ext cx="1541512" cy="523220"/>
          </a:xfrm>
          <a:prstGeom prst="rect">
            <a:avLst/>
          </a:prstGeom>
          <a:noFill/>
        </p:spPr>
        <p:txBody>
          <a:bodyPr wrap="none" rtlCol="0">
            <a:spAutoFit/>
          </a:bodyPr>
          <a:lstStyle/>
          <a:p>
            <a:r>
              <a:rPr lang="en-US" sz="2800" dirty="0" smtClean="0"/>
              <a:t>Your turn</a:t>
            </a:r>
            <a:endParaRPr lang="en-US" sz="2800"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779" y="3717032"/>
            <a:ext cx="9025666" cy="2402573"/>
          </a:xfrm>
          <a:prstGeom prst="rect">
            <a:avLst/>
          </a:prstGeom>
        </p:spPr>
      </p:pic>
    </p:spTree>
    <p:extLst>
      <p:ext uri="{BB962C8B-B14F-4D97-AF65-F5344CB8AC3E}">
        <p14:creationId xmlns:p14="http://schemas.microsoft.com/office/powerpoint/2010/main" val="731323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 presetClass="entr" presetSubtype="1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checkerboard(across)">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95536" y="404664"/>
            <a:ext cx="7344816" cy="1569660"/>
          </a:xfrm>
          <a:prstGeom prst="rect">
            <a:avLst/>
          </a:prstGeom>
          <a:noFill/>
        </p:spPr>
        <p:txBody>
          <a:bodyPr wrap="square" rtlCol="0">
            <a:spAutoFit/>
          </a:bodyPr>
          <a:lstStyle/>
          <a:p>
            <a:r>
              <a:rPr lang="en-US" sz="3200" dirty="0" smtClean="0"/>
              <a:t>Complete the first two rows (mean and median) from your Mean, median, Mode and Range worksheet</a:t>
            </a:r>
            <a:endParaRPr lang="en-US" sz="3200" dirty="0"/>
          </a:p>
        </p:txBody>
      </p:sp>
    </p:spTree>
    <p:extLst>
      <p:ext uri="{BB962C8B-B14F-4D97-AF65-F5344CB8AC3E}">
        <p14:creationId xmlns:p14="http://schemas.microsoft.com/office/powerpoint/2010/main" val="12219437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1520" y="476672"/>
            <a:ext cx="5254324" cy="3231654"/>
          </a:xfrm>
          <a:prstGeom prst="rect">
            <a:avLst/>
          </a:prstGeom>
          <a:noFill/>
        </p:spPr>
        <p:txBody>
          <a:bodyPr wrap="none" rtlCol="0">
            <a:spAutoFit/>
          </a:bodyPr>
          <a:lstStyle/>
          <a:p>
            <a:r>
              <a:rPr lang="en-US" sz="2800" dirty="0" smtClean="0"/>
              <a:t>Exit Slip</a:t>
            </a:r>
          </a:p>
          <a:p>
            <a:endParaRPr lang="en-US" sz="2800" dirty="0"/>
          </a:p>
          <a:p>
            <a:r>
              <a:rPr lang="en-US" sz="2800" dirty="0" smtClean="0"/>
              <a:t>On the paper you’ve been handed:</a:t>
            </a:r>
          </a:p>
          <a:p>
            <a:endParaRPr lang="en-US" sz="2800" dirty="0"/>
          </a:p>
          <a:p>
            <a:pPr marL="285750" indent="-285750">
              <a:buFont typeface="Arial" charset="0"/>
              <a:buChar char="•"/>
            </a:pPr>
            <a:r>
              <a:rPr lang="en-US" sz="2800" dirty="0" smtClean="0"/>
              <a:t>Define Mean and Median</a:t>
            </a:r>
          </a:p>
          <a:p>
            <a:pPr marL="285750" indent="-285750">
              <a:buFont typeface="Arial" charset="0"/>
              <a:buChar char="•"/>
            </a:pPr>
            <a:r>
              <a:rPr lang="en-US" sz="2800" dirty="0" smtClean="0"/>
              <a:t>Write an example for both</a:t>
            </a:r>
          </a:p>
          <a:p>
            <a:endParaRPr lang="en-US" dirty="0"/>
          </a:p>
          <a:p>
            <a:endParaRPr lang="en-US" dirty="0"/>
          </a:p>
        </p:txBody>
      </p:sp>
    </p:spTree>
    <p:extLst>
      <p:ext uri="{BB962C8B-B14F-4D97-AF65-F5344CB8AC3E}">
        <p14:creationId xmlns:p14="http://schemas.microsoft.com/office/powerpoint/2010/main" val="200286852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Notes Review</a:t>
            </a:r>
          </a:p>
        </p:txBody>
      </p:sp>
      <p:sp>
        <p:nvSpPr>
          <p:cNvPr id="3" name="Content Placeholder 2"/>
          <p:cNvSpPr>
            <a:spLocks noGrp="1"/>
          </p:cNvSpPr>
          <p:nvPr>
            <p:ph idx="1"/>
          </p:nvPr>
        </p:nvSpPr>
        <p:spPr/>
        <p:txBody>
          <a:bodyPr>
            <a:normAutofit fontScale="92500" lnSpcReduction="20000"/>
          </a:bodyPr>
          <a:lstStyle/>
          <a:p>
            <a:r>
              <a:rPr lang="en-AU" dirty="0"/>
              <a:t>24, 7 ,30</a:t>
            </a:r>
          </a:p>
          <a:p>
            <a:r>
              <a:rPr lang="en-AU" dirty="0"/>
              <a:t>Date</a:t>
            </a:r>
          </a:p>
          <a:p>
            <a:r>
              <a:rPr lang="en-AU" dirty="0"/>
              <a:t>Title</a:t>
            </a:r>
          </a:p>
          <a:p>
            <a:r>
              <a:rPr lang="en-AU" dirty="0"/>
              <a:t>Essential question</a:t>
            </a:r>
          </a:p>
          <a:p>
            <a:r>
              <a:rPr lang="en-AU" dirty="0"/>
              <a:t>Notes complete </a:t>
            </a:r>
          </a:p>
          <a:p>
            <a:r>
              <a:rPr lang="en-AU" dirty="0"/>
              <a:t>Notes complete with colour and diagrams</a:t>
            </a:r>
          </a:p>
          <a:p>
            <a:r>
              <a:rPr lang="en-AU" dirty="0"/>
              <a:t>Questions completed</a:t>
            </a:r>
          </a:p>
          <a:p>
            <a:r>
              <a:rPr lang="en-AU" dirty="0"/>
              <a:t>Contents page filed in</a:t>
            </a:r>
          </a:p>
          <a:p>
            <a:r>
              <a:rPr lang="en-AU" dirty="0"/>
              <a:t>Formula page filled in</a:t>
            </a:r>
          </a:p>
          <a:p>
            <a:pPr marL="0" indent="0">
              <a:buNone/>
            </a:pPr>
            <a:endParaRPr lang="en-AU" dirty="0"/>
          </a:p>
          <a:p>
            <a:endParaRPr lang="en-AU" dirty="0"/>
          </a:p>
        </p:txBody>
      </p:sp>
    </p:spTree>
    <p:extLst>
      <p:ext uri="{BB962C8B-B14F-4D97-AF65-F5344CB8AC3E}">
        <p14:creationId xmlns:p14="http://schemas.microsoft.com/office/powerpoint/2010/main" val="306992181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Homework</a:t>
            </a:r>
          </a:p>
        </p:txBody>
      </p:sp>
      <p:sp>
        <p:nvSpPr>
          <p:cNvPr id="3" name="Content Placeholder 2"/>
          <p:cNvSpPr>
            <a:spLocks noGrp="1"/>
          </p:cNvSpPr>
          <p:nvPr>
            <p:ph idx="1"/>
          </p:nvPr>
        </p:nvSpPr>
        <p:spPr/>
        <p:txBody>
          <a:bodyPr/>
          <a:lstStyle/>
          <a:p>
            <a:r>
              <a:rPr lang="en-AU" dirty="0"/>
              <a:t>Review your notes and write a summary answering the essential question. </a:t>
            </a:r>
          </a:p>
        </p:txBody>
      </p:sp>
    </p:spTree>
    <p:extLst>
      <p:ext uri="{BB962C8B-B14F-4D97-AF65-F5344CB8AC3E}">
        <p14:creationId xmlns:p14="http://schemas.microsoft.com/office/powerpoint/2010/main" val="763422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1280</TotalTime>
  <Words>452</Words>
  <Application>Microsoft Macintosh PowerPoint</Application>
  <PresentationFormat>On-screen Show (4:3)</PresentationFormat>
  <Paragraphs>89</Paragraphs>
  <Slides>13</Slides>
  <Notes>2</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Calibri</vt:lpstr>
      <vt:lpstr>Cambria Math</vt:lpstr>
      <vt:lpstr>Mangal</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Notes Review</vt:lpstr>
      <vt:lpstr>Homework</vt:lpstr>
    </vt:vector>
  </TitlesOfParts>
  <Company>The Department of Education</Company>
  <LinksUpToDate>false</LinksUpToDate>
  <SharedDoc>false</SharedDoc>
  <HyperlinksChanged>false</HyperlinksChanged>
  <AppVersion>15.0034</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Using Venn Diagrams</dc:title>
  <dc:creator>RUST Joanne</dc:creator>
  <cp:lastModifiedBy>SUMMERS Brad [Baldivis Secondary College]</cp:lastModifiedBy>
  <cp:revision>106</cp:revision>
  <dcterms:created xsi:type="dcterms:W3CDTF">2014-05-14T02:58:57Z</dcterms:created>
  <dcterms:modified xsi:type="dcterms:W3CDTF">2017-07-23T05:31:46Z</dcterms:modified>
</cp:coreProperties>
</file>
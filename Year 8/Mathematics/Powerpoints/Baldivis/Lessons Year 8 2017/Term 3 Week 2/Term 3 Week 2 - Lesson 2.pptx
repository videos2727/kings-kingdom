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2" r:id="rId2"/>
    <p:sldId id="263" r:id="rId3"/>
    <p:sldId id="264" r:id="rId4"/>
    <p:sldId id="273" r:id="rId5"/>
    <p:sldId id="257" r:id="rId6"/>
    <p:sldId id="266" r:id="rId7"/>
    <p:sldId id="267" r:id="rId8"/>
    <p:sldId id="270" r:id="rId9"/>
    <p:sldId id="271" r:id="rId10"/>
    <p:sldId id="272" r:id="rId11"/>
    <p:sldId id="265" r:id="rId12"/>
    <p:sldId id="261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494"/>
    <p:restoredTop sz="94674"/>
  </p:normalViewPr>
  <p:slideViewPr>
    <p:cSldViewPr snapToGrid="0" snapToObjects="1">
      <p:cViewPr>
        <p:scale>
          <a:sx n="95" d="100"/>
          <a:sy n="95" d="100"/>
        </p:scale>
        <p:origin x="432" y="9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D1D4B-607C-7847-B492-C8BA76FEFEC0}" type="datetimeFigureOut">
              <a:rPr lang="en-US" smtClean="0"/>
              <a:t>7/23/17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A7035-38F9-C84C-A879-18D52F298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173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D1D4B-607C-7847-B492-C8BA76FEFEC0}" type="datetimeFigureOut">
              <a:rPr lang="en-US" smtClean="0"/>
              <a:t>7/23/17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A7035-38F9-C84C-A879-18D52F298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8721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D1D4B-607C-7847-B492-C8BA76FEFEC0}" type="datetimeFigureOut">
              <a:rPr lang="en-US" smtClean="0"/>
              <a:t>7/23/17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A7035-38F9-C84C-A879-18D52F298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274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D1D4B-607C-7847-B492-C8BA76FEFEC0}" type="datetimeFigureOut">
              <a:rPr lang="en-US" smtClean="0"/>
              <a:t>7/23/17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A7035-38F9-C84C-A879-18D52F298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398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D1D4B-607C-7847-B492-C8BA76FEFEC0}" type="datetimeFigureOut">
              <a:rPr lang="en-US" smtClean="0"/>
              <a:t>7/23/17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A7035-38F9-C84C-A879-18D52F298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344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D1D4B-607C-7847-B492-C8BA76FEFEC0}" type="datetimeFigureOut">
              <a:rPr lang="en-US" smtClean="0"/>
              <a:t>7/23/17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A7035-38F9-C84C-A879-18D52F298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9197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D1D4B-607C-7847-B492-C8BA76FEFEC0}" type="datetimeFigureOut">
              <a:rPr lang="en-US" smtClean="0"/>
              <a:t>7/23/17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A7035-38F9-C84C-A879-18D52F298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1490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D1D4B-607C-7847-B492-C8BA76FEFEC0}" type="datetimeFigureOut">
              <a:rPr lang="en-US" smtClean="0"/>
              <a:t>7/23/17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A7035-38F9-C84C-A879-18D52F298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2180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D1D4B-607C-7847-B492-C8BA76FEFEC0}" type="datetimeFigureOut">
              <a:rPr lang="en-US" smtClean="0"/>
              <a:t>7/23/17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A7035-38F9-C84C-A879-18D52F298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387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D1D4B-607C-7847-B492-C8BA76FEFEC0}" type="datetimeFigureOut">
              <a:rPr lang="en-US" smtClean="0"/>
              <a:t>7/23/17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A7035-38F9-C84C-A879-18D52F298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55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D1D4B-607C-7847-B492-C8BA76FEFEC0}" type="datetimeFigureOut">
              <a:rPr lang="en-US" smtClean="0"/>
              <a:t>7/23/17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A7035-38F9-C84C-A879-18D52F298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1952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0D1D4B-607C-7847-B492-C8BA76FEFEC0}" type="datetimeFigureOut">
              <a:rPr lang="en-US" smtClean="0"/>
              <a:t>7/23/17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8A7035-38F9-C84C-A879-18D52F298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011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66182" y="548482"/>
            <a:ext cx="8206283" cy="1470025"/>
          </a:xfrm>
        </p:spPr>
        <p:txBody>
          <a:bodyPr>
            <a:normAutofit/>
          </a:bodyPr>
          <a:lstStyle/>
          <a:p>
            <a:r>
              <a:rPr lang="en-AU" sz="4800" dirty="0">
                <a:latin typeface="+mn-lt"/>
              </a:rPr>
              <a:t>My Data</a:t>
            </a:r>
            <a:br>
              <a:rPr lang="en-AU" sz="4800" dirty="0">
                <a:latin typeface="+mn-lt"/>
              </a:rPr>
            </a:br>
            <a:r>
              <a:rPr lang="en-AU" sz="4800" dirty="0">
                <a:latin typeface="+mn-lt"/>
              </a:rPr>
              <a:t>Interactive Notebook</a:t>
            </a:r>
            <a:endParaRPr lang="en-AU" sz="4800" dirty="0">
              <a:latin typeface="+mn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7081" y="4078694"/>
            <a:ext cx="6858000" cy="1655762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</a:t>
            </a:r>
          </a:p>
          <a:p>
            <a:pPr algn="l"/>
            <a:r>
              <a:rPr lang="en-AU" dirty="0" smtClean="0"/>
              <a:t>Semester 2</a:t>
            </a:r>
          </a:p>
          <a:p>
            <a:pPr algn="l"/>
            <a:r>
              <a:rPr lang="en-AU" dirty="0" smtClean="0"/>
              <a:t>Term 3</a:t>
            </a:r>
          </a:p>
          <a:p>
            <a:pPr algn="l"/>
            <a:endParaRPr lang="en-AU" dirty="0" smtClean="0"/>
          </a:p>
        </p:txBody>
      </p:sp>
      <p:sp>
        <p:nvSpPr>
          <p:cNvPr id="13" name="TextBox 12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pic>
        <p:nvPicPr>
          <p:cNvPr id="1026" name="Picture 2" descr="Image result for graph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2624" y="2018506"/>
            <a:ext cx="2746917" cy="2060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3200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Interactive Notebooks!</a:t>
            </a:r>
            <a:endParaRPr lang="en-AU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52650" y="1457634"/>
            <a:ext cx="7886700" cy="5177342"/>
          </a:xfrm>
        </p:spPr>
        <p:txBody>
          <a:bodyPr>
            <a:normAutofit/>
          </a:bodyPr>
          <a:lstStyle/>
          <a:p>
            <a:r>
              <a:rPr lang="en-US" dirty="0" smtClean="0"/>
              <a:t>Cover Page</a:t>
            </a:r>
          </a:p>
          <a:p>
            <a:r>
              <a:rPr lang="en-US" dirty="0" smtClean="0"/>
              <a:t>Contents Page</a:t>
            </a:r>
          </a:p>
          <a:p>
            <a:r>
              <a:rPr lang="en-US" dirty="0" smtClean="0"/>
              <a:t>Glossary</a:t>
            </a:r>
          </a:p>
          <a:p>
            <a:r>
              <a:rPr lang="en-US" dirty="0" smtClean="0"/>
              <a:t>24/7/30</a:t>
            </a:r>
          </a:p>
          <a:p>
            <a:r>
              <a:rPr lang="en-US" dirty="0" smtClean="0"/>
              <a:t>EQ</a:t>
            </a:r>
          </a:p>
          <a:p>
            <a:r>
              <a:rPr lang="en-US" dirty="0" smtClean="0"/>
              <a:t>Questions</a:t>
            </a:r>
          </a:p>
          <a:p>
            <a:r>
              <a:rPr lang="en-US" dirty="0" smtClean="0"/>
              <a:t>Notes</a:t>
            </a:r>
          </a:p>
          <a:p>
            <a:r>
              <a:rPr lang="en-US" dirty="0" smtClean="0"/>
              <a:t>Summaries</a:t>
            </a:r>
          </a:p>
          <a:p>
            <a:r>
              <a:rPr lang="en-US" dirty="0" smtClean="0"/>
              <a:t>Work page</a:t>
            </a:r>
          </a:p>
          <a:p>
            <a:r>
              <a:rPr lang="en-US" dirty="0" smtClean="0"/>
              <a:t>Presentation!!!</a:t>
            </a:r>
            <a:endParaRPr lang="en-AU" dirty="0"/>
          </a:p>
        </p:txBody>
      </p:sp>
      <p:pic>
        <p:nvPicPr>
          <p:cNvPr id="2050" name="Picture 2" descr="Image result for open notebook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7218" y="1332741"/>
            <a:ext cx="3389972" cy="4268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 rot="20602649">
            <a:off x="5765911" y="4362736"/>
            <a:ext cx="4750425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Your book, your responsibility!</a:t>
            </a:r>
            <a:endParaRPr lang="en-US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69403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79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77077" y="417444"/>
            <a:ext cx="11181523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From last class:</a:t>
            </a:r>
          </a:p>
          <a:p>
            <a:endParaRPr lang="en-US" sz="2400" dirty="0"/>
          </a:p>
          <a:p>
            <a:r>
              <a:rPr lang="en-US" sz="2400" dirty="0"/>
              <a:t>C</a:t>
            </a:r>
            <a:r>
              <a:rPr lang="en-US" sz="2400" dirty="0" smtClean="0"/>
              <a:t>omplete the following sentences:</a:t>
            </a:r>
          </a:p>
          <a:p>
            <a:endParaRPr lang="en-US" sz="2400" dirty="0"/>
          </a:p>
          <a:p>
            <a:pPr marL="285750" indent="-285750">
              <a:buFont typeface="Arial" charset="0"/>
              <a:buChar char="•"/>
            </a:pPr>
            <a:r>
              <a:rPr lang="en-US" sz="2400" dirty="0" smtClean="0"/>
              <a:t>The ______ of all values, divided by the __________of values is called the mean.</a:t>
            </a:r>
          </a:p>
          <a:p>
            <a:pPr marL="285750" indent="-285750">
              <a:buFont typeface="Arial" charset="0"/>
              <a:buChar char="•"/>
            </a:pPr>
            <a:endParaRPr lang="en-US" sz="2400" dirty="0" smtClean="0"/>
          </a:p>
          <a:p>
            <a:pPr marL="285750" indent="-285750">
              <a:buFont typeface="Arial" charset="0"/>
              <a:buChar char="•"/>
            </a:pPr>
            <a:r>
              <a:rPr lang="en-US" sz="2400" dirty="0" smtClean="0"/>
              <a:t>The median can be calculated by finding the ___________ values of the numbers placed in ascending or descending __________. </a:t>
            </a:r>
          </a:p>
          <a:p>
            <a:pPr marL="285750" indent="-285750">
              <a:buFont typeface="Arial" charset="0"/>
              <a:buChar char="•"/>
            </a:pPr>
            <a:endParaRPr lang="en-US" sz="2400" dirty="0" smtClean="0"/>
          </a:p>
          <a:p>
            <a:pPr marL="285750" indent="-285750">
              <a:buFont typeface="Arial" charset="0"/>
              <a:buChar char="•"/>
            </a:pPr>
            <a:endParaRPr lang="en-US" sz="2400" dirty="0"/>
          </a:p>
          <a:p>
            <a:r>
              <a:rPr lang="en-US" sz="2400" dirty="0" smtClean="0"/>
              <a:t>a) Find the mean of the following set of data: 1,2,3,4,4,80</a:t>
            </a:r>
          </a:p>
          <a:p>
            <a:r>
              <a:rPr lang="en-US" sz="2400" dirty="0" smtClean="0"/>
              <a:t>b) Find the median of the following data: 1,2,3,4,1,2,4,3</a:t>
            </a:r>
          </a:p>
          <a:p>
            <a:pPr marL="285750" indent="-285750">
              <a:buFont typeface="Arial" charset="0"/>
              <a:buChar char="•"/>
            </a:pPr>
            <a:endParaRPr lang="en-US" sz="2400" dirty="0"/>
          </a:p>
          <a:p>
            <a:r>
              <a:rPr lang="en-US" sz="2400" dirty="0" smtClean="0"/>
              <a:t>*How does the last value affect the mean in a) ?</a:t>
            </a:r>
            <a:endParaRPr lang="en-US" sz="2400" dirty="0"/>
          </a:p>
          <a:p>
            <a:pPr marL="285750" indent="-285750">
              <a:buFont typeface="Arial" charset="0"/>
              <a:buChar char="•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83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640616" y="3244334"/>
            <a:ext cx="49107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https://</a:t>
            </a:r>
            <a:r>
              <a:rPr lang="en-US" dirty="0" err="1" smtClean="0"/>
              <a:t>www.youtube.com</a:t>
            </a:r>
            <a:r>
              <a:rPr lang="en-US" dirty="0" smtClean="0"/>
              <a:t>/</a:t>
            </a:r>
            <a:r>
              <a:rPr lang="en-US" dirty="0" err="1" smtClean="0"/>
              <a:t>watch?v</a:t>
            </a:r>
            <a:r>
              <a:rPr lang="en-US" dirty="0" smtClean="0"/>
              <a:t>=5C9LBF3b65s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743200" y="874059"/>
            <a:ext cx="69247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/>
              <a:t>The Mean, Median and Mode Toads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1539265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</a:t>
            </a:r>
          </a:p>
        </p:txBody>
      </p:sp>
      <p:cxnSp>
        <p:nvCxnSpPr>
          <p:cNvPr id="4" name="Straight Connector 3"/>
          <p:cNvCxnSpPr/>
          <p:nvPr/>
        </p:nvCxnSpPr>
        <p:spPr>
          <a:xfrm flipV="1">
            <a:off x="0" y="980729"/>
            <a:ext cx="12192000" cy="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09500"/>
            <a:ext cx="12192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36541" y="123309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 flipH="1">
            <a:off x="1825338" y="1921365"/>
            <a:ext cx="26281" cy="40491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301686" y="288324"/>
            <a:ext cx="33107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Measures of Location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37893" y="274328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6541" y="2071499"/>
            <a:ext cx="17460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How do we find the measures of location?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2FA18EE4-C17C-4FA7-9449-90861ADB5624}"/>
              </a:ext>
            </a:extLst>
          </p:cNvPr>
          <p:cNvSpPr txBox="1"/>
          <p:nvPr/>
        </p:nvSpPr>
        <p:spPr>
          <a:xfrm>
            <a:off x="2164976" y="2970604"/>
            <a:ext cx="9657093" cy="169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5000"/>
              </a:lnSpc>
            </a:pPr>
            <a:r>
              <a:rPr lang="en-US" altLang="en-US" sz="2400" b="1" dirty="0">
                <a:solidFill>
                  <a:schemeClr val="accent2"/>
                </a:solidFill>
              </a:rPr>
              <a:t>Mode</a:t>
            </a:r>
            <a:r>
              <a:rPr lang="en-US" altLang="en-US" sz="2400" dirty="0"/>
              <a:t> - This is the </a:t>
            </a:r>
            <a:r>
              <a:rPr lang="en-US" altLang="en-US" sz="2400" b="1" dirty="0">
                <a:solidFill>
                  <a:schemeClr val="hlink"/>
                </a:solidFill>
              </a:rPr>
              <a:t>most</a:t>
            </a:r>
            <a:r>
              <a:rPr lang="en-US" altLang="en-US" sz="2400" dirty="0"/>
              <a:t> frequently occurring value in the distribution</a:t>
            </a:r>
          </a:p>
          <a:p>
            <a:pPr eaLnBrk="0" hangingPunct="0">
              <a:lnSpc>
                <a:spcPct val="50000"/>
              </a:lnSpc>
              <a:spcBef>
                <a:spcPct val="50000"/>
              </a:spcBef>
              <a:buSzPct val="100000"/>
              <a:buFontTx/>
              <a:buChar char="•"/>
            </a:pPr>
            <a:r>
              <a:rPr lang="en-US" altLang="en-US" sz="2400" b="1" dirty="0"/>
              <a:t>Value that Occurs Most Often	</a:t>
            </a:r>
          </a:p>
          <a:p>
            <a:pPr eaLnBrk="0" hangingPunct="0">
              <a:lnSpc>
                <a:spcPct val="50000"/>
              </a:lnSpc>
              <a:spcBef>
                <a:spcPct val="50000"/>
              </a:spcBef>
              <a:buSzPct val="100000"/>
              <a:buFontTx/>
              <a:buChar char="•"/>
            </a:pPr>
            <a:r>
              <a:rPr lang="en-US" altLang="en-US" sz="2400" b="1" dirty="0" smtClean="0"/>
              <a:t>There </a:t>
            </a:r>
            <a:r>
              <a:rPr lang="en-US" altLang="en-US" sz="2400" b="1" dirty="0"/>
              <a:t>May Not be a Mode</a:t>
            </a:r>
          </a:p>
          <a:p>
            <a:pPr eaLnBrk="0" hangingPunct="0">
              <a:lnSpc>
                <a:spcPct val="50000"/>
              </a:lnSpc>
              <a:spcBef>
                <a:spcPct val="50000"/>
              </a:spcBef>
              <a:buSzPct val="100000"/>
              <a:buFontTx/>
              <a:buChar char="•"/>
            </a:pPr>
            <a:r>
              <a:rPr lang="en-US" altLang="en-US" sz="2400" b="1" dirty="0"/>
              <a:t>There May be Several </a:t>
            </a:r>
            <a:r>
              <a:rPr lang="en-US" altLang="en-US" sz="2400" b="1" dirty="0" smtClean="0"/>
              <a:t>Modes</a:t>
            </a:r>
            <a:endParaRPr lang="en-US" altLang="en-US" sz="2400" b="1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1CF54506-D7F7-4F71-8300-B992CD80EE42}"/>
              </a:ext>
            </a:extLst>
          </p:cNvPr>
          <p:cNvSpPr/>
          <p:nvPr/>
        </p:nvSpPr>
        <p:spPr>
          <a:xfrm>
            <a:off x="6728154" y="4980453"/>
            <a:ext cx="449714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en-US" dirty="0"/>
              <a:t>0   1   2   3   4   5   6   7   8   9   10   11   12   13   </a:t>
            </a:r>
            <a:r>
              <a:rPr lang="en-US" altLang="en-US" dirty="0">
                <a:solidFill>
                  <a:srgbClr val="FFFFCC"/>
                </a:solidFill>
              </a:rPr>
              <a:t>14   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xmlns="" id="{E6C9263C-2783-49A0-8591-455B8D6D04CA}"/>
              </a:ext>
            </a:extLst>
          </p:cNvPr>
          <p:cNvCxnSpPr/>
          <p:nvPr/>
        </p:nvCxnSpPr>
        <p:spPr>
          <a:xfrm>
            <a:off x="6759750" y="5028998"/>
            <a:ext cx="412553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xmlns="" id="{1A798EF7-2C0C-4168-99C0-58E793C44C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3522" y="4781039"/>
            <a:ext cx="224857" cy="20373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endParaRPr lang="en-AU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xmlns="" id="{1A798EF7-2C0C-4168-99C0-58E793C44C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7010" y="4754476"/>
            <a:ext cx="224857" cy="20373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endParaRPr lang="en-AU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xmlns="" id="{1A798EF7-2C0C-4168-99C0-58E793C44C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7010" y="4464174"/>
            <a:ext cx="224857" cy="20373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endParaRPr lang="en-AU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xmlns="" id="{1A798EF7-2C0C-4168-99C0-58E793C44C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64470" y="4803150"/>
            <a:ext cx="224857" cy="20373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endParaRPr lang="en-AU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xmlns="" id="{1A798EF7-2C0C-4168-99C0-58E793C44C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4140" y="4783544"/>
            <a:ext cx="224857" cy="20373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endParaRPr lang="en-AU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xmlns="" id="{1A798EF7-2C0C-4168-99C0-58E793C44C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13193" y="4508307"/>
            <a:ext cx="224857" cy="20373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endParaRPr lang="en-AU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xmlns="" id="{1A798EF7-2C0C-4168-99C0-58E793C44C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4140" y="4252464"/>
            <a:ext cx="224857" cy="20373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endParaRPr lang="en-AU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xmlns="" id="{1A798EF7-2C0C-4168-99C0-58E793C44C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43330" y="4792095"/>
            <a:ext cx="224857" cy="20373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endParaRPr lang="en-AU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xmlns="" id="{1A798EF7-2C0C-4168-99C0-58E793C44C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26365" y="4792095"/>
            <a:ext cx="224857" cy="20373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endParaRPr lang="en-AU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xmlns="" id="{1A798EF7-2C0C-4168-99C0-58E793C44C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26365" y="4550214"/>
            <a:ext cx="224857" cy="20373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endParaRPr lang="en-AU"/>
          </a:p>
        </p:txBody>
      </p:sp>
      <p:sp>
        <p:nvSpPr>
          <p:cNvPr id="29" name="Arrow: Up 28">
            <a:extLst>
              <a:ext uri="{FF2B5EF4-FFF2-40B4-BE49-F238E27FC236}">
                <a16:creationId xmlns:a16="http://schemas.microsoft.com/office/drawing/2014/main" xmlns="" id="{2B6CE3B2-E9F8-43D4-904C-B4813CD00B37}"/>
              </a:ext>
            </a:extLst>
          </p:cNvPr>
          <p:cNvSpPr/>
          <p:nvPr/>
        </p:nvSpPr>
        <p:spPr>
          <a:xfrm>
            <a:off x="9295785" y="5362967"/>
            <a:ext cx="103524" cy="393159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xmlns="" id="{51410626-471F-4B0C-9BFA-7B365CEEB506}"/>
              </a:ext>
            </a:extLst>
          </p:cNvPr>
          <p:cNvSpPr txBox="1"/>
          <p:nvPr/>
        </p:nvSpPr>
        <p:spPr>
          <a:xfrm>
            <a:off x="8920349" y="5671005"/>
            <a:ext cx="2016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Mode = 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471" y="1078502"/>
            <a:ext cx="85109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are </a:t>
            </a:r>
            <a:r>
              <a:rPr lang="en-AU" sz="2400" dirty="0" smtClean="0"/>
              <a:t>some examples of descriptive statistics </a:t>
            </a:r>
            <a:r>
              <a:rPr lang="en-AU" sz="2400" dirty="0"/>
              <a:t>and </a:t>
            </a:r>
            <a:r>
              <a:rPr lang="en-AU" sz="2400" dirty="0" smtClean="0"/>
              <a:t>what do we use them for</a:t>
            </a:r>
            <a:r>
              <a:rPr lang="en-AU" sz="2400" dirty="0" smtClean="0"/>
              <a:t>? (Continued from last class)</a:t>
            </a:r>
            <a:endParaRPr lang="en-AU" sz="2400" dirty="0"/>
          </a:p>
        </p:txBody>
      </p:sp>
      <p:sp>
        <p:nvSpPr>
          <p:cNvPr id="35" name="TextBox 34"/>
          <p:cNvSpPr txBox="1"/>
          <p:nvPr/>
        </p:nvSpPr>
        <p:spPr>
          <a:xfrm>
            <a:off x="2164976" y="2020344"/>
            <a:ext cx="95474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Last class we learned about mean and median, two of the three main measures of location. The last measure of location is:</a:t>
            </a:r>
            <a:endParaRPr lang="en-US" sz="2400" dirty="0"/>
          </a:p>
        </p:txBody>
      </p:sp>
      <p:cxnSp>
        <p:nvCxnSpPr>
          <p:cNvPr id="40" name="Straight Connector 39"/>
          <p:cNvCxnSpPr/>
          <p:nvPr/>
        </p:nvCxnSpPr>
        <p:spPr>
          <a:xfrm>
            <a:off x="0" y="5970494"/>
            <a:ext cx="12192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136541" y="6040337"/>
            <a:ext cx="15243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Summary: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 flipV="1">
            <a:off x="0" y="980729"/>
            <a:ext cx="12192000" cy="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09500"/>
            <a:ext cx="12192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36541" y="123309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 flipH="1">
            <a:off x="1844655" y="1921365"/>
            <a:ext cx="6964" cy="49485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301686" y="288324"/>
            <a:ext cx="33107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Measures of Location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37893" y="274328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6541" y="2071499"/>
            <a:ext cx="17460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How do we find the measures of location?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471" y="1078502"/>
            <a:ext cx="85109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are </a:t>
            </a:r>
            <a:r>
              <a:rPr lang="en-AU" sz="2400" dirty="0" smtClean="0"/>
              <a:t>some examples of descriptive statistics </a:t>
            </a:r>
            <a:r>
              <a:rPr lang="en-AU" sz="2400" dirty="0"/>
              <a:t>and </a:t>
            </a:r>
            <a:r>
              <a:rPr lang="en-AU" sz="2400" dirty="0" smtClean="0"/>
              <a:t>what do we use them for</a:t>
            </a:r>
            <a:r>
              <a:rPr lang="en-AU" sz="2400" dirty="0" smtClean="0"/>
              <a:t>? (Continued from last class)</a:t>
            </a:r>
            <a:endParaRPr lang="en-AU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1884145" y="2279861"/>
            <a:ext cx="17065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Example:</a:t>
            </a:r>
            <a:endParaRPr lang="en-US" sz="32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0165" y="3329642"/>
            <a:ext cx="10058400" cy="2474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325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</a:t>
            </a:r>
          </a:p>
        </p:txBody>
      </p:sp>
      <p:cxnSp>
        <p:nvCxnSpPr>
          <p:cNvPr id="4" name="Straight Connector 3"/>
          <p:cNvCxnSpPr/>
          <p:nvPr/>
        </p:nvCxnSpPr>
        <p:spPr>
          <a:xfrm flipV="1">
            <a:off x="0" y="980729"/>
            <a:ext cx="12192000" cy="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09500"/>
            <a:ext cx="12192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36541" y="123309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 flipH="1">
            <a:off x="1946341" y="1909500"/>
            <a:ext cx="6964" cy="49485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301686" y="288324"/>
            <a:ext cx="33107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Measures of Location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37893" y="274328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471" y="1078502"/>
            <a:ext cx="85109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are </a:t>
            </a:r>
            <a:r>
              <a:rPr lang="en-AU" sz="2400" dirty="0" smtClean="0"/>
              <a:t>some examples of descriptive statistics </a:t>
            </a:r>
            <a:r>
              <a:rPr lang="en-AU" sz="2400" dirty="0"/>
              <a:t>and </a:t>
            </a:r>
            <a:r>
              <a:rPr lang="en-AU" sz="2400" dirty="0" smtClean="0"/>
              <a:t>what do we use them for</a:t>
            </a:r>
            <a:r>
              <a:rPr lang="en-AU" sz="2400" dirty="0" smtClean="0"/>
              <a:t>? (Continued from last class)</a:t>
            </a:r>
            <a:endParaRPr lang="en-AU" sz="2400" dirty="0"/>
          </a:p>
        </p:txBody>
      </p:sp>
      <p:sp>
        <p:nvSpPr>
          <p:cNvPr id="35" name="TextBox 34"/>
          <p:cNvSpPr txBox="1"/>
          <p:nvPr/>
        </p:nvSpPr>
        <p:spPr>
          <a:xfrm>
            <a:off x="2164976" y="2071499"/>
            <a:ext cx="95474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In addition to measures of location, it is also helpful to know how spread out the data are. For that, we have us a measure of spread called </a:t>
            </a:r>
            <a:r>
              <a:rPr lang="en-US" sz="2400" b="1" dirty="0" smtClean="0"/>
              <a:t>Range</a:t>
            </a:r>
            <a:endParaRPr lang="en-US" sz="2400" dirty="0"/>
          </a:p>
        </p:txBody>
      </p:sp>
      <p:sp>
        <p:nvSpPr>
          <p:cNvPr id="31" name="TextBox 30"/>
          <p:cNvSpPr txBox="1"/>
          <p:nvPr/>
        </p:nvSpPr>
        <p:spPr>
          <a:xfrm>
            <a:off x="0" y="3200673"/>
            <a:ext cx="1946341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160" dirty="0"/>
              <a:t>What is Range?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68546" y="3200673"/>
            <a:ext cx="7288678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160" dirty="0"/>
              <a:t>Range is the distance between the largest and smallest values.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" y="3869810"/>
            <a:ext cx="1734670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160" dirty="0"/>
              <a:t>How is Range calculated?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468546" y="3842933"/>
            <a:ext cx="6048672" cy="24191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160" b="1" dirty="0"/>
              <a:t>Range = Maximum value – Minimum Value.</a:t>
            </a:r>
          </a:p>
          <a:p>
            <a:endParaRPr lang="en-AU" sz="2160" dirty="0"/>
          </a:p>
          <a:p>
            <a:r>
              <a:rPr lang="en-AU" sz="2160" b="1" u="sng" dirty="0"/>
              <a:t>Example: </a:t>
            </a:r>
            <a:r>
              <a:rPr lang="en-AU" sz="2160" b="1" dirty="0"/>
              <a:t>  </a:t>
            </a:r>
            <a:r>
              <a:rPr lang="en-AU" sz="2160" dirty="0"/>
              <a:t>2,4,5,5,7,8,9,11,15,17,19,21</a:t>
            </a:r>
          </a:p>
          <a:p>
            <a:endParaRPr lang="en-AU" sz="2160" dirty="0"/>
          </a:p>
          <a:p>
            <a:r>
              <a:rPr lang="en-AU" sz="2160" dirty="0"/>
              <a:t>Range  =  Max - Min </a:t>
            </a:r>
          </a:p>
          <a:p>
            <a:r>
              <a:rPr lang="en-AU" sz="2160" dirty="0"/>
              <a:t>             =  21 – 2</a:t>
            </a:r>
          </a:p>
          <a:p>
            <a:r>
              <a:rPr lang="en-AU" sz="2160" dirty="0"/>
              <a:t>             =  19</a:t>
            </a:r>
          </a:p>
        </p:txBody>
      </p:sp>
    </p:spTree>
    <p:extLst>
      <p:ext uri="{BB962C8B-B14F-4D97-AF65-F5344CB8AC3E}">
        <p14:creationId xmlns:p14="http://schemas.microsoft.com/office/powerpoint/2010/main" val="1031187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8240" y="197913"/>
            <a:ext cx="9875520" cy="638800"/>
          </a:xfrm>
        </p:spPr>
        <p:txBody>
          <a:bodyPr>
            <a:normAutofit fontScale="90000"/>
          </a:bodyPr>
          <a:lstStyle/>
          <a:p>
            <a:r>
              <a:rPr lang="en-AU" dirty="0"/>
              <a:t>Task - Guided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158240" y="834233"/>
            <a:ext cx="9875520" cy="579192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GB" sz="3360" b="1" dirty="0"/>
              <a:t>Work out the Range of each of the following sets of data showing clearly all the steps in your working.  </a:t>
            </a:r>
            <a:endParaRPr lang="en-AU" sz="3360" dirty="0"/>
          </a:p>
          <a:p>
            <a:pPr>
              <a:buNone/>
            </a:pPr>
            <a:r>
              <a:rPr lang="en-GB" sz="3360" b="1" dirty="0"/>
              <a:t> </a:t>
            </a:r>
            <a:endParaRPr lang="en-AU" sz="3360" dirty="0"/>
          </a:p>
          <a:p>
            <a:pPr marL="617220" indent="-617220">
              <a:buFont typeface="+mj-lt"/>
              <a:buAutoNum type="arabicPeriod"/>
            </a:pPr>
            <a:r>
              <a:rPr lang="en-GB" sz="2880" b="1" dirty="0"/>
              <a:t>3,9,12,15,16,18,21</a:t>
            </a:r>
          </a:p>
          <a:p>
            <a:pPr marL="1508760" lvl="3" indent="0">
              <a:buNone/>
            </a:pPr>
            <a:endParaRPr lang="en-GB" sz="1440" b="1" dirty="0"/>
          </a:p>
          <a:p>
            <a:pPr marL="617220" indent="-617220">
              <a:buFont typeface="+mj-lt"/>
              <a:buAutoNum type="arabicPeriod"/>
            </a:pPr>
            <a:endParaRPr lang="en-GB" sz="2880" b="1" dirty="0"/>
          </a:p>
          <a:p>
            <a:pPr marL="617220" indent="-617220">
              <a:buFont typeface="+mj-lt"/>
              <a:buAutoNum type="arabicPeriod"/>
            </a:pPr>
            <a:endParaRPr lang="en-AU" sz="2880" dirty="0"/>
          </a:p>
          <a:p>
            <a:pPr marL="617220" indent="-617220">
              <a:buFont typeface="+mj-lt"/>
              <a:buAutoNum type="arabicPeriod"/>
            </a:pPr>
            <a:r>
              <a:rPr lang="en-GB" sz="2880" b="1" dirty="0"/>
              <a:t>152, 167, 159, 162, 140, 157, 163, 160, 155, 141, 158</a:t>
            </a:r>
          </a:p>
          <a:p>
            <a:pPr>
              <a:buNone/>
            </a:pPr>
            <a:r>
              <a:rPr lang="en-GB" sz="2880" b="1" dirty="0"/>
              <a:t> </a:t>
            </a:r>
            <a:endParaRPr lang="en-AU" sz="2880" dirty="0"/>
          </a:p>
          <a:p>
            <a:pPr>
              <a:buNone/>
            </a:pPr>
            <a:endParaRPr lang="en-AU" b="1" dirty="0"/>
          </a:p>
          <a:p>
            <a:pPr>
              <a:buNone/>
            </a:pP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38FF3910-D083-49E9-AAAE-9826AD4C1323}"/>
              </a:ext>
            </a:extLst>
          </p:cNvPr>
          <p:cNvSpPr txBox="1"/>
          <p:nvPr/>
        </p:nvSpPr>
        <p:spPr>
          <a:xfrm>
            <a:off x="5404723" y="2605048"/>
            <a:ext cx="3110746" cy="1421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80" b="1" dirty="0"/>
              <a:t>Range = max – min</a:t>
            </a:r>
          </a:p>
          <a:p>
            <a:r>
              <a:rPr lang="en-GB" sz="2880" b="1" dirty="0"/>
              <a:t>             = 21 – 3</a:t>
            </a:r>
          </a:p>
          <a:p>
            <a:r>
              <a:rPr lang="en-GB" sz="2880" b="1" dirty="0"/>
              <a:t>             = 18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xmlns="" id="{3C7BDCCA-A38E-43A4-915F-C1E22283F9C5}"/>
              </a:ext>
            </a:extLst>
          </p:cNvPr>
          <p:cNvSpPr/>
          <p:nvPr/>
        </p:nvSpPr>
        <p:spPr>
          <a:xfrm>
            <a:off x="4254284" y="2438183"/>
            <a:ext cx="518458" cy="51845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16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xmlns="" id="{032902C9-7C7E-4D61-AB2D-46846C37992F}"/>
              </a:ext>
            </a:extLst>
          </p:cNvPr>
          <p:cNvSpPr/>
          <p:nvPr/>
        </p:nvSpPr>
        <p:spPr>
          <a:xfrm>
            <a:off x="1612585" y="2438183"/>
            <a:ext cx="518458" cy="51845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16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791067D3-D09F-41BB-B4FA-9938E3375E23}"/>
              </a:ext>
            </a:extLst>
          </p:cNvPr>
          <p:cNvSpPr txBox="1"/>
          <p:nvPr/>
        </p:nvSpPr>
        <p:spPr>
          <a:xfrm>
            <a:off x="4022169" y="5076570"/>
            <a:ext cx="3110746" cy="1421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80" b="1" dirty="0"/>
              <a:t>Range = max – min</a:t>
            </a:r>
          </a:p>
          <a:p>
            <a:r>
              <a:rPr lang="en-GB" sz="2880" b="1" dirty="0"/>
              <a:t>             = 167 – 140</a:t>
            </a:r>
          </a:p>
          <a:p>
            <a:r>
              <a:rPr lang="en-GB" sz="2880" b="1" dirty="0"/>
              <a:t>             = 27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xmlns="" id="{3B3FCCA1-8310-4F57-9838-5287926BDD55}"/>
              </a:ext>
            </a:extLst>
          </p:cNvPr>
          <p:cNvSpPr/>
          <p:nvPr/>
        </p:nvSpPr>
        <p:spPr>
          <a:xfrm>
            <a:off x="2527820" y="4287557"/>
            <a:ext cx="658393" cy="51845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16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xmlns="" id="{7FD4BA8D-BCBC-4D3B-8287-A5FE92388507}"/>
              </a:ext>
            </a:extLst>
          </p:cNvPr>
          <p:cNvSpPr/>
          <p:nvPr/>
        </p:nvSpPr>
        <p:spPr>
          <a:xfrm>
            <a:off x="4772742" y="4298882"/>
            <a:ext cx="658393" cy="51845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160"/>
          </a:p>
        </p:txBody>
      </p:sp>
    </p:spTree>
    <p:extLst>
      <p:ext uri="{BB962C8B-B14F-4D97-AF65-F5344CB8AC3E}">
        <p14:creationId xmlns:p14="http://schemas.microsoft.com/office/powerpoint/2010/main" val="1028130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  <p:bldP spid="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8240" y="197913"/>
            <a:ext cx="9875520" cy="638800"/>
          </a:xfrm>
        </p:spPr>
        <p:txBody>
          <a:bodyPr>
            <a:normAutofit fontScale="90000"/>
          </a:bodyPr>
          <a:lstStyle/>
          <a:p>
            <a:r>
              <a:rPr lang="en-AU" dirty="0"/>
              <a:t>Task - Guided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158240" y="834233"/>
            <a:ext cx="9875520" cy="4668598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GB" b="1" dirty="0"/>
              <a:t>Work out the Range of each of the following sets of data showing clearly all the steps in your working.  </a:t>
            </a:r>
          </a:p>
          <a:p>
            <a:pPr>
              <a:buNone/>
            </a:pPr>
            <a:endParaRPr lang="en-AU" dirty="0"/>
          </a:p>
          <a:p>
            <a:pPr>
              <a:buNone/>
            </a:pPr>
            <a:endParaRPr lang="en-AU" dirty="0"/>
          </a:p>
          <a:p>
            <a:pPr>
              <a:buNone/>
            </a:pPr>
            <a:r>
              <a:rPr lang="en-GB" b="1" dirty="0"/>
              <a:t> 3.  1.4, 2.7, 0.2, 3.5, 4.1, 2.3, 1.9, 2.2, 1.6, 2.0, 1.6, 2.6, 2.2 ,1.8, 2.9, 3.0 </a:t>
            </a:r>
          </a:p>
          <a:p>
            <a:pPr marL="617220" indent="-617220">
              <a:buFont typeface="+mj-lt"/>
              <a:buAutoNum type="arabicPeriod" startAt="3"/>
            </a:pPr>
            <a:endParaRPr lang="en-AU" dirty="0"/>
          </a:p>
          <a:p>
            <a:pPr marL="617220" indent="-617220">
              <a:buFont typeface="+mj-lt"/>
              <a:buAutoNum type="arabicPeriod" startAt="3"/>
            </a:pPr>
            <a:endParaRPr lang="en-AU" dirty="0"/>
          </a:p>
          <a:p>
            <a:pPr marL="617220" indent="-617220">
              <a:buFont typeface="+mj-lt"/>
              <a:buAutoNum type="arabicPeriod" startAt="3"/>
            </a:pPr>
            <a:endParaRPr lang="en-AU" dirty="0"/>
          </a:p>
          <a:p>
            <a:pPr marL="0" indent="0">
              <a:buNone/>
            </a:pPr>
            <a:r>
              <a:rPr lang="en-GB" b="1" dirty="0"/>
              <a:t>4.   62,51,48,55,56,43,59,48,57,60,47,55</a:t>
            </a:r>
            <a:endParaRPr lang="en-AU" dirty="0"/>
          </a:p>
          <a:p>
            <a:pPr>
              <a:buNone/>
            </a:pPr>
            <a:r>
              <a:rPr lang="en-GB" b="1" dirty="0"/>
              <a:t> </a:t>
            </a:r>
            <a:endParaRPr lang="en-AU" dirty="0"/>
          </a:p>
          <a:p>
            <a:pPr>
              <a:buNone/>
            </a:pPr>
            <a:endParaRPr lang="en-AU" b="1" dirty="0"/>
          </a:p>
          <a:p>
            <a:pPr>
              <a:buNone/>
            </a:pPr>
            <a:endParaRPr lang="en-A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D6E1FFC2-9166-4BF2-BAA7-7A8DA41EDC4E}"/>
              </a:ext>
            </a:extLst>
          </p:cNvPr>
          <p:cNvSpPr txBox="1"/>
          <p:nvPr/>
        </p:nvSpPr>
        <p:spPr>
          <a:xfrm>
            <a:off x="7368926" y="2819543"/>
            <a:ext cx="3110746" cy="1421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80" b="1" dirty="0"/>
              <a:t>Range = max – min</a:t>
            </a:r>
          </a:p>
          <a:p>
            <a:r>
              <a:rPr lang="en-GB" sz="2880" b="1" dirty="0"/>
              <a:t>             = 4.1 – 0.2</a:t>
            </a:r>
          </a:p>
          <a:p>
            <a:r>
              <a:rPr lang="en-GB" sz="2880" b="1" dirty="0"/>
              <a:t>             = 3.9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xmlns="" id="{AD77671E-FA92-40DF-BB37-8E2306D8ADAD}"/>
              </a:ext>
            </a:extLst>
          </p:cNvPr>
          <p:cNvSpPr/>
          <p:nvPr/>
        </p:nvSpPr>
        <p:spPr>
          <a:xfrm>
            <a:off x="4004354" y="2303211"/>
            <a:ext cx="518458" cy="51845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16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xmlns="" id="{0F82D1EF-D093-4F2A-8F2E-39D5A7B9263F}"/>
              </a:ext>
            </a:extLst>
          </p:cNvPr>
          <p:cNvSpPr/>
          <p:nvPr/>
        </p:nvSpPr>
        <p:spPr>
          <a:xfrm>
            <a:off x="2848083" y="2301085"/>
            <a:ext cx="518458" cy="51845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16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1B532CD0-3C9A-4452-8C72-EBD2E9A2FF1A}"/>
              </a:ext>
            </a:extLst>
          </p:cNvPr>
          <p:cNvSpPr txBox="1"/>
          <p:nvPr/>
        </p:nvSpPr>
        <p:spPr>
          <a:xfrm>
            <a:off x="7368926" y="4751206"/>
            <a:ext cx="3110746" cy="1421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80" b="1" dirty="0"/>
              <a:t>Range = max – min</a:t>
            </a:r>
          </a:p>
          <a:p>
            <a:r>
              <a:rPr lang="en-GB" sz="2880" b="1" dirty="0"/>
              <a:t>             = 62 – 43</a:t>
            </a:r>
          </a:p>
          <a:p>
            <a:r>
              <a:rPr lang="en-GB" sz="2880" b="1" dirty="0"/>
              <a:t>             = 19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xmlns="" id="{F4503F0A-96ED-4C03-83CC-F2A7C6E457A4}"/>
              </a:ext>
            </a:extLst>
          </p:cNvPr>
          <p:cNvSpPr/>
          <p:nvPr/>
        </p:nvSpPr>
        <p:spPr>
          <a:xfrm>
            <a:off x="1651519" y="4262337"/>
            <a:ext cx="518458" cy="51845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16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xmlns="" id="{3B2FC0A1-83EE-4FA0-B049-3F88EB8A0B85}"/>
              </a:ext>
            </a:extLst>
          </p:cNvPr>
          <p:cNvSpPr/>
          <p:nvPr/>
        </p:nvSpPr>
        <p:spPr>
          <a:xfrm>
            <a:off x="3764058" y="4262337"/>
            <a:ext cx="518458" cy="51845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160"/>
          </a:p>
        </p:txBody>
      </p:sp>
    </p:spTree>
    <p:extLst>
      <p:ext uri="{BB962C8B-B14F-4D97-AF65-F5344CB8AC3E}">
        <p14:creationId xmlns:p14="http://schemas.microsoft.com/office/powerpoint/2010/main" val="1135301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 animBg="1"/>
      <p:bldP spid="1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622F825-D8B4-49BC-AB00-C26767C01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293" y="134471"/>
            <a:ext cx="5322283" cy="605117"/>
          </a:xfrm>
        </p:spPr>
        <p:txBody>
          <a:bodyPr>
            <a:normAutofit/>
          </a:bodyPr>
          <a:lstStyle/>
          <a:p>
            <a:r>
              <a:rPr lang="en-AU" sz="2800" dirty="0"/>
              <a:t>How can you remember all this?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6341" y="579738"/>
            <a:ext cx="8216153" cy="6198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989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2729" y="0"/>
            <a:ext cx="1167204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sz="2400" dirty="0" smtClean="0"/>
              <a:t>Finish the last two columns from Mean, median, Mode and Range </a:t>
            </a:r>
            <a:r>
              <a:rPr lang="en-US" sz="2400" dirty="0" err="1" smtClean="0"/>
              <a:t>Wksht</a:t>
            </a:r>
            <a:r>
              <a:rPr lang="en-US" sz="2400" dirty="0" smtClean="0"/>
              <a:t> from last class</a:t>
            </a:r>
          </a:p>
          <a:p>
            <a:pPr marL="285750" indent="-285750">
              <a:buFont typeface="Arial" charset="0"/>
              <a:buChar char="•"/>
            </a:pPr>
            <a:r>
              <a:rPr lang="en-US" sz="2400" dirty="0" smtClean="0"/>
              <a:t>Answer the EQ in your summary</a:t>
            </a:r>
          </a:p>
          <a:p>
            <a:pPr marL="285750" indent="-285750">
              <a:buFont typeface="Arial" charset="0"/>
              <a:buChar char="•"/>
            </a:pPr>
            <a:r>
              <a:rPr lang="en-US" sz="2400" dirty="0" smtClean="0"/>
              <a:t>Once done that, </a:t>
            </a:r>
            <a:endParaRPr lang="en-US" sz="2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882" y="1200329"/>
            <a:ext cx="10878671" cy="5489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974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Notes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AU" dirty="0"/>
              <a:t>24, 7 ,30</a:t>
            </a:r>
          </a:p>
          <a:p>
            <a:r>
              <a:rPr lang="en-AU" dirty="0"/>
              <a:t>Date</a:t>
            </a:r>
          </a:p>
          <a:p>
            <a:r>
              <a:rPr lang="en-AU" dirty="0"/>
              <a:t>Title</a:t>
            </a:r>
          </a:p>
          <a:p>
            <a:r>
              <a:rPr lang="en-AU" dirty="0"/>
              <a:t>Essential question</a:t>
            </a:r>
          </a:p>
          <a:p>
            <a:r>
              <a:rPr lang="en-AU" dirty="0"/>
              <a:t>Notes complete </a:t>
            </a:r>
          </a:p>
          <a:p>
            <a:r>
              <a:rPr lang="en-AU" dirty="0"/>
              <a:t>Notes complete with colour and diagrams</a:t>
            </a:r>
          </a:p>
          <a:p>
            <a:r>
              <a:rPr lang="en-AU" dirty="0"/>
              <a:t>Questions completed</a:t>
            </a:r>
          </a:p>
          <a:p>
            <a:r>
              <a:rPr lang="en-AU" dirty="0"/>
              <a:t>Contents page filed in</a:t>
            </a:r>
          </a:p>
          <a:p>
            <a:r>
              <a:rPr lang="en-AU" dirty="0"/>
              <a:t>Formula page filled in</a:t>
            </a:r>
          </a:p>
          <a:p>
            <a:pPr marL="0" indent="0">
              <a:buNone/>
            </a:pPr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27195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538</Words>
  <Application>Microsoft Macintosh PowerPoint</Application>
  <PresentationFormat>Widescreen</PresentationFormat>
  <Paragraphs>121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Calibri</vt:lpstr>
      <vt:lpstr>Calibri Light</vt:lpstr>
      <vt:lpstr>Times New Roman</vt:lpstr>
      <vt:lpstr>Arial</vt:lpstr>
      <vt:lpstr>Office Theme</vt:lpstr>
      <vt:lpstr>My Data Interactive Notebook</vt:lpstr>
      <vt:lpstr>Interactive Notebooks!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Task - Guided</vt:lpstr>
      <vt:lpstr>Task - Guided</vt:lpstr>
      <vt:lpstr>How can you remember all this?</vt:lpstr>
      <vt:lpstr>PowerPoint Presentation</vt:lpstr>
      <vt:lpstr>Notes Review</vt:lpstr>
    </vt:vector>
  </TitlesOfParts>
  <Company/>
  <LinksUpToDate>false</LinksUpToDate>
  <SharedDoc>false</SharedDoc>
  <HyperlinksChanged>false</HyperlinksChanged>
  <AppVersion>15.0034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SUMMERS Brad [Baldivis Secondary College]</dc:creator>
  <cp:lastModifiedBy>SUMMERS Brad [Baldivis Secondary College]</cp:lastModifiedBy>
  <cp:revision>9</cp:revision>
  <dcterms:created xsi:type="dcterms:W3CDTF">2017-07-23T05:14:02Z</dcterms:created>
  <dcterms:modified xsi:type="dcterms:W3CDTF">2017-07-23T07:04:19Z</dcterms:modified>
</cp:coreProperties>
</file>
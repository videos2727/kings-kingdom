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73" r:id="rId5"/>
    <p:sldId id="257" r:id="rId6"/>
    <p:sldId id="274" r:id="rId7"/>
    <p:sldId id="277" r:id="rId8"/>
    <p:sldId id="265" r:id="rId9"/>
    <p:sldId id="278" r:id="rId10"/>
    <p:sldId id="279" r:id="rId11"/>
    <p:sldId id="276" r:id="rId12"/>
    <p:sldId id="272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/>
    <p:restoredTop sz="94674"/>
  </p:normalViewPr>
  <p:slideViewPr>
    <p:cSldViewPr snapToGrid="0" snapToObjects="1">
      <p:cViewPr>
        <p:scale>
          <a:sx n="102" d="100"/>
          <a:sy n="102" d="100"/>
        </p:scale>
        <p:origin x="151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7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7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9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1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49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1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9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1D4B-607C-7847-B492-C8BA76FEFEC0}" type="datetimeFigureOut">
              <a:rPr lang="en-US" smtClean="0"/>
              <a:t>7/24/17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1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6182" y="548482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Data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3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Image result for grap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624" y="2018506"/>
            <a:ext cx="2746917" cy="206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20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5765911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66940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7077" y="417444"/>
            <a:ext cx="1118152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/>
              <a:t>Quickwrite</a:t>
            </a:r>
            <a:endParaRPr lang="en-US" sz="4000" dirty="0" smtClean="0"/>
          </a:p>
          <a:p>
            <a:endParaRPr lang="en-US" sz="2800" dirty="0"/>
          </a:p>
          <a:p>
            <a:pPr marL="342900" indent="-342900">
              <a:buFont typeface="Arial" charset="0"/>
              <a:buChar char="•"/>
            </a:pPr>
            <a:r>
              <a:rPr lang="en-US" sz="2800" dirty="0" smtClean="0"/>
              <a:t>For 2 minutes, on the LHS of your INBs, write everything you know about Mean, Median, Mode and Range. This can include their definitions, examples, any confusions you have</a:t>
            </a:r>
            <a:r>
              <a:rPr lang="mr-IN" sz="2800" dirty="0" smtClean="0"/>
              <a:t>…</a:t>
            </a:r>
            <a:r>
              <a:rPr lang="en-CA" sz="2800" dirty="0" smtClean="0"/>
              <a:t> The key is to keep writing for the whole 2 minutes.</a:t>
            </a:r>
          </a:p>
          <a:p>
            <a:pPr marL="342900" indent="-342900">
              <a:buFont typeface="Arial" charset="0"/>
              <a:buChar char="•"/>
            </a:pPr>
            <a:endParaRPr lang="en-CA" sz="2800" dirty="0"/>
          </a:p>
          <a:p>
            <a:pPr marL="342900" indent="-342900">
              <a:buFont typeface="Arial" charset="0"/>
              <a:buChar char="•"/>
            </a:pPr>
            <a:r>
              <a:rPr lang="en-CA" sz="2800" dirty="0" smtClean="0"/>
              <a:t>After the 2 minutes is finished, turn to one of the people next to you and let them know what you wrote about. One partner starts, then the next after partner 1 is finished.</a:t>
            </a:r>
            <a:endParaRPr lang="en-US" sz="2800" dirty="0"/>
          </a:p>
          <a:p>
            <a:pPr marL="285750" indent="-285750">
              <a:buFont typeface="Arial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365" y="268941"/>
            <a:ext cx="118603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Most of the data we’ve been looking at has values that are close together. But what happens when we have unusual values? Consider the following set of values: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255494" y="2191871"/>
            <a:ext cx="117661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2, 3, 4, 5, 6, 6, 9, 68</a:t>
            </a:r>
          </a:p>
          <a:p>
            <a:endParaRPr lang="en-US" sz="2800" dirty="0"/>
          </a:p>
          <a:p>
            <a:pPr marL="342900" indent="-342900">
              <a:buAutoNum type="alphaLcParenR"/>
            </a:pPr>
            <a:r>
              <a:rPr lang="en-US" sz="2800" dirty="0" smtClean="0"/>
              <a:t>Calculate the mean, median, mode and range for these values</a:t>
            </a:r>
          </a:p>
          <a:p>
            <a:pPr marL="342900" indent="-342900">
              <a:buAutoNum type="alphaLcParenR"/>
            </a:pPr>
            <a:endParaRPr lang="en-US" sz="2800" dirty="0" smtClean="0"/>
          </a:p>
          <a:p>
            <a:pPr marL="342900" indent="-342900">
              <a:buAutoNum type="alphaLcParenR"/>
            </a:pPr>
            <a:r>
              <a:rPr lang="en-US" sz="2800" dirty="0" smtClean="0"/>
              <a:t>Which of these measures is affected the most if we remove 68? Show all working out.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5392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0950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25338" y="1921365"/>
            <a:ext cx="26281" cy="40491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541" y="2071499"/>
            <a:ext cx="174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are outliers?</a:t>
            </a:r>
            <a:endParaRPr lang="en-US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outliers and how do they affect the measures of location </a:t>
            </a:r>
            <a:r>
              <a:rPr lang="en-AU" sz="2400" smtClean="0"/>
              <a:t>and spread we’ve learned about?</a:t>
            </a:r>
            <a:endParaRPr lang="en-AU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2164976" y="2102054"/>
            <a:ext cx="9547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Outliers</a:t>
            </a:r>
            <a:r>
              <a:rPr lang="en-US" sz="2400" dirty="0" smtClean="0"/>
              <a:t> are unusual values. When we see outliers, we need to find out: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 smtClean="0"/>
              <a:t>Are they mistakes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 smtClean="0"/>
              <a:t>Should we delete them</a:t>
            </a:r>
            <a:endParaRPr lang="en-US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597049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6541" y="604033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350" y="3346037"/>
            <a:ext cx="2028390" cy="25808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64976" y="3977446"/>
            <a:ext cx="5884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Let’s look at the problem on the last slide to find </a:t>
            </a:r>
            <a:r>
              <a:rPr lang="en-US" sz="2400" smtClean="0"/>
              <a:t>out how </a:t>
            </a:r>
            <a:r>
              <a:rPr lang="en-US" sz="2400" dirty="0" smtClean="0"/>
              <a:t>outliers affect the mean, median, mode and range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0950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651134" y="1909500"/>
            <a:ext cx="27717" cy="4948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541" y="2071499"/>
            <a:ext cx="174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are outliers?</a:t>
            </a:r>
            <a:endParaRPr lang="en-US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outliers and how do they affect the measures of location </a:t>
            </a:r>
            <a:r>
              <a:rPr lang="en-AU" sz="2400" smtClean="0"/>
              <a:t>and spread we’ve learned about?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882588" y="2007272"/>
                <a:ext cx="10172156" cy="5283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/>
                  <a:t>2, 3, 4, 5, 6, 6, 9, 68</a:t>
                </a:r>
              </a:p>
              <a:p>
                <a:endParaRPr lang="en-US" sz="2800" dirty="0"/>
              </a:p>
              <a:p>
                <a:pPr marL="514350" indent="-514350">
                  <a:buAutoNum type="alphaLcParenR"/>
                </a:pPr>
                <a:r>
                  <a:rPr lang="en-US" sz="2400" dirty="0" smtClean="0"/>
                  <a:t>Mean with outlier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𝑠𝑢𝑚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𝑠𝑐𝑜𝑟𝑒𝑠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𝑛𝑢𝑚𝑏𝑒𝑟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𝑠𝑐𝑜𝑟𝑒𝑠</m:t>
                        </m:r>
                      </m:den>
                    </m:f>
                    <m:r>
                      <a:rPr lang="en-CA" sz="2400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24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103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8</m:t>
                        </m:r>
                      </m:den>
                    </m:f>
                    <m:r>
                      <a:rPr lang="en-CA" sz="2400" b="0" i="1" smtClean="0">
                        <a:latin typeface="Cambria Math" charset="0"/>
                      </a:rPr>
                      <m:t>=12.88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Mean without outlier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𝑠𝑢𝑚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𝑠𝑐𝑜𝑟𝑒𝑠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𝑛𝑢𝑚𝑏𝑒𝑟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sz="2400" b="0" i="1" smtClean="0">
                            <a:latin typeface="Cambria Math" charset="0"/>
                          </a:rPr>
                          <m:t>𝑠𝑐𝑜𝑟𝑒𝑠</m:t>
                        </m:r>
                      </m:den>
                    </m:f>
                    <m:r>
                      <a:rPr lang="en-CA" sz="24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sz="24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35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7</m:t>
                        </m:r>
                      </m:den>
                    </m:f>
                    <m:r>
                      <a:rPr lang="en-CA" sz="2400" b="0" i="1" smtClean="0">
                        <a:latin typeface="Cambria Math" charset="0"/>
                      </a:rPr>
                      <m:t>=5</m:t>
                    </m:r>
                  </m:oMath>
                </a14:m>
                <a:endParaRPr lang="en-US" sz="2400" dirty="0" smtClean="0"/>
              </a:p>
              <a:p>
                <a:pPr marL="514350" indent="-514350">
                  <a:buAutoNum type="alphaLcParenR" startAt="2"/>
                </a:pPr>
                <a:endParaRPr lang="en-US" sz="2400" dirty="0" smtClean="0"/>
              </a:p>
              <a:p>
                <a:pPr marL="514350" indent="-514350">
                  <a:buAutoNum type="alphaLcParenR" startAt="2"/>
                </a:pPr>
                <a:r>
                  <a:rPr lang="en-US" sz="2400" dirty="0" smtClean="0"/>
                  <a:t>Median is the middle value, in this case values: </a:t>
                </a:r>
              </a:p>
              <a:p>
                <a:r>
                  <a:rPr lang="en-US" sz="2400" dirty="0" smtClean="0"/>
                  <a:t>      2, 3, 4, 5, 6, 6, 9, 68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5+6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r>
                      <a:rPr lang="en-CA" sz="2400" b="0" i="1" smtClean="0">
                        <a:latin typeface="Cambria Math" charset="0"/>
                      </a:rPr>
                      <m:t>=5.5</m:t>
                    </m:r>
                  </m:oMath>
                </a14:m>
                <a:endParaRPr lang="en-US" sz="2400" dirty="0" smtClean="0"/>
              </a:p>
              <a:p>
                <a:pPr marL="514350" indent="-514350">
                  <a:buAutoNum type="alphaLcParenR" startAt="3"/>
                </a:pPr>
                <a:endParaRPr lang="en-US" sz="2400" dirty="0" smtClean="0"/>
              </a:p>
              <a:p>
                <a:pPr marL="514350" indent="-514350">
                  <a:buAutoNum type="alphaLcParenR" startAt="3"/>
                </a:pPr>
                <a:r>
                  <a:rPr lang="en-US" sz="2400" dirty="0" smtClean="0"/>
                  <a:t>Mode = The value that occurs the most, which is 6. Does the outlier affect </a:t>
                </a:r>
              </a:p>
              <a:p>
                <a:pPr marL="514350" indent="-514350">
                  <a:buAutoNum type="alphaLcParenR" startAt="3"/>
                </a:pPr>
                <a:endParaRPr lang="en-US" sz="2400" dirty="0" smtClean="0"/>
              </a:p>
              <a:p>
                <a:pPr marL="514350" indent="-514350">
                  <a:buAutoNum type="alphaLcParenR" startAt="3"/>
                </a:pPr>
                <a:r>
                  <a:rPr lang="en-US" sz="2400" dirty="0" smtClean="0"/>
                  <a:t>Range = The maximum value </a:t>
                </a:r>
                <a:r>
                  <a:rPr lang="mr-IN" sz="2400" dirty="0" smtClean="0"/>
                  <a:t>–</a:t>
                </a:r>
                <a:r>
                  <a:rPr lang="en-US" sz="2400" dirty="0" smtClean="0"/>
                  <a:t> the minimum value = 68-2 = 66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588" y="2007272"/>
                <a:ext cx="10172156" cy="5283113"/>
              </a:xfrm>
              <a:prstGeom prst="rect">
                <a:avLst/>
              </a:prstGeom>
              <a:blipFill rotWithShape="0">
                <a:blip r:embed="rId2"/>
                <a:stretch>
                  <a:fillRect l="-1259" t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/>
          <p:cNvSpPr/>
          <p:nvPr/>
        </p:nvSpPr>
        <p:spPr>
          <a:xfrm>
            <a:off x="8983003" y="2838270"/>
            <a:ext cx="416859" cy="12123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584966" y="3028923"/>
            <a:ext cx="14450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Quite a difference</a:t>
            </a:r>
            <a:endParaRPr lang="en-US" sz="2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3C7BDCCA-A38E-43A4-915F-C1E22283F9C5}"/>
              </a:ext>
            </a:extLst>
          </p:cNvPr>
          <p:cNvSpPr/>
          <p:nvPr/>
        </p:nvSpPr>
        <p:spPr>
          <a:xfrm>
            <a:off x="3153134" y="4834564"/>
            <a:ext cx="367925" cy="3883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3C7BDCCA-A38E-43A4-915F-C1E22283F9C5}"/>
              </a:ext>
            </a:extLst>
          </p:cNvPr>
          <p:cNvSpPr/>
          <p:nvPr/>
        </p:nvSpPr>
        <p:spPr>
          <a:xfrm>
            <a:off x="3521059" y="4834564"/>
            <a:ext cx="350729" cy="3698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</p:spTree>
    <p:extLst>
      <p:ext uri="{BB962C8B-B14F-4D97-AF65-F5344CB8AC3E}">
        <p14:creationId xmlns:p14="http://schemas.microsoft.com/office/powerpoint/2010/main" val="145824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6" grpId="0" animBg="1"/>
      <p:bldP spid="17" grpId="0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838" y="125260"/>
            <a:ext cx="1141121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So, we can see that because the mean is an average of </a:t>
            </a:r>
            <a:r>
              <a:rPr lang="en-US" sz="2800" b="1" dirty="0" smtClean="0"/>
              <a:t>ALL</a:t>
            </a:r>
            <a:r>
              <a:rPr lang="en-US" sz="2800" dirty="0" smtClean="0"/>
              <a:t> values, it is heavily affected by outliers. </a:t>
            </a:r>
            <a:r>
              <a:rPr lang="en-US" sz="2800" dirty="0"/>
              <a:t>B</a:t>
            </a:r>
            <a:r>
              <a:rPr lang="en-US" sz="2800" dirty="0" smtClean="0"/>
              <a:t>ut what about median, mode and range? </a:t>
            </a:r>
          </a:p>
          <a:p>
            <a:endParaRPr lang="en-US" sz="2800" dirty="0"/>
          </a:p>
          <a:p>
            <a:r>
              <a:rPr lang="en-US" sz="2800" dirty="0"/>
              <a:t>2, 3, 4, 5, 6, 6, 9, 68</a:t>
            </a:r>
          </a:p>
          <a:p>
            <a:endParaRPr lang="en-US" sz="2800" dirty="0" smtClean="0"/>
          </a:p>
          <a:p>
            <a:r>
              <a:rPr lang="en-US" sz="2800" dirty="0" smtClean="0"/>
              <a:t>Median </a:t>
            </a:r>
            <a:r>
              <a:rPr lang="mr-IN" sz="2800" dirty="0" smtClean="0"/>
              <a:t>–</a:t>
            </a:r>
            <a:r>
              <a:rPr lang="en-US" sz="2800" dirty="0" smtClean="0"/>
              <a:t> if we substituted 10 for 68, 5 and 6 would still be the middle values and the median would not change. So outliers </a:t>
            </a:r>
            <a:r>
              <a:rPr lang="en-US" sz="2800" b="1" i="1" dirty="0" smtClean="0"/>
              <a:t>do not</a:t>
            </a:r>
            <a:r>
              <a:rPr lang="en-US" sz="2800" dirty="0" smtClean="0"/>
              <a:t> affect the median</a:t>
            </a:r>
          </a:p>
          <a:p>
            <a:endParaRPr lang="en-US" sz="2800" dirty="0"/>
          </a:p>
          <a:p>
            <a:r>
              <a:rPr lang="en-US" sz="2800" dirty="0" smtClean="0"/>
              <a:t>Mode </a:t>
            </a:r>
            <a:r>
              <a:rPr lang="mr-IN" sz="2800" dirty="0" smtClean="0"/>
              <a:t>–</a:t>
            </a:r>
            <a:r>
              <a:rPr lang="en-US" sz="2800" dirty="0" smtClean="0"/>
              <a:t> As mode is simply the value that occurs the most, the addition of an extreme value like 68 doesn’t change the fact that 6 is still the value that occurs the most. So outliers </a:t>
            </a:r>
            <a:r>
              <a:rPr lang="en-US" sz="2800" b="1" i="1" dirty="0" smtClean="0"/>
              <a:t>do not</a:t>
            </a:r>
            <a:r>
              <a:rPr lang="en-US" sz="2800" b="1" dirty="0" smtClean="0"/>
              <a:t> </a:t>
            </a:r>
            <a:r>
              <a:rPr lang="en-US" sz="2800" dirty="0" smtClean="0"/>
              <a:t>affect the mode.</a:t>
            </a:r>
          </a:p>
          <a:p>
            <a:endParaRPr lang="en-US" sz="2800" dirty="0"/>
          </a:p>
          <a:p>
            <a:r>
              <a:rPr lang="en-US" sz="2800" dirty="0" smtClean="0"/>
              <a:t>Range </a:t>
            </a:r>
            <a:r>
              <a:rPr lang="mr-IN" sz="2800" dirty="0" smtClean="0"/>
              <a:t>–</a:t>
            </a:r>
            <a:r>
              <a:rPr lang="en-US" sz="2800" dirty="0" smtClean="0"/>
              <a:t> If we substitute 10 for 68, suddenly our range is much smaller, as 10-2 = 8, as opposed to 68-2 = 66. So outliers </a:t>
            </a:r>
            <a:r>
              <a:rPr lang="en-US" sz="2800" b="1" i="1" dirty="0" smtClean="0"/>
              <a:t>do</a:t>
            </a:r>
            <a:r>
              <a:rPr lang="en-US" sz="2800" dirty="0" smtClean="0"/>
              <a:t> affect range. </a:t>
            </a:r>
          </a:p>
        </p:txBody>
      </p:sp>
    </p:spTree>
    <p:extLst>
      <p:ext uri="{BB962C8B-B14F-4D97-AF65-F5344CB8AC3E}">
        <p14:creationId xmlns:p14="http://schemas.microsoft.com/office/powerpoint/2010/main" val="173438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2729" y="100208"/>
            <a:ext cx="11672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200" dirty="0" smtClean="0"/>
              <a:t>From last class, let’s revisit this question: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73" y="874652"/>
            <a:ext cx="10878671" cy="548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81819" y="237994"/>
            <a:ext cx="560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Applying what we’ve learned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25" y="1148219"/>
            <a:ext cx="10058400" cy="510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8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50" y="443804"/>
            <a:ext cx="6972300" cy="2400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550" y="3379161"/>
            <a:ext cx="22067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Extension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50" y="4622104"/>
            <a:ext cx="10640961" cy="172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5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0950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25338" y="1921365"/>
            <a:ext cx="26281" cy="40491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541" y="2071499"/>
            <a:ext cx="1746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are outliers?</a:t>
            </a:r>
            <a:endParaRPr lang="en-US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outliers and how do they affect the measures of location </a:t>
            </a:r>
            <a:r>
              <a:rPr lang="en-AU" sz="2400" smtClean="0"/>
              <a:t>and spread we’ve learned about?</a:t>
            </a:r>
            <a:endParaRPr lang="en-AU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597049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6541" y="604033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181085" y="3279287"/>
            <a:ext cx="64351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Complete your Summary!!!</a:t>
            </a:r>
            <a:endParaRPr lang="en-US" sz="4400" dirty="0"/>
          </a:p>
        </p:txBody>
      </p:sp>
      <p:sp>
        <p:nvSpPr>
          <p:cNvPr id="5" name="Down Arrow 4"/>
          <p:cNvSpPr/>
          <p:nvPr/>
        </p:nvSpPr>
        <p:spPr>
          <a:xfrm>
            <a:off x="2605414" y="4715370"/>
            <a:ext cx="1164920" cy="10215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22F825-D8B4-49BC-AB00-C26767C01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93" y="134471"/>
            <a:ext cx="5322283" cy="605117"/>
          </a:xfrm>
        </p:spPr>
        <p:txBody>
          <a:bodyPr>
            <a:normAutofit/>
          </a:bodyPr>
          <a:lstStyle/>
          <a:p>
            <a:r>
              <a:rPr lang="en-AU" sz="2800" dirty="0"/>
              <a:t>How can you remember all this?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341" y="579738"/>
            <a:ext cx="8216153" cy="619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8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71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672</Words>
  <Application>Microsoft Macintosh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Mangal</vt:lpstr>
      <vt:lpstr>Office Theme</vt:lpstr>
      <vt:lpstr>My Data Interactive Notebook</vt:lpstr>
      <vt:lpstr>Interactive Notebooks!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can you remember all this?</vt:lpstr>
      <vt:lpstr>Notes Review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SUMMERS Brad [Baldivis Secondary College]</dc:creator>
  <cp:lastModifiedBy>SUMMERS Brad [Baldivis Secondary College]</cp:lastModifiedBy>
  <cp:revision>20</cp:revision>
  <dcterms:created xsi:type="dcterms:W3CDTF">2017-07-23T05:14:02Z</dcterms:created>
  <dcterms:modified xsi:type="dcterms:W3CDTF">2017-07-24T07:11:08Z</dcterms:modified>
</cp:coreProperties>
</file>
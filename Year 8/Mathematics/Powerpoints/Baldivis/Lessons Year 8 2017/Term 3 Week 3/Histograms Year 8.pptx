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4" r:id="rId3"/>
    <p:sldId id="305" r:id="rId4"/>
    <p:sldId id="306" r:id="rId5"/>
    <p:sldId id="259" r:id="rId6"/>
    <p:sldId id="258" r:id="rId7"/>
    <p:sldId id="303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24" autoAdjust="0"/>
    <p:restoredTop sz="92163" autoAdjust="0"/>
  </p:normalViewPr>
  <p:slideViewPr>
    <p:cSldViewPr>
      <p:cViewPr>
        <p:scale>
          <a:sx n="75" d="100"/>
          <a:sy n="75" d="100"/>
        </p:scale>
        <p:origin x="2488" y="7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  <a:r>
              <a:rPr lang="en-AU" dirty="0" smtClean="0"/>
              <a:t>			8.7</a:t>
            </a:r>
            <a:endParaRPr lang="en-AU" dirty="0" smtClean="0"/>
          </a:p>
          <a:p>
            <a:pPr algn="l"/>
            <a:r>
              <a:rPr lang="en-AU" dirty="0" smtClean="0"/>
              <a:t>Teacher </a:t>
            </a:r>
            <a:r>
              <a:rPr lang="en-AU" dirty="0" smtClean="0"/>
              <a:t>		Ms </a:t>
            </a:r>
            <a:r>
              <a:rPr lang="en-AU" dirty="0"/>
              <a:t>P</a:t>
            </a:r>
            <a:r>
              <a:rPr lang="en-AU" dirty="0" smtClean="0"/>
              <a:t>aterson</a:t>
            </a:r>
            <a:endParaRPr lang="en-AU" dirty="0" smtClean="0"/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3 		Semester 2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</a:t>
            </a:r>
            <a:r>
              <a:rPr lang="en-AU" dirty="0"/>
              <a:t>2</a:t>
            </a:r>
            <a:r>
              <a:rPr lang="en-AU" dirty="0" smtClean="0"/>
              <a:t> </a:t>
            </a:r>
            <a:r>
              <a:rPr lang="en-AU" dirty="0" smtClean="0"/>
              <a:t>Term </a:t>
            </a:r>
            <a:r>
              <a:rPr lang="en-AU" dirty="0" smtClean="0"/>
              <a:t>3</a:t>
            </a: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Column graph Revision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Chapter 9.3</a:t>
            </a:r>
          </a:p>
          <a:p>
            <a:r>
              <a:rPr lang="en-US" dirty="0" smtClean="0"/>
              <a:t>Pearson, p.527</a:t>
            </a:r>
            <a:r>
              <a:rPr lang="is-IS" dirty="0" smtClean="0"/>
              <a:t>…..Given four categories, </a:t>
            </a:r>
          </a:p>
          <a:p>
            <a:endParaRPr lang="is-IS" dirty="0" smtClean="0"/>
          </a:p>
          <a:p>
            <a:pPr marL="0" indent="0">
              <a:buNone/>
            </a:pPr>
            <a:endParaRPr lang="is-IS" dirty="0" smtClean="0"/>
          </a:p>
          <a:p>
            <a:pPr marL="0" indent="0">
              <a:buNone/>
            </a:pPr>
            <a:endParaRPr lang="is-IS" dirty="0"/>
          </a:p>
          <a:p>
            <a:pPr marL="0" indent="0">
              <a:buNone/>
            </a:pPr>
            <a:endParaRPr lang="is-IS" dirty="0" smtClean="0"/>
          </a:p>
          <a:p>
            <a:pPr marL="0" indent="0">
              <a:buNone/>
            </a:pPr>
            <a:r>
              <a:rPr lang="is-IS" dirty="0" smtClean="0"/>
              <a:t>	</a:t>
            </a:r>
          </a:p>
          <a:p>
            <a:pPr marL="0" indent="0">
              <a:buNone/>
            </a:pPr>
            <a:r>
              <a:rPr lang="is-IS" dirty="0" smtClean="0"/>
              <a:t>Can you construct a column graph?  </a:t>
            </a:r>
          </a:p>
          <a:p>
            <a:pPr marL="0" indent="0">
              <a:buNone/>
            </a:pPr>
            <a:endParaRPr lang="is-IS" dirty="0" smtClean="0"/>
          </a:p>
          <a:p>
            <a:pPr marL="0" indent="0">
              <a:buNone/>
            </a:pPr>
            <a:endParaRPr lang="is-IS" dirty="0"/>
          </a:p>
          <a:p>
            <a:pPr marL="0" indent="0">
              <a:buNone/>
            </a:pPr>
            <a:endParaRPr lang="is-IS" dirty="0" smtClean="0"/>
          </a:p>
          <a:p>
            <a:pPr marL="0" indent="0">
              <a:buNone/>
            </a:pPr>
            <a:endParaRPr lang="is-I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046475"/>
              </p:ext>
            </p:extLst>
          </p:nvPr>
        </p:nvGraphicFramePr>
        <p:xfrm>
          <a:off x="2123727" y="2708921"/>
          <a:ext cx="5496272" cy="2592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088"/>
                <a:gridCol w="3180184"/>
              </a:tblGrid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Frequency</a:t>
                      </a:r>
                      <a:endParaRPr lang="en-US" dirty="0"/>
                    </a:p>
                  </a:txBody>
                  <a:tcPr/>
                </a:tc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5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id you remember?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 Title?							(1)</a:t>
            </a:r>
          </a:p>
          <a:p>
            <a:pPr marL="0" indent="0">
              <a:buNone/>
            </a:pPr>
            <a:r>
              <a:rPr lang="en-US" sz="2800" i="1" dirty="0" smtClean="0">
                <a:solidFill>
                  <a:srgbClr val="FF0000"/>
                </a:solidFill>
              </a:rPr>
              <a:t>Bird sightings in different sections of a national park</a:t>
            </a:r>
            <a:endParaRPr lang="en-US" sz="2800" dirty="0"/>
          </a:p>
          <a:p>
            <a:r>
              <a:rPr lang="en-US" sz="2800" dirty="0" smtClean="0"/>
              <a:t>Labelled Axes?						(2)</a:t>
            </a:r>
          </a:p>
          <a:p>
            <a:pPr marL="0" indent="0">
              <a:buNone/>
            </a:pPr>
            <a:r>
              <a:rPr lang="en-US" sz="2800" i="1" dirty="0" smtClean="0">
                <a:solidFill>
                  <a:srgbClr val="FF0000"/>
                </a:solidFill>
              </a:rPr>
              <a:t>Horizontal axis = section #</a:t>
            </a:r>
          </a:p>
          <a:p>
            <a:pPr marL="0" indent="0">
              <a:buNone/>
            </a:pPr>
            <a:r>
              <a:rPr lang="en-US" sz="2800" i="1" dirty="0" smtClean="0">
                <a:solidFill>
                  <a:srgbClr val="FF0000"/>
                </a:solidFill>
              </a:rPr>
              <a:t>Vertical Axis = Frequency   (intervals of </a:t>
            </a:r>
            <a:r>
              <a:rPr lang="en-US" sz="2800" i="1" smtClean="0">
                <a:solidFill>
                  <a:srgbClr val="FF0000"/>
                </a:solidFill>
              </a:rPr>
              <a:t>2 from 0 </a:t>
            </a:r>
            <a:r>
              <a:rPr lang="en-US" sz="2800" i="1" dirty="0" smtClean="0">
                <a:solidFill>
                  <a:srgbClr val="FF0000"/>
                </a:solidFill>
              </a:rPr>
              <a:t>to 18)</a:t>
            </a:r>
          </a:p>
          <a:p>
            <a:pPr marL="0" indent="0">
              <a:buNone/>
            </a:pPr>
            <a:r>
              <a:rPr lang="en-US" sz="2400" i="1" dirty="0" smtClean="0"/>
              <a:t>	To find a vertical scale, </a:t>
            </a:r>
          </a:p>
          <a:p>
            <a:pPr marL="0" indent="0">
              <a:buNone/>
            </a:pPr>
            <a:r>
              <a:rPr lang="en-US" sz="2400" i="1" dirty="0" smtClean="0"/>
              <a:t>use the largest frequency (16) &amp; divide it by 10. Round your answer to the nearest whole number. </a:t>
            </a:r>
            <a:endParaRPr lang="en-US" sz="2400" i="1" dirty="0"/>
          </a:p>
          <a:p>
            <a:r>
              <a:rPr lang="en-US" sz="2800" dirty="0" smtClean="0"/>
              <a:t>Consistent spacing between columns  (Gaps)&amp; OF columns?		</a:t>
            </a:r>
            <a:r>
              <a:rPr lang="en-US" dirty="0" smtClean="0"/>
              <a:t>					</a:t>
            </a:r>
            <a:r>
              <a:rPr lang="en-US" sz="2800" dirty="0" smtClean="0"/>
              <a:t>(2)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08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0318" y="44440"/>
            <a:ext cx="24320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  <a:endParaRPr lang="en-AU" sz="1200" dirty="0" smtClean="0"/>
          </a:p>
          <a:p>
            <a:r>
              <a:rPr lang="en-AU" sz="1200" dirty="0" smtClean="0"/>
              <a:t>30:          Topic</a:t>
            </a:r>
            <a:r>
              <a:rPr lang="en-AU" sz="1400" dirty="0" smtClean="0"/>
              <a:t>:           Histograms</a:t>
            </a:r>
            <a:endParaRPr lang="en-AU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4326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</a:t>
            </a:r>
            <a:r>
              <a:rPr lang="en-AU" sz="1000" dirty="0" smtClean="0"/>
              <a:t>Question:</a:t>
            </a:r>
            <a:endParaRPr lang="en-AU" sz="1200" dirty="0" smtClean="0"/>
          </a:p>
          <a:p>
            <a:r>
              <a:rPr lang="en-AU" sz="1400" dirty="0" smtClean="0"/>
              <a:t>When do we use frequency column graphs (histograms)?</a:t>
            </a:r>
            <a:endParaRPr lang="en-AU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49" y="1196751"/>
            <a:ext cx="288071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Notes: </a:t>
            </a:r>
          </a:p>
          <a:p>
            <a:r>
              <a:rPr lang="en-AU" sz="1000" dirty="0" smtClean="0"/>
              <a:t>A </a:t>
            </a:r>
            <a:r>
              <a:rPr lang="en-AU" sz="1000" u="sng" dirty="0" smtClean="0"/>
              <a:t>histogram</a:t>
            </a:r>
            <a:r>
              <a:rPr lang="en-AU" sz="1000" dirty="0" smtClean="0"/>
              <a:t> is a column graph with NO GAPS  between the columns because  </a:t>
            </a:r>
          </a:p>
          <a:p>
            <a:r>
              <a:rPr lang="en-AU" sz="1000" dirty="0" smtClean="0"/>
              <a:t>the data is continuous. (measured)  </a:t>
            </a:r>
          </a:p>
          <a:p>
            <a:r>
              <a:rPr lang="en-AU" sz="1000" dirty="0" smtClean="0"/>
              <a:t>For example, the heights of students in a class.</a:t>
            </a:r>
          </a:p>
          <a:p>
            <a:endParaRPr lang="en-AU" sz="1000" dirty="0"/>
          </a:p>
          <a:p>
            <a:r>
              <a:rPr lang="en-AU" sz="1000" dirty="0" smtClean="0"/>
              <a:t>We use it to display LARGE amounts of data.</a:t>
            </a:r>
          </a:p>
          <a:p>
            <a:endParaRPr lang="en-AU" sz="1000" dirty="0"/>
          </a:p>
          <a:p>
            <a:r>
              <a:rPr lang="en-AU" sz="1000" dirty="0" smtClean="0"/>
              <a:t>We need to use </a:t>
            </a:r>
            <a:r>
              <a:rPr lang="en-AU" sz="1000" b="1" dirty="0" smtClean="0"/>
              <a:t>class intervals </a:t>
            </a:r>
            <a:r>
              <a:rPr lang="en-AU" sz="1000" dirty="0" smtClean="0"/>
              <a:t>of </a:t>
            </a:r>
            <a:r>
              <a:rPr lang="en-AU" sz="1000" b="1" dirty="0" smtClean="0"/>
              <a:t>grouped data  </a:t>
            </a:r>
            <a:r>
              <a:rPr lang="en-AU" sz="1000" dirty="0" smtClean="0"/>
              <a:t>if the range is large, (more than 10),and there is a large amount of data.</a:t>
            </a:r>
          </a:p>
          <a:p>
            <a:endParaRPr lang="en-AU" sz="1000" dirty="0"/>
          </a:p>
          <a:p>
            <a:r>
              <a:rPr lang="en-AU" sz="1000" dirty="0" smtClean="0"/>
              <a:t>The </a:t>
            </a:r>
            <a:r>
              <a:rPr lang="en-AU" sz="1000" b="1" dirty="0" smtClean="0"/>
              <a:t>mean, mode &amp; median </a:t>
            </a:r>
            <a:r>
              <a:rPr lang="en-AU" sz="1000" dirty="0" smtClean="0"/>
              <a:t>cannot be read off the graph for grouped data, but the graph gives us a good idea of the </a:t>
            </a:r>
            <a:r>
              <a:rPr lang="en-AU" sz="1000" b="1" dirty="0" smtClean="0"/>
              <a:t>spread of data</a:t>
            </a:r>
            <a:r>
              <a:rPr lang="en-AU" sz="1000" dirty="0" smtClean="0"/>
              <a:t> and the </a:t>
            </a:r>
            <a:r>
              <a:rPr lang="en-AU" sz="1000" b="1" dirty="0" smtClean="0"/>
              <a:t>shape </a:t>
            </a:r>
            <a:r>
              <a:rPr lang="en-AU" sz="1000" dirty="0" smtClean="0"/>
              <a:t>of the graph is important. </a:t>
            </a:r>
          </a:p>
          <a:p>
            <a:endParaRPr lang="en-AU" sz="1000" dirty="0" smtClean="0"/>
          </a:p>
          <a:p>
            <a:r>
              <a:rPr lang="en-AU" sz="1000" dirty="0" smtClean="0"/>
              <a:t>Worked Example #8. P.258 (Pearson). Restaurant</a:t>
            </a:r>
            <a:r>
              <a:rPr lang="is-IS" sz="1000" dirty="0" smtClean="0"/>
              <a:t>…...</a:t>
            </a:r>
          </a:p>
          <a:p>
            <a:endParaRPr lang="is-IS" sz="1000" dirty="0"/>
          </a:p>
          <a:p>
            <a:r>
              <a:rPr lang="is-IS" sz="1000" dirty="0" smtClean="0"/>
              <a:t>You leave that space blank.</a:t>
            </a:r>
          </a:p>
          <a:p>
            <a:endParaRPr lang="is-IS" sz="1000" dirty="0"/>
          </a:p>
          <a:p>
            <a:r>
              <a:rPr lang="is-IS" sz="1000" u="sng" dirty="0" smtClean="0"/>
              <a:t>Or</a:t>
            </a:r>
            <a:r>
              <a:rPr lang="is-IS" sz="1000" dirty="0" smtClean="0"/>
              <a:t> Extn: class :  Worked Example #9  (decimals)</a:t>
            </a:r>
          </a:p>
          <a:p>
            <a:endParaRPr lang="is-IS" sz="1000" dirty="0"/>
          </a:p>
          <a:p>
            <a:r>
              <a:rPr lang="is-IS" sz="1000" dirty="0" smtClean="0"/>
              <a:t>Add a frequency polygon.</a:t>
            </a:r>
            <a:endParaRPr lang="en-AU" sz="1000" dirty="0"/>
          </a:p>
          <a:p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1452642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Questions: </a:t>
            </a:r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 smtClean="0"/>
          </a:p>
          <a:p>
            <a:r>
              <a:rPr lang="en-AU" sz="1000" dirty="0" smtClean="0"/>
              <a:t>What does it mean if </a:t>
            </a:r>
          </a:p>
          <a:p>
            <a:r>
              <a:rPr lang="en-AU" sz="1000" dirty="0" smtClean="0"/>
              <a:t>there is no data for that </a:t>
            </a:r>
          </a:p>
          <a:p>
            <a:r>
              <a:rPr lang="en-AU" sz="1000" dirty="0" smtClean="0"/>
              <a:t>interval</a:t>
            </a:r>
            <a:endParaRPr lang="en-AU" sz="1000" dirty="0"/>
          </a:p>
          <a:p>
            <a:endParaRPr lang="en-AU" sz="1000" dirty="0" smtClean="0"/>
          </a:p>
          <a:p>
            <a:endParaRPr lang="en-AU" sz="1000" dirty="0" smtClean="0"/>
          </a:p>
          <a:p>
            <a:r>
              <a:rPr lang="en-AU" sz="1000" dirty="0" smtClean="0"/>
              <a:t>what is a frequency </a:t>
            </a:r>
          </a:p>
          <a:p>
            <a:r>
              <a:rPr lang="en-AU" sz="1000" dirty="0" smtClean="0"/>
              <a:t>polygon?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8" y="5373216"/>
            <a:ext cx="41979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Summary: </a:t>
            </a:r>
          </a:p>
          <a:p>
            <a:r>
              <a:rPr lang="en-AU" sz="1000" dirty="0" smtClean="0"/>
              <a:t>To draw a histogram, first construct a frequency table. Any statistical graph needs</a:t>
            </a:r>
          </a:p>
          <a:p>
            <a:pPr marL="171450" indent="-171450">
              <a:buFont typeface="Arial" charset="0"/>
              <a:buChar char="•"/>
            </a:pPr>
            <a:r>
              <a:rPr lang="en-AU" sz="1000" dirty="0" smtClean="0"/>
              <a:t>Labelled axes</a:t>
            </a:r>
          </a:p>
          <a:p>
            <a:pPr marL="171450" indent="-171450">
              <a:buFont typeface="Arial" charset="0"/>
              <a:buChar char="•"/>
            </a:pPr>
            <a:r>
              <a:rPr lang="en-AU" sz="1000" dirty="0" smtClean="0"/>
              <a:t>A title</a:t>
            </a:r>
          </a:p>
          <a:p>
            <a:pPr marL="171450" indent="-171450">
              <a:buFont typeface="Arial" charset="0"/>
              <a:buChar char="•"/>
            </a:pPr>
            <a:r>
              <a:rPr lang="en-AU" sz="1000" dirty="0" smtClean="0"/>
              <a:t>A consistent scale on both axes.  </a:t>
            </a:r>
          </a:p>
          <a:p>
            <a:r>
              <a:rPr lang="en-AU" sz="1000" dirty="0" smtClean="0"/>
              <a:t>Class intervals are found by first finding the range, then /by 5 or 10, to decide where to start, then use a tally.</a:t>
            </a:r>
            <a:endParaRPr lang="en-AU" sz="1000" dirty="0" smtClean="0"/>
          </a:p>
          <a:p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</a:t>
            </a:r>
            <a:r>
              <a:rPr lang="en-AU" smtClean="0"/>
              <a:t>page 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56</TotalTime>
  <Words>368</Words>
  <Application>Microsoft Macintosh PowerPoint</Application>
  <PresentationFormat>On-screen Show (4:3)</PresentationFormat>
  <Paragraphs>129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Arial</vt:lpstr>
      <vt:lpstr>Office Theme</vt:lpstr>
      <vt:lpstr>My Statistics Interactive Notebook</vt:lpstr>
      <vt:lpstr>Create your own front page</vt:lpstr>
      <vt:lpstr>Column graph Revision</vt:lpstr>
      <vt:lpstr>Did you remember?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Number Interactive Notebook</dc:title>
  <dc:creator>PATERSON Anne</dc:creator>
  <cp:lastModifiedBy>PATERSON Anne</cp:lastModifiedBy>
  <cp:revision>8</cp:revision>
  <dcterms:created xsi:type="dcterms:W3CDTF">2017-07-22T05:29:03Z</dcterms:created>
  <dcterms:modified xsi:type="dcterms:W3CDTF">2017-07-22T06:25:47Z</dcterms:modified>
</cp:coreProperties>
</file>
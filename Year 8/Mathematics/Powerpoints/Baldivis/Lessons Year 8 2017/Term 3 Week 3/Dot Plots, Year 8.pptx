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304" r:id="rId3"/>
    <p:sldId id="259" r:id="rId4"/>
    <p:sldId id="258" r:id="rId5"/>
    <p:sldId id="303" r:id="rId6"/>
    <p:sldId id="305" r:id="rId7"/>
    <p:sldId id="301" r:id="rId8"/>
    <p:sldId id="292" r:id="rId9"/>
    <p:sldId id="291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24" autoAdjust="0"/>
    <p:restoredTop sz="92163" autoAdjust="0"/>
  </p:normalViewPr>
  <p:slideViewPr>
    <p:cSldViewPr>
      <p:cViewPr>
        <p:scale>
          <a:sx n="75" d="100"/>
          <a:sy n="75" d="100"/>
        </p:scale>
        <p:origin x="2488" y="7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22/07/2017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</a:t>
            </a:r>
            <a:r>
              <a:rPr lang="en-AU" dirty="0" smtClean="0"/>
              <a:t>Statistics &amp; Graphs</a:t>
            </a:r>
            <a:r>
              <a:rPr lang="en-AU" dirty="0" smtClean="0"/>
              <a:t/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  <a:r>
              <a:rPr lang="en-AU" dirty="0" smtClean="0"/>
              <a:t>8.7</a:t>
            </a:r>
            <a:endParaRPr lang="en-AU" dirty="0" smtClean="0"/>
          </a:p>
          <a:p>
            <a:pPr algn="l"/>
            <a:r>
              <a:rPr lang="en-AU" dirty="0" smtClean="0"/>
              <a:t>Teacher </a:t>
            </a:r>
            <a:r>
              <a:rPr lang="en-AU" dirty="0" smtClean="0"/>
              <a:t>Ms Paterson</a:t>
            </a:r>
            <a:endParaRPr lang="en-AU" dirty="0" smtClean="0"/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3 </a:t>
            </a:r>
            <a:r>
              <a:rPr lang="en-AU" dirty="0" smtClean="0"/>
              <a:t>Semester </a:t>
            </a:r>
            <a:r>
              <a:rPr lang="en-AU" dirty="0" smtClean="0"/>
              <a:t>2</a:t>
            </a:r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2"/>
            <a:ext cx="320557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Tasks     LHS (output)</a:t>
            </a:r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pPr algn="ctr"/>
            <a:r>
              <a:rPr lang="en-AU" dirty="0" smtClean="0"/>
              <a:t>Quick Warm up</a:t>
            </a:r>
          </a:p>
          <a:p>
            <a:endParaRPr lang="en-AU" dirty="0"/>
          </a:p>
          <a:p>
            <a:pPr algn="ctr"/>
            <a:r>
              <a:rPr lang="en-AU" dirty="0" smtClean="0"/>
              <a:t>#12 &amp; #13 on p.534</a:t>
            </a:r>
          </a:p>
          <a:p>
            <a:endParaRPr lang="en-AU" dirty="0"/>
          </a:p>
          <a:p>
            <a:endParaRPr lang="en-AU" dirty="0" smtClean="0"/>
          </a:p>
          <a:p>
            <a:pPr algn="ctr"/>
            <a:r>
              <a:rPr lang="en-AU" dirty="0" smtClean="0"/>
              <a:t>Can you </a:t>
            </a:r>
            <a:r>
              <a:rPr lang="en-AU" b="1" dirty="0" smtClean="0"/>
              <a:t>Spot</a:t>
            </a:r>
            <a:r>
              <a:rPr lang="en-AU" dirty="0" smtClean="0"/>
              <a:t> the mistakes</a:t>
            </a:r>
            <a:r>
              <a:rPr lang="en-AU" dirty="0" smtClean="0"/>
              <a:t>? </a:t>
            </a:r>
          </a:p>
          <a:p>
            <a:pPr algn="ctr"/>
            <a:endParaRPr lang="en-AU" dirty="0"/>
          </a:p>
          <a:p>
            <a:pPr algn="ctr"/>
            <a:endParaRPr lang="en-AU" dirty="0" smtClean="0"/>
          </a:p>
          <a:p>
            <a:pPr algn="ctr"/>
            <a:endParaRPr lang="en-AU" dirty="0"/>
          </a:p>
          <a:p>
            <a:pPr algn="ctr"/>
            <a:endParaRPr lang="en-AU" dirty="0" smtClean="0"/>
          </a:p>
          <a:p>
            <a:pPr algn="ctr"/>
            <a:endParaRPr lang="en-AU" dirty="0"/>
          </a:p>
          <a:p>
            <a:pPr algn="ctr"/>
            <a:endParaRPr lang="en-AU" dirty="0" smtClean="0"/>
          </a:p>
          <a:p>
            <a:pPr algn="ctr"/>
            <a:endParaRPr lang="en-AU" dirty="0"/>
          </a:p>
          <a:p>
            <a:pPr algn="ctr"/>
            <a:endParaRPr lang="en-AU" dirty="0" smtClean="0"/>
          </a:p>
          <a:p>
            <a:pPr algn="ctr"/>
            <a:endParaRPr lang="en-AU" dirty="0"/>
          </a:p>
          <a:p>
            <a:pPr algn="ctr"/>
            <a:r>
              <a:rPr lang="en-AU" dirty="0" smtClean="0"/>
              <a:t> [</a:t>
            </a:r>
            <a:r>
              <a:rPr lang="en-AU" dirty="0" err="1" smtClean="0"/>
              <a:t>Dalmation</a:t>
            </a:r>
            <a:r>
              <a:rPr lang="en-AU" dirty="0" smtClean="0"/>
              <a:t> picture here]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310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Title:             Dot Plots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			When is the best time to use a dot plot?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 flipH="1">
            <a:off x="3707904" y="1811727"/>
            <a:ext cx="504056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/>
              <a:t>Notes:</a:t>
            </a:r>
            <a:r>
              <a:rPr lang="en-US" dirty="0" smtClean="0"/>
              <a:t> </a:t>
            </a:r>
          </a:p>
          <a:p>
            <a:r>
              <a:rPr lang="en-US" dirty="0" smtClean="0"/>
              <a:t>A dot plot is a column graph used for </a:t>
            </a:r>
            <a:r>
              <a:rPr lang="en-US" u="sng" dirty="0" smtClean="0"/>
              <a:t>small amounts of data.</a:t>
            </a:r>
            <a:r>
              <a:rPr lang="en-US" dirty="0" smtClean="0"/>
              <a:t>  </a:t>
            </a:r>
          </a:p>
          <a:p>
            <a:r>
              <a:rPr lang="en-US" dirty="0"/>
              <a:t>	</a:t>
            </a:r>
            <a:r>
              <a:rPr lang="en-US" dirty="0" smtClean="0"/>
              <a:t>One dot = one piece of data.</a:t>
            </a:r>
          </a:p>
          <a:p>
            <a:pPr algn="ctr"/>
            <a:r>
              <a:rPr lang="en-US" dirty="0" smtClean="0"/>
              <a:t>A data point is a value or score or piece of data.</a:t>
            </a:r>
          </a:p>
          <a:p>
            <a:r>
              <a:rPr lang="en-US" dirty="0" smtClean="0"/>
              <a:t>It makes it easier to see </a:t>
            </a:r>
            <a:r>
              <a:rPr lang="en-US" b="1" dirty="0" smtClean="0"/>
              <a:t>clustered scores</a:t>
            </a:r>
            <a:r>
              <a:rPr lang="en-US" dirty="0" smtClean="0"/>
              <a:t>, </a:t>
            </a:r>
            <a:r>
              <a:rPr lang="en-US" b="1" dirty="0" smtClean="0"/>
              <a:t>gaps</a:t>
            </a:r>
            <a:r>
              <a:rPr lang="en-US" dirty="0" smtClean="0"/>
              <a:t> &amp; highlight </a:t>
            </a:r>
            <a:r>
              <a:rPr lang="en-US" b="1" dirty="0" smtClean="0"/>
              <a:t>outliers</a:t>
            </a:r>
            <a:r>
              <a:rPr lang="en-US" dirty="0" smtClean="0"/>
              <a:t> (extreme scores different to the rest of the data).  </a:t>
            </a:r>
          </a:p>
          <a:p>
            <a:r>
              <a:rPr lang="en-US" dirty="0" smtClean="0"/>
              <a:t>The horizontal axis must contain ALL numbers in the range, </a:t>
            </a:r>
            <a:r>
              <a:rPr lang="en-US" u="sng" dirty="0" smtClean="0"/>
              <a:t>evenly spaced</a:t>
            </a:r>
            <a:r>
              <a:rPr lang="en-US" dirty="0" smtClean="0"/>
              <a:t>, even if there is no data.  There must be a dot for each data point and dots must also be </a:t>
            </a:r>
            <a:r>
              <a:rPr lang="en-US" u="sng" dirty="0" smtClean="0"/>
              <a:t>evenly spaced </a:t>
            </a:r>
            <a:r>
              <a:rPr lang="en-US" dirty="0" smtClean="0"/>
              <a:t>upwards.  </a:t>
            </a:r>
          </a:p>
          <a:p>
            <a:endParaRPr lang="en-US" dirty="0" smtClean="0"/>
          </a:p>
          <a:p>
            <a:pPr algn="ctr"/>
            <a:r>
              <a:rPr lang="en-US" u="sng" dirty="0" smtClean="0"/>
              <a:t>Year 8 Class sizes at BSC</a:t>
            </a:r>
          </a:p>
          <a:p>
            <a:r>
              <a:rPr lang="en-US" dirty="0" smtClean="0"/>
              <a:t>First find your range,  32-17 =15.    Plot the #s and circle your class.</a:t>
            </a:r>
          </a:p>
          <a:p>
            <a:endParaRPr lang="en-US" dirty="0" smtClean="0"/>
          </a:p>
          <a:p>
            <a:endParaRPr lang="en-US" u="sng" dirty="0" smtClean="0"/>
          </a:p>
          <a:p>
            <a:endParaRPr lang="en-US" u="sng" dirty="0"/>
          </a:p>
          <a:p>
            <a:endParaRPr lang="en-US" dirty="0" smtClean="0"/>
          </a:p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3600" y="931333"/>
            <a:ext cx="743447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 smtClean="0"/>
              <a:t>Summary:</a:t>
            </a:r>
          </a:p>
          <a:p>
            <a:endParaRPr lang="en-US" dirty="0"/>
          </a:p>
          <a:p>
            <a:r>
              <a:rPr lang="en-US" dirty="0" smtClean="0"/>
              <a:t>The largest class take the smallest class will be </a:t>
            </a:r>
            <a:r>
              <a:rPr lang="en-US" b="1" dirty="0" smtClean="0"/>
              <a:t>the range </a:t>
            </a:r>
            <a:r>
              <a:rPr lang="en-US" dirty="0" smtClean="0"/>
              <a:t>of student numbers.</a:t>
            </a:r>
          </a:p>
          <a:p>
            <a:endParaRPr lang="en-US" dirty="0"/>
          </a:p>
          <a:p>
            <a:r>
              <a:rPr lang="en-US" dirty="0" smtClean="0"/>
              <a:t>The most common size will be the </a:t>
            </a:r>
            <a:r>
              <a:rPr lang="en-US" b="1" dirty="0" smtClean="0"/>
              <a:t>modal score.</a:t>
            </a:r>
          </a:p>
          <a:p>
            <a:endParaRPr lang="en-US" dirty="0" smtClean="0"/>
          </a:p>
          <a:p>
            <a:r>
              <a:rPr lang="en-US" dirty="0" smtClean="0"/>
              <a:t>The middle </a:t>
            </a:r>
            <a:r>
              <a:rPr lang="en-US" smtClean="0"/>
              <a:t>class will be </a:t>
            </a:r>
            <a:r>
              <a:rPr lang="en-US" dirty="0" smtClean="0"/>
              <a:t>the </a:t>
            </a:r>
            <a:r>
              <a:rPr lang="en-US" b="1" dirty="0" smtClean="0"/>
              <a:t>median </a:t>
            </a:r>
            <a:r>
              <a:rPr lang="en-US" dirty="0" smtClean="0"/>
              <a:t>size.</a:t>
            </a:r>
          </a:p>
          <a:p>
            <a:endParaRPr lang="en-US" dirty="0"/>
          </a:p>
          <a:p>
            <a:r>
              <a:rPr lang="en-US" b="1" dirty="0"/>
              <a:t>D</a:t>
            </a:r>
            <a:r>
              <a:rPr lang="en-US" b="1" dirty="0" smtClean="0"/>
              <a:t>ots</a:t>
            </a:r>
            <a:r>
              <a:rPr lang="en-US" dirty="0" smtClean="0"/>
              <a:t> in mathematics show us where the </a:t>
            </a:r>
            <a:r>
              <a:rPr lang="en-US" i="1" dirty="0" smtClean="0"/>
              <a:t>decimal part of the number </a:t>
            </a:r>
            <a:r>
              <a:rPr lang="en-US" dirty="0" smtClean="0"/>
              <a:t>is (3.14)</a:t>
            </a:r>
          </a:p>
          <a:p>
            <a:r>
              <a:rPr lang="en-US" u="sng" dirty="0" smtClean="0"/>
              <a:t>and</a:t>
            </a:r>
            <a:r>
              <a:rPr lang="en-US" dirty="0" smtClean="0"/>
              <a:t> display data points in </a:t>
            </a:r>
            <a:r>
              <a:rPr lang="en-US" i="1" dirty="0" smtClean="0"/>
              <a:t>dot plots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19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20608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AU" dirty="0" smtClean="0"/>
              <a:t>Questions</a:t>
            </a:r>
            <a:br>
              <a:rPr lang="en-AU" dirty="0" smtClean="0"/>
            </a:br>
            <a:r>
              <a:rPr lang="en-AU" sz="2700" dirty="0" smtClean="0"/>
              <a:t>Why</a:t>
            </a:r>
            <a:r>
              <a:rPr lang="en-AU" dirty="0" smtClean="0"/>
              <a:t> </a:t>
            </a:r>
            <a:r>
              <a:rPr lang="en-AU" sz="2700" dirty="0" smtClean="0"/>
              <a:t>is one class so small, with only 20 students while two have 32?</a:t>
            </a:r>
            <a:br>
              <a:rPr lang="en-AU" sz="2700" dirty="0" smtClean="0"/>
            </a:br>
            <a:r>
              <a:rPr lang="en-AU" sz="2700" dirty="0"/>
              <a:t/>
            </a:r>
            <a:br>
              <a:rPr lang="en-AU" sz="2700" dirty="0"/>
            </a:br>
            <a:r>
              <a:rPr lang="en-AU" sz="2700" i="1" dirty="0" smtClean="0"/>
              <a:t>Foundations and extension classes</a:t>
            </a:r>
            <a:r>
              <a:rPr lang="en-AU" sz="2700" dirty="0" smtClean="0"/>
              <a:t>.</a:t>
            </a:r>
            <a:br>
              <a:rPr lang="en-AU" sz="2700" dirty="0" smtClean="0"/>
            </a:br>
            <a:r>
              <a:rPr lang="en-AU" sz="2700" dirty="0"/>
              <a:t/>
            </a:r>
            <a:br>
              <a:rPr lang="en-AU" sz="2700" dirty="0"/>
            </a:br>
            <a:r>
              <a:rPr lang="en-AU" sz="2700" dirty="0" smtClean="0"/>
              <a:t>What do we call the smallest class?</a:t>
            </a:r>
            <a:endParaRPr lang="en-AU" sz="2700" dirty="0"/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</a:t>
            </a:r>
            <a:r>
              <a:rPr lang="en-AU" smtClean="0"/>
              <a:t>page filled </a:t>
            </a:r>
            <a:r>
              <a:rPr lang="en-AU" dirty="0" smtClean="0"/>
              <a:t>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VID page set up template" id="{3B1F23FA-0288-2D4D-9273-105711912F6E}" vid="{2888695A-BCDC-A143-81C3-9D147C3ED11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page 4 &amp; 5  template</Template>
  <TotalTime>31</TotalTime>
  <Words>220</Words>
  <Application>Microsoft Macintosh PowerPoint</Application>
  <PresentationFormat>On-screen Show (4:3)</PresentationFormat>
  <Paragraphs>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Arial</vt:lpstr>
      <vt:lpstr>Office Theme</vt:lpstr>
      <vt:lpstr>My Statistics &amp; Graphs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Questions Why is one class so small, with only 20 students while two have 32?  Foundations and extension classes.  What do we call the smallest class?</vt:lpstr>
      <vt:lpstr>Notes Review</vt:lpstr>
      <vt:lpstr>Homework</vt:lpstr>
    </vt:vector>
  </TitlesOfParts>
  <Company/>
  <LinksUpToDate>false</LinksUpToDate>
  <SharedDoc>false</SharedDoc>
  <HyperlinksChanged>false</HyperlinksChanged>
  <AppVersion>15.0024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Number Interactive Notebook</dc:title>
  <dc:creator>PATERSON Anne</dc:creator>
  <cp:lastModifiedBy>PATERSON Anne</cp:lastModifiedBy>
  <cp:revision>6</cp:revision>
  <dcterms:created xsi:type="dcterms:W3CDTF">2017-07-22T06:26:00Z</dcterms:created>
  <dcterms:modified xsi:type="dcterms:W3CDTF">2017-07-22T06:57:46Z</dcterms:modified>
</cp:coreProperties>
</file>
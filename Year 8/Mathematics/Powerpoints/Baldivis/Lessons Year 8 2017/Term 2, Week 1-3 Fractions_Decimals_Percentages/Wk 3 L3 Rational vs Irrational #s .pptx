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0" r:id="rId2"/>
    <p:sldId id="259" r:id="rId3"/>
    <p:sldId id="258" r:id="rId4"/>
    <p:sldId id="309" r:id="rId5"/>
    <p:sldId id="340" r:id="rId6"/>
    <p:sldId id="345" r:id="rId7"/>
    <p:sldId id="341" r:id="rId8"/>
    <p:sldId id="338" r:id="rId9"/>
    <p:sldId id="337" r:id="rId10"/>
    <p:sldId id="342" r:id="rId11"/>
    <p:sldId id="343" r:id="rId12"/>
    <p:sldId id="339" r:id="rId13"/>
    <p:sldId id="344" r:id="rId14"/>
    <p:sldId id="346" r:id="rId15"/>
    <p:sldId id="347" r:id="rId16"/>
    <p:sldId id="348" r:id="rId17"/>
    <p:sldId id="349" r:id="rId18"/>
    <p:sldId id="350" r:id="rId19"/>
    <p:sldId id="292" r:id="rId20"/>
    <p:sldId id="29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96"/>
    <p:restoredTop sz="50000" autoAdjust="0"/>
  </p:normalViewPr>
  <p:slideViewPr>
    <p:cSldViewPr>
      <p:cViewPr varScale="1">
        <p:scale>
          <a:sx n="24" d="100"/>
          <a:sy n="24" d="100"/>
        </p:scale>
        <p:origin x="280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29/04/2017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People are sometimes described as rational or acting rationally/irrationally</a:t>
            </a:r>
            <a:r>
              <a:rPr lang="is-IS" dirty="0" smtClean="0"/>
              <a:t>… what does that imply?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2286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Zero</a:t>
            </a:r>
            <a:r>
              <a:rPr lang="en-US" baseline="0" dirty="0" smtClean="0"/>
              <a:t> of anything is bigger than a negative amount!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0061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0.01</a:t>
            </a:r>
            <a:r>
              <a:rPr lang="en-US" baseline="0" dirty="0" smtClean="0"/>
              <a:t>    vs 0.3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8607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29/04/2017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29/04/2017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29/04/2017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29/04/2017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smtClean="0"/>
              <a:t>My Number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</a:t>
            </a:r>
          </a:p>
          <a:p>
            <a:pPr algn="l"/>
            <a:r>
              <a:rPr lang="en-AU" dirty="0" smtClean="0"/>
              <a:t>Term 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210788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3200" b="0" i="1" smtClean="0">
                        <a:solidFill>
                          <a:srgbClr val="00B05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𝜋</m:t>
                    </m:r>
                    <m:r>
                      <a:rPr lang="en-AU" sz="3200" b="0" i="1" smtClean="0">
                        <a:solidFill>
                          <a:srgbClr val="00B05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=3</m:t>
                    </m:r>
                  </m:oMath>
                </a14:m>
                <a:r>
                  <a:rPr lang="en-AU" sz="3200" dirty="0" smtClean="0">
                    <a:solidFill>
                      <a:srgbClr val="00B050"/>
                    </a:solidFill>
                  </a:rPr>
                  <a:t>.14</a:t>
                </a:r>
                <a:r>
                  <a:rPr lang="is-IS" sz="3200" dirty="0" smtClean="0">
                    <a:solidFill>
                      <a:srgbClr val="00B050"/>
                    </a:solidFill>
                  </a:rPr>
                  <a:t>….</a:t>
                </a:r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2107885" cy="584775"/>
              </a:xfrm>
              <a:prstGeom prst="rect">
                <a:avLst/>
              </a:prstGeom>
              <a:blipFill rotWithShape="0">
                <a:blip r:embed="rId2"/>
                <a:stretch>
                  <a:fillRect t="-12500" r="-6667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50526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 charset="0"/>
                        </a:rPr>
                        <m:t>0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505267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54373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543739" cy="114435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364089" y="4423359"/>
                <a:ext cx="252028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600" b="0" dirty="0" smtClean="0">
                    <a:solidFill>
                      <a:srgbClr val="00B0F0"/>
                    </a:solidFill>
                  </a:rPr>
                  <a:t>13 </a:t>
                </a:r>
                <a14:m>
                  <m:oMath xmlns:m="http://schemas.openxmlformats.org/officeDocument/2006/math">
                    <m:r>
                      <a:rPr lang="en-AU" sz="3600" b="0" i="1" smtClean="0">
                        <a:solidFill>
                          <a:srgbClr val="00B0F0"/>
                        </a:solidFill>
                        <a:latin typeface="Cambria Math"/>
                      </a:rPr>
                      <m:t>=</m:t>
                    </m:r>
                    <m:r>
                      <a:rPr lang="en-AU" sz="3600" b="0" i="1" smtClean="0">
                        <a:solidFill>
                          <a:srgbClr val="00B0F0"/>
                        </a:solidFill>
                        <a:latin typeface="Cambria Math" charset="0"/>
                      </a:rPr>
                      <m:t>1</m:t>
                    </m:r>
                    <m:r>
                      <a:rPr lang="en-AU" sz="3600" b="0" i="1" smtClean="0">
                        <a:solidFill>
                          <a:srgbClr val="00B0F0"/>
                        </a:solidFill>
                        <a:latin typeface="Cambria Math"/>
                      </a:rPr>
                      <m:t>2+1</m:t>
                    </m:r>
                  </m:oMath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9" y="4423359"/>
                <a:ext cx="2520280" cy="646331"/>
              </a:xfrm>
              <a:prstGeom prst="rect">
                <a:avLst/>
              </a:prstGeom>
              <a:blipFill rotWithShape="0">
                <a:blip r:embed="rId5"/>
                <a:stretch>
                  <a:fillRect l="-7506" t="-15094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716016" y="2968125"/>
                <a:ext cx="1415362" cy="5476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DF17BF33-0FA1-0148-B11B-89982CBB2833}" type="mathplaceholder">
                        <a:rPr lang="en-US" i="1" smtClean="0">
                          <a:latin typeface="Cambria Math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2968125"/>
                <a:ext cx="1415362" cy="547650"/>
              </a:xfrm>
              <a:prstGeom prst="rect">
                <a:avLst/>
              </a:prstGeom>
              <a:blipFill rotWithShape="0">
                <a:blip r:embed="rId6"/>
                <a:stretch>
                  <a:fillRect l="-6897" t="-72222" r="-6034" b="-9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28427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Rational</a:t>
            </a:r>
            <a:r>
              <a:rPr lang="en-US" sz="2800" dirty="0" smtClean="0"/>
              <a:t> Numbers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64647" y="1190783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we show that a number is </a:t>
            </a:r>
            <a:r>
              <a:rPr lang="en-AU" sz="2400" b="1" dirty="0" smtClean="0">
                <a:solidFill>
                  <a:srgbClr val="7030A0"/>
                </a:solidFill>
              </a:rPr>
              <a:t>ratio</a:t>
            </a:r>
            <a:r>
              <a:rPr lang="en-AU" sz="2400" dirty="0" smtClean="0">
                <a:solidFill>
                  <a:srgbClr val="7030A0"/>
                </a:solidFill>
              </a:rPr>
              <a:t>nal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060848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</a:t>
            </a:r>
            <a:r>
              <a:rPr lang="en-AU" u="sng" dirty="0" smtClean="0"/>
              <a:t>rationa</a:t>
            </a:r>
            <a:r>
              <a:rPr lang="en-AU" dirty="0" smtClean="0"/>
              <a:t>l number?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2987824" y="2060848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rational number is one which can be expressed as a</a:t>
            </a:r>
            <a:r>
              <a:rPr lang="en-AU" b="1" dirty="0" smtClean="0"/>
              <a:t> ratio </a:t>
            </a:r>
            <a:r>
              <a:rPr lang="en-AU" dirty="0" smtClean="0"/>
              <a:t>(or fraction) where the numerator and denominator are integers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2799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Rational Numbers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64647" y="1190783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we show that a number is rational?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060848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rational number?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2987824" y="2060848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rational number is one which can be expressed as a ratio (or fraction) where the numerator and denominator are integers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012145" y="2712142"/>
                <a:ext cx="6035527" cy="7649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rgbClr val="00FF00"/>
                    </a:solidFill>
                  </a:rPr>
                  <a:t>Eg 5 is rational because it can be written as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00FF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AU" dirty="0" smtClean="0"/>
              </a:p>
              <a:p>
                <a:r>
                  <a:rPr lang="en-US" i="1" dirty="0" smtClean="0"/>
                  <a:t>Can you show that -13 is a rational number?</a:t>
                </a:r>
                <a:endParaRPr lang="en-AU" i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145" y="2712142"/>
                <a:ext cx="6035527" cy="764953"/>
              </a:xfrm>
              <a:prstGeom prst="rect">
                <a:avLst/>
              </a:prstGeom>
              <a:blipFill rotWithShape="0">
                <a:blip r:embed="rId2"/>
                <a:stretch>
                  <a:fillRect l="-808" b="-12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698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Game- Which </a:t>
            </a:r>
            <a:r>
              <a:rPr lang="en-US" dirty="0" smtClean="0">
                <a:solidFill>
                  <a:srgbClr val="7030A0"/>
                </a:solidFill>
              </a:rPr>
              <a:t>rational</a:t>
            </a:r>
            <a:r>
              <a:rPr lang="en-US" dirty="0" smtClean="0"/>
              <a:t> number is </a:t>
            </a:r>
            <a:r>
              <a:rPr lang="en-US" b="1" dirty="0" smtClean="0"/>
              <a:t>bigger</a:t>
            </a:r>
            <a:r>
              <a:rPr lang="en-US" dirty="0" smtClean="0"/>
              <a:t>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Hold up your </a:t>
            </a:r>
            <a:r>
              <a:rPr lang="en-US" b="1" dirty="0" smtClean="0"/>
              <a:t>right hand </a:t>
            </a:r>
            <a:r>
              <a:rPr lang="en-US" dirty="0" smtClean="0"/>
              <a:t>if the </a:t>
            </a:r>
            <a:r>
              <a:rPr lang="en-US" b="1" dirty="0" smtClean="0"/>
              <a:t>right integer </a:t>
            </a:r>
            <a:r>
              <a:rPr lang="en-US" dirty="0" smtClean="0"/>
              <a:t>is larger, or your </a:t>
            </a:r>
            <a:r>
              <a:rPr lang="en-US" b="1" dirty="0" smtClean="0"/>
              <a:t>left arm </a:t>
            </a:r>
            <a:r>
              <a:rPr lang="en-US" dirty="0" smtClean="0"/>
              <a:t>if the left is bigger?</a:t>
            </a:r>
          </a:p>
          <a:p>
            <a:r>
              <a:rPr lang="en-US" dirty="0" smtClean="0"/>
              <a:t>Every </a:t>
            </a:r>
            <a:r>
              <a:rPr lang="en-US" b="1" dirty="0" smtClean="0"/>
              <a:t>correct</a:t>
            </a:r>
            <a:r>
              <a:rPr lang="en-US" dirty="0" smtClean="0"/>
              <a:t> answer is </a:t>
            </a:r>
            <a:r>
              <a:rPr lang="en-US" u="sng" dirty="0" smtClean="0"/>
              <a:t>worth a point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first hand up </a:t>
            </a:r>
            <a:r>
              <a:rPr lang="en-US" dirty="0" smtClean="0"/>
              <a:t>with the correct answer gets a </a:t>
            </a:r>
            <a:r>
              <a:rPr lang="en-US" dirty="0" smtClean="0">
                <a:solidFill>
                  <a:srgbClr val="7030A0"/>
                </a:solidFill>
              </a:rPr>
              <a:t>bonus</a:t>
            </a:r>
            <a:r>
              <a:rPr lang="en-US" dirty="0" smtClean="0"/>
              <a:t> point</a:t>
            </a:r>
          </a:p>
          <a:p>
            <a:r>
              <a:rPr lang="en-US" dirty="0" smtClean="0"/>
              <a:t>Make sure you </a:t>
            </a:r>
            <a:r>
              <a:rPr lang="en-US" dirty="0" smtClean="0">
                <a:solidFill>
                  <a:srgbClr val="7030A0"/>
                </a:solidFill>
              </a:rPr>
              <a:t>record your score</a:t>
            </a:r>
            <a:r>
              <a:rPr lang="en-US" dirty="0" smtClean="0"/>
              <a:t>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03606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2799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Rational Numbers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64647" y="1190783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we show that a number is rational?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060848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rational number?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2987824" y="2060848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rational number is one which can be expressed as a ratio (or fraction) where the numerator and denominator are integers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012145" y="2745795"/>
                <a:ext cx="6035527" cy="11560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rgbClr val="00FF00"/>
                    </a:solidFill>
                  </a:rPr>
                  <a:t>5 is rational because it can be written as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00FF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AU" dirty="0" smtClean="0"/>
              </a:p>
              <a:p>
                <a:r>
                  <a:rPr lang="en-US" dirty="0" smtClean="0">
                    <a:solidFill>
                      <a:srgbClr val="00FF00"/>
                    </a:solidFill>
                  </a:rPr>
                  <a:t>-13 is </a:t>
                </a:r>
                <a:r>
                  <a:rPr lang="en-US" dirty="0">
                    <a:solidFill>
                      <a:srgbClr val="00FF00"/>
                    </a:solidFill>
                  </a:rPr>
                  <a:t>rational because it can be written as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00FF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−13</m:t>
                        </m:r>
                      </m:num>
                      <m:den>
                        <m:r>
                          <a:rPr lang="en-US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AU" dirty="0" smtClean="0"/>
              </a:p>
              <a:p>
                <a:r>
                  <a:rPr lang="en-US" i="1" dirty="0" smtClean="0"/>
                  <a:t>Is 0 a rational number?</a:t>
                </a:r>
                <a:endParaRPr lang="en-AU" i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145" y="2745795"/>
                <a:ext cx="6035527" cy="1156086"/>
              </a:xfrm>
              <a:prstGeom prst="rect">
                <a:avLst/>
              </a:prstGeom>
              <a:blipFill rotWithShape="0">
                <a:blip r:embed="rId2"/>
                <a:stretch>
                  <a:fillRect l="-808" b="-736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9151" y="4149950"/>
            <a:ext cx="2750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are rational numbers expressed?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15741" y="4149950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Rational numbers can be written as integers, fractions or decimals.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969673" y="4895218"/>
                <a:ext cx="6035527" cy="1593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00FF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dirty="0" smtClean="0">
                    <a:solidFill>
                      <a:srgbClr val="00FF00"/>
                    </a:solidFill>
                  </a:rPr>
                  <a:t>  is rational</a:t>
                </a:r>
              </a:p>
              <a:p>
                <a:r>
                  <a:rPr lang="en-US" dirty="0" smtClean="0">
                    <a:solidFill>
                      <a:srgbClr val="00FF00"/>
                    </a:solidFill>
                  </a:rPr>
                  <a:t>0.3 is rational</a:t>
                </a:r>
              </a:p>
              <a:p>
                <a:r>
                  <a:rPr lang="en-US" dirty="0" smtClean="0">
                    <a:solidFill>
                      <a:srgbClr val="00FF00"/>
                    </a:solidFill>
                  </a:rPr>
                  <a:t>0.666 (or 0.6) is rational</a:t>
                </a:r>
                <a:endParaRPr lang="en-AU" dirty="0" smtClean="0">
                  <a:solidFill>
                    <a:srgbClr val="00FF00"/>
                  </a:solidFill>
                </a:endParaRPr>
              </a:p>
              <a:p>
                <a:r>
                  <a:rPr lang="en-US" dirty="0" smtClean="0">
                    <a:solidFill>
                      <a:srgbClr val="00FF00"/>
                    </a:solidFill>
                  </a:rPr>
                  <a:t>-1.6792 is rational</a:t>
                </a:r>
                <a:endParaRPr lang="en-AU" dirty="0" smtClean="0">
                  <a:solidFill>
                    <a:srgbClr val="00FF00"/>
                  </a:solidFill>
                </a:endParaRPr>
              </a:p>
              <a:p>
                <a:r>
                  <a:rPr lang="en-US" i="1" dirty="0" smtClean="0"/>
                  <a:t>Can you think of a number that is not rational?</a:t>
                </a:r>
                <a:endParaRPr lang="en-AU" i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673" y="4895218"/>
                <a:ext cx="6035527" cy="1593450"/>
              </a:xfrm>
              <a:prstGeom prst="rect">
                <a:avLst/>
              </a:prstGeom>
              <a:blipFill rotWithShape="0">
                <a:blip r:embed="rId3"/>
                <a:stretch>
                  <a:fillRect l="-808" b="-536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/>
          <p:cNvCxnSpPr/>
          <p:nvPr/>
        </p:nvCxnSpPr>
        <p:spPr>
          <a:xfrm>
            <a:off x="3275856" y="5622951"/>
            <a:ext cx="360040" cy="0"/>
          </a:xfrm>
          <a:prstGeom prst="line">
            <a:avLst/>
          </a:prstGeom>
          <a:ln w="19050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 flipV="1">
            <a:off x="4133543" y="5615528"/>
            <a:ext cx="45719" cy="45719"/>
          </a:xfrm>
          <a:prstGeom prst="ellipse">
            <a:avLst/>
          </a:prstGeom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654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rational number is bigger?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lang="en-US" dirty="0" smtClean="0"/>
          </a:p>
          <a:p>
            <a:pPr marL="0" indent="0" algn="ctr">
              <a:buNone/>
            </a:pPr>
            <a:r>
              <a:rPr lang="en-US" sz="15000" dirty="0" smtClean="0"/>
              <a:t>643    1005</a:t>
            </a:r>
            <a:endParaRPr lang="en-AU" sz="15000" dirty="0"/>
          </a:p>
        </p:txBody>
      </p:sp>
    </p:spTree>
    <p:extLst>
      <p:ext uri="{BB962C8B-B14F-4D97-AF65-F5344CB8AC3E}">
        <p14:creationId xmlns:p14="http://schemas.microsoft.com/office/powerpoint/2010/main" val="3330262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rational number is bigger?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marL="0" indent="0" algn="ctr">
              <a:buNone/>
            </a:pPr>
            <a:r>
              <a:rPr lang="en-US" sz="15000" dirty="0" smtClean="0"/>
              <a:t>10      -15</a:t>
            </a:r>
            <a:endParaRPr lang="en-AU" sz="15000" dirty="0"/>
          </a:p>
        </p:txBody>
      </p:sp>
    </p:spTree>
    <p:extLst>
      <p:ext uri="{BB962C8B-B14F-4D97-AF65-F5344CB8AC3E}">
        <p14:creationId xmlns:p14="http://schemas.microsoft.com/office/powerpoint/2010/main" val="3244346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Which rational number is bigger?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500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15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5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5000" dirty="0" smtClean="0"/>
                  <a:t>  or  1</a:t>
                </a:r>
                <a:endParaRPr lang="en-AU" sz="15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9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9123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Which rational number is bigger?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500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15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15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15000" dirty="0" smtClean="0"/>
                  <a:t>     0.5</a:t>
                </a:r>
                <a:endParaRPr lang="en-AU" sz="15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7804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Which integer is bigger?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pPr marL="0" indent="0" algn="ctr">
              <a:buNone/>
            </a:pPr>
            <a:r>
              <a:rPr lang="en-US" sz="15000" dirty="0" smtClean="0"/>
              <a:t>-99      0</a:t>
            </a:r>
            <a:endParaRPr lang="en-AU" sz="15000" dirty="0"/>
          </a:p>
        </p:txBody>
      </p:sp>
    </p:spTree>
    <p:extLst>
      <p:ext uri="{BB962C8B-B14F-4D97-AF65-F5344CB8AC3E}">
        <p14:creationId xmlns:p14="http://schemas.microsoft.com/office/powerpoint/2010/main" val="2987826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Which rational number is bigger?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500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15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50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US" sz="15000" dirty="0" smtClean="0"/>
                  <a:t>     0.3</a:t>
                </a:r>
                <a:endParaRPr lang="en-AU" sz="15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t="-1078" r="-64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2392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Which rational number is bigger?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500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150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15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15000" dirty="0" smtClean="0"/>
                  <a:t>   0.097</a:t>
                </a:r>
                <a:endParaRPr lang="en-AU" sz="15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213" r="-80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5489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Which rational number is bigger?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500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15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5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15000" dirty="0" smtClean="0"/>
                  <a:t>     -5</a:t>
                </a:r>
                <a:endParaRPr lang="en-AU" sz="15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0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6505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Task- Order these rational numbers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6086"/>
                <a:ext cx="8229600" cy="5037250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AutoNum type="arabicParenR"/>
                </a:pPr>
                <a:r>
                  <a:rPr lang="en-US" sz="2800" dirty="0" smtClean="0">
                    <a:solidFill>
                      <a:srgbClr val="00B050"/>
                    </a:solidFill>
                  </a:rPr>
                  <a:t>5 ,  -5 ,  2 ,  0 ,  -2 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00B05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AU" sz="2800" dirty="0" smtClean="0"/>
              </a:p>
              <a:p>
                <a:pPr marL="0" indent="0">
                  <a:buNone/>
                </a:pPr>
                <a:endParaRPr lang="en-AU" sz="2800" dirty="0" smtClean="0"/>
              </a:p>
              <a:p>
                <a:pPr marL="514350" indent="-514350">
                  <a:buFont typeface="+mj-lt"/>
                  <a:buAutoNum type="arabicParenR" startAt="2"/>
                </a:pPr>
                <a:r>
                  <a:rPr lang="en-US" sz="2800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dirty="0">
                    <a:solidFill>
                      <a:srgbClr val="0070C0"/>
                    </a:solidFill>
                  </a:rPr>
                  <a:t> , </a:t>
                </a:r>
                <a:r>
                  <a:rPr lang="en-AU" sz="2800" dirty="0" smtClean="0">
                    <a:solidFill>
                      <a:srgbClr val="0070C0"/>
                    </a:solidFill>
                  </a:rPr>
                  <a:t> 2 </a:t>
                </a:r>
                <a:r>
                  <a:rPr lang="en-AU" sz="2800" dirty="0">
                    <a:solidFill>
                      <a:srgbClr val="0070C0"/>
                    </a:solidFill>
                  </a:rPr>
                  <a:t>, </a:t>
                </a:r>
                <a:r>
                  <a:rPr lang="en-AU" sz="2800" dirty="0" smtClean="0">
                    <a:solidFill>
                      <a:srgbClr val="0070C0"/>
                    </a:solidFill>
                  </a:rPr>
                  <a:t> 0.2 </a:t>
                </a:r>
                <a:r>
                  <a:rPr lang="en-AU" sz="2800" dirty="0">
                    <a:solidFill>
                      <a:srgbClr val="0070C0"/>
                    </a:solidFill>
                  </a:rPr>
                  <a:t>, </a:t>
                </a:r>
                <a:r>
                  <a:rPr lang="en-AU" sz="2800" dirty="0" smtClean="0">
                    <a:solidFill>
                      <a:srgbClr val="0070C0"/>
                    </a:solidFill>
                  </a:rPr>
                  <a:t> 0 </a:t>
                </a:r>
                <a:r>
                  <a:rPr lang="en-AU" sz="2800" dirty="0">
                    <a:solidFill>
                      <a:srgbClr val="0070C0"/>
                    </a:solidFill>
                  </a:rPr>
                  <a:t>, </a:t>
                </a:r>
                <a:r>
                  <a:rPr lang="en-AU" sz="2800" dirty="0" smtClean="0">
                    <a:solidFill>
                      <a:srgbClr val="0070C0"/>
                    </a:solidFill>
                  </a:rPr>
                  <a:t> -</a:t>
                </a:r>
                <a:r>
                  <a:rPr lang="en-AU" sz="2800" dirty="0">
                    <a:solidFill>
                      <a:srgbClr val="0070C0"/>
                    </a:solidFill>
                  </a:rPr>
                  <a:t>3 , </a:t>
                </a:r>
                <a:r>
                  <a:rPr lang="en-AU" sz="2800" dirty="0" smtClean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sz="2800" dirty="0" smtClean="0"/>
              </a:p>
              <a:p>
                <a:pPr marL="0" indent="0">
                  <a:buNone/>
                </a:pPr>
                <a:endParaRPr lang="en-AU" sz="2800" dirty="0" smtClean="0"/>
              </a:p>
              <a:p>
                <a:pPr marL="514350" indent="-514350">
                  <a:buFont typeface="+mj-lt"/>
                  <a:buAutoNum type="arabicParenR" startAt="3"/>
                </a:pPr>
                <a:r>
                  <a:rPr lang="en-US" sz="2800" dirty="0" smtClean="0">
                    <a:solidFill>
                      <a:srgbClr val="7030A0"/>
                    </a:solidFill>
                  </a:rPr>
                  <a:t>-4 ,  40 ,  0 ,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800" dirty="0" smtClean="0">
                    <a:solidFill>
                      <a:srgbClr val="7030A0"/>
                    </a:solidFill>
                  </a:rPr>
                  <a:t> ,  -0.4 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endParaRPr lang="en-AU" sz="2800" dirty="0" smtClean="0"/>
              </a:p>
              <a:p>
                <a:pPr marL="0" indent="0">
                  <a:buNone/>
                </a:pPr>
                <a:endParaRPr lang="en-AU" sz="2800" dirty="0" smtClean="0"/>
              </a:p>
              <a:p>
                <a:pPr marL="514350" indent="-514350">
                  <a:buFont typeface="+mj-lt"/>
                  <a:buAutoNum type="arabicParenR" startAt="4"/>
                </a:pPr>
                <a:r>
                  <a:rPr lang="en-US" sz="2800" dirty="0" smtClean="0">
                    <a:solidFill>
                      <a:srgbClr val="FF0000"/>
                    </a:solidFill>
                  </a:rPr>
                  <a:t>0.9 ,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US" sz="2800" dirty="0" smtClean="0">
                    <a:solidFill>
                      <a:srgbClr val="FF0000"/>
                    </a:solidFill>
                  </a:rPr>
                  <a:t> ,  0 ,  1.09 ,   1 ,  -0.9</a:t>
                </a:r>
              </a:p>
              <a:p>
                <a:pPr marL="514350" indent="-514350">
                  <a:buAutoNum type="arabicParenR" startAt="4"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6086"/>
                <a:ext cx="8229600" cy="5037250"/>
              </a:xfrm>
              <a:blipFill rotWithShape="0">
                <a:blip r:embed="rId2"/>
                <a:stretch>
                  <a:fillRect l="-1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4339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B0F0"/>
                </a:solidFill>
              </a:rPr>
              <a:t>ANSWERS</a:t>
            </a:r>
            <a:r>
              <a:rPr lang="en-US" dirty="0" smtClean="0"/>
              <a:t>- Order these rational numbers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6086"/>
                <a:ext cx="8229600" cy="5037250"/>
              </a:xfrm>
            </p:spPr>
            <p:txBody>
              <a:bodyPr>
                <a:normAutofit fontScale="92500" lnSpcReduction="10000"/>
              </a:bodyPr>
              <a:lstStyle/>
              <a:p>
                <a:pPr marL="514350" indent="-514350">
                  <a:buAutoNum type="arabicParenR"/>
                </a:pPr>
                <a:r>
                  <a:rPr lang="en-US" sz="2800" dirty="0" smtClean="0"/>
                  <a:t>5 ,  -5 ,  2 ,  0 ,  -2 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AU" sz="2800" dirty="0" smtClean="0"/>
              </a:p>
              <a:p>
                <a:pPr marL="0" indent="0">
                  <a:buNone/>
                </a:pPr>
                <a:r>
                  <a:rPr lang="en-US" sz="2800" dirty="0" smtClean="0"/>
                  <a:t>	</a:t>
                </a:r>
                <a:r>
                  <a:rPr lang="en-US" sz="2800" i="1" dirty="0" smtClean="0">
                    <a:solidFill>
                      <a:srgbClr val="00FF00"/>
                    </a:solidFill>
                  </a:rPr>
                  <a:t>-</a:t>
                </a:r>
                <a:r>
                  <a:rPr lang="en-US" sz="2800" i="1" dirty="0">
                    <a:solidFill>
                      <a:srgbClr val="00FF00"/>
                    </a:solidFill>
                  </a:rPr>
                  <a:t>5 ,  </a:t>
                </a:r>
                <a:r>
                  <a:rPr lang="en-US" sz="2800" i="1" dirty="0" smtClean="0">
                    <a:solidFill>
                      <a:srgbClr val="00FF00"/>
                    </a:solidFill>
                  </a:rPr>
                  <a:t>-2 </a:t>
                </a:r>
                <a:r>
                  <a:rPr lang="en-US" sz="2800" i="1" dirty="0">
                    <a:solidFill>
                      <a:srgbClr val="00FF00"/>
                    </a:solidFill>
                  </a:rPr>
                  <a:t>,  0 </a:t>
                </a:r>
                <a:r>
                  <a:rPr lang="en-US" sz="2800" i="1" dirty="0" smtClean="0">
                    <a:solidFill>
                      <a:srgbClr val="00FF00"/>
                    </a:solidFill>
                  </a:rPr>
                  <a:t>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00FF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800" i="1" dirty="0">
                    <a:solidFill>
                      <a:srgbClr val="00FF00"/>
                    </a:solidFill>
                  </a:rPr>
                  <a:t> </a:t>
                </a:r>
                <a:r>
                  <a:rPr lang="en-US" sz="2800" i="1" dirty="0" smtClean="0">
                    <a:solidFill>
                      <a:srgbClr val="00FF00"/>
                    </a:solidFill>
                  </a:rPr>
                  <a:t>,  2 , </a:t>
                </a:r>
                <a:r>
                  <a:rPr lang="en-US" sz="2800" i="1" dirty="0">
                    <a:solidFill>
                      <a:srgbClr val="00FF00"/>
                    </a:solidFill>
                  </a:rPr>
                  <a:t>5 </a:t>
                </a:r>
                <a:r>
                  <a:rPr lang="en-US" sz="2800" i="1" dirty="0" smtClean="0">
                    <a:solidFill>
                      <a:srgbClr val="00FF00"/>
                    </a:solidFill>
                  </a:rPr>
                  <a:t> </a:t>
                </a:r>
                <a:endParaRPr lang="en-AU" sz="2800" i="1" dirty="0" smtClean="0"/>
              </a:p>
              <a:p>
                <a:pPr marL="514350" indent="-514350">
                  <a:buFont typeface="+mj-lt"/>
                  <a:buAutoNum type="arabicParenR" startAt="2"/>
                </a:pPr>
                <a:r>
                  <a:rPr lang="en-US" sz="2800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dirty="0"/>
                  <a:t> , </a:t>
                </a:r>
                <a:r>
                  <a:rPr lang="en-AU" sz="2800" dirty="0" smtClean="0"/>
                  <a:t> 2 </a:t>
                </a:r>
                <a:r>
                  <a:rPr lang="en-AU" sz="2800" dirty="0"/>
                  <a:t>, </a:t>
                </a:r>
                <a:r>
                  <a:rPr lang="en-AU" sz="2800" dirty="0" smtClean="0"/>
                  <a:t> 0.2 </a:t>
                </a:r>
                <a:r>
                  <a:rPr lang="en-AU" sz="2800" dirty="0"/>
                  <a:t>, </a:t>
                </a:r>
                <a:r>
                  <a:rPr lang="en-AU" sz="2800" dirty="0" smtClean="0"/>
                  <a:t> 0 </a:t>
                </a:r>
                <a:r>
                  <a:rPr lang="en-AU" sz="2800" dirty="0"/>
                  <a:t>, </a:t>
                </a:r>
                <a:r>
                  <a:rPr lang="en-AU" sz="2800" dirty="0" smtClean="0"/>
                  <a:t> -</a:t>
                </a:r>
                <a:r>
                  <a:rPr lang="en-AU" sz="2800" dirty="0"/>
                  <a:t>3 , </a:t>
                </a:r>
                <a:r>
                  <a:rPr lang="en-AU" sz="2800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sz="2800" dirty="0" smtClean="0"/>
              </a:p>
              <a:p>
                <a:pPr marL="0" indent="0">
                  <a:buNone/>
                </a:pPr>
                <a:r>
                  <a:rPr lang="en-US" sz="2800" dirty="0" smtClean="0"/>
                  <a:t>	</a:t>
                </a:r>
                <a:r>
                  <a:rPr lang="en-AU" sz="2800" i="1" dirty="0" smtClean="0">
                    <a:solidFill>
                      <a:srgbClr val="00FF00"/>
                    </a:solidFill>
                  </a:rPr>
                  <a:t>-3 , 0 , </a:t>
                </a:r>
                <a:r>
                  <a:rPr lang="en-AU" sz="2800" i="1" dirty="0">
                    <a:solidFill>
                      <a:srgbClr val="00FF00"/>
                    </a:solidFill>
                  </a:rPr>
                  <a:t>0.2 ,</a:t>
                </a:r>
                <a:r>
                  <a:rPr lang="en-AU" sz="2800" i="1" dirty="0" smtClean="0">
                    <a:solidFill>
                      <a:srgbClr val="00FF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00FF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800" b="0" i="1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 ,  </m:t>
                    </m:r>
                    <m:f>
                      <m:fPr>
                        <m:ctrlPr>
                          <a:rPr lang="en-US" sz="2800" i="1">
                            <a:solidFill>
                              <a:srgbClr val="00FF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i="1" dirty="0">
                    <a:solidFill>
                      <a:srgbClr val="00FF00"/>
                    </a:solidFill>
                  </a:rPr>
                  <a:t> ,  2 </a:t>
                </a:r>
                <a:r>
                  <a:rPr lang="en-AU" sz="2800" i="1" dirty="0" smtClean="0">
                    <a:solidFill>
                      <a:srgbClr val="00FF00"/>
                    </a:solidFill>
                  </a:rPr>
                  <a:t>  </a:t>
                </a:r>
                <a:endParaRPr lang="en-AU" sz="2800" i="1" dirty="0" smtClean="0"/>
              </a:p>
              <a:p>
                <a:pPr marL="514350" indent="-514350">
                  <a:buFont typeface="+mj-lt"/>
                  <a:buAutoNum type="arabicParenR" startAt="3"/>
                </a:pPr>
                <a:r>
                  <a:rPr lang="en-US" sz="2800" dirty="0" smtClean="0"/>
                  <a:t>-4 ,  40 ,  0 ,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800" dirty="0" smtClean="0"/>
                  <a:t> ,  -0.4 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endParaRPr lang="en-AU" sz="2800" dirty="0" smtClean="0"/>
              </a:p>
              <a:p>
                <a:pPr marL="0" indent="0">
                  <a:buNone/>
                </a:pPr>
                <a:r>
                  <a:rPr lang="en-US" sz="2800" dirty="0" smtClean="0"/>
                  <a:t>	</a:t>
                </a:r>
                <a:r>
                  <a:rPr lang="en-US" sz="2800" i="1" dirty="0" smtClean="0">
                    <a:solidFill>
                      <a:srgbClr val="00FF00"/>
                    </a:solidFill>
                  </a:rPr>
                  <a:t>-</a:t>
                </a:r>
                <a:r>
                  <a:rPr lang="en-US" sz="2800" i="1" dirty="0">
                    <a:solidFill>
                      <a:srgbClr val="00FF00"/>
                    </a:solidFill>
                  </a:rPr>
                  <a:t>4 </a:t>
                </a:r>
                <a:r>
                  <a:rPr lang="en-US" sz="2800" i="1" dirty="0" smtClean="0">
                    <a:solidFill>
                      <a:srgbClr val="00FF00"/>
                    </a:solidFill>
                  </a:rPr>
                  <a:t>,</a:t>
                </a:r>
                <a:r>
                  <a:rPr lang="en-AU" sz="2800" i="1" dirty="0" smtClean="0">
                    <a:solidFill>
                      <a:srgbClr val="00FF00"/>
                    </a:solidFill>
                  </a:rPr>
                  <a:t>  </a:t>
                </a:r>
                <a:r>
                  <a:rPr lang="en-AU" sz="2800" i="1" dirty="0">
                    <a:solidFill>
                      <a:srgbClr val="00FF00"/>
                    </a:solidFill>
                  </a:rPr>
                  <a:t>-0.4 , </a:t>
                </a:r>
                <a:r>
                  <a:rPr lang="en-US" sz="2800" i="1" dirty="0" smtClean="0">
                    <a:solidFill>
                      <a:srgbClr val="00FF00"/>
                    </a:solidFill>
                  </a:rPr>
                  <a:t>  0 ,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00FF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r>
                  <a:rPr lang="en-US" sz="2800" i="1" dirty="0" smtClean="0">
                    <a:solidFill>
                      <a:srgbClr val="00FF00"/>
                    </a:solidFill>
                  </a:rPr>
                  <a:t> </a:t>
                </a:r>
                <a:r>
                  <a:rPr lang="en-US" sz="2800" i="1" dirty="0">
                    <a:solidFill>
                      <a:srgbClr val="00FF00"/>
                    </a:solidFill>
                  </a:rPr>
                  <a:t>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00FF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800" i="1" dirty="0" smtClean="0">
                    <a:solidFill>
                      <a:srgbClr val="00FF00"/>
                    </a:solidFill>
                  </a:rPr>
                  <a:t> , 40 </a:t>
                </a:r>
              </a:p>
              <a:p>
                <a:pPr marL="0" indent="0">
                  <a:buNone/>
                </a:pPr>
                <a:r>
                  <a:rPr lang="en-US" sz="2800" dirty="0" smtClean="0"/>
                  <a:t>4) 0.9 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99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US" sz="2800" dirty="0" smtClean="0"/>
                  <a:t> ,  0 ,  1.09 ,   1 ,  -0.9</a:t>
                </a:r>
              </a:p>
              <a:p>
                <a:pPr marL="0" indent="0">
                  <a:buNone/>
                </a:pPr>
                <a:r>
                  <a:rPr lang="en-US" sz="2800" dirty="0" smtClean="0"/>
                  <a:t>	</a:t>
                </a:r>
                <a:r>
                  <a:rPr lang="en-US" sz="2800" i="1" dirty="0" smtClean="0">
                    <a:solidFill>
                      <a:srgbClr val="00FF00"/>
                    </a:solidFill>
                  </a:rPr>
                  <a:t>-0.9 , </a:t>
                </a:r>
                <a:r>
                  <a:rPr lang="en-US" sz="2800" i="1" dirty="0">
                    <a:solidFill>
                      <a:srgbClr val="00FF00"/>
                    </a:solidFill>
                  </a:rPr>
                  <a:t>0 , </a:t>
                </a:r>
                <a:r>
                  <a:rPr lang="en-US" sz="2800" i="1" dirty="0" smtClean="0">
                    <a:solidFill>
                      <a:srgbClr val="00FF00"/>
                    </a:solidFill>
                  </a:rPr>
                  <a:t>0.9 </a:t>
                </a:r>
                <a:r>
                  <a:rPr lang="en-US" sz="2800" i="1" dirty="0">
                    <a:solidFill>
                      <a:srgbClr val="00FF00"/>
                    </a:solidFill>
                  </a:rPr>
                  <a:t>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00FF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US" sz="2800" i="1" dirty="0">
                    <a:solidFill>
                      <a:srgbClr val="00FF00"/>
                    </a:solidFill>
                  </a:rPr>
                  <a:t> </a:t>
                </a:r>
                <a:r>
                  <a:rPr lang="en-US" sz="2800" i="1" dirty="0" smtClean="0">
                    <a:solidFill>
                      <a:srgbClr val="00FF00"/>
                    </a:solidFill>
                  </a:rPr>
                  <a:t>,</a:t>
                </a:r>
                <a:r>
                  <a:rPr lang="en-US" sz="2800" i="1" dirty="0">
                    <a:solidFill>
                      <a:srgbClr val="00FF00"/>
                    </a:solidFill>
                  </a:rPr>
                  <a:t> </a:t>
                </a:r>
                <a:r>
                  <a:rPr lang="en-US" sz="2800" i="1" dirty="0" smtClean="0">
                    <a:solidFill>
                      <a:srgbClr val="00FF00"/>
                    </a:solidFill>
                  </a:rPr>
                  <a:t>  </a:t>
                </a:r>
                <a:r>
                  <a:rPr lang="en-US" sz="2800" i="1" dirty="0">
                    <a:solidFill>
                      <a:srgbClr val="00FF00"/>
                    </a:solidFill>
                  </a:rPr>
                  <a:t>1 ,</a:t>
                </a:r>
                <a:r>
                  <a:rPr lang="en-US" sz="2800" i="1" dirty="0" smtClean="0">
                    <a:solidFill>
                      <a:srgbClr val="00FF00"/>
                    </a:solidFill>
                  </a:rPr>
                  <a:t> 1.09</a:t>
                </a:r>
              </a:p>
              <a:p>
                <a:pPr marL="514350" indent="-514350">
                  <a:buAutoNum type="arabicParenR" startAt="4"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6086"/>
                <a:ext cx="8229600" cy="5037250"/>
              </a:xfrm>
              <a:blipFill rotWithShape="0">
                <a:blip r:embed="rId2"/>
                <a:stretch>
                  <a:fillRect l="-1333" t="-2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8025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Irrational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 when is a number </a:t>
            </a:r>
            <a:r>
              <a:rPr lang="en-US" b="1" dirty="0" smtClean="0"/>
              <a:t>irrational</a:t>
            </a:r>
            <a:r>
              <a:rPr lang="en-US" dirty="0" smtClean="0"/>
              <a:t>?</a:t>
            </a:r>
          </a:p>
          <a:p>
            <a:endParaRPr lang="en-US" dirty="0"/>
          </a:p>
          <a:p>
            <a:r>
              <a:rPr lang="en-US" dirty="0" smtClean="0"/>
              <a:t>When it is emotional? Or A non-terminating or non-recurring decimal that cannot be written as a proper fraction. </a:t>
            </a:r>
          </a:p>
          <a:p>
            <a:r>
              <a:rPr lang="en-US" dirty="0" smtClean="0"/>
              <a:t>Can you think of one?</a:t>
            </a:r>
          </a:p>
          <a:p>
            <a:r>
              <a:rPr lang="en-US" dirty="0" smtClean="0"/>
              <a:t>Try Pi</a:t>
            </a:r>
            <a:r>
              <a:rPr lang="is-IS" dirty="0" smtClean="0"/>
              <a:t>…(</a:t>
            </a:r>
            <a:r>
              <a:rPr lang="is-IS" dirty="0" smtClean="0">
                <a:solidFill>
                  <a:srgbClr val="C00000"/>
                </a:solidFill>
              </a:rPr>
              <a:t>Pi &amp; sauce poster</a:t>
            </a:r>
            <a:r>
              <a:rPr lang="is-IS" dirty="0" smtClean="0"/>
              <a:t>) or square root of 2?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3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</a:t>
            </a:r>
            <a:r>
              <a:rPr lang="en-AU" b="1" dirty="0" smtClean="0"/>
              <a:t>summary </a:t>
            </a:r>
            <a:r>
              <a:rPr lang="en-AU" dirty="0" smtClean="0"/>
              <a:t>answering the </a:t>
            </a:r>
            <a:r>
              <a:rPr lang="en-AU" b="1" dirty="0" smtClean="0"/>
              <a:t>e</a:t>
            </a:r>
            <a:r>
              <a:rPr lang="en-AU" dirty="0" smtClean="0"/>
              <a:t>ssential </a:t>
            </a:r>
            <a:r>
              <a:rPr lang="en-AU" b="1" dirty="0" smtClean="0"/>
              <a:t>q</a:t>
            </a:r>
            <a:r>
              <a:rPr lang="en-AU" dirty="0" smtClean="0"/>
              <a:t>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487</Words>
  <Application>Microsoft Macintosh PowerPoint</Application>
  <PresentationFormat>On-screen Show (4:3)</PresentationFormat>
  <Paragraphs>130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Calibri</vt:lpstr>
      <vt:lpstr>Cambria Math</vt:lpstr>
      <vt:lpstr>Arial</vt:lpstr>
      <vt:lpstr>Office Theme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Game- Which rational number is bigger?</vt:lpstr>
      <vt:lpstr>PowerPoint Presentation</vt:lpstr>
      <vt:lpstr>Which rational number is bigger?</vt:lpstr>
      <vt:lpstr>Which rational number is bigger?</vt:lpstr>
      <vt:lpstr>Which rational number is bigger?</vt:lpstr>
      <vt:lpstr>Which rational number is bigger?</vt:lpstr>
      <vt:lpstr>Which integer is bigger?</vt:lpstr>
      <vt:lpstr>Which rational number is bigger?</vt:lpstr>
      <vt:lpstr>Which rational number is bigger?</vt:lpstr>
      <vt:lpstr>Which rational number is bigger?</vt:lpstr>
      <vt:lpstr>Task- Order these rational numbers</vt:lpstr>
      <vt:lpstr>ANSWERS- Order these rational numbers</vt:lpstr>
      <vt:lpstr>Irrational Numbers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PATERSON Anne</cp:lastModifiedBy>
  <cp:revision>62</cp:revision>
  <dcterms:created xsi:type="dcterms:W3CDTF">2014-05-14T02:58:57Z</dcterms:created>
  <dcterms:modified xsi:type="dcterms:W3CDTF">2017-04-29T00:44:12Z</dcterms:modified>
</cp:coreProperties>
</file>
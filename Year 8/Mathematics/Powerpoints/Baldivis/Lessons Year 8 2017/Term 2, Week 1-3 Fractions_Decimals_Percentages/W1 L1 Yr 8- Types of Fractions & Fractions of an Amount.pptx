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36" r:id="rId5"/>
    <p:sldId id="345" r:id="rId6"/>
    <p:sldId id="309" r:id="rId7"/>
    <p:sldId id="332" r:id="rId8"/>
    <p:sldId id="331" r:id="rId9"/>
    <p:sldId id="341" r:id="rId10"/>
    <p:sldId id="342" r:id="rId11"/>
    <p:sldId id="340" r:id="rId12"/>
    <p:sldId id="338" r:id="rId13"/>
    <p:sldId id="339" r:id="rId14"/>
    <p:sldId id="343" r:id="rId15"/>
    <p:sldId id="344" r:id="rId16"/>
    <p:sldId id="346" r:id="rId17"/>
    <p:sldId id="29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81867" autoAdjust="0"/>
  </p:normalViewPr>
  <p:slideViewPr>
    <p:cSldViewPr>
      <p:cViewPr varScale="1">
        <p:scale>
          <a:sx n="61" d="100"/>
          <a:sy n="61" d="100"/>
        </p:scale>
        <p:origin x="165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98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735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5211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Input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8605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Input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650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Input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781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Modelling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2034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44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Guided</a:t>
            </a:r>
            <a:r>
              <a:rPr lang="en-US" baseline="0" dirty="0" smtClean="0"/>
              <a:t>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406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Independent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629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Extra Input &amp; Modelling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528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Extra 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849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21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Activity- Think/Pair/Share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down as many real world situations where people use the concept of </a:t>
            </a:r>
            <a:r>
              <a:rPr lang="en-US" dirty="0" smtClean="0"/>
              <a:t>fractions in </a:t>
            </a:r>
            <a:r>
              <a:rPr lang="en-US" dirty="0"/>
              <a:t>one minute (or maybe half a minute…)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920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Activity- Think/Pair/Share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down as many real world situations where people use the concept of </a:t>
            </a:r>
            <a:r>
              <a:rPr lang="en-US" dirty="0" smtClean="0"/>
              <a:t>fractions in one minute (or maybe half a minute…)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3862753" y="4838933"/>
            <a:ext cx="28696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Shopping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 rot="986341">
            <a:off x="1897573" y="4269572"/>
            <a:ext cx="17427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Sport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 rot="20789455">
            <a:off x="4248397" y="3848890"/>
            <a:ext cx="24978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Cooking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3941" y="5564422"/>
            <a:ext cx="38475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Assessments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20105" y="3124348"/>
            <a:ext cx="26436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Distance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 rot="20089701">
            <a:off x="6614566" y="5293166"/>
            <a:ext cx="18982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Music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 rot="2094675">
            <a:off x="6300376" y="3580179"/>
            <a:ext cx="25266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Building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 rot="20234457">
            <a:off x="732486" y="3496696"/>
            <a:ext cx="16081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Time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814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6321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Types of Fractions &amp; Fractions of Amounts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1033281"/>
            <a:ext cx="7881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convert </a:t>
            </a:r>
            <a:r>
              <a:rPr lang="en-AU" sz="2400" dirty="0" smtClean="0"/>
              <a:t>between different types of fractions and how do we find fractions of an amount?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6321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Types of Fractions &amp; Fractions of Amounts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025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convert between different types of fractions and how do we find fractions of an amount?</a:t>
            </a:r>
          </a:p>
          <a:p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725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6321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Types of Fractions &amp; Fractions of Amounts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7926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convert between different types of fractions and how do we find fractions of an amount?</a:t>
            </a:r>
          </a:p>
          <a:p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i="1" dirty="0" smtClean="0"/>
              <a:t>A slice </a:t>
            </a:r>
            <a:r>
              <a:rPr lang="en-AU" i="1" dirty="0" smtClean="0"/>
              <a:t>of pizza is a fraction of the whole pizza</a:t>
            </a:r>
            <a:endParaRPr lang="en-AU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7257684" y="1990924"/>
                <a:ext cx="915119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684" y="1990924"/>
                <a:ext cx="915119" cy="7861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7509813" y="1986757"/>
            <a:ext cx="410860" cy="3854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7509813" y="2470673"/>
            <a:ext cx="410860" cy="34138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7993440" y="2167732"/>
            <a:ext cx="533994" cy="68321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959667" y="2188142"/>
            <a:ext cx="1215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Numerator</a:t>
            </a:r>
            <a:endParaRPr lang="en-AU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8002090" y="2660405"/>
            <a:ext cx="458346" cy="8108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812110" y="2704055"/>
            <a:ext cx="1430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Denominator</a:t>
            </a:r>
          </a:p>
        </p:txBody>
      </p:sp>
    </p:spTree>
    <p:extLst>
      <p:ext uri="{BB962C8B-B14F-4D97-AF65-F5344CB8AC3E}">
        <p14:creationId xmlns:p14="http://schemas.microsoft.com/office/powerpoint/2010/main" val="89510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6321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Types of Fractions &amp; Fractions of Amounts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7765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convert between different types of fractions and how do we find fractions of an amount?</a:t>
            </a:r>
          </a:p>
          <a:p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60848"/>
            <a:ext cx="275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fraction?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2987824" y="2060848"/>
            <a:ext cx="603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fraction is part of a whole amount. </a:t>
            </a:r>
          </a:p>
          <a:p>
            <a:r>
              <a:rPr lang="en-AU" i="1" dirty="0" smtClean="0"/>
              <a:t>A slice </a:t>
            </a:r>
            <a:r>
              <a:rPr lang="en-AU" i="1" dirty="0" smtClean="0"/>
              <a:t>of pizza is a fraction of the whole pizza</a:t>
            </a:r>
            <a:endParaRPr lang="en-AU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7257684" y="1990924"/>
                <a:ext cx="915119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684" y="1990924"/>
                <a:ext cx="915119" cy="7861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7509813" y="1986757"/>
            <a:ext cx="410860" cy="3854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7509813" y="2470673"/>
            <a:ext cx="410860" cy="34138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7993440" y="2167732"/>
            <a:ext cx="533994" cy="68321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959667" y="2188142"/>
            <a:ext cx="1215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Numerator</a:t>
            </a:r>
            <a:endParaRPr lang="en-AU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8002090" y="2660405"/>
            <a:ext cx="458346" cy="8108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812110" y="2704055"/>
            <a:ext cx="1430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Denominator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86" y="3067213"/>
            <a:ext cx="2857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What </a:t>
            </a:r>
            <a:r>
              <a:rPr lang="en-AU" dirty="0" smtClean="0"/>
              <a:t>are the different types of fraction?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2868923" y="3105445"/>
                <a:ext cx="6642485" cy="2103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>
                    <a:solidFill>
                      <a:srgbClr val="0070C0"/>
                    </a:solidFill>
                  </a:rPr>
                  <a:t>Proper</a:t>
                </a:r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  <a:r>
                  <a:rPr lang="en-AU" dirty="0">
                    <a:solidFill>
                      <a:srgbClr val="0070C0"/>
                    </a:solidFill>
                  </a:rPr>
                  <a:t>fractions</a:t>
                </a:r>
                <a:r>
                  <a:rPr lang="en-AU" dirty="0">
                    <a:solidFill>
                      <a:prstClr val="black"/>
                    </a:solidFill>
                  </a:rPr>
                  <a:t> have a numerator smaller than the denominator.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dirty="0">
                    <a:solidFill>
                      <a:prstClr val="black"/>
                    </a:solidFill>
                  </a:rPr>
                  <a:t>		 </a:t>
                </a:r>
                <a:r>
                  <a:rPr lang="en-AU" dirty="0" err="1">
                    <a:solidFill>
                      <a:prstClr val="black"/>
                    </a:solidFill>
                  </a:rPr>
                  <a:t>Eg</a:t>
                </a:r>
                <a:r>
                  <a:rPr lang="en-AU" dirty="0">
                    <a:solidFill>
                      <a:prstClr val="black"/>
                    </a:solidFill>
                  </a:rPr>
                  <a:t>:</a:t>
                </a:r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  <a:r>
                  <a:rPr lang="en-AU" dirty="0">
                    <a:solidFill>
                      <a:prstClr val="black"/>
                    </a:solidFill>
                  </a:rPr>
                  <a:t>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srgbClr val="7030A0"/>
                    </a:solidFill>
                  </a:rPr>
                  <a:t>Improper</a:t>
                </a:r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  <a:r>
                  <a:rPr lang="en-AU" dirty="0">
                    <a:solidFill>
                      <a:srgbClr val="7030A0"/>
                    </a:solidFill>
                  </a:rPr>
                  <a:t>fractions</a:t>
                </a:r>
                <a:r>
                  <a:rPr lang="en-AU" dirty="0">
                    <a:solidFill>
                      <a:prstClr val="black"/>
                    </a:solidFill>
                  </a:rPr>
                  <a:t> have a numerator larger than the denominator. 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dirty="0">
                    <a:solidFill>
                      <a:prstClr val="black"/>
                    </a:solidFill>
                  </a:rPr>
                  <a:t>		</a:t>
                </a:r>
                <a:r>
                  <a:rPr lang="en-AU" dirty="0" err="1">
                    <a:solidFill>
                      <a:prstClr val="black"/>
                    </a:solidFill>
                  </a:rPr>
                  <a:t>Eg</a:t>
                </a:r>
                <a:r>
                  <a:rPr lang="en-AU" dirty="0">
                    <a:solidFill>
                      <a:prstClr val="black"/>
                    </a:solidFill>
                  </a:rPr>
                  <a:t>:</a:t>
                </a:r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Mixed numerals </a:t>
                </a:r>
                <a:r>
                  <a:rPr lang="en-AU" dirty="0"/>
                  <a:t>have</a:t>
                </a:r>
                <a:r>
                  <a:rPr lang="en-AU" dirty="0">
                    <a:solidFill>
                      <a:srgbClr val="C00000"/>
                    </a:solidFill>
                  </a:rPr>
                  <a:t> </a:t>
                </a:r>
                <a:r>
                  <a:rPr lang="en-AU" dirty="0">
                    <a:solidFill>
                      <a:prstClr val="black"/>
                    </a:solidFill>
                  </a:rPr>
                  <a:t>a whole part and a fraction part.      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dirty="0">
                    <a:solidFill>
                      <a:prstClr val="black"/>
                    </a:solidFill>
                  </a:rPr>
                  <a:t>		</a:t>
                </a:r>
                <a:r>
                  <a:rPr lang="en-AU" dirty="0" err="1">
                    <a:solidFill>
                      <a:prstClr val="black"/>
                    </a:solidFill>
                  </a:rPr>
                  <a:t>Eg</a:t>
                </a:r>
                <a:r>
                  <a:rPr lang="en-AU" dirty="0">
                    <a:solidFill>
                      <a:prstClr val="black"/>
                    </a:solidFill>
                  </a:rPr>
                  <a:t>:	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, </a:t>
                </a:r>
                <a:r>
                  <a:rPr lang="en-AU" dirty="0">
                    <a:solidFill>
                      <a:prstClr val="black"/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923" y="3105445"/>
                <a:ext cx="6642485" cy="2103653"/>
              </a:xfrm>
              <a:prstGeom prst="rect">
                <a:avLst/>
              </a:prstGeom>
              <a:blipFill rotWithShape="0">
                <a:blip r:embed="rId4"/>
                <a:stretch>
                  <a:fillRect l="-826" t="-1445" b="-8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86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6321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Types of Fractions &amp; Fractions of Amounts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7881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convert between different types of fractions and how do we find fractions of an amount?</a:t>
            </a:r>
          </a:p>
          <a:p>
            <a:endParaRPr lang="en-AU" sz="2400" dirty="0"/>
          </a:p>
        </p:txBody>
      </p:sp>
      <p:sp>
        <p:nvSpPr>
          <p:cNvPr id="16" name="Rectangle 15"/>
          <p:cNvSpPr/>
          <p:nvPr/>
        </p:nvSpPr>
        <p:spPr>
          <a:xfrm>
            <a:off x="20575" y="2015007"/>
            <a:ext cx="2857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What </a:t>
            </a:r>
            <a:r>
              <a:rPr lang="en-AU" dirty="0" smtClean="0"/>
              <a:t>are the different types of fraction?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2877179" y="2008201"/>
                <a:ext cx="6642485" cy="2103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</a:rPr>
                  <a:t>Proper fractions </a:t>
                </a:r>
                <a:r>
                  <a:rPr lang="en-AU" dirty="0">
                    <a:solidFill>
                      <a:prstClr val="black"/>
                    </a:solidFill>
                  </a:rPr>
                  <a:t>have a numerator smaller than the denominator.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dirty="0">
                    <a:solidFill>
                      <a:prstClr val="black"/>
                    </a:solidFill>
                  </a:rPr>
                  <a:t>		 </a:t>
                </a:r>
                <a:r>
                  <a:rPr lang="en-AU" dirty="0" err="1">
                    <a:solidFill>
                      <a:prstClr val="black"/>
                    </a:solidFill>
                  </a:rPr>
                  <a:t>Eg</a:t>
                </a:r>
                <a:r>
                  <a:rPr lang="en-AU" dirty="0">
                    <a:solidFill>
                      <a:prstClr val="black"/>
                    </a:solidFill>
                  </a:rPr>
                  <a:t>:</a:t>
                </a:r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  <a:r>
                  <a:rPr lang="en-AU" dirty="0">
                    <a:solidFill>
                      <a:prstClr val="black"/>
                    </a:solidFill>
                  </a:rPr>
                  <a:t>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srgbClr val="00B0F0"/>
                    </a:solidFill>
                  </a:rPr>
                  <a:t>Improper fractions </a:t>
                </a:r>
                <a:r>
                  <a:rPr lang="en-AU" dirty="0">
                    <a:solidFill>
                      <a:prstClr val="black"/>
                    </a:solidFill>
                  </a:rPr>
                  <a:t>have a numerator larger than the denominator. 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dirty="0">
                    <a:solidFill>
                      <a:prstClr val="black"/>
                    </a:solidFill>
                  </a:rPr>
                  <a:t>		</a:t>
                </a:r>
                <a:r>
                  <a:rPr lang="en-AU" dirty="0" err="1">
                    <a:solidFill>
                      <a:prstClr val="black"/>
                    </a:solidFill>
                  </a:rPr>
                  <a:t>Eg</a:t>
                </a:r>
                <a:r>
                  <a:rPr lang="en-AU" dirty="0">
                    <a:solidFill>
                      <a:prstClr val="black"/>
                    </a:solidFill>
                  </a:rPr>
                  <a:t>:</a:t>
                </a:r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srgbClr val="7030A0"/>
                    </a:solidFill>
                  </a:rPr>
                  <a:t>Mixed numerals </a:t>
                </a:r>
                <a:r>
                  <a:rPr lang="en-AU" dirty="0"/>
                  <a:t>have</a:t>
                </a:r>
                <a:r>
                  <a:rPr lang="en-AU" dirty="0">
                    <a:solidFill>
                      <a:srgbClr val="C00000"/>
                    </a:solidFill>
                  </a:rPr>
                  <a:t> </a:t>
                </a:r>
                <a:r>
                  <a:rPr lang="en-AU" dirty="0">
                    <a:solidFill>
                      <a:prstClr val="black"/>
                    </a:solidFill>
                  </a:rPr>
                  <a:t>a whole part and a fraction part.      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dirty="0">
                    <a:solidFill>
                      <a:prstClr val="black"/>
                    </a:solidFill>
                  </a:rPr>
                  <a:t>		</a:t>
                </a:r>
                <a:r>
                  <a:rPr lang="en-AU" dirty="0" err="1">
                    <a:solidFill>
                      <a:prstClr val="black"/>
                    </a:solidFill>
                  </a:rPr>
                  <a:t>Eg</a:t>
                </a:r>
                <a:r>
                  <a:rPr lang="en-AU" dirty="0">
                    <a:solidFill>
                      <a:prstClr val="black"/>
                    </a:solidFill>
                  </a:rPr>
                  <a:t>:	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, </a:t>
                </a:r>
                <a:r>
                  <a:rPr lang="en-AU" dirty="0">
                    <a:solidFill>
                      <a:prstClr val="black"/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179" y="2008201"/>
                <a:ext cx="6642485" cy="2103653"/>
              </a:xfrm>
              <a:prstGeom prst="rect">
                <a:avLst/>
              </a:prstGeom>
              <a:blipFill rotWithShape="0">
                <a:blip r:embed="rId3"/>
                <a:stretch>
                  <a:fillRect l="-826" t="-1445" b="-8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2926815" y="4226066"/>
                <a:ext cx="6096536" cy="12398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b="1" dirty="0" smtClean="0">
                    <a:solidFill>
                      <a:srgbClr val="7030A0"/>
                    </a:solidFill>
                  </a:rPr>
                  <a:t>Mixed numeral </a:t>
                </a:r>
                <a:r>
                  <a:rPr lang="en-AU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Improper fraction</a:t>
                </a:r>
              </a:p>
              <a:p>
                <a:r>
                  <a:rPr lang="en-AU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 is made up of </a:t>
                </a:r>
                <a:r>
                  <a:rPr lang="en-AU" dirty="0" smtClean="0">
                    <a:solidFill>
                      <a:prstClr val="black"/>
                    </a:solidFill>
                  </a:rPr>
                  <a:t>1 whole </a:t>
                </a:r>
                <a:r>
                  <a:rPr lang="en-AU" dirty="0">
                    <a:solidFill>
                      <a:prstClr val="black"/>
                    </a:solidFill>
                  </a:rPr>
                  <a:t>(which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 ) plus</a:t>
                </a:r>
                <a:r>
                  <a:rPr lang="en-AU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00FF00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dirty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dirty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00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AU" dirty="0" smtClean="0">
                    <a:solidFill>
                      <a:srgbClr val="00FF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                </a:t>
                </a:r>
                <a:r>
                  <a:rPr lang="en-AU" i="1" dirty="0" smtClean="0"/>
                  <a:t>Alternatively, think 1 × 4 + 3</a:t>
                </a:r>
                <a:endParaRPr lang="en-AU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815" y="4226066"/>
                <a:ext cx="6096536" cy="1239827"/>
              </a:xfrm>
              <a:prstGeom prst="rect">
                <a:avLst/>
              </a:prstGeom>
              <a:blipFill rotWithShape="0">
                <a:blip r:embed="rId4"/>
                <a:stretch>
                  <a:fillRect l="-800" t="-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2926815" y="5421856"/>
                <a:ext cx="5946852" cy="13874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b="1" dirty="0" smtClean="0">
                    <a:solidFill>
                      <a:srgbClr val="00B0F0"/>
                    </a:solidFill>
                  </a:rPr>
                  <a:t>Improper fraction </a:t>
                </a:r>
                <a:r>
                  <a:rPr lang="en-AU" b="1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 Mixed numeral</a:t>
                </a:r>
              </a:p>
              <a:p>
                <a:r>
                  <a:rPr lang="en-AU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Divide the numerator by the denominator and write the remainder as a fraction.</a:t>
                </a:r>
              </a:p>
              <a:p>
                <a:r>
                  <a:rPr lang="en-AU" dirty="0" err="1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14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=	</a:t>
                </a:r>
                <a:r>
                  <a:rPr lang="en-AU" dirty="0" smtClean="0">
                    <a:solidFill>
                      <a:srgbClr val="00FF00"/>
                    </a:solidFill>
                    <a:sym typeface="Wingdings" panose="05000000000000000000" pitchFamily="2" charset="2"/>
                  </a:rPr>
                  <a:t>14 ÷ 3 = 4 </a:t>
                </a:r>
                <a:r>
                  <a:rPr lang="en-AU" dirty="0">
                    <a:solidFill>
                      <a:srgbClr val="00FF00"/>
                    </a:solidFill>
                    <a:sym typeface="Wingdings" panose="05000000000000000000" pitchFamily="2" charset="2"/>
                  </a:rPr>
                  <a:t>remainder </a:t>
                </a:r>
                <a:r>
                  <a:rPr lang="en-AU" dirty="0" smtClean="0">
                    <a:solidFill>
                      <a:srgbClr val="00FF00"/>
                    </a:solidFill>
                    <a:sym typeface="Wingdings" panose="05000000000000000000" pitchFamily="2" charset="2"/>
                  </a:rPr>
                  <a:t>2  = 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815" y="5421856"/>
                <a:ext cx="5946852" cy="1387431"/>
              </a:xfrm>
              <a:prstGeom prst="rect">
                <a:avLst/>
              </a:prstGeom>
              <a:blipFill rotWithShape="0">
                <a:blip r:embed="rId5"/>
                <a:stretch>
                  <a:fillRect l="-820" t="-26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19596" y="4203222"/>
            <a:ext cx="2857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Converting between these types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937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</a:t>
            </a:r>
            <a:r>
              <a:rPr lang="en-US" smtClean="0"/>
              <a:t>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03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Activity- Match the improper fraction to the mixed numeral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59019" y="4789761"/>
                <a:ext cx="586408" cy="12527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0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48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4800" dirty="0" smtClean="0"/>
                  <a:t> </a:t>
                </a:r>
                <a:endParaRPr lang="en-AU" sz="4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9019" y="4789761"/>
                <a:ext cx="586408" cy="1252736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092280" y="2780928"/>
                <a:ext cx="830976" cy="1244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0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280" y="2780928"/>
                <a:ext cx="830976" cy="124482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09600" y="1752600"/>
                <a:ext cx="586408" cy="1252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4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4800" dirty="0" smtClean="0"/>
                  <a:t> </a:t>
                </a:r>
                <a:endParaRPr lang="en-AU" sz="4800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752600"/>
                <a:ext cx="586408" cy="12527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6179940" y="1844824"/>
                <a:ext cx="768324" cy="13247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5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700" b="0" i="0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sz="57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4800" dirty="0" smtClean="0"/>
                  <a:t> </a:t>
                </a:r>
                <a:endParaRPr lang="en-AU" sz="480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940" y="1844824"/>
                <a:ext cx="768324" cy="132474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2712041" y="2276872"/>
                <a:ext cx="848944" cy="10801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0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US" sz="4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4000" dirty="0" smtClean="0"/>
                  <a:t> </a:t>
                </a:r>
                <a:endParaRPr lang="en-AU" sz="4000" dirty="0"/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041" y="2276872"/>
                <a:ext cx="848944" cy="108011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5247938" y="3551113"/>
                <a:ext cx="586408" cy="1252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4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4800" dirty="0" smtClean="0"/>
                  <a:t> </a:t>
                </a:r>
                <a:endParaRPr lang="en-AU" sz="4800" dirty="0"/>
              </a:p>
            </p:txBody>
          </p:sp>
        </mc:Choice>
        <mc:Fallback xmlns=""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938" y="3551113"/>
                <a:ext cx="586408" cy="125273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80520" y="3512913"/>
                <a:ext cx="830976" cy="1244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20" y="3512913"/>
                <a:ext cx="830976" cy="124482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560985" y="4025756"/>
                <a:ext cx="830976" cy="1244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985" y="4025756"/>
                <a:ext cx="830976" cy="124482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226560" y="1692271"/>
                <a:ext cx="830976" cy="12488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0" smtClean="0">
                          <a:latin typeface="Cambria Math" panose="02040503050406030204" pitchFamily="18" charset="0"/>
                        </a:rPr>
                        <m:t>1</m:t>
                      </m:r>
                      <m:f>
                        <m:f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560" y="1692271"/>
                <a:ext cx="830976" cy="124880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341450" y="4664343"/>
                <a:ext cx="830976" cy="1244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smtClean="0">
                          <a:latin typeface="Cambria Math" panose="02040503050406030204" pitchFamily="18" charset="0"/>
                        </a:rPr>
                        <m:t>3</m:t>
                      </m:r>
                      <m:f>
                        <m:f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450" y="4664343"/>
                <a:ext cx="830976" cy="124482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78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</a:t>
            </a:r>
            <a:r>
              <a:rPr lang="en-US" dirty="0" smtClean="0"/>
              <a:t>Exercise 6.3 (</a:t>
            </a:r>
            <a:r>
              <a:rPr lang="en-US" dirty="0" err="1" smtClean="0"/>
              <a:t>Pg</a:t>
            </a:r>
            <a:r>
              <a:rPr lang="en-US" dirty="0" smtClean="0"/>
              <a:t> 76) </a:t>
            </a:r>
            <a:r>
              <a:rPr lang="en-US" dirty="0" smtClean="0"/>
              <a:t>in the Dwyer Textbook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285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6321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Types of Fractions &amp; Fractions of Amounts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7809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convert between different types of fractions and how do we find fractions of an amount?</a:t>
            </a:r>
          </a:p>
          <a:p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2968290" y="2026819"/>
                <a:ext cx="6096536" cy="12398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b="1" dirty="0" smtClean="0">
                    <a:solidFill>
                      <a:srgbClr val="7030A0"/>
                    </a:solidFill>
                  </a:rPr>
                  <a:t>Mixed numeral </a:t>
                </a:r>
                <a:r>
                  <a:rPr lang="en-AU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Improper fraction</a:t>
                </a:r>
              </a:p>
              <a:p>
                <a:r>
                  <a:rPr lang="en-AU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 is made up of </a:t>
                </a:r>
                <a:r>
                  <a:rPr lang="en-AU" dirty="0" smtClean="0">
                    <a:solidFill>
                      <a:prstClr val="black"/>
                    </a:solidFill>
                  </a:rPr>
                  <a:t>1 whole </a:t>
                </a:r>
                <a:r>
                  <a:rPr lang="en-AU" dirty="0">
                    <a:solidFill>
                      <a:prstClr val="black"/>
                    </a:solidFill>
                  </a:rPr>
                  <a:t>(which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 ) plus</a:t>
                </a:r>
                <a:r>
                  <a:rPr lang="en-AU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00FF00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dirty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dirty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00FF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AU" dirty="0" smtClean="0">
                    <a:solidFill>
                      <a:srgbClr val="00FF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                </a:t>
                </a:r>
                <a:r>
                  <a:rPr lang="en-AU" i="1" dirty="0" smtClean="0"/>
                  <a:t>Alternatively, think 1 × 4 + 3</a:t>
                </a:r>
                <a:endParaRPr lang="en-AU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290" y="2026819"/>
                <a:ext cx="6096536" cy="1239827"/>
              </a:xfrm>
              <a:prstGeom prst="rect">
                <a:avLst/>
              </a:prstGeom>
              <a:blipFill rotWithShape="0">
                <a:blip r:embed="rId3"/>
                <a:stretch>
                  <a:fillRect l="-900" t="-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2968290" y="3266646"/>
                <a:ext cx="5946852" cy="13874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b="1" dirty="0" smtClean="0">
                    <a:solidFill>
                      <a:srgbClr val="00B0F0"/>
                    </a:solidFill>
                  </a:rPr>
                  <a:t>Improper fraction </a:t>
                </a:r>
                <a:r>
                  <a:rPr lang="en-AU" b="1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 Mixed numeral</a:t>
                </a:r>
              </a:p>
              <a:p>
                <a:r>
                  <a:rPr lang="en-AU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Divide the numerator by the denominator and write the remainder as a fraction.</a:t>
                </a:r>
              </a:p>
              <a:p>
                <a:r>
                  <a:rPr lang="en-AU" dirty="0" err="1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14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AU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=</a:t>
                </a:r>
                <a:r>
                  <a:rPr lang="en-AU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	</a:t>
                </a:r>
                <a:r>
                  <a:rPr lang="en-AU" dirty="0" smtClean="0">
                    <a:solidFill>
                      <a:srgbClr val="00FF00"/>
                    </a:solidFill>
                    <a:sym typeface="Wingdings" panose="05000000000000000000" pitchFamily="2" charset="2"/>
                  </a:rPr>
                  <a:t>14 ÷ 3 = 4 </a:t>
                </a:r>
                <a:r>
                  <a:rPr lang="en-AU" dirty="0">
                    <a:solidFill>
                      <a:srgbClr val="00FF00"/>
                    </a:solidFill>
                    <a:sym typeface="Wingdings" panose="05000000000000000000" pitchFamily="2" charset="2"/>
                  </a:rPr>
                  <a:t>remainder </a:t>
                </a:r>
                <a:r>
                  <a:rPr lang="en-AU" dirty="0" smtClean="0">
                    <a:solidFill>
                      <a:srgbClr val="00FF00"/>
                    </a:solidFill>
                    <a:sym typeface="Wingdings" panose="05000000000000000000" pitchFamily="2" charset="2"/>
                  </a:rPr>
                  <a:t>2  = 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290" y="3266646"/>
                <a:ext cx="5946852" cy="1387431"/>
              </a:xfrm>
              <a:prstGeom prst="rect">
                <a:avLst/>
              </a:prstGeom>
              <a:blipFill rotWithShape="0">
                <a:blip r:embed="rId4"/>
                <a:stretch>
                  <a:fillRect l="-923" t="-3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58233" y="2008834"/>
            <a:ext cx="2857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How do we convert between these types?</a:t>
            </a:r>
            <a:endParaRPr lang="en-AU" dirty="0"/>
          </a:p>
        </p:txBody>
      </p:sp>
      <p:sp>
        <p:nvSpPr>
          <p:cNvPr id="15" name="Rectangle 14"/>
          <p:cNvSpPr/>
          <p:nvPr/>
        </p:nvSpPr>
        <p:spPr>
          <a:xfrm>
            <a:off x="5760" y="4736570"/>
            <a:ext cx="2857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How do we find a fraction of an amount?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902326" y="4736570"/>
                <a:ext cx="6055061" cy="1038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B0F0"/>
                    </a:solidFill>
                  </a:rPr>
                  <a:t>Basic Method </a:t>
                </a:r>
                <a:r>
                  <a:rPr lang="en-AU" b="1" dirty="0" smtClean="0">
                    <a:sym typeface="Wingdings" panose="05000000000000000000" pitchFamily="2" charset="2"/>
                  </a:rPr>
                  <a:t></a:t>
                </a:r>
                <a:r>
                  <a:rPr lang="en-US" dirty="0" smtClean="0"/>
                  <a:t> D</a:t>
                </a:r>
                <a:r>
                  <a:rPr lang="en-AU" dirty="0" err="1" smtClean="0"/>
                  <a:t>ivide</a:t>
                </a:r>
                <a:r>
                  <a:rPr lang="en-AU" dirty="0" smtClean="0"/>
                  <a:t> the amount (whole number) by the   	            denominator and multiply by the numerator. </a:t>
                </a:r>
              </a:p>
              <a:p>
                <a:r>
                  <a:rPr lang="en-US" dirty="0"/>
                  <a:t>	</a:t>
                </a:r>
                <a:r>
                  <a:rPr lang="en-US" dirty="0" smtClean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>
                    <a:solidFill>
                      <a:srgbClr val="00FF00"/>
                    </a:solidFill>
                  </a:rPr>
                  <a:t> </a:t>
                </a:r>
                <a:r>
                  <a:rPr lang="en-US" dirty="0" smtClean="0"/>
                  <a:t>of 8 </a:t>
                </a:r>
                <a:r>
                  <a:rPr lang="en-US" dirty="0" smtClean="0">
                    <a:solidFill>
                      <a:srgbClr val="00FF00"/>
                    </a:solidFill>
                  </a:rPr>
                  <a:t>= 8 </a:t>
                </a:r>
                <a:r>
                  <a:rPr lang="en-AU" dirty="0" smtClean="0">
                    <a:solidFill>
                      <a:srgbClr val="00FF00"/>
                    </a:solidFill>
                    <a:sym typeface="Wingdings" panose="05000000000000000000" pitchFamily="2" charset="2"/>
                  </a:rPr>
                  <a:t>÷ 4 </a:t>
                </a:r>
                <a:r>
                  <a:rPr lang="en-AU" dirty="0" smtClean="0">
                    <a:solidFill>
                      <a:srgbClr val="00FF00"/>
                    </a:solidFill>
                  </a:rPr>
                  <a:t>× 3 = 6</a:t>
                </a:r>
                <a:endParaRPr lang="en-AU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326" y="4736570"/>
                <a:ext cx="6055061" cy="1038041"/>
              </a:xfrm>
              <a:prstGeom prst="rect">
                <a:avLst/>
              </a:prstGeom>
              <a:blipFill rotWithShape="0">
                <a:blip r:embed="rId5"/>
                <a:stretch>
                  <a:fillRect l="-806" t="-4118" b="-35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2929306" y="5707842"/>
                <a:ext cx="6214694" cy="10380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Challenge Method </a:t>
                </a:r>
                <a:r>
                  <a:rPr lang="en-AU" b="1" dirty="0" smtClean="0">
                    <a:sym typeface="Wingdings" panose="05000000000000000000" pitchFamily="2" charset="2"/>
                  </a:rPr>
                  <a:t></a:t>
                </a:r>
                <a:r>
                  <a:rPr lang="en-US" dirty="0" smtClean="0"/>
                  <a:t> Convert the amount to a fraction, multiply</a:t>
                </a:r>
                <a:r>
                  <a:rPr lang="en-AU" dirty="0" smtClean="0"/>
                  <a:t> </a:t>
                </a:r>
                <a:r>
                  <a:rPr lang="en-AU" b="1" dirty="0" smtClean="0">
                    <a:solidFill>
                      <a:srgbClr val="FF0000"/>
                    </a:solidFill>
                  </a:rPr>
                  <a:t>(for hard questions)    </a:t>
                </a:r>
                <a:r>
                  <a:rPr lang="en-AU" dirty="0" smtClean="0"/>
                  <a:t>these fractions together and then simplify. </a:t>
                </a:r>
                <a:r>
                  <a:rPr lang="en-US" dirty="0"/>
                  <a:t>	</a:t>
                </a:r>
                <a:r>
                  <a:rPr lang="en-US" dirty="0" smtClean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FF00"/>
                    </a:solidFill>
                  </a:rPr>
                  <a:t> </a:t>
                </a:r>
                <a:r>
                  <a:rPr lang="en-US" dirty="0"/>
                  <a:t>of 8 </a:t>
                </a:r>
                <a:r>
                  <a:rPr lang="en-US" dirty="0" smtClean="0">
                    <a:solidFill>
                      <a:srgbClr val="00FF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>
                    <a:solidFill>
                      <a:srgbClr val="00FF00"/>
                    </a:solidFill>
                  </a:rPr>
                  <a:t> </a:t>
                </a:r>
                <a:r>
                  <a:rPr lang="en-AU" dirty="0">
                    <a:solidFill>
                      <a:srgbClr val="00FF00"/>
                    </a:solidFill>
                  </a:rPr>
                  <a:t>× </a:t>
                </a:r>
                <a:r>
                  <a:rPr lang="en-AU" dirty="0" smtClean="0">
                    <a:solidFill>
                      <a:srgbClr val="00FF00"/>
                    </a:solidFill>
                  </a:rPr>
                  <a:t> </a:t>
                </a:r>
                <a:r>
                  <a:rPr lang="en-US" dirty="0" smtClean="0">
                    <a:solidFill>
                      <a:srgbClr val="00FF00"/>
                    </a:solidFill>
                  </a:rPr>
                  <a:t>8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>
                    <a:solidFill>
                      <a:srgbClr val="00FF00"/>
                    </a:solidFill>
                    <a:sym typeface="Wingdings" panose="05000000000000000000" pitchFamily="2" charset="2"/>
                  </a:rPr>
                  <a:t>  </a:t>
                </a:r>
                <a:r>
                  <a:rPr lang="en-AU" dirty="0">
                    <a:solidFill>
                      <a:srgbClr val="00FF00"/>
                    </a:solidFill>
                  </a:rPr>
                  <a:t>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den>
                    </m:f>
                  </m:oMath>
                </a14:m>
                <a:r>
                  <a:rPr lang="en-AU" dirty="0" smtClean="0">
                    <a:solidFill>
                      <a:srgbClr val="00FF00"/>
                    </a:solidFill>
                  </a:rPr>
                  <a:t> </a:t>
                </a:r>
                <a:r>
                  <a:rPr lang="en-AU" dirty="0">
                    <a:solidFill>
                      <a:srgbClr val="00FF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24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>
                    <a:solidFill>
                      <a:srgbClr val="00FF00"/>
                    </a:solidFill>
                  </a:rPr>
                  <a:t> = 6</a:t>
                </a:r>
                <a:endParaRPr lang="en-AU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6" y="5707842"/>
                <a:ext cx="6214694" cy="1038041"/>
              </a:xfrm>
              <a:prstGeom prst="rect">
                <a:avLst/>
              </a:prstGeom>
              <a:blipFill rotWithShape="0">
                <a:blip r:embed="rId6"/>
                <a:stretch>
                  <a:fillRect l="-883" t="-3509" r="-1276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78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8260"/>
                <a:ext cx="8229600" cy="5219092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of 12</a:t>
                </a:r>
              </a:p>
              <a:p>
                <a:pPr marL="514350" indent="-514350">
                  <a:buFont typeface="Arial" pitchFamily="34" charset="0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of </a:t>
                </a:r>
                <a:r>
                  <a:rPr lang="en-AU" dirty="0" smtClean="0"/>
                  <a:t>12</a:t>
                </a:r>
              </a:p>
              <a:p>
                <a:pPr marL="514350" indent="-514350">
                  <a:buFont typeface="Arial" pitchFamily="34" charset="0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of 12</a:t>
                </a:r>
              </a:p>
              <a:p>
                <a:pPr marL="514350" indent="-514350">
                  <a:buFont typeface="Arial" pitchFamily="34" charset="0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of 27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Arial" pitchFamily="34" charset="0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of </a:t>
                </a:r>
                <a:r>
                  <a:rPr lang="en-AU" dirty="0" smtClean="0"/>
                  <a:t>32</a:t>
                </a:r>
              </a:p>
              <a:p>
                <a:pPr marL="514350" indent="-514350">
                  <a:buFont typeface="Arial" pitchFamily="34" charset="0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of </a:t>
                </a:r>
                <a:r>
                  <a:rPr lang="en-AU" dirty="0" smtClean="0"/>
                  <a:t>6</a:t>
                </a:r>
              </a:p>
              <a:p>
                <a:pPr marL="514350" indent="-514350">
                  <a:buFont typeface="Arial" pitchFamily="34" charset="0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of </a:t>
                </a:r>
                <a:r>
                  <a:rPr lang="en-AU" dirty="0" smtClean="0"/>
                  <a:t>6</a:t>
                </a:r>
                <a:endParaRPr lang="en-AU" dirty="0"/>
              </a:p>
              <a:p>
                <a:pPr marL="514350" indent="-514350">
                  <a:buFont typeface="Arial" pitchFamily="34" charset="0"/>
                  <a:buAutoNum type="alphaLcParenR"/>
                </a:pPr>
                <a:endParaRPr lang="en-AU" dirty="0" smtClean="0"/>
              </a:p>
              <a:p>
                <a:pPr marL="514350" indent="-514350">
                  <a:buFont typeface="Arial" pitchFamily="34" charset="0"/>
                  <a:buAutoNum type="alphaLcParenR"/>
                </a:pPr>
                <a:endParaRPr lang="en-AU" dirty="0"/>
              </a:p>
              <a:p>
                <a:pPr marL="514350" indent="-514350">
                  <a:buFont typeface="Arial" pitchFamily="34" charset="0"/>
                  <a:buAutoNum type="alphaLcParenR"/>
                </a:pPr>
                <a:endParaRPr lang="en-AU" dirty="0"/>
              </a:p>
              <a:p>
                <a:pPr marL="514350" indent="-514350">
                  <a:buFont typeface="Arial" pitchFamily="34" charset="0"/>
                  <a:buAutoNum type="alphaLcParenR"/>
                </a:pPr>
                <a:endParaRPr lang="en-AU" dirty="0"/>
              </a:p>
              <a:p>
                <a:pPr marL="514350" indent="-514350">
                  <a:buFont typeface="Arial" pitchFamily="34" charset="0"/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:endParaRPr lang="en-AU" dirty="0" smtClean="0"/>
              </a:p>
              <a:p>
                <a:pPr marL="514350" indent="-514350">
                  <a:buAutoNum type="alphaLcParenR"/>
                </a:pPr>
                <a:endParaRPr lang="en-AU" dirty="0" smtClean="0"/>
              </a:p>
              <a:p>
                <a:pPr marL="514350" indent="-51435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8260"/>
                <a:ext cx="8229600" cy="5219092"/>
              </a:xfrm>
              <a:blipFill rotWithShape="0">
                <a:blip r:embed="rId3"/>
                <a:stretch>
                  <a:fillRect t="-4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207" y="951924"/>
            <a:ext cx="3636593" cy="2621092"/>
          </a:xfrm>
          <a:prstGeom prst="rect">
            <a:avLst/>
          </a:prstGeom>
        </p:spPr>
      </p:pic>
      <p:pic>
        <p:nvPicPr>
          <p:cNvPr id="1032" name="Picture 8" descr="Image result for 6 apple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149080"/>
            <a:ext cx="1674186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06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Challenge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One person in pair explains how to 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/>
                  <a:t> into a mixed numeral</a:t>
                </a:r>
              </a:p>
              <a:p>
                <a:r>
                  <a:rPr lang="en-US" dirty="0" smtClean="0"/>
                  <a:t>The other explains how we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 smtClean="0"/>
                  <a:t> of 15</a:t>
                </a:r>
              </a:p>
              <a:p>
                <a:r>
                  <a:rPr lang="en-US" dirty="0" smtClean="0"/>
                  <a:t>Now complete your summary! 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64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614</Words>
  <Application>Microsoft Office PowerPoint</Application>
  <PresentationFormat>On-screen Show (4:3)</PresentationFormat>
  <Paragraphs>192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Wingdings</vt:lpstr>
      <vt:lpstr>Office Theme</vt:lpstr>
      <vt:lpstr>My Algebra   Interactive Notebook</vt:lpstr>
      <vt:lpstr>PowerPoint Presentation</vt:lpstr>
      <vt:lpstr>PowerPoint Presentation</vt:lpstr>
      <vt:lpstr>Activity- Think/Pair/Share</vt:lpstr>
      <vt:lpstr>Activity- Think/Pair/Share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Activity- Match the improper fraction to the mixed numeral</vt:lpstr>
      <vt:lpstr>Task</vt:lpstr>
      <vt:lpstr>PowerPoint Presentation</vt:lpstr>
      <vt:lpstr>Task</vt:lpstr>
      <vt:lpstr>Final Challenge</vt:lpstr>
      <vt:lpstr>Notes Review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73</cp:revision>
  <dcterms:created xsi:type="dcterms:W3CDTF">2014-05-14T02:58:57Z</dcterms:created>
  <dcterms:modified xsi:type="dcterms:W3CDTF">2017-04-25T02:14:16Z</dcterms:modified>
</cp:coreProperties>
</file>
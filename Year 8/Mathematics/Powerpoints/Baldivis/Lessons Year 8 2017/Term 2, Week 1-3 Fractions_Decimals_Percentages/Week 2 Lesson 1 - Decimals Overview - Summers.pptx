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330" r:id="rId3"/>
    <p:sldId id="332" r:id="rId4"/>
    <p:sldId id="323" r:id="rId5"/>
    <p:sldId id="320" r:id="rId6"/>
    <p:sldId id="325" r:id="rId7"/>
    <p:sldId id="333" r:id="rId8"/>
    <p:sldId id="322" r:id="rId9"/>
    <p:sldId id="335" r:id="rId10"/>
    <p:sldId id="336" r:id="rId11"/>
    <p:sldId id="337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98"/>
    <p:restoredTop sz="50000" autoAdjust="0"/>
  </p:normalViewPr>
  <p:slideViewPr>
    <p:cSldViewPr>
      <p:cViewPr varScale="1">
        <p:scale>
          <a:sx n="129" d="100"/>
          <a:sy n="129" d="100"/>
        </p:scale>
        <p:origin x="15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25/4/17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 smtClean="0"/>
              <a:t>After</a:t>
            </a:r>
            <a:r>
              <a:rPr lang="en-US" sz="1800" baseline="0" dirty="0" smtClean="0"/>
              <a:t> 2 minutes is up, have students call out what they know, popcorn-style and write on the board.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12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25/4/17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w0or6RJrBWI" TargetMode="External"/><Relationship Id="rId3" Type="http://schemas.openxmlformats.org/officeDocument/2006/relationships/hyperlink" Target="https://www.youtube.com/watch?v=gsvrhKka1nc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Quickwrite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2 minutes, write everything you know about fractions, decimals and percentages.</a:t>
            </a:r>
          </a:p>
          <a:p>
            <a:r>
              <a:rPr lang="en-US" dirty="0" smtClean="0"/>
              <a:t>Give examples of when fractions, decimals and percentages are used in real life.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56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 to Decimals video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youtu.be/w0or6RJrBWI</a:t>
            </a:r>
            <a:endParaRPr lang="en-US" dirty="0" smtClean="0"/>
          </a:p>
          <a:p>
            <a:pPr marL="0" lvl="0" indent="0"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dirty="0" smtClean="0"/>
              <a:t>or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None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www.youtube.com/watch?v=gsvrhKka1nc</a:t>
            </a:r>
            <a:endParaRPr lang="en-US" dirty="0" smtClean="0"/>
          </a:p>
          <a:p>
            <a:pPr marL="0" lvl="0" indent="0"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8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699792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75315" y="1091238"/>
            <a:ext cx="8137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decimals and why do we use them? </a:t>
            </a:r>
            <a:endParaRPr lang="en-A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981578" y="298231"/>
            <a:ext cx="3751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decimals</a:t>
            </a:r>
            <a:endParaRPr lang="en-AU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251520" y="2132856"/>
            <a:ext cx="2093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Why Decimals?</a:t>
            </a:r>
            <a:endParaRPr lang="en-US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2843808" y="2132856"/>
            <a:ext cx="6179543" cy="4499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Whole numbers are good for certain things, like counting the</a:t>
            </a:r>
          </a:p>
          <a:p>
            <a:r>
              <a:rPr lang="en-US" dirty="0" smtClean="0"/>
              <a:t>number of students in this classroom. But for some things, we need to be more exact, and include </a:t>
            </a:r>
            <a:r>
              <a:rPr lang="en-US" i="1" dirty="0" smtClean="0"/>
              <a:t>parts</a:t>
            </a:r>
            <a:r>
              <a:rPr lang="en-US" dirty="0" smtClean="0"/>
              <a:t> of whole numbers. </a:t>
            </a:r>
          </a:p>
          <a:p>
            <a:endParaRPr lang="en-US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itchFamily="2" charset="2"/>
              </a:rPr>
              <a:t>Ex - You </a:t>
            </a: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itchFamily="2" charset="2"/>
              </a:rPr>
              <a:t>work in a medical lab and you need to tell your </a:t>
            </a:r>
            <a:r>
              <a:rPr lang="en-US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itchFamily="2" charset="2"/>
              </a:rPr>
              <a:t>co-worker how </a:t>
            </a: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itchFamily="2" charset="2"/>
              </a:rPr>
              <a:t>much medicine you need</a:t>
            </a:r>
            <a:r>
              <a:rPr lang="en-US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itchFamily="2" charset="2"/>
              </a:rPr>
              <a:t>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2000" kern="0" dirty="0">
              <a:solidFill>
                <a:srgbClr val="00206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sym typeface="Wingdings" pitchFamily="2" charset="2"/>
            </a:endParaRPr>
          </a:p>
          <a:p>
            <a:pPr marL="342900" indent="-342900"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  <a:sym typeface="Wingdings" pitchFamily="2" charset="2"/>
              </a:rPr>
              <a:t>“I need </a:t>
            </a:r>
            <a:r>
              <a:rPr lang="en-US" kern="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  <a:sym typeface="Wingdings" pitchFamily="2" charset="2"/>
              </a:rPr>
              <a:t>1.25 grams of </a:t>
            </a:r>
            <a:r>
              <a:rPr lang="en-US" kern="0" dirty="0">
                <a:solidFill>
                  <a:srgbClr val="00206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cs typeface="Courier New" pitchFamily="49" charset="0"/>
                <a:sym typeface="Wingdings" pitchFamily="2" charset="2"/>
              </a:rPr>
              <a:t>insulin.”</a:t>
            </a:r>
          </a:p>
          <a:p>
            <a:endParaRPr lang="en-US" dirty="0"/>
          </a:p>
          <a:p>
            <a:r>
              <a:rPr lang="en-US" dirty="0" smtClean="0"/>
              <a:t>Decimals are good because:</a:t>
            </a:r>
          </a:p>
          <a:p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They are easy to read! It is much easier to see that 0.75 is bigger than 0.65 rather than ¾ is bigger than 13/20.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 smtClean="0"/>
              <a:t>They are easy to use. It is easier to use decimals over fractions when using calculators or computers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04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92280" y="149731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98945" y="303620"/>
            <a:ext cx="3833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</a:t>
            </a:r>
            <a:r>
              <a:rPr lang="en-AU" sz="2800" dirty="0" smtClean="0"/>
              <a:t>ntroduction to decimals 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decimals and why do we use them? </a:t>
            </a:r>
            <a:endParaRPr lang="en-AU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131423" y="2088896"/>
            <a:ext cx="2652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What are decimals?</a:t>
            </a:r>
            <a:endParaRPr lang="en-US" sz="2400" dirty="0"/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3055760" y="2034360"/>
            <a:ext cx="6046547" cy="456558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n"/>
              <a:defRPr/>
            </a:pPr>
            <a:r>
              <a:rPr lang="en-US" sz="2000" dirty="0" smtClean="0"/>
              <a:t>Decimals are numbers that are less than 1 but greater than 0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sz="1800" dirty="0" smtClean="0"/>
              <a:t>0 &lt; 0.1 &lt; 1  (0.1 is between 0 and 1, so it is a decimal)</a:t>
            </a:r>
          </a:p>
          <a:p>
            <a:pPr algn="ctr">
              <a:buFont typeface="Wingdings" pitchFamily="2" charset="2"/>
              <a:buNone/>
              <a:defRPr/>
            </a:pPr>
            <a:endParaRPr lang="en-US" sz="1800" dirty="0" smtClean="0"/>
          </a:p>
          <a:p>
            <a:pPr>
              <a:buFont typeface="Wingdings" pitchFamily="2" charset="2"/>
              <a:buChar char="n"/>
              <a:defRPr/>
            </a:pPr>
            <a:r>
              <a:rPr lang="en-US" sz="2000" dirty="0" smtClean="0"/>
              <a:t>They appear to the right of the decimal point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 smtClean="0"/>
              <a:t>	             </a:t>
            </a:r>
            <a:r>
              <a:rPr lang="en-US" sz="1800" dirty="0" smtClean="0"/>
              <a:t>whole number           decimal </a:t>
            </a:r>
          </a:p>
          <a:p>
            <a:pPr>
              <a:buFont typeface="Wingdings" pitchFamily="2" charset="2"/>
              <a:buNone/>
              <a:defRPr/>
            </a:pPr>
            <a:endParaRPr lang="en-US" sz="1800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				   39.1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			“39” is the whole number part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1800" dirty="0" smtClean="0"/>
              <a:t>			“.1” is the decimal part</a:t>
            </a:r>
          </a:p>
          <a:p>
            <a:pPr>
              <a:buFont typeface="Wingdings" pitchFamily="2" charset="2"/>
              <a:buNone/>
              <a:defRPr/>
            </a:pPr>
            <a:endParaRPr lang="en-US" sz="2000" dirty="0" smtClean="0"/>
          </a:p>
          <a:p>
            <a:pPr>
              <a:buFont typeface="Wingdings" pitchFamily="2" charset="2"/>
              <a:buChar char="n"/>
              <a:defRPr/>
            </a:pPr>
            <a:r>
              <a:rPr lang="en-US" sz="2000" dirty="0" smtClean="0"/>
              <a:t>“39.1” is read…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 smtClean="0"/>
              <a:t>	“Thirty-nine </a:t>
            </a:r>
            <a:r>
              <a:rPr lang="en-US" sz="2000" b="1" dirty="0" smtClean="0"/>
              <a:t>and</a:t>
            </a:r>
            <a:r>
              <a:rPr lang="en-US" sz="2000" dirty="0" smtClean="0"/>
              <a:t> one tenth”</a:t>
            </a:r>
          </a:p>
          <a:p>
            <a:pPr>
              <a:buFont typeface="Wingdings" pitchFamily="2" charset="2"/>
              <a:buNone/>
              <a:defRPr/>
            </a:pPr>
            <a:endParaRPr lang="en-US" sz="2000" dirty="0" smtClean="0"/>
          </a:p>
        </p:txBody>
      </p:sp>
      <p:pic>
        <p:nvPicPr>
          <p:cNvPr id="14" name="Picture 10" descr="MCj0334096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219" y="7590582"/>
            <a:ext cx="1011237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AutoShape 11"/>
          <p:cNvSpPr>
            <a:spLocks noChangeArrowheads="1"/>
          </p:cNvSpPr>
          <p:nvPr/>
        </p:nvSpPr>
        <p:spPr bwMode="auto">
          <a:xfrm>
            <a:off x="5374556" y="7450882"/>
            <a:ext cx="2635250" cy="844550"/>
          </a:xfrm>
          <a:prstGeom prst="wedgeRoundRectCallout">
            <a:avLst>
              <a:gd name="adj1" fmla="val 51625"/>
              <a:gd name="adj2" fmla="val 78009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 typeface="Wingdings" charset="2"/>
              <a:buChar char="ü"/>
            </a:pPr>
            <a:r>
              <a:rPr lang="en-US" altLang="x-none" sz="1400"/>
              <a:t> “0.1” is the same thing as “.1”.  </a:t>
            </a:r>
            <a:r>
              <a:rPr lang="en-US" altLang="x-none" sz="1400" dirty="0"/>
              <a:t>“.1” is just a lazy way of writing the number.</a:t>
            </a:r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5585408" y="4070332"/>
            <a:ext cx="4445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 flipH="1">
            <a:off x="6372200" y="4092116"/>
            <a:ext cx="406400" cy="368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AutoShape 11"/>
          <p:cNvSpPr>
            <a:spLocks noChangeArrowheads="1"/>
          </p:cNvSpPr>
          <p:nvPr/>
        </p:nvSpPr>
        <p:spPr bwMode="auto">
          <a:xfrm>
            <a:off x="6936445" y="5617370"/>
            <a:ext cx="2146721" cy="938695"/>
          </a:xfrm>
          <a:prstGeom prst="wedgeRoundRectCallout">
            <a:avLst>
              <a:gd name="adj1" fmla="val 51625"/>
              <a:gd name="adj2" fmla="val 78009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 typeface="Wingdings" charset="2"/>
              <a:buChar char="ü"/>
            </a:pPr>
            <a:r>
              <a:rPr lang="en-US" altLang="x-none" sz="1400"/>
              <a:t> “0.1” is the same thing as “.1”.  </a:t>
            </a:r>
            <a:r>
              <a:rPr lang="en-US" altLang="x-none" sz="1400" dirty="0"/>
              <a:t>“.1” is just a lazy way of writing the number.</a:t>
            </a:r>
          </a:p>
        </p:txBody>
      </p:sp>
    </p:spTree>
    <p:extLst>
      <p:ext uri="{BB962C8B-B14F-4D97-AF65-F5344CB8AC3E}">
        <p14:creationId xmlns:p14="http://schemas.microsoft.com/office/powerpoint/2010/main" val="251921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2700" y="173327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7454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751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decimals</a:t>
            </a:r>
            <a:endParaRPr lang="en-AU" sz="2800" dirty="0"/>
          </a:p>
        </p:txBody>
      </p:sp>
      <p:sp>
        <p:nvSpPr>
          <p:cNvPr id="10" name="Rectangle 46"/>
          <p:cNvSpPr>
            <a:spLocks noChangeArrowheads="1"/>
          </p:cNvSpPr>
          <p:nvPr/>
        </p:nvSpPr>
        <p:spPr bwMode="auto">
          <a:xfrm>
            <a:off x="478632" y="2937013"/>
            <a:ext cx="1967415" cy="2860588"/>
          </a:xfrm>
          <a:prstGeom prst="rect">
            <a:avLst/>
          </a:prstGeom>
          <a:solidFill>
            <a:srgbClr val="A5F1BE"/>
          </a:solidFill>
          <a:ln w="38100" cmpd="dbl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1066800" y="1981200"/>
            <a:ext cx="7543800" cy="41148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sz="2000" smtClean="0"/>
              <a:t> </a:t>
            </a:r>
            <a:endParaRPr lang="en-US" sz="2000" dirty="0" smtClean="0"/>
          </a:p>
        </p:txBody>
      </p:sp>
      <p:sp>
        <p:nvSpPr>
          <p:cNvPr id="14" name="Line 8"/>
          <p:cNvSpPr>
            <a:spLocks noChangeShapeType="1"/>
          </p:cNvSpPr>
          <p:nvPr/>
        </p:nvSpPr>
        <p:spPr bwMode="auto">
          <a:xfrm flipV="1">
            <a:off x="3915167" y="3028338"/>
            <a:ext cx="4348374" cy="3096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3915169" y="30583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4919995" y="30583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4444482" y="30583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5426639" y="3048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6868131" y="3048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5913579" y="30583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6379536" y="30583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7362917" y="30583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7799214" y="305831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8230641" y="302625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Line 23"/>
          <p:cNvSpPr>
            <a:spLocks noChangeShapeType="1"/>
          </p:cNvSpPr>
          <p:nvPr/>
        </p:nvSpPr>
        <p:spPr bwMode="auto">
          <a:xfrm flipV="1">
            <a:off x="3915169" y="2058891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 flipV="1">
            <a:off x="4444482" y="2070402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 flipV="1">
            <a:off x="4919995" y="2057198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Line 26"/>
          <p:cNvSpPr>
            <a:spLocks noChangeShapeType="1"/>
          </p:cNvSpPr>
          <p:nvPr/>
        </p:nvSpPr>
        <p:spPr bwMode="auto">
          <a:xfrm flipV="1">
            <a:off x="5426639" y="2057299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Line 27"/>
          <p:cNvSpPr>
            <a:spLocks noChangeShapeType="1"/>
          </p:cNvSpPr>
          <p:nvPr/>
        </p:nvSpPr>
        <p:spPr bwMode="auto">
          <a:xfrm flipV="1">
            <a:off x="5902911" y="2048101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V="1">
            <a:off x="6391144" y="2057299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29"/>
          <p:cNvSpPr>
            <a:spLocks noChangeShapeType="1"/>
          </p:cNvSpPr>
          <p:nvPr/>
        </p:nvSpPr>
        <p:spPr bwMode="auto">
          <a:xfrm flipV="1">
            <a:off x="6878070" y="2049151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30"/>
          <p:cNvSpPr>
            <a:spLocks noChangeShapeType="1"/>
          </p:cNvSpPr>
          <p:nvPr/>
        </p:nvSpPr>
        <p:spPr bwMode="auto">
          <a:xfrm flipV="1">
            <a:off x="7372856" y="2057502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31"/>
          <p:cNvSpPr>
            <a:spLocks noChangeShapeType="1"/>
          </p:cNvSpPr>
          <p:nvPr/>
        </p:nvSpPr>
        <p:spPr bwMode="auto">
          <a:xfrm flipV="1">
            <a:off x="7802754" y="2067719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32"/>
          <p:cNvSpPr>
            <a:spLocks noChangeShapeType="1"/>
          </p:cNvSpPr>
          <p:nvPr/>
        </p:nvSpPr>
        <p:spPr bwMode="auto">
          <a:xfrm flipV="1">
            <a:off x="8243024" y="2046185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 rot="18478338">
            <a:off x="3794204" y="2348295"/>
            <a:ext cx="1463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 dirty="0"/>
              <a:t>ten-thousands</a:t>
            </a:r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 rot="18478338">
            <a:off x="4415571" y="2444793"/>
            <a:ext cx="1101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 dirty="0"/>
              <a:t>thousands</a:t>
            </a: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 rot="18478338">
            <a:off x="4951546" y="2498213"/>
            <a:ext cx="1017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/>
              <a:t>hundreds</a:t>
            </a:r>
          </a:p>
        </p:txBody>
      </p:sp>
      <p:sp>
        <p:nvSpPr>
          <p:cNvPr id="39" name="Text Box 36"/>
          <p:cNvSpPr txBox="1">
            <a:spLocks noChangeArrowheads="1"/>
          </p:cNvSpPr>
          <p:nvPr/>
        </p:nvSpPr>
        <p:spPr bwMode="auto">
          <a:xfrm rot="18478338">
            <a:off x="5555431" y="2635274"/>
            <a:ext cx="56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/>
              <a:t>tens</a:t>
            </a:r>
          </a:p>
        </p:txBody>
      </p:sp>
      <p:sp>
        <p:nvSpPr>
          <p:cNvPr id="40" name="Text Box 37"/>
          <p:cNvSpPr txBox="1">
            <a:spLocks noChangeArrowheads="1"/>
          </p:cNvSpPr>
          <p:nvPr/>
        </p:nvSpPr>
        <p:spPr bwMode="auto">
          <a:xfrm rot="18478338">
            <a:off x="5950746" y="2657213"/>
            <a:ext cx="604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/>
              <a:t>ones</a:t>
            </a:r>
          </a:p>
        </p:txBody>
      </p:sp>
      <p:sp>
        <p:nvSpPr>
          <p:cNvPr id="41" name="Text Box 38"/>
          <p:cNvSpPr txBox="1">
            <a:spLocks noChangeArrowheads="1"/>
          </p:cNvSpPr>
          <p:nvPr/>
        </p:nvSpPr>
        <p:spPr bwMode="auto">
          <a:xfrm rot="18478338">
            <a:off x="6441490" y="2575157"/>
            <a:ext cx="742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/>
              <a:t>tenths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 rot="18478338">
            <a:off x="6877599" y="2424250"/>
            <a:ext cx="11985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/>
              <a:t>hundredths</a:t>
            </a:r>
          </a:p>
        </p:txBody>
      </p:sp>
      <p:sp>
        <p:nvSpPr>
          <p:cNvPr id="43" name="Text Box 40"/>
          <p:cNvSpPr txBox="1">
            <a:spLocks noChangeArrowheads="1"/>
          </p:cNvSpPr>
          <p:nvPr/>
        </p:nvSpPr>
        <p:spPr bwMode="auto">
          <a:xfrm rot="18478338">
            <a:off x="7324338" y="2378558"/>
            <a:ext cx="1282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 dirty="0"/>
              <a:t>thousandths</a:t>
            </a:r>
          </a:p>
        </p:txBody>
      </p:sp>
      <p:sp>
        <p:nvSpPr>
          <p:cNvPr id="44" name="Text Box 41"/>
          <p:cNvSpPr txBox="1">
            <a:spLocks noChangeArrowheads="1"/>
          </p:cNvSpPr>
          <p:nvPr/>
        </p:nvSpPr>
        <p:spPr bwMode="auto">
          <a:xfrm rot="18478338">
            <a:off x="7683602" y="2247367"/>
            <a:ext cx="1644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1600"/>
              <a:t>ten-thousandths</a:t>
            </a:r>
          </a:p>
        </p:txBody>
      </p:sp>
      <p:sp>
        <p:nvSpPr>
          <p:cNvPr id="45" name="Oval 42"/>
          <p:cNvSpPr>
            <a:spLocks noChangeArrowheads="1"/>
          </p:cNvSpPr>
          <p:nvPr/>
        </p:nvSpPr>
        <p:spPr bwMode="auto">
          <a:xfrm>
            <a:off x="6341557" y="3507394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46" name="Oval 43"/>
          <p:cNvSpPr>
            <a:spLocks noChangeArrowheads="1"/>
          </p:cNvSpPr>
          <p:nvPr/>
        </p:nvSpPr>
        <p:spPr bwMode="auto">
          <a:xfrm>
            <a:off x="6345343" y="3007327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endParaRPr lang="x-none" altLang="x-none"/>
          </a:p>
        </p:txBody>
      </p:sp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4105772" y="3157031"/>
            <a:ext cx="39671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sz="2000" dirty="0"/>
              <a:t>1    2    3    4    5    6    7    8    9</a:t>
            </a:r>
          </a:p>
          <a:p>
            <a:endParaRPr lang="en-US" altLang="x-none" sz="2000" dirty="0"/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478632" y="2937013"/>
            <a:ext cx="19589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x-none" dirty="0">
                <a:latin typeface="Courier New" charset="0"/>
              </a:rPr>
              <a:t>  </a:t>
            </a:r>
            <a:r>
              <a:rPr lang="en-US" altLang="x-none" b="1" dirty="0">
                <a:latin typeface="Courier New" charset="0"/>
              </a:rPr>
              <a:t>10,000.</a:t>
            </a:r>
          </a:p>
          <a:p>
            <a:r>
              <a:rPr lang="en-US" altLang="x-none" b="1" dirty="0">
                <a:latin typeface="Courier New" charset="0"/>
              </a:rPr>
              <a:t>+  2,000.</a:t>
            </a:r>
          </a:p>
          <a:p>
            <a:r>
              <a:rPr lang="en-US" altLang="x-none" b="1" dirty="0">
                <a:latin typeface="Courier New" charset="0"/>
              </a:rPr>
              <a:t>+    300.</a:t>
            </a:r>
          </a:p>
          <a:p>
            <a:r>
              <a:rPr lang="en-US" altLang="x-none" b="1" dirty="0">
                <a:latin typeface="Courier New" charset="0"/>
              </a:rPr>
              <a:t>+     40.</a:t>
            </a:r>
          </a:p>
          <a:p>
            <a:r>
              <a:rPr lang="en-US" altLang="x-none" b="1" dirty="0">
                <a:latin typeface="Courier New" charset="0"/>
              </a:rPr>
              <a:t>+      5.</a:t>
            </a:r>
          </a:p>
          <a:p>
            <a:r>
              <a:rPr lang="en-US" altLang="x-none" b="1" dirty="0">
                <a:latin typeface="Courier New" charset="0"/>
              </a:rPr>
              <a:t>+       .6</a:t>
            </a:r>
          </a:p>
          <a:p>
            <a:r>
              <a:rPr lang="en-US" altLang="x-none" b="1" dirty="0">
                <a:latin typeface="Courier New" charset="0"/>
              </a:rPr>
              <a:t>+       .07</a:t>
            </a:r>
          </a:p>
          <a:p>
            <a:r>
              <a:rPr lang="en-US" altLang="x-none" b="1" dirty="0">
                <a:latin typeface="Courier New" charset="0"/>
              </a:rPr>
              <a:t>+       .008</a:t>
            </a:r>
          </a:p>
          <a:p>
            <a:r>
              <a:rPr lang="en-US" altLang="x-none" b="1" u="sng" dirty="0">
                <a:latin typeface="Courier New" charset="0"/>
              </a:rPr>
              <a:t>+       .0009</a:t>
            </a:r>
          </a:p>
          <a:p>
            <a:r>
              <a:rPr lang="en-US" altLang="x-none" b="1" dirty="0">
                <a:latin typeface="Courier New" charset="0"/>
              </a:rPr>
              <a:t>  12,345.6789</a:t>
            </a:r>
          </a:p>
        </p:txBody>
      </p:sp>
      <p:sp>
        <p:nvSpPr>
          <p:cNvPr id="49" name="Text Box 47"/>
          <p:cNvSpPr txBox="1">
            <a:spLocks noChangeArrowheads="1"/>
          </p:cNvSpPr>
          <p:nvPr/>
        </p:nvSpPr>
        <p:spPr bwMode="auto">
          <a:xfrm>
            <a:off x="3315269" y="4005784"/>
            <a:ext cx="3812780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marL="342900" indent="-342900">
              <a:buFont typeface="Arial" charset="0"/>
              <a:buChar char="•"/>
            </a:pPr>
            <a:r>
              <a:rPr lang="en-US" altLang="x-none" sz="2000" dirty="0"/>
              <a:t>The “3” is in the hundreds column, </a:t>
            </a:r>
            <a:r>
              <a:rPr lang="en-US" altLang="x-none" sz="2000" dirty="0" smtClean="0"/>
              <a:t>so </a:t>
            </a:r>
            <a:r>
              <a:rPr lang="en-US" altLang="x-none" sz="2000" dirty="0"/>
              <a:t>there are “3 hundreds”.  </a:t>
            </a:r>
          </a:p>
          <a:p>
            <a:endParaRPr lang="en-US" altLang="x-none" sz="1600" dirty="0"/>
          </a:p>
          <a:p>
            <a:pPr marL="342900" indent="-342900">
              <a:buFont typeface="Arial" charset="0"/>
              <a:buChar char="•"/>
            </a:pPr>
            <a:r>
              <a:rPr lang="en-US" altLang="x-none" sz="2000" dirty="0"/>
              <a:t>The “7” is in the hundred</a:t>
            </a:r>
            <a:r>
              <a:rPr lang="en-US" altLang="x-none" sz="2000" b="1" dirty="0"/>
              <a:t>th</a:t>
            </a:r>
            <a:r>
              <a:rPr lang="en-US" altLang="x-none" sz="2000" dirty="0"/>
              <a:t>s </a:t>
            </a:r>
            <a:r>
              <a:rPr lang="en-US" altLang="x-none" sz="2000" dirty="0" smtClean="0"/>
              <a:t>column, so </a:t>
            </a:r>
            <a:r>
              <a:rPr lang="en-US" altLang="x-none" sz="2000" dirty="0"/>
              <a:t>there are “7 hundred</a:t>
            </a:r>
            <a:r>
              <a:rPr lang="en-US" altLang="x-none" sz="2000" b="1" dirty="0"/>
              <a:t>th</a:t>
            </a:r>
            <a:r>
              <a:rPr lang="en-US" altLang="x-none" sz="2000" dirty="0"/>
              <a:t>s</a:t>
            </a:r>
            <a:r>
              <a:rPr lang="en-US" altLang="x-none" sz="2000" dirty="0" smtClean="0"/>
              <a:t>.”</a:t>
            </a:r>
            <a:endParaRPr lang="en-US" altLang="x-none" sz="2000" dirty="0"/>
          </a:p>
        </p:txBody>
      </p:sp>
      <p:sp>
        <p:nvSpPr>
          <p:cNvPr id="50" name="AutoShape 49"/>
          <p:cNvSpPr>
            <a:spLocks noChangeArrowheads="1"/>
          </p:cNvSpPr>
          <p:nvPr/>
        </p:nvSpPr>
        <p:spPr bwMode="auto">
          <a:xfrm>
            <a:off x="7153144" y="5424331"/>
            <a:ext cx="1935665" cy="984583"/>
          </a:xfrm>
          <a:prstGeom prst="wedgeRoundRectCallout">
            <a:avLst>
              <a:gd name="adj1" fmla="val 28912"/>
              <a:gd name="adj2" fmla="val 89319"/>
              <a:gd name="adj3" fmla="val 16667"/>
            </a:avLst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 typeface="Wingdings" charset="2"/>
              <a:buChar char="ü"/>
            </a:pPr>
            <a:r>
              <a:rPr lang="en-US" altLang="x-none" sz="1400" dirty="0"/>
              <a:t> Remember, decimals have a “</a:t>
            </a:r>
            <a:r>
              <a:rPr lang="en-US" altLang="x-none" sz="1400" dirty="0" err="1"/>
              <a:t>th</a:t>
            </a:r>
            <a:r>
              <a:rPr lang="en-US" altLang="x-none" sz="1400" dirty="0"/>
              <a:t>” at the end of their names.</a:t>
            </a:r>
          </a:p>
        </p:txBody>
      </p:sp>
      <p:sp>
        <p:nvSpPr>
          <p:cNvPr id="53" name="Line 27"/>
          <p:cNvSpPr>
            <a:spLocks noChangeShapeType="1"/>
          </p:cNvSpPr>
          <p:nvPr/>
        </p:nvSpPr>
        <p:spPr bwMode="auto">
          <a:xfrm flipV="1">
            <a:off x="5913579" y="2035658"/>
            <a:ext cx="762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3471" y="1981199"/>
            <a:ext cx="26336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Take the following example:</a:t>
            </a:r>
            <a:endParaRPr lang="en-US" sz="2000" dirty="0"/>
          </a:p>
        </p:txBody>
      </p:sp>
      <p:sp>
        <p:nvSpPr>
          <p:cNvPr id="54" name="TextBox 53"/>
          <p:cNvSpPr txBox="1"/>
          <p:nvPr/>
        </p:nvSpPr>
        <p:spPr>
          <a:xfrm>
            <a:off x="75315" y="1091238"/>
            <a:ext cx="8137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decimals and why do we use them?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59714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116632"/>
            <a:ext cx="8892480" cy="617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400" b="1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Try it yourself</a:t>
            </a: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1600" b="1" kern="0" dirty="0" smtClean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sym typeface="Wingdings" pitchFamily="2" charset="2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1600" b="1" kern="0" dirty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  <a:sym typeface="Wingdings" pitchFamily="2" charset="2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i="1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What numbers are these?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Three and two hundredths = 3.02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  <a:sym typeface="Wingdings" pitchFamily="2" charset="2"/>
              </a:rPr>
              <a:t>Forty and two thousandth = 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Twelve and twelve hundredths =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Eighty and </a:t>
            </a:r>
            <a:r>
              <a:rPr lang="en-US" sz="2000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eight ten-thousandths =</a:t>
            </a:r>
            <a:endParaRPr lang="en-US" sz="1600" kern="0" dirty="0" smtClean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1600" kern="0" dirty="0" smtClean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1600" kern="0" dirty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i="1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How do you say these numbers?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37.03 = Thirty-seven and three hundredths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9.004 </a:t>
            </a: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= 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20.0004 </a:t>
            </a: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= 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100.1 </a:t>
            </a:r>
            <a:r>
              <a:rPr lang="en-US" sz="2000" kern="0" dirty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=  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1600" kern="0" dirty="0" smtClean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endParaRPr lang="en-US" sz="1600" kern="0" dirty="0">
              <a:effectLst>
                <a:outerShdw blurRad="38100" dist="38100" dir="2700000" algn="tl">
                  <a:srgbClr val="FFFFFF"/>
                </a:outerShdw>
              </a:effectLst>
              <a:latin typeface="Tahoma" pitchFamily="34" charset="0"/>
            </a:endParaRPr>
          </a:p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i="1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Arrange the following sets of decimals in descending order: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A) 	3.625, 3.256, 2.653, 3.229, 2.814, 3.6521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B) 11.907, 11.891, 11.898, 11.875, 11.908, 11.799</a:t>
            </a:r>
          </a:p>
          <a:p>
            <a:pPr marL="800100" lvl="1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sz="2000" kern="0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pitchFamily="34" charset="0"/>
              </a:rPr>
              <a:t>C) 0.043, 1.305, 0.802, 0.765, 0.039, 1.326</a:t>
            </a:r>
            <a:endParaRPr lang="en-US" sz="200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08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843808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784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Decimals</a:t>
            </a:r>
            <a:endParaRPr lang="en-A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5315" y="1091238"/>
            <a:ext cx="8137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decimals and why do we use them? 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93471" y="2060848"/>
            <a:ext cx="19036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Rounding to one</a:t>
            </a:r>
          </a:p>
          <a:p>
            <a:r>
              <a:rPr lang="en-US" sz="2000" dirty="0" smtClean="0"/>
              <a:t>decimal place</a:t>
            </a:r>
            <a:endParaRPr lang="en-US" sz="2000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87727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373" y="5905264"/>
            <a:ext cx="1246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Summary:</a:t>
            </a:r>
            <a:endParaRPr lang="en-US" sz="2000" dirty="0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546" y="1957615"/>
            <a:ext cx="4213200" cy="389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8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843808" y="1916832"/>
            <a:ext cx="0" cy="39604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784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Decimals</a:t>
            </a:r>
            <a:endParaRPr lang="en-AU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75315" y="1091238"/>
            <a:ext cx="8137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EQ – </a:t>
            </a:r>
            <a:r>
              <a:rPr lang="en-AU" sz="2800" dirty="0" smtClean="0"/>
              <a:t>What are decimals and why do we use them? 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93471" y="2060848"/>
            <a:ext cx="19077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Rounding to two</a:t>
            </a:r>
          </a:p>
          <a:p>
            <a:r>
              <a:rPr lang="en-US" sz="2000" dirty="0" smtClean="0"/>
              <a:t>decimal places</a:t>
            </a:r>
            <a:endParaRPr lang="en-US" sz="2000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88680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2373" y="5905264"/>
            <a:ext cx="1246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Summary:</a:t>
            </a:r>
            <a:endParaRPr 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1941962"/>
            <a:ext cx="4235327" cy="393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41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3568" y="1772816"/>
            <a:ext cx="7920880" cy="2775641"/>
          </a:xfrm>
          <a:prstGeom prst="roundRect">
            <a:avLst>
              <a:gd name="adj" fmla="val 4579"/>
            </a:avLst>
          </a:prstGeom>
          <a:solidFill>
            <a:schemeClr val="bg1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176213" indent="-176213">
              <a:buClr>
                <a:srgbClr val="008000"/>
              </a:buClr>
              <a:buFont typeface="Wingdings" pitchFamily="2" charset="2"/>
              <a:buChar char="§"/>
            </a:pPr>
            <a:r>
              <a:rPr lang="en-US" sz="2200" dirty="0" smtClean="0">
                <a:solidFill>
                  <a:schemeClr val="tx1"/>
                </a:solidFill>
              </a:rPr>
              <a:t>Copy &amp; 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complete</a:t>
            </a:r>
          </a:p>
          <a:p>
            <a:pPr marL="176213" indent="-176213">
              <a:buClr>
                <a:srgbClr val="008000"/>
              </a:buClr>
            </a:pPr>
            <a:r>
              <a:rPr lang="en-US" sz="2200" dirty="0" smtClean="0">
                <a:solidFill>
                  <a:schemeClr val="tx1"/>
                </a:solidFill>
              </a:rPr>
              <a:t>	this table: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627784" y="476672"/>
            <a:ext cx="3456384" cy="576064"/>
          </a:xfrm>
          <a:prstGeom prst="roundRect">
            <a:avLst>
              <a:gd name="adj" fmla="val 21100"/>
            </a:avLst>
          </a:prstGeom>
          <a:solidFill>
            <a:srgbClr val="93D76E"/>
          </a:solidFill>
          <a:ln>
            <a:solidFill>
              <a:srgbClr val="008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Your Turn</a:t>
            </a:r>
            <a:endParaRPr lang="en-US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86374"/>
              </p:ext>
            </p:extLst>
          </p:nvPr>
        </p:nvGraphicFramePr>
        <p:xfrm>
          <a:off x="2267744" y="2048116"/>
          <a:ext cx="6096000" cy="22250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152128"/>
                <a:gridCol w="1512168"/>
                <a:gridCol w="1656184"/>
                <a:gridCol w="1775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Number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1DP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2DP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To 3DP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cs typeface="Arial" charset="0"/>
                        </a:rPr>
                        <a:t>63.4721 </a:t>
                      </a:r>
                      <a:endParaRPr lang="en-GB" dirty="0"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87.6564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eaLnBrk="1" hangingPunct="1">
                        <a:spcBef>
                          <a:spcPct val="20000"/>
                        </a:spcBef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149.9875</a:t>
                      </a:r>
                      <a:endParaRPr lang="en-GB" sz="1600" dirty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3.54029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tx1"/>
                          </a:solidFill>
                          <a:cs typeface="Arial" charset="0"/>
                        </a:rPr>
                        <a:t>0.59999</a:t>
                      </a:r>
                      <a:endParaRPr lang="en-GB" sz="1600" dirty="0" smtClean="0">
                        <a:solidFill>
                          <a:schemeClr val="tx1"/>
                        </a:solidFill>
                        <a:cs typeface="Arial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08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20688"/>
            <a:ext cx="6443697" cy="61656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51720" y="45649"/>
            <a:ext cx="352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/>
              <a:t>Extension Activity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1767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638</Words>
  <Application>Microsoft Macintosh PowerPoint</Application>
  <PresentationFormat>On-screen Show (4:3)</PresentationFormat>
  <Paragraphs>156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Cambria Math</vt:lpstr>
      <vt:lpstr>Arial</vt:lpstr>
      <vt:lpstr>Calibri</vt:lpstr>
      <vt:lpstr>Courier New</vt:lpstr>
      <vt:lpstr>Tahoma</vt:lpstr>
      <vt:lpstr>Wingdings</vt:lpstr>
      <vt:lpstr>Office Theme</vt:lpstr>
      <vt:lpstr>My Algebra   Interactive Notebook</vt:lpstr>
      <vt:lpstr>Quickwrite</vt:lpstr>
      <vt:lpstr>Intro to Decimals video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81</cp:revision>
  <dcterms:created xsi:type="dcterms:W3CDTF">2014-05-14T02:58:57Z</dcterms:created>
  <dcterms:modified xsi:type="dcterms:W3CDTF">2017-04-25T09:58:25Z</dcterms:modified>
</cp:coreProperties>
</file>
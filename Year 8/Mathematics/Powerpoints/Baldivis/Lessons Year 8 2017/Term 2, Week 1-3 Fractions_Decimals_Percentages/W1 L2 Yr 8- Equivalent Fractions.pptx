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259" r:id="rId3"/>
    <p:sldId id="258" r:id="rId4"/>
    <p:sldId id="344" r:id="rId5"/>
    <p:sldId id="345" r:id="rId6"/>
    <p:sldId id="309" r:id="rId7"/>
    <p:sldId id="334" r:id="rId8"/>
    <p:sldId id="330" r:id="rId9"/>
    <p:sldId id="335" r:id="rId10"/>
    <p:sldId id="336" r:id="rId11"/>
    <p:sldId id="337" r:id="rId12"/>
    <p:sldId id="338" r:id="rId13"/>
    <p:sldId id="339" r:id="rId14"/>
    <p:sldId id="322" r:id="rId15"/>
    <p:sldId id="347" r:id="rId16"/>
    <p:sldId id="321" r:id="rId17"/>
    <p:sldId id="323" r:id="rId18"/>
    <p:sldId id="340" r:id="rId19"/>
    <p:sldId id="341" r:id="rId20"/>
    <p:sldId id="342" r:id="rId21"/>
    <p:sldId id="343" r:id="rId22"/>
    <p:sldId id="292" r:id="rId23"/>
    <p:sldId id="29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/>
    <p:restoredTop sz="85817" autoAdjust="0"/>
  </p:normalViewPr>
  <p:slideViewPr>
    <p:cSldViewPr>
      <p:cViewPr varScale="1">
        <p:scale>
          <a:sx n="64" d="100"/>
          <a:sy n="64" d="100"/>
        </p:scale>
        <p:origin x="156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8301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5030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6973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4470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6942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0959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6332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234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Modelling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1618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Modelling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031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456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6016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Guided</a:t>
            </a:r>
            <a:r>
              <a:rPr lang="en-US" baseline="0" dirty="0" smtClean="0"/>
              <a:t>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6884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Independent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2413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7920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667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450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35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  <a:endParaRPr lang="en-AU" dirty="0" smtClean="0"/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Activity- Fraction Connectors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80728"/>
          </a:xfrm>
        </p:spPr>
        <p:txBody>
          <a:bodyPr>
            <a:normAutofit/>
          </a:bodyPr>
          <a:lstStyle/>
          <a:p>
            <a:r>
              <a:rPr lang="en-US" dirty="0" smtClean="0"/>
              <a:t>In groups of 3 or 4, cut out the four main numbers and arrange them as below</a:t>
            </a:r>
          </a:p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851920" y="2764096"/>
            <a:ext cx="144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/>
              <a:t>12</a:t>
            </a:r>
            <a:endParaRPr lang="en-AU" sz="7200" dirty="0"/>
          </a:p>
        </p:txBody>
      </p:sp>
      <p:sp>
        <p:nvSpPr>
          <p:cNvPr id="5" name="TextBox 4"/>
          <p:cNvSpPr txBox="1"/>
          <p:nvPr/>
        </p:nvSpPr>
        <p:spPr>
          <a:xfrm>
            <a:off x="5616116" y="3954197"/>
            <a:ext cx="144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/>
              <a:t>36</a:t>
            </a:r>
            <a:endParaRPr lang="en-AU" sz="7200" dirty="0"/>
          </a:p>
        </p:txBody>
      </p:sp>
      <p:sp>
        <p:nvSpPr>
          <p:cNvPr id="6" name="TextBox 5"/>
          <p:cNvSpPr txBox="1"/>
          <p:nvPr/>
        </p:nvSpPr>
        <p:spPr>
          <a:xfrm>
            <a:off x="2087724" y="3954197"/>
            <a:ext cx="144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/>
              <a:t>18</a:t>
            </a:r>
            <a:endParaRPr lang="en-AU" sz="7200" dirty="0"/>
          </a:p>
        </p:txBody>
      </p:sp>
      <p:sp>
        <p:nvSpPr>
          <p:cNvPr id="7" name="TextBox 6"/>
          <p:cNvSpPr txBox="1"/>
          <p:nvPr/>
        </p:nvSpPr>
        <p:spPr>
          <a:xfrm>
            <a:off x="3851920" y="5373216"/>
            <a:ext cx="144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/>
              <a:t>60</a:t>
            </a:r>
            <a:endParaRPr lang="en-AU" sz="7200" dirty="0"/>
          </a:p>
        </p:txBody>
      </p:sp>
    </p:spTree>
    <p:extLst>
      <p:ext uri="{BB962C8B-B14F-4D97-AF65-F5344CB8AC3E}">
        <p14:creationId xmlns:p14="http://schemas.microsoft.com/office/powerpoint/2010/main" val="188356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Activity- Fraction Connectors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9742"/>
            <a:ext cx="8229600" cy="2260848"/>
          </a:xfrm>
        </p:spPr>
        <p:txBody>
          <a:bodyPr>
            <a:normAutofit/>
          </a:bodyPr>
          <a:lstStyle/>
          <a:p>
            <a:r>
              <a:rPr lang="en-US" dirty="0" smtClean="0"/>
              <a:t>Next, you have 5 minutes to place </a:t>
            </a:r>
            <a:r>
              <a:rPr lang="en-US" b="1" dirty="0" smtClean="0"/>
              <a:t>as many of the arrows</a:t>
            </a:r>
            <a:r>
              <a:rPr lang="en-US" dirty="0" smtClean="0"/>
              <a:t> in between these numbers so the mathematical sentence they make is </a:t>
            </a:r>
            <a:r>
              <a:rPr lang="en-US" b="1" dirty="0" smtClean="0"/>
              <a:t>true</a:t>
            </a:r>
            <a:r>
              <a:rPr lang="en-US" dirty="0" smtClean="0"/>
              <a:t> </a:t>
            </a:r>
          </a:p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3795139" y="2684125"/>
            <a:ext cx="144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/>
              <a:t>12</a:t>
            </a:r>
            <a:endParaRPr lang="en-AU" sz="7200" dirty="0"/>
          </a:p>
        </p:txBody>
      </p:sp>
      <p:sp>
        <p:nvSpPr>
          <p:cNvPr id="7" name="TextBox 6"/>
          <p:cNvSpPr txBox="1"/>
          <p:nvPr/>
        </p:nvSpPr>
        <p:spPr>
          <a:xfrm>
            <a:off x="5803067" y="4005064"/>
            <a:ext cx="144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/>
              <a:t>36</a:t>
            </a:r>
            <a:endParaRPr lang="en-AU" sz="7200" dirty="0"/>
          </a:p>
        </p:txBody>
      </p:sp>
      <p:sp>
        <p:nvSpPr>
          <p:cNvPr id="8" name="TextBox 7"/>
          <p:cNvSpPr txBox="1"/>
          <p:nvPr/>
        </p:nvSpPr>
        <p:spPr>
          <a:xfrm>
            <a:off x="1295635" y="4237461"/>
            <a:ext cx="144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/>
              <a:t>18</a:t>
            </a:r>
            <a:endParaRPr lang="en-AU" sz="7200" dirty="0"/>
          </a:p>
        </p:txBody>
      </p:sp>
      <p:sp>
        <p:nvSpPr>
          <p:cNvPr id="9" name="TextBox 8"/>
          <p:cNvSpPr txBox="1"/>
          <p:nvPr/>
        </p:nvSpPr>
        <p:spPr>
          <a:xfrm>
            <a:off x="3795139" y="5657671"/>
            <a:ext cx="144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/>
              <a:t>60</a:t>
            </a:r>
            <a:endParaRPr lang="en-AU" sz="7200" dirty="0"/>
          </a:p>
        </p:txBody>
      </p:sp>
      <p:sp>
        <p:nvSpPr>
          <p:cNvPr id="10" name="Right Arrow 9"/>
          <p:cNvSpPr/>
          <p:nvPr/>
        </p:nvSpPr>
        <p:spPr>
          <a:xfrm rot="19553563">
            <a:off x="2451994" y="3525788"/>
            <a:ext cx="1440160" cy="958551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 rot="19639816">
                <a:off x="2661204" y="3813648"/>
                <a:ext cx="838435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 smtClean="0"/>
                  <a:t> of </a:t>
                </a:r>
                <a:endParaRPr lang="en-AU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39816">
                <a:off x="2661204" y="3813648"/>
                <a:ext cx="838435" cy="484043"/>
              </a:xfrm>
              <a:prstGeom prst="rect">
                <a:avLst/>
              </a:prstGeom>
              <a:blipFill rotWithShape="0">
                <a:blip r:embed="rId3"/>
                <a:stretch>
                  <a:fillRect l="-2500" r="-625" b="-70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3837411" y="4290738"/>
            <a:ext cx="1253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00FF00"/>
                </a:solidFill>
              </a:rPr>
              <a:t>GO!</a:t>
            </a:r>
            <a:endParaRPr lang="en-AU" sz="4800" b="1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15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117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Equivalent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make equivalent fractions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117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Equivalent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you make equivalent fractions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3471" y="1957596"/>
            <a:ext cx="2915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254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117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Equivalent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</a:t>
            </a:r>
            <a:r>
              <a:rPr lang="en-AU" sz="2400" dirty="0" smtClean="0"/>
              <a:t>you make equivalent </a:t>
            </a:r>
            <a:r>
              <a:rPr lang="en-AU" sz="2400" dirty="0"/>
              <a:t>fractions?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957596"/>
            <a:ext cx="2915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31612" y="1957596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972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117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Equivalent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</a:t>
            </a:r>
            <a:r>
              <a:rPr lang="en-AU" sz="2400" dirty="0" smtClean="0"/>
              <a:t>you make equivalent </a:t>
            </a:r>
            <a:r>
              <a:rPr lang="en-AU" sz="2400" dirty="0"/>
              <a:t>fractions?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957596"/>
            <a:ext cx="2915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31612" y="1957596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70160" y="2981098"/>
                <a:ext cx="1302178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160" y="2981098"/>
                <a:ext cx="1302178" cy="484043"/>
              </a:xfrm>
              <a:prstGeom prst="rect">
                <a:avLst/>
              </a:prstGeom>
              <a:blipFill rotWithShape="0">
                <a:blip r:embed="rId3"/>
                <a:stretch>
                  <a:fillRect l="-3738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/>
          <p:cNvSpPr/>
          <p:nvPr/>
        </p:nvSpPr>
        <p:spPr>
          <a:xfrm>
            <a:off x="4730050" y="2723465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/>
          <p:cNvSpPr/>
          <p:nvPr/>
        </p:nvSpPr>
        <p:spPr>
          <a:xfrm>
            <a:off x="6530250" y="2724579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>
            <a:stCxn id="26" idx="0"/>
            <a:endCxn id="26" idx="4"/>
          </p:cNvCxnSpPr>
          <p:nvPr/>
        </p:nvCxnSpPr>
        <p:spPr>
          <a:xfrm>
            <a:off x="5234106" y="2723465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44516" y="2739245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530250" y="3246442"/>
            <a:ext cx="1008112" cy="94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4874066" y="2918016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066" y="2918016"/>
                <a:ext cx="360040" cy="6347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5265006" y="2918016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006" y="2918016"/>
                <a:ext cx="360040" cy="63478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6756483" y="2785283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83" y="2785283"/>
                <a:ext cx="288032" cy="43800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6756483" y="3255604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83" y="3255604"/>
                <a:ext cx="288032" cy="438005"/>
              </a:xfrm>
              <a:prstGeom prst="rect">
                <a:avLst/>
              </a:prstGeom>
              <a:blipFill rotWithShape="0">
                <a:blip r:embed="rId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7065003" y="2785115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003" y="2785115"/>
                <a:ext cx="288032" cy="43800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7073995" y="3255604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995" y="3255604"/>
                <a:ext cx="288032" cy="438005"/>
              </a:xfrm>
              <a:prstGeom prst="rect">
                <a:avLst/>
              </a:prstGeom>
              <a:blipFill rotWithShape="0">
                <a:blip r:embed="rId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287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117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Equivalent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</a:t>
            </a:r>
            <a:r>
              <a:rPr lang="en-AU" sz="2400" dirty="0" smtClean="0"/>
              <a:t>you make equivalent </a:t>
            </a:r>
            <a:r>
              <a:rPr lang="en-AU" sz="2400" dirty="0"/>
              <a:t>fractions?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957596"/>
            <a:ext cx="2915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31612" y="1957596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55623" y="2820690"/>
                <a:ext cx="1530412" cy="61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e.g</a:t>
                </a:r>
                <a:r>
                  <a:rPr lang="en-AU" sz="2400" dirty="0" smtClean="0"/>
                  <a:t>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623" y="2820690"/>
                <a:ext cx="1530412" cy="614655"/>
              </a:xfrm>
              <a:prstGeom prst="rect">
                <a:avLst/>
              </a:prstGeom>
              <a:blipFill rotWithShape="0">
                <a:blip r:embed="rId3"/>
                <a:stretch>
                  <a:fillRect l="-5976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/>
          <p:cNvSpPr/>
          <p:nvPr/>
        </p:nvSpPr>
        <p:spPr>
          <a:xfrm>
            <a:off x="4730050" y="2644690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/>
          <p:cNvSpPr/>
          <p:nvPr/>
        </p:nvSpPr>
        <p:spPr>
          <a:xfrm>
            <a:off x="6530249" y="2636821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>
            <a:stCxn id="26" idx="0"/>
            <a:endCxn id="26" idx="4"/>
          </p:cNvCxnSpPr>
          <p:nvPr/>
        </p:nvCxnSpPr>
        <p:spPr>
          <a:xfrm>
            <a:off x="5234106" y="2644690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34306" y="2620821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520040" y="3128018"/>
            <a:ext cx="1008112" cy="94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4855726" y="2852936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726" y="2852936"/>
                <a:ext cx="360040" cy="6347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5252447" y="2860484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447" y="2860484"/>
                <a:ext cx="360040" cy="63478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6746273" y="2666859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273" y="2666859"/>
                <a:ext cx="288032" cy="438005"/>
              </a:xfrm>
              <a:prstGeom prst="rect">
                <a:avLst/>
              </a:prstGeom>
              <a:blipFill rotWithShape="0"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6746273" y="313718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273" y="3137180"/>
                <a:ext cx="288032" cy="438005"/>
              </a:xfrm>
              <a:prstGeom prst="rect">
                <a:avLst/>
              </a:prstGeom>
              <a:blipFill rotWithShape="0"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7054793" y="26666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793" y="2666691"/>
                <a:ext cx="288032" cy="438005"/>
              </a:xfrm>
              <a:prstGeom prst="rect">
                <a:avLst/>
              </a:prstGeom>
              <a:blipFill rotWithShape="0"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7063785" y="313718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785" y="3137180"/>
                <a:ext cx="288032" cy="438005"/>
              </a:xfrm>
              <a:prstGeom prst="rect">
                <a:avLst/>
              </a:prstGeom>
              <a:blipFill rotWithShape="0"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98007" y="3693609"/>
            <a:ext cx="2714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Why do we need to make equivalent fractions?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2968543" y="3693608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 that we can add and subtract </a:t>
            </a:r>
            <a:r>
              <a:rPr lang="en-AU" dirty="0" smtClean="0"/>
              <a:t>fractions or so we can find the simplest version of that fraction to help us understand.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971534" y="4283293"/>
                <a:ext cx="5332801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i="1" dirty="0" smtClean="0"/>
                  <a:t>How much of a pizza would you prefer to eat?</a:t>
                </a:r>
                <a:r>
                  <a:rPr lang="en-AU" i="1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534" y="4283293"/>
                <a:ext cx="5332801" cy="483466"/>
              </a:xfrm>
              <a:prstGeom prst="rect">
                <a:avLst/>
              </a:prstGeom>
              <a:blipFill rotWithShape="0">
                <a:blip r:embed="rId9"/>
                <a:stretch>
                  <a:fillRect l="-91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52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117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Equivalent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</a:t>
            </a:r>
            <a:r>
              <a:rPr lang="en-AU" sz="2400" dirty="0" smtClean="0"/>
              <a:t>you make equivalent </a:t>
            </a:r>
            <a:r>
              <a:rPr lang="en-AU" sz="2400" dirty="0"/>
              <a:t>fractions?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957596"/>
            <a:ext cx="2915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31612" y="1957596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55623" y="2820690"/>
                <a:ext cx="1530412" cy="61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e.g</a:t>
                </a:r>
                <a:r>
                  <a:rPr lang="en-AU" sz="2400" dirty="0" smtClean="0"/>
                  <a:t>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623" y="2820690"/>
                <a:ext cx="1530412" cy="614655"/>
              </a:xfrm>
              <a:prstGeom prst="rect">
                <a:avLst/>
              </a:prstGeom>
              <a:blipFill rotWithShape="0">
                <a:blip r:embed="rId3"/>
                <a:stretch>
                  <a:fillRect l="-5976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/>
          <p:cNvSpPr/>
          <p:nvPr/>
        </p:nvSpPr>
        <p:spPr>
          <a:xfrm>
            <a:off x="4730050" y="2644690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/>
          <p:cNvSpPr/>
          <p:nvPr/>
        </p:nvSpPr>
        <p:spPr>
          <a:xfrm>
            <a:off x="6530249" y="2636821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>
            <a:stCxn id="26" idx="0"/>
            <a:endCxn id="26" idx="4"/>
          </p:cNvCxnSpPr>
          <p:nvPr/>
        </p:nvCxnSpPr>
        <p:spPr>
          <a:xfrm>
            <a:off x="5234106" y="2644690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34306" y="2620821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520040" y="3128018"/>
            <a:ext cx="1008112" cy="94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4855726" y="2852936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726" y="2852936"/>
                <a:ext cx="360040" cy="6347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5252447" y="2860484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447" y="2860484"/>
                <a:ext cx="360040" cy="63478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6746273" y="2666859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273" y="2666859"/>
                <a:ext cx="288032" cy="438005"/>
              </a:xfrm>
              <a:prstGeom prst="rect">
                <a:avLst/>
              </a:prstGeom>
              <a:blipFill rotWithShape="0"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6746273" y="313718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273" y="3137180"/>
                <a:ext cx="288032" cy="438005"/>
              </a:xfrm>
              <a:prstGeom prst="rect">
                <a:avLst/>
              </a:prstGeom>
              <a:blipFill rotWithShape="0"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7054793" y="26666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793" y="2666691"/>
                <a:ext cx="288032" cy="438005"/>
              </a:xfrm>
              <a:prstGeom prst="rect">
                <a:avLst/>
              </a:prstGeom>
              <a:blipFill rotWithShape="0"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7063785" y="313718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785" y="3137180"/>
                <a:ext cx="288032" cy="438005"/>
              </a:xfrm>
              <a:prstGeom prst="rect">
                <a:avLst/>
              </a:prstGeom>
              <a:blipFill rotWithShape="0"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98007" y="3693609"/>
            <a:ext cx="2714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Why do we need to make equivalent fractions?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2968543" y="3693608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 that we can add and subtract </a:t>
            </a:r>
            <a:r>
              <a:rPr lang="en-AU" dirty="0" smtClean="0"/>
              <a:t>fractions or so we can find the simplest version of that fraction to help us understand.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971534" y="4283293"/>
                <a:ext cx="5332801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i="1" dirty="0" smtClean="0"/>
                  <a:t>How much of a pizza would you prefer to eat?</a:t>
                </a:r>
                <a:r>
                  <a:rPr lang="en-AU" i="1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534" y="4283293"/>
                <a:ext cx="5332801" cy="483466"/>
              </a:xfrm>
              <a:prstGeom prst="rect">
                <a:avLst/>
              </a:prstGeom>
              <a:blipFill rotWithShape="0">
                <a:blip r:embed="rId9"/>
                <a:stretch>
                  <a:fillRect l="-91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0348" y="4766759"/>
            <a:ext cx="28476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do you make fractions equivalent?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2968543" y="4771198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</a:t>
            </a:r>
            <a:r>
              <a:rPr lang="en-AU" dirty="0" smtClean="0"/>
              <a:t>multiply/divide </a:t>
            </a:r>
            <a:r>
              <a:rPr lang="en-AU" dirty="0" smtClean="0"/>
              <a:t>the numerator (top) and denominator (bottom) by the same number.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209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117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Equivalent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</a:t>
            </a:r>
            <a:r>
              <a:rPr lang="en-AU" sz="2400" dirty="0" smtClean="0"/>
              <a:t>you make equivalent </a:t>
            </a:r>
            <a:r>
              <a:rPr lang="en-AU" sz="2400" dirty="0"/>
              <a:t>fractions?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957596"/>
            <a:ext cx="2915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31612" y="1957596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55623" y="2820690"/>
                <a:ext cx="1530412" cy="61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e.g.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623" y="2820690"/>
                <a:ext cx="1530412" cy="614655"/>
              </a:xfrm>
              <a:prstGeom prst="rect">
                <a:avLst/>
              </a:prstGeom>
              <a:blipFill rotWithShape="0">
                <a:blip r:embed="rId3"/>
                <a:stretch>
                  <a:fillRect l="-5976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/>
          <p:cNvSpPr/>
          <p:nvPr/>
        </p:nvSpPr>
        <p:spPr>
          <a:xfrm>
            <a:off x="4730050" y="2644690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/>
          <p:cNvSpPr/>
          <p:nvPr/>
        </p:nvSpPr>
        <p:spPr>
          <a:xfrm>
            <a:off x="6530249" y="2636821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>
            <a:stCxn id="26" idx="0"/>
            <a:endCxn id="26" idx="4"/>
          </p:cNvCxnSpPr>
          <p:nvPr/>
        </p:nvCxnSpPr>
        <p:spPr>
          <a:xfrm>
            <a:off x="5234106" y="2644690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34306" y="2620821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520040" y="3128018"/>
            <a:ext cx="1008112" cy="94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4855726" y="2852936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726" y="2852936"/>
                <a:ext cx="360040" cy="6347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5252447" y="2860484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447" y="2860484"/>
                <a:ext cx="360040" cy="63478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6746273" y="2666859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273" y="2666859"/>
                <a:ext cx="288032" cy="438005"/>
              </a:xfrm>
              <a:prstGeom prst="rect">
                <a:avLst/>
              </a:prstGeom>
              <a:blipFill rotWithShape="0"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6746273" y="313718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273" y="3137180"/>
                <a:ext cx="288032" cy="438005"/>
              </a:xfrm>
              <a:prstGeom prst="rect">
                <a:avLst/>
              </a:prstGeom>
              <a:blipFill rotWithShape="0"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7054793" y="26666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793" y="2666691"/>
                <a:ext cx="288032" cy="438005"/>
              </a:xfrm>
              <a:prstGeom prst="rect">
                <a:avLst/>
              </a:prstGeom>
              <a:blipFill rotWithShape="0"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7063785" y="313718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785" y="3137180"/>
                <a:ext cx="288032" cy="438005"/>
              </a:xfrm>
              <a:prstGeom prst="rect">
                <a:avLst/>
              </a:prstGeom>
              <a:blipFill rotWithShape="0"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98007" y="3693609"/>
            <a:ext cx="2714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Why do we need to make equivalent fractions?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2968543" y="3693608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 that we can add and subtract </a:t>
            </a:r>
            <a:r>
              <a:rPr lang="en-AU" dirty="0" smtClean="0"/>
              <a:t>fractions or so we can find the simplest version of that fraction to help us understand.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971534" y="4283293"/>
                <a:ext cx="5332801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i="1" dirty="0" smtClean="0"/>
                  <a:t>How much of a pizza would you prefer to eat?</a:t>
                </a:r>
                <a:r>
                  <a:rPr lang="en-AU" i="1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534" y="4283293"/>
                <a:ext cx="5332801" cy="483466"/>
              </a:xfrm>
              <a:prstGeom prst="rect">
                <a:avLst/>
              </a:prstGeom>
              <a:blipFill rotWithShape="0">
                <a:blip r:embed="rId9"/>
                <a:stretch>
                  <a:fillRect l="-91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0348" y="4766759"/>
            <a:ext cx="28476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do you make fractions equivalent?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2968543" y="4771198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</a:t>
            </a:r>
            <a:r>
              <a:rPr lang="en-AU" dirty="0" smtClean="0"/>
              <a:t>multiply/divide </a:t>
            </a:r>
            <a:r>
              <a:rPr lang="en-AU" dirty="0" smtClean="0"/>
              <a:t>the numerator (top) and denominator (bottom) by the same number.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55623" y="5413090"/>
                <a:ext cx="1156337" cy="61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400" dirty="0" smtClean="0"/>
                  <a:t>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623" y="5413090"/>
                <a:ext cx="1156337" cy="614655"/>
              </a:xfrm>
              <a:prstGeom prst="rect">
                <a:avLst/>
              </a:prstGeom>
              <a:blipFill rotWithShape="0">
                <a:blip r:embed="rId10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3184585" y="5356444"/>
            <a:ext cx="46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×3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7907" y="5692095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×3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4277422" y="5444463"/>
                <a:ext cx="1460740" cy="616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0070C0"/>
                    </a:solidFill>
                  </a:rPr>
                  <a:t>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422" y="5444463"/>
                <a:ext cx="1460740" cy="616964"/>
              </a:xfrm>
              <a:prstGeom prst="rect">
                <a:avLst/>
              </a:prstGeom>
              <a:blipFill rotWithShape="0">
                <a:blip r:embed="rId11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4672961" y="5413090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÷10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708293" y="5720417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÷10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6071323" y="5429173"/>
                <a:ext cx="1271502" cy="616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7030A0"/>
                    </a:solidFill>
                  </a:rPr>
                  <a:t> </a:t>
                </a:r>
                <a:r>
                  <a:rPr lang="en-AU" sz="2400" dirty="0">
                    <a:solidFill>
                      <a:srgbClr val="7030A0"/>
                    </a:solidFill>
                  </a:rPr>
                  <a:t>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323" y="5429173"/>
                <a:ext cx="1271502" cy="616194"/>
              </a:xfrm>
              <a:prstGeom prst="rect">
                <a:avLst/>
              </a:prstGeom>
              <a:blipFill rotWithShape="0">
                <a:blip r:embed="rId12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6370899" y="5398699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÷2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73822" y="5714134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÷2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7528711" y="5428284"/>
                <a:ext cx="1271502" cy="622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chemeClr val="accent3">
                        <a:lumMod val="50000"/>
                      </a:schemeClr>
                    </a:solidFill>
                  </a:rPr>
                  <a:t> </a:t>
                </a:r>
                <a:r>
                  <a:rPr lang="en-AU" sz="2400" dirty="0">
                    <a:solidFill>
                      <a:schemeClr val="accent3">
                        <a:lumMod val="50000"/>
                      </a:schemeClr>
                    </a:solidFill>
                  </a:rPr>
                  <a:t>    </a:t>
                </a:r>
                <a:r>
                  <a:rPr lang="en-AU" sz="2400" dirty="0" smtClean="0">
                    <a:solidFill>
                      <a:schemeClr val="accent3">
                        <a:lumMod val="50000"/>
                      </a:schemeClr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24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711" y="5428284"/>
                <a:ext cx="1271502" cy="622222"/>
              </a:xfrm>
              <a:prstGeom prst="rect">
                <a:avLst/>
              </a:prstGeom>
              <a:blipFill rotWithShape="0">
                <a:blip r:embed="rId13"/>
                <a:stretch>
                  <a:fillRect b="-87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7853111" y="5398699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73006" y="5724019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÷5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8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117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Equivalent Fractions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</a:t>
            </a:r>
            <a:r>
              <a:rPr lang="en-AU" sz="2400" dirty="0" smtClean="0"/>
              <a:t>you make equivalent </a:t>
            </a:r>
            <a:r>
              <a:rPr lang="en-AU" sz="2400" dirty="0"/>
              <a:t>fractions?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957596"/>
            <a:ext cx="2915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equivalent fractions?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31612" y="1957596"/>
            <a:ext cx="606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Equivalent fractions are equal to each other. They have the same value but each have a different denominator.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055623" y="2820690"/>
                <a:ext cx="1530412" cy="61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e.g.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623" y="2820690"/>
                <a:ext cx="1530412" cy="614655"/>
              </a:xfrm>
              <a:prstGeom prst="rect">
                <a:avLst/>
              </a:prstGeom>
              <a:blipFill rotWithShape="0">
                <a:blip r:embed="rId3"/>
                <a:stretch>
                  <a:fillRect l="-5976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/>
          <p:cNvSpPr/>
          <p:nvPr/>
        </p:nvSpPr>
        <p:spPr>
          <a:xfrm>
            <a:off x="4730050" y="2644690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/>
          <p:cNvSpPr/>
          <p:nvPr/>
        </p:nvSpPr>
        <p:spPr>
          <a:xfrm>
            <a:off x="6530249" y="2636821"/>
            <a:ext cx="1008112" cy="1023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>
            <a:stCxn id="26" idx="0"/>
            <a:endCxn id="26" idx="4"/>
          </p:cNvCxnSpPr>
          <p:nvPr/>
        </p:nvCxnSpPr>
        <p:spPr>
          <a:xfrm>
            <a:off x="5234106" y="2644690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34306" y="2620821"/>
            <a:ext cx="0" cy="102389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520040" y="3128018"/>
            <a:ext cx="1008112" cy="9498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4855726" y="2852936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726" y="2852936"/>
                <a:ext cx="360040" cy="63478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5252447" y="2860484"/>
                <a:ext cx="3600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447" y="2860484"/>
                <a:ext cx="360040" cy="63478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6746273" y="2666859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273" y="2666859"/>
                <a:ext cx="288032" cy="438005"/>
              </a:xfrm>
              <a:prstGeom prst="rect">
                <a:avLst/>
              </a:prstGeom>
              <a:blipFill rotWithShape="0">
                <a:blip r:embed="rId6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6746273" y="313718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273" y="3137180"/>
                <a:ext cx="288032" cy="438005"/>
              </a:xfrm>
              <a:prstGeom prst="rect">
                <a:avLst/>
              </a:prstGeom>
              <a:blipFill rotWithShape="0"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7054793" y="2666691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793" y="2666691"/>
                <a:ext cx="288032" cy="438005"/>
              </a:xfrm>
              <a:prstGeom prst="rect">
                <a:avLst/>
              </a:prstGeom>
              <a:blipFill rotWithShape="0"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7063785" y="3137180"/>
                <a:ext cx="288032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785" y="3137180"/>
                <a:ext cx="288032" cy="438005"/>
              </a:xfrm>
              <a:prstGeom prst="rect">
                <a:avLst/>
              </a:prstGeom>
              <a:blipFill rotWithShape="0"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98007" y="3693609"/>
            <a:ext cx="2714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Why do we need to make equivalent fractions?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2968543" y="3693608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 that we can add and subtract </a:t>
            </a:r>
            <a:r>
              <a:rPr lang="en-AU" dirty="0" smtClean="0"/>
              <a:t>fractions or so we can find the simplest version of that fraction to help us understand.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971534" y="4283293"/>
                <a:ext cx="5332801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i="1" dirty="0" smtClean="0"/>
                  <a:t>How much of a pizza would you prefer to eat?</a:t>
                </a:r>
                <a:r>
                  <a:rPr lang="en-AU" i="1" dirty="0" smtClean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534" y="4283293"/>
                <a:ext cx="5332801" cy="483466"/>
              </a:xfrm>
              <a:prstGeom prst="rect">
                <a:avLst/>
              </a:prstGeom>
              <a:blipFill rotWithShape="0">
                <a:blip r:embed="rId9"/>
                <a:stretch>
                  <a:fillRect l="-914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0348" y="4766759"/>
            <a:ext cx="28476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do you make fractions equivalent?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2968543" y="4771198"/>
            <a:ext cx="576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You </a:t>
            </a:r>
            <a:r>
              <a:rPr lang="en-AU" dirty="0" smtClean="0"/>
              <a:t>multiply/divide </a:t>
            </a:r>
            <a:r>
              <a:rPr lang="en-AU" dirty="0" smtClean="0"/>
              <a:t>the numerator (top) and denominator (bottom) by the same number.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055623" y="5413090"/>
                <a:ext cx="1156337" cy="61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400" dirty="0" smtClean="0"/>
                  <a:t>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623" y="5413090"/>
                <a:ext cx="1156337" cy="614655"/>
              </a:xfrm>
              <a:prstGeom prst="rect">
                <a:avLst/>
              </a:prstGeom>
              <a:blipFill rotWithShape="0">
                <a:blip r:embed="rId10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3184585" y="5356444"/>
            <a:ext cx="46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×3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07907" y="5692095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×3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4277422" y="5444463"/>
                <a:ext cx="1460740" cy="616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0070C0"/>
                    </a:solidFill>
                  </a:rPr>
                  <a:t>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422" y="5444463"/>
                <a:ext cx="1460740" cy="616964"/>
              </a:xfrm>
              <a:prstGeom prst="rect">
                <a:avLst/>
              </a:prstGeom>
              <a:blipFill rotWithShape="0">
                <a:blip r:embed="rId11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4672961" y="5413090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÷10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708293" y="5720417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÷10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6071323" y="5429173"/>
                <a:ext cx="1271502" cy="616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7030A0"/>
                    </a:solidFill>
                  </a:rPr>
                  <a:t> </a:t>
                </a:r>
                <a:r>
                  <a:rPr lang="en-AU" sz="2400" dirty="0">
                    <a:solidFill>
                      <a:srgbClr val="7030A0"/>
                    </a:solidFill>
                  </a:rPr>
                  <a:t>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323" y="5429173"/>
                <a:ext cx="1271502" cy="616194"/>
              </a:xfrm>
              <a:prstGeom prst="rect">
                <a:avLst/>
              </a:prstGeom>
              <a:blipFill rotWithShape="0">
                <a:blip r:embed="rId12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6370899" y="5398699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÷2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73822" y="5714134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÷2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/>
              <p:cNvSpPr/>
              <p:nvPr/>
            </p:nvSpPr>
            <p:spPr>
              <a:xfrm>
                <a:off x="7528711" y="5428284"/>
                <a:ext cx="1271502" cy="622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chemeClr val="accent3">
                        <a:lumMod val="50000"/>
                      </a:schemeClr>
                    </a:solidFill>
                  </a:rPr>
                  <a:t> </a:t>
                </a:r>
                <a:r>
                  <a:rPr lang="en-AU" sz="2400" dirty="0">
                    <a:solidFill>
                      <a:schemeClr val="accent3">
                        <a:lumMod val="50000"/>
                      </a:schemeClr>
                    </a:solidFill>
                  </a:rPr>
                  <a:t>    </a:t>
                </a:r>
                <a:r>
                  <a:rPr lang="en-AU" sz="2400" dirty="0" smtClean="0">
                    <a:solidFill>
                      <a:schemeClr val="accent3">
                        <a:lumMod val="50000"/>
                      </a:schemeClr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24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711" y="5428284"/>
                <a:ext cx="1271502" cy="622222"/>
              </a:xfrm>
              <a:prstGeom prst="rect">
                <a:avLst/>
              </a:prstGeom>
              <a:blipFill rotWithShape="0">
                <a:blip r:embed="rId13"/>
                <a:stretch>
                  <a:fillRect b="-87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7853111" y="5398699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÷5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73006" y="5724019"/>
            <a:ext cx="533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÷5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4465316" y="6068238"/>
            <a:ext cx="390410" cy="3560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06296" y="6284004"/>
            <a:ext cx="155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Lose the zeros</a:t>
            </a:r>
            <a:endParaRPr lang="en-AU" b="1" dirty="0">
              <a:solidFill>
                <a:srgbClr val="0070C0"/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6146805" y="6041134"/>
            <a:ext cx="390410" cy="3560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78343" y="6330328"/>
            <a:ext cx="777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Half it</a:t>
            </a:r>
            <a:endParaRPr lang="en-AU" b="1" dirty="0">
              <a:solidFill>
                <a:srgbClr val="7030A0"/>
              </a:solidFill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 flipV="1">
            <a:off x="7667854" y="6050506"/>
            <a:ext cx="390410" cy="3560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902854" y="6346241"/>
            <a:ext cx="155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</a:rPr>
              <a:t>Divide by HCF</a:t>
            </a:r>
            <a:endParaRPr lang="en-AU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0179" y="6239648"/>
            <a:ext cx="29591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*Some tricks for simplifying*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809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006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Remember! 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" y="1475656"/>
            <a:ext cx="9155610" cy="267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0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understand</a:t>
            </a:r>
            <a:r>
              <a:rPr lang="en-US" dirty="0" smtClean="0"/>
              <a:t>? </a:t>
            </a:r>
            <a:r>
              <a:rPr lang="en-US" dirty="0" smtClean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45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726" y="185924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Let’s try these together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54516" y="1988840"/>
                <a:ext cx="4258816" cy="45259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) </m:t>
                      </m:r>
                      <m:f>
                        <m:fPr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4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2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) </m:t>
                      </m:r>
                      <m:f>
                        <m:fPr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/>
                      </m:f>
                    </m:oMath>
                  </m:oMathPara>
                </a14:m>
                <a:endParaRPr lang="en-US" sz="40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2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) </m:t>
                      </m:r>
                      <m:f>
                        <m:fPr>
                          <m:ctrlPr>
                            <a:rPr lang="en-AU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4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AU" sz="4000" dirty="0" smtClean="0"/>
              </a:p>
              <a:p>
                <a:pPr marL="0" indent="0">
                  <a:buNone/>
                </a:pPr>
                <a:r>
                  <a:rPr lang="en-AU" b="0" dirty="0" smtClean="0"/>
                  <a:t>W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h𝑖𝑐h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𝑙𝑎𝑟𝑔𝑒𝑟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 smtClean="0"/>
                  <a:t> ?</a:t>
                </a:r>
                <a:endParaRPr lang="en-AU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4516" y="1988840"/>
                <a:ext cx="4258816" cy="4525963"/>
              </a:xfrm>
              <a:blipFill rotWithShape="0">
                <a:blip r:embed="rId3"/>
                <a:stretch>
                  <a:fillRect l="-3438" r="-1576" b="-8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860032" y="2007781"/>
                <a:ext cx="3837112" cy="3752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7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3700" i="1">
                          <a:latin typeface="Cambria Math" panose="02040503050406030204" pitchFamily="18" charset="0"/>
                        </a:rPr>
                        <m:t>) </m:t>
                      </m:r>
                      <m:f>
                        <m:fPr>
                          <m:ctrlPr>
                            <a:rPr lang="en-AU" sz="3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7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num>
                        <m:den>
                          <m:r>
                            <a:rPr lang="en-US" sz="37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AU" sz="37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3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/>
                      </m:f>
                    </m:oMath>
                  </m:oMathPara>
                </a14:m>
                <a:endParaRPr lang="en-US" sz="3700" i="1" dirty="0">
                  <a:latin typeface="Cambria Math" panose="02040503050406030204" pitchFamily="18" charset="0"/>
                </a:endParaRPr>
              </a:p>
              <a:p>
                <a:endParaRPr lang="en-US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70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3700" i="1">
                          <a:latin typeface="Cambria Math" panose="02040503050406030204" pitchFamily="18" charset="0"/>
                        </a:rPr>
                        <m:t>) </m:t>
                      </m:r>
                      <m:f>
                        <m:fPr>
                          <m:ctrlPr>
                            <a:rPr lang="en-AU" sz="3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700" b="0" i="1" smtClean="0">
                              <a:latin typeface="Cambria Math" panose="02040503050406030204" pitchFamily="18" charset="0"/>
                            </a:rPr>
                            <m:t>46</m:t>
                          </m:r>
                        </m:num>
                        <m:den>
                          <m:r>
                            <a:rPr lang="en-US" sz="37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AU" sz="37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3700" i="1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37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US" sz="3700" i="1" dirty="0">
                  <a:latin typeface="Cambria Math" panose="02040503050406030204" pitchFamily="18" charset="0"/>
                </a:endParaRPr>
              </a:p>
              <a:p>
                <a:endParaRPr lang="en-US" sz="1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7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3700" i="1">
                          <a:latin typeface="Cambria Math" panose="02040503050406030204" pitchFamily="18" charset="0"/>
                        </a:rPr>
                        <m:t>) </m:t>
                      </m:r>
                      <m:f>
                        <m:fPr>
                          <m:ctrlPr>
                            <a:rPr lang="en-AU" sz="3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7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3700" b="0" i="1" smtClean="0">
                              <a:latin typeface="Cambria Math" panose="02040503050406030204" pitchFamily="18" charset="0"/>
                            </a:rPr>
                            <m:t>77</m:t>
                          </m:r>
                        </m:den>
                      </m:f>
                      <m:r>
                        <a:rPr lang="en-AU" sz="37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3700" i="1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</m:oMath>
                  </m:oMathPara>
                </a14:m>
                <a:endParaRPr lang="en-AU" sz="37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2007781"/>
                <a:ext cx="3837112" cy="3752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83568" y="1484784"/>
            <a:ext cx="7560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Getting bigger			Getting smaller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08818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722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" y="836712"/>
            <a:ext cx="8515808" cy="37763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5" y="4509120"/>
            <a:ext cx="9073008" cy="234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challenge</a:t>
            </a:r>
            <a:r>
              <a:rPr lang="en-US" dirty="0"/>
              <a:t>!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 smtClean="0"/>
                  <a:t>Find as many equivalent fractions for </a:t>
                </a: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2800" dirty="0" smtClean="0"/>
                  <a:t> as you can in one minute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333" r="-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45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challenge</a:t>
            </a:r>
            <a:r>
              <a:rPr lang="en-US" dirty="0"/>
              <a:t>!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 smtClean="0"/>
                  <a:t>Find as many equivalent fractions for </a:t>
                </a: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2800" dirty="0" smtClean="0"/>
                  <a:t> as you can in one minute</a:t>
                </a:r>
              </a:p>
              <a:p>
                <a:r>
                  <a:rPr lang="en-US" sz="2800" dirty="0" smtClean="0"/>
                  <a:t>Compare them with your </a:t>
                </a:r>
                <a:r>
                  <a:rPr lang="en-US" sz="2800" dirty="0" err="1" smtClean="0"/>
                  <a:t>neighbour</a:t>
                </a:r>
                <a:r>
                  <a:rPr lang="en-US" sz="2800" dirty="0" smtClean="0"/>
                  <a:t>. Cross off any you both got. How many unique ones did you get?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333" r="-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79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920920" y="1730329"/>
                <a:ext cx="864096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920" y="1730329"/>
                <a:ext cx="864096" cy="78380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23928" y="874219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874219"/>
                <a:ext cx="864096" cy="7861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923928" y="93390"/>
                <a:ext cx="864096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93390"/>
                <a:ext cx="864096" cy="79367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105612" y="3905456"/>
                <a:ext cx="864096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612" y="3905456"/>
                <a:ext cx="864096" cy="79367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094187" y="2805913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187" y="2805913"/>
                <a:ext cx="864096" cy="7861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726800" y="2774576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800" y="2774576"/>
                <a:ext cx="864096" cy="7861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376960" y="2757317"/>
                <a:ext cx="864096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960" y="2757317"/>
                <a:ext cx="864096" cy="78483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920920" y="2754457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920" y="2754457"/>
                <a:ext cx="864096" cy="7861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037990" y="2730517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990" y="2730517"/>
                <a:ext cx="864096" cy="7861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499742" y="2751597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742" y="2751597"/>
                <a:ext cx="864096" cy="78617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581950" y="2751597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48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950" y="2751597"/>
                <a:ext cx="864096" cy="7861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434194" y="4899481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194" y="4899481"/>
                <a:ext cx="864096" cy="7861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641319" y="3585514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319" y="3585514"/>
                <a:ext cx="864096" cy="7861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217386" y="3791834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386" y="3791834"/>
                <a:ext cx="864096" cy="7861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846711" y="4185900"/>
                <a:ext cx="864096" cy="81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711" y="4185900"/>
                <a:ext cx="864096" cy="818044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923928" y="5117207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5117207"/>
                <a:ext cx="864096" cy="7861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314965" y="5334933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965" y="5334933"/>
                <a:ext cx="864096" cy="786177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899469" y="5890436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469" y="5890436"/>
                <a:ext cx="864096" cy="786177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741220" y="5902642"/>
                <a:ext cx="864096" cy="783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220" y="5902642"/>
                <a:ext cx="864096" cy="783741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301763" y="5901795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763" y="5901795"/>
                <a:ext cx="864096" cy="786177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920638" y="5902641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461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922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638" y="5902641"/>
                <a:ext cx="864096" cy="786177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 rot="19995164">
            <a:off x="353347" y="1397119"/>
            <a:ext cx="3201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70C0"/>
                </a:solidFill>
              </a:rPr>
              <a:t>Here are some of mine. How did I go?</a:t>
            </a:r>
            <a:endParaRPr lang="en-AU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18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920920" y="1730329"/>
                <a:ext cx="864096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920" y="1730329"/>
                <a:ext cx="864096" cy="78380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23928" y="874219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874219"/>
                <a:ext cx="864096" cy="78617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923928" y="93390"/>
                <a:ext cx="864096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93390"/>
                <a:ext cx="864096" cy="79367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105612" y="3905456"/>
                <a:ext cx="864096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612" y="3905456"/>
                <a:ext cx="864096" cy="79367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094187" y="2805913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187" y="2805913"/>
                <a:ext cx="864096" cy="7861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726800" y="2774576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800" y="2774576"/>
                <a:ext cx="864096" cy="7861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376960" y="2757317"/>
                <a:ext cx="864096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960" y="2757317"/>
                <a:ext cx="864096" cy="78483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920920" y="2754457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920" y="2754457"/>
                <a:ext cx="864096" cy="7861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037990" y="2730517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990" y="2730517"/>
                <a:ext cx="864096" cy="7861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499742" y="2751597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742" y="2751597"/>
                <a:ext cx="864096" cy="78617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581950" y="2751597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48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950" y="2751597"/>
                <a:ext cx="864096" cy="78617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434194" y="4899481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194" y="4899481"/>
                <a:ext cx="864096" cy="7861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641319" y="3585514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319" y="3585514"/>
                <a:ext cx="864096" cy="7861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217386" y="3791834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386" y="3791834"/>
                <a:ext cx="864096" cy="7861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846711" y="4185900"/>
                <a:ext cx="864096" cy="81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711" y="4185900"/>
                <a:ext cx="864096" cy="818044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923928" y="5117207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5117207"/>
                <a:ext cx="864096" cy="7861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314965" y="5334933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4965" y="5334933"/>
                <a:ext cx="864096" cy="786177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899469" y="5890436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469" y="5890436"/>
                <a:ext cx="864096" cy="786177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741220" y="5902642"/>
                <a:ext cx="864096" cy="783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220" y="5902642"/>
                <a:ext cx="864096" cy="783741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301763" y="5901795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US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28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763" y="5901795"/>
                <a:ext cx="864096" cy="786177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4920638" y="5902641"/>
                <a:ext cx="864096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461</m:t>
                          </m:r>
                        </m:num>
                        <m:den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922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638" y="5902641"/>
                <a:ext cx="864096" cy="786177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 rot="1394906">
            <a:off x="5888733" y="4375373"/>
            <a:ext cx="3201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Did you spot the error?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45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826</Words>
  <Application>Microsoft Office PowerPoint</Application>
  <PresentationFormat>On-screen Show (4:3)</PresentationFormat>
  <Paragraphs>301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 Math</vt:lpstr>
      <vt:lpstr>Office Theme</vt:lpstr>
      <vt:lpstr>My Algebra   Interactive Notebook</vt:lpstr>
      <vt:lpstr>PowerPoint Presentation</vt:lpstr>
      <vt:lpstr>PowerPoint Presentation</vt:lpstr>
      <vt:lpstr>Group Activity- Fraction Connectors</vt:lpstr>
      <vt:lpstr>Group Activity- Fraction Connectors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Remember! </vt:lpstr>
      <vt:lpstr>Do you understand? Fists of Five</vt:lpstr>
      <vt:lpstr>Let’s try these together </vt:lpstr>
      <vt:lpstr>Task </vt:lpstr>
      <vt:lpstr>Final challenge!</vt:lpstr>
      <vt:lpstr>Final challenge!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e4057735</cp:lastModifiedBy>
  <cp:revision>55</cp:revision>
  <dcterms:created xsi:type="dcterms:W3CDTF">2014-05-14T02:58:57Z</dcterms:created>
  <dcterms:modified xsi:type="dcterms:W3CDTF">2017-04-25T03:47:51Z</dcterms:modified>
</cp:coreProperties>
</file>
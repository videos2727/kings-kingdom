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oleObject"/>
  <Default Extension="vml" ContentType="application/vnd.openxmlformats-officedocument.vmlDrawi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1" r:id="rId2"/>
    <p:sldMasterId id="2147483653" r:id="rId3"/>
  </p:sldMasterIdLst>
  <p:sldIdLst>
    <p:sldId id="256" r:id="rId4"/>
    <p:sldId id="272" r:id="rId5"/>
    <p:sldId id="27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FF66"/>
    <a:srgbClr val="0000FF"/>
    <a:srgbClr val="CC0099"/>
    <a:srgbClr val="9933FF"/>
    <a:srgbClr val="0033CC"/>
    <a:srgbClr val="66FF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2197" autoAdjust="0"/>
  </p:normalViewPr>
  <p:slideViewPr>
    <p:cSldViewPr>
      <p:cViewPr varScale="1">
        <p:scale>
          <a:sx n="51" d="100"/>
          <a:sy n="51" d="100"/>
        </p:scale>
        <p:origin x="17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1" Type="http://schemas.openxmlformats.org/officeDocument/2006/relationships/image" Target="../media/image18.wmf"/><Relationship Id="rId12" Type="http://schemas.openxmlformats.org/officeDocument/2006/relationships/image" Target="../media/image19.wmf"/><Relationship Id="rId1" Type="http://schemas.openxmlformats.org/officeDocument/2006/relationships/image" Target="../media/image8.wmf"/><Relationship Id="rId2" Type="http://schemas.openxmlformats.org/officeDocument/2006/relationships/image" Target="../media/image9.wmf"/><Relationship Id="rId3" Type="http://schemas.openxmlformats.org/officeDocument/2006/relationships/image" Target="../media/image10.wmf"/><Relationship Id="rId4" Type="http://schemas.openxmlformats.org/officeDocument/2006/relationships/image" Target="../media/image11.wmf"/><Relationship Id="rId5" Type="http://schemas.openxmlformats.org/officeDocument/2006/relationships/image" Target="../media/image12.wmf"/><Relationship Id="rId6" Type="http://schemas.openxmlformats.org/officeDocument/2006/relationships/image" Target="../media/image13.wmf"/><Relationship Id="rId7" Type="http://schemas.openxmlformats.org/officeDocument/2006/relationships/image" Target="../media/image14.wmf"/><Relationship Id="rId8" Type="http://schemas.openxmlformats.org/officeDocument/2006/relationships/image" Target="../media/image15.wmf"/><Relationship Id="rId9" Type="http://schemas.openxmlformats.org/officeDocument/2006/relationships/image" Target="../media/image16.wmf"/><Relationship Id="rId10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4" Type="http://schemas.openxmlformats.org/officeDocument/2006/relationships/image" Target="../media/image23.wmf"/><Relationship Id="rId5" Type="http://schemas.openxmlformats.org/officeDocument/2006/relationships/image" Target="../media/image24.wmf"/><Relationship Id="rId6" Type="http://schemas.openxmlformats.org/officeDocument/2006/relationships/image" Target="../media/image25.wmf"/><Relationship Id="rId1" Type="http://schemas.openxmlformats.org/officeDocument/2006/relationships/image" Target="../media/image20.wmf"/><Relationship Id="rId2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4" Type="http://schemas.openxmlformats.org/officeDocument/2006/relationships/image" Target="../media/image31.wmf"/><Relationship Id="rId5" Type="http://schemas.openxmlformats.org/officeDocument/2006/relationships/image" Target="../media/image32.wmf"/><Relationship Id="rId6" Type="http://schemas.openxmlformats.org/officeDocument/2006/relationships/image" Target="../media/image33.wmf"/><Relationship Id="rId7" Type="http://schemas.openxmlformats.org/officeDocument/2006/relationships/image" Target="../media/image34.wmf"/><Relationship Id="rId8" Type="http://schemas.openxmlformats.org/officeDocument/2006/relationships/image" Target="../media/image35.wmf"/><Relationship Id="rId1" Type="http://schemas.openxmlformats.org/officeDocument/2006/relationships/image" Target="../media/image28.wmf"/><Relationship Id="rId2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9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0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1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2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3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4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5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6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7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8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9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0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1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2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5143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5144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514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98438"/>
            <a:ext cx="7772400" cy="2286000"/>
          </a:xfrm>
        </p:spPr>
        <p:txBody>
          <a:bodyPr anchor="b">
            <a:spAutoFit/>
          </a:bodyPr>
          <a:lstStyle>
            <a:lvl1pPr>
              <a:defRPr sz="72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514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4000"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5147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AU"/>
          </a:p>
        </p:txBody>
      </p:sp>
      <p:sp>
        <p:nvSpPr>
          <p:cNvPr id="5148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AU"/>
          </a:p>
        </p:txBody>
      </p:sp>
      <p:sp>
        <p:nvSpPr>
          <p:cNvPr id="5149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D8CDFB4-FFD8-481E-9481-8D2A26A0131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8AF155-291E-43ED-A8B5-4295193AADC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723CB-BA85-4985-9F35-5690D64E282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A5CA6-38DE-499F-A915-748BCA6D359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1D6839-2A54-4749-82F6-2288AD28B082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FEAE6-C5C8-4233-8035-F488D514F46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F1367-0738-4977-B503-54A033C0383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440A6-DF38-40F6-B460-D526230940C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D07DD-995E-4518-A80D-09DC03268A3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E6570-2B9E-4DE3-A928-6EC2F312C09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1DCA8-A47F-4BA2-9691-BDEEB7F3F69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23555" name="Freeform 3"/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/>
              <a:ahLst/>
              <a:cxnLst>
                <a:cxn ang="0">
                  <a:pos x="5154" y="1769"/>
                </a:cxn>
                <a:cxn ang="0">
                  <a:pos x="0" y="2304"/>
                </a:cxn>
                <a:cxn ang="0">
                  <a:pos x="0" y="1252"/>
                </a:cxn>
                <a:cxn ang="0">
                  <a:pos x="5155" y="0"/>
                </a:cxn>
                <a:cxn ang="0">
                  <a:pos x="5155" y="1416"/>
                </a:cxn>
                <a:cxn ang="0">
                  <a:pos x="5154" y="1769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556" name="Freeform 4"/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/>
              <a:ahLst/>
              <a:cxnLst>
                <a:cxn ang="0">
                  <a:pos x="5311" y="3209"/>
                </a:cxn>
                <a:cxn ang="0">
                  <a:pos x="0" y="3689"/>
                </a:cxn>
                <a:cxn ang="0">
                  <a:pos x="0" y="9"/>
                </a:cxn>
                <a:cxn ang="0">
                  <a:pos x="5328" y="0"/>
                </a:cxn>
                <a:cxn ang="0">
                  <a:pos x="5311" y="320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55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3560" name="Rectangle 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F0A4E42-62FC-4356-81C9-0914305BFBAD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AU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996E1A-9E1E-4E30-82AE-9950A30BDFD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17AD2-721D-46D3-BA5C-DF0FA1CB0E1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5E1FF-AF16-4A4E-B457-7EA3588FB72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FBA037-68A8-46D1-A750-41EE641171E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B349A-302E-415E-8717-C72392A00FCC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79C08-B7A4-46D5-9B44-C6537BDD81C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06D33-4BF0-4ED7-A2BF-D27B4DA167C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B66E5-C443-4DA5-A838-F6D0010CE2A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61DD0-890E-4501-8D26-94C7917EB66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D803EE-C6EC-4F8D-8939-567C3BDE6F5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titlemaster_me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62763"/>
          </a:xfrm>
          <a:prstGeom prst="rect">
            <a:avLst/>
          </a:prstGeom>
          <a:noFill/>
        </p:spPr>
      </p:pic>
      <p:sp>
        <p:nvSpPr>
          <p:cNvPr id="29699" name="Rectangle 3"/>
          <p:cNvSpPr>
            <a:spLocks noGrp="1" noChangeArrowheads="1"/>
          </p:cNvSpPr>
          <p:nvPr>
            <p:ph type="dt" sz="half" idx="2"/>
          </p:nvPr>
        </p:nvSpPr>
        <p:spPr>
          <a:xfrm>
            <a:off x="304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7DFF08C-3F88-4C3E-BABD-D5B681EFA7D6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362200" y="3429000"/>
            <a:ext cx="6400800" cy="14478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1371600"/>
            <a:ext cx="7620000" cy="20574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</a:ln>
        </p:spPr>
        <p:txBody>
          <a:bodyPr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AU"/>
              <a:t>Click to edit Master title style</a:t>
            </a:r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963065-93F0-48A0-9D3C-89B8DF9B7D9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07E6E-1424-4BB1-82DE-AB67FD1FD0BC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CE9CB-71A3-4259-9AB0-843E7AC54A9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F8A7FC-A49B-42A1-8D64-85A964CB855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2B5ED-8DCE-4136-93CA-57F4547534F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2F44A-B246-449B-A85E-D8A4B6EE2D0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F9F45-7190-4B2B-AA72-274A64BCC37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59616-158D-4A67-A936-A8998988E72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0FCA5-89BE-49FC-B6D8-132A92E5592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228600"/>
            <a:ext cx="16002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38400" y="228600"/>
            <a:ext cx="46482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09EA4-FEB5-40C2-8B47-097AB64BD2D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8E61FCAB-B245-49BF-B516-FC92B25EC8D8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22531" name="Freeform 3"/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/>
              <a:ahLst/>
              <a:cxnLst>
                <a:cxn ang="0">
                  <a:pos x="4800" y="299"/>
                </a:cxn>
                <a:cxn ang="0">
                  <a:pos x="0" y="665"/>
                </a:cxn>
                <a:cxn ang="0">
                  <a:pos x="0" y="0"/>
                </a:cxn>
                <a:cxn ang="0">
                  <a:pos x="4806" y="1"/>
                </a:cxn>
                <a:cxn ang="0">
                  <a:pos x="4800" y="153"/>
                </a:cxn>
                <a:cxn ang="0">
                  <a:pos x="4800" y="299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532" name="Freeform 4"/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/>
              <a:ahLst/>
              <a:cxnLst>
                <a:cxn ang="0">
                  <a:pos x="4560" y="932"/>
                </a:cxn>
                <a:cxn ang="0">
                  <a:pos x="0" y="1199"/>
                </a:cxn>
                <a:cxn ang="0">
                  <a:pos x="0" y="0"/>
                </a:cxn>
                <a:cxn ang="0">
                  <a:pos x="4562" y="0"/>
                </a:cxn>
                <a:cxn ang="0">
                  <a:pos x="4560" y="932"/>
                </a:cxn>
                <a:cxn ang="0">
                  <a:pos x="4560" y="932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5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253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253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9FFBD0D7-66B7-41E8-9A18-01559690D7EE}" type="slidenum">
              <a:rPr lang="en-AU"/>
              <a:pPr/>
              <a:t>‹#›</a:t>
            </a:fld>
            <a:endParaRPr lang="en-A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0" y="0"/>
            <a:ext cx="2667000" cy="6858000"/>
            <a:chOff x="0" y="0"/>
            <a:chExt cx="1680" cy="4320"/>
          </a:xfrm>
        </p:grpSpPr>
        <p:sp>
          <p:nvSpPr>
            <p:cNvPr id="28675" name="Rectangle 3"/>
            <p:cNvSpPr>
              <a:spLocks noChangeArrowheads="1"/>
            </p:cNvSpPr>
            <p:nvPr/>
          </p:nvSpPr>
          <p:spPr bwMode="hidden">
            <a:xfrm>
              <a:off x="124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5490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Arial" charset="0"/>
              </a:endParaRPr>
            </a:p>
          </p:txBody>
        </p:sp>
        <p:pic>
          <p:nvPicPr>
            <p:cNvPr id="28676" name="Picture 4" descr="slidemaster_med3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ltGray">
            <a:xfrm>
              <a:off x="0" y="0"/>
              <a:ext cx="1348" cy="4320"/>
            </a:xfrm>
            <a:prstGeom prst="rect">
              <a:avLst/>
            </a:prstGeom>
            <a:noFill/>
          </p:spPr>
        </p:pic>
      </p:grpSp>
      <p:sp>
        <p:nvSpPr>
          <p:cNvPr id="286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228600"/>
            <a:ext cx="6400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600200"/>
            <a:ext cx="6400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248400"/>
            <a:ext cx="1901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868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86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fld id="{9DCC9449-22A2-47FC-BBEB-A9A8D5A3D466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20" Type="http://schemas.openxmlformats.org/officeDocument/2006/relationships/image" Target="../media/image16.wmf"/><Relationship Id="rId21" Type="http://schemas.openxmlformats.org/officeDocument/2006/relationships/oleObject" Target="../embeddings/oleObject14.bin"/><Relationship Id="rId22" Type="http://schemas.openxmlformats.org/officeDocument/2006/relationships/image" Target="../media/image17.wmf"/><Relationship Id="rId23" Type="http://schemas.openxmlformats.org/officeDocument/2006/relationships/oleObject" Target="../embeddings/oleObject15.bin"/><Relationship Id="rId24" Type="http://schemas.openxmlformats.org/officeDocument/2006/relationships/image" Target="../media/image18.wmf"/><Relationship Id="rId25" Type="http://schemas.openxmlformats.org/officeDocument/2006/relationships/oleObject" Target="../embeddings/oleObject16.bin"/><Relationship Id="rId26" Type="http://schemas.openxmlformats.org/officeDocument/2006/relationships/image" Target="../media/image19.wmf"/><Relationship Id="rId10" Type="http://schemas.openxmlformats.org/officeDocument/2006/relationships/image" Target="../media/image11.wmf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3" Type="http://schemas.openxmlformats.org/officeDocument/2006/relationships/oleObject" Target="../embeddings/oleObject10.bin"/><Relationship Id="rId14" Type="http://schemas.openxmlformats.org/officeDocument/2006/relationships/image" Target="../media/image13.wmf"/><Relationship Id="rId15" Type="http://schemas.openxmlformats.org/officeDocument/2006/relationships/oleObject" Target="../embeddings/oleObject11.bin"/><Relationship Id="rId16" Type="http://schemas.openxmlformats.org/officeDocument/2006/relationships/image" Target="../media/image14.wmf"/><Relationship Id="rId17" Type="http://schemas.openxmlformats.org/officeDocument/2006/relationships/oleObject" Target="../embeddings/oleObject12.bin"/><Relationship Id="rId18" Type="http://schemas.openxmlformats.org/officeDocument/2006/relationships/image" Target="../media/image15.wmf"/><Relationship Id="rId19" Type="http://schemas.openxmlformats.org/officeDocument/2006/relationships/oleObject" Target="../embeddings/oleObject13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7" Type="http://schemas.openxmlformats.org/officeDocument/2006/relationships/oleObject" Target="../embeddings/oleObject7.bin"/><Relationship Id="rId8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13" Type="http://schemas.openxmlformats.org/officeDocument/2006/relationships/oleObject" Target="../embeddings/oleObject22.bin"/><Relationship Id="rId14" Type="http://schemas.openxmlformats.org/officeDocument/2006/relationships/image" Target="../media/image25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6" Type="http://schemas.openxmlformats.org/officeDocument/2006/relationships/image" Target="../media/image21.wmf"/><Relationship Id="rId7" Type="http://schemas.openxmlformats.org/officeDocument/2006/relationships/oleObject" Target="../embeddings/oleObject19.bin"/><Relationship Id="rId8" Type="http://schemas.openxmlformats.org/officeDocument/2006/relationships/image" Target="../media/image22.wmf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4" Type="http://schemas.openxmlformats.org/officeDocument/2006/relationships/image" Target="../media/image26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28.bin"/><Relationship Id="rId12" Type="http://schemas.openxmlformats.org/officeDocument/2006/relationships/image" Target="../media/image32.wmf"/><Relationship Id="rId13" Type="http://schemas.openxmlformats.org/officeDocument/2006/relationships/oleObject" Target="../embeddings/oleObject29.bin"/><Relationship Id="rId14" Type="http://schemas.openxmlformats.org/officeDocument/2006/relationships/image" Target="../media/image33.wmf"/><Relationship Id="rId15" Type="http://schemas.openxmlformats.org/officeDocument/2006/relationships/oleObject" Target="../embeddings/oleObject30.bin"/><Relationship Id="rId16" Type="http://schemas.openxmlformats.org/officeDocument/2006/relationships/image" Target="../media/image34.wmf"/><Relationship Id="rId17" Type="http://schemas.openxmlformats.org/officeDocument/2006/relationships/oleObject" Target="../embeddings/oleObject31.bin"/><Relationship Id="rId18" Type="http://schemas.openxmlformats.org/officeDocument/2006/relationships/image" Target="../media/image35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8.wmf"/><Relationship Id="rId5" Type="http://schemas.openxmlformats.org/officeDocument/2006/relationships/oleObject" Target="../embeddings/oleObject25.bin"/><Relationship Id="rId6" Type="http://schemas.openxmlformats.org/officeDocument/2006/relationships/image" Target="../media/image29.wmf"/><Relationship Id="rId7" Type="http://schemas.openxmlformats.org/officeDocument/2006/relationships/oleObject" Target="../embeddings/oleObject26.bin"/><Relationship Id="rId8" Type="http://schemas.openxmlformats.org/officeDocument/2006/relationships/image" Target="../media/image30.wmf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4" Type="http://schemas.openxmlformats.org/officeDocument/2006/relationships/image" Target="../media/image36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WordArt 5"/>
          <p:cNvSpPr>
            <a:spLocks noChangeArrowheads="1" noChangeShapeType="1" noTextEdit="1"/>
          </p:cNvSpPr>
          <p:nvPr/>
        </p:nvSpPr>
        <p:spPr bwMode="auto">
          <a:xfrm>
            <a:off x="1981200" y="762000"/>
            <a:ext cx="5943600" cy="1266825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AU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/>
              </a:rPr>
              <a:t>Percentages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403350" y="3276600"/>
            <a:ext cx="72723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>
                <a:solidFill>
                  <a:srgbClr val="FF0000"/>
                </a:solidFill>
              </a:rPr>
              <a:t>“Per cent”</a:t>
            </a:r>
            <a:r>
              <a:rPr lang="en-AU" sz="3200"/>
              <a:t> means </a:t>
            </a:r>
            <a:r>
              <a:rPr lang="en-AU" sz="3200">
                <a:solidFill>
                  <a:srgbClr val="FF0000"/>
                </a:solidFill>
              </a:rPr>
              <a:t>“out of a hundred”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1371600" y="419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>
                <a:solidFill>
                  <a:srgbClr val="FF0000"/>
                </a:solidFill>
              </a:rPr>
              <a:t>“Sixty per cent”</a:t>
            </a:r>
            <a:r>
              <a:rPr lang="en-AU"/>
              <a:t> means </a:t>
            </a:r>
            <a:r>
              <a:rPr lang="en-AU">
                <a:solidFill>
                  <a:srgbClr val="FF0000"/>
                </a:solidFill>
              </a:rPr>
              <a:t>“Sixty out of a hundred”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4038600" y="4953000"/>
            <a:ext cx="2438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4000">
                <a:latin typeface="Times New Roman" pitchFamily="18" charset="0"/>
              </a:rPr>
              <a:t>60% = </a:t>
            </a:r>
          </a:p>
        </p:txBody>
      </p:sp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6096000" y="4648200"/>
          <a:ext cx="919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648200"/>
                        <a:ext cx="91916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2743200" y="510540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In symbols,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 animBg="1"/>
      <p:bldP spid="2054" grpId="0" autoUpdateAnimBg="0"/>
      <p:bldP spid="2055" grpId="0" autoUpdateAnimBg="0"/>
      <p:bldP spid="2056" grpId="0" autoUpdateAnimBg="0"/>
      <p:bldP spid="2058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/>
          <p:cNvSpPr txBox="1">
            <a:spLocks noChangeArrowheads="1"/>
          </p:cNvSpPr>
          <p:nvPr/>
        </p:nvSpPr>
        <p:spPr bwMode="auto">
          <a:xfrm rot="-928441">
            <a:off x="395288" y="549275"/>
            <a:ext cx="7343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solidFill>
                  <a:srgbClr val="FFFF66"/>
                </a:solidFill>
                <a:latin typeface="Times New Roman" pitchFamily="18" charset="0"/>
              </a:rPr>
              <a:t>Remember these important facts!</a:t>
            </a:r>
          </a:p>
        </p:txBody>
      </p:sp>
      <p:pic>
        <p:nvPicPr>
          <p:cNvPr id="20485" name="Picture 5" descr="MCj008902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08788" y="115888"/>
            <a:ext cx="1363662" cy="1814512"/>
          </a:xfrm>
          <a:prstGeom prst="rect">
            <a:avLst/>
          </a:prstGeom>
          <a:noFill/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331913" y="1916113"/>
            <a:ext cx="6769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Percentages are really fractions with 100 in the bottom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3276600" y="2636838"/>
            <a:ext cx="2519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rgbClr val="00FF99"/>
                </a:solidFill>
              </a:rPr>
              <a:t>27% = 27/100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468313" y="4551363"/>
            <a:ext cx="63357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Any percentage </a:t>
            </a:r>
            <a:r>
              <a:rPr lang="en-AU" b="1" i="1" u="sng">
                <a:solidFill>
                  <a:srgbClr val="FFFF66"/>
                </a:solidFill>
              </a:rPr>
              <a:t>less</a:t>
            </a:r>
            <a:r>
              <a:rPr lang="en-AU">
                <a:solidFill>
                  <a:srgbClr val="FFFF66"/>
                </a:solidFill>
              </a:rPr>
              <a:t> </a:t>
            </a:r>
            <a:r>
              <a:rPr lang="en-AU">
                <a:solidFill>
                  <a:srgbClr val="00FFFF"/>
                </a:solidFill>
              </a:rPr>
              <a:t>than 100% means </a:t>
            </a:r>
            <a:r>
              <a:rPr lang="en-AU" u="sng">
                <a:solidFill>
                  <a:srgbClr val="00FFFF"/>
                </a:solidFill>
              </a:rPr>
              <a:t>less than 1 whole</a:t>
            </a:r>
            <a:r>
              <a:rPr lang="en-AU">
                <a:solidFill>
                  <a:srgbClr val="00FFFF"/>
                </a:solidFill>
              </a:rPr>
              <a:t>. In other words, a </a:t>
            </a:r>
            <a:r>
              <a:rPr lang="en-AU" b="1" i="1" u="sng">
                <a:solidFill>
                  <a:srgbClr val="00FFFF"/>
                </a:solidFill>
              </a:rPr>
              <a:t>fraction</a:t>
            </a:r>
            <a:endParaRPr lang="en-AU" i="1" u="sng">
              <a:solidFill>
                <a:srgbClr val="00FFFF"/>
              </a:solidFill>
            </a:endParaRP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250825" y="3068638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2627313" y="3038475"/>
            <a:ext cx="44656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600">
                <a:solidFill>
                  <a:srgbClr val="00FFFF"/>
                </a:solidFill>
              </a:rPr>
              <a:t>100% really means 1 whole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611188" y="3475038"/>
            <a:ext cx="46085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rgbClr val="00FF99"/>
                </a:solidFill>
              </a:rPr>
              <a:t>If I get 100% for a test, I                        get the </a:t>
            </a:r>
            <a:r>
              <a:rPr lang="en-AU" b="1" u="sng">
                <a:solidFill>
                  <a:srgbClr val="00FF99"/>
                </a:solidFill>
              </a:rPr>
              <a:t>whole lot</a:t>
            </a:r>
            <a:r>
              <a:rPr lang="en-AU" b="1">
                <a:solidFill>
                  <a:srgbClr val="00FF99"/>
                </a:solidFill>
              </a:rPr>
              <a:t> right</a:t>
            </a:r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250825" y="4437063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468313" y="5630863"/>
            <a:ext cx="6769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Any percentage </a:t>
            </a:r>
            <a:r>
              <a:rPr lang="en-AU" b="1" i="1" u="sng">
                <a:solidFill>
                  <a:srgbClr val="FFFF66"/>
                </a:solidFill>
              </a:rPr>
              <a:t>more</a:t>
            </a:r>
            <a:r>
              <a:rPr lang="en-AU">
                <a:solidFill>
                  <a:srgbClr val="00FFFF"/>
                </a:solidFill>
              </a:rPr>
              <a:t> than 100% means </a:t>
            </a:r>
            <a:r>
              <a:rPr lang="en-AU" u="sng">
                <a:solidFill>
                  <a:srgbClr val="00FFFF"/>
                </a:solidFill>
              </a:rPr>
              <a:t>more than 1 whole</a:t>
            </a:r>
            <a:r>
              <a:rPr lang="en-AU">
                <a:solidFill>
                  <a:srgbClr val="00FFFF"/>
                </a:solidFill>
              </a:rPr>
              <a:t>. In other words, a </a:t>
            </a:r>
            <a:r>
              <a:rPr lang="en-AU" b="1" i="1" u="sng">
                <a:solidFill>
                  <a:srgbClr val="00FFFF"/>
                </a:solidFill>
              </a:rPr>
              <a:t>mixed numeral</a:t>
            </a:r>
            <a:endParaRPr lang="en-AU" i="1" u="sng">
              <a:solidFill>
                <a:srgbClr val="00FFFF"/>
              </a:solidFill>
            </a:endParaRPr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250825" y="5516563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6948488" y="4581525"/>
            <a:ext cx="21955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FF99FF"/>
                </a:solidFill>
              </a:rPr>
              <a:t>60% = 60/100 = 3/5 or 0.6</a:t>
            </a: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7019925" y="5708650"/>
            <a:ext cx="2195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FF99FF"/>
                </a:solidFill>
              </a:rPr>
              <a:t>160% = 1</a:t>
            </a:r>
            <a:r>
              <a:rPr lang="en-AU" baseline="30000">
                <a:solidFill>
                  <a:srgbClr val="FF99FF"/>
                </a:solidFill>
              </a:rPr>
              <a:t>60</a:t>
            </a:r>
            <a:r>
              <a:rPr lang="en-AU">
                <a:solidFill>
                  <a:srgbClr val="FF99FF"/>
                </a:solidFill>
              </a:rPr>
              <a:t>/</a:t>
            </a:r>
            <a:r>
              <a:rPr lang="en-AU" baseline="-25000">
                <a:solidFill>
                  <a:srgbClr val="FF99FF"/>
                </a:solidFill>
              </a:rPr>
              <a:t>100</a:t>
            </a:r>
            <a:endParaRPr lang="en-AU">
              <a:solidFill>
                <a:srgbClr val="FF99FF"/>
              </a:solidFill>
            </a:endParaRPr>
          </a:p>
        </p:txBody>
      </p:sp>
      <p:graphicFrame>
        <p:nvGraphicFramePr>
          <p:cNvPr id="20498" name="Object 18"/>
          <p:cNvGraphicFramePr>
            <a:graphicFrameLocks noChangeAspect="1"/>
          </p:cNvGraphicFramePr>
          <p:nvPr/>
        </p:nvGraphicFramePr>
        <p:xfrm>
          <a:off x="5435600" y="3500438"/>
          <a:ext cx="10080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Equation" r:id="rId4" imgW="482400" imgH="393480" progId="Equation.3">
                  <p:embed/>
                </p:oleObj>
              </mc:Choice>
              <mc:Fallback>
                <p:oleObj name="Equation" r:id="rId4" imgW="482400" imgH="3934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00438"/>
                        <a:ext cx="1008063" cy="822325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1"/>
      <p:bldP spid="20486" grpId="0"/>
      <p:bldP spid="20487" grpId="0"/>
      <p:bldP spid="20488" grpId="0"/>
      <p:bldP spid="20489" grpId="0" animBg="1"/>
      <p:bldP spid="20490" grpId="0"/>
      <p:bldP spid="20491" grpId="0"/>
      <p:bldP spid="20492" grpId="0" animBg="1"/>
      <p:bldP spid="20493" grpId="0"/>
      <p:bldP spid="20495" grpId="0" animBg="1"/>
      <p:bldP spid="20496" grpId="0"/>
      <p:bldP spid="204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WordArt 4"/>
          <p:cNvSpPr>
            <a:spLocks noChangeArrowheads="1" noChangeShapeType="1" noTextEdit="1"/>
          </p:cNvSpPr>
          <p:nvPr/>
        </p:nvSpPr>
        <p:spPr bwMode="auto">
          <a:xfrm>
            <a:off x="3059113" y="333375"/>
            <a:ext cx="51244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Special percentages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2484438" y="1268413"/>
            <a:ext cx="431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chemeClr val="tx2"/>
                </a:solidFill>
              </a:rPr>
              <a:t>Learn these!!!!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484438" y="2060575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4643438" y="227647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 dirty="0"/>
              <a:t>100% = 1 whole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2484438" y="2925763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2484438" y="2924175"/>
            <a:ext cx="3240087" cy="217488"/>
          </a:xfrm>
          <a:prstGeom prst="rect">
            <a:avLst/>
          </a:prstGeom>
          <a:solidFill>
            <a:srgbClr val="0033CC"/>
          </a:solidFill>
          <a:ln w="9525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3276600" y="313372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50% = ½ </a:t>
            </a: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2484438" y="3860800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2484438" y="3871913"/>
            <a:ext cx="1582737" cy="217487"/>
          </a:xfrm>
          <a:prstGeom prst="rect">
            <a:avLst/>
          </a:prstGeom>
          <a:solidFill>
            <a:srgbClr val="0033CC"/>
          </a:solidFill>
          <a:ln w="9525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2411413" y="4141788"/>
            <a:ext cx="1800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25% = ¼  </a:t>
            </a:r>
          </a:p>
        </p:txBody>
      </p:sp>
      <p:sp>
        <p:nvSpPr>
          <p:cNvPr id="25616" name="Rectangle 16"/>
          <p:cNvSpPr>
            <a:spLocks noChangeArrowheads="1"/>
          </p:cNvSpPr>
          <p:nvPr/>
        </p:nvSpPr>
        <p:spPr bwMode="auto">
          <a:xfrm>
            <a:off x="4067175" y="3860800"/>
            <a:ext cx="4897438" cy="215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5292725" y="414972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CC0099"/>
                </a:solidFill>
              </a:rPr>
              <a:t>75% = ¾   </a:t>
            </a:r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2484438" y="4868863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2484438" y="4868863"/>
            <a:ext cx="2159000" cy="215900"/>
          </a:xfrm>
          <a:prstGeom prst="rect">
            <a:avLst/>
          </a:prstGeom>
          <a:solidFill>
            <a:srgbClr val="2E643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25621" name="Object 21"/>
          <p:cNvGraphicFramePr>
            <a:graphicFrameLocks noChangeAspect="1"/>
          </p:cNvGraphicFramePr>
          <p:nvPr/>
        </p:nvGraphicFramePr>
        <p:xfrm>
          <a:off x="3059113" y="5157788"/>
          <a:ext cx="10810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4" name="Equation" r:id="rId3" imgW="685800" imgH="393480" progId="Equation.3">
                  <p:embed/>
                </p:oleObj>
              </mc:Choice>
              <mc:Fallback>
                <p:oleObj name="Equation" r:id="rId3" imgW="685800" imgH="3934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157788"/>
                        <a:ext cx="1081087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/>
          <p:cNvGraphicFramePr>
            <a:graphicFrameLocks noChangeAspect="1"/>
          </p:cNvGraphicFramePr>
          <p:nvPr/>
        </p:nvGraphicFramePr>
        <p:xfrm>
          <a:off x="6011863" y="5229225"/>
          <a:ext cx="11207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5" name="Equation" r:id="rId5" imgW="711000" imgH="393480" progId="Equation.3">
                  <p:embed/>
                </p:oleObj>
              </mc:Choice>
              <mc:Fallback>
                <p:oleObj name="Equation" r:id="rId5" imgW="711000" imgH="393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229225"/>
                        <a:ext cx="1120775" cy="62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6443663" y="3141663"/>
            <a:ext cx="1800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50% = ½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560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70" decel="1000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770" decel="100000"/>
                                        <p:tgtEl>
                                          <p:spTgt spid="2560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1" dur="77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3" dur="77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4" dur="20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  <p:bldP spid="25605" grpId="0"/>
      <p:bldP spid="25607" grpId="0" animBg="1"/>
      <p:bldP spid="25609" grpId="0"/>
      <p:bldP spid="25610" grpId="0" animBg="1"/>
      <p:bldP spid="25611" grpId="0" animBg="1"/>
      <p:bldP spid="25612" grpId="0"/>
      <p:bldP spid="25613" grpId="0" animBg="1"/>
      <p:bldP spid="25614" grpId="0" animBg="1"/>
      <p:bldP spid="25615" grpId="0"/>
      <p:bldP spid="25616" grpId="0" animBg="1"/>
      <p:bldP spid="25617" grpId="0"/>
      <p:bldP spid="25618" grpId="0" animBg="1"/>
      <p:bldP spid="25619" grpId="0" animBg="1"/>
      <p:bldP spid="256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1371600" y="2286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1. Changing percentages to fractions</a:t>
            </a: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057400" y="1219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581400" y="914400"/>
          <a:ext cx="919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14400"/>
                        <a:ext cx="91916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648200" y="1219200"/>
            <a:ext cx="457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=</a:t>
            </a: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940300" y="914400"/>
          <a:ext cx="10874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914400"/>
                        <a:ext cx="1087438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6096000" y="914400"/>
          <a:ext cx="5016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Equation" r:id="rId7" imgW="152280" imgH="393480" progId="Equation.3">
                  <p:embed/>
                </p:oleObj>
              </mc:Choice>
              <mc:Fallback>
                <p:oleObj name="Equation" r:id="rId7" imgW="15228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914400"/>
                        <a:ext cx="50165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2057400" y="2362200"/>
            <a:ext cx="571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Or you can do it on the calculator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2057400" y="2925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 flipV="1">
            <a:off x="5029200" y="1981200"/>
            <a:ext cx="9906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1676400" y="3581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Try these</a:t>
            </a: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1752600" y="40386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80% =</a:t>
            </a:r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1752600" y="4648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10% =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1752600" y="53340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1752600" y="60198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5257800" y="58674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150% =</a:t>
            </a:r>
          </a:p>
        </p:txBody>
      </p:sp>
      <p:graphicFrame>
        <p:nvGraphicFramePr>
          <p:cNvPr id="1045" name="Object 21"/>
          <p:cNvGraphicFramePr>
            <a:graphicFrameLocks noChangeAspect="1"/>
          </p:cNvGraphicFramePr>
          <p:nvPr/>
        </p:nvGraphicFramePr>
        <p:xfrm>
          <a:off x="2967038" y="397986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9" imgW="228600" imgH="304560" progId="Equation.3">
                  <p:embed/>
                </p:oleObj>
              </mc:Choice>
              <mc:Fallback>
                <p:oleObj name="Equation" r:id="rId9" imgW="228600" imgH="3045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97986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Object 22"/>
          <p:cNvGraphicFramePr>
            <a:graphicFrameLocks noChangeAspect="1"/>
          </p:cNvGraphicFramePr>
          <p:nvPr/>
        </p:nvGraphicFramePr>
        <p:xfrm>
          <a:off x="2905125" y="4608513"/>
          <a:ext cx="62071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11" imgW="291960" imgH="304560" progId="Equation.3">
                  <p:embed/>
                </p:oleObj>
              </mc:Choice>
              <mc:Fallback>
                <p:oleObj name="Equation" r:id="rId11" imgW="291960" imgH="304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4608513"/>
                        <a:ext cx="620713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Object 23"/>
          <p:cNvGraphicFramePr>
            <a:graphicFrameLocks noChangeAspect="1"/>
          </p:cNvGraphicFramePr>
          <p:nvPr/>
        </p:nvGraphicFramePr>
        <p:xfrm>
          <a:off x="2971800" y="52181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Equation" r:id="rId13" imgW="228600" imgH="304560" progId="Equation.3">
                  <p:embed/>
                </p:oleObj>
              </mc:Choice>
              <mc:Fallback>
                <p:oleObj name="Equation" r:id="rId13" imgW="228600" imgH="30456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2181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Object 24"/>
          <p:cNvGraphicFramePr>
            <a:graphicFrameLocks noChangeAspect="1"/>
          </p:cNvGraphicFramePr>
          <p:nvPr/>
        </p:nvGraphicFramePr>
        <p:xfrm>
          <a:off x="2967038" y="5903913"/>
          <a:ext cx="6477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Equation" r:id="rId15" imgW="304560" imgH="304560" progId="Equation.3">
                  <p:embed/>
                </p:oleObj>
              </mc:Choice>
              <mc:Fallback>
                <p:oleObj name="Equation" r:id="rId15" imgW="304560" imgH="3045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5903913"/>
                        <a:ext cx="647700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5257800" y="37639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75% =</a:t>
            </a:r>
          </a:p>
        </p:txBody>
      </p:sp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5257800" y="4449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25% =</a:t>
            </a:r>
          </a:p>
        </p:txBody>
      </p:sp>
      <p:sp>
        <p:nvSpPr>
          <p:cNvPr id="1043" name="Text Box 19"/>
          <p:cNvSpPr txBox="1">
            <a:spLocks noChangeArrowheads="1"/>
          </p:cNvSpPr>
          <p:nvPr/>
        </p:nvSpPr>
        <p:spPr bwMode="auto">
          <a:xfrm>
            <a:off x="5257800" y="51355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50% =</a:t>
            </a:r>
          </a:p>
        </p:txBody>
      </p:sp>
      <p:graphicFrame>
        <p:nvGraphicFramePr>
          <p:cNvPr id="1049" name="Object 25"/>
          <p:cNvGraphicFramePr>
            <a:graphicFrameLocks noChangeAspect="1"/>
          </p:cNvGraphicFramePr>
          <p:nvPr/>
        </p:nvGraphicFramePr>
        <p:xfrm>
          <a:off x="6524625" y="3733800"/>
          <a:ext cx="48577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Equation" r:id="rId17" imgW="228600" imgH="304560" progId="Equation.3">
                  <p:embed/>
                </p:oleObj>
              </mc:Choice>
              <mc:Fallback>
                <p:oleObj name="Equation" r:id="rId17" imgW="228600" imgH="3045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733800"/>
                        <a:ext cx="485775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6553200" y="43799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Equation" r:id="rId19" imgW="228600" imgH="304560" progId="Equation.3">
                  <p:embed/>
                </p:oleObj>
              </mc:Choice>
              <mc:Fallback>
                <p:oleObj name="Equation" r:id="rId19" imgW="228600" imgH="30456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3799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6553200" y="50657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" name="Equation" r:id="rId21" imgW="228600" imgH="304560" progId="Equation.3">
                  <p:embed/>
                </p:oleObj>
              </mc:Choice>
              <mc:Fallback>
                <p:oleObj name="Equation" r:id="rId21" imgW="228600" imgH="304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0657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6770688" y="5867400"/>
          <a:ext cx="62071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" name="Equation" r:id="rId23" imgW="291960" imgH="304560" progId="Equation.3">
                  <p:embed/>
                </p:oleObj>
              </mc:Choice>
              <mc:Fallback>
                <p:oleObj name="Equation" r:id="rId23" imgW="291960" imgH="304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5867400"/>
                        <a:ext cx="620712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8" name="Group 34"/>
          <p:cNvGrpSpPr>
            <a:grpSpLocks/>
          </p:cNvGrpSpPr>
          <p:nvPr/>
        </p:nvGrpSpPr>
        <p:grpSpPr bwMode="auto">
          <a:xfrm>
            <a:off x="5181600" y="3581400"/>
            <a:ext cx="3505200" cy="2209800"/>
            <a:chOff x="3264" y="2256"/>
            <a:chExt cx="2208" cy="1392"/>
          </a:xfrm>
        </p:grpSpPr>
        <p:sp>
          <p:nvSpPr>
            <p:cNvPr id="1054" name="Rectangle 30"/>
            <p:cNvSpPr>
              <a:spLocks noChangeArrowheads="1"/>
            </p:cNvSpPr>
            <p:nvPr/>
          </p:nvSpPr>
          <p:spPr bwMode="auto">
            <a:xfrm>
              <a:off x="3264" y="2256"/>
              <a:ext cx="1248" cy="1392"/>
            </a:xfrm>
            <a:prstGeom prst="rect">
              <a:avLst/>
            </a:prstGeom>
            <a:noFill/>
            <a:ln w="57150">
              <a:solidFill>
                <a:srgbClr val="9933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055" name="Text Box 31"/>
            <p:cNvSpPr txBox="1">
              <a:spLocks noChangeArrowheads="1"/>
            </p:cNvSpPr>
            <p:nvPr/>
          </p:nvSpPr>
          <p:spPr bwMode="auto">
            <a:xfrm>
              <a:off x="4560" y="2592"/>
              <a:ext cx="912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>
                  <a:solidFill>
                    <a:srgbClr val="993366"/>
                  </a:solidFill>
                  <a:latin typeface="Arial Unicode MS" pitchFamily="34" charset="-128"/>
                </a:rPr>
                <a:t>Learn these by heart!!</a:t>
              </a:r>
            </a:p>
          </p:txBody>
        </p:sp>
      </p:grpSp>
      <p:grpSp>
        <p:nvGrpSpPr>
          <p:cNvPr id="1060" name="Group 36"/>
          <p:cNvGrpSpPr>
            <a:grpSpLocks/>
          </p:cNvGrpSpPr>
          <p:nvPr/>
        </p:nvGrpSpPr>
        <p:grpSpPr bwMode="auto">
          <a:xfrm>
            <a:off x="4191000" y="5867400"/>
            <a:ext cx="4648200" cy="931863"/>
            <a:chOff x="2688" y="3791"/>
            <a:chExt cx="2928" cy="587"/>
          </a:xfrm>
        </p:grpSpPr>
        <p:sp>
          <p:nvSpPr>
            <p:cNvPr id="1053" name="Text Box 29"/>
            <p:cNvSpPr txBox="1">
              <a:spLocks noChangeArrowheads="1"/>
            </p:cNvSpPr>
            <p:nvPr/>
          </p:nvSpPr>
          <p:spPr bwMode="auto">
            <a:xfrm>
              <a:off x="4704" y="3792"/>
              <a:ext cx="91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1 WHOLE</a:t>
              </a:r>
            </a:p>
          </p:txBody>
        </p:sp>
        <p:sp>
          <p:nvSpPr>
            <p:cNvPr id="1056" name="Text Box 32"/>
            <p:cNvSpPr txBox="1">
              <a:spLocks noChangeArrowheads="1"/>
            </p:cNvSpPr>
            <p:nvPr/>
          </p:nvSpPr>
          <p:spPr bwMode="auto">
            <a:xfrm>
              <a:off x="2688" y="3791"/>
              <a:ext cx="91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 100%</a:t>
              </a:r>
            </a:p>
          </p:txBody>
        </p:sp>
        <p:sp>
          <p:nvSpPr>
            <p:cNvPr id="1059" name="Text Box 35"/>
            <p:cNvSpPr txBox="1">
              <a:spLocks noChangeArrowheads="1"/>
            </p:cNvSpPr>
            <p:nvPr/>
          </p:nvSpPr>
          <p:spPr bwMode="auto">
            <a:xfrm>
              <a:off x="3648" y="4128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000" b="1">
                  <a:solidFill>
                    <a:srgbClr val="FF0000"/>
                  </a:solidFill>
                  <a:latin typeface="Arial Unicode MS" pitchFamily="34" charset="-128"/>
                </a:rPr>
                <a:t>MEANS</a:t>
              </a:r>
            </a:p>
          </p:txBody>
        </p:sp>
      </p:grpSp>
      <p:grpSp>
        <p:nvGrpSpPr>
          <p:cNvPr id="1062" name="Group 38"/>
          <p:cNvGrpSpPr>
            <a:grpSpLocks/>
          </p:cNvGrpSpPr>
          <p:nvPr/>
        </p:nvGrpSpPr>
        <p:grpSpPr bwMode="auto">
          <a:xfrm>
            <a:off x="3276600" y="2819400"/>
            <a:ext cx="2057400" cy="762000"/>
            <a:chOff x="2064" y="1776"/>
            <a:chExt cx="1296" cy="480"/>
          </a:xfrm>
        </p:grpSpPr>
        <p:sp>
          <p:nvSpPr>
            <p:cNvPr id="1034" name="Text Box 10"/>
            <p:cNvSpPr txBox="1">
              <a:spLocks noChangeArrowheads="1"/>
            </p:cNvSpPr>
            <p:nvPr/>
          </p:nvSpPr>
          <p:spPr bwMode="auto">
            <a:xfrm>
              <a:off x="2064" y="1843"/>
              <a:ext cx="129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3200">
                  <a:latin typeface="Times New Roman" pitchFamily="18" charset="0"/>
                </a:rPr>
                <a:t>40     </a:t>
              </a:r>
              <a:r>
                <a:rPr lang="en-AU" sz="3200">
                  <a:latin typeface="Times New Roman" pitchFamily="18" charset="0"/>
                  <a:sym typeface="Symbol" pitchFamily="18" charset="2"/>
                </a:rPr>
                <a:t>100</a:t>
              </a:r>
              <a:endParaRPr lang="en-AU" sz="3200">
                <a:latin typeface="Times New Roman" pitchFamily="18" charset="0"/>
              </a:endParaRPr>
            </a:p>
          </p:txBody>
        </p:sp>
        <p:graphicFrame>
          <p:nvGraphicFramePr>
            <p:cNvPr id="1061" name="Object 37"/>
            <p:cNvGraphicFramePr>
              <a:graphicFrameLocks noChangeAspect="1"/>
            </p:cNvGraphicFramePr>
            <p:nvPr/>
          </p:nvGraphicFramePr>
          <p:xfrm>
            <a:off x="2400" y="1776"/>
            <a:ext cx="29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4" name="Equation" r:id="rId25" imgW="241200" imgH="393480" progId="Equation.3">
                    <p:embed/>
                  </p:oleObj>
                </mc:Choice>
                <mc:Fallback>
                  <p:oleObj name="Equation" r:id="rId25" imgW="241200" imgH="393480" progId="Equation.3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76"/>
                          <a:ext cx="294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autoUpdateAnimBg="0"/>
      <p:bldP spid="1027" grpId="0" autoUpdateAnimBg="0"/>
      <p:bldP spid="1029" grpId="0" autoUpdateAnimBg="0"/>
      <p:bldP spid="1032" grpId="0" autoUpdateAnimBg="0"/>
      <p:bldP spid="1033" grpId="0" autoUpdateAnimBg="0"/>
      <p:bldP spid="1035" grpId="0" animBg="1"/>
      <p:bldP spid="1036" grpId="0" autoUpdateAnimBg="0"/>
      <p:bldP spid="1037" grpId="0" autoUpdateAnimBg="0"/>
      <p:bldP spid="1038" grpId="0" autoUpdateAnimBg="0"/>
      <p:bldP spid="1039" grpId="0" autoUpdateAnimBg="0"/>
      <p:bldP spid="1040" grpId="0" autoUpdateAnimBg="0"/>
      <p:bldP spid="1044" grpId="0" autoUpdateAnimBg="0"/>
      <p:bldP spid="1041" grpId="0" autoUpdateAnimBg="0"/>
      <p:bldP spid="1042" grpId="0" autoUpdateAnimBg="0"/>
      <p:bldP spid="104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219200" y="457200"/>
            <a:ext cx="4724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solidFill>
                  <a:srgbClr val="FF0000"/>
                </a:solidFill>
              </a:rPr>
              <a:t>Harder conversions...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00200" y="1401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12½ % =</a:t>
            </a:r>
          </a:p>
        </p:txBody>
      </p:sp>
      <p:graphicFrame>
        <p:nvGraphicFramePr>
          <p:cNvPr id="50176" name="Object 1024"/>
          <p:cNvGraphicFramePr>
            <a:graphicFrameLocks noChangeAspect="1"/>
          </p:cNvGraphicFramePr>
          <p:nvPr/>
        </p:nvGraphicFramePr>
        <p:xfrm>
          <a:off x="3311525" y="709613"/>
          <a:ext cx="1462088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9" name="Equation" r:id="rId3" imgW="444240" imgH="571320" progId="Equation.3">
                  <p:embed/>
                </p:oleObj>
              </mc:Choice>
              <mc:Fallback>
                <p:oleObj name="Equation" r:id="rId3" imgW="444240" imgH="57132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709613"/>
                        <a:ext cx="1462088" cy="188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7" name="Object 1025"/>
          <p:cNvGraphicFramePr>
            <a:graphicFrameLocks noChangeAspect="1"/>
          </p:cNvGraphicFramePr>
          <p:nvPr/>
        </p:nvGraphicFramePr>
        <p:xfrm>
          <a:off x="6858000" y="1219200"/>
          <a:ext cx="1003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0" name="Equation" r:id="rId5" imgW="304560" imgH="393480" progId="Equation.3">
                  <p:embed/>
                </p:oleObj>
              </mc:Choice>
              <mc:Fallback>
                <p:oleObj name="Equation" r:id="rId5" imgW="304560" imgH="39348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219200"/>
                        <a:ext cx="10033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9" name="Group 15"/>
          <p:cNvGrpSpPr>
            <a:grpSpLocks/>
          </p:cNvGrpSpPr>
          <p:nvPr/>
        </p:nvGrpSpPr>
        <p:grpSpPr bwMode="auto">
          <a:xfrm>
            <a:off x="4572000" y="1066800"/>
            <a:ext cx="2438400" cy="381000"/>
            <a:chOff x="2880" y="672"/>
            <a:chExt cx="1536" cy="240"/>
          </a:xfrm>
        </p:grpSpPr>
        <p:sp>
          <p:nvSpPr>
            <p:cNvPr id="6150" name="Text Box 6"/>
            <p:cNvSpPr txBox="1">
              <a:spLocks noChangeArrowheads="1"/>
            </p:cNvSpPr>
            <p:nvPr/>
          </p:nvSpPr>
          <p:spPr bwMode="auto">
            <a:xfrm>
              <a:off x="2976" y="672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DOUBLE THE TOP</a:t>
              </a:r>
            </a:p>
          </p:txBody>
        </p:sp>
        <p:sp>
          <p:nvSpPr>
            <p:cNvPr id="6152" name="Line 8"/>
            <p:cNvSpPr>
              <a:spLocks noChangeShapeType="1"/>
            </p:cNvSpPr>
            <p:nvPr/>
          </p:nvSpPr>
          <p:spPr bwMode="auto">
            <a:xfrm>
              <a:off x="2880" y="912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60" name="Group 16"/>
          <p:cNvGrpSpPr>
            <a:grpSpLocks/>
          </p:cNvGrpSpPr>
          <p:nvPr/>
        </p:nvGrpSpPr>
        <p:grpSpPr bwMode="auto">
          <a:xfrm>
            <a:off x="4572000" y="2071688"/>
            <a:ext cx="2438400" cy="641350"/>
            <a:chOff x="2880" y="1305"/>
            <a:chExt cx="1536" cy="404"/>
          </a:xfrm>
        </p:grpSpPr>
        <p:sp>
          <p:nvSpPr>
            <p:cNvPr id="6151" name="Text Box 7"/>
            <p:cNvSpPr txBox="1">
              <a:spLocks noChangeArrowheads="1"/>
            </p:cNvSpPr>
            <p:nvPr/>
          </p:nvSpPr>
          <p:spPr bwMode="auto">
            <a:xfrm>
              <a:off x="2976" y="1305"/>
              <a:ext cx="144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DOUBLE THE BOTTOM</a:t>
              </a:r>
            </a:p>
          </p:txBody>
        </p:sp>
        <p:sp>
          <p:nvSpPr>
            <p:cNvPr id="6153" name="Line 9"/>
            <p:cNvSpPr>
              <a:spLocks noChangeShapeType="1"/>
            </p:cNvSpPr>
            <p:nvPr/>
          </p:nvSpPr>
          <p:spPr bwMode="auto">
            <a:xfrm>
              <a:off x="2880" y="1344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1600200" y="41449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18¾ % =</a:t>
            </a:r>
          </a:p>
        </p:txBody>
      </p:sp>
      <p:graphicFrame>
        <p:nvGraphicFramePr>
          <p:cNvPr id="50178" name="Object 1026"/>
          <p:cNvGraphicFramePr>
            <a:graphicFrameLocks noChangeAspect="1"/>
          </p:cNvGraphicFramePr>
          <p:nvPr/>
        </p:nvGraphicFramePr>
        <p:xfrm>
          <a:off x="3241675" y="3200400"/>
          <a:ext cx="1460500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1" name="Equation" r:id="rId7" imgW="444240" imgH="571320" progId="Equation.3">
                  <p:embed/>
                </p:oleObj>
              </mc:Choice>
              <mc:Fallback>
                <p:oleObj name="Equation" r:id="rId7" imgW="444240" imgH="57132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3200400"/>
                        <a:ext cx="1460500" cy="188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1027"/>
          <p:cNvGraphicFramePr>
            <a:graphicFrameLocks noChangeAspect="1"/>
          </p:cNvGraphicFramePr>
          <p:nvPr/>
        </p:nvGraphicFramePr>
        <p:xfrm>
          <a:off x="7924800" y="1219200"/>
          <a:ext cx="83661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2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219200"/>
                        <a:ext cx="83661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1028"/>
          <p:cNvGraphicFramePr>
            <a:graphicFrameLocks noChangeAspect="1"/>
          </p:cNvGraphicFramePr>
          <p:nvPr/>
        </p:nvGraphicFramePr>
        <p:xfrm>
          <a:off x="6858000" y="3733800"/>
          <a:ext cx="1003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3" name="Equation" r:id="rId11" imgW="304560" imgH="393480" progId="Equation.3">
                  <p:embed/>
                </p:oleObj>
              </mc:Choice>
              <mc:Fallback>
                <p:oleObj name="Equation" r:id="rId11" imgW="304560" imgH="39348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733800"/>
                        <a:ext cx="10033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61" name="Group 17"/>
          <p:cNvGrpSpPr>
            <a:grpSpLocks/>
          </p:cNvGrpSpPr>
          <p:nvPr/>
        </p:nvGrpSpPr>
        <p:grpSpPr bwMode="auto">
          <a:xfrm>
            <a:off x="4572000" y="3733800"/>
            <a:ext cx="2438400" cy="381000"/>
            <a:chOff x="2880" y="672"/>
            <a:chExt cx="1536" cy="240"/>
          </a:xfrm>
        </p:grpSpPr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2976" y="672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X TOP by 4</a:t>
              </a:r>
            </a:p>
          </p:txBody>
        </p:sp>
        <p:sp>
          <p:nvSpPr>
            <p:cNvPr id="6163" name="Line 19"/>
            <p:cNvSpPr>
              <a:spLocks noChangeShapeType="1"/>
            </p:cNvSpPr>
            <p:nvPr/>
          </p:nvSpPr>
          <p:spPr bwMode="auto">
            <a:xfrm>
              <a:off x="2880" y="912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64" name="Group 20"/>
          <p:cNvGrpSpPr>
            <a:grpSpLocks/>
          </p:cNvGrpSpPr>
          <p:nvPr/>
        </p:nvGrpSpPr>
        <p:grpSpPr bwMode="auto">
          <a:xfrm>
            <a:off x="4572000" y="4692650"/>
            <a:ext cx="2438400" cy="366713"/>
            <a:chOff x="2880" y="1305"/>
            <a:chExt cx="1536" cy="231"/>
          </a:xfrm>
        </p:grpSpPr>
        <p:sp>
          <p:nvSpPr>
            <p:cNvPr id="6165" name="Text Box 21"/>
            <p:cNvSpPr txBox="1">
              <a:spLocks noChangeArrowheads="1"/>
            </p:cNvSpPr>
            <p:nvPr/>
          </p:nvSpPr>
          <p:spPr bwMode="auto">
            <a:xfrm>
              <a:off x="2976" y="1305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X BOTTOM by 4</a:t>
              </a:r>
            </a:p>
          </p:txBody>
        </p:sp>
        <p:sp>
          <p:nvSpPr>
            <p:cNvPr id="6166" name="Line 22"/>
            <p:cNvSpPr>
              <a:spLocks noChangeShapeType="1"/>
            </p:cNvSpPr>
            <p:nvPr/>
          </p:nvSpPr>
          <p:spPr bwMode="auto">
            <a:xfrm>
              <a:off x="2880" y="1344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74" name="Group 30"/>
          <p:cNvGrpSpPr>
            <a:grpSpLocks/>
          </p:cNvGrpSpPr>
          <p:nvPr/>
        </p:nvGrpSpPr>
        <p:grpSpPr bwMode="auto">
          <a:xfrm>
            <a:off x="3886200" y="990600"/>
            <a:ext cx="2209800" cy="1447800"/>
            <a:chOff x="2448" y="624"/>
            <a:chExt cx="1392" cy="912"/>
          </a:xfrm>
        </p:grpSpPr>
        <p:sp>
          <p:nvSpPr>
            <p:cNvPr id="6167" name="Oval 23"/>
            <p:cNvSpPr>
              <a:spLocks noChangeArrowheads="1"/>
            </p:cNvSpPr>
            <p:nvPr/>
          </p:nvSpPr>
          <p:spPr bwMode="auto">
            <a:xfrm>
              <a:off x="2448" y="960"/>
              <a:ext cx="288" cy="288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8" name="Oval 24"/>
            <p:cNvSpPr>
              <a:spLocks noChangeArrowheads="1"/>
            </p:cNvSpPr>
            <p:nvPr/>
          </p:nvSpPr>
          <p:spPr bwMode="auto">
            <a:xfrm>
              <a:off x="2976" y="624"/>
              <a:ext cx="72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9" name="Oval 25"/>
            <p:cNvSpPr>
              <a:spLocks noChangeArrowheads="1"/>
            </p:cNvSpPr>
            <p:nvPr/>
          </p:nvSpPr>
          <p:spPr bwMode="auto">
            <a:xfrm>
              <a:off x="3120" y="1248"/>
              <a:ext cx="72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graphicFrame>
        <p:nvGraphicFramePr>
          <p:cNvPr id="50181" name="Object 1029"/>
          <p:cNvGraphicFramePr>
            <a:graphicFrameLocks noChangeAspect="1"/>
          </p:cNvGraphicFramePr>
          <p:nvPr/>
        </p:nvGraphicFramePr>
        <p:xfrm>
          <a:off x="7799388" y="3733800"/>
          <a:ext cx="10874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4" name="Equation" r:id="rId13" imgW="330120" imgH="393480" progId="Equation.3">
                  <p:embed/>
                </p:oleObj>
              </mc:Choice>
              <mc:Fallback>
                <p:oleObj name="Equation" r:id="rId13" imgW="330120" imgH="39348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3733800"/>
                        <a:ext cx="1087437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75" name="Group 31"/>
          <p:cNvGrpSpPr>
            <a:grpSpLocks/>
          </p:cNvGrpSpPr>
          <p:nvPr/>
        </p:nvGrpSpPr>
        <p:grpSpPr bwMode="auto">
          <a:xfrm>
            <a:off x="3810000" y="3657600"/>
            <a:ext cx="3048000" cy="1447800"/>
            <a:chOff x="2400" y="2304"/>
            <a:chExt cx="1920" cy="912"/>
          </a:xfrm>
        </p:grpSpPr>
        <p:sp>
          <p:nvSpPr>
            <p:cNvPr id="6171" name="Oval 27"/>
            <p:cNvSpPr>
              <a:spLocks noChangeArrowheads="1"/>
            </p:cNvSpPr>
            <p:nvPr/>
          </p:nvSpPr>
          <p:spPr bwMode="auto">
            <a:xfrm>
              <a:off x="2400" y="2496"/>
              <a:ext cx="288" cy="288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2" name="Oval 28"/>
            <p:cNvSpPr>
              <a:spLocks noChangeArrowheads="1"/>
            </p:cNvSpPr>
            <p:nvPr/>
          </p:nvSpPr>
          <p:spPr bwMode="auto">
            <a:xfrm>
              <a:off x="3744" y="2304"/>
              <a:ext cx="48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3" name="Oval 29"/>
            <p:cNvSpPr>
              <a:spLocks noChangeArrowheads="1"/>
            </p:cNvSpPr>
            <p:nvPr/>
          </p:nvSpPr>
          <p:spPr bwMode="auto">
            <a:xfrm>
              <a:off x="3840" y="2928"/>
              <a:ext cx="48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6176" name="Text Box 32"/>
          <p:cNvSpPr txBox="1">
            <a:spLocks noChangeArrowheads="1"/>
          </p:cNvSpPr>
          <p:nvPr/>
        </p:nvSpPr>
        <p:spPr bwMode="auto">
          <a:xfrm>
            <a:off x="1524000" y="5334000"/>
            <a:ext cx="70104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1: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percentage to a fraction, start by putting it over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54" grpId="0" autoUpdateAnimBg="0"/>
      <p:bldP spid="617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524000" y="5334000"/>
            <a:ext cx="70104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2: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percentage to a decimal, Divide it by 100.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447800" y="15240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2. Changing percentages to decimals 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662238" y="1066800"/>
          <a:ext cx="9191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1066800"/>
                        <a:ext cx="919162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886200" y="1311275"/>
            <a:ext cx="2819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Do on calculator as 20 </a:t>
            </a:r>
            <a:r>
              <a:rPr lang="en-AU">
                <a:solidFill>
                  <a:srgbClr val="993366"/>
                </a:solidFill>
                <a:sym typeface="Symbol" pitchFamily="18" charset="2"/>
              </a:rPr>
              <a:t> 100</a:t>
            </a:r>
            <a:endParaRPr lang="en-AU">
              <a:solidFill>
                <a:srgbClr val="993366"/>
              </a:solidFill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6400800" y="1339850"/>
            <a:ext cx="1447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600">
                <a:latin typeface="Times New Roman" pitchFamily="18" charset="0"/>
              </a:rPr>
              <a:t>= 0.2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1371600" y="2438400"/>
            <a:ext cx="1600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572000" y="3810000"/>
            <a:ext cx="1752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4495800" y="3048000"/>
            <a:ext cx="1828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87.5%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4953000" y="24384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1524000" y="31543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1524000" y="38100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2895600" y="316865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2895600" y="3763963"/>
            <a:ext cx="1447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0.70 or 0.7</a:t>
            </a: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6019800" y="24384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0.06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6019800" y="30480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0.875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6019800" y="3840163"/>
            <a:ext cx="1447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1.75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2971800" y="24384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0.0035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 autoUpdateAnimBg="0"/>
      <p:bldP spid="7171" grpId="0" autoUpdateAnimBg="0"/>
      <p:bldP spid="7172" grpId="0" autoUpdateAnimBg="0"/>
      <p:bldP spid="7174" grpId="0" autoUpdateAnimBg="0"/>
      <p:bldP spid="7175" grpId="0" autoUpdateAnimBg="0"/>
      <p:bldP spid="7176" grpId="0" autoUpdateAnimBg="0"/>
      <p:bldP spid="7177" grpId="0" autoUpdateAnimBg="0"/>
      <p:bldP spid="7178" grpId="0" autoUpdateAnimBg="0"/>
      <p:bldP spid="7179" grpId="0" autoUpdateAnimBg="0"/>
      <p:bldP spid="7180" grpId="0" autoUpdateAnimBg="0"/>
      <p:bldP spid="7181" grpId="0" autoUpdateAnimBg="0"/>
      <p:bldP spid="7182" grpId="0" autoUpdateAnimBg="0"/>
      <p:bldP spid="7183" grpId="0" autoUpdateAnimBg="0"/>
      <p:bldP spid="7184" grpId="0" autoUpdateAnimBg="0"/>
      <p:bldP spid="7185" grpId="0" autoUpdateAnimBg="0"/>
      <p:bldP spid="7186" grpId="0" autoUpdateAnimBg="0"/>
      <p:bldP spid="718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1295400" y="457200"/>
            <a:ext cx="6477000" cy="2160588"/>
            <a:chOff x="816" y="288"/>
            <a:chExt cx="4080" cy="1361"/>
          </a:xfrm>
        </p:grpSpPr>
        <p:pic>
          <p:nvPicPr>
            <p:cNvPr id="8194" name="Picture 2" descr="BD04924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" y="288"/>
              <a:ext cx="1009" cy="1361"/>
            </a:xfrm>
            <a:prstGeom prst="rect">
              <a:avLst/>
            </a:prstGeom>
            <a:noFill/>
          </p:spPr>
        </p:pic>
        <p:sp>
          <p:nvSpPr>
            <p:cNvPr id="8195" name="Text Box 3"/>
            <p:cNvSpPr txBox="1">
              <a:spLocks noChangeArrowheads="1"/>
            </p:cNvSpPr>
            <p:nvPr/>
          </p:nvSpPr>
          <p:spPr bwMode="auto">
            <a:xfrm>
              <a:off x="1968" y="624"/>
              <a:ext cx="292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4400"/>
                <a:t>Summary......</a:t>
              </a:r>
            </a:p>
          </p:txBody>
        </p:sp>
      </p:grp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447800" y="3276600"/>
            <a:ext cx="6934200" cy="2365375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Whenever changing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always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3. Changing fractions to percentages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This is easy – all you have to do is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graphicFrame>
        <p:nvGraphicFramePr>
          <p:cNvPr id="51200" name="Object 0"/>
          <p:cNvGraphicFramePr>
            <a:graphicFrameLocks noChangeAspect="1"/>
          </p:cNvGraphicFramePr>
          <p:nvPr/>
        </p:nvGraphicFramePr>
        <p:xfrm>
          <a:off x="1371600" y="175260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Equation" r:id="rId3" imgW="266400" imgH="393480" progId="Equation.3">
                  <p:embed/>
                </p:oleObj>
              </mc:Choice>
              <mc:Fallback>
                <p:oleObj name="Equation" r:id="rId3" imgW="26640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" name="Object 1"/>
          <p:cNvGraphicFramePr>
            <a:graphicFrameLocks noChangeAspect="1"/>
          </p:cNvGraphicFramePr>
          <p:nvPr/>
        </p:nvGraphicFramePr>
        <p:xfrm>
          <a:off x="2243138" y="1752600"/>
          <a:ext cx="15668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name="Equation" r:id="rId5" imgW="596880" imgH="393480" progId="Equation.3">
                  <p:embed/>
                </p:oleObj>
              </mc:Choice>
              <mc:Fallback>
                <p:oleObj name="Equation" r:id="rId5" imgW="59688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1752600"/>
                        <a:ext cx="15668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886200" y="19351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60%</a:t>
            </a:r>
          </a:p>
        </p:txBody>
      </p:sp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1289050" y="2851150"/>
          <a:ext cx="8667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2851150"/>
                        <a:ext cx="86677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2203450" y="2851150"/>
          <a:ext cx="17335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6" name="Equation" r:id="rId9" imgW="660240" imgH="393480" progId="Equation.3">
                  <p:embed/>
                </p:oleObj>
              </mc:Choice>
              <mc:Fallback>
                <p:oleObj name="Equation" r:id="rId9" imgW="6602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851150"/>
                        <a:ext cx="173355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3962400" y="30781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1371600" y="391795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7" name="Equation" r:id="rId11" imgW="266400" imgH="393480" progId="Equation.3">
                  <p:embed/>
                </p:oleObj>
              </mc:Choice>
              <mc:Fallback>
                <p:oleObj name="Equation" r:id="rId11" imgW="26640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91795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2133600" y="3917950"/>
          <a:ext cx="15668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8" name="Equation" r:id="rId13" imgW="596880" imgH="393480" progId="Equation.3">
                  <p:embed/>
                </p:oleObj>
              </mc:Choice>
              <mc:Fallback>
                <p:oleObj name="Equation" r:id="rId13" imgW="5968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17950"/>
                        <a:ext cx="1566863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3733800" y="41449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87½ %</a:t>
            </a:r>
          </a:p>
        </p:txBody>
      </p:sp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1246188" y="4984750"/>
          <a:ext cx="9667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9" name="Equation" r:id="rId15" imgW="368280" imgH="393480" progId="Equation.3">
                  <p:embed/>
                </p:oleObj>
              </mc:Choice>
              <mc:Fallback>
                <p:oleObj name="Equation" r:id="rId15" imgW="36828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4984750"/>
                        <a:ext cx="966787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2160588" y="4984750"/>
          <a:ext cx="18335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0" name="Equation" r:id="rId17" imgW="698400" imgH="393480" progId="Equation.3">
                  <p:embed/>
                </p:oleObj>
              </mc:Choice>
              <mc:Fallback>
                <p:oleObj name="Equation" r:id="rId17" imgW="69840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4984750"/>
                        <a:ext cx="18335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4114800" y="52117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225%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5638800" y="2590800"/>
            <a:ext cx="3200400" cy="1857375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3: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fraction to a percentage, multiply 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2" grpId="0" autoUpdateAnimBg="0"/>
      <p:bldP spid="9225" grpId="0" autoUpdateAnimBg="0"/>
      <p:bldP spid="9228" grpId="0" autoUpdateAnimBg="0"/>
      <p:bldP spid="9233" grpId="0" autoUpdateAnimBg="0"/>
      <p:bldP spid="923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4. Changing decimals to percentages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Another easy one – again we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590800" y="19050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4419600" y="1828800"/>
            <a:ext cx="1219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600200" y="24685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=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590800" y="24685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4419600" y="23923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8%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1600200" y="30781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=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2590800" y="30781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419600" y="30019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175%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1600200" y="19050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600200" y="37639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2590800" y="37639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4419600" y="36877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600200" y="43735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=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2590800" y="43735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4572000" y="42973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0.3%</a:t>
            </a:r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1676400" y="5334000"/>
            <a:ext cx="68580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4: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decimal to a percentage, multiply 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5" grpId="0" autoUpdateAnimBg="0"/>
      <p:bldP spid="10246" grpId="0" autoUpdateAnimBg="0"/>
      <p:bldP spid="10249" grpId="0" autoUpdateAnimBg="0"/>
      <p:bldP spid="10250" grpId="0" autoUpdateAnimBg="0"/>
      <p:bldP spid="10251" grpId="0" autoUpdateAnimBg="0"/>
      <p:bldP spid="10253" grpId="0" autoUpdateAnimBg="0"/>
      <p:bldP spid="10254" grpId="0" autoUpdateAnimBg="0"/>
      <p:bldP spid="10255" grpId="0" autoUpdateAnimBg="0"/>
      <p:bldP spid="10257" grpId="0" autoUpdateAnimBg="0"/>
      <p:bldP spid="10261" grpId="0" autoUpdateAnimBg="0"/>
      <p:bldP spid="10262" grpId="0" autoUpdateAnimBg="0"/>
      <p:bldP spid="10263" grpId="0" autoUpdateAnimBg="0"/>
      <p:bldP spid="10265" grpId="0" autoUpdateAnimBg="0"/>
      <p:bldP spid="10266" grpId="0" autoUpdateAnimBg="0"/>
      <p:bldP spid="10267" grpId="0" autoUpdateAnimBg="0"/>
      <p:bldP spid="1026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295400" y="457200"/>
            <a:ext cx="6477000" cy="2160588"/>
            <a:chOff x="816" y="288"/>
            <a:chExt cx="4080" cy="1361"/>
          </a:xfrm>
        </p:grpSpPr>
        <p:pic>
          <p:nvPicPr>
            <p:cNvPr id="11267" name="Picture 3" descr="BD04924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" y="288"/>
              <a:ext cx="1009" cy="1361"/>
            </a:xfrm>
            <a:prstGeom prst="rect">
              <a:avLst/>
            </a:prstGeom>
            <a:noFill/>
          </p:spPr>
        </p:pic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968" y="624"/>
              <a:ext cx="292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4400"/>
                <a:t>Summary......</a:t>
              </a:r>
            </a:p>
          </p:txBody>
        </p:sp>
      </p:grp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447800" y="2667000"/>
            <a:ext cx="6934200" cy="1816100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To change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by 100.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447800" y="4660900"/>
            <a:ext cx="6934200" cy="18161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0000FF"/>
                </a:solidFill>
              </a:rPr>
              <a:t>To change </a:t>
            </a:r>
            <a:r>
              <a:rPr lang="en-AU" sz="3600" b="1">
                <a:solidFill>
                  <a:srgbClr val="0000FF"/>
                </a:solidFill>
              </a:rPr>
              <a:t>INTO </a:t>
            </a:r>
            <a:r>
              <a:rPr lang="en-AU" sz="3600">
                <a:solidFill>
                  <a:srgbClr val="0000FF"/>
                </a:solidFill>
              </a:rPr>
              <a:t>a percentage</a:t>
            </a:r>
            <a:r>
              <a:rPr lang="en-AU" sz="3600"/>
              <a:t> </a:t>
            </a:r>
            <a:r>
              <a:rPr lang="en-AU" sz="3600">
                <a:solidFill>
                  <a:srgbClr val="0033CC"/>
                </a:solidFill>
              </a:rPr>
              <a:t>from a </a:t>
            </a:r>
            <a:r>
              <a:rPr lang="en-AU" sz="3600">
                <a:solidFill>
                  <a:srgbClr val="0000FF"/>
                </a:solidFill>
              </a:rPr>
              <a:t>fraction or a decimal, you </a:t>
            </a:r>
            <a:r>
              <a:rPr lang="en-AU" sz="3600" b="1">
                <a:solidFill>
                  <a:srgbClr val="0000FF"/>
                </a:solidFill>
              </a:rPr>
              <a:t>MULTIPLY </a:t>
            </a:r>
            <a:r>
              <a:rPr lang="en-AU" sz="3600">
                <a:solidFill>
                  <a:srgbClr val="0000FF"/>
                </a:solidFill>
              </a:rPr>
              <a:t>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 autoUpdateAnimBg="0"/>
      <p:bldP spid="11270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524000" y="609600"/>
            <a:ext cx="678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Exercise – copy and complete the table</a:t>
            </a:r>
          </a:p>
        </p:txBody>
      </p:sp>
      <p:grpSp>
        <p:nvGrpSpPr>
          <p:cNvPr id="12344" name="Group 56"/>
          <p:cNvGrpSpPr>
            <a:grpSpLocks/>
          </p:cNvGrpSpPr>
          <p:nvPr/>
        </p:nvGrpSpPr>
        <p:grpSpPr bwMode="auto">
          <a:xfrm>
            <a:off x="1524000" y="1143000"/>
            <a:ext cx="6096000" cy="5692775"/>
            <a:chOff x="960" y="720"/>
            <a:chExt cx="3840" cy="3586"/>
          </a:xfrm>
        </p:grpSpPr>
        <p:sp>
          <p:nvSpPr>
            <p:cNvPr id="12324" name="Rectangle 36"/>
            <p:cNvSpPr>
              <a:spLocks noChangeArrowheads="1"/>
            </p:cNvSpPr>
            <p:nvPr/>
          </p:nvSpPr>
          <p:spPr bwMode="auto">
            <a:xfrm>
              <a:off x="352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290%</a:t>
              </a:r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224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96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1" name="Rectangle 33"/>
            <p:cNvSpPr>
              <a:spLocks noChangeArrowheads="1"/>
            </p:cNvSpPr>
            <p:nvPr/>
          </p:nvSpPr>
          <p:spPr bwMode="auto">
            <a:xfrm>
              <a:off x="352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0" name="Rectangle 32"/>
            <p:cNvSpPr>
              <a:spLocks noChangeArrowheads="1"/>
            </p:cNvSpPr>
            <p:nvPr/>
          </p:nvSpPr>
          <p:spPr bwMode="auto">
            <a:xfrm>
              <a:off x="224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9" name="Rectangle 31"/>
            <p:cNvSpPr>
              <a:spLocks noChangeArrowheads="1"/>
            </p:cNvSpPr>
            <p:nvPr/>
          </p:nvSpPr>
          <p:spPr bwMode="auto">
            <a:xfrm>
              <a:off x="96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9/13</a:t>
              </a:r>
            </a:p>
          </p:txBody>
        </p:sp>
        <p:sp>
          <p:nvSpPr>
            <p:cNvPr id="12318" name="Rectangle 30"/>
            <p:cNvSpPr>
              <a:spLocks noChangeArrowheads="1"/>
            </p:cNvSpPr>
            <p:nvPr/>
          </p:nvSpPr>
          <p:spPr bwMode="auto">
            <a:xfrm>
              <a:off x="352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%</a:t>
              </a:r>
            </a:p>
          </p:txBody>
        </p:sp>
        <p:sp>
          <p:nvSpPr>
            <p:cNvPr id="12317" name="Rectangle 29"/>
            <p:cNvSpPr>
              <a:spLocks noChangeArrowheads="1"/>
            </p:cNvSpPr>
            <p:nvPr/>
          </p:nvSpPr>
          <p:spPr bwMode="auto">
            <a:xfrm>
              <a:off x="224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6" name="Rectangle 28"/>
            <p:cNvSpPr>
              <a:spLocks noChangeArrowheads="1"/>
            </p:cNvSpPr>
            <p:nvPr/>
          </p:nvSpPr>
          <p:spPr bwMode="auto">
            <a:xfrm>
              <a:off x="96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5" name="Rectangle 27"/>
            <p:cNvSpPr>
              <a:spLocks noChangeArrowheads="1"/>
            </p:cNvSpPr>
            <p:nvPr/>
          </p:nvSpPr>
          <p:spPr bwMode="auto">
            <a:xfrm>
              <a:off x="352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4" name="Rectangle 26"/>
            <p:cNvSpPr>
              <a:spLocks noChangeArrowheads="1"/>
            </p:cNvSpPr>
            <p:nvPr/>
          </p:nvSpPr>
          <p:spPr bwMode="auto">
            <a:xfrm>
              <a:off x="224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0.008</a:t>
              </a:r>
            </a:p>
          </p:txBody>
        </p:sp>
        <p:sp>
          <p:nvSpPr>
            <p:cNvPr id="12313" name="Rectangle 25"/>
            <p:cNvSpPr>
              <a:spLocks noChangeArrowheads="1"/>
            </p:cNvSpPr>
            <p:nvPr/>
          </p:nvSpPr>
          <p:spPr bwMode="auto">
            <a:xfrm>
              <a:off x="96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2" name="Rectangle 24"/>
            <p:cNvSpPr>
              <a:spLocks noChangeArrowheads="1"/>
            </p:cNvSpPr>
            <p:nvPr/>
          </p:nvSpPr>
          <p:spPr bwMode="auto">
            <a:xfrm>
              <a:off x="352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1" name="Rectangle 23"/>
            <p:cNvSpPr>
              <a:spLocks noChangeArrowheads="1"/>
            </p:cNvSpPr>
            <p:nvPr/>
          </p:nvSpPr>
          <p:spPr bwMode="auto">
            <a:xfrm>
              <a:off x="224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0" name="Rectangle 22"/>
            <p:cNvSpPr>
              <a:spLocks noChangeArrowheads="1"/>
            </p:cNvSpPr>
            <p:nvPr/>
          </p:nvSpPr>
          <p:spPr bwMode="auto">
            <a:xfrm>
              <a:off x="96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5 ½  </a:t>
              </a: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52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70%</a:t>
              </a: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224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96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52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5" name="Rectangle 17"/>
            <p:cNvSpPr>
              <a:spLocks noChangeArrowheads="1"/>
            </p:cNvSpPr>
            <p:nvPr/>
          </p:nvSpPr>
          <p:spPr bwMode="auto">
            <a:xfrm>
              <a:off x="224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1.6</a:t>
              </a: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96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352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24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96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2/5 </a:t>
              </a: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352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24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0.72</a:t>
              </a: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auto">
            <a:xfrm>
              <a:off x="96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auto">
            <a:xfrm>
              <a:off x="352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auto">
            <a:xfrm>
              <a:off x="224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auto">
            <a:xfrm>
              <a:off x="96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¾ </a:t>
              </a: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auto">
            <a:xfrm>
              <a:off x="352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PERCENT</a:t>
              </a:r>
            </a:p>
          </p:txBody>
        </p:sp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224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DECIMAL</a:t>
              </a:r>
            </a:p>
          </p:txBody>
        </p:sp>
        <p:sp>
          <p:nvSpPr>
            <p:cNvPr id="12292" name="Rectangle 4"/>
            <p:cNvSpPr>
              <a:spLocks noChangeArrowheads="1"/>
            </p:cNvSpPr>
            <p:nvPr/>
          </p:nvSpPr>
          <p:spPr bwMode="auto">
            <a:xfrm>
              <a:off x="96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FRACTION</a:t>
              </a:r>
            </a:p>
          </p:txBody>
        </p:sp>
        <p:sp>
          <p:nvSpPr>
            <p:cNvPr id="12325" name="Line 37"/>
            <p:cNvSpPr>
              <a:spLocks noChangeShapeType="1"/>
            </p:cNvSpPr>
            <p:nvPr/>
          </p:nvSpPr>
          <p:spPr bwMode="auto">
            <a:xfrm>
              <a:off x="960" y="720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6" name="Line 38"/>
            <p:cNvSpPr>
              <a:spLocks noChangeShapeType="1"/>
            </p:cNvSpPr>
            <p:nvPr/>
          </p:nvSpPr>
          <p:spPr bwMode="auto">
            <a:xfrm>
              <a:off x="960" y="104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7" name="Line 39"/>
            <p:cNvSpPr>
              <a:spLocks noChangeShapeType="1"/>
            </p:cNvSpPr>
            <p:nvPr/>
          </p:nvSpPr>
          <p:spPr bwMode="auto">
            <a:xfrm>
              <a:off x="960" y="137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8" name="Line 40"/>
            <p:cNvSpPr>
              <a:spLocks noChangeShapeType="1"/>
            </p:cNvSpPr>
            <p:nvPr/>
          </p:nvSpPr>
          <p:spPr bwMode="auto">
            <a:xfrm>
              <a:off x="960" y="169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9" name="Line 41"/>
            <p:cNvSpPr>
              <a:spLocks noChangeShapeType="1"/>
            </p:cNvSpPr>
            <p:nvPr/>
          </p:nvSpPr>
          <p:spPr bwMode="auto">
            <a:xfrm>
              <a:off x="960" y="202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0" name="Line 42"/>
            <p:cNvSpPr>
              <a:spLocks noChangeShapeType="1"/>
            </p:cNvSpPr>
            <p:nvPr/>
          </p:nvSpPr>
          <p:spPr bwMode="auto">
            <a:xfrm>
              <a:off x="960" y="235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1" name="Line 43"/>
            <p:cNvSpPr>
              <a:spLocks noChangeShapeType="1"/>
            </p:cNvSpPr>
            <p:nvPr/>
          </p:nvSpPr>
          <p:spPr bwMode="auto">
            <a:xfrm>
              <a:off x="960" y="267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2" name="Line 44"/>
            <p:cNvSpPr>
              <a:spLocks noChangeShapeType="1"/>
            </p:cNvSpPr>
            <p:nvPr/>
          </p:nvSpPr>
          <p:spPr bwMode="auto">
            <a:xfrm>
              <a:off x="960" y="300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3" name="Line 45"/>
            <p:cNvSpPr>
              <a:spLocks noChangeShapeType="1"/>
            </p:cNvSpPr>
            <p:nvPr/>
          </p:nvSpPr>
          <p:spPr bwMode="auto">
            <a:xfrm>
              <a:off x="960" y="332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4" name="Line 46"/>
            <p:cNvSpPr>
              <a:spLocks noChangeShapeType="1"/>
            </p:cNvSpPr>
            <p:nvPr/>
          </p:nvSpPr>
          <p:spPr bwMode="auto">
            <a:xfrm>
              <a:off x="960" y="365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5" name="Line 47"/>
            <p:cNvSpPr>
              <a:spLocks noChangeShapeType="1"/>
            </p:cNvSpPr>
            <p:nvPr/>
          </p:nvSpPr>
          <p:spPr bwMode="auto">
            <a:xfrm>
              <a:off x="960" y="398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6" name="Line 48"/>
            <p:cNvSpPr>
              <a:spLocks noChangeShapeType="1"/>
            </p:cNvSpPr>
            <p:nvPr/>
          </p:nvSpPr>
          <p:spPr bwMode="auto">
            <a:xfrm>
              <a:off x="960" y="4306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7" name="Line 49"/>
            <p:cNvSpPr>
              <a:spLocks noChangeShapeType="1"/>
            </p:cNvSpPr>
            <p:nvPr/>
          </p:nvSpPr>
          <p:spPr bwMode="auto">
            <a:xfrm>
              <a:off x="96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8" name="Line 50"/>
            <p:cNvSpPr>
              <a:spLocks noChangeShapeType="1"/>
            </p:cNvSpPr>
            <p:nvPr/>
          </p:nvSpPr>
          <p:spPr bwMode="auto">
            <a:xfrm>
              <a:off x="224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9" name="Line 51"/>
            <p:cNvSpPr>
              <a:spLocks noChangeShapeType="1"/>
            </p:cNvSpPr>
            <p:nvPr/>
          </p:nvSpPr>
          <p:spPr bwMode="auto">
            <a:xfrm>
              <a:off x="352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40" name="Line 52"/>
            <p:cNvSpPr>
              <a:spLocks noChangeShapeType="1"/>
            </p:cNvSpPr>
            <p:nvPr/>
          </p:nvSpPr>
          <p:spPr bwMode="auto">
            <a:xfrm>
              <a:off x="480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graphicFrame>
          <p:nvGraphicFramePr>
            <p:cNvPr id="12343" name="Object 55"/>
            <p:cNvGraphicFramePr>
              <a:graphicFrameLocks noChangeAspect="1"/>
            </p:cNvGraphicFramePr>
            <p:nvPr/>
          </p:nvGraphicFramePr>
          <p:xfrm>
            <a:off x="3600" y="3324"/>
            <a:ext cx="49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1" name="Equation" r:id="rId3" imgW="406080" imgH="304560" progId="Equation.3">
                    <p:embed/>
                  </p:oleObj>
                </mc:Choice>
                <mc:Fallback>
                  <p:oleObj name="Equation" r:id="rId3" imgW="406080" imgH="304560" progId="Equation.3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324"/>
                          <a:ext cx="496" cy="3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</p:bldLst>
  </p:timing>
</p:sld>
</file>

<file path=ppt/theme/theme1.xml><?xml version="1.0" encoding="utf-8"?>
<a:theme xmlns:a="http://schemas.openxmlformats.org/drawingml/2006/main" name="Dad`s Tie">
  <a:themeElements>
    <a:clrScheme name="Dad`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`s Ti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ad`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`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lit">
  <a:themeElements>
    <a:clrScheme name="Slit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Sli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oposal">
  <a:themeElements>
    <a:clrScheme name="Proposal 8">
      <a:dk1>
        <a:srgbClr val="000000"/>
      </a:dk1>
      <a:lt1>
        <a:srgbClr val="FFFFFF"/>
      </a:lt1>
      <a:dk2>
        <a:srgbClr val="8C0039"/>
      </a:dk2>
      <a:lt2>
        <a:srgbClr val="660066"/>
      </a:lt2>
      <a:accent1>
        <a:srgbClr val="C58BF9"/>
      </a:accent1>
      <a:accent2>
        <a:srgbClr val="9966FF"/>
      </a:accent2>
      <a:accent3>
        <a:srgbClr val="FFFFFF"/>
      </a:accent3>
      <a:accent4>
        <a:srgbClr val="000000"/>
      </a:accent4>
      <a:accent5>
        <a:srgbClr val="DFC4FB"/>
      </a:accent5>
      <a:accent6>
        <a:srgbClr val="8A5CE7"/>
      </a:accent6>
      <a:hlink>
        <a:srgbClr val="E4005C"/>
      </a:hlink>
      <a:folHlink>
        <a:srgbClr val="C36C03"/>
      </a:folHlink>
    </a:clrScheme>
    <a:fontScheme name="Propo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Proposal 1">
        <a:dk1>
          <a:srgbClr val="777777"/>
        </a:dk1>
        <a:lt1>
          <a:srgbClr val="FFFFFF"/>
        </a:lt1>
        <a:dk2>
          <a:srgbClr val="333333"/>
        </a:dk2>
        <a:lt2>
          <a:srgbClr val="FFF4C3"/>
        </a:lt2>
        <a:accent1>
          <a:srgbClr val="C892FA"/>
        </a:accent1>
        <a:accent2>
          <a:srgbClr val="9966FF"/>
        </a:accent2>
        <a:accent3>
          <a:srgbClr val="ADADAD"/>
        </a:accent3>
        <a:accent4>
          <a:srgbClr val="DADADA"/>
        </a:accent4>
        <a:accent5>
          <a:srgbClr val="E0C7FC"/>
        </a:accent5>
        <a:accent6>
          <a:srgbClr val="8A5CE7"/>
        </a:accent6>
        <a:hlink>
          <a:srgbClr val="E4005C"/>
        </a:hlink>
        <a:folHlink>
          <a:srgbClr val="DC7A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2">
        <a:dk1>
          <a:srgbClr val="1C1C1C"/>
        </a:dk1>
        <a:lt1>
          <a:srgbClr val="FFFFFF"/>
        </a:lt1>
        <a:dk2>
          <a:srgbClr val="5F5F5F"/>
        </a:dk2>
        <a:lt2>
          <a:srgbClr val="FFFFCC"/>
        </a:lt2>
        <a:accent1>
          <a:srgbClr val="4A5B64"/>
        </a:accent1>
        <a:accent2>
          <a:srgbClr val="AF9387"/>
        </a:accent2>
        <a:accent3>
          <a:srgbClr val="B6B6B6"/>
        </a:accent3>
        <a:accent4>
          <a:srgbClr val="DADADA"/>
        </a:accent4>
        <a:accent5>
          <a:srgbClr val="B1B5B8"/>
        </a:accent5>
        <a:accent6>
          <a:srgbClr val="9E857A"/>
        </a:accent6>
        <a:hlink>
          <a:srgbClr val="F3C43F"/>
        </a:hlink>
        <a:folHlink>
          <a:srgbClr val="66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3">
        <a:dk1>
          <a:srgbClr val="4D4D4D"/>
        </a:dk1>
        <a:lt1>
          <a:srgbClr val="FFFFFF"/>
        </a:lt1>
        <a:dk2>
          <a:srgbClr val="666699"/>
        </a:dk2>
        <a:lt2>
          <a:srgbClr val="FFFFCC"/>
        </a:lt2>
        <a:accent1>
          <a:srgbClr val="8D8DB3"/>
        </a:accent1>
        <a:accent2>
          <a:srgbClr val="7A25D7"/>
        </a:accent2>
        <a:accent3>
          <a:srgbClr val="B8B8CA"/>
        </a:accent3>
        <a:accent4>
          <a:srgbClr val="DADADA"/>
        </a:accent4>
        <a:accent5>
          <a:srgbClr val="C5C5D6"/>
        </a:accent5>
        <a:accent6>
          <a:srgbClr val="6E20C3"/>
        </a:accent6>
        <a:hlink>
          <a:srgbClr val="66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4">
        <a:dk1>
          <a:srgbClr val="10187C"/>
        </a:dk1>
        <a:lt1>
          <a:srgbClr val="F8F8F8"/>
        </a:lt1>
        <a:dk2>
          <a:srgbClr val="538DC7"/>
        </a:dk2>
        <a:lt2>
          <a:srgbClr val="CCECFF"/>
        </a:lt2>
        <a:accent1>
          <a:srgbClr val="879EC7"/>
        </a:accent1>
        <a:accent2>
          <a:srgbClr val="461B8B"/>
        </a:accent2>
        <a:accent3>
          <a:srgbClr val="B3C5E0"/>
        </a:accent3>
        <a:accent4>
          <a:srgbClr val="D4D4D4"/>
        </a:accent4>
        <a:accent5>
          <a:srgbClr val="C3CCE0"/>
        </a:accent5>
        <a:accent6>
          <a:srgbClr val="3F177D"/>
        </a:accent6>
        <a:hlink>
          <a:srgbClr val="0000FF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5">
        <a:dk1>
          <a:srgbClr val="002F2E"/>
        </a:dk1>
        <a:lt1>
          <a:srgbClr val="FFFFFF"/>
        </a:lt1>
        <a:dk2>
          <a:srgbClr val="008080"/>
        </a:dk2>
        <a:lt2>
          <a:srgbClr val="FFFFCC"/>
        </a:lt2>
        <a:accent1>
          <a:srgbClr val="0E6A52"/>
        </a:accent1>
        <a:accent2>
          <a:srgbClr val="3553A7"/>
        </a:accent2>
        <a:accent3>
          <a:srgbClr val="AAC0C0"/>
        </a:accent3>
        <a:accent4>
          <a:srgbClr val="DADADA"/>
        </a:accent4>
        <a:accent5>
          <a:srgbClr val="AAB9B3"/>
        </a:accent5>
        <a:accent6>
          <a:srgbClr val="2F4A97"/>
        </a:accent6>
        <a:hlink>
          <a:srgbClr val="1ACE9F"/>
        </a:hlink>
        <a:folHlink>
          <a:srgbClr val="B5B5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6">
        <a:dk1>
          <a:srgbClr val="000000"/>
        </a:dk1>
        <a:lt1>
          <a:srgbClr val="E3FFFF"/>
        </a:lt1>
        <a:dk2>
          <a:srgbClr val="4400A8"/>
        </a:dk2>
        <a:lt2>
          <a:srgbClr val="005452"/>
        </a:lt2>
        <a:accent1>
          <a:srgbClr val="92CAC9"/>
        </a:accent1>
        <a:accent2>
          <a:srgbClr val="009999"/>
        </a:accent2>
        <a:accent3>
          <a:srgbClr val="EFFFFF"/>
        </a:accent3>
        <a:accent4>
          <a:srgbClr val="000000"/>
        </a:accent4>
        <a:accent5>
          <a:srgbClr val="C7E1E1"/>
        </a:accent5>
        <a:accent6>
          <a:srgbClr val="008A8A"/>
        </a:accent6>
        <a:hlink>
          <a:srgbClr val="187C16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7">
        <a:dk1>
          <a:srgbClr val="000000"/>
        </a:dk1>
        <a:lt1>
          <a:srgbClr val="CCFF99"/>
        </a:lt1>
        <a:dk2>
          <a:srgbClr val="CC99FF"/>
        </a:dk2>
        <a:lt2>
          <a:srgbClr val="1B3600"/>
        </a:lt2>
        <a:accent1>
          <a:srgbClr val="009900"/>
        </a:accent1>
        <a:accent2>
          <a:srgbClr val="B7CA02"/>
        </a:accent2>
        <a:accent3>
          <a:srgbClr val="E2FFCA"/>
        </a:accent3>
        <a:accent4>
          <a:srgbClr val="000000"/>
        </a:accent4>
        <a:accent5>
          <a:srgbClr val="AACAAA"/>
        </a:accent5>
        <a:accent6>
          <a:srgbClr val="A6B702"/>
        </a:accent6>
        <a:hlink>
          <a:srgbClr val="FFCC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8">
        <a:dk1>
          <a:srgbClr val="000000"/>
        </a:dk1>
        <a:lt1>
          <a:srgbClr val="FFFFFF"/>
        </a:lt1>
        <a:dk2>
          <a:srgbClr val="8C0039"/>
        </a:dk2>
        <a:lt2>
          <a:srgbClr val="660066"/>
        </a:lt2>
        <a:accent1>
          <a:srgbClr val="C58BF9"/>
        </a:accent1>
        <a:accent2>
          <a:srgbClr val="9966FF"/>
        </a:accent2>
        <a:accent3>
          <a:srgbClr val="FFFFFF"/>
        </a:accent3>
        <a:accent4>
          <a:srgbClr val="000000"/>
        </a:accent4>
        <a:accent5>
          <a:srgbClr val="DFC4FB"/>
        </a:accent5>
        <a:accent6>
          <a:srgbClr val="8A5CE7"/>
        </a:accent6>
        <a:hlink>
          <a:srgbClr val="E4005C"/>
        </a:hlink>
        <a:folHlink>
          <a:srgbClr val="C36C0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Designs\Dad`s Tie.pot</Template>
  <TotalTime>368</TotalTime>
  <Words>505</Words>
  <Application>Microsoft Macintosh PowerPoint</Application>
  <PresentationFormat>On-screen Show (4:3)</PresentationFormat>
  <Paragraphs>109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 Black</vt:lpstr>
      <vt:lpstr>Arial Unicode MS</vt:lpstr>
      <vt:lpstr>Comic Sans MS</vt:lpstr>
      <vt:lpstr>Impact</vt:lpstr>
      <vt:lpstr>Symbol</vt:lpstr>
      <vt:lpstr>Tahoma</vt:lpstr>
      <vt:lpstr>Times New Roman</vt:lpstr>
      <vt:lpstr>Wingdings</vt:lpstr>
      <vt:lpstr>Arial</vt:lpstr>
      <vt:lpstr>Dad`s Tie</vt:lpstr>
      <vt:lpstr>Slit</vt:lpstr>
      <vt:lpstr>Proposal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Brisbane Girls Grammar School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manager</dc:creator>
  <cp:lastModifiedBy>PATERSON Anne</cp:lastModifiedBy>
  <cp:revision>27</cp:revision>
  <dcterms:created xsi:type="dcterms:W3CDTF">2004-10-25T01:43:55Z</dcterms:created>
  <dcterms:modified xsi:type="dcterms:W3CDTF">2017-04-29T09:29:48Z</dcterms:modified>
</cp:coreProperties>
</file>
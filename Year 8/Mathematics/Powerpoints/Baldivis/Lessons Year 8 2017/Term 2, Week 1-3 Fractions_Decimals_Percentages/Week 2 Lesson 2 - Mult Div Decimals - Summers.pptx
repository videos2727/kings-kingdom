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338" r:id="rId3"/>
    <p:sldId id="339" r:id="rId4"/>
    <p:sldId id="347" r:id="rId5"/>
    <p:sldId id="348" r:id="rId6"/>
    <p:sldId id="323" r:id="rId7"/>
    <p:sldId id="340" r:id="rId8"/>
    <p:sldId id="341" r:id="rId9"/>
    <p:sldId id="349" r:id="rId10"/>
    <p:sldId id="342" r:id="rId11"/>
    <p:sldId id="343" r:id="rId12"/>
    <p:sldId id="344" r:id="rId13"/>
    <p:sldId id="350" r:id="rId14"/>
    <p:sldId id="351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/>
    <p:restoredTop sz="50000" autoAdjust="0"/>
  </p:normalViewPr>
  <p:slideViewPr>
    <p:cSldViewPr>
      <p:cViewPr varScale="1">
        <p:scale>
          <a:sx n="129" d="100"/>
          <a:sy n="129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29/4/17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stop the video at the 1:45 mark before dividing</a:t>
            </a:r>
            <a:r>
              <a:rPr lang="en-US" baseline="0" dirty="0" smtClean="0"/>
              <a:t> decimals starts 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15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29/4/17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BIV-kmDXo2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s.com/teaching-resource/real-life-calculations-with-decimals-6315267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0808"/>
            <a:ext cx="9144000" cy="4959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32657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Task: </a:t>
            </a:r>
            <a:r>
              <a:rPr lang="en-US" sz="2400" dirty="0" smtClean="0"/>
              <a:t>Find a partner and match the correct sentence beginnings and endings. Write in the LHS of both your INBs.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211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1991580"/>
            <a:ext cx="19427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Multiplying and dividing </a:t>
            </a:r>
          </a:p>
          <a:p>
            <a:r>
              <a:rPr lang="en-US" sz="2200" dirty="0" smtClean="0"/>
              <a:t>decimals by powers of 10</a:t>
            </a:r>
            <a:endParaRPr lang="en-US" sz="22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3624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35444" y="2032201"/>
                <a:ext cx="698790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When multiplying, the decimal point moves to the </a:t>
                </a:r>
                <a:r>
                  <a:rPr lang="en-US" i="1" dirty="0" smtClean="0"/>
                  <a:t>right</a:t>
                </a:r>
                <a:r>
                  <a:rPr lang="en-US" dirty="0" smtClean="0"/>
                  <a:t> the same number of places as there are zeros in the multiplier.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13.753 </m:t>
                    </m:r>
                    <m:r>
                      <a:rPr lang="en-CA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CA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100=1375.3</m:t>
                    </m:r>
                  </m:oMath>
                </a14:m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charset="0"/>
                      </a:rPr>
                      <m:t>          </m:t>
                    </m:r>
                    <m:r>
                      <a:rPr lang="en-CA" b="0" i="1" smtClean="0">
                        <a:latin typeface="Cambria Math" charset="0"/>
                      </a:rPr>
                      <m:t>13.753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	</a:t>
                </a:r>
                <a:r>
                  <a:rPr lang="en-US" dirty="0" smtClean="0"/>
                  <a:t>	</a:t>
                </a:r>
                <a:r>
                  <a:rPr lang="en-US" dirty="0"/>
                  <a:t>	</a:t>
                </a:r>
                <a:r>
                  <a:rPr lang="en-US" dirty="0" smtClean="0"/>
                  <a:t>	     	Multiply by 10 twice</a:t>
                </a:r>
              </a:p>
              <a:p>
                <a:endParaRPr lang="en-US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When dividing, the decimal point moves to the </a:t>
                </a:r>
                <a:r>
                  <a:rPr lang="en-US" i="1" dirty="0" smtClean="0"/>
                  <a:t>left</a:t>
                </a:r>
                <a:r>
                  <a:rPr lang="en-US" dirty="0" smtClean="0"/>
                  <a:t> the same number of places as there are zeros in the divisor.</a:t>
                </a:r>
              </a:p>
              <a:p>
                <a:endParaRPr lang="en-US" dirty="0"/>
              </a:p>
              <a:p>
                <a:r>
                  <a:rPr lang="en-US" dirty="0" smtClean="0"/>
                  <a:t>    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charset="0"/>
                      </a:rPr>
                      <m:t>586.92 </m:t>
                    </m:r>
                    <m:r>
                      <a:rPr lang="en-CA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÷10=58.692</m:t>
                    </m:r>
                  </m:oMath>
                </a14:m>
                <a:r>
                  <a:rPr lang="en-US" dirty="0" smtClean="0"/>
                  <a:t>			      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charset="0"/>
                      </a:rPr>
                      <m:t> </m:t>
                    </m:r>
                    <m:r>
                      <a:rPr lang="en-CA" b="0" i="1" smtClean="0">
                        <a:latin typeface="Cambria Math" charset="0"/>
                      </a:rPr>
                      <m:t>586.92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r>
                  <a:rPr lang="en-US" dirty="0"/>
                  <a:t> </a:t>
                </a:r>
                <a:r>
                  <a:rPr lang="en-US" dirty="0" smtClean="0"/>
                  <a:t>              Divide by 10 once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44" y="2032201"/>
                <a:ext cx="6987907" cy="3139321"/>
              </a:xfrm>
              <a:prstGeom prst="rect">
                <a:avLst/>
              </a:prstGeom>
              <a:blipFill rotWithShape="0">
                <a:blip r:embed="rId2"/>
                <a:stretch>
                  <a:fillRect l="-611" t="-971" r="-87" b="-4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6"/>
          <p:cNvSpPr/>
          <p:nvPr/>
        </p:nvSpPr>
        <p:spPr>
          <a:xfrm>
            <a:off x="7439175" y="4509120"/>
            <a:ext cx="111876" cy="72008"/>
          </a:xfrm>
          <a:custGeom>
            <a:avLst/>
            <a:gdLst>
              <a:gd name="connsiteX0" fmla="*/ 0 w 139148"/>
              <a:gd name="connsiteY0" fmla="*/ 109367 h 119306"/>
              <a:gd name="connsiteX1" fmla="*/ 59635 w 139148"/>
              <a:gd name="connsiteY1" fmla="*/ 36 h 119306"/>
              <a:gd name="connsiteX2" fmla="*/ 139148 w 139148"/>
              <a:gd name="connsiteY2" fmla="*/ 119306 h 119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48" h="119306">
                <a:moveTo>
                  <a:pt x="0" y="109367"/>
                </a:moveTo>
                <a:cubicBezTo>
                  <a:pt x="18222" y="53873"/>
                  <a:pt x="36444" y="-1620"/>
                  <a:pt x="59635" y="36"/>
                </a:cubicBezTo>
                <a:cubicBezTo>
                  <a:pt x="82826" y="1692"/>
                  <a:pt x="139148" y="119306"/>
                  <a:pt x="139148" y="11930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7439176" y="2870939"/>
            <a:ext cx="204016" cy="85117"/>
          </a:xfrm>
          <a:custGeom>
            <a:avLst/>
            <a:gdLst>
              <a:gd name="connsiteX0" fmla="*/ 0 w 139148"/>
              <a:gd name="connsiteY0" fmla="*/ 109470 h 129348"/>
              <a:gd name="connsiteX1" fmla="*/ 59635 w 139148"/>
              <a:gd name="connsiteY1" fmla="*/ 139 h 129348"/>
              <a:gd name="connsiteX2" fmla="*/ 139148 w 139148"/>
              <a:gd name="connsiteY2" fmla="*/ 129348 h 12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48" h="129348">
                <a:moveTo>
                  <a:pt x="0" y="109470"/>
                </a:moveTo>
                <a:cubicBezTo>
                  <a:pt x="18222" y="53148"/>
                  <a:pt x="36444" y="-3174"/>
                  <a:pt x="59635" y="139"/>
                </a:cubicBezTo>
                <a:cubicBezTo>
                  <a:pt x="82826" y="3452"/>
                  <a:pt x="139148" y="129348"/>
                  <a:pt x="139148" y="12934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7625788" y="2852936"/>
            <a:ext cx="139148" cy="89452"/>
          </a:xfrm>
          <a:custGeom>
            <a:avLst/>
            <a:gdLst>
              <a:gd name="connsiteX0" fmla="*/ 139148 w 139148"/>
              <a:gd name="connsiteY0" fmla="*/ 89452 h 89452"/>
              <a:gd name="connsiteX1" fmla="*/ 79513 w 139148"/>
              <a:gd name="connsiteY1" fmla="*/ 0 h 89452"/>
              <a:gd name="connsiteX2" fmla="*/ 0 w 139148"/>
              <a:gd name="connsiteY2" fmla="*/ 89452 h 89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148" h="89452">
                <a:moveTo>
                  <a:pt x="139148" y="89452"/>
                </a:moveTo>
                <a:cubicBezTo>
                  <a:pt x="120926" y="44726"/>
                  <a:pt x="102704" y="0"/>
                  <a:pt x="79513" y="0"/>
                </a:cubicBezTo>
                <a:cubicBezTo>
                  <a:pt x="56322" y="0"/>
                  <a:pt x="0" y="89452"/>
                  <a:pt x="0" y="8945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0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93472" y="1991580"/>
            <a:ext cx="19427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Multiplying and dividing </a:t>
            </a:r>
          </a:p>
          <a:p>
            <a:r>
              <a:rPr lang="en-US" sz="2200" dirty="0" smtClean="0"/>
              <a:t>decimals by powers of 10</a:t>
            </a:r>
            <a:endParaRPr lang="en-US" sz="22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916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95736" y="2056526"/>
            <a:ext cx="1443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Examples:</a:t>
            </a:r>
            <a:endParaRPr lang="en-US" sz="2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078" y="2708920"/>
            <a:ext cx="7383639" cy="362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7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3528" y="188640"/>
                <a:ext cx="2218877" cy="5663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u="sng" dirty="0" smtClean="0"/>
                  <a:t>Your Turn:</a:t>
                </a:r>
              </a:p>
              <a:p>
                <a:endParaRPr lang="en-US" dirty="0"/>
              </a:p>
              <a:p>
                <a:r>
                  <a:rPr lang="en-US" sz="2400" dirty="0" smtClean="0"/>
                  <a:t>Evaluate:</a:t>
                </a:r>
              </a:p>
              <a:p>
                <a:endParaRPr lang="en-US" sz="2400" dirty="0"/>
              </a:p>
              <a:p>
                <a:pPr marL="342900" indent="-342900">
                  <a:buAutoNum type="alphaLcParenR"/>
                </a:pPr>
                <a:r>
                  <a:rPr lang="en-US" sz="2400" dirty="0" smtClean="0"/>
                  <a:t>7.08 x 10</a:t>
                </a:r>
              </a:p>
              <a:p>
                <a:pPr marL="342900" indent="-342900">
                  <a:buAutoNum type="alphaLcParenR"/>
                </a:pPr>
                <a:endParaRPr lang="en-US" sz="2400" dirty="0"/>
              </a:p>
              <a:p>
                <a:pPr marL="342900" indent="-342900">
                  <a:buAutoNum type="alphaLcParenR"/>
                </a:pPr>
                <a:r>
                  <a:rPr lang="en-US" sz="2400" dirty="0" smtClean="0"/>
                  <a:t>0.49 x 1000</a:t>
                </a:r>
              </a:p>
              <a:p>
                <a:pPr marL="342900" indent="-342900">
                  <a:buAutoNum type="alphaLcParenR"/>
                </a:pPr>
                <a:endParaRPr lang="en-US" sz="2400" dirty="0"/>
              </a:p>
              <a:p>
                <a:pPr marL="342900" indent="-342900">
                  <a:buAutoNum type="alphaLcParenR"/>
                </a:pPr>
                <a:r>
                  <a:rPr lang="en-US" sz="2400" dirty="0" smtClean="0"/>
                  <a:t>0.8 x 100</a:t>
                </a:r>
              </a:p>
              <a:p>
                <a:pPr marL="342900" indent="-342900">
                  <a:buAutoNum type="alphaLcParenR"/>
                </a:pPr>
                <a:endParaRPr lang="en-US" sz="2400" dirty="0"/>
              </a:p>
              <a:p>
                <a:pPr marL="342900" indent="-342900">
                  <a:buAutoNum type="alphaLcParenR"/>
                </a:pPr>
                <a:r>
                  <a:rPr lang="en-US" sz="2400" dirty="0" smtClean="0"/>
                  <a:t>5.21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</m:oMath>
                </a14:m>
                <a:r>
                  <a:rPr lang="en-US" sz="2400" dirty="0" smtClean="0"/>
                  <a:t> 100</a:t>
                </a:r>
              </a:p>
              <a:p>
                <a:pPr marL="342900" indent="-342900">
                  <a:buAutoNum type="alphaLcParenR"/>
                </a:pPr>
                <a:endParaRPr lang="en-US" sz="2400" dirty="0"/>
              </a:p>
              <a:p>
                <a:pPr marL="342900" indent="-342900">
                  <a:buFontTx/>
                  <a:buAutoNum type="alphaLcParenR"/>
                </a:pPr>
                <a:r>
                  <a:rPr lang="en-US" sz="2400" dirty="0" smtClean="0"/>
                  <a:t>34.65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</m:oMath>
                </a14:m>
                <a:r>
                  <a:rPr lang="en-US" sz="2400" dirty="0" smtClean="0"/>
                  <a:t> 10</a:t>
                </a:r>
              </a:p>
              <a:p>
                <a:pPr marL="342900" indent="-342900">
                  <a:buFontTx/>
                  <a:buAutoNum type="alphaLcParenR"/>
                </a:pPr>
                <a:endParaRPr lang="en-US" sz="2400" dirty="0"/>
              </a:p>
              <a:p>
                <a:pPr marL="342900" indent="-342900">
                  <a:buFontTx/>
                  <a:buAutoNum type="alphaLcParenR"/>
                </a:pPr>
                <a:r>
                  <a:rPr lang="en-US" sz="2400" dirty="0" smtClean="0"/>
                  <a:t>4.037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÷</m:t>
                    </m:r>
                  </m:oMath>
                </a14:m>
                <a:r>
                  <a:rPr lang="en-US" sz="2400" dirty="0" smtClean="0"/>
                  <a:t> 1000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88640"/>
                <a:ext cx="2218877" cy="5663089"/>
              </a:xfrm>
              <a:prstGeom prst="rect">
                <a:avLst/>
              </a:prstGeom>
              <a:blipFill rotWithShape="0">
                <a:blip r:embed="rId2"/>
                <a:stretch>
                  <a:fillRect l="-6868" t="-1399" r="-3022" b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8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22" name="Rectangle 21"/>
          <p:cNvSpPr/>
          <p:nvPr/>
        </p:nvSpPr>
        <p:spPr>
          <a:xfrm>
            <a:off x="3347864" y="244444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www.youtube.com/watch?v=BIV-kmDXo2s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0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91581"/>
            <a:ext cx="1601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Multiplying</a:t>
            </a:r>
          </a:p>
          <a:p>
            <a:r>
              <a:rPr lang="en-US" sz="2400" dirty="0" smtClean="0"/>
              <a:t>decimals</a:t>
            </a:r>
            <a:endParaRPr lang="en-US" sz="2400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2212173" y="1916831"/>
            <a:ext cx="6931826" cy="475252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x-none" sz="2000" dirty="0" smtClean="0"/>
              <a:t>Don’t worry about the decimal until you’re done multiplying everything</a:t>
            </a:r>
          </a:p>
          <a:p>
            <a:r>
              <a:rPr lang="en-US" altLang="x-none" sz="2000" dirty="0" smtClean="0"/>
              <a:t>First multiply, and then count up the places to the right of the decimal point and put the decimal in the answer.</a:t>
            </a:r>
          </a:p>
          <a:p>
            <a:pPr>
              <a:buFont typeface="Wingdings" charset="2"/>
              <a:buNone/>
            </a:pPr>
            <a:endParaRPr lang="en-US" altLang="x-none" sz="2400" dirty="0" smtClean="0"/>
          </a:p>
          <a:p>
            <a:pPr>
              <a:buFont typeface="Wingdings" charset="2"/>
              <a:buNone/>
            </a:pPr>
            <a:r>
              <a:rPr lang="en-US" altLang="x-none" sz="2000" b="1" dirty="0" smtClean="0">
                <a:latin typeface="Times New Roman" charset="0"/>
              </a:rPr>
              <a:t>3.51 x 1.4  </a:t>
            </a:r>
            <a:r>
              <a:rPr lang="en-US" altLang="x-none" sz="2000" b="1" dirty="0" smtClean="0">
                <a:latin typeface="Times New Roman" charset="0"/>
                <a:sym typeface="Wingdings" charset="2"/>
              </a:rPr>
              <a:t>  351</a:t>
            </a:r>
          </a:p>
          <a:p>
            <a:pPr>
              <a:buFont typeface="Wingdings" charset="2"/>
              <a:buNone/>
            </a:pPr>
            <a:r>
              <a:rPr lang="en-US" altLang="x-none" sz="2000" b="1" dirty="0" smtClean="0">
                <a:latin typeface="Times New Roman" charset="0"/>
                <a:sym typeface="Wingdings" charset="2"/>
              </a:rPr>
              <a:t>                        </a:t>
            </a:r>
            <a:r>
              <a:rPr lang="en-US" altLang="x-none" sz="2000" b="1" u="sng" dirty="0" smtClean="0">
                <a:latin typeface="Times New Roman" charset="0"/>
                <a:ea typeface="Times New Roman" charset="0"/>
                <a:cs typeface="Times New Roman" charset="0"/>
                <a:sym typeface="Wingdings" charset="2"/>
              </a:rPr>
              <a:t>×</a:t>
            </a:r>
            <a:r>
              <a:rPr lang="en-US" altLang="x-none" sz="2000" b="1" u="sng" dirty="0" smtClean="0">
                <a:latin typeface="Times New Roman" charset="0"/>
                <a:sym typeface="Wingdings" charset="2"/>
              </a:rPr>
              <a:t>14</a:t>
            </a:r>
          </a:p>
          <a:p>
            <a:pPr>
              <a:buFont typeface="Wingdings" charset="2"/>
              <a:buNone/>
            </a:pPr>
            <a:r>
              <a:rPr lang="en-US" altLang="x-none" sz="2000" b="1" dirty="0" smtClean="0">
                <a:latin typeface="Times New Roman" charset="0"/>
                <a:sym typeface="Wingdings" charset="2"/>
              </a:rPr>
              <a:t>                      1404</a:t>
            </a:r>
          </a:p>
          <a:p>
            <a:pPr>
              <a:buFont typeface="Wingdings" charset="2"/>
              <a:buNone/>
            </a:pPr>
            <a:r>
              <a:rPr lang="en-US" altLang="x-none" sz="2000" b="1" dirty="0" smtClean="0">
                <a:latin typeface="Times New Roman" charset="0"/>
                <a:sym typeface="Wingdings" charset="2"/>
              </a:rPr>
              <a:t>                    </a:t>
            </a:r>
            <a:r>
              <a:rPr lang="en-US" altLang="x-none" sz="2000" b="1" u="sng" dirty="0" smtClean="0">
                <a:latin typeface="Times New Roman" charset="0"/>
                <a:sym typeface="Wingdings" charset="2"/>
              </a:rPr>
              <a:t>+3510</a:t>
            </a:r>
          </a:p>
          <a:p>
            <a:pPr>
              <a:buFont typeface="Wingdings" charset="2"/>
              <a:buNone/>
            </a:pPr>
            <a:r>
              <a:rPr lang="en-US" altLang="x-none" sz="2000" b="1" dirty="0" smtClean="0">
                <a:latin typeface="Times New Roman" charset="0"/>
                <a:sym typeface="Wingdings" charset="2"/>
              </a:rPr>
              <a:t>                      4914</a:t>
            </a:r>
          </a:p>
          <a:p>
            <a:pPr>
              <a:buFont typeface="Wingdings" charset="2"/>
              <a:buNone/>
            </a:pPr>
            <a:endParaRPr lang="en-US" altLang="x-none" sz="2000" b="1" dirty="0">
              <a:latin typeface="Times New Roman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274931" y="4763582"/>
            <a:ext cx="1222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/>
              <a:t>3 decimal </a:t>
            </a:r>
          </a:p>
          <a:p>
            <a:r>
              <a:rPr lang="en-US" altLang="x-none" dirty="0"/>
              <a:t>places</a:t>
            </a:r>
          </a:p>
        </p:txBody>
      </p:sp>
      <p:sp>
        <p:nvSpPr>
          <p:cNvPr id="17" name="Line 5"/>
          <p:cNvSpPr>
            <a:spLocks noChangeShapeType="1"/>
          </p:cNvSpPr>
          <p:nvPr/>
        </p:nvSpPr>
        <p:spPr bwMode="auto">
          <a:xfrm flipH="1" flipV="1">
            <a:off x="2568428" y="4022328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 flipH="1" flipV="1">
            <a:off x="2731225" y="402135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 flipV="1">
            <a:off x="2720828" y="4041231"/>
            <a:ext cx="533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AutoShape 11"/>
          <p:cNvSpPr>
            <a:spLocks noChangeArrowheads="1"/>
          </p:cNvSpPr>
          <p:nvPr/>
        </p:nvSpPr>
        <p:spPr bwMode="auto">
          <a:xfrm>
            <a:off x="6004813" y="3346580"/>
            <a:ext cx="2887667" cy="2724150"/>
          </a:xfrm>
          <a:prstGeom prst="wedgeRoundRectCallout">
            <a:avLst>
              <a:gd name="adj1" fmla="val 51481"/>
              <a:gd name="adj2" fmla="val 66343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 typeface="Wingdings" charset="2"/>
              <a:buChar char="ü"/>
            </a:pPr>
            <a:r>
              <a:rPr lang="en-US" altLang="x-none" sz="1400" dirty="0"/>
              <a:t>first, multiply 351 by 4</a:t>
            </a:r>
          </a:p>
          <a:p>
            <a:pPr>
              <a:buFont typeface="Wingdings" charset="2"/>
              <a:buChar char="ü"/>
            </a:pPr>
            <a:r>
              <a:rPr lang="en-US" altLang="x-none" sz="1400" dirty="0"/>
              <a:t>then, multiply 351 by 10</a:t>
            </a:r>
          </a:p>
          <a:p>
            <a:pPr>
              <a:buFont typeface="Wingdings" charset="2"/>
              <a:buChar char="ü"/>
            </a:pPr>
            <a:r>
              <a:rPr lang="en-US" altLang="x-none" sz="1400" dirty="0"/>
              <a:t>then, add up the numbers</a:t>
            </a:r>
          </a:p>
          <a:p>
            <a:pPr>
              <a:buFont typeface="Wingdings" charset="2"/>
              <a:buChar char="ü"/>
            </a:pPr>
            <a:r>
              <a:rPr lang="en-US" altLang="x-none" sz="1400" dirty="0"/>
              <a:t>last, since there are a total of </a:t>
            </a:r>
            <a:r>
              <a:rPr lang="en-US" altLang="x-none" sz="1400" b="1" dirty="0"/>
              <a:t>3</a:t>
            </a:r>
            <a:r>
              <a:rPr lang="en-US" altLang="x-none" sz="1400" dirty="0"/>
              <a:t> decimal places in the problem, start from the right and move the decimal </a:t>
            </a:r>
            <a:r>
              <a:rPr lang="en-US" altLang="x-none" sz="1400" b="1" dirty="0"/>
              <a:t>3</a:t>
            </a:r>
            <a:r>
              <a:rPr lang="en-US" altLang="x-none" sz="1400" dirty="0"/>
              <a:t> places to the left in the answer (the problem has 3 decimal places and so does the answer)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4407661" y="5189198"/>
            <a:ext cx="1090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 4.914</a:t>
            </a: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2463129" y="5761398"/>
            <a:ext cx="2522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So, 3.51 x 1.4 = 4.914!</a:t>
            </a:r>
          </a:p>
        </p:txBody>
      </p:sp>
    </p:spTree>
    <p:extLst>
      <p:ext uri="{BB962C8B-B14F-4D97-AF65-F5344CB8AC3E}">
        <p14:creationId xmlns:p14="http://schemas.microsoft.com/office/powerpoint/2010/main" val="78004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204120" y="2048326"/>
            <a:ext cx="6939879" cy="4581073"/>
          </a:xfrm>
          <a:prstGeom prst="rect">
            <a:avLst/>
          </a:prstGeom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</a:pPr>
            <a:r>
              <a:rPr lang="en-US" altLang="x-none" sz="2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Remember to only count numbers to the RIGHT of the decimal point.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None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  <a:t>2.3 </a:t>
            </a: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ea typeface="Times New Roman" charset="0"/>
                <a:cs typeface="Times New Roman" charset="0"/>
                <a:sym typeface="Wingdings" charset="2"/>
              </a:rPr>
              <a:t>× 0.0002</a:t>
            </a: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  <a:t>  </a:t>
            </a: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sym typeface="Wingdings" charset="2"/>
              </a:rPr>
              <a:t>  23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None/>
            </a:pP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sym typeface="Wingdings" charset="2"/>
              </a:rPr>
              <a:t>                           </a:t>
            </a:r>
            <a:r>
              <a:rPr lang="en-US" altLang="x-none" sz="2000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ea typeface="Times New Roman" charset="0"/>
                <a:cs typeface="Times New Roman" charset="0"/>
                <a:sym typeface="Wingdings" charset="2"/>
              </a:rPr>
              <a:t>× 2</a:t>
            </a:r>
            <a:endParaRPr lang="en-US" altLang="x-none" sz="2000" b="1" u="sng" dirty="0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sym typeface="Wingdings" charset="2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None/>
            </a:pP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sym typeface="Wingdings" charset="2"/>
              </a:rPr>
              <a:t>                            46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None/>
            </a:pPr>
            <a:r>
              <a:rPr lang="en-US" altLang="x-none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sym typeface="Wingdings" charset="2"/>
              </a:rPr>
              <a:t>                    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None/>
            </a:pPr>
            <a:endParaRPr lang="en-US" altLang="x-none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115447" y="4302247"/>
            <a:ext cx="1233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/>
              <a:t>5 decimal </a:t>
            </a:r>
          </a:p>
          <a:p>
            <a:r>
              <a:rPr lang="en-US" altLang="x-none" dirty="0"/>
              <a:t>places</a:t>
            </a: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 flipH="1" flipV="1">
            <a:off x="2579791" y="3488363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 flipV="1">
            <a:off x="2732191" y="3516313"/>
            <a:ext cx="3524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2732191" y="3509742"/>
            <a:ext cx="5048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AutoShape 11"/>
          <p:cNvSpPr>
            <a:spLocks noChangeArrowheads="1"/>
          </p:cNvSpPr>
          <p:nvPr/>
        </p:nvSpPr>
        <p:spPr bwMode="auto">
          <a:xfrm>
            <a:off x="6300192" y="4407836"/>
            <a:ext cx="2590800" cy="1531937"/>
          </a:xfrm>
          <a:prstGeom prst="wedgeRoundRectCallout">
            <a:avLst>
              <a:gd name="adj1" fmla="val 51481"/>
              <a:gd name="adj2" fmla="val 66343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 typeface="Wingdings" charset="2"/>
              <a:buChar char="ü"/>
            </a:pPr>
            <a:r>
              <a:rPr lang="en-US" altLang="x-none" sz="1400"/>
              <a:t>Sometimes you may see </a:t>
            </a:r>
          </a:p>
          <a:p>
            <a:r>
              <a:rPr lang="en-US" altLang="x-none" sz="1400"/>
              <a:t>       .00046 instead of 0.00046.  Both are right, but it’s more common to put a 0 in the ones place.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4549084" y="3902197"/>
            <a:ext cx="1355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 0.00046</a:t>
            </a: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2232818" y="5916162"/>
            <a:ext cx="30591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So, 2.3 x 0.0002 = 0.00046!</a:t>
            </a:r>
          </a:p>
        </p:txBody>
      </p:sp>
      <p:sp>
        <p:nvSpPr>
          <p:cNvPr id="23" name="Line 8"/>
          <p:cNvSpPr>
            <a:spLocks noChangeShapeType="1"/>
          </p:cNvSpPr>
          <p:nvPr/>
        </p:nvSpPr>
        <p:spPr bwMode="auto">
          <a:xfrm flipV="1">
            <a:off x="2733674" y="3516313"/>
            <a:ext cx="6572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 flipV="1">
            <a:off x="2741612" y="3516313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4496572" y="4899396"/>
            <a:ext cx="12334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/>
              <a:t>5 decimal </a:t>
            </a:r>
          </a:p>
          <a:p>
            <a:r>
              <a:rPr lang="en-US" altLang="x-none" dirty="0"/>
              <a:t>places</a:t>
            </a:r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 flipV="1">
            <a:off x="4984845" y="4251690"/>
            <a:ext cx="2000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auto">
          <a:xfrm flipV="1">
            <a:off x="4984845" y="4248083"/>
            <a:ext cx="3524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8"/>
          <p:cNvSpPr>
            <a:spLocks noChangeShapeType="1"/>
          </p:cNvSpPr>
          <p:nvPr/>
        </p:nvSpPr>
        <p:spPr bwMode="auto">
          <a:xfrm flipV="1">
            <a:off x="4974535" y="4262560"/>
            <a:ext cx="5048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8"/>
          <p:cNvSpPr>
            <a:spLocks noChangeShapeType="1"/>
          </p:cNvSpPr>
          <p:nvPr/>
        </p:nvSpPr>
        <p:spPr bwMode="auto">
          <a:xfrm flipV="1">
            <a:off x="4978744" y="4262560"/>
            <a:ext cx="6572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8"/>
          <p:cNvSpPr>
            <a:spLocks noChangeShapeType="1"/>
          </p:cNvSpPr>
          <p:nvPr/>
        </p:nvSpPr>
        <p:spPr bwMode="auto">
          <a:xfrm flipV="1">
            <a:off x="4987235" y="426256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3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1520" y="476672"/>
            <a:ext cx="8784976" cy="456124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Try it </a:t>
            </a:r>
            <a:r>
              <a:rPr lang="en-US" altLang="x-none" sz="28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yourself</a:t>
            </a: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800" b="1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1) 27.2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× 9.2 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</a:t>
            </a: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	</a:t>
            </a: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2) 3.2904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× 0.22 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</a:t>
            </a: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		</a:t>
            </a: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3) 62.5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× 12.8 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</a:t>
            </a: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		</a:t>
            </a: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4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) 0.034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× 0.026 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</a:t>
            </a: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		</a:t>
            </a: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marL="0" indent="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5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) 8.02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× 2.1 =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9033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9076"/>
            <a:ext cx="1886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Dividing Decimals</a:t>
            </a:r>
            <a:endParaRPr lang="en-US" sz="24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066800" y="1981200"/>
            <a:ext cx="7543800" cy="4114800"/>
          </a:xfrm>
          <a:prstGeom prst="rect">
            <a:avLst/>
          </a:prstGeo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2000" kern="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7745" y="2204864"/>
            <a:ext cx="6624735" cy="310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b="1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Problem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:  A wall measures </a:t>
            </a:r>
            <a:r>
              <a:rPr lang="en-US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8.91 meters 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tall.  You need to install </a:t>
            </a:r>
            <a:r>
              <a:rPr lang="en-US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3.3 meter 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tall siding panels.  How many panels do you need?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2000" kern="0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  <a:p>
            <a:pPr marL="3543300" lvl="7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" pitchFamily="49" charset="0"/>
                <a:sym typeface="Wingdings" pitchFamily="2" charset="2"/>
              </a:rPr>
              <a:t>     </a:t>
            </a:r>
            <a:r>
              <a:rPr lang="en-US" sz="2000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" pitchFamily="49" charset="0"/>
                <a:sym typeface="Wingdings" pitchFamily="2" charset="2"/>
              </a:rPr>
              <a:t>2.7</a:t>
            </a:r>
            <a:endParaRPr lang="en-US" sz="2000" kern="0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" pitchFamily="49" charset="0"/>
              <a:sym typeface="Wingdings" pitchFamily="2" charset="2"/>
            </a:endParaRPr>
          </a:p>
          <a:p>
            <a:pPr marL="3543300" lvl="7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2000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" pitchFamily="49" charset="0"/>
                <a:sym typeface="Wingdings" pitchFamily="2" charset="2"/>
              </a:rPr>
              <a:t> 3.3|8.91</a:t>
            </a:r>
            <a:r>
              <a:rPr lang="en-US" sz="2000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" pitchFamily="49" charset="0"/>
                <a:sym typeface="Wingdings" pitchFamily="2" charset="2"/>
              </a:rPr>
              <a:t>	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2000" kern="0" dirty="0" smtClean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How did we figure this out without a calculator?!?!?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2000" kern="0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b="1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When dividing numbers with decimal points, decimal point placement is key.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  </a:t>
            </a:r>
            <a:endParaRPr lang="en-US" sz="1200" kern="0" dirty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</p:txBody>
      </p:sp>
      <p:cxnSp>
        <p:nvCxnSpPr>
          <p:cNvPr id="16" name="Straight Connector 5"/>
          <p:cNvCxnSpPr>
            <a:cxnSpLocks noChangeShapeType="1"/>
          </p:cNvCxnSpPr>
          <p:nvPr/>
        </p:nvCxnSpPr>
        <p:spPr bwMode="auto">
          <a:xfrm>
            <a:off x="6228184" y="3573016"/>
            <a:ext cx="1103244" cy="1588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AutoShape 36"/>
          <p:cNvSpPr>
            <a:spLocks noChangeArrowheads="1"/>
          </p:cNvSpPr>
          <p:nvPr/>
        </p:nvSpPr>
        <p:spPr bwMode="auto">
          <a:xfrm>
            <a:off x="2823229" y="5498040"/>
            <a:ext cx="5762625" cy="1295400"/>
          </a:xfrm>
          <a:prstGeom prst="wedgeRoundRectCallout">
            <a:avLst>
              <a:gd name="adj1" fmla="val -57261"/>
              <a:gd name="adj2" fmla="val -18347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Char char="ü"/>
              <a:defRPr/>
            </a:pPr>
            <a:r>
              <a:rPr lang="en-US" sz="1400" dirty="0">
                <a:latin typeface="Tahoma" pitchFamily="34" charset="0"/>
              </a:rPr>
              <a:t> Think of the division sign, |    , like a house.  With all division problems, the first number goes inside the house (the 8.91) and the second goes outside the house (3.3).  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sz="1400" dirty="0">
                <a:latin typeface="Tahoma" pitchFamily="34" charset="0"/>
              </a:rPr>
              <a:t> If you forget, think about a problem you know.  10 </a:t>
            </a:r>
            <a:r>
              <a:rPr lang="en-US" sz="140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÷ 2 = 5.  You wouldn’t say 10 </a:t>
            </a:r>
            <a:r>
              <a:rPr lang="en-US" sz="1400" dirty="0">
                <a:latin typeface="Tahoma" pitchFamily="34" charset="0"/>
              </a:rPr>
              <a:t>| 2.  To work it out you’d say 2 |10 (2 goes into 10.)</a:t>
            </a:r>
          </a:p>
          <a:p>
            <a:pPr>
              <a:buFont typeface="Wingdings" pitchFamily="2" charset="2"/>
              <a:buChar char="ü"/>
              <a:defRPr/>
            </a:pPr>
            <a:endParaRPr lang="en-US" sz="1400" dirty="0">
              <a:latin typeface="Tahoma" pitchFamily="34" charset="0"/>
            </a:endParaRPr>
          </a:p>
        </p:txBody>
      </p:sp>
      <p:cxnSp>
        <p:nvCxnSpPr>
          <p:cNvPr id="22" name="Straight Connector 23"/>
          <p:cNvCxnSpPr>
            <a:cxnSpLocks noChangeShapeType="1"/>
          </p:cNvCxnSpPr>
          <p:nvPr/>
        </p:nvCxnSpPr>
        <p:spPr bwMode="auto">
          <a:xfrm>
            <a:off x="5274365" y="5653591"/>
            <a:ext cx="228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3"/>
          <p:cNvCxnSpPr>
            <a:cxnSpLocks noChangeShapeType="1"/>
          </p:cNvCxnSpPr>
          <p:nvPr/>
        </p:nvCxnSpPr>
        <p:spPr bwMode="auto">
          <a:xfrm>
            <a:off x="4283968" y="6489580"/>
            <a:ext cx="28803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3"/>
          <p:cNvCxnSpPr>
            <a:cxnSpLocks noChangeShapeType="1"/>
          </p:cNvCxnSpPr>
          <p:nvPr/>
        </p:nvCxnSpPr>
        <p:spPr bwMode="auto">
          <a:xfrm>
            <a:off x="6779806" y="6489580"/>
            <a:ext cx="276166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4353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8482" y="1037474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2059076"/>
            <a:ext cx="1886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Dividing Decimals</a:t>
            </a:r>
            <a:endParaRPr lang="en-US" sz="2400" dirty="0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376227" y="1947632"/>
            <a:ext cx="6680292" cy="233378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 typeface="Wingdings" pitchFamily="2" charset="2"/>
              <a:buNone/>
              <a:defRPr/>
            </a:pPr>
            <a:r>
              <a:rPr lang="en-US" sz="2000" dirty="0" smtClean="0"/>
              <a:t>Step 1 - Move the decimal of the divisor (outside the house) as far to the right as you can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 dirty="0" smtClean="0"/>
              <a:t>Step 2 - Move the decimal of the dividend (inside the house) by the </a:t>
            </a:r>
            <a:r>
              <a:rPr lang="en-US" sz="2000" b="1" dirty="0" smtClean="0"/>
              <a:t>same</a:t>
            </a:r>
            <a:r>
              <a:rPr lang="en-US" sz="2000" dirty="0" smtClean="0"/>
              <a:t> number of spaces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 dirty="0" smtClean="0"/>
              <a:t>Step 3 - Move the decimal straight up onto the answer line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en-US" sz="2000" dirty="0" smtClean="0"/>
              <a:t>Step 4 - Divide like normal</a:t>
            </a:r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2510469" y="4623357"/>
            <a:ext cx="132603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Problem</a:t>
            </a:r>
          </a:p>
          <a:p>
            <a:pPr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8.91 </a:t>
            </a: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÷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3.3</a:t>
            </a: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7263756" y="5301208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AutoShape 16"/>
          <p:cNvSpPr>
            <a:spLocks noChangeArrowheads="1"/>
          </p:cNvSpPr>
          <p:nvPr/>
        </p:nvSpPr>
        <p:spPr bwMode="auto">
          <a:xfrm>
            <a:off x="4343400" y="5538002"/>
            <a:ext cx="228600" cy="138113"/>
          </a:xfrm>
          <a:prstGeom prst="curvedUpArrow">
            <a:avLst>
              <a:gd name="adj1" fmla="val 33103"/>
              <a:gd name="adj2" fmla="val 6620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18" name="AutoShape 17"/>
          <p:cNvSpPr>
            <a:spLocks noChangeArrowheads="1"/>
          </p:cNvSpPr>
          <p:nvPr/>
        </p:nvSpPr>
        <p:spPr bwMode="auto">
          <a:xfrm>
            <a:off x="4770771" y="5512943"/>
            <a:ext cx="228600" cy="138113"/>
          </a:xfrm>
          <a:prstGeom prst="curvedUpArrow">
            <a:avLst>
              <a:gd name="adj1" fmla="val 33103"/>
              <a:gd name="adj2" fmla="val 6620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3707904" y="4592559"/>
            <a:ext cx="2856557" cy="1021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Steps 1 &amp; 2</a:t>
            </a:r>
          </a:p>
          <a:p>
            <a:pPr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</a:t>
            </a:r>
            <a:r>
              <a:rPr lang="en-US" dirty="0">
                <a:latin typeface="Tahoma" pitchFamily="34" charset="0"/>
                <a:sym typeface="Wingdings" pitchFamily="2" charset="2"/>
              </a:rPr>
              <a:t>  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3.3 |8.91    33 |89.1</a:t>
            </a:r>
            <a:endParaRPr lang="en-US" sz="14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5971108" y="5297412"/>
            <a:ext cx="5142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AutoShape 20"/>
          <p:cNvSpPr>
            <a:spLocks noChangeArrowheads="1"/>
          </p:cNvSpPr>
          <p:nvPr/>
        </p:nvSpPr>
        <p:spPr bwMode="auto">
          <a:xfrm>
            <a:off x="7509844" y="5538002"/>
            <a:ext cx="76200" cy="2286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6420457" y="4591059"/>
            <a:ext cx="14128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Step 3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                           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.</a:t>
            </a:r>
          </a:p>
          <a:p>
            <a:pPr>
              <a:buFont typeface="Wingdings" pitchFamily="2" charset="2"/>
              <a:buChar char="è"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33 |89.1</a:t>
            </a: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>
            <a:off x="8531056" y="5297412"/>
            <a:ext cx="52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7695396" y="4584445"/>
            <a:ext cx="1537743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Step 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2.7</a:t>
            </a:r>
          </a:p>
          <a:p>
            <a:pPr>
              <a:buFont typeface="Wingdings" pitchFamily="2" charset="2"/>
              <a:buChar char="è"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33 |89.1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</a:t>
            </a:r>
            <a:r>
              <a:rPr lang="en-US" sz="2000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- 66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231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</a:t>
            </a:r>
            <a:r>
              <a:rPr lang="en-US" sz="2000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- 231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    0</a:t>
            </a:r>
          </a:p>
          <a:p>
            <a:pPr>
              <a:buFont typeface="Wingdings" pitchFamily="2" charset="2"/>
              <a:buChar char="è"/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32" name="Line 11"/>
          <p:cNvSpPr>
            <a:spLocks noChangeShapeType="1"/>
          </p:cNvSpPr>
          <p:nvPr/>
        </p:nvSpPr>
        <p:spPr bwMode="auto">
          <a:xfrm>
            <a:off x="4582500" y="5301208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6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448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14388" y="1844824"/>
            <a:ext cx="1587" cy="50131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7981" y="957179"/>
            <a:ext cx="8948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What are the key steps to multiplying and </a:t>
            </a:r>
            <a:r>
              <a:rPr lang="en-AU" sz="2800" smtClean="0"/>
              <a:t>dividing decimals?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92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Operations with Decimals</a:t>
            </a:r>
            <a:endParaRPr lang="en-AU" sz="2800" dirty="0"/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815975" y="4475163"/>
            <a:ext cx="127951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Problem</a:t>
            </a:r>
          </a:p>
          <a:p>
            <a:pPr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5.76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÷</a:t>
            </a:r>
            <a:r>
              <a:rPr lang="en-US" dirty="0" smtClean="0">
                <a:latin typeface="Tahoma" pitchFamily="34" charset="0"/>
              </a:rPr>
              <a:t>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1.6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" name="Line 28"/>
          <p:cNvSpPr>
            <a:spLocks noChangeShapeType="1"/>
          </p:cNvSpPr>
          <p:nvPr/>
        </p:nvSpPr>
        <p:spPr bwMode="auto">
          <a:xfrm>
            <a:off x="3245644" y="5189538"/>
            <a:ext cx="465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31"/>
          <p:cNvSpPr txBox="1">
            <a:spLocks noChangeArrowheads="1"/>
          </p:cNvSpPr>
          <p:nvPr/>
        </p:nvSpPr>
        <p:spPr bwMode="auto">
          <a:xfrm>
            <a:off x="2356920" y="4475163"/>
            <a:ext cx="36258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Steps 1 &amp; 2</a:t>
            </a:r>
          </a:p>
          <a:p>
            <a:pPr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</a:t>
            </a:r>
            <a:r>
              <a:rPr lang="en-US" dirty="0">
                <a:latin typeface="Tahoma" pitchFamily="34" charset="0"/>
                <a:sym typeface="Wingdings" pitchFamily="2" charset="2"/>
              </a:rPr>
              <a:t>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1.6 |5.76  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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16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|57.6</a:t>
            </a:r>
            <a:endParaRPr lang="en-US" sz="14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16" name="Line 32"/>
          <p:cNvSpPr>
            <a:spLocks noChangeShapeType="1"/>
          </p:cNvSpPr>
          <p:nvPr/>
        </p:nvSpPr>
        <p:spPr bwMode="auto">
          <a:xfrm flipV="1">
            <a:off x="4575175" y="5189538"/>
            <a:ext cx="682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AutoShape 34"/>
          <p:cNvSpPr>
            <a:spLocks noChangeArrowheads="1"/>
          </p:cNvSpPr>
          <p:nvPr/>
        </p:nvSpPr>
        <p:spPr bwMode="auto">
          <a:xfrm>
            <a:off x="6853125" y="5433081"/>
            <a:ext cx="76200" cy="2286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18" name="Line 35"/>
          <p:cNvSpPr>
            <a:spLocks noChangeShapeType="1"/>
          </p:cNvSpPr>
          <p:nvPr/>
        </p:nvSpPr>
        <p:spPr bwMode="auto">
          <a:xfrm>
            <a:off x="6561139" y="5189538"/>
            <a:ext cx="5311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36"/>
          <p:cNvSpPr>
            <a:spLocks noChangeArrowheads="1"/>
          </p:cNvSpPr>
          <p:nvPr/>
        </p:nvSpPr>
        <p:spPr bwMode="auto">
          <a:xfrm>
            <a:off x="5751513" y="4475163"/>
            <a:ext cx="141256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Step 3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                        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.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Char char="è"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16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|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57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.6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20" name="Line 38"/>
          <p:cNvSpPr>
            <a:spLocks noChangeShapeType="1"/>
          </p:cNvSpPr>
          <p:nvPr/>
        </p:nvSpPr>
        <p:spPr bwMode="auto">
          <a:xfrm>
            <a:off x="8175625" y="5189538"/>
            <a:ext cx="687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39"/>
          <p:cNvSpPr>
            <a:spLocks noChangeArrowheads="1"/>
          </p:cNvSpPr>
          <p:nvPr/>
        </p:nvSpPr>
        <p:spPr bwMode="auto">
          <a:xfrm>
            <a:off x="7361238" y="4475163"/>
            <a:ext cx="1843087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Step 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3.6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Char char="è"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16 |57.6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</a:t>
            </a:r>
            <a:r>
              <a:rPr lang="en-US" sz="2000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- </a:t>
            </a:r>
            <a:r>
              <a:rPr lang="en-US" sz="2000" b="1" u="sng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48</a:t>
            </a:r>
            <a:endParaRPr lang="en-US" sz="2000" b="1" u="sng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96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</a:t>
            </a:r>
            <a:r>
              <a:rPr lang="en-US" sz="2000" b="1" u="sng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- 96</a:t>
            </a:r>
            <a:endParaRPr lang="en-US" sz="2000" b="1" u="sng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  </a:t>
            </a:r>
            <a:r>
              <a:rPr lang="en-US" sz="20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0</a:t>
            </a: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22" name="Rectangle 66"/>
          <p:cNvSpPr>
            <a:spLocks noChangeArrowheads="1"/>
          </p:cNvSpPr>
          <p:nvPr/>
        </p:nvSpPr>
        <p:spPr bwMode="auto">
          <a:xfrm>
            <a:off x="915988" y="1987550"/>
            <a:ext cx="13398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  <a:t>Problem</a:t>
            </a:r>
          </a:p>
          <a:p>
            <a:endParaRPr lang="en-US" altLang="x-none" sz="2000" b="1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</a:endParaRPr>
          </a:p>
          <a:p>
            <a:r>
              <a:rPr lang="en-US" altLang="x-none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  <a:t>8.91 </a:t>
            </a:r>
            <a:r>
              <a:rPr lang="en-US" altLang="x-none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ea typeface="Times New Roman" charset="0"/>
                <a:cs typeface="Times New Roman" charset="0"/>
              </a:rPr>
              <a:t>÷</a:t>
            </a:r>
            <a:r>
              <a:rPr lang="en-US" altLang="x-none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</a:rPr>
              <a:t> 0.33</a:t>
            </a:r>
          </a:p>
        </p:txBody>
      </p:sp>
      <p:sp>
        <p:nvSpPr>
          <p:cNvPr id="23" name="Line 68"/>
          <p:cNvSpPr>
            <a:spLocks noChangeShapeType="1"/>
          </p:cNvSpPr>
          <p:nvPr/>
        </p:nvSpPr>
        <p:spPr bwMode="auto">
          <a:xfrm>
            <a:off x="3132138" y="2701925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71"/>
          <p:cNvSpPr txBox="1">
            <a:spLocks noChangeArrowheads="1"/>
          </p:cNvSpPr>
          <p:nvPr/>
        </p:nvSpPr>
        <p:spPr bwMode="auto">
          <a:xfrm>
            <a:off x="2130425" y="1987550"/>
            <a:ext cx="33067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Steps 1 &amp; 2</a:t>
            </a:r>
          </a:p>
          <a:p>
            <a:pPr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</a:t>
            </a:r>
            <a:r>
              <a:rPr lang="en-US" dirty="0">
                <a:latin typeface="Tahoma" pitchFamily="34" charset="0"/>
                <a:sym typeface="Wingdings" pitchFamily="2" charset="2"/>
              </a:rPr>
              <a:t>  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0.33 |8.91    33 |891.</a:t>
            </a:r>
            <a:endParaRPr lang="en-US" sz="14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25" name="Line 72"/>
          <p:cNvSpPr>
            <a:spLocks noChangeShapeType="1"/>
          </p:cNvSpPr>
          <p:nvPr/>
        </p:nvSpPr>
        <p:spPr bwMode="auto">
          <a:xfrm>
            <a:off x="4478338" y="2701925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AutoShape 74"/>
          <p:cNvSpPr>
            <a:spLocks noChangeArrowheads="1"/>
          </p:cNvSpPr>
          <p:nvPr/>
        </p:nvSpPr>
        <p:spPr bwMode="auto">
          <a:xfrm>
            <a:off x="6697663" y="2947988"/>
            <a:ext cx="76200" cy="2286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27" name="Line 75"/>
          <p:cNvSpPr>
            <a:spLocks noChangeShapeType="1"/>
          </p:cNvSpPr>
          <p:nvPr/>
        </p:nvSpPr>
        <p:spPr bwMode="auto">
          <a:xfrm>
            <a:off x="6281738" y="2698750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76"/>
          <p:cNvSpPr>
            <a:spLocks noChangeArrowheads="1"/>
          </p:cNvSpPr>
          <p:nvPr/>
        </p:nvSpPr>
        <p:spPr bwMode="auto">
          <a:xfrm>
            <a:off x="5465763" y="1987550"/>
            <a:ext cx="142875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Step 3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                                </a:t>
            </a: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.</a:t>
            </a:r>
          </a:p>
          <a:p>
            <a:pPr>
              <a:buFont typeface="Wingdings" pitchFamily="2" charset="2"/>
              <a:buChar char="è"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33 |891.</a:t>
            </a:r>
          </a:p>
        </p:txBody>
      </p:sp>
      <p:sp>
        <p:nvSpPr>
          <p:cNvPr id="29" name="Line 78"/>
          <p:cNvSpPr>
            <a:spLocks noChangeShapeType="1"/>
          </p:cNvSpPr>
          <p:nvPr/>
        </p:nvSpPr>
        <p:spPr bwMode="auto">
          <a:xfrm>
            <a:off x="8001000" y="2697163"/>
            <a:ext cx="52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Rectangle 79"/>
          <p:cNvSpPr>
            <a:spLocks noChangeArrowheads="1"/>
          </p:cNvSpPr>
          <p:nvPr/>
        </p:nvSpPr>
        <p:spPr bwMode="auto">
          <a:xfrm>
            <a:off x="7189788" y="1987550"/>
            <a:ext cx="181133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Step 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27.</a:t>
            </a:r>
          </a:p>
          <a:p>
            <a:pPr>
              <a:buFont typeface="Wingdings" pitchFamily="2" charset="2"/>
              <a:buChar char="è"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33 |891.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</a:t>
            </a:r>
            <a:r>
              <a:rPr lang="en-US" sz="2000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- 66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231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</a:t>
            </a:r>
            <a:r>
              <a:rPr lang="en-US" sz="2000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- 231</a:t>
            </a:r>
          </a:p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sym typeface="Wingdings" pitchFamily="2" charset="2"/>
              </a:rPr>
              <a:t>                  0</a:t>
            </a:r>
          </a:p>
          <a:p>
            <a:pPr>
              <a:buFont typeface="Wingdings" pitchFamily="2" charset="2"/>
              <a:buChar char="è"/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31" name="AutoShape 82"/>
          <p:cNvSpPr>
            <a:spLocks noChangeArrowheads="1"/>
          </p:cNvSpPr>
          <p:nvPr/>
        </p:nvSpPr>
        <p:spPr bwMode="auto">
          <a:xfrm>
            <a:off x="2762250" y="2949575"/>
            <a:ext cx="155575" cy="138113"/>
          </a:xfrm>
          <a:prstGeom prst="curvedUpArrow">
            <a:avLst>
              <a:gd name="adj1" fmla="val 22529"/>
              <a:gd name="adj2" fmla="val 4505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32" name="AutoShape 83"/>
          <p:cNvSpPr>
            <a:spLocks noChangeArrowheads="1"/>
          </p:cNvSpPr>
          <p:nvPr/>
        </p:nvSpPr>
        <p:spPr bwMode="auto">
          <a:xfrm>
            <a:off x="2914650" y="2944813"/>
            <a:ext cx="155575" cy="138112"/>
          </a:xfrm>
          <a:prstGeom prst="curvedUpArrow">
            <a:avLst>
              <a:gd name="adj1" fmla="val 22529"/>
              <a:gd name="adj2" fmla="val 4505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33" name="AutoShape 84"/>
          <p:cNvSpPr>
            <a:spLocks noChangeArrowheads="1"/>
          </p:cNvSpPr>
          <p:nvPr/>
        </p:nvSpPr>
        <p:spPr bwMode="auto">
          <a:xfrm>
            <a:off x="3349625" y="2944813"/>
            <a:ext cx="155575" cy="138112"/>
          </a:xfrm>
          <a:prstGeom prst="curvedUpArrow">
            <a:avLst>
              <a:gd name="adj1" fmla="val 22529"/>
              <a:gd name="adj2" fmla="val 4505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34" name="AutoShape 85"/>
          <p:cNvSpPr>
            <a:spLocks noChangeArrowheads="1"/>
          </p:cNvSpPr>
          <p:nvPr/>
        </p:nvSpPr>
        <p:spPr bwMode="auto">
          <a:xfrm>
            <a:off x="3502025" y="2946400"/>
            <a:ext cx="155575" cy="138113"/>
          </a:xfrm>
          <a:prstGeom prst="curvedUpArrow">
            <a:avLst>
              <a:gd name="adj1" fmla="val 22529"/>
              <a:gd name="adj2" fmla="val 4505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35" name="Text Box 86"/>
          <p:cNvSpPr txBox="1">
            <a:spLocks noChangeArrowheads="1"/>
          </p:cNvSpPr>
          <p:nvPr/>
        </p:nvSpPr>
        <p:spPr bwMode="auto">
          <a:xfrm>
            <a:off x="2668588" y="3087688"/>
            <a:ext cx="3192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400"/>
              <a:t>Move the decimal 2 places to the right</a:t>
            </a:r>
          </a:p>
        </p:txBody>
      </p:sp>
      <p:sp>
        <p:nvSpPr>
          <p:cNvPr id="36" name="AutoShape 87"/>
          <p:cNvSpPr>
            <a:spLocks noChangeArrowheads="1"/>
          </p:cNvSpPr>
          <p:nvPr/>
        </p:nvSpPr>
        <p:spPr bwMode="auto">
          <a:xfrm>
            <a:off x="3003947" y="5440363"/>
            <a:ext cx="155575" cy="138112"/>
          </a:xfrm>
          <a:prstGeom prst="curvedUpArrow">
            <a:avLst>
              <a:gd name="adj1" fmla="val 22529"/>
              <a:gd name="adj2" fmla="val 4505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38" name="AutoShape 89"/>
          <p:cNvSpPr>
            <a:spLocks noChangeArrowheads="1"/>
          </p:cNvSpPr>
          <p:nvPr/>
        </p:nvSpPr>
        <p:spPr bwMode="auto">
          <a:xfrm>
            <a:off x="3460785" y="5420519"/>
            <a:ext cx="155575" cy="138112"/>
          </a:xfrm>
          <a:prstGeom prst="curvedUpArrow">
            <a:avLst>
              <a:gd name="adj1" fmla="val 22529"/>
              <a:gd name="adj2" fmla="val 4505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44" name="Text Box 95"/>
          <p:cNvSpPr txBox="1">
            <a:spLocks noChangeArrowheads="1"/>
          </p:cNvSpPr>
          <p:nvPr/>
        </p:nvSpPr>
        <p:spPr bwMode="auto">
          <a:xfrm>
            <a:off x="2778125" y="5583238"/>
            <a:ext cx="31400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400" dirty="0"/>
              <a:t>Move the decimal </a:t>
            </a:r>
            <a:r>
              <a:rPr lang="en-US" altLang="x-none" sz="1400" dirty="0" smtClean="0"/>
              <a:t>1 place </a:t>
            </a:r>
            <a:r>
              <a:rPr lang="en-US" altLang="x-none" sz="1400" dirty="0"/>
              <a:t>to </a:t>
            </a:r>
            <a:r>
              <a:rPr lang="en-US" altLang="x-none" sz="1400"/>
              <a:t>the </a:t>
            </a:r>
            <a:r>
              <a:rPr lang="en-US" altLang="x-none" sz="1400" smtClean="0"/>
              <a:t>right</a:t>
            </a:r>
            <a:endParaRPr lang="en-US" altLang="x-none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278" y="1981862"/>
            <a:ext cx="692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 1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78" y="4490762"/>
            <a:ext cx="692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935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548680"/>
            <a:ext cx="8568952" cy="41796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3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</a:rPr>
              <a:t>Try it yourself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1) 60.8 </a:t>
            </a:r>
            <a:r>
              <a:rPr lang="en-US" altLang="x-none" sz="2400" dirty="0">
                <a:latin typeface="+mn-lt"/>
                <a:ea typeface="Tahoma" charset="0"/>
                <a:cs typeface="Tahoma" charset="0"/>
              </a:rPr>
              <a:t>÷ 19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 		</a:t>
            </a: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2) 187.53 </a:t>
            </a:r>
            <a:r>
              <a:rPr lang="en-US" altLang="x-none" sz="2400" dirty="0">
                <a:latin typeface="+mn-lt"/>
                <a:ea typeface="Tahoma" charset="0"/>
                <a:cs typeface="Tahoma" charset="0"/>
              </a:rPr>
              <a:t>÷ 3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3) 3.2 </a:t>
            </a:r>
            <a:r>
              <a:rPr lang="en-US" altLang="x-none" sz="2400" dirty="0">
                <a:latin typeface="+mn-lt"/>
                <a:ea typeface="Tahoma" charset="0"/>
                <a:cs typeface="Tahoma" charset="0"/>
              </a:rPr>
              <a:t>÷ 6.4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 				</a:t>
            </a:r>
            <a:endParaRPr lang="en-US" altLang="x-none" sz="2400" dirty="0" smtClean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4) </a:t>
            </a:r>
            <a:r>
              <a:rPr lang="en-US" altLang="x-none" sz="240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187.53 </a:t>
            </a:r>
            <a:r>
              <a:rPr lang="en-US" altLang="x-none" sz="2400" dirty="0">
                <a:latin typeface="+mn-lt"/>
                <a:ea typeface="Tahoma" charset="0"/>
                <a:cs typeface="Tahoma" charset="0"/>
              </a:rPr>
              <a:t>÷ 0.03 </a:t>
            </a:r>
            <a:r>
              <a:rPr lang="en-US" altLang="x-none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Tahoma" charset="0"/>
                <a:cs typeface="Tahoma" charset="0"/>
                <a:sym typeface="Wingdings" charset="2"/>
              </a:rPr>
              <a:t>=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endParaRPr lang="en-US" altLang="x-none" sz="2400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Tahoma" charset="0"/>
              <a:cs typeface="Tahoma" charset="0"/>
              <a:sym typeface="Wingdings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153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20" y="620688"/>
            <a:ext cx="5596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Homework </a:t>
            </a:r>
            <a:r>
              <a:rPr lang="mr-IN" sz="3200" b="1" dirty="0" smtClean="0"/>
              <a:t>–</a:t>
            </a:r>
            <a:r>
              <a:rPr lang="en-US" sz="3200" b="1" dirty="0" smtClean="0"/>
              <a:t> Real Life Examples</a:t>
            </a:r>
            <a:endParaRPr lang="en-US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827584" y="220486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www.tes.com/teaching-resource/real-life-calculations-with-decimals-6315267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5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891</Words>
  <Application>Microsoft Macintosh PowerPoint</Application>
  <PresentationFormat>On-screen Show (4:3)</PresentationFormat>
  <Paragraphs>224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Cambria Math</vt:lpstr>
      <vt:lpstr>Courier</vt:lpstr>
      <vt:lpstr>Mangal</vt:lpstr>
      <vt:lpstr>Tahoma</vt:lpstr>
      <vt:lpstr>Wingdings</vt:lpstr>
      <vt:lpstr>Arial</vt:lpstr>
      <vt:lpstr>Calibri</vt:lpstr>
      <vt:lpstr>Times New Roman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107</cp:revision>
  <dcterms:created xsi:type="dcterms:W3CDTF">2014-05-14T02:58:57Z</dcterms:created>
  <dcterms:modified xsi:type="dcterms:W3CDTF">2017-04-29T15:13:04Z</dcterms:modified>
</cp:coreProperties>
</file>
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59" r:id="rId3"/>
    <p:sldId id="258" r:id="rId4"/>
    <p:sldId id="329" r:id="rId5"/>
    <p:sldId id="330" r:id="rId6"/>
    <p:sldId id="331" r:id="rId7"/>
    <p:sldId id="303" r:id="rId8"/>
    <p:sldId id="332" r:id="rId9"/>
    <p:sldId id="334" r:id="rId10"/>
    <p:sldId id="335" r:id="rId11"/>
    <p:sldId id="336" r:id="rId12"/>
    <p:sldId id="337" r:id="rId13"/>
    <p:sldId id="338" r:id="rId14"/>
    <p:sldId id="339" r:id="rId15"/>
    <p:sldId id="292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 varScale="1">
        <p:scale>
          <a:sx n="70" d="100"/>
          <a:sy n="70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13/11/2017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075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13/11/2017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7760" y="2186833"/>
            <a:ext cx="4461712" cy="3179983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669" y="2204864"/>
            <a:ext cx="4282877" cy="31693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Activity- Estimation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What AREA units would you use</a:t>
            </a:r>
            <a:r>
              <a:rPr lang="en-US" dirty="0" smtClean="0"/>
              <a:t> for </a:t>
            </a:r>
            <a:r>
              <a:rPr lang="en-US" dirty="0" smtClean="0"/>
              <a:t>the following:</a:t>
            </a:r>
          </a:p>
          <a:p>
            <a:r>
              <a:rPr lang="en-US" dirty="0"/>
              <a:t>Your </a:t>
            </a:r>
            <a:r>
              <a:rPr lang="en-US" dirty="0" smtClean="0"/>
              <a:t>desk			</a:t>
            </a:r>
            <a:endParaRPr lang="en-AU" dirty="0"/>
          </a:p>
          <a:p>
            <a:r>
              <a:rPr lang="en-US" dirty="0" err="1" smtClean="0"/>
              <a:t>Baldivis</a:t>
            </a:r>
            <a:endParaRPr lang="en-US" dirty="0" smtClean="0"/>
          </a:p>
          <a:p>
            <a:r>
              <a:rPr lang="en-US" dirty="0" smtClean="0"/>
              <a:t>Your fingernail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classroom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school </a:t>
            </a:r>
            <a:r>
              <a:rPr lang="en-US" dirty="0" smtClean="0"/>
              <a:t>grounds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572000" y="2276872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  <a:r>
              <a:rPr lang="en-AU" sz="2400" dirty="0"/>
              <a:t>m</a:t>
            </a:r>
            <a:r>
              <a:rPr lang="en-AU" sz="2400" baseline="30000" dirty="0"/>
              <a:t>2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593337" y="2869053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k</a:t>
            </a:r>
            <a:r>
              <a:rPr lang="en-AU" sz="2400" dirty="0" smtClean="0"/>
              <a:t>m</a:t>
            </a:r>
            <a:r>
              <a:rPr lang="en-AU" sz="2400" baseline="30000" dirty="0" smtClean="0"/>
              <a:t>2 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3461234"/>
            <a:ext cx="82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</a:t>
            </a:r>
            <a:r>
              <a:rPr lang="en-AU" sz="2400" dirty="0" smtClean="0"/>
              <a:t>m</a:t>
            </a:r>
            <a:r>
              <a:rPr lang="en-AU" sz="2400" baseline="30000" dirty="0" smtClean="0"/>
              <a:t>2 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602955" y="4004427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m</a:t>
            </a:r>
            <a:r>
              <a:rPr lang="en-AU" sz="2400" baseline="30000" dirty="0" smtClean="0"/>
              <a:t>2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593337" y="4603630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m</a:t>
            </a:r>
            <a:r>
              <a:rPr lang="en-AU" sz="2400" baseline="30000" dirty="0" smtClean="0"/>
              <a:t>2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353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Let’s try creating some quadrilaterals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435280" cy="5107706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solidFill>
                  <a:srgbClr val="00B0F0"/>
                </a:solidFill>
              </a:rPr>
              <a:t>You need a piece of paper, a PENCIL, some scissors and a ruler</a:t>
            </a:r>
          </a:p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Mark the top left corner of your page with a VERY small ‘A’. Move across the top of your page, placing a small dot every 5cm. Do the same thing along the bottom edge and then make vertical lines to join these dots up.</a:t>
            </a:r>
          </a:p>
          <a:p>
            <a:r>
              <a:rPr lang="en-US" sz="2400" dirty="0" smtClean="0">
                <a:solidFill>
                  <a:srgbClr val="00B0F0"/>
                </a:solidFill>
              </a:rPr>
              <a:t>You should be left with a 1cm strip down the right hand edge. Cut this off. </a:t>
            </a:r>
          </a:p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Now go down from ‘A’, once again placing dots every 5cm, and mark the bottom left corner with a ‘C’. Do the same on the other side but instead of the A and C, mark a ‘B’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halfway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 down your page. Join the dots with horizontal lines.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400" i="1" dirty="0" smtClean="0">
                <a:solidFill>
                  <a:schemeClr val="accent1">
                    <a:lumMod val="75000"/>
                  </a:schemeClr>
                </a:solidFill>
              </a:rPr>
              <a:t>(The last 5cm is out by 3mm. Oh well.)</a:t>
            </a:r>
          </a:p>
          <a:p>
            <a:r>
              <a:rPr lang="en-US" sz="2400" i="1" dirty="0" smtClean="0">
                <a:solidFill>
                  <a:srgbClr val="00B0F0"/>
                </a:solidFill>
              </a:rPr>
              <a:t>Finally draw a line from A to B and cut along this line. Repeat the process from B to C. You should be left with 3 triangles!</a:t>
            </a:r>
          </a:p>
          <a:p>
            <a:endParaRPr lang="en-US" sz="2400" i="1" dirty="0" smtClean="0"/>
          </a:p>
        </p:txBody>
      </p:sp>
    </p:spTree>
    <p:extLst>
      <p:ext uri="{BB962C8B-B14F-4D97-AF65-F5344CB8AC3E}">
        <p14:creationId xmlns:p14="http://schemas.microsoft.com/office/powerpoint/2010/main" val="397345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quadrilaterals can you make?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as many </a:t>
            </a:r>
            <a:r>
              <a:rPr lang="en-US" b="1" dirty="0" smtClean="0"/>
              <a:t>quadrilaterals</a:t>
            </a:r>
            <a:r>
              <a:rPr lang="en-US" dirty="0" smtClean="0"/>
              <a:t> as you can and </a:t>
            </a:r>
            <a:r>
              <a:rPr lang="en-US" b="1" dirty="0" smtClean="0"/>
              <a:t>identify</a:t>
            </a:r>
            <a:r>
              <a:rPr lang="en-US" dirty="0" smtClean="0"/>
              <a:t> what they are called. You can make more than one of a certain type but they must not be </a:t>
            </a:r>
            <a:r>
              <a:rPr lang="en-US" b="1" dirty="0" smtClean="0"/>
              <a:t>congruent</a:t>
            </a:r>
            <a:r>
              <a:rPr lang="en-US" dirty="0" smtClean="0"/>
              <a:t>. </a:t>
            </a:r>
          </a:p>
          <a:p>
            <a:r>
              <a:rPr lang="en-US" i="1" dirty="0" smtClean="0"/>
              <a:t>You can flip the triangles over and you don’t have to use all the triangles. No overlapping!</a:t>
            </a:r>
          </a:p>
          <a:p>
            <a:r>
              <a:rPr lang="en-US" dirty="0" err="1" smtClean="0"/>
              <a:t>Mr</a:t>
            </a:r>
            <a:r>
              <a:rPr lang="en-US" dirty="0" smtClean="0"/>
              <a:t> H can make 8. Can you beat him?!?!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170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203848" y="177281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calculate the </a:t>
            </a:r>
            <a:r>
              <a:rPr lang="en-AU" sz="2400" dirty="0" smtClean="0"/>
              <a:t>area of basic shapes?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0264" y="1909830"/>
            <a:ext cx="3113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formulas for the area of special quadrilaterals</a:t>
            </a:r>
            <a:r>
              <a:rPr lang="en-AU" dirty="0" smtClean="0"/>
              <a:t>?</a:t>
            </a:r>
            <a:endParaRPr lang="en-AU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731" y="4267299"/>
            <a:ext cx="1653833" cy="247222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30" y="1977433"/>
            <a:ext cx="2175743" cy="20963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982" y="4311756"/>
            <a:ext cx="2378638" cy="241035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77" y="1964595"/>
            <a:ext cx="2141881" cy="20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do they even work?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3701007"/>
          </a:xfrm>
        </p:spPr>
        <p:txBody>
          <a:bodyPr/>
          <a:lstStyle/>
          <a:p>
            <a:r>
              <a:rPr lang="en-US" dirty="0" smtClean="0"/>
              <a:t>The formula for a parallelogram is the same as rectangle. Use your triangles make a parallelogram and prove the formula is correct.</a:t>
            </a:r>
          </a:p>
        </p:txBody>
      </p:sp>
      <p:sp>
        <p:nvSpPr>
          <p:cNvPr id="5" name="Isosceles Triangle 4"/>
          <p:cNvSpPr/>
          <p:nvPr/>
        </p:nvSpPr>
        <p:spPr>
          <a:xfrm rot="10800000">
            <a:off x="688764" y="4293096"/>
            <a:ext cx="3399791" cy="201622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/>
          <p:cNvSpPr/>
          <p:nvPr/>
        </p:nvSpPr>
        <p:spPr>
          <a:xfrm flipH="1">
            <a:off x="2573907" y="4311583"/>
            <a:ext cx="1712120" cy="20223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/>
          <p:cNvSpPr/>
          <p:nvPr/>
        </p:nvSpPr>
        <p:spPr>
          <a:xfrm>
            <a:off x="463578" y="4293096"/>
            <a:ext cx="1759024" cy="20223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Isosceles Triangle 7"/>
          <p:cNvSpPr/>
          <p:nvPr/>
        </p:nvSpPr>
        <p:spPr>
          <a:xfrm rot="10800000">
            <a:off x="3429967" y="2992861"/>
            <a:ext cx="3399791" cy="2016223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ight Triangle 8"/>
          <p:cNvSpPr/>
          <p:nvPr/>
        </p:nvSpPr>
        <p:spPr>
          <a:xfrm flipH="1">
            <a:off x="5284163" y="3028924"/>
            <a:ext cx="1712120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Triangle 9"/>
          <p:cNvSpPr/>
          <p:nvPr/>
        </p:nvSpPr>
        <p:spPr>
          <a:xfrm>
            <a:off x="7129833" y="3023370"/>
            <a:ext cx="1759024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13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do they even work?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3701007"/>
          </a:xfrm>
        </p:spPr>
        <p:txBody>
          <a:bodyPr/>
          <a:lstStyle/>
          <a:p>
            <a:r>
              <a:rPr lang="en-US" dirty="0"/>
              <a:t>A rhombus is a special parallelogram with all equal sides and equal opposite </a:t>
            </a:r>
            <a:r>
              <a:rPr lang="en-US" dirty="0" smtClean="0"/>
              <a:t>angles. Use your triangles make a rhombus and prove the formula is correct. </a:t>
            </a:r>
          </a:p>
        </p:txBody>
      </p:sp>
      <p:sp>
        <p:nvSpPr>
          <p:cNvPr id="5" name="Isosceles Triangle 4"/>
          <p:cNvSpPr/>
          <p:nvPr/>
        </p:nvSpPr>
        <p:spPr>
          <a:xfrm rot="10800000">
            <a:off x="688764" y="4293096"/>
            <a:ext cx="3399791" cy="201622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/>
          <p:cNvSpPr/>
          <p:nvPr/>
        </p:nvSpPr>
        <p:spPr>
          <a:xfrm flipH="1">
            <a:off x="2573907" y="4311583"/>
            <a:ext cx="1712120" cy="20223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/>
          <p:cNvSpPr/>
          <p:nvPr/>
        </p:nvSpPr>
        <p:spPr>
          <a:xfrm>
            <a:off x="463578" y="4293096"/>
            <a:ext cx="1759024" cy="20223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Isosceles Triangle 7"/>
          <p:cNvSpPr/>
          <p:nvPr/>
        </p:nvSpPr>
        <p:spPr>
          <a:xfrm rot="10800000">
            <a:off x="5400406" y="4856621"/>
            <a:ext cx="3399791" cy="2016223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ight Triangle 8"/>
          <p:cNvSpPr/>
          <p:nvPr/>
        </p:nvSpPr>
        <p:spPr>
          <a:xfrm flipH="1">
            <a:off x="5315111" y="2751648"/>
            <a:ext cx="1712120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Triangle 9"/>
          <p:cNvSpPr/>
          <p:nvPr/>
        </p:nvSpPr>
        <p:spPr>
          <a:xfrm>
            <a:off x="7100301" y="2740501"/>
            <a:ext cx="1759024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2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do they even work?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3701007"/>
          </a:xfrm>
        </p:spPr>
        <p:txBody>
          <a:bodyPr/>
          <a:lstStyle/>
          <a:p>
            <a:r>
              <a:rPr lang="en-US" dirty="0" smtClean="0"/>
              <a:t>Two trapeziums can be made, a regular (symmetrical) and an irregular (asymmetrical) trapezium. Use your triangles make these two and prove the formula is correct. </a:t>
            </a:r>
          </a:p>
        </p:txBody>
      </p:sp>
      <p:sp>
        <p:nvSpPr>
          <p:cNvPr id="5" name="Isosceles Triangle 4"/>
          <p:cNvSpPr/>
          <p:nvPr/>
        </p:nvSpPr>
        <p:spPr>
          <a:xfrm rot="10800000">
            <a:off x="617273" y="4254968"/>
            <a:ext cx="3399791" cy="201622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/>
          <p:cNvSpPr/>
          <p:nvPr/>
        </p:nvSpPr>
        <p:spPr>
          <a:xfrm>
            <a:off x="463578" y="4293096"/>
            <a:ext cx="1759024" cy="20223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Isosceles Triangle 7"/>
          <p:cNvSpPr/>
          <p:nvPr/>
        </p:nvSpPr>
        <p:spPr>
          <a:xfrm>
            <a:off x="3501448" y="3246857"/>
            <a:ext cx="3399791" cy="2016223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ight Triangle 8"/>
          <p:cNvSpPr/>
          <p:nvPr/>
        </p:nvSpPr>
        <p:spPr>
          <a:xfrm>
            <a:off x="7329430" y="3222257"/>
            <a:ext cx="1680174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Triangle 9"/>
          <p:cNvSpPr/>
          <p:nvPr/>
        </p:nvSpPr>
        <p:spPr>
          <a:xfrm rot="10800000">
            <a:off x="5336238" y="3222257"/>
            <a:ext cx="1759024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73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do they even work?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578" y="1378677"/>
            <a:ext cx="8363272" cy="3701007"/>
          </a:xfrm>
        </p:spPr>
        <p:txBody>
          <a:bodyPr/>
          <a:lstStyle/>
          <a:p>
            <a:r>
              <a:rPr lang="en-US" dirty="0" smtClean="0"/>
              <a:t>To prove the kite we need to use a ruler (unless we get help from our </a:t>
            </a:r>
            <a:r>
              <a:rPr lang="en-US" dirty="0" err="1" smtClean="0"/>
              <a:t>Yr</a:t>
            </a:r>
            <a:r>
              <a:rPr lang="en-US" dirty="0" smtClean="0"/>
              <a:t> 9 friend: Pythagoras. l Use your triangles make a kite and prove the formula is correct. </a:t>
            </a:r>
          </a:p>
        </p:txBody>
      </p:sp>
      <p:sp>
        <p:nvSpPr>
          <p:cNvPr id="5" name="Isosceles Triangle 4"/>
          <p:cNvSpPr/>
          <p:nvPr/>
        </p:nvSpPr>
        <p:spPr>
          <a:xfrm rot="10800000">
            <a:off x="688764" y="4293096"/>
            <a:ext cx="3399791" cy="201622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/>
          <p:cNvSpPr/>
          <p:nvPr/>
        </p:nvSpPr>
        <p:spPr>
          <a:xfrm flipH="1">
            <a:off x="2573907" y="4311583"/>
            <a:ext cx="1712120" cy="20223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/>
          <p:cNvSpPr/>
          <p:nvPr/>
        </p:nvSpPr>
        <p:spPr>
          <a:xfrm>
            <a:off x="463578" y="4293096"/>
            <a:ext cx="1759024" cy="20223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ight Triangle 8"/>
          <p:cNvSpPr/>
          <p:nvPr/>
        </p:nvSpPr>
        <p:spPr>
          <a:xfrm rot="8301725" flipH="1">
            <a:off x="5912860" y="3848066"/>
            <a:ext cx="1712120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Triangle 9"/>
          <p:cNvSpPr/>
          <p:nvPr/>
        </p:nvSpPr>
        <p:spPr>
          <a:xfrm rot="13167929">
            <a:off x="6081237" y="3832898"/>
            <a:ext cx="1759024" cy="2022335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19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Great success? </a:t>
            </a:r>
            <a:endParaRPr lang="en-AU" dirty="0"/>
          </a:p>
        </p:txBody>
      </p:sp>
      <p:pic>
        <p:nvPicPr>
          <p:cNvPr id="4" name="Picture 2" descr="Image result for happy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88" y="2060848"/>
            <a:ext cx="7121623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16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Turn to page </a:t>
            </a:r>
            <a:r>
              <a:rPr lang="en-US" sz="3600" dirty="0" smtClean="0"/>
              <a:t>233 </a:t>
            </a:r>
            <a:r>
              <a:rPr lang="en-US" sz="3600" dirty="0" smtClean="0"/>
              <a:t>in your Dwyer Book and complete Exercise </a:t>
            </a:r>
            <a:r>
              <a:rPr lang="en-US" sz="3600" dirty="0" smtClean="0"/>
              <a:t>17.5 and 17.6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595" y="2967650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212958" y="4423330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888387" y="3478694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69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609"/>
            <a:ext cx="8229600" cy="1143000"/>
          </a:xfrm>
        </p:spPr>
        <p:txBody>
          <a:bodyPr/>
          <a:lstStyle/>
          <a:p>
            <a:r>
              <a:rPr lang="en-US" dirty="0" smtClean="0"/>
              <a:t>…and trapeziums!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682" y="945276"/>
            <a:ext cx="8229600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Find the area of these trapeziums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95" y="3164819"/>
            <a:ext cx="7922774" cy="17831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4" y="1387801"/>
            <a:ext cx="8221668" cy="17770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05" y="5229200"/>
            <a:ext cx="8784976" cy="63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9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</TotalTime>
  <Words>510</Words>
  <Application>Microsoft Office PowerPoint</Application>
  <PresentationFormat>On-screen Show (4:3)</PresentationFormat>
  <Paragraphs>78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Impact</vt:lpstr>
      <vt:lpstr>Office Theme</vt:lpstr>
      <vt:lpstr>My Measurement Interactive Notebook</vt:lpstr>
      <vt:lpstr>PowerPoint Presentation</vt:lpstr>
      <vt:lpstr>PowerPoint Presentation</vt:lpstr>
      <vt:lpstr>Activity- Estimation</vt:lpstr>
      <vt:lpstr>Let’s try creating some quadrilaterals</vt:lpstr>
      <vt:lpstr>What quadrilaterals can you make?</vt:lpstr>
      <vt:lpstr>PowerPoint Presentation</vt:lpstr>
      <vt:lpstr>But do they even work?</vt:lpstr>
      <vt:lpstr>But do they even work?</vt:lpstr>
      <vt:lpstr>But do they even work?</vt:lpstr>
      <vt:lpstr>But do they even work?</vt:lpstr>
      <vt:lpstr>Great success? </vt:lpstr>
      <vt:lpstr>Your Turn</vt:lpstr>
      <vt:lpstr>…and trapeziums!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104</cp:revision>
  <dcterms:created xsi:type="dcterms:W3CDTF">2014-05-14T02:58:57Z</dcterms:created>
  <dcterms:modified xsi:type="dcterms:W3CDTF">2017-11-13T02:32:02Z</dcterms:modified>
</cp:coreProperties>
</file>
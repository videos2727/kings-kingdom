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25" r:id="rId1"/>
  </p:sldMasterIdLst>
  <p:notesMasterIdLst>
    <p:notesMasterId r:id="rId11"/>
  </p:notesMasterIdLst>
  <p:sldIdLst>
    <p:sldId id="257" r:id="rId2"/>
    <p:sldId id="263" r:id="rId3"/>
    <p:sldId id="271" r:id="rId4"/>
    <p:sldId id="259" r:id="rId5"/>
    <p:sldId id="264" r:id="rId6"/>
    <p:sldId id="265" r:id="rId7"/>
    <p:sldId id="272" r:id="rId8"/>
    <p:sldId id="260" r:id="rId9"/>
    <p:sldId id="262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E9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84653" autoAdjust="0"/>
  </p:normalViewPr>
  <p:slideViewPr>
    <p:cSldViewPr snapToGrid="0">
      <p:cViewPr varScale="1">
        <p:scale>
          <a:sx n="89" d="100"/>
          <a:sy n="89" d="100"/>
        </p:scale>
        <p:origin x="738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77E127-1EBA-4CCB-BFF5-D8EE72D60618}" type="datetimeFigureOut">
              <a:rPr lang="en-AU" smtClean="0"/>
              <a:t>25/11/2018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252AF9-1A51-4242-B23A-B41D066004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346790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24017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Hold up two pieces of paper with the letter A printed on them. (Print out the congruency doc and cut the first page in half.) Ask if they are the identical.</a:t>
            </a:r>
          </a:p>
          <a:p>
            <a:r>
              <a:rPr lang="en-AU" dirty="0"/>
              <a:t>Move one (translate) and ask again if they are identical</a:t>
            </a:r>
          </a:p>
          <a:p>
            <a:r>
              <a:rPr lang="en-AU" dirty="0"/>
              <a:t>Move one (rotate) and ask again if they are identical</a:t>
            </a:r>
          </a:p>
          <a:p>
            <a:r>
              <a:rPr lang="en-AU" dirty="0"/>
              <a:t>Move on (reflect) and ask again if they are identical</a:t>
            </a:r>
          </a:p>
          <a:p>
            <a:r>
              <a:rPr lang="en-AU" dirty="0"/>
              <a:t>Do a combination of translation, rotation and reflection and ask again if they are identical</a:t>
            </a:r>
          </a:p>
          <a:p>
            <a:r>
              <a:rPr lang="en-AU" dirty="0"/>
              <a:t>Explicitly state that you have translated, rotated and reflected the image and it is identical</a:t>
            </a:r>
          </a:p>
          <a:p>
            <a:endParaRPr lang="en-AU" dirty="0"/>
          </a:p>
          <a:p>
            <a:r>
              <a:rPr lang="en-AU" dirty="0"/>
              <a:t>Now hold up the single big A with one of the smaller A’s and ask if they are still identical – they are no longer identical. If something has been enlarged, shrunk or stretched it is no longer identical.</a:t>
            </a:r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252AF9-1A51-4242-B23A-B41D066004D3}" type="slidenum">
              <a:rPr lang="en-AU" smtClean="0"/>
              <a:t>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054262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112795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Move to Freefall worksheet </a:t>
            </a:r>
            <a:r>
              <a:rPr lang="en-AU"/>
              <a:t>congruence statements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252AF9-1A51-4242-B23A-B41D066004D3}" type="slidenum">
              <a:rPr lang="en-AU" smtClean="0"/>
              <a:t>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031189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Guide students through the question.</a:t>
            </a:r>
          </a:p>
          <a:p>
            <a:r>
              <a:rPr lang="en-AU" dirty="0"/>
              <a:t>Option</a:t>
            </a:r>
            <a:r>
              <a:rPr lang="en-AU" baseline="0" dirty="0"/>
              <a:t> 2: Dot plots handout (Scaffolded for kids who may need </a:t>
            </a:r>
            <a:r>
              <a:rPr lang="en-AU" baseline="0"/>
              <a:t>extra help)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74547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0FC22-BCBD-492B-88F3-473F1F2A4F78}" type="datetimeFigureOut">
              <a:rPr lang="en-AU" smtClean="0"/>
              <a:t>25/11/2018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02A1D0BA-E31F-408C-91D7-4206BD95FC8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892567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0FC22-BCBD-492B-88F3-473F1F2A4F78}" type="datetimeFigureOut">
              <a:rPr lang="en-AU" smtClean="0"/>
              <a:t>25/11/2018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1D0BA-E31F-408C-91D7-4206BD95FC8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016436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0FC22-BCBD-492B-88F3-473F1F2A4F78}" type="datetimeFigureOut">
              <a:rPr lang="en-AU" smtClean="0"/>
              <a:t>25/11/2018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02A1D0BA-E31F-408C-91D7-4206BD95FC8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985944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0FC22-BCBD-492B-88F3-473F1F2A4F78}" type="datetimeFigureOut">
              <a:rPr lang="en-AU" smtClean="0"/>
              <a:t>25/11/2018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02A1D0BA-E31F-408C-91D7-4206BD95FC8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351479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0FC22-BCBD-492B-88F3-473F1F2A4F78}" type="datetimeFigureOut">
              <a:rPr lang="en-AU" smtClean="0"/>
              <a:t>25/11/2018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02A1D0BA-E31F-408C-91D7-4206BD95FC8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16905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0FC22-BCBD-492B-88F3-473F1F2A4F78}" type="datetimeFigureOut">
              <a:rPr lang="en-AU" smtClean="0"/>
              <a:t>25/11/2018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1D0BA-E31F-408C-91D7-4206BD95FC8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780965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0FC22-BCBD-492B-88F3-473F1F2A4F78}" type="datetimeFigureOut">
              <a:rPr lang="en-AU" smtClean="0"/>
              <a:t>25/11/2018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1D0BA-E31F-408C-91D7-4206BD95FC8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28688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0FC22-BCBD-492B-88F3-473F1F2A4F78}" type="datetimeFigureOut">
              <a:rPr lang="en-AU" smtClean="0"/>
              <a:t>25/11/2018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1D0BA-E31F-408C-91D7-4206BD95FC8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112119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0FC22-BCBD-492B-88F3-473F1F2A4F78}" type="datetimeFigureOut">
              <a:rPr lang="en-AU" smtClean="0"/>
              <a:t>25/11/2018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02A1D0BA-E31F-408C-91D7-4206BD95FC8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466762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0FC22-BCBD-492B-88F3-473F1F2A4F78}" type="datetimeFigureOut">
              <a:rPr lang="en-AU" smtClean="0"/>
              <a:t>25/11/2018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02A1D0BA-E31F-408C-91D7-4206BD95FC8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8875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0FC22-BCBD-492B-88F3-473F1F2A4F78}" type="datetimeFigureOut">
              <a:rPr lang="en-AU" smtClean="0"/>
              <a:t>25/11/2018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02A1D0BA-E31F-408C-91D7-4206BD95FC84}" type="slidenum">
              <a:rPr lang="en-AU" smtClean="0"/>
              <a:t>‹#›</a:t>
            </a:fld>
            <a:endParaRPr lang="en-AU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82034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0FC22-BCBD-492B-88F3-473F1F2A4F78}" type="datetimeFigureOut">
              <a:rPr lang="en-AU" smtClean="0"/>
              <a:t>25/11/2018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02A1D0BA-E31F-408C-91D7-4206BD95FC8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2296766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0FC22-BCBD-492B-88F3-473F1F2A4F78}" type="datetimeFigureOut">
              <a:rPr lang="en-AU" smtClean="0"/>
              <a:t>25/11/2018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02A1D0BA-E31F-408C-91D7-4206BD95FC84}" type="slidenum">
              <a:rPr lang="en-AU" smtClean="0"/>
              <a:t>‹#›</a:t>
            </a:fld>
            <a:endParaRPr lang="en-AU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6801721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0FC22-BCBD-492B-88F3-473F1F2A4F78}" type="datetimeFigureOut">
              <a:rPr lang="en-AU" smtClean="0"/>
              <a:t>25/11/2018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02A1D0BA-E31F-408C-91D7-4206BD95FC8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0947178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0FC22-BCBD-492B-88F3-473F1F2A4F78}" type="datetimeFigureOut">
              <a:rPr lang="en-AU" smtClean="0"/>
              <a:t>25/11/2018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1D0BA-E31F-408C-91D7-4206BD95FC8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06561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0FC22-BCBD-492B-88F3-473F1F2A4F78}" type="datetimeFigureOut">
              <a:rPr lang="en-AU" smtClean="0"/>
              <a:t>25/11/2018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1D0BA-E31F-408C-91D7-4206BD95FC8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933773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157"/>
            <a:ext cx="2356674" cy="6853096"/>
            <a:chOff x="6627813" y="195610"/>
            <a:chExt cx="1952625" cy="5678141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5610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F0FC22-BCBD-492B-88F3-473F1F2A4F78}" type="datetimeFigureOut">
              <a:rPr lang="en-AU" smtClean="0"/>
              <a:t>25/11/2018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02A1D0BA-E31F-408C-91D7-4206BD95FC8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578868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6" r:id="rId1"/>
    <p:sldLayoutId id="2147483827" r:id="rId2"/>
    <p:sldLayoutId id="2147483828" r:id="rId3"/>
    <p:sldLayoutId id="2147483829" r:id="rId4"/>
    <p:sldLayoutId id="2147483830" r:id="rId5"/>
    <p:sldLayoutId id="2147483831" r:id="rId6"/>
    <p:sldLayoutId id="2147483832" r:id="rId7"/>
    <p:sldLayoutId id="2147483833" r:id="rId8"/>
    <p:sldLayoutId id="2147483834" r:id="rId9"/>
    <p:sldLayoutId id="2147483835" r:id="rId10"/>
    <p:sldLayoutId id="2147483836" r:id="rId11"/>
    <p:sldLayoutId id="2147483837" r:id="rId12"/>
    <p:sldLayoutId id="2147483838" r:id="rId13"/>
    <p:sldLayoutId id="2147483839" r:id="rId14"/>
    <p:sldLayoutId id="2147483840" r:id="rId15"/>
    <p:sldLayoutId id="2147483841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2">
              <a:lumMod val="7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  <a:latin typeface="Kiwi School Handwriting" panose="00000500000000000000" pitchFamily="2" charset="0"/>
              </a:rPr>
              <a:t>Congruent triangles</a:t>
            </a:r>
            <a:endParaRPr lang="en-US" b="1" dirty="0">
              <a:solidFill>
                <a:srgbClr val="0070C0"/>
              </a:solidFill>
              <a:latin typeface="DJB Fancy Nancy" panose="02000500000000000000" pitchFamily="2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67875" y="3628501"/>
            <a:ext cx="9446339" cy="1384675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chemeClr val="accent2">
                    <a:lumMod val="75000"/>
                  </a:schemeClr>
                </a:solidFill>
                <a:latin typeface="Kiwi School Handwriting" panose="00000500000000000000" pitchFamily="2" charset="0"/>
              </a:rPr>
              <a:t>Year 8</a:t>
            </a:r>
          </a:p>
        </p:txBody>
      </p:sp>
    </p:spTree>
    <p:extLst>
      <p:ext uri="{BB962C8B-B14F-4D97-AF65-F5344CB8AC3E}">
        <p14:creationId xmlns:p14="http://schemas.microsoft.com/office/powerpoint/2010/main" val="5067614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-634676" y="162830"/>
            <a:ext cx="7308431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800" dirty="0">
                <a:solidFill>
                  <a:srgbClr val="FF9900"/>
                </a:solidFill>
                <a:latin typeface="Bodoni MT" panose="02070603080606020203" pitchFamily="18" charset="0"/>
              </a:rPr>
              <a:t>Congruence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0759" y="1842220"/>
            <a:ext cx="8943390" cy="5015780"/>
          </a:xfrm>
          <a:prstGeom prst="rect">
            <a:avLst/>
          </a:prstGeom>
        </p:spPr>
      </p:pic>
      <p:sp>
        <p:nvSpPr>
          <p:cNvPr id="11" name="TextBox 10">
            <a:extLst/>
          </p:cNvPr>
          <p:cNvSpPr txBox="1"/>
          <p:nvPr/>
        </p:nvSpPr>
        <p:spPr>
          <a:xfrm>
            <a:off x="187569" y="2523780"/>
            <a:ext cx="295319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80" dirty="0"/>
              <a:t>Which shapes are the same?</a:t>
            </a:r>
          </a:p>
          <a:p>
            <a:endParaRPr lang="en-AU" sz="2880" dirty="0"/>
          </a:p>
          <a:p>
            <a:r>
              <a:rPr lang="en-AU" sz="2880" dirty="0"/>
              <a:t>Can you pair them up?</a:t>
            </a:r>
          </a:p>
        </p:txBody>
      </p:sp>
      <p:sp>
        <p:nvSpPr>
          <p:cNvPr id="13" name="Oval 12"/>
          <p:cNvSpPr/>
          <p:nvPr/>
        </p:nvSpPr>
        <p:spPr>
          <a:xfrm>
            <a:off x="3751384" y="4958714"/>
            <a:ext cx="508783" cy="517312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4" name="Oval 13"/>
          <p:cNvSpPr/>
          <p:nvPr/>
        </p:nvSpPr>
        <p:spPr>
          <a:xfrm>
            <a:off x="3733799" y="2265124"/>
            <a:ext cx="508783" cy="5173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5" name="Oval 14"/>
          <p:cNvSpPr/>
          <p:nvPr/>
        </p:nvSpPr>
        <p:spPr>
          <a:xfrm>
            <a:off x="7819291" y="3990735"/>
            <a:ext cx="508783" cy="5173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6" name="Oval 15"/>
          <p:cNvSpPr/>
          <p:nvPr/>
        </p:nvSpPr>
        <p:spPr>
          <a:xfrm>
            <a:off x="6673755" y="2237937"/>
            <a:ext cx="508783" cy="517312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7" name="Oval 16"/>
          <p:cNvSpPr/>
          <p:nvPr/>
        </p:nvSpPr>
        <p:spPr>
          <a:xfrm>
            <a:off x="5757010" y="5710312"/>
            <a:ext cx="508783" cy="517312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8" name="Oval 17"/>
          <p:cNvSpPr/>
          <p:nvPr/>
        </p:nvSpPr>
        <p:spPr>
          <a:xfrm>
            <a:off x="8927249" y="2523780"/>
            <a:ext cx="508783" cy="517312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9" name="Oval 18"/>
          <p:cNvSpPr/>
          <p:nvPr/>
        </p:nvSpPr>
        <p:spPr>
          <a:xfrm>
            <a:off x="10912627" y="3013905"/>
            <a:ext cx="508783" cy="517312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0" name="Oval 19"/>
          <p:cNvSpPr/>
          <p:nvPr/>
        </p:nvSpPr>
        <p:spPr>
          <a:xfrm>
            <a:off x="7262745" y="5710312"/>
            <a:ext cx="508783" cy="517312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775799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-634676" y="162830"/>
            <a:ext cx="7308431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800" dirty="0">
                <a:solidFill>
                  <a:srgbClr val="FF9900"/>
                </a:solidFill>
                <a:latin typeface="Bodoni MT" panose="02070603080606020203" pitchFamily="18" charset="0"/>
              </a:rPr>
              <a:t>Congruence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E856FF8-4588-4B4E-A095-7BAEC5AA66BB}"/>
              </a:ext>
            </a:extLst>
          </p:cNvPr>
          <p:cNvSpPr txBox="1"/>
          <p:nvPr/>
        </p:nvSpPr>
        <p:spPr>
          <a:xfrm>
            <a:off x="3044414" y="1979407"/>
            <a:ext cx="5497158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3800" dirty="0"/>
              <a:t>A vs A</a:t>
            </a:r>
          </a:p>
        </p:txBody>
      </p:sp>
    </p:spTree>
    <p:extLst>
      <p:ext uri="{BB962C8B-B14F-4D97-AF65-F5344CB8AC3E}">
        <p14:creationId xmlns:p14="http://schemas.microsoft.com/office/powerpoint/2010/main" val="27837798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36086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Topic: Congruence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36360" y="204438"/>
            <a:ext cx="2160240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How do we know if two triangles are congruent?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5FFA2FBA-9826-45D0-A46F-1CB437FB0EC3}"/>
              </a:ext>
            </a:extLst>
          </p:cNvPr>
          <p:cNvSpPr txBox="1"/>
          <p:nvPr/>
        </p:nvSpPr>
        <p:spPr>
          <a:xfrm>
            <a:off x="0" y="1580870"/>
            <a:ext cx="1847526" cy="11999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What are Congruent Shapes?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D3F9CA1-C27B-4E7C-A786-F74836D45B7E}"/>
              </a:ext>
            </a:extLst>
          </p:cNvPr>
          <p:cNvSpPr/>
          <p:nvPr/>
        </p:nvSpPr>
        <p:spPr>
          <a:xfrm>
            <a:off x="2000107" y="1580870"/>
            <a:ext cx="10006355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/>
              <a:t>Congruent shapes have the </a:t>
            </a:r>
            <a:r>
              <a:rPr lang="en-US" sz="2800" b="1" dirty="0"/>
              <a:t>same shape and size</a:t>
            </a:r>
            <a:r>
              <a:rPr lang="en-US" sz="2800" dirty="0"/>
              <a:t>. They can fit </a:t>
            </a:r>
            <a:r>
              <a:rPr lang="en-US" sz="2800" b="1" i="1" dirty="0"/>
              <a:t>exactly</a:t>
            </a:r>
            <a:r>
              <a:rPr lang="en-US" sz="2800" dirty="0"/>
              <a:t> on top of each other.</a:t>
            </a:r>
          </a:p>
          <a:p>
            <a:endParaRPr lang="en-US" sz="2800" dirty="0"/>
          </a:p>
          <a:p>
            <a:r>
              <a:rPr lang="en-GB" sz="2800" dirty="0"/>
              <a:t>Two figures are congruent if one of them can be transformed to the other using the transformations: reflection, translation and rotation.</a:t>
            </a:r>
            <a:endParaRPr lang="en-US" sz="2800" dirty="0"/>
          </a:p>
          <a:p>
            <a:endParaRPr lang="en-US" sz="2800" dirty="0"/>
          </a:p>
          <a:p>
            <a:r>
              <a:rPr lang="en-US" sz="2800" dirty="0"/>
              <a:t>If something is enlarged, shrunk or stretched it is </a:t>
            </a:r>
            <a:r>
              <a:rPr lang="en-US" sz="2800" b="1" dirty="0"/>
              <a:t>no longer </a:t>
            </a:r>
            <a:r>
              <a:rPr lang="en-US" sz="2800" dirty="0"/>
              <a:t>congruent.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8439433-FFEA-43AC-8A8A-729A106925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28912" y="5670439"/>
            <a:ext cx="7953375" cy="657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3366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E3BFD0-A631-44A5-91BE-D67904D03C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7086" y="69739"/>
            <a:ext cx="9464040" cy="1325563"/>
          </a:xfrm>
        </p:spPr>
        <p:txBody>
          <a:bodyPr/>
          <a:lstStyle/>
          <a:p>
            <a:r>
              <a:rPr lang="en-AU" dirty="0"/>
              <a:t>For example:</a:t>
            </a:r>
          </a:p>
        </p:txBody>
      </p:sp>
      <p:sp>
        <p:nvSpPr>
          <p:cNvPr id="5" name="Star: 7 Points 4">
            <a:extLst>
              <a:ext uri="{FF2B5EF4-FFF2-40B4-BE49-F238E27FC236}">
                <a16:creationId xmlns:a16="http://schemas.microsoft.com/office/drawing/2014/main" id="{1154A42F-33D2-48FD-BE84-D4D90E07C70F}"/>
              </a:ext>
            </a:extLst>
          </p:cNvPr>
          <p:cNvSpPr/>
          <p:nvPr/>
        </p:nvSpPr>
        <p:spPr>
          <a:xfrm>
            <a:off x="1261903" y="2311223"/>
            <a:ext cx="1703070" cy="1463040"/>
          </a:xfrm>
          <a:prstGeom prst="star7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160"/>
          </a:p>
        </p:txBody>
      </p:sp>
      <p:sp>
        <p:nvSpPr>
          <p:cNvPr id="6" name="Star: 7 Points 5">
            <a:extLst>
              <a:ext uri="{FF2B5EF4-FFF2-40B4-BE49-F238E27FC236}">
                <a16:creationId xmlns:a16="http://schemas.microsoft.com/office/drawing/2014/main" id="{56707A9A-8526-49E4-A6CD-38F5CC211081}"/>
              </a:ext>
            </a:extLst>
          </p:cNvPr>
          <p:cNvSpPr/>
          <p:nvPr/>
        </p:nvSpPr>
        <p:spPr>
          <a:xfrm rot="993291">
            <a:off x="2831884" y="2265680"/>
            <a:ext cx="1703070" cy="1463040"/>
          </a:xfrm>
          <a:prstGeom prst="star7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160"/>
          </a:p>
        </p:txBody>
      </p:sp>
      <p:sp>
        <p:nvSpPr>
          <p:cNvPr id="7" name="Lightning Bolt 6">
            <a:extLst>
              <a:ext uri="{FF2B5EF4-FFF2-40B4-BE49-F238E27FC236}">
                <a16:creationId xmlns:a16="http://schemas.microsoft.com/office/drawing/2014/main" id="{5FF01CDF-887F-464D-B216-700F8B5C51AB}"/>
              </a:ext>
            </a:extLst>
          </p:cNvPr>
          <p:cNvSpPr/>
          <p:nvPr/>
        </p:nvSpPr>
        <p:spPr>
          <a:xfrm>
            <a:off x="4326347" y="2112839"/>
            <a:ext cx="1623060" cy="1579550"/>
          </a:xfrm>
          <a:prstGeom prst="lightningBol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160"/>
          </a:p>
        </p:txBody>
      </p:sp>
      <p:sp>
        <p:nvSpPr>
          <p:cNvPr id="8" name="Lightning Bolt 7">
            <a:extLst>
              <a:ext uri="{FF2B5EF4-FFF2-40B4-BE49-F238E27FC236}">
                <a16:creationId xmlns:a16="http://schemas.microsoft.com/office/drawing/2014/main" id="{CE636771-D1E3-42BC-8C8A-290671A76EB6}"/>
              </a:ext>
            </a:extLst>
          </p:cNvPr>
          <p:cNvSpPr/>
          <p:nvPr/>
        </p:nvSpPr>
        <p:spPr>
          <a:xfrm flipH="1">
            <a:off x="5956027" y="2353248"/>
            <a:ext cx="1586526" cy="1579550"/>
          </a:xfrm>
          <a:prstGeom prst="lightningBol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160"/>
          </a:p>
        </p:txBody>
      </p:sp>
      <p:sp>
        <p:nvSpPr>
          <p:cNvPr id="9" name="Cloud 8">
            <a:extLst>
              <a:ext uri="{FF2B5EF4-FFF2-40B4-BE49-F238E27FC236}">
                <a16:creationId xmlns:a16="http://schemas.microsoft.com/office/drawing/2014/main" id="{381D818B-95A6-4C62-B6AC-EC98451210D2}"/>
              </a:ext>
            </a:extLst>
          </p:cNvPr>
          <p:cNvSpPr/>
          <p:nvPr/>
        </p:nvSpPr>
        <p:spPr>
          <a:xfrm>
            <a:off x="7702246" y="2366571"/>
            <a:ext cx="2125980" cy="943828"/>
          </a:xfrm>
          <a:prstGeom prst="cloud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160"/>
          </a:p>
        </p:txBody>
      </p:sp>
      <p:sp>
        <p:nvSpPr>
          <p:cNvPr id="11" name="Cloud 10">
            <a:extLst>
              <a:ext uri="{FF2B5EF4-FFF2-40B4-BE49-F238E27FC236}">
                <a16:creationId xmlns:a16="http://schemas.microsoft.com/office/drawing/2014/main" id="{DFE37083-335D-4B19-880B-58D3E8CD66E6}"/>
              </a:ext>
            </a:extLst>
          </p:cNvPr>
          <p:cNvSpPr/>
          <p:nvPr/>
        </p:nvSpPr>
        <p:spPr>
          <a:xfrm>
            <a:off x="8924929" y="3179612"/>
            <a:ext cx="2125980" cy="943828"/>
          </a:xfrm>
          <a:prstGeom prst="cloud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160"/>
          </a:p>
        </p:txBody>
      </p:sp>
      <p:sp>
        <p:nvSpPr>
          <p:cNvPr id="12" name="Star: 7 Points 11">
            <a:extLst>
              <a:ext uri="{FF2B5EF4-FFF2-40B4-BE49-F238E27FC236}">
                <a16:creationId xmlns:a16="http://schemas.microsoft.com/office/drawing/2014/main" id="{70950C93-2398-4278-8A84-CF8F15AAA1CA}"/>
              </a:ext>
            </a:extLst>
          </p:cNvPr>
          <p:cNvSpPr/>
          <p:nvPr/>
        </p:nvSpPr>
        <p:spPr>
          <a:xfrm>
            <a:off x="1009804" y="4915810"/>
            <a:ext cx="1703070" cy="1253755"/>
          </a:xfrm>
          <a:prstGeom prst="star7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160"/>
          </a:p>
        </p:txBody>
      </p:sp>
      <p:sp>
        <p:nvSpPr>
          <p:cNvPr id="13" name="Star: 7 Points 12">
            <a:extLst>
              <a:ext uri="{FF2B5EF4-FFF2-40B4-BE49-F238E27FC236}">
                <a16:creationId xmlns:a16="http://schemas.microsoft.com/office/drawing/2014/main" id="{471D2567-293E-42B1-AAC9-6E6CC05E56FC}"/>
              </a:ext>
            </a:extLst>
          </p:cNvPr>
          <p:cNvSpPr/>
          <p:nvPr/>
        </p:nvSpPr>
        <p:spPr>
          <a:xfrm rot="993291">
            <a:off x="2956775" y="5133094"/>
            <a:ext cx="722153" cy="563803"/>
          </a:xfrm>
          <a:prstGeom prst="star7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160"/>
          </a:p>
        </p:txBody>
      </p:sp>
      <p:sp>
        <p:nvSpPr>
          <p:cNvPr id="14" name="Lightning Bolt 13">
            <a:extLst>
              <a:ext uri="{FF2B5EF4-FFF2-40B4-BE49-F238E27FC236}">
                <a16:creationId xmlns:a16="http://schemas.microsoft.com/office/drawing/2014/main" id="{25BDA5A9-9946-4033-8C71-1924335CF5BD}"/>
              </a:ext>
            </a:extLst>
          </p:cNvPr>
          <p:cNvSpPr/>
          <p:nvPr/>
        </p:nvSpPr>
        <p:spPr>
          <a:xfrm flipH="1">
            <a:off x="5311570" y="4768655"/>
            <a:ext cx="2056082" cy="1579550"/>
          </a:xfrm>
          <a:prstGeom prst="lightningBol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160"/>
          </a:p>
        </p:txBody>
      </p:sp>
      <p:sp>
        <p:nvSpPr>
          <p:cNvPr id="15" name="Lightning Bolt 14">
            <a:extLst>
              <a:ext uri="{FF2B5EF4-FFF2-40B4-BE49-F238E27FC236}">
                <a16:creationId xmlns:a16="http://schemas.microsoft.com/office/drawing/2014/main" id="{314FBD87-17F3-4C54-A20E-235EC07E207D}"/>
              </a:ext>
            </a:extLst>
          </p:cNvPr>
          <p:cNvSpPr/>
          <p:nvPr/>
        </p:nvSpPr>
        <p:spPr>
          <a:xfrm rot="20563963">
            <a:off x="4529864" y="4614088"/>
            <a:ext cx="379344" cy="1857198"/>
          </a:xfrm>
          <a:prstGeom prst="lightningBol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160"/>
          </a:p>
        </p:txBody>
      </p:sp>
      <p:sp>
        <p:nvSpPr>
          <p:cNvPr id="16" name="Cloud 15">
            <a:extLst>
              <a:ext uri="{FF2B5EF4-FFF2-40B4-BE49-F238E27FC236}">
                <a16:creationId xmlns:a16="http://schemas.microsoft.com/office/drawing/2014/main" id="{C37960AB-7070-46E8-9B45-4BA3B3C8A175}"/>
              </a:ext>
            </a:extLst>
          </p:cNvPr>
          <p:cNvSpPr/>
          <p:nvPr/>
        </p:nvSpPr>
        <p:spPr>
          <a:xfrm>
            <a:off x="7788218" y="4785735"/>
            <a:ext cx="2125980" cy="943828"/>
          </a:xfrm>
          <a:prstGeom prst="cloud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160"/>
          </a:p>
        </p:txBody>
      </p:sp>
      <p:sp>
        <p:nvSpPr>
          <p:cNvPr id="17" name="Cloud 16">
            <a:extLst>
              <a:ext uri="{FF2B5EF4-FFF2-40B4-BE49-F238E27FC236}">
                <a16:creationId xmlns:a16="http://schemas.microsoft.com/office/drawing/2014/main" id="{8A1A6CD8-1E8D-4993-B479-F99FD952D68E}"/>
              </a:ext>
            </a:extLst>
          </p:cNvPr>
          <p:cNvSpPr/>
          <p:nvPr/>
        </p:nvSpPr>
        <p:spPr>
          <a:xfrm>
            <a:off x="9987919" y="5542687"/>
            <a:ext cx="1438636" cy="236984"/>
          </a:xfrm>
          <a:prstGeom prst="cloud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16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DC3885F-D7DD-4FA0-8EC9-6C2363622420}"/>
              </a:ext>
            </a:extLst>
          </p:cNvPr>
          <p:cNvSpPr txBox="1"/>
          <p:nvPr/>
        </p:nvSpPr>
        <p:spPr>
          <a:xfrm>
            <a:off x="2312915" y="1365069"/>
            <a:ext cx="1304115" cy="17912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1040" dirty="0">
                <a:solidFill>
                  <a:srgbClr val="00B050"/>
                </a:solidFill>
                <a:sym typeface="Wingdings" panose="05000000000000000000" pitchFamily="2" charset="2"/>
              </a:rPr>
              <a:t></a:t>
            </a:r>
            <a:endParaRPr lang="en-AU" sz="11040" dirty="0">
              <a:solidFill>
                <a:srgbClr val="00B050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047A00C-EC0F-4467-A725-CDFF1D2C50E8}"/>
              </a:ext>
            </a:extLst>
          </p:cNvPr>
          <p:cNvSpPr txBox="1"/>
          <p:nvPr/>
        </p:nvSpPr>
        <p:spPr>
          <a:xfrm>
            <a:off x="5553038" y="1582545"/>
            <a:ext cx="426282" cy="17912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1040" dirty="0">
                <a:solidFill>
                  <a:srgbClr val="00B050"/>
                </a:solidFill>
                <a:sym typeface="Wingdings" panose="05000000000000000000" pitchFamily="2" charset="2"/>
              </a:rPr>
              <a:t></a:t>
            </a:r>
            <a:endParaRPr lang="en-AU" sz="11040" dirty="0">
              <a:solidFill>
                <a:srgbClr val="00B050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A3327B3-7DA1-42C4-B78D-BB4A5E194CEF}"/>
              </a:ext>
            </a:extLst>
          </p:cNvPr>
          <p:cNvSpPr txBox="1"/>
          <p:nvPr/>
        </p:nvSpPr>
        <p:spPr>
          <a:xfrm>
            <a:off x="8118951" y="2660138"/>
            <a:ext cx="426282" cy="17912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1040" dirty="0">
                <a:solidFill>
                  <a:srgbClr val="00B050"/>
                </a:solidFill>
                <a:sym typeface="Wingdings" panose="05000000000000000000" pitchFamily="2" charset="2"/>
              </a:rPr>
              <a:t></a:t>
            </a:r>
            <a:endParaRPr lang="en-AU" sz="11040" dirty="0">
              <a:solidFill>
                <a:srgbClr val="00B050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F75E481-282E-46F1-9E8A-066D00C126F0}"/>
              </a:ext>
            </a:extLst>
          </p:cNvPr>
          <p:cNvSpPr txBox="1"/>
          <p:nvPr/>
        </p:nvSpPr>
        <p:spPr>
          <a:xfrm>
            <a:off x="2290025" y="5414995"/>
            <a:ext cx="1394316" cy="17912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1040" dirty="0">
                <a:solidFill>
                  <a:srgbClr val="FF0000"/>
                </a:solidFill>
                <a:sym typeface="Wingdings" panose="05000000000000000000" pitchFamily="2" charset="2"/>
              </a:rPr>
              <a:t></a:t>
            </a:r>
            <a:endParaRPr lang="en-AU" sz="11040" dirty="0">
              <a:solidFill>
                <a:srgbClr val="FF0000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FB776F2-975B-418A-B7C7-211A2D221A70}"/>
              </a:ext>
            </a:extLst>
          </p:cNvPr>
          <p:cNvSpPr txBox="1"/>
          <p:nvPr/>
        </p:nvSpPr>
        <p:spPr>
          <a:xfrm>
            <a:off x="4969059" y="4222683"/>
            <a:ext cx="1394316" cy="17912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1040" dirty="0">
                <a:solidFill>
                  <a:srgbClr val="FF0000"/>
                </a:solidFill>
                <a:sym typeface="Wingdings" panose="05000000000000000000" pitchFamily="2" charset="2"/>
              </a:rPr>
              <a:t></a:t>
            </a:r>
            <a:endParaRPr lang="en-AU" sz="11040" dirty="0">
              <a:solidFill>
                <a:srgbClr val="FF0000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876C567-1EF6-447B-AE6E-0733866D8850}"/>
              </a:ext>
            </a:extLst>
          </p:cNvPr>
          <p:cNvSpPr txBox="1"/>
          <p:nvPr/>
        </p:nvSpPr>
        <p:spPr>
          <a:xfrm>
            <a:off x="9110099" y="5257649"/>
            <a:ext cx="1394316" cy="17912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1040" dirty="0">
                <a:solidFill>
                  <a:srgbClr val="FF0000"/>
                </a:solidFill>
                <a:sym typeface="Wingdings" panose="05000000000000000000" pitchFamily="2" charset="2"/>
              </a:rPr>
              <a:t></a:t>
            </a:r>
            <a:endParaRPr lang="en-AU" sz="1104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9947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6" presetClass="entr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8" dur="7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67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/>
      <p:bldP spid="19" grpId="1"/>
      <p:bldP spid="20" grpId="1"/>
      <p:bldP spid="21" grpId="0"/>
      <p:bldP spid="22" grpId="0"/>
      <p:bldP spid="2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ABEAEC4-F3C1-4AF3-8E4C-41B83FB435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589" y="0"/>
            <a:ext cx="11208854" cy="6860592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AEFDD862-6FFE-4ADB-AD65-A9234B1F33BA}"/>
              </a:ext>
            </a:extLst>
          </p:cNvPr>
          <p:cNvSpPr/>
          <p:nvPr/>
        </p:nvSpPr>
        <p:spPr>
          <a:xfrm>
            <a:off x="638589" y="3949148"/>
            <a:ext cx="7246454" cy="1113182"/>
          </a:xfrm>
          <a:prstGeom prst="rect">
            <a:avLst/>
          </a:prstGeom>
          <a:solidFill>
            <a:srgbClr val="F5E9E7"/>
          </a:solidFill>
          <a:ln>
            <a:solidFill>
              <a:srgbClr val="F5E9E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3844ACA-C3E5-46C8-8019-0CCF2656824B}"/>
              </a:ext>
            </a:extLst>
          </p:cNvPr>
          <p:cNvSpPr/>
          <p:nvPr/>
        </p:nvSpPr>
        <p:spPr>
          <a:xfrm>
            <a:off x="8265215" y="3949148"/>
            <a:ext cx="2588315" cy="1417982"/>
          </a:xfrm>
          <a:prstGeom prst="rect">
            <a:avLst/>
          </a:prstGeom>
          <a:solidFill>
            <a:srgbClr val="F5E9E7"/>
          </a:solidFill>
          <a:ln>
            <a:solidFill>
              <a:srgbClr val="F5E9E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1AA6E22-7FE7-4713-BC94-C268870562AD}"/>
              </a:ext>
            </a:extLst>
          </p:cNvPr>
          <p:cNvSpPr/>
          <p:nvPr/>
        </p:nvSpPr>
        <p:spPr>
          <a:xfrm>
            <a:off x="638589" y="5267739"/>
            <a:ext cx="7246454" cy="1113182"/>
          </a:xfrm>
          <a:prstGeom prst="rect">
            <a:avLst/>
          </a:prstGeom>
          <a:solidFill>
            <a:srgbClr val="F5E9E7"/>
          </a:solidFill>
          <a:ln>
            <a:solidFill>
              <a:srgbClr val="F5E9E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88A1C28-6144-448F-8A49-CD15B372C9D6}"/>
              </a:ext>
            </a:extLst>
          </p:cNvPr>
          <p:cNvSpPr/>
          <p:nvPr/>
        </p:nvSpPr>
        <p:spPr>
          <a:xfrm>
            <a:off x="8265215" y="5404870"/>
            <a:ext cx="2707585" cy="1417982"/>
          </a:xfrm>
          <a:prstGeom prst="rect">
            <a:avLst/>
          </a:prstGeom>
          <a:solidFill>
            <a:srgbClr val="F5E9E7"/>
          </a:solidFill>
          <a:ln>
            <a:solidFill>
              <a:srgbClr val="F5E9E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318113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6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13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1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18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A63EF57-B56F-43A7-926E-359F00DABF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0842" y="375139"/>
            <a:ext cx="5850315" cy="334510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4F732A3-C282-4157-8FD3-F338A05F4DD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23395"/>
          <a:stretch/>
        </p:blipFill>
        <p:spPr>
          <a:xfrm>
            <a:off x="2601216" y="3877257"/>
            <a:ext cx="7517808" cy="1996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8348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69074D7-7189-401B-B22C-96E7385E16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3671" y="0"/>
            <a:ext cx="5298884" cy="6850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42578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99656" y="404664"/>
            <a:ext cx="8608358" cy="1293028"/>
          </a:xfrm>
        </p:spPr>
        <p:txBody>
          <a:bodyPr>
            <a:normAutofit/>
          </a:bodyPr>
          <a:lstStyle/>
          <a:p>
            <a:r>
              <a:rPr lang="en-AU" sz="5400" b="1" dirty="0">
                <a:solidFill>
                  <a:schemeClr val="accent1">
                    <a:lumMod val="50000"/>
                  </a:schemeClr>
                </a:solidFill>
                <a:latin typeface="Kiwi School Handwriting" panose="00000500000000000000" pitchFamily="2" charset="0"/>
              </a:rPr>
              <a:t>Task</a:t>
            </a:r>
            <a:endParaRPr lang="en-US" sz="5400" b="1" dirty="0">
              <a:solidFill>
                <a:schemeClr val="accent1">
                  <a:lumMod val="50000"/>
                </a:schemeClr>
              </a:solidFill>
              <a:latin typeface="Kiwi School Handwriting" panose="00000500000000000000" pitchFamily="2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AFF9EF6-86A2-42A5-AE9A-3FB82E18F8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3666" y="1909727"/>
            <a:ext cx="10344667" cy="4027247"/>
          </a:xfrm>
        </p:spPr>
        <p:txBody>
          <a:bodyPr>
            <a:normAutofit/>
          </a:bodyPr>
          <a:lstStyle/>
          <a:p>
            <a:r>
              <a:rPr lang="en-AU" sz="3200" dirty="0">
                <a:latin typeface="Century Gothic" panose="020B0502020202020204" pitchFamily="34" charset="0"/>
              </a:rPr>
              <a:t>Complete the worksheet and then glue onto your task page</a:t>
            </a:r>
          </a:p>
          <a:p>
            <a:pPr marL="0" indent="0">
              <a:buNone/>
            </a:pPr>
            <a:endParaRPr lang="en-AU" sz="32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7442821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2E5369"/>
      </a:dk2>
      <a:lt2>
        <a:srgbClr val="CFE2E7"/>
      </a:lt2>
      <a:accent1>
        <a:srgbClr val="353535"/>
      </a:accent1>
      <a:accent2>
        <a:srgbClr val="31B4E6"/>
      </a:accent2>
      <a:accent3>
        <a:srgbClr val="265991"/>
      </a:accent3>
      <a:accent4>
        <a:srgbClr val="7E40CC"/>
      </a:accent4>
      <a:accent5>
        <a:srgbClr val="B927E9"/>
      </a:accent5>
      <a:accent6>
        <a:srgbClr val="E833BF"/>
      </a:accent6>
      <a:hlink>
        <a:srgbClr val="2DA0F1"/>
      </a:hlink>
      <a:folHlink>
        <a:srgbClr val="7ED1E6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4F34B87B-9C7A-41AE-A6CB-48536223DFF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1756</TotalTime>
  <Words>301</Words>
  <Application>Microsoft Office PowerPoint</Application>
  <PresentationFormat>Widescreen</PresentationFormat>
  <Paragraphs>45</Paragraphs>
  <Slides>9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8" baseType="lpstr">
      <vt:lpstr>Arial</vt:lpstr>
      <vt:lpstr>Bodoni MT</vt:lpstr>
      <vt:lpstr>Calibri</vt:lpstr>
      <vt:lpstr>Century Gothic</vt:lpstr>
      <vt:lpstr>DJB Fancy Nancy</vt:lpstr>
      <vt:lpstr>Kiwi School Handwriting</vt:lpstr>
      <vt:lpstr>Wingdings</vt:lpstr>
      <vt:lpstr>Wingdings 3</vt:lpstr>
      <vt:lpstr>Wisp</vt:lpstr>
      <vt:lpstr>Congruent triangles</vt:lpstr>
      <vt:lpstr>PowerPoint Presentation</vt:lpstr>
      <vt:lpstr>PowerPoint Presentation</vt:lpstr>
      <vt:lpstr>PowerPoint Presentation</vt:lpstr>
      <vt:lpstr>For example:</vt:lpstr>
      <vt:lpstr>PowerPoint Presentation</vt:lpstr>
      <vt:lpstr>PowerPoint Presentation</vt:lpstr>
      <vt:lpstr>PowerPoint Presentation</vt:lpstr>
      <vt:lpstr>Task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Congruent triangles</dc:title>
  <dc:creator>Nine Labuschagne</dc:creator>
  <cp:lastModifiedBy>Hamilton Stott</cp:lastModifiedBy>
  <cp:revision>18</cp:revision>
  <dcterms:created xsi:type="dcterms:W3CDTF">2017-11-28T00:00:34Z</dcterms:created>
  <dcterms:modified xsi:type="dcterms:W3CDTF">2018-11-25T13:13:10Z</dcterms:modified>
</cp:coreProperties>
</file>
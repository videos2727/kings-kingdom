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9" r:id="rId2"/>
    <p:sldId id="298" r:id="rId3"/>
    <p:sldId id="297" r:id="rId4"/>
    <p:sldId id="300" r:id="rId5"/>
    <p:sldId id="309" r:id="rId6"/>
    <p:sldId id="321" r:id="rId7"/>
    <p:sldId id="322" r:id="rId8"/>
    <p:sldId id="316" r:id="rId9"/>
    <p:sldId id="323" r:id="rId10"/>
    <p:sldId id="307" r:id="rId11"/>
    <p:sldId id="319" r:id="rId12"/>
    <p:sldId id="327" r:id="rId13"/>
    <p:sldId id="328" r:id="rId14"/>
    <p:sldId id="330" r:id="rId15"/>
    <p:sldId id="329" r:id="rId16"/>
    <p:sldId id="332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/>
    <p:restoredTop sz="91328"/>
  </p:normalViewPr>
  <p:slideViewPr>
    <p:cSldViewPr>
      <p:cViewPr varScale="1">
        <p:scale>
          <a:sx n="66" d="100"/>
          <a:sy n="66" d="100"/>
        </p:scale>
        <p:origin x="157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FEC9C-2442-AB4C-B73B-4A3396B74FCB}" type="datetimeFigureOut">
              <a:rPr lang="en-US" smtClean="0"/>
              <a:t>11/18/2018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A8586-7804-AB47-AB68-FA517CE1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0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2D6ECC-0777-2A42-8F39-A63BD0844815}" type="slidenum">
              <a:rPr lang="en-US" altLang="x-none"/>
              <a:pPr/>
              <a:t>5</a:t>
            </a:fld>
            <a:endParaRPr lang="en-US" altLang="x-none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2067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59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9050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7620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4000500"/>
            <a:ext cx="3771900" cy="194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Lesson 10-5: Transformations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BF038-C25E-9D4B-9DE1-06F4D701D9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6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ejEwpxfKu8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Z1aUhGCZs0" TargetMode="External"/><Relationship Id="rId2" Type="http://schemas.openxmlformats.org/officeDocument/2006/relationships/hyperlink" Target="https://www.youtube.com/watch?v=DMLOzPEzrfA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Comic Sans MS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77AD1ED-BDB8-0D43-9D8D-25614ED7C308}" type="slidenum">
              <a:rPr lang="en-US" altLang="x-none" sz="1400">
                <a:latin typeface="Arial" charset="0"/>
              </a:rPr>
              <a:pPr eaLnBrk="1" hangingPunct="1"/>
              <a:t>1</a:t>
            </a:fld>
            <a:endParaRPr lang="en-US" altLang="x-none" sz="1400">
              <a:latin typeface="Arial" charset="0"/>
            </a:endParaRPr>
          </a:p>
        </p:txBody>
      </p:sp>
      <p:sp>
        <p:nvSpPr>
          <p:cNvPr id="2051" name="WordArt 6"/>
          <p:cNvSpPr>
            <a:spLocks noChangeArrowheads="1" noChangeShapeType="1" noTextEdit="1"/>
          </p:cNvSpPr>
          <p:nvPr/>
        </p:nvSpPr>
        <p:spPr bwMode="auto">
          <a:xfrm>
            <a:off x="-84993" y="260648"/>
            <a:ext cx="8209036" cy="576036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9" lon="1080000" rev="0"/>
              </a:camera>
              <a:lightRig rig="legacyHarsh2" dir="b"/>
            </a:scene3d>
            <a:sp3d extrusionH="430200" contourW="127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Transformations </a:t>
            </a:r>
          </a:p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and</a:t>
            </a:r>
          </a:p>
          <a:p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charset="0"/>
                <a:ea typeface="Impact" charset="0"/>
                <a:cs typeface="Impact" charset="0"/>
              </a:rPr>
              <a:t>Congruency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6578600"/>
            <a:ext cx="288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6259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023 C 0.02014 -0.02824 0.04045 -0.05625 0.0698 -0.07569 C 0.09914 -0.09514 0.1474 -0.10995 0.1757 -0.11644 C 0.204 -0.12269 0.22101 -0.11829 0.23993 -0.11458 C 0.25886 -0.11065 0.27136 -0.1037 0.28907 -0.09306 C 0.30677 -0.08241 0.33108 -0.0662 0.34584 -0.05046 C 0.36059 -0.03472 0.36927 -0.01644 0.37795 0.00208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9" y="-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7584" y="404664"/>
            <a:ext cx="70567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 err="1"/>
              <a:t>Quickwrite</a:t>
            </a:r>
            <a:endParaRPr lang="en-US" sz="3600" u="sng" dirty="0"/>
          </a:p>
          <a:p>
            <a:endParaRPr lang="en-US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/>
              <a:t>Spend two minutes writing down things that are identical. What things are identical in nature? On your body? In this classroom?</a:t>
            </a:r>
          </a:p>
          <a:p>
            <a:pPr marL="457200" indent="-457200">
              <a:buFont typeface="Arial" charset="0"/>
              <a:buChar char="•"/>
            </a:pPr>
            <a:endParaRPr lang="en-US" sz="3200" dirty="0"/>
          </a:p>
          <a:p>
            <a:pPr marL="457200" indent="-457200">
              <a:buFont typeface="Arial" charset="0"/>
              <a:buChar char="•"/>
            </a:pPr>
            <a:r>
              <a:rPr lang="en-US" sz="3200" dirty="0"/>
              <a:t>After two minutes we’ll share some of them on the board</a:t>
            </a:r>
          </a:p>
        </p:txBody>
      </p:sp>
    </p:spTree>
    <p:extLst>
      <p:ext uri="{BB962C8B-B14F-4D97-AF65-F5344CB8AC3E}">
        <p14:creationId xmlns:p14="http://schemas.microsoft.com/office/powerpoint/2010/main" val="88558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18596" y="1644348"/>
            <a:ext cx="7473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Congruent shapes</a:t>
            </a:r>
            <a:r>
              <a:rPr lang="en-US" sz="2800" dirty="0"/>
              <a:t> have the same shape and size.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</a:t>
            </a:r>
            <a:endParaRPr lang="en-US" sz="2800" b="1" dirty="0"/>
          </a:p>
        </p:txBody>
      </p:sp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1532369" y="2885797"/>
            <a:ext cx="3754438" cy="2378075"/>
            <a:chOff x="1680" y="2064"/>
            <a:chExt cx="2365" cy="1498"/>
          </a:xfrm>
        </p:grpSpPr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>
              <a:off x="1776" y="2832"/>
              <a:ext cx="1008" cy="480"/>
            </a:xfrm>
            <a:prstGeom prst="rtTriangl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9"/>
            <p:cNvSpPr>
              <a:spLocks noChangeArrowheads="1"/>
            </p:cNvSpPr>
            <p:nvPr/>
          </p:nvSpPr>
          <p:spPr bwMode="auto">
            <a:xfrm rot="16200000">
              <a:off x="3192" y="2568"/>
              <a:ext cx="1008" cy="480"/>
            </a:xfrm>
            <a:prstGeom prst="rtTriangl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680" y="330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A</a:t>
              </a: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640" y="331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C</a:t>
              </a: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1697" y="2592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B</a:t>
              </a: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800" y="3312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D</a:t>
              </a: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3329" y="3312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E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3840" y="206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F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6"/>
              <p:cNvSpPr txBox="1">
                <a:spLocks noChangeArrowheads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7432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32004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6576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4114800" indent="-4572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+mn-lt"/>
                    <a:sym typeface="Symbol" charset="2"/>
                  </a:rPr>
                  <a:t>      Triangle ABC is congruent (identical) to Triangle DEF. We write this as: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  ABC 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or ABC </a:t>
                </a:r>
                <a14:m>
                  <m:oMath xmlns:m="http://schemas.openxmlformats.org/officeDocument/2006/math">
                    <m:r>
                      <a:rPr lang="en-US" altLang="x-none" sz="2800" b="1" i="1" smtClean="0">
                        <a:solidFill>
                          <a:schemeClr val="hlink"/>
                        </a:solidFill>
                        <a:latin typeface="Cambria Math" charset="0"/>
                        <a:ea typeface="Cambria Math" charset="0"/>
                        <a:cs typeface="Cambria Math" charset="0"/>
                        <a:sym typeface="Symbol" charset="2"/>
                      </a:rPr>
                      <m:t>≡</m:t>
                    </m:r>
                  </m:oMath>
                </a14:m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</a:t>
                </a:r>
                <a:r>
                  <a:rPr lang="en-US" altLang="x-none" sz="2800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 </a:t>
                </a:r>
                <a:r>
                  <a:rPr lang="en-US" altLang="x-none" sz="2800" b="1" dirty="0">
                    <a:solidFill>
                      <a:schemeClr val="hlink"/>
                    </a:solidFill>
                    <a:latin typeface="Comic Sans MS" charset="0"/>
                    <a:sym typeface="Symbol" charset="2"/>
                  </a:rPr>
                  <a:t>DEF</a:t>
                </a: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x-none" sz="2800" b="1" dirty="0">
                  <a:solidFill>
                    <a:schemeClr val="hlink"/>
                  </a:solidFill>
                  <a:latin typeface="Comic Sans MS" charset="0"/>
                  <a:sym typeface="Symbol" charset="2"/>
                </a:endParaRPr>
              </a:p>
            </p:txBody>
          </p:sp>
        </mc:Choice>
        <mc:Fallback xmlns="">
          <p:sp>
            <p:nvSpPr>
              <p:cNvPr id="3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765" y="2750803"/>
                <a:ext cx="3774984" cy="4401205"/>
              </a:xfrm>
              <a:prstGeom prst="rect">
                <a:avLst/>
              </a:prstGeom>
              <a:blipFill rotWithShape="0">
                <a:blip r:embed="rId2"/>
                <a:stretch>
                  <a:fillRect l="-3393" t="-1247" r="-38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types of transformations can congruent figures undergo? </a:t>
            </a:r>
          </a:p>
        </p:txBody>
      </p:sp>
    </p:spTree>
    <p:extLst>
      <p:ext uri="{BB962C8B-B14F-4D97-AF65-F5344CB8AC3E}">
        <p14:creationId xmlns:p14="http://schemas.microsoft.com/office/powerpoint/2010/main" val="19108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4022" y="908720"/>
            <a:ext cx="82773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Congruency in Real life Video (90 seconds)</a:t>
            </a:r>
          </a:p>
          <a:p>
            <a:pPr algn="ctr"/>
            <a:endParaRPr lang="en-US" sz="3600" dirty="0"/>
          </a:p>
          <a:p>
            <a:endParaRPr lang="en-US" dirty="0"/>
          </a:p>
          <a:p>
            <a:pPr algn="ctr"/>
            <a:r>
              <a:rPr lang="en-US" dirty="0">
                <a:hlinkClick r:id="rId2"/>
              </a:rPr>
              <a:t>https://www.youtube.com/watch?v=aejEwpxfKu8</a:t>
            </a:r>
            <a:endParaRPr lang="en-US" dirty="0"/>
          </a:p>
          <a:p>
            <a:pPr algn="ctr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4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Which of these shapes are congruent?</a:t>
            </a:r>
          </a:p>
        </p:txBody>
      </p:sp>
      <p:sp>
        <p:nvSpPr>
          <p:cNvPr id="32772" name="AutoShape 4"/>
          <p:cNvSpPr>
            <a:spLocks noChangeArrowheads="1"/>
          </p:cNvSpPr>
          <p:nvPr/>
        </p:nvSpPr>
        <p:spPr bwMode="auto">
          <a:xfrm>
            <a:off x="26670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1676400" y="1600200"/>
            <a:ext cx="609600" cy="838200"/>
          </a:xfrm>
          <a:prstGeom prst="moon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1066800" y="3429000"/>
            <a:ext cx="1447800" cy="457200"/>
          </a:xfrm>
          <a:prstGeom prst="rtTriangl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AutoShape 7"/>
          <p:cNvSpPr>
            <a:spLocks noChangeArrowheads="1"/>
          </p:cNvSpPr>
          <p:nvPr/>
        </p:nvSpPr>
        <p:spPr bwMode="auto">
          <a:xfrm>
            <a:off x="2819400" y="3200400"/>
            <a:ext cx="914400" cy="76200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AutoShape 8"/>
          <p:cNvSpPr>
            <a:spLocks noChangeArrowheads="1"/>
          </p:cNvSpPr>
          <p:nvPr/>
        </p:nvSpPr>
        <p:spPr bwMode="auto">
          <a:xfrm>
            <a:off x="5562600" y="34290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AutoShape 9"/>
          <p:cNvSpPr>
            <a:spLocks noChangeArrowheads="1"/>
          </p:cNvSpPr>
          <p:nvPr/>
        </p:nvSpPr>
        <p:spPr bwMode="auto">
          <a:xfrm rot="5400000">
            <a:off x="7048500" y="3086100"/>
            <a:ext cx="1371600" cy="838200"/>
          </a:xfrm>
          <a:prstGeom prst="leftArrow">
            <a:avLst>
              <a:gd name="adj1" fmla="val 50000"/>
              <a:gd name="adj2" fmla="val 40909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AutoShape 10"/>
          <p:cNvSpPr>
            <a:spLocks noChangeArrowheads="1"/>
          </p:cNvSpPr>
          <p:nvPr/>
        </p:nvSpPr>
        <p:spPr bwMode="auto">
          <a:xfrm>
            <a:off x="6019800" y="5410200"/>
            <a:ext cx="990600" cy="914400"/>
          </a:xfrm>
          <a:prstGeom prst="star4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AutoShape 11"/>
          <p:cNvSpPr>
            <a:spLocks noChangeArrowheads="1"/>
          </p:cNvSpPr>
          <p:nvPr/>
        </p:nvSpPr>
        <p:spPr bwMode="auto">
          <a:xfrm>
            <a:off x="5181600" y="4648200"/>
            <a:ext cx="914400" cy="1066800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AutoShape 12"/>
          <p:cNvSpPr>
            <a:spLocks noChangeArrowheads="1"/>
          </p:cNvSpPr>
          <p:nvPr/>
        </p:nvSpPr>
        <p:spPr bwMode="auto">
          <a:xfrm>
            <a:off x="1295400" y="51054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 rot="13999742">
            <a:off x="2743200" y="5029200"/>
            <a:ext cx="1219200" cy="914400"/>
          </a:xfrm>
          <a:custGeom>
            <a:avLst/>
            <a:gdLst>
              <a:gd name="T0" fmla="*/ 10860 w 21600"/>
              <a:gd name="T1" fmla="*/ 2187 h 21600"/>
              <a:gd name="T2" fmla="*/ 2928 w 21600"/>
              <a:gd name="T3" fmla="*/ 10800 h 21600"/>
              <a:gd name="T4" fmla="*/ 10860 w 21600"/>
              <a:gd name="T5" fmla="*/ 21600 h 21600"/>
              <a:gd name="T6" fmla="*/ 18672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4648200" y="1447800"/>
            <a:ext cx="1066800" cy="1066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6172200" y="1752600"/>
            <a:ext cx="762000" cy="685800"/>
          </a:xfrm>
          <a:prstGeom prst="pentag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AutoShape 16"/>
          <p:cNvSpPr>
            <a:spLocks noChangeArrowheads="1"/>
          </p:cNvSpPr>
          <p:nvPr/>
        </p:nvSpPr>
        <p:spPr bwMode="auto">
          <a:xfrm>
            <a:off x="4953000" y="1371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AutoShape 17"/>
          <p:cNvSpPr>
            <a:spLocks noChangeArrowheads="1"/>
          </p:cNvSpPr>
          <p:nvPr/>
        </p:nvSpPr>
        <p:spPr bwMode="auto">
          <a:xfrm>
            <a:off x="5257800" y="4800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AutoShape 18"/>
          <p:cNvSpPr>
            <a:spLocks noChangeArrowheads="1"/>
          </p:cNvSpPr>
          <p:nvPr/>
        </p:nvSpPr>
        <p:spPr bwMode="auto">
          <a:xfrm>
            <a:off x="1676400" y="2895600"/>
            <a:ext cx="1600200" cy="14478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304800" y="4800600"/>
            <a:ext cx="739775" cy="1041400"/>
            <a:chOff x="1382" y="3312"/>
            <a:chExt cx="466" cy="656"/>
          </a:xfrm>
        </p:grpSpPr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2" name="Group 24"/>
          <p:cNvGrpSpPr>
            <a:grpSpLocks/>
          </p:cNvGrpSpPr>
          <p:nvPr/>
        </p:nvGrpSpPr>
        <p:grpSpPr bwMode="auto">
          <a:xfrm>
            <a:off x="685800" y="1371600"/>
            <a:ext cx="739775" cy="1041400"/>
            <a:chOff x="1382" y="3312"/>
            <a:chExt cx="466" cy="656"/>
          </a:xfrm>
        </p:grpSpPr>
        <p:sp>
          <p:nvSpPr>
            <p:cNvPr id="32793" name="Rectangle 25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4" name="Rectangle 26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795" name="Group 27"/>
          <p:cNvGrpSpPr>
            <a:grpSpLocks/>
          </p:cNvGrpSpPr>
          <p:nvPr/>
        </p:nvGrpSpPr>
        <p:grpSpPr bwMode="auto">
          <a:xfrm>
            <a:off x="4800600" y="3048000"/>
            <a:ext cx="739775" cy="1041400"/>
            <a:chOff x="1382" y="3312"/>
            <a:chExt cx="466" cy="656"/>
          </a:xfrm>
        </p:grpSpPr>
        <p:sp>
          <p:nvSpPr>
            <p:cNvPr id="32796" name="Rectangle 28"/>
            <p:cNvSpPr>
              <a:spLocks noChangeArrowheads="1"/>
            </p:cNvSpPr>
            <p:nvPr/>
          </p:nvSpPr>
          <p:spPr bwMode="auto">
            <a:xfrm rot="1899077">
              <a:off x="1728" y="3312"/>
              <a:ext cx="120" cy="656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7" name="Rectangle 29"/>
            <p:cNvSpPr>
              <a:spLocks noChangeArrowheads="1"/>
            </p:cNvSpPr>
            <p:nvPr/>
          </p:nvSpPr>
          <p:spPr bwMode="auto">
            <a:xfrm rot="1678613">
              <a:off x="1382" y="3776"/>
              <a:ext cx="329" cy="110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40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2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2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4" grpId="0" animBg="1"/>
      <p:bldP spid="32785" grpId="0" animBg="1"/>
      <p:bldP spid="327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/>
              <a:t>Your turn - Which of these shapes are </a:t>
            </a:r>
            <a:r>
              <a:rPr lang="en-GB" sz="4000" dirty="0">
                <a:solidFill>
                  <a:srgbClr val="FFFF66"/>
                </a:solidFill>
              </a:rPr>
              <a:t>congruent</a:t>
            </a:r>
            <a:r>
              <a:rPr lang="en-GB" sz="4000" dirty="0"/>
              <a:t> to the </a:t>
            </a:r>
            <a:r>
              <a:rPr lang="en-GB" sz="4000" dirty="0">
                <a:solidFill>
                  <a:srgbClr val="FFFF66"/>
                </a:solidFill>
              </a:rPr>
              <a:t>yellow</a:t>
            </a:r>
            <a:r>
              <a:rPr lang="en-GB" sz="4000" dirty="0"/>
              <a:t> one?</a:t>
            </a:r>
          </a:p>
        </p:txBody>
      </p:sp>
      <p:sp>
        <p:nvSpPr>
          <p:cNvPr id="3111" name="AutoShape 39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124" name="AutoShape 42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3118" name="AutoShape 46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121" name="AutoShape 49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122" name="AutoShape 50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123" name="AutoShape 51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125" name="AutoShape 53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127" name="AutoShape 55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128" name="AutoShape 56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019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1" grpId="0" animBg="1"/>
      <p:bldP spid="3118" grpId="0" animBg="1"/>
      <p:bldP spid="3121" grpId="0" animBg="1"/>
      <p:bldP spid="3122" grpId="0" animBg="1"/>
      <p:bldP spid="3123" grpId="0" animBg="1"/>
      <p:bldP spid="3125" grpId="0" animBg="1"/>
      <p:bldP spid="3127" grpId="0" animBg="1"/>
      <p:bldP spid="31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sz="4000" dirty="0">
                <a:solidFill>
                  <a:srgbClr val="FFFF66"/>
                </a:solidFill>
              </a:rPr>
              <a:t>Congruent</a:t>
            </a:r>
            <a:r>
              <a:rPr lang="en-GB" sz="4000" dirty="0"/>
              <a:t> shapes are all shown in </a:t>
            </a:r>
            <a:r>
              <a:rPr lang="en-GB" sz="4000" dirty="0">
                <a:solidFill>
                  <a:srgbClr val="FFFF66"/>
                </a:solidFill>
              </a:rPr>
              <a:t>yellow</a:t>
            </a:r>
            <a:r>
              <a:rPr lang="en-GB" sz="4000" dirty="0"/>
              <a:t> – were you right?</a:t>
            </a:r>
          </a:p>
        </p:txBody>
      </p:sp>
      <p:sp>
        <p:nvSpPr>
          <p:cNvPr id="6147" name="AutoShape 4"/>
          <p:cNvSpPr>
            <a:spLocks noChangeArrowheads="1"/>
          </p:cNvSpPr>
          <p:nvPr/>
        </p:nvSpPr>
        <p:spPr bwMode="auto">
          <a:xfrm>
            <a:off x="3995738" y="1557338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x-none"/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611188" y="3933825"/>
            <a:ext cx="1223962" cy="2305050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 flipH="1">
            <a:off x="6948488" y="1484313"/>
            <a:ext cx="1584325" cy="2809875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6631" name="AutoShape 7"/>
          <p:cNvSpPr>
            <a:spLocks noChangeArrowheads="1"/>
          </p:cNvSpPr>
          <p:nvPr/>
        </p:nvSpPr>
        <p:spPr bwMode="auto">
          <a:xfrm>
            <a:off x="5795963" y="1700213"/>
            <a:ext cx="1008062" cy="18732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>
            <a:off x="468313" y="1484313"/>
            <a:ext cx="2305050" cy="12239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6633" name="AutoShape 9"/>
          <p:cNvSpPr>
            <a:spLocks noChangeArrowheads="1"/>
          </p:cNvSpPr>
          <p:nvPr/>
        </p:nvSpPr>
        <p:spPr bwMode="auto">
          <a:xfrm>
            <a:off x="4356100" y="4005263"/>
            <a:ext cx="1368425" cy="2232025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6634" name="AutoShape 10"/>
          <p:cNvSpPr>
            <a:spLocks noChangeArrowheads="1"/>
          </p:cNvSpPr>
          <p:nvPr/>
        </p:nvSpPr>
        <p:spPr bwMode="auto">
          <a:xfrm flipH="1">
            <a:off x="2627313" y="4581525"/>
            <a:ext cx="863600" cy="165735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 rot="13579881" flipV="1">
            <a:off x="6047582" y="4474368"/>
            <a:ext cx="2305050" cy="1223963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6641" name="AutoShape 17"/>
          <p:cNvSpPr>
            <a:spLocks noChangeArrowheads="1"/>
          </p:cNvSpPr>
          <p:nvPr/>
        </p:nvSpPr>
        <p:spPr bwMode="auto">
          <a:xfrm rot="10800000" flipV="1">
            <a:off x="1476375" y="2852738"/>
            <a:ext cx="1728788" cy="1512887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altLang="x-none" b="1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589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  <p:bldP spid="26632" grpId="0" animBg="1"/>
      <p:bldP spid="26633" grpId="0" animBg="1"/>
      <p:bldP spid="26634" grpId="0" animBg="1"/>
      <p:bldP spid="26635" grpId="0" animBg="1"/>
      <p:bldP spid="266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996758"/>
            <a:ext cx="5103556" cy="30965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1640" y="1491999"/>
            <a:ext cx="7812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congruent shapes in yellow are in different positions. They have been transformed, which occurs in </a:t>
            </a:r>
            <a:r>
              <a:rPr lang="en-US" sz="2800" b="1" u="sng" dirty="0"/>
              <a:t>3</a:t>
            </a:r>
            <a:r>
              <a:rPr lang="en-US" sz="2800" dirty="0"/>
              <a:t> ways:</a:t>
            </a:r>
          </a:p>
        </p:txBody>
      </p:sp>
    </p:spTree>
    <p:extLst>
      <p:ext uri="{BB962C8B-B14F-4D97-AF65-F5344CB8AC3E}">
        <p14:creationId xmlns:p14="http://schemas.microsoft.com/office/powerpoint/2010/main" val="52684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80256" y="1572422"/>
            <a:ext cx="7912046" cy="386377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2800" b="1" dirty="0">
                <a:solidFill>
                  <a:schemeClr val="tx1"/>
                </a:solidFill>
                <a:latin typeface="Times New Roman" charset="0"/>
              </a:rPr>
              <a:t>Types of Transformations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61429" y="2186182"/>
            <a:ext cx="6927304" cy="69448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Reflections:</a:t>
            </a:r>
            <a:r>
              <a:rPr lang="en-US" altLang="en-US" sz="2400" dirty="0">
                <a:latin typeface="Times New Roman" charset="0"/>
              </a:rPr>
              <a:t>  These are like mirror images as seen across a line </a:t>
            </a:r>
            <a:r>
              <a:rPr lang="en-US" altLang="en-US" sz="2400">
                <a:latin typeface="Times New Roman" charset="0"/>
              </a:rPr>
              <a:t>of symmetry.</a:t>
            </a:r>
            <a:endParaRPr lang="en-US" altLang="en-US" sz="2400" dirty="0">
              <a:latin typeface="Times New Roman" charset="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sz="quarter" idx="2"/>
          </p:nvPr>
        </p:nvSpPr>
        <p:spPr>
          <a:xfrm>
            <a:off x="1561429" y="3330118"/>
            <a:ext cx="6927304" cy="807862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Translations (or slides):</a:t>
            </a:r>
            <a:r>
              <a:rPr lang="en-US" altLang="en-US" sz="2400" dirty="0">
                <a:latin typeface="Times New Roman" charset="0"/>
              </a:rPr>
              <a:t>  This moves the figure to a new location with no change to the looks of the figure.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sz="quarter" idx="3"/>
          </p:nvPr>
        </p:nvSpPr>
        <p:spPr>
          <a:xfrm>
            <a:off x="1578407" y="4721908"/>
            <a:ext cx="5791200" cy="91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None/>
            </a:pPr>
            <a:r>
              <a:rPr lang="en-US" altLang="en-US" sz="2400" dirty="0">
                <a:latin typeface="Times New Roman" charset="0"/>
              </a:rPr>
              <a:t> </a:t>
            </a:r>
            <a:r>
              <a:rPr lang="en-US" altLang="en-US" sz="2400" b="1" dirty="0">
                <a:solidFill>
                  <a:srgbClr val="CC3300"/>
                </a:solidFill>
                <a:latin typeface="Times New Roman" charset="0"/>
              </a:rPr>
              <a:t>Rotations:</a:t>
            </a:r>
            <a:r>
              <a:rPr lang="en-US" altLang="en-US" sz="2400" dirty="0">
                <a:latin typeface="Times New Roman" charset="0"/>
              </a:rPr>
              <a:t> This turns the figure clockwise or counter-clockwise but doesn’t change the figure.</a:t>
            </a:r>
          </a:p>
        </p:txBody>
      </p:sp>
      <p:grpSp>
        <p:nvGrpSpPr>
          <p:cNvPr id="9224" name="Group 8"/>
          <p:cNvGrpSpPr>
            <a:grpSpLocks/>
          </p:cNvGrpSpPr>
          <p:nvPr/>
        </p:nvGrpSpPr>
        <p:grpSpPr bwMode="auto">
          <a:xfrm>
            <a:off x="7144227" y="2590346"/>
            <a:ext cx="1371600" cy="685800"/>
            <a:chOff x="3312" y="1536"/>
            <a:chExt cx="1248" cy="624"/>
          </a:xfrm>
        </p:grpSpPr>
        <p:sp>
          <p:nvSpPr>
            <p:cNvPr id="4118" name="AutoShape 9"/>
            <p:cNvSpPr>
              <a:spLocks noChangeArrowheads="1"/>
            </p:cNvSpPr>
            <p:nvPr/>
          </p:nvSpPr>
          <p:spPr bwMode="auto">
            <a:xfrm>
              <a:off x="3312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AutoShape 10"/>
            <p:cNvSpPr>
              <a:spLocks noChangeArrowheads="1"/>
            </p:cNvSpPr>
            <p:nvPr/>
          </p:nvSpPr>
          <p:spPr bwMode="auto">
            <a:xfrm flipH="1">
              <a:off x="3984" y="1536"/>
              <a:ext cx="576" cy="624"/>
            </a:xfrm>
            <a:custGeom>
              <a:avLst/>
              <a:gdLst>
                <a:gd name="T0" fmla="*/ 411 w 21600"/>
                <a:gd name="T1" fmla="*/ 0 h 21600"/>
                <a:gd name="T2" fmla="*/ 247 w 21600"/>
                <a:gd name="T3" fmla="*/ 178 h 21600"/>
                <a:gd name="T4" fmla="*/ 165 w 21600"/>
                <a:gd name="T5" fmla="*/ 267 h 21600"/>
                <a:gd name="T6" fmla="*/ 0 w 21600"/>
                <a:gd name="T7" fmla="*/ 446 h 21600"/>
                <a:gd name="T8" fmla="*/ 165 w 21600"/>
                <a:gd name="T9" fmla="*/ 624 h 21600"/>
                <a:gd name="T10" fmla="*/ 329 w 21600"/>
                <a:gd name="T11" fmla="*/ 535 h 21600"/>
                <a:gd name="T12" fmla="*/ 494 w 21600"/>
                <a:gd name="T13" fmla="*/ 357 h 21600"/>
                <a:gd name="T14" fmla="*/ 576 w 21600"/>
                <a:gd name="T15" fmla="*/ 178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3075 w 21600"/>
                <a:gd name="T25" fmla="*/ 12358 h 21600"/>
                <a:gd name="T26" fmla="*/ 18525 w 21600"/>
                <a:gd name="T27" fmla="*/ 1851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5429" y="0"/>
                  </a:moveTo>
                  <a:lnTo>
                    <a:pt x="9257" y="6171"/>
                  </a:lnTo>
                  <a:lnTo>
                    <a:pt x="12343" y="6171"/>
                  </a:lnTo>
                  <a:lnTo>
                    <a:pt x="12343" y="12343"/>
                  </a:lnTo>
                  <a:lnTo>
                    <a:pt x="6171" y="12343"/>
                  </a:lnTo>
                  <a:lnTo>
                    <a:pt x="6171" y="9257"/>
                  </a:lnTo>
                  <a:lnTo>
                    <a:pt x="0" y="15429"/>
                  </a:lnTo>
                  <a:lnTo>
                    <a:pt x="6171" y="21600"/>
                  </a:lnTo>
                  <a:lnTo>
                    <a:pt x="6171" y="18514"/>
                  </a:lnTo>
                  <a:lnTo>
                    <a:pt x="18514" y="18514"/>
                  </a:lnTo>
                  <a:lnTo>
                    <a:pt x="18514" y="6171"/>
                  </a:lnTo>
                  <a:lnTo>
                    <a:pt x="21600" y="6171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27" name="Group 11"/>
          <p:cNvGrpSpPr>
            <a:grpSpLocks/>
          </p:cNvGrpSpPr>
          <p:nvPr/>
        </p:nvGrpSpPr>
        <p:grpSpPr bwMode="auto">
          <a:xfrm>
            <a:off x="7694525" y="3972744"/>
            <a:ext cx="1219200" cy="914400"/>
            <a:chOff x="3600" y="2640"/>
            <a:chExt cx="1440" cy="912"/>
          </a:xfrm>
        </p:grpSpPr>
        <p:sp>
          <p:nvSpPr>
            <p:cNvPr id="4115" name="AutoShape 12" descr="Woven mat"/>
            <p:cNvSpPr>
              <a:spLocks noChangeArrowheads="1"/>
            </p:cNvSpPr>
            <p:nvPr/>
          </p:nvSpPr>
          <p:spPr bwMode="auto">
            <a:xfrm>
              <a:off x="4368" y="312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6" name="AutoShape 13" descr="Woven mat"/>
            <p:cNvSpPr>
              <a:spLocks noChangeArrowheads="1"/>
            </p:cNvSpPr>
            <p:nvPr/>
          </p:nvSpPr>
          <p:spPr bwMode="auto">
            <a:xfrm>
              <a:off x="3600" y="2640"/>
              <a:ext cx="672" cy="432"/>
            </a:xfrm>
            <a:prstGeom prst="plus">
              <a:avLst>
                <a:gd name="adj" fmla="val 25000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7" name="Line 14"/>
            <p:cNvSpPr>
              <a:spLocks noChangeShapeType="1"/>
            </p:cNvSpPr>
            <p:nvPr/>
          </p:nvSpPr>
          <p:spPr bwMode="auto">
            <a:xfrm flipH="1" flipV="1">
              <a:off x="4032" y="312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31" name="Group 15"/>
          <p:cNvGrpSpPr>
            <a:grpSpLocks/>
          </p:cNvGrpSpPr>
          <p:nvPr/>
        </p:nvGrpSpPr>
        <p:grpSpPr bwMode="auto">
          <a:xfrm>
            <a:off x="7058776" y="5091298"/>
            <a:ext cx="1214837" cy="1181295"/>
            <a:chOff x="1488" y="2736"/>
            <a:chExt cx="1488" cy="1392"/>
          </a:xfrm>
        </p:grpSpPr>
        <p:sp>
          <p:nvSpPr>
            <p:cNvPr id="4112" name="AutoShape 16"/>
            <p:cNvSpPr>
              <a:spLocks noChangeArrowheads="1"/>
            </p:cNvSpPr>
            <p:nvPr/>
          </p:nvSpPr>
          <p:spPr bwMode="auto">
            <a:xfrm>
              <a:off x="2016" y="2736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3" name="AutoShape 17"/>
            <p:cNvSpPr>
              <a:spLocks noChangeArrowheads="1"/>
            </p:cNvSpPr>
            <p:nvPr/>
          </p:nvSpPr>
          <p:spPr bwMode="auto">
            <a:xfrm rot="6844221">
              <a:off x="1224" y="3432"/>
              <a:ext cx="960" cy="432"/>
            </a:xfrm>
            <a:prstGeom prst="rightArrow">
              <a:avLst>
                <a:gd name="adj1" fmla="val 50000"/>
                <a:gd name="adj2" fmla="val 55556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4114" name="Arc 18"/>
            <p:cNvSpPr>
              <a:spLocks/>
            </p:cNvSpPr>
            <p:nvPr/>
          </p:nvSpPr>
          <p:spPr bwMode="auto">
            <a:xfrm rot="5400000">
              <a:off x="1992" y="3192"/>
              <a:ext cx="384" cy="336"/>
            </a:xfrm>
            <a:custGeom>
              <a:avLst/>
              <a:gdLst>
                <a:gd name="T0" fmla="*/ 0 w 21600"/>
                <a:gd name="T1" fmla="*/ 0 h 21600"/>
                <a:gd name="T2" fmla="*/ 384 w 21600"/>
                <a:gd name="T3" fmla="*/ 336 h 21600"/>
                <a:gd name="T4" fmla="*/ 0 w 21600"/>
                <a:gd name="T5" fmla="*/ 33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0" y="76458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331640" y="1491999"/>
            <a:ext cx="0" cy="47453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698" y="85018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types of transformations can congruent figures undergo? 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0" y="625406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</p:spTree>
    <p:extLst>
      <p:ext uri="{BB962C8B-B14F-4D97-AF65-F5344CB8AC3E}">
        <p14:creationId xmlns:p14="http://schemas.microsoft.com/office/powerpoint/2010/main" val="114116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11857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2"/>
              </a:rPr>
              <a:t>https://www.youtube.com/watch?v=DMLOzPEzrfA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0" y="44371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https://www.youtube.com/watch?v=0Z1aUhGCZs0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77833"/>
            <a:ext cx="87129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Translation Videos: One Educational, the other Catchy (annoyingly catchy)!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4898" y="332842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4084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16" y="1772816"/>
            <a:ext cx="7530582" cy="350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43" y="1653695"/>
            <a:ext cx="7650353" cy="390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06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19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2753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31640" y="1491999"/>
            <a:ext cx="0" cy="467330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049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2994" y="231063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760" y="893555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</a:t>
            </a:r>
            <a:r>
              <a:rPr lang="en-AU" sz="2400" dirty="0"/>
              <a:t>W</a:t>
            </a:r>
            <a:r>
              <a:rPr lang="en-AU" sz="2400"/>
              <a:t>hat </a:t>
            </a:r>
            <a:r>
              <a:rPr lang="en-AU" sz="2400" dirty="0"/>
              <a:t>types of </a:t>
            </a:r>
            <a:r>
              <a:rPr lang="en-AU" sz="2400"/>
              <a:t>transformations can congruent figures undergo?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6530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052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42" y="1700808"/>
            <a:ext cx="7686141" cy="39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13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4885"/>
            <a:ext cx="6007063" cy="68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0"/>
            <a:ext cx="5362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33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09827"/>
            <a:ext cx="8229600" cy="1143000"/>
          </a:xfrm>
        </p:spPr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55679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1560" y="5733256"/>
            <a:ext cx="8339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Good, now fill out your Summaries!</a:t>
            </a:r>
          </a:p>
        </p:txBody>
      </p:sp>
    </p:spTree>
    <p:extLst>
      <p:ext uri="{BB962C8B-B14F-4D97-AF65-F5344CB8AC3E}">
        <p14:creationId xmlns:p14="http://schemas.microsoft.com/office/powerpoint/2010/main" val="11589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7073</TotalTime>
  <Words>454</Words>
  <Application>Microsoft Office PowerPoint</Application>
  <PresentationFormat>On-screen Show (4:3)</PresentationFormat>
  <Paragraphs>110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Comic Sans MS</vt:lpstr>
      <vt:lpstr>Impact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Which of these shapes are congruent?</vt:lpstr>
      <vt:lpstr>Your turn - Which of these shapes are congruent to the yellow one?</vt:lpstr>
      <vt:lpstr>Congruent shapes are all shown in yellow – were you right?</vt:lpstr>
      <vt:lpstr>PowerPoint Presentation</vt:lpstr>
      <vt:lpstr>Types of Transformations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85</cp:revision>
  <dcterms:created xsi:type="dcterms:W3CDTF">2014-05-14T02:58:57Z</dcterms:created>
  <dcterms:modified xsi:type="dcterms:W3CDTF">2018-11-18T06:09:39Z</dcterms:modified>
</cp:coreProperties>
</file>
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 id="302" r:id="rId4"/>
    <p:sldId id="258" r:id="rId5"/>
    <p:sldId id="259" r:id="rId6"/>
    <p:sldId id="260" r:id="rId7"/>
    <p:sldId id="261" r:id="rId8"/>
    <p:sldId id="303" r:id="rId9"/>
    <p:sldId id="30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712"/>
  </p:normalViewPr>
  <p:slideViewPr>
    <p:cSldViewPr snapToGrid="0" snapToObjects="1">
      <p:cViewPr varScale="1">
        <p:scale>
          <a:sx n="107" d="100"/>
          <a:sy n="107" d="100"/>
        </p:scale>
        <p:origin x="2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B336-E704-9144-B172-0E552A4FB0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106644-9A5D-BA4E-B38B-BC830F28D5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716485-5F7D-C547-B7FA-1D8BE2FEA613}"/>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D8A69717-F79F-8442-AF13-BA93BE3E1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7B947-3F26-F94E-BF65-074906105786}"/>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2066974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85A36-4933-9B4F-AF7D-D13F34FCFF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D578D5-E5B5-8E4B-9950-5F2F8AC995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A40190-607C-474F-9992-389780A0BFC7}"/>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5F4AD800-FF87-C842-9B9C-FD3963C9DE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8C0A7-0CA3-6546-A1A9-B9184E54FAA7}"/>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371198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892A8-1C62-6C4E-B686-22A8D9B989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D56179-9006-D543-9E1A-C683DE6C17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9F71144-0986-8648-BE73-F3E17950B84D}"/>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B32E1BF5-BE51-C148-9424-A64E279E8D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45E9F-A08A-3944-BC30-0E6DE3788518}"/>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235583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1A7E-D96D-134A-82C6-50B2D95787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F5EB0F-20BF-D34B-A403-F5EB8C4BD7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959401-EBF6-3B40-A980-35FA467829B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78865-DCC1-0F4F-A5D4-6D25656A05FB}"/>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6" name="Footer Placeholder 5">
            <a:extLst>
              <a:ext uri="{FF2B5EF4-FFF2-40B4-BE49-F238E27FC236}">
                <a16:creationId xmlns:a16="http://schemas.microsoft.com/office/drawing/2014/main" id="{1924CA52-DB84-0940-906B-5A44B7BE88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070A-FB9B-AD41-B71D-8AAC771A9D0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051646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EE4E-FD5D-6544-A16A-793C12C717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F53694-2E39-EC48-92BA-C663E98A7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60E25F7-82C2-7542-BFEF-293FC040092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B06DE1-7F12-5D44-ABE3-9A3A4F3915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FDACDAD-DB41-DC41-867F-68AD64D535E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A45116-394A-0E43-ADD9-B620A6569587}"/>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8" name="Footer Placeholder 7">
            <a:extLst>
              <a:ext uri="{FF2B5EF4-FFF2-40B4-BE49-F238E27FC236}">
                <a16:creationId xmlns:a16="http://schemas.microsoft.com/office/drawing/2014/main" id="{6BD42C14-377C-1D46-8743-3249107384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E8ADB1-CA80-0449-BACB-5CF9B7F8BE82}"/>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65105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5A1DD-DC5D-7C4F-A0AF-8DC241F2D7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248B39-C96B-994D-88B4-E94FA9E6FD27}"/>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4" name="Footer Placeholder 3">
            <a:extLst>
              <a:ext uri="{FF2B5EF4-FFF2-40B4-BE49-F238E27FC236}">
                <a16:creationId xmlns:a16="http://schemas.microsoft.com/office/drawing/2014/main" id="{9331F599-25B9-8448-90B1-D8175E3108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7E3E34-3D97-F141-9102-E57CA24B986F}"/>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04697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D16B8-5635-8840-BA94-D2BE29D7DC4A}"/>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3" name="Footer Placeholder 2">
            <a:extLst>
              <a:ext uri="{FF2B5EF4-FFF2-40B4-BE49-F238E27FC236}">
                <a16:creationId xmlns:a16="http://schemas.microsoft.com/office/drawing/2014/main" id="{075EED50-2D96-014C-8C2D-297F7C2E01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A4BB1E-F8FF-6F4B-B059-7C58E6262C91}"/>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226288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651D0-24AF-7445-9D72-D2160ADB0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F3690A-8125-B343-AF3E-D312539C18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94CF6C-2985-5A49-9293-9905F16B9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E1E6FB-2EF9-1B4D-BA5C-1859955E9333}"/>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6" name="Footer Placeholder 5">
            <a:extLst>
              <a:ext uri="{FF2B5EF4-FFF2-40B4-BE49-F238E27FC236}">
                <a16:creationId xmlns:a16="http://schemas.microsoft.com/office/drawing/2014/main" id="{16978EA0-8D88-1C4E-B0F7-00A9AEC532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6F69F6-CFC1-BC48-9EFF-4D457D4E236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707721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5CE8-9467-1D4B-942C-4A0B3A8FA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AC2041-438F-BE41-B15B-F16557A81E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DB62C2-C1C9-844E-82B9-0D615C7E1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7B7B91-E521-404C-BE24-335728FA901A}"/>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6" name="Footer Placeholder 5">
            <a:extLst>
              <a:ext uri="{FF2B5EF4-FFF2-40B4-BE49-F238E27FC236}">
                <a16:creationId xmlns:a16="http://schemas.microsoft.com/office/drawing/2014/main" id="{1745A222-CC7B-774F-9848-279ED0F52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AEE8FC-E748-4A4E-953A-911CDA02C06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137093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D820A-32A7-B545-BF55-DF14AD9E20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7FA161-434E-9845-A87D-1274BD50DE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C9F1A-F78E-5142-A6C5-E6BC166B3CBB}"/>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18673636-41BA-A54B-A7A0-35E3EEBB2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E2E7DC-9618-7A40-8973-6BE36F76DFFB}"/>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50633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0AB3AE-4AA2-9246-A7FA-42826440D7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9D8789-BA10-ED4D-8887-1EF46A316AE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DF40-4C2C-C242-B764-72326A18262B}"/>
              </a:ext>
            </a:extLst>
          </p:cNvPr>
          <p:cNvSpPr>
            <a:spLocks noGrp="1"/>
          </p:cNvSpPr>
          <p:nvPr>
            <p:ph type="dt" sz="half" idx="10"/>
          </p:nvPr>
        </p:nvSpPr>
        <p:spPr/>
        <p:txBody>
          <a:body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97572883-7958-AE49-BA5B-4F5AA7D6F8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B8BF02-FC52-8D47-AF92-6AD7964F4E8F}"/>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295802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4BA4B0-95BD-E74E-8B49-11E33D42A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4DC70A-3AE3-B44F-9DEC-E2AEA6463B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D95DB-FB34-D841-8937-3D0074D0F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771BDA-2DAE-E548-BEC0-6AC87B5E8323}" type="datetimeFigureOut">
              <a:rPr lang="en-US" smtClean="0"/>
              <a:t>10/7/18</a:t>
            </a:fld>
            <a:endParaRPr lang="en-US"/>
          </a:p>
        </p:txBody>
      </p:sp>
      <p:sp>
        <p:nvSpPr>
          <p:cNvPr id="5" name="Footer Placeholder 4">
            <a:extLst>
              <a:ext uri="{FF2B5EF4-FFF2-40B4-BE49-F238E27FC236}">
                <a16:creationId xmlns:a16="http://schemas.microsoft.com/office/drawing/2014/main" id="{976FE24A-13A4-8242-A08D-85D4B4BDF1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337374-6C51-BE49-85E6-CF17546E35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BB178B-F383-2E41-A9A1-862D6822EC79}" type="slidenum">
              <a:rPr lang="en-US" smtClean="0"/>
              <a:t>‹#›</a:t>
            </a:fld>
            <a:endParaRPr lang="en-US"/>
          </a:p>
        </p:txBody>
      </p:sp>
    </p:spTree>
    <p:extLst>
      <p:ext uri="{BB962C8B-B14F-4D97-AF65-F5344CB8AC3E}">
        <p14:creationId xmlns:p14="http://schemas.microsoft.com/office/powerpoint/2010/main" val="1915796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video" Target="https://www.youtube.com/embed/WsO7FL-sHzw?feature=oembed"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245B18-9C12-064E-AC33-73FBCE0011FD}"/>
              </a:ext>
            </a:extLst>
          </p:cNvPr>
          <p:cNvSpPr txBox="1"/>
          <p:nvPr/>
        </p:nvSpPr>
        <p:spPr>
          <a:xfrm>
            <a:off x="2078182" y="1805049"/>
            <a:ext cx="8110847" cy="1200329"/>
          </a:xfrm>
          <a:prstGeom prst="rect">
            <a:avLst/>
          </a:prstGeom>
          <a:noFill/>
        </p:spPr>
        <p:txBody>
          <a:bodyPr wrap="square" rtlCol="0">
            <a:spAutoFit/>
          </a:bodyPr>
          <a:lstStyle/>
          <a:p>
            <a:pPr algn="ctr"/>
            <a:r>
              <a:rPr lang="en-US" sz="7200" dirty="0">
                <a:latin typeface="Berlin Sans FB" panose="020E0602020502020306" pitchFamily="34" charset="77"/>
              </a:rPr>
              <a:t>Timetables</a:t>
            </a:r>
          </a:p>
        </p:txBody>
      </p:sp>
    </p:spTree>
    <p:extLst>
      <p:ext uri="{BB962C8B-B14F-4D97-AF65-F5344CB8AC3E}">
        <p14:creationId xmlns:p14="http://schemas.microsoft.com/office/powerpoint/2010/main" val="653866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4B5F33-8BF9-594A-8849-976D0FE20FFC}"/>
              </a:ext>
            </a:extLst>
          </p:cNvPr>
          <p:cNvSpPr txBox="1"/>
          <p:nvPr/>
        </p:nvSpPr>
        <p:spPr>
          <a:xfrm>
            <a:off x="855023" y="760021"/>
            <a:ext cx="10960925" cy="2862322"/>
          </a:xfrm>
          <a:prstGeom prst="rect">
            <a:avLst/>
          </a:prstGeom>
          <a:noFill/>
        </p:spPr>
        <p:txBody>
          <a:bodyPr wrap="square" rtlCol="0">
            <a:spAutoFit/>
          </a:bodyPr>
          <a:lstStyle/>
          <a:p>
            <a:r>
              <a:rPr lang="en-AU" b="1" dirty="0"/>
              <a:t>LO:</a:t>
            </a:r>
            <a:r>
              <a:rPr lang="en-AU" dirty="0"/>
              <a:t> To interpret and use timetables</a:t>
            </a:r>
            <a:br>
              <a:rPr lang="en-AU" dirty="0"/>
            </a:br>
            <a:br>
              <a:rPr lang="en-AU" b="1" dirty="0"/>
            </a:br>
            <a:r>
              <a:rPr lang="en-AU" b="1" dirty="0"/>
              <a:t>Know:</a:t>
            </a:r>
            <a:br>
              <a:rPr lang="en-AU" dirty="0"/>
            </a:br>
            <a:r>
              <a:rPr lang="en-AU" dirty="0"/>
              <a:t>that the concepts of time (hours, minutes, days)</a:t>
            </a:r>
            <a:br>
              <a:rPr lang="en-AU" dirty="0"/>
            </a:br>
            <a:r>
              <a:rPr lang="en-AU" dirty="0"/>
              <a:t>how to read a clock</a:t>
            </a:r>
            <a:br>
              <a:rPr lang="en-AU" dirty="0"/>
            </a:br>
            <a:br>
              <a:rPr lang="en-AU" b="1" dirty="0"/>
            </a:br>
            <a:r>
              <a:rPr lang="en-AU" b="1" dirty="0"/>
              <a:t>Understand:</a:t>
            </a:r>
            <a:br>
              <a:rPr lang="en-AU" dirty="0"/>
            </a:br>
            <a:r>
              <a:rPr lang="en-AU" dirty="0"/>
              <a:t>that timetables help us organize time</a:t>
            </a:r>
            <a:br>
              <a:rPr lang="en-AU" dirty="0"/>
            </a:br>
            <a:r>
              <a:rPr lang="en-AU" b="1" dirty="0"/>
              <a:t>Do:</a:t>
            </a:r>
            <a:br>
              <a:rPr lang="en-AU" dirty="0"/>
            </a:br>
            <a:r>
              <a:rPr lang="en-AU" dirty="0"/>
              <a:t>I interpret and use timetables</a:t>
            </a:r>
            <a:endParaRPr lang="en-US" dirty="0"/>
          </a:p>
        </p:txBody>
      </p:sp>
    </p:spTree>
    <p:extLst>
      <p:ext uri="{BB962C8B-B14F-4D97-AF65-F5344CB8AC3E}">
        <p14:creationId xmlns:p14="http://schemas.microsoft.com/office/powerpoint/2010/main" val="1542239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DC4C90-AA31-364F-A26F-473F2D425973}"/>
              </a:ext>
            </a:extLst>
          </p:cNvPr>
          <p:cNvSpPr txBox="1"/>
          <p:nvPr/>
        </p:nvSpPr>
        <p:spPr>
          <a:xfrm>
            <a:off x="10272714" y="6488114"/>
            <a:ext cx="549275" cy="369887"/>
          </a:xfrm>
          <a:prstGeom prst="rect">
            <a:avLst/>
          </a:prstGeom>
          <a:noFill/>
        </p:spPr>
        <p:txBody>
          <a:bodyPr>
            <a:spAutoFit/>
          </a:bodyPr>
          <a:lstStyle/>
          <a:p>
            <a:pPr>
              <a:defRPr/>
            </a:pPr>
            <a:r>
              <a:rPr lang="en-AU" dirty="0">
                <a:solidFill>
                  <a:prstClr val="black"/>
                </a:solidFill>
                <a:latin typeface="Calibri"/>
              </a:rPr>
              <a:t> 5</a:t>
            </a:r>
          </a:p>
        </p:txBody>
      </p:sp>
      <p:cxnSp>
        <p:nvCxnSpPr>
          <p:cNvPr id="4" name="Straight Connector 3">
            <a:extLst>
              <a:ext uri="{FF2B5EF4-FFF2-40B4-BE49-F238E27FC236}">
                <a16:creationId xmlns:a16="http://schemas.microsoft.com/office/drawing/2014/main" id="{FE160F9A-8A85-8D45-A440-BBAD4C810030}"/>
              </a:ext>
            </a:extLst>
          </p:cNvPr>
          <p:cNvCxnSpPr/>
          <p:nvPr/>
        </p:nvCxnSpPr>
        <p:spPr>
          <a:xfrm>
            <a:off x="1524000" y="842963"/>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BE6DC5A3-26ED-654C-9DA3-974E185FAC0A}"/>
              </a:ext>
            </a:extLst>
          </p:cNvPr>
          <p:cNvCxnSpPr/>
          <p:nvPr/>
        </p:nvCxnSpPr>
        <p:spPr>
          <a:xfrm>
            <a:off x="1524000" y="1401763"/>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EE69915A-E0D4-1B47-A23E-D7204099D993}"/>
              </a:ext>
            </a:extLst>
          </p:cNvPr>
          <p:cNvSpPr txBox="1"/>
          <p:nvPr/>
        </p:nvSpPr>
        <p:spPr>
          <a:xfrm>
            <a:off x="1690688" y="-12700"/>
            <a:ext cx="576262" cy="830263"/>
          </a:xfrm>
          <a:prstGeom prst="rect">
            <a:avLst/>
          </a:prstGeom>
          <a:noFill/>
        </p:spPr>
        <p:txBody>
          <a:bodyPr>
            <a:spAutoFit/>
          </a:bodyPr>
          <a:lstStyle/>
          <a:p>
            <a:pPr>
              <a:defRPr/>
            </a:pPr>
            <a:r>
              <a:rPr lang="en-AU" sz="1600" dirty="0">
                <a:solidFill>
                  <a:prstClr val="black"/>
                </a:solidFill>
                <a:latin typeface="Calibri"/>
              </a:rPr>
              <a:t>24</a:t>
            </a:r>
          </a:p>
          <a:p>
            <a:pPr>
              <a:defRPr/>
            </a:pPr>
            <a:r>
              <a:rPr lang="en-AU" sz="1600" dirty="0">
                <a:solidFill>
                  <a:prstClr val="black"/>
                </a:solidFill>
                <a:latin typeface="Calibri"/>
              </a:rPr>
              <a:t>7</a:t>
            </a:r>
          </a:p>
          <a:p>
            <a:pPr>
              <a:defRPr/>
            </a:pPr>
            <a:r>
              <a:rPr lang="en-AU" sz="1600" dirty="0">
                <a:solidFill>
                  <a:prstClr val="black"/>
                </a:solidFill>
                <a:latin typeface="Calibri"/>
              </a:rPr>
              <a:t>30</a:t>
            </a:r>
          </a:p>
        </p:txBody>
      </p:sp>
      <p:cxnSp>
        <p:nvCxnSpPr>
          <p:cNvPr id="9" name="Straight Connector 8">
            <a:extLst>
              <a:ext uri="{FF2B5EF4-FFF2-40B4-BE49-F238E27FC236}">
                <a16:creationId xmlns:a16="http://schemas.microsoft.com/office/drawing/2014/main" id="{72A1DB93-2495-7443-BC06-C6109F0F683C}"/>
              </a:ext>
            </a:extLst>
          </p:cNvPr>
          <p:cNvCxnSpPr/>
          <p:nvPr/>
        </p:nvCxnSpPr>
        <p:spPr>
          <a:xfrm>
            <a:off x="3000375" y="1406525"/>
            <a:ext cx="0" cy="4686300"/>
          </a:xfrm>
          <a:prstGeom prst="line">
            <a:avLst/>
          </a:prstGeom>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6611BDE8-5363-7B47-B6DB-57B0E0C23E81}"/>
              </a:ext>
            </a:extLst>
          </p:cNvPr>
          <p:cNvSpPr txBox="1"/>
          <p:nvPr/>
        </p:nvSpPr>
        <p:spPr>
          <a:xfrm>
            <a:off x="8963026" y="106363"/>
            <a:ext cx="1584325" cy="461962"/>
          </a:xfrm>
          <a:prstGeom prst="rect">
            <a:avLst/>
          </a:prstGeom>
          <a:noFill/>
        </p:spPr>
        <p:txBody>
          <a:bodyPr>
            <a:spAutoFit/>
          </a:bodyPr>
          <a:lstStyle/>
          <a:p>
            <a:pPr>
              <a:defRPr/>
            </a:pPr>
            <a:r>
              <a:rPr lang="en-AU" sz="2400" dirty="0">
                <a:solidFill>
                  <a:prstClr val="black"/>
                </a:solidFill>
                <a:latin typeface="Calibri"/>
              </a:rPr>
              <a:t>Date</a:t>
            </a:r>
          </a:p>
        </p:txBody>
      </p:sp>
      <p:sp>
        <p:nvSpPr>
          <p:cNvPr id="12" name="TextBox 11">
            <a:extLst>
              <a:ext uri="{FF2B5EF4-FFF2-40B4-BE49-F238E27FC236}">
                <a16:creationId xmlns:a16="http://schemas.microsoft.com/office/drawing/2014/main" id="{FA6FCBE5-B880-BC4F-A6EF-FC8757B7EFAE}"/>
              </a:ext>
            </a:extLst>
          </p:cNvPr>
          <p:cNvSpPr txBox="1"/>
          <p:nvPr/>
        </p:nvSpPr>
        <p:spPr>
          <a:xfrm>
            <a:off x="1652589" y="935038"/>
            <a:ext cx="8620125" cy="461962"/>
          </a:xfrm>
          <a:prstGeom prst="rect">
            <a:avLst/>
          </a:prstGeom>
          <a:noFill/>
        </p:spPr>
        <p:txBody>
          <a:bodyPr>
            <a:spAutoFit/>
          </a:bodyPr>
          <a:lstStyle/>
          <a:p>
            <a:pPr>
              <a:defRPr/>
            </a:pPr>
            <a:r>
              <a:rPr lang="en-AU" sz="2400" dirty="0">
                <a:solidFill>
                  <a:prstClr val="black"/>
                </a:solidFill>
                <a:latin typeface="Calibri"/>
              </a:rPr>
              <a:t>EQ – How I read, interpret and use a timetable?</a:t>
            </a:r>
          </a:p>
        </p:txBody>
      </p:sp>
      <p:sp>
        <p:nvSpPr>
          <p:cNvPr id="16" name="TextBox 15">
            <a:extLst>
              <a:ext uri="{FF2B5EF4-FFF2-40B4-BE49-F238E27FC236}">
                <a16:creationId xmlns:a16="http://schemas.microsoft.com/office/drawing/2014/main" id="{8DE36841-B833-394F-8CDB-5836880CB127}"/>
              </a:ext>
            </a:extLst>
          </p:cNvPr>
          <p:cNvSpPr txBox="1"/>
          <p:nvPr/>
        </p:nvSpPr>
        <p:spPr>
          <a:xfrm>
            <a:off x="2357439" y="296864"/>
            <a:ext cx="1781385" cy="523220"/>
          </a:xfrm>
          <a:prstGeom prst="rect">
            <a:avLst/>
          </a:prstGeom>
          <a:noFill/>
        </p:spPr>
        <p:txBody>
          <a:bodyPr wrap="none">
            <a:spAutoFit/>
          </a:bodyPr>
          <a:lstStyle/>
          <a:p>
            <a:pPr>
              <a:defRPr/>
            </a:pPr>
            <a:r>
              <a:rPr lang="en-AU" sz="2800" dirty="0">
                <a:solidFill>
                  <a:prstClr val="black"/>
                </a:solidFill>
                <a:latin typeface="Calibri"/>
              </a:rPr>
              <a:t>Timetables</a:t>
            </a:r>
          </a:p>
        </p:txBody>
      </p:sp>
      <p:cxnSp>
        <p:nvCxnSpPr>
          <p:cNvPr id="19" name="Straight Connector 18">
            <a:extLst>
              <a:ext uri="{FF2B5EF4-FFF2-40B4-BE49-F238E27FC236}">
                <a16:creationId xmlns:a16="http://schemas.microsoft.com/office/drawing/2014/main" id="{BDF9A3B4-1911-984E-88C3-005E2571C29F}"/>
              </a:ext>
            </a:extLst>
          </p:cNvPr>
          <p:cNvCxnSpPr/>
          <p:nvPr/>
        </p:nvCxnSpPr>
        <p:spPr>
          <a:xfrm>
            <a:off x="1524000" y="6092825"/>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2A18ADBB-7C1A-7B43-8312-E9E210CF1C32}"/>
              </a:ext>
            </a:extLst>
          </p:cNvPr>
          <p:cNvSpPr txBox="1"/>
          <p:nvPr/>
        </p:nvSpPr>
        <p:spPr>
          <a:xfrm>
            <a:off x="1557339" y="6119813"/>
            <a:ext cx="1139825" cy="368300"/>
          </a:xfrm>
          <a:prstGeom prst="rect">
            <a:avLst/>
          </a:prstGeom>
          <a:noFill/>
        </p:spPr>
        <p:txBody>
          <a:bodyPr wrap="none">
            <a:spAutoFit/>
          </a:bodyPr>
          <a:lstStyle/>
          <a:p>
            <a:pPr>
              <a:defRPr/>
            </a:pPr>
            <a:r>
              <a:rPr lang="en-US">
                <a:solidFill>
                  <a:prstClr val="black"/>
                </a:solidFill>
                <a:latin typeface="Calibri"/>
              </a:rPr>
              <a:t>Summary:</a:t>
            </a:r>
          </a:p>
        </p:txBody>
      </p:sp>
      <p:sp>
        <p:nvSpPr>
          <p:cNvPr id="3" name="TextBox 2">
            <a:extLst>
              <a:ext uri="{FF2B5EF4-FFF2-40B4-BE49-F238E27FC236}">
                <a16:creationId xmlns:a16="http://schemas.microsoft.com/office/drawing/2014/main" id="{87655818-D77F-F04A-9DC1-C7B244D1A8F6}"/>
              </a:ext>
            </a:extLst>
          </p:cNvPr>
          <p:cNvSpPr txBox="1"/>
          <p:nvPr/>
        </p:nvSpPr>
        <p:spPr>
          <a:xfrm>
            <a:off x="3218213" y="1626919"/>
            <a:ext cx="7449787" cy="1477328"/>
          </a:xfrm>
          <a:prstGeom prst="rect">
            <a:avLst/>
          </a:prstGeom>
          <a:noFill/>
        </p:spPr>
        <p:txBody>
          <a:bodyPr wrap="square" rtlCol="0">
            <a:spAutoFit/>
          </a:bodyPr>
          <a:lstStyle/>
          <a:p>
            <a:r>
              <a:rPr lang="en-AU" dirty="0"/>
              <a:t>Timetables help us organise schedules. There are many different types of timetables in our everyday lives such as bus, TV, movie and even class timetables.</a:t>
            </a:r>
          </a:p>
          <a:p>
            <a:r>
              <a:rPr lang="en-AU" dirty="0"/>
              <a:t>We need to calculate elapsed time in order to work out timetables.</a:t>
            </a:r>
          </a:p>
          <a:p>
            <a:endParaRPr lang="en-US" dirty="0"/>
          </a:p>
        </p:txBody>
      </p:sp>
    </p:spTree>
    <p:extLst>
      <p:ext uri="{BB962C8B-B14F-4D97-AF65-F5344CB8AC3E}">
        <p14:creationId xmlns:p14="http://schemas.microsoft.com/office/powerpoint/2010/main" val="4063146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imetables - Corbettmaths">
            <a:hlinkClick r:id="" action="ppaction://media"/>
            <a:extLst>
              <a:ext uri="{FF2B5EF4-FFF2-40B4-BE49-F238E27FC236}">
                <a16:creationId xmlns:a16="http://schemas.microsoft.com/office/drawing/2014/main" id="{277B83DA-E187-D740-A4FE-53646B498FC3}"/>
              </a:ext>
            </a:extLst>
          </p:cNvPr>
          <p:cNvPicPr>
            <a:picLocks noRot="1" noChangeAspect="1"/>
          </p:cNvPicPr>
          <p:nvPr>
            <a:videoFile r:link="rId1"/>
          </p:nvPr>
        </p:nvPicPr>
        <p:blipFill>
          <a:blip r:embed="rId3"/>
          <a:stretch>
            <a:fillRect/>
          </a:stretch>
        </p:blipFill>
        <p:spPr>
          <a:xfrm>
            <a:off x="3048000" y="1714500"/>
            <a:ext cx="6096000" cy="3429000"/>
          </a:xfrm>
          <a:prstGeom prst="rect">
            <a:avLst/>
          </a:prstGeom>
        </p:spPr>
      </p:pic>
    </p:spTree>
    <p:extLst>
      <p:ext uri="{BB962C8B-B14F-4D97-AF65-F5344CB8AC3E}">
        <p14:creationId xmlns:p14="http://schemas.microsoft.com/office/powerpoint/2010/main" val="202978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97EAD6-EE45-794F-858C-84C440C39684}"/>
              </a:ext>
            </a:extLst>
          </p:cNvPr>
          <p:cNvPicPr>
            <a:picLocks noChangeAspect="1"/>
          </p:cNvPicPr>
          <p:nvPr/>
        </p:nvPicPr>
        <p:blipFill>
          <a:blip r:embed="rId2"/>
          <a:stretch>
            <a:fillRect/>
          </a:stretch>
        </p:blipFill>
        <p:spPr>
          <a:xfrm>
            <a:off x="403762" y="1802104"/>
            <a:ext cx="11459687" cy="6644352"/>
          </a:xfrm>
          <a:prstGeom prst="rect">
            <a:avLst/>
          </a:prstGeom>
        </p:spPr>
      </p:pic>
      <p:sp>
        <p:nvSpPr>
          <p:cNvPr id="3" name="TextBox 2">
            <a:extLst>
              <a:ext uri="{FF2B5EF4-FFF2-40B4-BE49-F238E27FC236}">
                <a16:creationId xmlns:a16="http://schemas.microsoft.com/office/drawing/2014/main" id="{62098193-17B1-CE47-A727-4AB1FA7448E2}"/>
              </a:ext>
            </a:extLst>
          </p:cNvPr>
          <p:cNvSpPr txBox="1"/>
          <p:nvPr/>
        </p:nvSpPr>
        <p:spPr>
          <a:xfrm>
            <a:off x="296884" y="142504"/>
            <a:ext cx="712520" cy="369332"/>
          </a:xfrm>
          <a:prstGeom prst="rect">
            <a:avLst/>
          </a:prstGeom>
          <a:noFill/>
        </p:spPr>
        <p:txBody>
          <a:bodyPr wrap="square" rtlCol="0">
            <a:spAutoFit/>
          </a:bodyPr>
          <a:lstStyle/>
          <a:p>
            <a:r>
              <a:rPr lang="en-US" dirty="0"/>
              <a:t>I Do</a:t>
            </a:r>
          </a:p>
        </p:txBody>
      </p:sp>
      <p:sp>
        <p:nvSpPr>
          <p:cNvPr id="4" name="TextBox 3">
            <a:extLst>
              <a:ext uri="{FF2B5EF4-FFF2-40B4-BE49-F238E27FC236}">
                <a16:creationId xmlns:a16="http://schemas.microsoft.com/office/drawing/2014/main" id="{A7C05195-17AD-704E-9E6B-0C3970C1F409}"/>
              </a:ext>
            </a:extLst>
          </p:cNvPr>
          <p:cNvSpPr txBox="1"/>
          <p:nvPr/>
        </p:nvSpPr>
        <p:spPr>
          <a:xfrm>
            <a:off x="296884" y="878774"/>
            <a:ext cx="10105900" cy="923330"/>
          </a:xfrm>
          <a:prstGeom prst="rect">
            <a:avLst/>
          </a:prstGeom>
          <a:noFill/>
        </p:spPr>
        <p:txBody>
          <a:bodyPr wrap="square" rtlCol="0">
            <a:spAutoFit/>
          </a:bodyPr>
          <a:lstStyle/>
          <a:p>
            <a:r>
              <a:rPr lang="en-US" dirty="0"/>
              <a:t>If I want to catch the train to Perth that departs Mandurah at 11.42am, what time do I need to be at the </a:t>
            </a:r>
            <a:r>
              <a:rPr lang="en-US" dirty="0" err="1"/>
              <a:t>Warnbro</a:t>
            </a:r>
            <a:r>
              <a:rPr lang="en-US" dirty="0"/>
              <a:t> station in order to catch it?</a:t>
            </a:r>
          </a:p>
          <a:p>
            <a:r>
              <a:rPr lang="en-US" dirty="0"/>
              <a:t>How long will the trip to Perth Underground take?</a:t>
            </a:r>
          </a:p>
        </p:txBody>
      </p:sp>
    </p:spTree>
    <p:extLst>
      <p:ext uri="{BB962C8B-B14F-4D97-AF65-F5344CB8AC3E}">
        <p14:creationId xmlns:p14="http://schemas.microsoft.com/office/powerpoint/2010/main" val="959235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E053D-865E-B941-9DE0-AD2FDA9EA197}"/>
              </a:ext>
            </a:extLst>
          </p:cNvPr>
          <p:cNvSpPr txBox="1"/>
          <p:nvPr/>
        </p:nvSpPr>
        <p:spPr>
          <a:xfrm>
            <a:off x="201882" y="118753"/>
            <a:ext cx="938150" cy="369332"/>
          </a:xfrm>
          <a:prstGeom prst="rect">
            <a:avLst/>
          </a:prstGeom>
          <a:noFill/>
        </p:spPr>
        <p:txBody>
          <a:bodyPr wrap="square" rtlCol="0">
            <a:spAutoFit/>
          </a:bodyPr>
          <a:lstStyle/>
          <a:p>
            <a:r>
              <a:rPr lang="en-US" dirty="0"/>
              <a:t>We Do</a:t>
            </a:r>
          </a:p>
        </p:txBody>
      </p:sp>
      <p:pic>
        <p:nvPicPr>
          <p:cNvPr id="3" name="Picture 2">
            <a:extLst>
              <a:ext uri="{FF2B5EF4-FFF2-40B4-BE49-F238E27FC236}">
                <a16:creationId xmlns:a16="http://schemas.microsoft.com/office/drawing/2014/main" id="{9DDE48EA-79CA-DC48-8415-913D2D14A7BC}"/>
              </a:ext>
            </a:extLst>
          </p:cNvPr>
          <p:cNvPicPr>
            <a:picLocks noChangeAspect="1"/>
          </p:cNvPicPr>
          <p:nvPr/>
        </p:nvPicPr>
        <p:blipFill>
          <a:blip r:embed="rId2"/>
          <a:stretch>
            <a:fillRect/>
          </a:stretch>
        </p:blipFill>
        <p:spPr>
          <a:xfrm>
            <a:off x="320634" y="1449721"/>
            <a:ext cx="9856727" cy="5408279"/>
          </a:xfrm>
          <a:prstGeom prst="rect">
            <a:avLst/>
          </a:prstGeom>
        </p:spPr>
      </p:pic>
      <p:sp>
        <p:nvSpPr>
          <p:cNvPr id="4" name="TextBox 3">
            <a:extLst>
              <a:ext uri="{FF2B5EF4-FFF2-40B4-BE49-F238E27FC236}">
                <a16:creationId xmlns:a16="http://schemas.microsoft.com/office/drawing/2014/main" id="{F111B722-427C-704A-8601-D24B53D9CB9E}"/>
              </a:ext>
            </a:extLst>
          </p:cNvPr>
          <p:cNvSpPr txBox="1"/>
          <p:nvPr/>
        </p:nvSpPr>
        <p:spPr>
          <a:xfrm>
            <a:off x="320634" y="617517"/>
            <a:ext cx="11732821" cy="923330"/>
          </a:xfrm>
          <a:prstGeom prst="rect">
            <a:avLst/>
          </a:prstGeom>
          <a:noFill/>
        </p:spPr>
        <p:txBody>
          <a:bodyPr wrap="square" rtlCol="0">
            <a:spAutoFit/>
          </a:bodyPr>
          <a:lstStyle/>
          <a:p>
            <a:r>
              <a:rPr lang="en-US" dirty="0"/>
              <a:t>When leaving Perth, I want to get the train that will get me to </a:t>
            </a:r>
            <a:r>
              <a:rPr lang="en-US" dirty="0" err="1"/>
              <a:t>Warnbro</a:t>
            </a:r>
            <a:r>
              <a:rPr lang="en-US" dirty="0"/>
              <a:t> by Midnight as I’m being picked up then.</a:t>
            </a:r>
          </a:p>
          <a:p>
            <a:r>
              <a:rPr lang="en-US" dirty="0"/>
              <a:t>What is the latest train I can get?</a:t>
            </a:r>
          </a:p>
          <a:p>
            <a:r>
              <a:rPr lang="en-US" dirty="0"/>
              <a:t>How long will the trip take?</a:t>
            </a:r>
          </a:p>
        </p:txBody>
      </p:sp>
    </p:spTree>
    <p:extLst>
      <p:ext uri="{BB962C8B-B14F-4D97-AF65-F5344CB8AC3E}">
        <p14:creationId xmlns:p14="http://schemas.microsoft.com/office/powerpoint/2010/main" val="124026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838605-C905-C942-AA46-C4459BEBCAAF}"/>
              </a:ext>
            </a:extLst>
          </p:cNvPr>
          <p:cNvSpPr txBox="1"/>
          <p:nvPr/>
        </p:nvSpPr>
        <p:spPr>
          <a:xfrm>
            <a:off x="213756" y="225631"/>
            <a:ext cx="2291938" cy="369332"/>
          </a:xfrm>
          <a:prstGeom prst="rect">
            <a:avLst/>
          </a:prstGeom>
          <a:noFill/>
        </p:spPr>
        <p:txBody>
          <a:bodyPr wrap="square" rtlCol="0">
            <a:spAutoFit/>
          </a:bodyPr>
          <a:lstStyle/>
          <a:p>
            <a:r>
              <a:rPr lang="en-US" dirty="0"/>
              <a:t>You Do.</a:t>
            </a:r>
          </a:p>
        </p:txBody>
      </p:sp>
      <p:sp>
        <p:nvSpPr>
          <p:cNvPr id="3" name="TextBox 2">
            <a:extLst>
              <a:ext uri="{FF2B5EF4-FFF2-40B4-BE49-F238E27FC236}">
                <a16:creationId xmlns:a16="http://schemas.microsoft.com/office/drawing/2014/main" id="{6369C7F2-3110-1A41-8C13-F18D59875D1E}"/>
              </a:ext>
            </a:extLst>
          </p:cNvPr>
          <p:cNvSpPr txBox="1"/>
          <p:nvPr/>
        </p:nvSpPr>
        <p:spPr>
          <a:xfrm>
            <a:off x="213756" y="819397"/>
            <a:ext cx="11709070" cy="646331"/>
          </a:xfrm>
          <a:prstGeom prst="rect">
            <a:avLst/>
          </a:prstGeom>
          <a:noFill/>
        </p:spPr>
        <p:txBody>
          <a:bodyPr wrap="square" rtlCol="0">
            <a:spAutoFit/>
          </a:bodyPr>
          <a:lstStyle/>
          <a:p>
            <a:r>
              <a:rPr lang="en-US" dirty="0"/>
              <a:t>Using the Simpsons Timetable, answer the questions and then calculate how long each trip will take..</a:t>
            </a:r>
          </a:p>
          <a:p>
            <a:endParaRPr lang="en-US" dirty="0"/>
          </a:p>
        </p:txBody>
      </p:sp>
    </p:spTree>
    <p:extLst>
      <p:ext uri="{BB962C8B-B14F-4D97-AF65-F5344CB8AC3E}">
        <p14:creationId xmlns:p14="http://schemas.microsoft.com/office/powerpoint/2010/main" val="3826030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9D67-3443-CB45-8736-BB562C6F0397}"/>
              </a:ext>
            </a:extLst>
          </p:cNvPr>
          <p:cNvSpPr>
            <a:spLocks noGrp="1"/>
          </p:cNvSpPr>
          <p:nvPr>
            <p:ph type="title"/>
          </p:nvPr>
        </p:nvSpPr>
        <p:spPr/>
        <p:txBody>
          <a:bodyPr/>
          <a:lstStyle/>
          <a:p>
            <a:r>
              <a:rPr lang="en-US" dirty="0"/>
              <a:t>Extension Question.</a:t>
            </a:r>
          </a:p>
        </p:txBody>
      </p:sp>
      <p:sp>
        <p:nvSpPr>
          <p:cNvPr id="3" name="Content Placeholder 2">
            <a:extLst>
              <a:ext uri="{FF2B5EF4-FFF2-40B4-BE49-F238E27FC236}">
                <a16:creationId xmlns:a16="http://schemas.microsoft.com/office/drawing/2014/main" id="{526D86D9-57CF-5045-8A7A-C0DC202BF82D}"/>
              </a:ext>
            </a:extLst>
          </p:cNvPr>
          <p:cNvSpPr>
            <a:spLocks noGrp="1"/>
          </p:cNvSpPr>
          <p:nvPr>
            <p:ph idx="1"/>
          </p:nvPr>
        </p:nvSpPr>
        <p:spPr/>
        <p:txBody>
          <a:bodyPr/>
          <a:lstStyle/>
          <a:p>
            <a:r>
              <a:rPr lang="en-AU" dirty="0"/>
              <a:t>Three trains travel from City Station to Farmland Station on the same morning. The Express leaves City 10 minutes after the All Stations train, but arrives at Farmland 10 minutes before it.</a:t>
            </a:r>
          </a:p>
          <a:p>
            <a:r>
              <a:rPr lang="en-AU" dirty="0"/>
              <a:t>The All Stations takes 50 minutes to reach Farmland and arrives at 10:30.</a:t>
            </a:r>
          </a:p>
          <a:p>
            <a:r>
              <a:rPr lang="en-AU" dirty="0"/>
              <a:t>The Goods train leaves 20 minutes before the All Stations and arrives at Farmland 20 minutes after the Express.</a:t>
            </a:r>
          </a:p>
          <a:p>
            <a:r>
              <a:rPr lang="en-AU" dirty="0"/>
              <a:t>Work out the timetable. That is; what time does each train leave City Station and what time does each train arrive at Farmland Station?</a:t>
            </a:r>
          </a:p>
          <a:p>
            <a:pPr marL="0" indent="0">
              <a:buNone/>
            </a:pPr>
            <a:endParaRPr lang="en-US" dirty="0"/>
          </a:p>
        </p:txBody>
      </p:sp>
    </p:spTree>
    <p:extLst>
      <p:ext uri="{BB962C8B-B14F-4D97-AF65-F5344CB8AC3E}">
        <p14:creationId xmlns:p14="http://schemas.microsoft.com/office/powerpoint/2010/main" val="2537367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D0A6-AFAC-4B43-A392-BA6206D0F9FC}"/>
              </a:ext>
            </a:extLst>
          </p:cNvPr>
          <p:cNvSpPr>
            <a:spLocks noGrp="1"/>
          </p:cNvSpPr>
          <p:nvPr>
            <p:ph type="title"/>
          </p:nvPr>
        </p:nvSpPr>
        <p:spPr/>
        <p:txBody>
          <a:bodyPr>
            <a:normAutofit/>
          </a:bodyPr>
          <a:lstStyle/>
          <a:p>
            <a:r>
              <a:rPr lang="en-US" sz="2000" dirty="0"/>
              <a:t>Think, Pair, Share.</a:t>
            </a:r>
          </a:p>
        </p:txBody>
      </p:sp>
      <p:sp>
        <p:nvSpPr>
          <p:cNvPr id="3" name="Content Placeholder 2">
            <a:extLst>
              <a:ext uri="{FF2B5EF4-FFF2-40B4-BE49-F238E27FC236}">
                <a16:creationId xmlns:a16="http://schemas.microsoft.com/office/drawing/2014/main" id="{3C0EA6B4-A831-4C4A-9FB0-E4619D356C94}"/>
              </a:ext>
            </a:extLst>
          </p:cNvPr>
          <p:cNvSpPr>
            <a:spLocks noGrp="1"/>
          </p:cNvSpPr>
          <p:nvPr>
            <p:ph idx="1"/>
          </p:nvPr>
        </p:nvSpPr>
        <p:spPr/>
        <p:txBody>
          <a:bodyPr/>
          <a:lstStyle/>
          <a:p>
            <a:r>
              <a:rPr lang="en-US" dirty="0"/>
              <a:t>Think - Take 1 minute to think about how we read timetables and calculate the time a trip takes.</a:t>
            </a:r>
          </a:p>
          <a:p>
            <a:endParaRPr lang="en-US" dirty="0"/>
          </a:p>
          <a:p>
            <a:r>
              <a:rPr lang="en-US" dirty="0"/>
              <a:t>Pair – Spend 2 minutes telling your partner how you would read a timetable and calculate the time a trip takes.</a:t>
            </a:r>
          </a:p>
          <a:p>
            <a:endParaRPr lang="en-US" dirty="0"/>
          </a:p>
          <a:p>
            <a:r>
              <a:rPr lang="en-US" dirty="0"/>
              <a:t>Share – Find 1 other person in class </a:t>
            </a:r>
            <a:r>
              <a:rPr lang="en-US" b="1" i="1" u="sng" dirty="0">
                <a:solidFill>
                  <a:srgbClr val="FF0000"/>
                </a:solidFill>
              </a:rPr>
              <a:t>you don’t normally speak to</a:t>
            </a:r>
            <a:r>
              <a:rPr lang="en-US" dirty="0">
                <a:solidFill>
                  <a:srgbClr val="FF0000"/>
                </a:solidFill>
              </a:rPr>
              <a:t> </a:t>
            </a:r>
            <a:r>
              <a:rPr lang="en-US" dirty="0"/>
              <a:t>and share with them, your strategies.</a:t>
            </a:r>
          </a:p>
        </p:txBody>
      </p:sp>
    </p:spTree>
    <p:extLst>
      <p:ext uri="{BB962C8B-B14F-4D97-AF65-F5344CB8AC3E}">
        <p14:creationId xmlns:p14="http://schemas.microsoft.com/office/powerpoint/2010/main" val="3736731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342</Words>
  <Application>Microsoft Macintosh PowerPoint</Application>
  <PresentationFormat>Widescreen</PresentationFormat>
  <Paragraphs>32</Paragraphs>
  <Slides>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Berlin Sans FB</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Extension Question.</vt:lpstr>
      <vt:lpstr>Think, Pair, Share.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EVANS Clem [Baldivis Secondary College]</dc:creator>
  <cp:lastModifiedBy>EVANS Clem [Baldivis Secondary College]</cp:lastModifiedBy>
  <cp:revision>6</cp:revision>
  <dcterms:created xsi:type="dcterms:W3CDTF">2018-10-07T01:22:16Z</dcterms:created>
  <dcterms:modified xsi:type="dcterms:W3CDTF">2018-10-07T02:06:34Z</dcterms:modified>
</cp:coreProperties>
</file>
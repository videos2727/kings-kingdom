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83" r:id="rId3"/>
    <p:sldId id="297" r:id="rId4"/>
    <p:sldId id="310" r:id="rId5"/>
    <p:sldId id="308" r:id="rId6"/>
    <p:sldId id="311" r:id="rId7"/>
    <p:sldId id="312" r:id="rId8"/>
    <p:sldId id="313" r:id="rId9"/>
    <p:sldId id="318" r:id="rId10"/>
    <p:sldId id="314" r:id="rId11"/>
    <p:sldId id="315" r:id="rId12"/>
    <p:sldId id="316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845C7F-3109-498E-829F-27560310B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72052"/>
              </p:ext>
            </p:extLst>
          </p:nvPr>
        </p:nvGraphicFramePr>
        <p:xfrm>
          <a:off x="1524000" y="153826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595305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427087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92015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502299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18463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9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47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6D7FE8-9C1C-406C-964D-94A838335D9B}"/>
              </a:ext>
            </a:extLst>
          </p:cNvPr>
          <p:cNvSpPr txBox="1"/>
          <p:nvPr/>
        </p:nvSpPr>
        <p:spPr>
          <a:xfrm>
            <a:off x="1395046" y="933310"/>
            <a:ext cx="4453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rule for this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243B7-76D4-4A6A-942D-FED3500242DE}"/>
              </a:ext>
            </a:extLst>
          </p:cNvPr>
          <p:cNvSpPr txBox="1"/>
          <p:nvPr/>
        </p:nvSpPr>
        <p:spPr>
          <a:xfrm>
            <a:off x="422031" y="386862"/>
            <a:ext cx="519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yesterday.. </a:t>
            </a:r>
          </a:p>
        </p:txBody>
      </p:sp>
    </p:spTree>
    <p:extLst>
      <p:ext uri="{BB962C8B-B14F-4D97-AF65-F5344CB8AC3E}">
        <p14:creationId xmlns:p14="http://schemas.microsoft.com/office/powerpoint/2010/main" val="3468748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56" y="179844"/>
            <a:ext cx="74234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Yesterday we looked at how we could use linear relationships to find the cost of an electrician.  Today we have 3 electrician quotes to compare.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1= $40 per hour +  $100 call out fee</a:t>
            </a:r>
          </a:p>
          <a:p>
            <a:r>
              <a:rPr lang="en-AU" dirty="0"/>
              <a:t>			Starts at $100 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$40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2 = $150 call out fee and $35 per hour</a:t>
            </a:r>
          </a:p>
          <a:p>
            <a:r>
              <a:rPr lang="en-AU" dirty="0"/>
              <a:t>			Starts at $150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$35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3 = $50 call out fee and $50 per hour</a:t>
            </a:r>
          </a:p>
          <a:p>
            <a:r>
              <a:rPr lang="en-AU" dirty="0"/>
              <a:t>			Starts at $50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  <a:r>
              <a:rPr lang="en-AU" dirty="0"/>
              <a:t>			goes up each hour $50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We need to decide which is the cheapest quote.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+ $35 per hour        or  ________________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20726"/>
              </p:ext>
            </p:extLst>
          </p:nvPr>
        </p:nvGraphicFramePr>
        <p:xfrm>
          <a:off x="1392533" y="102272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x</a:t>
                      </a:r>
                      <a:r>
                        <a:rPr lang="en-AU" b="0" i="0" dirty="0">
                          <a:latin typeface="+mn-lt"/>
                        </a:rPr>
                        <a:t>)</a:t>
                      </a:r>
                      <a:endParaRPr lang="en-AU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 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y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22940"/>
              </p:ext>
            </p:extLst>
          </p:nvPr>
        </p:nvGraphicFramePr>
        <p:xfrm>
          <a:off x="1392533" y="243350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78632"/>
              </p:ext>
            </p:extLst>
          </p:nvPr>
        </p:nvGraphicFramePr>
        <p:xfrm>
          <a:off x="1513950" y="405921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could look at all 3 as tables.</a:t>
            </a:r>
          </a:p>
        </p:txBody>
      </p:sp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per hour  + $50       or  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We can also use these tables to get the rules.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C920A-7765-4ACA-AE3A-C9BC1F3E7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8830"/>
              </p:ext>
            </p:extLst>
          </p:nvPr>
        </p:nvGraphicFramePr>
        <p:xfrm>
          <a:off x="1402931" y="10285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17586-B5F9-4759-8BEF-448B66726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06387"/>
              </p:ext>
            </p:extLst>
          </p:nvPr>
        </p:nvGraphicFramePr>
        <p:xfrm>
          <a:off x="1402931" y="24393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A7DCC0-2418-40EB-BD5E-06EB9640B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12362"/>
              </p:ext>
            </p:extLst>
          </p:nvPr>
        </p:nvGraphicFramePr>
        <p:xfrm>
          <a:off x="1524348" y="40650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does all of this help?</a:t>
                </a:r>
              </a:p>
              <a:p>
                <a:r>
                  <a:rPr lang="en-AU" dirty="0"/>
                  <a:t>	You have now been told that there is 12 hours of work to be completed (it’s a major re-wire of several apartments).  So which is cheapest?</a:t>
                </a:r>
              </a:p>
              <a:p>
                <a:endParaRPr lang="en-AU" dirty="0"/>
              </a:p>
              <a:p>
                <a:r>
                  <a:rPr lang="en-AU" dirty="0"/>
                  <a:t>Quote 1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hours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          </a:t>
                </a:r>
                <a:r>
                  <a:rPr lang="en-AU" b="1" dirty="0">
                    <a:solidFill>
                      <a:schemeClr val="tx1"/>
                    </a:solidFill>
                  </a:rPr>
                  <a:t>or  x = 12   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$580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2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$150	</a:t>
                </a:r>
                <a:r>
                  <a:rPr lang="en-AU" b="1" dirty="0">
                    <a:solidFill>
                      <a:schemeClr val="tx1"/>
                    </a:solidFill>
                  </a:rPr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$570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3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$50	</a:t>
                </a:r>
                <a:r>
                  <a:rPr lang="en-AU" b="1" dirty="0"/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$650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blipFill>
                <a:blip r:embed="rId2"/>
                <a:stretch>
                  <a:fillRect l="-55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F58EDC6-F330-4A90-A37F-F9F926FF6AA4}"/>
              </a:ext>
            </a:extLst>
          </p:cNvPr>
          <p:cNvSpPr/>
          <p:nvPr/>
        </p:nvSpPr>
        <p:spPr>
          <a:xfrm>
            <a:off x="2844800" y="2953426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F4136-EB58-41C4-8805-D17ECD78D2E4}"/>
              </a:ext>
            </a:extLst>
          </p:cNvPr>
          <p:cNvSpPr/>
          <p:nvPr/>
        </p:nvSpPr>
        <p:spPr>
          <a:xfrm>
            <a:off x="2717800" y="157756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B41CD-D7EB-405F-BB95-2C09EBBD4892}"/>
              </a:ext>
            </a:extLst>
          </p:cNvPr>
          <p:cNvSpPr/>
          <p:nvPr/>
        </p:nvSpPr>
        <p:spPr>
          <a:xfrm>
            <a:off x="2844800" y="437874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1E135-7592-4C08-9E38-08EDB7A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1" y="1651931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F0D23-C6B0-48BC-8193-CE33A76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5" y="595136"/>
            <a:ext cx="4970396" cy="48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C08EE-430F-4337-AEB8-B164720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1" y="1764326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9531-96F9-457E-9D2F-8DDB6B3E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2" y="610632"/>
            <a:ext cx="4987309" cy="47811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1B3BD-9C71-4FA7-B7C3-1963BD98EEBB}"/>
              </a:ext>
            </a:extLst>
          </p:cNvPr>
          <p:cNvCxnSpPr>
            <a:cxnSpLocks/>
          </p:cNvCxnSpPr>
          <p:nvPr/>
        </p:nvCxnSpPr>
        <p:spPr>
          <a:xfrm flipH="1" flipV="1">
            <a:off x="1955803" y="3671332"/>
            <a:ext cx="3888048" cy="100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71A22B-EA26-4067-9D6E-9259C9A8DFE0}"/>
              </a:ext>
            </a:extLst>
          </p:cNvPr>
          <p:cNvSpPr txBox="1"/>
          <p:nvPr/>
        </p:nvSpPr>
        <p:spPr>
          <a:xfrm>
            <a:off x="5843851" y="4580812"/>
            <a:ext cx="26289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Which is the cheapest option at these three sections of the graph?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9AE188-CD63-4D3F-BF06-5643DE32ACAF}"/>
              </a:ext>
            </a:extLst>
          </p:cNvPr>
          <p:cNvCxnSpPr>
            <a:cxnSpLocks/>
          </p:cNvCxnSpPr>
          <p:nvPr/>
        </p:nvCxnSpPr>
        <p:spPr>
          <a:xfrm flipH="1" flipV="1">
            <a:off x="3022601" y="2910374"/>
            <a:ext cx="2821250" cy="1772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2A310F-D3CB-4902-BF73-951B6DBDFAB4}"/>
              </a:ext>
            </a:extLst>
          </p:cNvPr>
          <p:cNvCxnSpPr>
            <a:cxnSpLocks/>
          </p:cNvCxnSpPr>
          <p:nvPr/>
        </p:nvCxnSpPr>
        <p:spPr>
          <a:xfrm flipH="1" flipV="1">
            <a:off x="4433225" y="1917700"/>
            <a:ext cx="1410626" cy="2765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71D6B3-C8F1-4292-BB4E-CDA815AF5107}"/>
              </a:ext>
            </a:extLst>
          </p:cNvPr>
          <p:cNvCxnSpPr/>
          <p:nvPr/>
        </p:nvCxnSpPr>
        <p:spPr>
          <a:xfrm>
            <a:off x="0" y="3683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8E2E-BA73-48A3-82A2-01970CB62556}"/>
              </a:ext>
            </a:extLst>
          </p:cNvPr>
          <p:cNvCxnSpPr/>
          <p:nvPr/>
        </p:nvCxnSpPr>
        <p:spPr>
          <a:xfrm>
            <a:off x="0" y="9017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F76B14-9605-434F-8A95-E2C0E669A336}"/>
              </a:ext>
            </a:extLst>
          </p:cNvPr>
          <p:cNvCxnSpPr>
            <a:cxnSpLocks/>
          </p:cNvCxnSpPr>
          <p:nvPr/>
        </p:nvCxnSpPr>
        <p:spPr>
          <a:xfrm>
            <a:off x="1460500" y="901700"/>
            <a:ext cx="0" cy="4813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17567-01AB-481C-B1E3-38F11790579C}"/>
              </a:ext>
            </a:extLst>
          </p:cNvPr>
          <p:cNvSpPr txBox="1"/>
          <p:nvPr/>
        </p:nvSpPr>
        <p:spPr>
          <a:xfrm>
            <a:off x="99868" y="45034"/>
            <a:ext cx="3775364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Topic : Linear relationships in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CA229-4386-4E10-BF7B-0684CFB99F97}"/>
              </a:ext>
            </a:extLst>
          </p:cNvPr>
          <p:cNvSpPr txBox="1"/>
          <p:nvPr/>
        </p:nvSpPr>
        <p:spPr>
          <a:xfrm>
            <a:off x="99868" y="405233"/>
            <a:ext cx="511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 : List three examples of real life linear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E50F8-BDDD-453C-9B0E-A688B97D7172}"/>
              </a:ext>
            </a:extLst>
          </p:cNvPr>
          <p:cNvSpPr txBox="1"/>
          <p:nvPr/>
        </p:nvSpPr>
        <p:spPr>
          <a:xfrm>
            <a:off x="1649267" y="945566"/>
            <a:ext cx="679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Linear equations can be used to describe many real situations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9A87-AA2C-4CDA-90DB-BABEC5163D16}"/>
              </a:ext>
            </a:extLst>
          </p:cNvPr>
          <p:cNvSpPr txBox="1"/>
          <p:nvPr/>
        </p:nvSpPr>
        <p:spPr>
          <a:xfrm>
            <a:off x="330349" y="1311888"/>
            <a:ext cx="127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B136D-6027-48BE-A656-34D713733C27}"/>
              </a:ext>
            </a:extLst>
          </p:cNvPr>
          <p:cNvSpPr txBox="1"/>
          <p:nvPr/>
        </p:nvSpPr>
        <p:spPr>
          <a:xfrm>
            <a:off x="1649267" y="1307312"/>
            <a:ext cx="7284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manufacture a new product it costs $1000 to create the equipment and then $20 per item thereafter.</a:t>
            </a:r>
          </a:p>
          <a:p>
            <a:r>
              <a:rPr lang="en-AU" dirty="0"/>
              <a:t>	Starts at $1000     </a:t>
            </a:r>
            <a:r>
              <a:rPr lang="en-AU" dirty="0">
                <a:highlight>
                  <a:srgbClr val="FFFF00"/>
                </a:highlight>
              </a:rPr>
              <a:t>this is the y-intercept (C)		</a:t>
            </a:r>
          </a:p>
          <a:p>
            <a:r>
              <a:rPr lang="en-AU" dirty="0"/>
              <a:t>	goes up each time $20    </a:t>
            </a:r>
            <a:r>
              <a:rPr lang="en-AU" dirty="0">
                <a:highlight>
                  <a:srgbClr val="00FF00"/>
                </a:highlight>
              </a:rPr>
              <a:t>This is the gradient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/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  <a:blipFill>
                <a:blip r:embed="rId2"/>
                <a:stretch>
                  <a:fillRect l="-95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A0764A-00C0-4A44-B520-D28678F37965}"/>
              </a:ext>
            </a:extLst>
          </p:cNvPr>
          <p:cNvSpPr/>
          <p:nvPr/>
        </p:nvSpPr>
        <p:spPr>
          <a:xfrm>
            <a:off x="1460500" y="4218406"/>
            <a:ext cx="763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 </a:t>
            </a:r>
            <a:endParaRPr lang="en-AU" dirty="0">
              <a:highlight>
                <a:srgbClr val="00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E44EF-04DF-451E-BBBC-E88329C19531}"/>
              </a:ext>
            </a:extLst>
          </p:cNvPr>
          <p:cNvSpPr txBox="1"/>
          <p:nvPr/>
        </p:nvSpPr>
        <p:spPr>
          <a:xfrm>
            <a:off x="1809764" y="3069555"/>
            <a:ext cx="681987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What is the total cost to make 100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/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AU" dirty="0"/>
                  <a:t>x=100 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y = 20x100 + 1000</a:t>
                </a:r>
              </a:p>
              <a:p>
                <a:r>
                  <a:rPr lang="en-AU" dirty="0"/>
                  <a:t>		y = 3000               so it costs $3000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blipFill>
                <a:blip r:embed="rId3"/>
                <a:stretch>
                  <a:fillRect l="-105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4D62AB4-18BE-444B-9D87-DAE1AC5B2373}"/>
              </a:ext>
            </a:extLst>
          </p:cNvPr>
          <p:cNvSpPr/>
          <p:nvPr/>
        </p:nvSpPr>
        <p:spPr>
          <a:xfrm>
            <a:off x="1856506" y="4287984"/>
            <a:ext cx="4289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How many items can  you make for $10000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/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dirty="0"/>
                  <a:t>y=10000 		10000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10000-1000 = 20</a:t>
                </a:r>
                <a:r>
                  <a:rPr lang="en-AU" i="1" dirty="0"/>
                  <a:t>x</a:t>
                </a:r>
                <a:r>
                  <a:rPr lang="en-AU" dirty="0"/>
                  <a:t>     </a:t>
                </a:r>
              </a:p>
              <a:p>
                <a:r>
                  <a:rPr lang="en-AU" dirty="0"/>
                  <a:t>		9000 ÷20  = x      </a:t>
                </a:r>
              </a:p>
              <a:p>
                <a:r>
                  <a:rPr lang="en-AU" dirty="0"/>
                  <a:t>		450 = x                     so we can make 450 items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blipFill>
                <a:blip r:embed="rId4"/>
                <a:stretch>
                  <a:fillRect l="-731" t="-2538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28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355D4-784A-45EC-AB9C-6EBB8BF4643B}"/>
              </a:ext>
            </a:extLst>
          </p:cNvPr>
          <p:cNvSpPr txBox="1"/>
          <p:nvPr/>
        </p:nvSpPr>
        <p:spPr>
          <a:xfrm>
            <a:off x="612648" y="50292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we need 2 things to make a linear rule.</a:t>
            </a:r>
          </a:p>
          <a:p>
            <a:r>
              <a:rPr lang="en-AU" dirty="0"/>
              <a:t>	1. How much it goes up by each time. (M, the gradient)</a:t>
            </a:r>
          </a:p>
          <a:p>
            <a:r>
              <a:rPr lang="en-AU" dirty="0"/>
              <a:t>	2. What is the value at the start – </a:t>
            </a:r>
            <a:r>
              <a:rPr lang="en-AU" dirty="0" err="1"/>
              <a:t>ie</a:t>
            </a:r>
            <a:r>
              <a:rPr lang="en-AU" dirty="0"/>
              <a:t>. when x = 0 (C, the y-intercept)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/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AU" sz="3200" dirty="0" smtClean="0">
                          <a:ea typeface="Cambria Math" panose="020405030504060302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intercept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09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F70D-69CE-433E-B816-475DD19C0387}"/>
              </a:ext>
            </a:extLst>
          </p:cNvPr>
          <p:cNvSpPr txBox="1"/>
          <p:nvPr/>
        </p:nvSpPr>
        <p:spPr>
          <a:xfrm>
            <a:off x="95250" y="3378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4D05-3F74-46AA-AD01-1BDF0C7AE520}"/>
              </a:ext>
            </a:extLst>
          </p:cNvPr>
          <p:cNvSpPr/>
          <p:nvPr/>
        </p:nvSpPr>
        <p:spPr>
          <a:xfrm>
            <a:off x="349250" y="418237"/>
            <a:ext cx="86931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Cohen’s motorbike is 200m ahead of Darcy’s and is increasing its lead by 10m every minute.</a:t>
            </a:r>
          </a:p>
          <a:p>
            <a:r>
              <a:rPr lang="en-AU" dirty="0"/>
              <a:t>	Starts at 200     </a:t>
            </a:r>
            <a:r>
              <a:rPr lang="en-AU" dirty="0">
                <a:highlight>
                  <a:srgbClr val="FFFF00"/>
                </a:highlight>
              </a:rPr>
              <a:t>this is the y-intercept (C) </a:t>
            </a:r>
            <a:r>
              <a:rPr lang="en-AU" dirty="0"/>
              <a:t>	</a:t>
            </a:r>
          </a:p>
          <a:p>
            <a:r>
              <a:rPr lang="en-AU" dirty="0"/>
              <a:t>	Goes up each minute by  10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endParaRPr lang="en-AU" dirty="0">
              <a:highlight>
                <a:srgbClr val="00FF00"/>
              </a:highlight>
            </a:endParaRPr>
          </a:p>
          <a:p>
            <a:r>
              <a:rPr lang="en-AU" dirty="0"/>
              <a:t>What is the equation?	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will Cohen be in 15 minutes?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was Cohen 5 minutes ago?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/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means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blipFill>
                <a:blip r:embed="rId2"/>
                <a:stretch>
                  <a:fillRect l="-94" r="-9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/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=10×15+200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350m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blipFill>
                <a:blip r:embed="rId3"/>
                <a:stretch>
                  <a:fillRect l="-4969" r="-1553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/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=10×−5+200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150m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blipFill>
                <a:blip r:embed="rId4"/>
                <a:stretch>
                  <a:fillRect l="-4819" r="-904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C158A4D-EE02-469A-9B92-CB7CD4E5B579}"/>
              </a:ext>
            </a:extLst>
          </p:cNvPr>
          <p:cNvSpPr txBox="1"/>
          <p:nvPr/>
        </p:nvSpPr>
        <p:spPr>
          <a:xfrm>
            <a:off x="552450" y="4371726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Minutes ago means x =-5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C3436-2DA8-402A-A69A-F7BE7E2E3C53}"/>
              </a:ext>
            </a:extLst>
          </p:cNvPr>
          <p:cNvSpPr txBox="1"/>
          <p:nvPr/>
        </p:nvSpPr>
        <p:spPr>
          <a:xfrm>
            <a:off x="654050" y="2851981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Minutes ago means x =15 </a:t>
            </a:r>
          </a:p>
        </p:txBody>
      </p:sp>
    </p:spTree>
    <p:extLst>
      <p:ext uri="{BB962C8B-B14F-4D97-AF65-F5344CB8AC3E}">
        <p14:creationId xmlns:p14="http://schemas.microsoft.com/office/powerpoint/2010/main" val="22620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/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 cyclone is 120 km away and is moving toward us at 30km per hour</a:t>
                </a:r>
                <a:endParaRPr lang="en-AU" dirty="0">
                  <a:highlight>
                    <a:srgbClr val="FFFF00"/>
                  </a:highlight>
                </a:endParaRPr>
              </a:p>
              <a:p>
                <a:r>
                  <a:rPr lang="en-AU" dirty="0"/>
                  <a:t>	Starts at 120     </a:t>
                </a:r>
                <a:r>
                  <a:rPr lang="en-AU" dirty="0">
                    <a:highlight>
                      <a:srgbClr val="FFFF00"/>
                    </a:highlight>
                  </a:rPr>
                  <a:t>this is the y-intercept (C) </a:t>
                </a:r>
                <a:r>
                  <a:rPr lang="en-AU" dirty="0"/>
                  <a:t>	</a:t>
                </a:r>
              </a:p>
              <a:p>
                <a:r>
                  <a:rPr lang="en-AU" dirty="0"/>
                  <a:t>	Goes up each time by  -30    </a:t>
                </a:r>
                <a:r>
                  <a:rPr lang="en-AU" dirty="0">
                    <a:highlight>
                      <a:srgbClr val="00FF00"/>
                    </a:highlight>
                  </a:rPr>
                  <a:t>This is the gradient</a:t>
                </a:r>
              </a:p>
              <a:p>
                <a:endParaRPr lang="en-AU" dirty="0">
                  <a:highlight>
                    <a:srgbClr val="00FF00"/>
                  </a:highlight>
                </a:endParaRPr>
              </a:p>
              <a:p>
                <a:r>
                  <a:rPr lang="en-AU" dirty="0"/>
                  <a:t>What is the equation ?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How close will the cyclone be in 2.5 hours?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When will the cyclone reach our location?  </a:t>
                </a:r>
                <a:r>
                  <a:rPr lang="en-AU" i="1" dirty="0"/>
                  <a:t>Extension question</a:t>
                </a:r>
              </a:p>
              <a:p>
                <a:r>
                  <a:rPr lang="en-AU" dirty="0"/>
                  <a:t>y = 0		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0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-120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-120 ÷ -30 = x</a:t>
                </a:r>
              </a:p>
              <a:p>
                <a:r>
                  <a:rPr lang="en-AU" dirty="0"/>
                  <a:t>			4 = x		the cyclone will arrive in 4 hours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  <a:blipFill>
                <a:blip r:embed="rId2"/>
                <a:stretch>
                  <a:fillRect l="-57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/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  <a:blipFill>
                <a:blip r:embed="rId3"/>
                <a:stretch>
                  <a:fillRect l="-19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/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x</a:t>
                </a:r>
                <a:r>
                  <a:rPr lang="en-AU" b="0" dirty="0"/>
                  <a:t> = 2.5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=−30×2.5+120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=−75+120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  45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  <a:blipFill>
                <a:blip r:embed="rId4"/>
                <a:stretch>
                  <a:fillRect l="-1166" t="-3046"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E5FC53-F903-454A-8EF1-3FFF4EA80A1B}"/>
              </a:ext>
            </a:extLst>
          </p:cNvPr>
          <p:cNvSpPr txBox="1"/>
          <p:nvPr/>
        </p:nvSpPr>
        <p:spPr>
          <a:xfrm>
            <a:off x="0" y="-1356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</p:spTree>
    <p:extLst>
      <p:ext uri="{BB962C8B-B14F-4D97-AF65-F5344CB8AC3E}">
        <p14:creationId xmlns:p14="http://schemas.microsoft.com/office/powerpoint/2010/main" val="7744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304800" y="136525"/>
            <a:ext cx="664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Dr Dwyer </a:t>
            </a:r>
          </a:p>
          <a:p>
            <a:r>
              <a:rPr lang="en-AU" b="1" dirty="0"/>
              <a:t>Exercise 16.4</a:t>
            </a:r>
          </a:p>
          <a:p>
            <a:r>
              <a:rPr lang="en-AU" b="1" dirty="0"/>
              <a:t>Page 217</a:t>
            </a:r>
          </a:p>
          <a:p>
            <a:endParaRPr lang="en-AU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781549"/>
            <a:ext cx="6032499" cy="47969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3860800" y="1521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The phrase “</a:t>
            </a:r>
            <a:r>
              <a:rPr lang="en-AU" dirty="0"/>
              <a:t>write a mathematical model.</a:t>
            </a:r>
            <a:r>
              <a:rPr lang="en-AU" b="1" dirty="0"/>
              <a:t>” means write an equation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41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740</TotalTime>
  <Words>410</Words>
  <Application>Microsoft Office PowerPoint</Application>
  <PresentationFormat>On-screen Show (16:10)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Calisto MT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28</cp:revision>
  <dcterms:created xsi:type="dcterms:W3CDTF">2017-03-28T15:14:10Z</dcterms:created>
  <dcterms:modified xsi:type="dcterms:W3CDTF">2018-10-23T07:00:36Z</dcterms:modified>
</cp:coreProperties>
</file>
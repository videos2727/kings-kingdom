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63" r:id="rId2"/>
    <p:sldId id="266" r:id="rId3"/>
    <p:sldId id="280" r:id="rId4"/>
    <p:sldId id="279" r:id="rId5"/>
    <p:sldId id="286" r:id="rId6"/>
    <p:sldId id="273" r:id="rId7"/>
    <p:sldId id="287" r:id="rId8"/>
    <p:sldId id="271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Give</a:t>
            </a:r>
            <a:r>
              <a:rPr lang="en-AU" baseline="0" dirty="0"/>
              <a:t> them time to write what they know on the left hand side.</a:t>
            </a:r>
          </a:p>
          <a:p>
            <a:r>
              <a:rPr lang="en-AU" baseline="0" dirty="0"/>
              <a:t>How you get the info off them is up to you, TPS, popcorn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38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99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6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795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18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16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71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04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3748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84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9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85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1816913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Linear Relationships</a:t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Name: </a:t>
            </a:r>
          </a:p>
          <a:p>
            <a:pPr algn="l"/>
            <a:r>
              <a:rPr lang="en-AU" dirty="0"/>
              <a:t>Class: </a:t>
            </a:r>
          </a:p>
          <a:p>
            <a:pPr algn="l"/>
            <a:r>
              <a:rPr lang="en-AU" dirty="0"/>
              <a:t>Teacher: </a:t>
            </a:r>
          </a:p>
          <a:p>
            <a:pPr algn="l"/>
            <a:r>
              <a:rPr lang="en-AU" dirty="0"/>
              <a:t>Semester 2</a:t>
            </a:r>
          </a:p>
          <a:p>
            <a:pPr algn="l"/>
            <a:r>
              <a:rPr lang="en-AU" dirty="0"/>
              <a:t>Term 4</a:t>
            </a:r>
          </a:p>
          <a:p>
            <a:pPr algn="l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237" y="3257488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49865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/>
              <a:t>Cover Page</a:t>
            </a:r>
          </a:p>
          <a:p>
            <a:r>
              <a:rPr lang="en-US" dirty="0"/>
              <a:t>Contents Page</a:t>
            </a:r>
          </a:p>
          <a:p>
            <a:r>
              <a:rPr lang="en-US" dirty="0"/>
              <a:t>Glossary</a:t>
            </a:r>
          </a:p>
          <a:p>
            <a:r>
              <a:rPr lang="en-US" dirty="0"/>
              <a:t>24/7/30</a:t>
            </a:r>
          </a:p>
          <a:p>
            <a:r>
              <a:rPr lang="en-US" dirty="0"/>
              <a:t>EQ</a:t>
            </a:r>
          </a:p>
          <a:p>
            <a:r>
              <a:rPr lang="en-US" dirty="0"/>
              <a:t>Questions</a:t>
            </a:r>
          </a:p>
          <a:p>
            <a:r>
              <a:rPr lang="en-US" dirty="0"/>
              <a:t>Notes</a:t>
            </a:r>
          </a:p>
          <a:p>
            <a:r>
              <a:rPr lang="en-US" dirty="0"/>
              <a:t>Summaries</a:t>
            </a:r>
          </a:p>
          <a:p>
            <a:r>
              <a:rPr lang="en-US" dirty="0"/>
              <a:t>Work page</a:t>
            </a:r>
          </a:p>
          <a:p>
            <a:r>
              <a:rPr lang="en-US" dirty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479" y="1911828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3186109" y="2741325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3984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52" y="137160"/>
            <a:ext cx="7680960" cy="1371600"/>
          </a:xfrm>
        </p:spPr>
        <p:txBody>
          <a:bodyPr/>
          <a:lstStyle/>
          <a:p>
            <a:r>
              <a:rPr lang="en-AU" dirty="0">
                <a:latin typeface="Algerian" panose="04020705040A02060702" pitchFamily="82" charset="0"/>
              </a:rPr>
              <a:t>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9010" y="642594"/>
            <a:ext cx="3133470" cy="539244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sz="2400" dirty="0"/>
              <a:t>Write the coordinates: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A:		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C: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E: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H: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I: 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K: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M: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1EA0B03B-F5AE-43B0-B398-89B58DD268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02" r="13937"/>
          <a:stretch/>
        </p:blipFill>
        <p:spPr>
          <a:xfrm>
            <a:off x="381853" y="1611985"/>
            <a:ext cx="4609364" cy="459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673889" y="1147098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CE7C47-DC6B-4B42-B215-03A133F6A120}"/>
              </a:ext>
            </a:extLst>
          </p:cNvPr>
          <p:cNvSpPr txBox="1"/>
          <p:nvPr/>
        </p:nvSpPr>
        <p:spPr>
          <a:xfrm>
            <a:off x="134192" y="1347283"/>
            <a:ext cx="1742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put coordinates in a table?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7D5DD6-43A7-459F-9849-FAFF86DBBE60}"/>
              </a:ext>
            </a:extLst>
          </p:cNvPr>
          <p:cNvSpPr/>
          <p:nvPr/>
        </p:nvSpPr>
        <p:spPr>
          <a:xfrm>
            <a:off x="1993770" y="1264777"/>
            <a:ext cx="34266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Coordinates can also be </a:t>
            </a:r>
            <a:r>
              <a:rPr lang="en-AU" b="1" u="sng" dirty="0"/>
              <a:t>written in a table </a:t>
            </a:r>
            <a:r>
              <a:rPr lang="en-AU" dirty="0"/>
              <a:t>to </a:t>
            </a:r>
            <a:r>
              <a:rPr lang="en-AU" b="1" u="sng" dirty="0"/>
              <a:t>organise them</a:t>
            </a:r>
            <a:r>
              <a:rPr lang="en-AU" dirty="0"/>
              <a:t> and make them easier to graph.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54803-B626-4558-848C-0D122DE1F239}"/>
              </a:ext>
            </a:extLst>
          </p:cNvPr>
          <p:cNvSpPr/>
          <p:nvPr/>
        </p:nvSpPr>
        <p:spPr>
          <a:xfrm>
            <a:off x="1877110" y="2965990"/>
            <a:ext cx="47967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Consider the following set of coordinates:</a:t>
            </a:r>
          </a:p>
          <a:p>
            <a:r>
              <a:rPr lang="en-US" dirty="0"/>
              <a:t>(0, -2) 	(3, 1) 	(-1, -3)	</a:t>
            </a:r>
          </a:p>
          <a:p>
            <a:r>
              <a:rPr lang="en-US" dirty="0"/>
              <a:t>(1, -1)	(-2, -4)	(2, 0)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570D-778E-4AB3-9087-E74025E07F0D}"/>
                  </a:ext>
                </a:extLst>
              </p:cNvPr>
              <p:cNvSpPr txBox="1"/>
              <p:nvPr/>
            </p:nvSpPr>
            <p:spPr>
              <a:xfrm>
                <a:off x="6790549" y="1347283"/>
                <a:ext cx="195811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1: put them in order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570D-778E-4AB3-9087-E74025E07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549" y="1347283"/>
                <a:ext cx="1958112" cy="923330"/>
              </a:xfrm>
              <a:prstGeom prst="rect">
                <a:avLst/>
              </a:prstGeom>
              <a:blipFill>
                <a:blip r:embed="rId2"/>
                <a:stretch>
                  <a:fillRect l="-2804" t="-3311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3CCB0451-DA67-4887-AEF0-8992D31F52C2}"/>
              </a:ext>
            </a:extLst>
          </p:cNvPr>
          <p:cNvSpPr/>
          <p:nvPr/>
        </p:nvSpPr>
        <p:spPr>
          <a:xfrm>
            <a:off x="1877109" y="2965990"/>
            <a:ext cx="47967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Consider the following set of coordinates: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, -2) 	(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, 1) 	 </a:t>
            </a:r>
            <a:r>
              <a:rPr lang="en-US" b="1" dirty="0">
                <a:solidFill>
                  <a:srgbClr val="FF0000"/>
                </a:solidFill>
              </a:rPr>
              <a:t>-1</a:t>
            </a:r>
            <a:r>
              <a:rPr lang="en-US" dirty="0"/>
              <a:t>, -3)	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, -1)	 </a:t>
            </a:r>
            <a:r>
              <a:rPr lang="en-US" b="1" dirty="0">
                <a:solidFill>
                  <a:srgbClr val="FF0000"/>
                </a:solidFill>
              </a:rPr>
              <a:t>-2</a:t>
            </a:r>
            <a:r>
              <a:rPr lang="en-US" dirty="0"/>
              <a:t>, -4)	(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, 0)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E70A7-6506-43B5-980D-6FDEE308CE0F}"/>
              </a:ext>
            </a:extLst>
          </p:cNvPr>
          <p:cNvSpPr/>
          <p:nvPr/>
        </p:nvSpPr>
        <p:spPr>
          <a:xfrm>
            <a:off x="2026445" y="4305869"/>
            <a:ext cx="4374355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i="1" dirty="0"/>
              <a:t>(</a:t>
            </a:r>
            <a:r>
              <a:rPr lang="en-US" b="1" i="1" dirty="0">
                <a:solidFill>
                  <a:srgbClr val="FF0000"/>
                </a:solidFill>
              </a:rPr>
              <a:t>-2</a:t>
            </a:r>
            <a:r>
              <a:rPr lang="en-US" i="1" dirty="0"/>
              <a:t>, -4) (</a:t>
            </a:r>
            <a:r>
              <a:rPr lang="en-US" b="1" i="1" dirty="0">
                <a:solidFill>
                  <a:srgbClr val="FF0000"/>
                </a:solidFill>
              </a:rPr>
              <a:t>-1</a:t>
            </a:r>
            <a:r>
              <a:rPr lang="en-US" i="1" dirty="0"/>
              <a:t>, -3) (</a:t>
            </a:r>
            <a:r>
              <a:rPr lang="en-US" b="1" i="1" dirty="0">
                <a:solidFill>
                  <a:srgbClr val="FF0000"/>
                </a:solidFill>
              </a:rPr>
              <a:t>0</a:t>
            </a:r>
            <a:r>
              <a:rPr lang="en-US" i="1" dirty="0"/>
              <a:t>, -2) (</a:t>
            </a:r>
            <a:r>
              <a:rPr lang="en-US" b="1" i="1" dirty="0">
                <a:solidFill>
                  <a:srgbClr val="FF0000"/>
                </a:solidFill>
              </a:rPr>
              <a:t>1</a:t>
            </a:r>
            <a:r>
              <a:rPr lang="en-US" i="1" dirty="0"/>
              <a:t>, -1) (</a:t>
            </a:r>
            <a:r>
              <a:rPr lang="en-US" b="1" i="1" dirty="0">
                <a:solidFill>
                  <a:srgbClr val="FF0000"/>
                </a:solidFill>
              </a:rPr>
              <a:t>2</a:t>
            </a:r>
            <a:r>
              <a:rPr lang="en-US" i="1" dirty="0"/>
              <a:t>, 0) (</a:t>
            </a:r>
            <a:r>
              <a:rPr lang="en-US" b="1" i="1" dirty="0">
                <a:solidFill>
                  <a:srgbClr val="FF0000"/>
                </a:solidFill>
              </a:rPr>
              <a:t>3</a:t>
            </a:r>
            <a:r>
              <a:rPr lang="en-US" i="1" dirty="0"/>
              <a:t>, 1)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99DD8B-719B-410F-9A03-EB313522A229}"/>
                  </a:ext>
                </a:extLst>
              </p:cNvPr>
              <p:cNvSpPr txBox="1"/>
              <p:nvPr/>
            </p:nvSpPr>
            <p:spPr>
              <a:xfrm>
                <a:off x="6858108" y="2715740"/>
                <a:ext cx="195811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2: put the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</m:oMath>
                </a14:m>
                <a:r>
                  <a:rPr lang="en-AU" dirty="0"/>
                  <a:t> into the table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99DD8B-719B-410F-9A03-EB313522A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108" y="2715740"/>
                <a:ext cx="1958112" cy="1200329"/>
              </a:xfrm>
              <a:prstGeom prst="rect">
                <a:avLst/>
              </a:prstGeom>
              <a:blipFill>
                <a:blip r:embed="rId3"/>
                <a:stretch>
                  <a:fillRect l="-2492" t="-2538" r="-5296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919E6C1-F9E1-432A-8B35-AF4518683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9733155"/>
                  </p:ext>
                </p:extLst>
              </p:nvPr>
            </p:nvGraphicFramePr>
            <p:xfrm>
              <a:off x="1877109" y="5022872"/>
              <a:ext cx="4864335" cy="9359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4905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46798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46798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919E6C1-F9E1-432A-8B35-AF4518683E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9733155"/>
                  </p:ext>
                </p:extLst>
              </p:nvPr>
            </p:nvGraphicFramePr>
            <p:xfrm>
              <a:off x="1877109" y="5022872"/>
              <a:ext cx="4864335" cy="9359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4905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694905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4679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7" t="-6410" r="-602632" b="-1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4679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7" t="-107792" r="-602632" b="-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0F91206-301D-45E6-9E6B-7C1C51AD5EC2}"/>
              </a:ext>
            </a:extLst>
          </p:cNvPr>
          <p:cNvSpPr txBox="1"/>
          <p:nvPr/>
        </p:nvSpPr>
        <p:spPr>
          <a:xfrm>
            <a:off x="3346515" y="4996206"/>
            <a:ext cx="527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-1</a:t>
            </a:r>
          </a:p>
          <a:p>
            <a:endParaRPr lang="en-AU" dirty="0"/>
          </a:p>
          <a:p>
            <a:r>
              <a:rPr lang="en-AU" dirty="0"/>
              <a:t>-3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5D32A-0F12-43DC-B29A-8FBE188686C2}"/>
              </a:ext>
            </a:extLst>
          </p:cNvPr>
          <p:cNvSpPr txBox="1"/>
          <p:nvPr/>
        </p:nvSpPr>
        <p:spPr>
          <a:xfrm>
            <a:off x="4140801" y="4978756"/>
            <a:ext cx="527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2000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/>
      <p:bldP spid="16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428358" y="110298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9016E0A-F7F9-4587-9F6B-158F054A92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99655"/>
                  </p:ext>
                </p:extLst>
              </p:nvPr>
            </p:nvGraphicFramePr>
            <p:xfrm>
              <a:off x="1972441" y="1519770"/>
              <a:ext cx="4182976" cy="7508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68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375422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375422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9016E0A-F7F9-4587-9F6B-158F054A92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99655"/>
                  </p:ext>
                </p:extLst>
              </p:nvPr>
            </p:nvGraphicFramePr>
            <p:xfrm>
              <a:off x="1972441" y="1519770"/>
              <a:ext cx="4182976" cy="7508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68">
                      <a:extLst>
                        <a:ext uri="{9D8B030D-6E8A-4147-A177-3AD203B41FA5}">
                          <a16:colId xmlns:a16="http://schemas.microsoft.com/office/drawing/2014/main" val="1333995689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48327131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1452958614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251629732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90047933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933904927"/>
                        </a:ext>
                      </a:extLst>
                    </a:gridCol>
                    <a:gridCol w="597568">
                      <a:extLst>
                        <a:ext uri="{9D8B030D-6E8A-4147-A177-3AD203B41FA5}">
                          <a16:colId xmlns:a16="http://schemas.microsoft.com/office/drawing/2014/main" val="329858654"/>
                        </a:ext>
                      </a:extLst>
                    </a:gridCol>
                  </a:tblGrid>
                  <a:tr h="375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" t="-8065" r="-603061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51334"/>
                      </a:ext>
                    </a:extLst>
                  </a:tr>
                  <a:tr h="375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" t="-108065" r="-603061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i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91774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5989EE2-95E9-4611-BA6B-D562F74A681F}"/>
              </a:ext>
            </a:extLst>
          </p:cNvPr>
          <p:cNvSpPr txBox="1"/>
          <p:nvPr/>
        </p:nvSpPr>
        <p:spPr>
          <a:xfrm>
            <a:off x="134192" y="1347283"/>
            <a:ext cx="1742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graph points from a table?</a:t>
            </a:r>
            <a:endParaRPr lang="en-AU" dirty="0"/>
          </a:p>
        </p:txBody>
      </p:sp>
      <p:pic>
        <p:nvPicPr>
          <p:cNvPr id="1026" name="Picture 2" descr="Image result for cartesian plane">
            <a:extLst>
              <a:ext uri="{FF2B5EF4-FFF2-40B4-BE49-F238E27FC236}">
                <a16:creationId xmlns:a16="http://schemas.microsoft.com/office/drawing/2014/main" id="{5A5BB1F1-10D1-4868-88E4-804D9702E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873" y="2685799"/>
            <a:ext cx="4399981" cy="380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AB13A46-5DBF-462C-A142-D22C886D7DC7}"/>
              </a:ext>
            </a:extLst>
          </p:cNvPr>
          <p:cNvSpPr/>
          <p:nvPr/>
        </p:nvSpPr>
        <p:spPr>
          <a:xfrm>
            <a:off x="3035431" y="5825764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F7A506-68DF-4E42-8436-3D97DEF55EBA}"/>
              </a:ext>
            </a:extLst>
          </p:cNvPr>
          <p:cNvSpPr/>
          <p:nvPr/>
        </p:nvSpPr>
        <p:spPr>
          <a:xfrm>
            <a:off x="3311721" y="5528373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C8275DF-7925-4763-A28B-8BF39155D060}"/>
              </a:ext>
            </a:extLst>
          </p:cNvPr>
          <p:cNvSpPr/>
          <p:nvPr/>
        </p:nvSpPr>
        <p:spPr>
          <a:xfrm>
            <a:off x="3609371" y="5235212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8869E04-F9D6-4CAB-9C52-BD3BE1FA37A8}"/>
              </a:ext>
            </a:extLst>
          </p:cNvPr>
          <p:cNvSpPr/>
          <p:nvPr/>
        </p:nvSpPr>
        <p:spPr>
          <a:xfrm>
            <a:off x="3896620" y="4945229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9C7E27-137F-476A-9977-652ABEFB0FA5}"/>
              </a:ext>
            </a:extLst>
          </p:cNvPr>
          <p:cNvSpPr/>
          <p:nvPr/>
        </p:nvSpPr>
        <p:spPr>
          <a:xfrm>
            <a:off x="4198228" y="4670062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45FB4B-31A9-4AC8-92C6-111F36213595}"/>
              </a:ext>
            </a:extLst>
          </p:cNvPr>
          <p:cNvSpPr/>
          <p:nvPr/>
        </p:nvSpPr>
        <p:spPr>
          <a:xfrm>
            <a:off x="4487097" y="4374298"/>
            <a:ext cx="150829" cy="1305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AFE14B-A3ED-42AC-BF7B-9ED588CD9F7B}"/>
              </a:ext>
            </a:extLst>
          </p:cNvPr>
          <p:cNvCxnSpPr/>
          <p:nvPr/>
        </p:nvCxnSpPr>
        <p:spPr>
          <a:xfrm flipH="1">
            <a:off x="2548163" y="3456757"/>
            <a:ext cx="2998572" cy="297694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39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885" y="973622"/>
            <a:ext cx="8577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Worksheet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97990" y="184221"/>
            <a:ext cx="7886700" cy="5862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Your Turn (LHS of course)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97990" y="1996360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397990" y="3216888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397990" y="4500818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 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397990" y="5601039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(d)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796239" y="3377860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19470"/>
                  </p:ext>
                </p:extLst>
              </p:nvPr>
            </p:nvGraphicFramePr>
            <p:xfrm>
              <a:off x="796239" y="3377860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3.5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796239" y="4585851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3173445"/>
                  </p:ext>
                </p:extLst>
              </p:nvPr>
            </p:nvGraphicFramePr>
            <p:xfrm>
              <a:off x="796239" y="4585851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796239" y="5746959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6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129232"/>
                  </p:ext>
                </p:extLst>
              </p:nvPr>
            </p:nvGraphicFramePr>
            <p:xfrm>
              <a:off x="796239" y="5746959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962" t="-20253" r="-406731" b="-135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8"/>
                          <a:stretch>
                            <a:fillRect l="-962" t="-120253" r="-406731" b="-35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5" name="Picture 14" descr="Image result for cartesian plane">
            <a:extLst>
              <a:ext uri="{FF2B5EF4-FFF2-40B4-BE49-F238E27FC236}">
                <a16:creationId xmlns:a16="http://schemas.microsoft.com/office/drawing/2014/main" id="{5A5BB1F1-10D1-4868-88E4-804D9702E77E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760" y="2110932"/>
            <a:ext cx="4872838" cy="4234758"/>
          </a:xfrm>
          <a:prstGeom prst="rect">
            <a:avLst/>
          </a:prstGeom>
          <a:noFill/>
          <a:extLst/>
        </p:spPr>
      </p:pic>
    </p:spTree>
    <p:extLst>
      <p:ext uri="{BB962C8B-B14F-4D97-AF65-F5344CB8AC3E}">
        <p14:creationId xmlns:p14="http://schemas.microsoft.com/office/powerpoint/2010/main" val="24995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draw a graph from a table?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740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414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 you understand?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98" y="1690689"/>
            <a:ext cx="5108404" cy="465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4915"/>
            <a:ext cx="80581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WORKSHEETS</a:t>
            </a:r>
            <a:endParaRPr lang="en-AU" sz="3600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400" y="3129307"/>
            <a:ext cx="272296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313713" y="3911865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064641" y="2989587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2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2897</TotalTime>
  <Words>375</Words>
  <Application>Microsoft Office PowerPoint</Application>
  <PresentationFormat>On-screen Show (4:3)</PresentationFormat>
  <Paragraphs>144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Algerian</vt:lpstr>
      <vt:lpstr>Arial</vt:lpstr>
      <vt:lpstr>Calibri</vt:lpstr>
      <vt:lpstr>Cambria Math</vt:lpstr>
      <vt:lpstr>Century Gothic</vt:lpstr>
      <vt:lpstr>Garamond</vt:lpstr>
      <vt:lpstr>Impact</vt:lpstr>
      <vt:lpstr>Times New Roman</vt:lpstr>
      <vt:lpstr>Savon</vt:lpstr>
      <vt:lpstr>My Linear Relationships Interactive Notebook</vt:lpstr>
      <vt:lpstr>Interactive Notebooks!</vt:lpstr>
      <vt:lpstr>revision</vt:lpstr>
      <vt:lpstr>PowerPoint Presentation</vt:lpstr>
      <vt:lpstr>PowerPoint Presentation</vt:lpstr>
      <vt:lpstr>PowerPoint Presentation</vt:lpstr>
      <vt:lpstr>PowerPoint Presentation</vt:lpstr>
      <vt:lpstr>Do you understand? </vt:lpstr>
      <vt:lpstr>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Jillian D'SOUZA</cp:lastModifiedBy>
  <cp:revision>83</cp:revision>
  <dcterms:created xsi:type="dcterms:W3CDTF">2016-04-30T07:20:25Z</dcterms:created>
  <dcterms:modified xsi:type="dcterms:W3CDTF">2018-10-14T12:48:56Z</dcterms:modified>
</cp:coreProperties>
</file>
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63" r:id="rId2"/>
    <p:sldId id="266" r:id="rId3"/>
    <p:sldId id="280" r:id="rId4"/>
    <p:sldId id="279" r:id="rId5"/>
    <p:sldId id="281" r:id="rId6"/>
    <p:sldId id="284" r:id="rId7"/>
    <p:sldId id="285" r:id="rId8"/>
    <p:sldId id="28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7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Give</a:t>
            </a:r>
            <a:r>
              <a:rPr lang="en-AU" baseline="0" dirty="0"/>
              <a:t> them time to write what they know on the left hand side.</a:t>
            </a:r>
          </a:p>
          <a:p>
            <a:r>
              <a:rPr lang="en-AU" baseline="0" dirty="0"/>
              <a:t>How you get the info off them is up to you, TPS, popcorn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382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999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960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3795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1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118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716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71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A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6041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3748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1843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89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17/10/2018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6858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sisfun.com/algebra/definitions.html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1816913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>
                <a:latin typeface="+mn-lt"/>
              </a:rPr>
              <a:t>My Linear Relationships</a:t>
            </a:r>
            <a:br>
              <a:rPr lang="en-AU" sz="4800" dirty="0">
                <a:latin typeface="+mn-lt"/>
              </a:rPr>
            </a:br>
            <a:r>
              <a:rPr lang="en-AU" sz="4800" dirty="0">
                <a:latin typeface="+mn-lt"/>
              </a:rPr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Name: </a:t>
            </a:r>
          </a:p>
          <a:p>
            <a:pPr algn="l"/>
            <a:r>
              <a:rPr lang="en-AU" dirty="0"/>
              <a:t>Class: </a:t>
            </a:r>
          </a:p>
          <a:p>
            <a:pPr algn="l"/>
            <a:r>
              <a:rPr lang="en-AU" dirty="0"/>
              <a:t>Teacher: </a:t>
            </a:r>
          </a:p>
          <a:p>
            <a:pPr algn="l"/>
            <a:r>
              <a:rPr lang="en-AU" dirty="0"/>
              <a:t>Semester 2</a:t>
            </a:r>
          </a:p>
          <a:p>
            <a:pPr algn="l"/>
            <a:r>
              <a:rPr lang="en-AU" dirty="0"/>
              <a:t>Term 4</a:t>
            </a:r>
          </a:p>
          <a:p>
            <a:pPr algn="l"/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8237" y="3257488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49865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/>
              <a:t>Cover Page</a:t>
            </a:r>
          </a:p>
          <a:p>
            <a:r>
              <a:rPr lang="en-US" dirty="0"/>
              <a:t>Contents Page</a:t>
            </a:r>
          </a:p>
          <a:p>
            <a:r>
              <a:rPr lang="en-US" dirty="0"/>
              <a:t>Glossary</a:t>
            </a:r>
          </a:p>
          <a:p>
            <a:r>
              <a:rPr lang="en-US" dirty="0"/>
              <a:t>24/7/30</a:t>
            </a:r>
          </a:p>
          <a:p>
            <a:r>
              <a:rPr lang="en-US" dirty="0"/>
              <a:t>EQ</a:t>
            </a:r>
          </a:p>
          <a:p>
            <a:r>
              <a:rPr lang="en-US" dirty="0"/>
              <a:t>Questions</a:t>
            </a:r>
          </a:p>
          <a:p>
            <a:r>
              <a:rPr lang="en-US" dirty="0"/>
              <a:t>Notes</a:t>
            </a:r>
          </a:p>
          <a:p>
            <a:r>
              <a:rPr lang="en-US" dirty="0"/>
              <a:t>Summaries</a:t>
            </a:r>
          </a:p>
          <a:p>
            <a:r>
              <a:rPr lang="en-US" dirty="0"/>
              <a:t>Work page</a:t>
            </a:r>
          </a:p>
          <a:p>
            <a:r>
              <a:rPr lang="en-US" dirty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479" y="1911828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3186109" y="2741325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</a:p>
        </p:txBody>
      </p:sp>
    </p:spTree>
    <p:extLst>
      <p:ext uri="{BB962C8B-B14F-4D97-AF65-F5344CB8AC3E}">
        <p14:creationId xmlns:p14="http://schemas.microsoft.com/office/powerpoint/2010/main" val="39841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52" y="137160"/>
            <a:ext cx="7680960" cy="1371600"/>
          </a:xfrm>
        </p:spPr>
        <p:txBody>
          <a:bodyPr/>
          <a:lstStyle/>
          <a:p>
            <a:r>
              <a:rPr lang="en-AU" dirty="0">
                <a:latin typeface="Algerian" panose="04020705040A02060702" pitchFamily="82" charset="0"/>
              </a:rPr>
              <a:t>revision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25F61-448A-4250-8D8B-B95D4FDD4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4B047E-FC89-40FF-9798-B66F75FDC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294" y="1923146"/>
            <a:ext cx="4626715" cy="41831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A2B6630-50E5-413A-A23F-3CF6394E61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457290"/>
                  </p:ext>
                </p:extLst>
              </p:nvPr>
            </p:nvGraphicFramePr>
            <p:xfrm>
              <a:off x="541499" y="1948828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8A2B6630-50E5-413A-A23F-3CF6394E61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1457290"/>
                  </p:ext>
                </p:extLst>
              </p:nvPr>
            </p:nvGraphicFramePr>
            <p:xfrm>
              <a:off x="541499" y="1948828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" t="-23077" r="-405000" b="-1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0" t="-124675" r="-405000" b="-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C591A67-706F-404E-A964-4BB70F6034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024052"/>
                  </p:ext>
                </p:extLst>
              </p:nvPr>
            </p:nvGraphicFramePr>
            <p:xfrm>
              <a:off x="541498" y="3090741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EC591A67-706F-404E-A964-4BB70F60349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6024052"/>
                  </p:ext>
                </p:extLst>
              </p:nvPr>
            </p:nvGraphicFramePr>
            <p:xfrm>
              <a:off x="541498" y="3090741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" t="-24675" r="-405000" b="-1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0" t="-124675" r="-405000" b="-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8BEFAF3-1DC9-4E32-9754-1138274D2E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66836"/>
                  </p:ext>
                </p:extLst>
              </p:nvPr>
            </p:nvGraphicFramePr>
            <p:xfrm>
              <a:off x="541498" y="4243455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-7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Table 9">
                <a:extLst>
                  <a:ext uri="{FF2B5EF4-FFF2-40B4-BE49-F238E27FC236}">
                    <a16:creationId xmlns:a16="http://schemas.microsoft.com/office/drawing/2014/main" id="{58BEFAF3-1DC9-4E32-9754-1138274D2E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466836"/>
                  </p:ext>
                </p:extLst>
              </p:nvPr>
            </p:nvGraphicFramePr>
            <p:xfrm>
              <a:off x="541498" y="4243455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" t="-24675" r="-405000" b="-1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000" t="-124675" r="-405000" b="-35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-7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B8F69A7-AA5F-484C-90BD-55B8D1C27A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1518578"/>
                  </p:ext>
                </p:extLst>
              </p:nvPr>
            </p:nvGraphicFramePr>
            <p:xfrm>
              <a:off x="541498" y="5361295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CB8F69A7-AA5F-484C-90BD-55B8D1C27A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1518578"/>
                  </p:ext>
                </p:extLst>
              </p:nvPr>
            </p:nvGraphicFramePr>
            <p:xfrm>
              <a:off x="541498" y="5361295"/>
              <a:ext cx="3046991" cy="934778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0861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0861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0991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" t="-24675" r="-405000" b="-1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673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00" t="-124675" r="-405000" b="-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FD6DB61-382D-465F-8948-67E500F3B60F}"/>
              </a:ext>
            </a:extLst>
          </p:cNvPr>
          <p:cNvSpPr txBox="1">
            <a:spLocks/>
          </p:cNvSpPr>
          <p:nvPr/>
        </p:nvSpPr>
        <p:spPr>
          <a:xfrm>
            <a:off x="1005722" y="1241436"/>
            <a:ext cx="7886700" cy="410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Garamond" pitchFamily="18" charset="0"/>
              <a:buNone/>
            </a:pPr>
            <a:r>
              <a:rPr lang="en-US" b="1"/>
              <a:t>Match</a:t>
            </a:r>
            <a:r>
              <a:rPr lang="en-US"/>
              <a:t> the line on the graph to the table of values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a linear equation on a graph?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673889" y="1147098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A7E0862-6686-407E-99B5-1FC9B2DD00C1}"/>
              </a:ext>
            </a:extLst>
          </p:cNvPr>
          <p:cNvSpPr txBox="1"/>
          <p:nvPr/>
        </p:nvSpPr>
        <p:spPr>
          <a:xfrm>
            <a:off x="134192" y="1456925"/>
            <a:ext cx="1798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What is a linear equation?</a:t>
            </a:r>
            <a:endParaRPr lang="en-AU" sz="16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733AFF-95A7-4C9D-AEC7-F2BD34A144EC}"/>
              </a:ext>
            </a:extLst>
          </p:cNvPr>
          <p:cNvSpPr/>
          <p:nvPr/>
        </p:nvSpPr>
        <p:spPr>
          <a:xfrm>
            <a:off x="1912228" y="142614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88"/>
                </a:solidFill>
                <a:latin typeface="Verdana" panose="020B0604030504040204" pitchFamily="34" charset="0"/>
              </a:rPr>
              <a:t>A </a:t>
            </a:r>
            <a:r>
              <a:rPr lang="en-US" b="1" dirty="0">
                <a:solidFill>
                  <a:srgbClr val="000088"/>
                </a:solidFill>
                <a:latin typeface="Verdana" panose="020B0604030504040204" pitchFamily="34" charset="0"/>
              </a:rPr>
              <a:t>linear</a:t>
            </a:r>
            <a:r>
              <a:rPr lang="en-US" dirty="0">
                <a:solidFill>
                  <a:srgbClr val="000088"/>
                </a:solidFill>
                <a:latin typeface="Verdana" panose="020B0604030504040204" pitchFamily="34" charset="0"/>
              </a:rPr>
              <a:t> equation is an </a:t>
            </a:r>
            <a:r>
              <a:rPr lang="en-US" dirty="0">
                <a:latin typeface="Verdana" panose="020B0604030504040204" pitchFamily="34" charset="0"/>
                <a:hlinkClick r:id="rId2"/>
              </a:rPr>
              <a:t>equation</a:t>
            </a:r>
            <a:r>
              <a:rPr lang="en-US" dirty="0">
                <a:solidFill>
                  <a:srgbClr val="000088"/>
                </a:solidFill>
                <a:latin typeface="Verdana" panose="020B0604030504040204" pitchFamily="34" charset="0"/>
              </a:rPr>
              <a:t> for a straight </a:t>
            </a:r>
            <a:r>
              <a:rPr lang="en-US" b="1" dirty="0">
                <a:solidFill>
                  <a:srgbClr val="000088"/>
                </a:solidFill>
                <a:latin typeface="Verdana" panose="020B0604030504040204" pitchFamily="34" charset="0"/>
              </a:rPr>
              <a:t>line</a:t>
            </a:r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EC22E3-626B-4D21-A80F-5928DBBD5C97}"/>
              </a:ext>
            </a:extLst>
          </p:cNvPr>
          <p:cNvSpPr/>
          <p:nvPr/>
        </p:nvSpPr>
        <p:spPr>
          <a:xfrm>
            <a:off x="1849921" y="2518653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linear equation </a:t>
            </a:r>
            <a:r>
              <a:rPr lang="en-US" dirty="0"/>
              <a:t>links those two variables</a:t>
            </a:r>
          </a:p>
          <a:p>
            <a:endParaRPr lang="en-US" dirty="0"/>
          </a:p>
          <a:p>
            <a:r>
              <a:rPr lang="en-US" dirty="0"/>
              <a:t>It can be used to </a:t>
            </a:r>
            <a:r>
              <a:rPr lang="en-US" b="1" dirty="0"/>
              <a:t>graph the relationship </a:t>
            </a:r>
            <a:r>
              <a:rPr lang="en-US" dirty="0"/>
              <a:t>and to </a:t>
            </a:r>
            <a:r>
              <a:rPr lang="en-US" b="1" dirty="0"/>
              <a:t>find the unknown </a:t>
            </a:r>
            <a:r>
              <a:rPr lang="en-US" dirty="0"/>
              <a:t>variable.</a:t>
            </a:r>
          </a:p>
          <a:p>
            <a:endParaRPr lang="en-US" dirty="0"/>
          </a:p>
          <a:p>
            <a:r>
              <a:rPr lang="en-US" i="1" dirty="0"/>
              <a:t>For example y = 2x + 3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574F35-5014-445C-B5D1-F0515D4023BA}"/>
              </a:ext>
            </a:extLst>
          </p:cNvPr>
          <p:cNvSpPr/>
          <p:nvPr/>
        </p:nvSpPr>
        <p:spPr>
          <a:xfrm>
            <a:off x="1723342" y="4924021"/>
            <a:ext cx="4824563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So how do we turn our equation into a graph?</a:t>
            </a:r>
          </a:p>
        </p:txBody>
      </p:sp>
    </p:spTree>
    <p:extLst>
      <p:ext uri="{BB962C8B-B14F-4D97-AF65-F5344CB8AC3E}">
        <p14:creationId xmlns:p14="http://schemas.microsoft.com/office/powerpoint/2010/main" val="200054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a linear equation on a graph?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183695" y="1117741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686CF1E-DA2D-42A4-8D5E-AD6AA7D1832F}"/>
              </a:ext>
            </a:extLst>
          </p:cNvPr>
          <p:cNvSpPr txBox="1"/>
          <p:nvPr/>
        </p:nvSpPr>
        <p:spPr>
          <a:xfrm>
            <a:off x="134192" y="1253765"/>
            <a:ext cx="16451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turn an equation into a graph?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/>
              <p:nvPr/>
            </p:nvSpPr>
            <p:spPr>
              <a:xfrm>
                <a:off x="2065861" y="1275790"/>
                <a:ext cx="346877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861" y="1275790"/>
                <a:ext cx="3468775" cy="923330"/>
              </a:xfrm>
              <a:prstGeom prst="rect">
                <a:avLst/>
              </a:prstGeom>
              <a:blipFill>
                <a:blip r:embed="rId2"/>
                <a:stretch>
                  <a:fillRect l="-1582" t="-3289" b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/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1:</a:t>
                </a:r>
              </a:p>
              <a:p>
                <a:r>
                  <a:rPr lang="en-AU" dirty="0"/>
                  <a:t>Create a table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2:</a:t>
                </a:r>
              </a:p>
              <a:p>
                <a:r>
                  <a:rPr lang="en-AU" dirty="0"/>
                  <a:t>Fill in the 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AU" dirty="0"/>
                  <a:t>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3:</a:t>
                </a:r>
              </a:p>
              <a:p>
                <a:r>
                  <a:rPr lang="en-AU" dirty="0"/>
                  <a:t>Use your rule to fill in the ‘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AU" dirty="0"/>
                  <a:t> 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4:</a:t>
                </a:r>
              </a:p>
              <a:p>
                <a:r>
                  <a:rPr lang="en-AU" dirty="0"/>
                  <a:t>Use your table to graph</a:t>
                </a:r>
              </a:p>
              <a:p>
                <a:endParaRPr lang="en-AU" dirty="0"/>
              </a:p>
              <a:p>
                <a:r>
                  <a:rPr lang="en-AU" dirty="0"/>
                  <a:t>Step 5:</a:t>
                </a:r>
              </a:p>
              <a:p>
                <a:r>
                  <a:rPr lang="en-AU" dirty="0"/>
                  <a:t>Draw a line (with arrows)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blipFill>
                <a:blip r:embed="rId3"/>
                <a:stretch>
                  <a:fillRect l="-2200" t="-649" r="-489" b="-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0615481"/>
                  </p:ext>
                </p:extLst>
              </p:nvPr>
            </p:nvGraphicFramePr>
            <p:xfrm>
              <a:off x="2245969" y="2361937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0615481"/>
                  </p:ext>
                </p:extLst>
              </p:nvPr>
            </p:nvGraphicFramePr>
            <p:xfrm>
              <a:off x="2245969" y="2361937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316" r="-400885" b="-103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01316" r="-400885" b="-3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7032392-6D6E-4DA5-8936-331DAF0C2D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2621753"/>
                  </p:ext>
                </p:extLst>
              </p:nvPr>
            </p:nvGraphicFramePr>
            <p:xfrm>
              <a:off x="2247146" y="2330957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17032392-6D6E-4DA5-8936-331DAF0C2D4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2621753"/>
                  </p:ext>
                </p:extLst>
              </p:nvPr>
            </p:nvGraphicFramePr>
            <p:xfrm>
              <a:off x="2247146" y="2330957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6579" r="-400885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85" t="-106579" r="-400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C3024C3-FFAF-4CD6-901C-97DB506D61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22947"/>
                  </p:ext>
                </p:extLst>
              </p:nvPr>
            </p:nvGraphicFramePr>
            <p:xfrm>
              <a:off x="2245969" y="2317842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15">
                <a:extLst>
                  <a:ext uri="{FF2B5EF4-FFF2-40B4-BE49-F238E27FC236}">
                    <a16:creationId xmlns:a16="http://schemas.microsoft.com/office/drawing/2014/main" id="{AC3024C3-FFAF-4CD6-901C-97DB506D61A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5422947"/>
                  </p:ext>
                </p:extLst>
              </p:nvPr>
            </p:nvGraphicFramePr>
            <p:xfrm>
              <a:off x="2245969" y="2317842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85" t="-6579" r="-400885" b="-1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885" t="-106579" r="-400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4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b="0" dirty="0">
                              <a:solidFill>
                                <a:schemeClr val="tx1"/>
                              </a:solidFill>
                            </a:rPr>
                            <a:t>6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2" descr="Image result for cartesian plane">
            <a:extLst>
              <a:ext uri="{FF2B5EF4-FFF2-40B4-BE49-F238E27FC236}">
                <a16:creationId xmlns:a16="http://schemas.microsoft.com/office/drawing/2014/main" id="{596768C2-6755-48AA-8915-0181B540A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016AC7-4B51-427F-A593-20F6DDBC146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969" y="3513976"/>
            <a:ext cx="3581400" cy="3095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7248419C-4E3E-4E6F-9B8A-2ED58FEE999A}"/>
              </a:ext>
            </a:extLst>
          </p:cNvPr>
          <p:cNvSpPr/>
          <p:nvPr/>
        </p:nvSpPr>
        <p:spPr>
          <a:xfrm>
            <a:off x="3625850" y="5130800"/>
            <a:ext cx="95250" cy="88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12550D-2EA8-428B-8C52-3882970C3D13}"/>
              </a:ext>
            </a:extLst>
          </p:cNvPr>
          <p:cNvSpPr/>
          <p:nvPr/>
        </p:nvSpPr>
        <p:spPr>
          <a:xfrm>
            <a:off x="3873500" y="4654550"/>
            <a:ext cx="95250" cy="88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57D11DA-CCA3-45B0-94D1-619C29B5BA61}"/>
              </a:ext>
            </a:extLst>
          </p:cNvPr>
          <p:cNvSpPr/>
          <p:nvPr/>
        </p:nvSpPr>
        <p:spPr>
          <a:xfrm>
            <a:off x="4099803" y="4192213"/>
            <a:ext cx="95250" cy="88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262705C-36AC-466B-B411-9EC7EB2CC9AA}"/>
              </a:ext>
            </a:extLst>
          </p:cNvPr>
          <p:cNvSpPr/>
          <p:nvPr/>
        </p:nvSpPr>
        <p:spPr>
          <a:xfrm>
            <a:off x="4344458" y="3684256"/>
            <a:ext cx="95250" cy="889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E31D62-61CA-4F46-B39A-5964417A0C5C}"/>
              </a:ext>
            </a:extLst>
          </p:cNvPr>
          <p:cNvCxnSpPr>
            <a:cxnSpLocks/>
          </p:cNvCxnSpPr>
          <p:nvPr/>
        </p:nvCxnSpPr>
        <p:spPr>
          <a:xfrm flipV="1">
            <a:off x="3128433" y="3544956"/>
            <a:ext cx="1377459" cy="2703445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58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0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a linear equation on a graph?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183695" y="1117741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686CF1E-DA2D-42A4-8D5E-AD6AA7D1832F}"/>
              </a:ext>
            </a:extLst>
          </p:cNvPr>
          <p:cNvSpPr txBox="1"/>
          <p:nvPr/>
        </p:nvSpPr>
        <p:spPr>
          <a:xfrm>
            <a:off x="134192" y="1253765"/>
            <a:ext cx="16451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turn an equation into a graph?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/>
              <p:nvPr/>
            </p:nvSpPr>
            <p:spPr>
              <a:xfrm>
                <a:off x="2065861" y="1275790"/>
                <a:ext cx="346877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861" y="1275790"/>
                <a:ext cx="3468775" cy="923330"/>
              </a:xfrm>
              <a:prstGeom prst="rect">
                <a:avLst/>
              </a:prstGeom>
              <a:blipFill>
                <a:blip r:embed="rId2"/>
                <a:stretch>
                  <a:fillRect l="-1582" t="-3289" b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/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1:</a:t>
                </a:r>
              </a:p>
              <a:p>
                <a:r>
                  <a:rPr lang="en-AU" dirty="0"/>
                  <a:t>Create a table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2:</a:t>
                </a:r>
              </a:p>
              <a:p>
                <a:r>
                  <a:rPr lang="en-AU" dirty="0"/>
                  <a:t>Fill in the 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AU" dirty="0"/>
                  <a:t>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3:</a:t>
                </a:r>
              </a:p>
              <a:p>
                <a:r>
                  <a:rPr lang="en-AU" dirty="0"/>
                  <a:t>Use your rule to fill in the ‘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AU" dirty="0"/>
                  <a:t> 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4:</a:t>
                </a:r>
              </a:p>
              <a:p>
                <a:r>
                  <a:rPr lang="en-AU" dirty="0"/>
                  <a:t>Use your table to graph</a:t>
                </a:r>
              </a:p>
              <a:p>
                <a:endParaRPr lang="en-AU" dirty="0"/>
              </a:p>
              <a:p>
                <a:r>
                  <a:rPr lang="en-AU" dirty="0"/>
                  <a:t>Step 5:</a:t>
                </a:r>
              </a:p>
              <a:p>
                <a:r>
                  <a:rPr lang="en-AU" dirty="0"/>
                  <a:t>Draw a line (with arrows)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blipFill>
                <a:blip r:embed="rId3"/>
                <a:stretch>
                  <a:fillRect l="-2200" t="-649" r="-489" b="-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4851542"/>
                  </p:ext>
                </p:extLst>
              </p:nvPr>
            </p:nvGraphicFramePr>
            <p:xfrm>
              <a:off x="2247146" y="2267528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54851542"/>
                  </p:ext>
                </p:extLst>
              </p:nvPr>
            </p:nvGraphicFramePr>
            <p:xfrm>
              <a:off x="2247146" y="2267528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299" r="-400885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02632" r="-400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2" descr="Image result for cartesian plane">
            <a:extLst>
              <a:ext uri="{FF2B5EF4-FFF2-40B4-BE49-F238E27FC236}">
                <a16:creationId xmlns:a16="http://schemas.microsoft.com/office/drawing/2014/main" id="{596768C2-6755-48AA-8915-0181B540A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016AC7-4B51-427F-A593-20F6DDBC1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32" y="3448084"/>
            <a:ext cx="3581400" cy="3095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91993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7913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plot a linear equation on a graph?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E86DD6F-3588-4009-8835-6AC53B067E59}"/>
              </a:ext>
            </a:extLst>
          </p:cNvPr>
          <p:cNvCxnSpPr/>
          <p:nvPr/>
        </p:nvCxnSpPr>
        <p:spPr>
          <a:xfrm>
            <a:off x="6183695" y="1117741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686CF1E-DA2D-42A4-8D5E-AD6AA7D1832F}"/>
              </a:ext>
            </a:extLst>
          </p:cNvPr>
          <p:cNvSpPr txBox="1"/>
          <p:nvPr/>
        </p:nvSpPr>
        <p:spPr>
          <a:xfrm>
            <a:off x="134192" y="1253765"/>
            <a:ext cx="16451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How do I turn an equation into a graph?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/>
              <p:nvPr/>
            </p:nvSpPr>
            <p:spPr>
              <a:xfrm>
                <a:off x="2171836" y="1230121"/>
                <a:ext cx="346877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Example:</a:t>
                </a:r>
              </a:p>
              <a:p>
                <a:endParaRPr lang="en-AU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FBE234-5042-4021-99ED-286CF2AC2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836" y="1230121"/>
                <a:ext cx="3468775" cy="923330"/>
              </a:xfrm>
              <a:prstGeom prst="rect">
                <a:avLst/>
              </a:prstGeom>
              <a:blipFill>
                <a:blip r:embed="rId2"/>
                <a:stretch>
                  <a:fillRect l="-1406" t="-3974" b="-33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/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Step 1:</a:t>
                </a:r>
              </a:p>
              <a:p>
                <a:r>
                  <a:rPr lang="en-AU" dirty="0"/>
                  <a:t>Create a table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2:</a:t>
                </a:r>
              </a:p>
              <a:p>
                <a:r>
                  <a:rPr lang="en-AU" dirty="0"/>
                  <a:t>Fill in the ‘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AU" dirty="0"/>
                  <a:t>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3:</a:t>
                </a:r>
              </a:p>
              <a:p>
                <a:r>
                  <a:rPr lang="en-AU" dirty="0"/>
                  <a:t>Use your rule to fill in the ‘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AU" dirty="0"/>
                  <a:t>  row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Step 4:</a:t>
                </a:r>
              </a:p>
              <a:p>
                <a:r>
                  <a:rPr lang="en-AU" dirty="0"/>
                  <a:t>Use your table to graph</a:t>
                </a:r>
              </a:p>
              <a:p>
                <a:endParaRPr lang="en-AU" dirty="0"/>
              </a:p>
              <a:p>
                <a:r>
                  <a:rPr lang="en-AU" dirty="0"/>
                  <a:t>Step 5:</a:t>
                </a:r>
              </a:p>
              <a:p>
                <a:r>
                  <a:rPr lang="en-AU" dirty="0"/>
                  <a:t>Draw a line (with arrows)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BECD3CE-3BAD-4014-AD30-9F56CA289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9360" y="1205143"/>
                <a:ext cx="2497814" cy="5632311"/>
              </a:xfrm>
              <a:prstGeom prst="rect">
                <a:avLst/>
              </a:prstGeom>
              <a:blipFill>
                <a:blip r:embed="rId3"/>
                <a:stretch>
                  <a:fillRect l="-2200" t="-649" r="-489" b="-7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7146" y="2267528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F3323F1C-5C49-421C-AF14-A88C1ACFAC12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247146" y="2267528"/>
              <a:ext cx="3430780" cy="9233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6156">
                      <a:extLst>
                        <a:ext uri="{9D8B030D-6E8A-4147-A177-3AD203B41FA5}">
                          <a16:colId xmlns:a16="http://schemas.microsoft.com/office/drawing/2014/main" val="3716455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778194436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1679436047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644591228"/>
                        </a:ext>
                      </a:extLst>
                    </a:gridCol>
                    <a:gridCol w="686156">
                      <a:extLst>
                        <a:ext uri="{9D8B030D-6E8A-4147-A177-3AD203B41FA5}">
                          <a16:colId xmlns:a16="http://schemas.microsoft.com/office/drawing/2014/main" val="3161016044"/>
                        </a:ext>
                      </a:extLst>
                    </a:gridCol>
                  </a:tblGrid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299" r="-400885" b="-1012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7783535"/>
                      </a:ext>
                    </a:extLst>
                  </a:tr>
                  <a:tr h="4616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885" t="-102632" r="-400885" b="-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46685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5" name="AutoShape 2" descr="Image result for cartesian plane">
            <a:extLst>
              <a:ext uri="{FF2B5EF4-FFF2-40B4-BE49-F238E27FC236}">
                <a16:creationId xmlns:a16="http://schemas.microsoft.com/office/drawing/2014/main" id="{596768C2-6755-48AA-8915-0181B540A2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016AC7-4B51-427F-A593-20F6DDBC14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32" y="3448084"/>
            <a:ext cx="3581400" cy="3095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1045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D5238-1BAF-465C-8E3F-05E8AC17A721}"/>
              </a:ext>
            </a:extLst>
          </p:cNvPr>
          <p:cNvSpPr/>
          <p:nvPr/>
        </p:nvSpPr>
        <p:spPr>
          <a:xfrm>
            <a:off x="175044" y="1982449"/>
            <a:ext cx="303961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Worksheet</a:t>
            </a:r>
          </a:p>
          <a:p>
            <a:pPr algn="ctr"/>
            <a:r>
              <a:rPr lang="en-US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 </a:t>
            </a:r>
            <a:r>
              <a:rPr lang="en-US" sz="4400" b="1" cap="none" spc="0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sym typeface="Wingdings" panose="05000000000000000000" pitchFamily="2" charset="2"/>
              </a:rPr>
              <a:t></a:t>
            </a:r>
            <a:endParaRPr lang="en-US" sz="4400" b="1" cap="none" spc="0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D3EE36-ADBF-4F72-B1F1-0CDDD29900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73" t="28059" r="35474" b="11310"/>
          <a:stretch/>
        </p:blipFill>
        <p:spPr>
          <a:xfrm>
            <a:off x="3409832" y="166036"/>
            <a:ext cx="5540675" cy="6504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5472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2947</TotalTime>
  <Words>478</Words>
  <Application>Microsoft Office PowerPoint</Application>
  <PresentationFormat>On-screen Show (4:3)</PresentationFormat>
  <Paragraphs>183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Algerian</vt:lpstr>
      <vt:lpstr>Arial</vt:lpstr>
      <vt:lpstr>Calibri</vt:lpstr>
      <vt:lpstr>Cambria Math</vt:lpstr>
      <vt:lpstr>Century Gothic</vt:lpstr>
      <vt:lpstr>Garamond</vt:lpstr>
      <vt:lpstr>Times New Roman</vt:lpstr>
      <vt:lpstr>Verdana</vt:lpstr>
      <vt:lpstr>Wingdings</vt:lpstr>
      <vt:lpstr>Savon</vt:lpstr>
      <vt:lpstr>My Linear Relationships Interactive Notebook</vt:lpstr>
      <vt:lpstr>Interactive Notebooks!</vt:lpstr>
      <vt:lpstr>revision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Jillian D'SOUZA</cp:lastModifiedBy>
  <cp:revision>93</cp:revision>
  <dcterms:created xsi:type="dcterms:W3CDTF">2016-04-30T07:20:25Z</dcterms:created>
  <dcterms:modified xsi:type="dcterms:W3CDTF">2018-10-17T01:37:22Z</dcterms:modified>
</cp:coreProperties>
</file>
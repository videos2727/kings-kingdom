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4" r:id="rId2"/>
    <p:sldId id="283" r:id="rId3"/>
    <p:sldId id="311" r:id="rId4"/>
    <p:sldId id="312" r:id="rId5"/>
    <p:sldId id="313" r:id="rId6"/>
    <p:sldId id="310" r:id="rId7"/>
    <p:sldId id="315" r:id="rId8"/>
    <p:sldId id="316" r:id="rId9"/>
    <p:sldId id="314" r:id="rId10"/>
  </p:sldIdLst>
  <p:sldSz cx="9144000" cy="5715000" type="screen16x1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4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35302"/>
            <a:ext cx="7772400" cy="19896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21/10/2018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9751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21/10/2018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17229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3"/>
            <a:ext cx="7886700" cy="2377281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4"/>
            <a:ext cx="7886700" cy="125015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21/10/2018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59051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21/10/2018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65072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2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400969"/>
            <a:ext cx="3887391" cy="6865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21/10/2018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55314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21/10/2018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5492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21/10/2018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68413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6"/>
            <a:ext cx="4629150" cy="406135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21/10/2018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1249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6"/>
            <a:ext cx="4629150" cy="406135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21/10/2018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22532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21/10/2018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30340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21/10/2018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51463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2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60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A99ED-A8AF-4676-B05C-E766400A731B}" type="datetimeFigureOut">
              <a:rPr lang="en-AU" smtClean="0"/>
              <a:t>21/10/2018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60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60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862D77-99F0-4D6E-B2D3-BD2B8A2B4978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62070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0757" y="633046"/>
            <a:ext cx="675952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You need to higher an electrician to install new cables ring around to get some quotes.</a:t>
            </a:r>
          </a:p>
          <a:p>
            <a:endParaRPr lang="en-AU" dirty="0"/>
          </a:p>
          <a:p>
            <a:r>
              <a:rPr lang="en-AU" dirty="0"/>
              <a:t>	quote 1 = $100 call out fee + $40 per hour</a:t>
            </a:r>
          </a:p>
          <a:p>
            <a:endParaRPr lang="en-AU" dirty="0"/>
          </a:p>
          <a:p>
            <a:r>
              <a:rPr lang="en-AU" dirty="0"/>
              <a:t>	quote 2 = $150 call out fee and $35 per hour</a:t>
            </a:r>
          </a:p>
          <a:p>
            <a:endParaRPr lang="en-AU" dirty="0"/>
          </a:p>
          <a:p>
            <a:r>
              <a:rPr lang="en-AU" dirty="0"/>
              <a:t>	quote 3 = $50 call out fee and $50 per hour</a:t>
            </a:r>
          </a:p>
          <a:p>
            <a:endParaRPr lang="en-AU" dirty="0"/>
          </a:p>
          <a:p>
            <a:r>
              <a:rPr lang="en-AU" dirty="0"/>
              <a:t>So which is cheapest? </a:t>
            </a:r>
          </a:p>
          <a:p>
            <a:r>
              <a:rPr lang="en-AU" dirty="0"/>
              <a:t>	Well that depends on how long it takes.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93427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0788" y="433754"/>
            <a:ext cx="67595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You need to hire an electrician to install new cables .  The quote comes back as;</a:t>
            </a:r>
          </a:p>
          <a:p>
            <a:endParaRPr lang="en-AU" dirty="0"/>
          </a:p>
          <a:p>
            <a:r>
              <a:rPr lang="en-AU" dirty="0"/>
              <a:t>	Cost = $40 per hour + $100 call out fee</a:t>
            </a:r>
          </a:p>
          <a:p>
            <a:endParaRPr lang="en-AU" dirty="0"/>
          </a:p>
          <a:p>
            <a:r>
              <a:rPr lang="en-AU" dirty="0"/>
              <a:t>So how much will it cost?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704928-254E-460E-8D72-B119D299676A}"/>
              </a:ext>
            </a:extLst>
          </p:cNvPr>
          <p:cNvSpPr/>
          <p:nvPr/>
        </p:nvSpPr>
        <p:spPr>
          <a:xfrm>
            <a:off x="1242644" y="2857500"/>
            <a:ext cx="57325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We can use our quote to create a table.</a:t>
            </a:r>
          </a:p>
          <a:p>
            <a:r>
              <a:rPr lang="en-AU" dirty="0"/>
              <a:t>	</a:t>
            </a:r>
            <a:r>
              <a:rPr lang="en-AU" dirty="0" err="1"/>
              <a:t>eg.</a:t>
            </a:r>
            <a:r>
              <a:rPr lang="en-AU" dirty="0"/>
              <a:t>  Cost = $40 per hour + $100 call out fee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ED0EF7-7D17-48EA-88E7-64E65B53CF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842792"/>
              </p:ext>
            </p:extLst>
          </p:nvPr>
        </p:nvGraphicFramePr>
        <p:xfrm>
          <a:off x="1524000" y="3802411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x (hours)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y  (cost)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CD32944-D2B4-4586-9A7A-DA86AE7FFC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75465"/>
              </p:ext>
            </p:extLst>
          </p:nvPr>
        </p:nvGraphicFramePr>
        <p:xfrm>
          <a:off x="2733179" y="4168429"/>
          <a:ext cx="4886821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2283">
                  <a:extLst>
                    <a:ext uri="{9D8B030D-6E8A-4147-A177-3AD203B41FA5}">
                      <a16:colId xmlns:a16="http://schemas.microsoft.com/office/drawing/2014/main" val="135837576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07135201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4181630751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717364913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1752599082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3546075338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37750020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861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7031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8648F97-1118-44D1-9E0E-0451E64B09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0842988"/>
                  </p:ext>
                </p:extLst>
              </p:nvPr>
            </p:nvGraphicFramePr>
            <p:xfrm>
              <a:off x="1418492" y="1756355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9179">
                      <a:extLst>
                        <a:ext uri="{9D8B030D-6E8A-4147-A177-3AD203B41FA5}">
                          <a16:colId xmlns:a16="http://schemas.microsoft.com/office/drawing/2014/main" val="278077261"/>
                        </a:ext>
                      </a:extLst>
                    </a:gridCol>
                    <a:gridCol w="682283">
                      <a:extLst>
                        <a:ext uri="{9D8B030D-6E8A-4147-A177-3AD203B41FA5}">
                          <a16:colId xmlns:a16="http://schemas.microsoft.com/office/drawing/2014/main" val="1969597377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1627569208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3110055326"/>
                        </a:ext>
                      </a:extLst>
                    </a:gridCol>
                    <a:gridCol w="766689">
                      <a:extLst>
                        <a:ext uri="{9D8B030D-6E8A-4147-A177-3AD203B41FA5}">
                          <a16:colId xmlns:a16="http://schemas.microsoft.com/office/drawing/2014/main" val="3557858824"/>
                        </a:ext>
                      </a:extLst>
                    </a:gridCol>
                    <a:gridCol w="801859">
                      <a:extLst>
                        <a:ext uri="{9D8B030D-6E8A-4147-A177-3AD203B41FA5}">
                          <a16:colId xmlns:a16="http://schemas.microsoft.com/office/drawing/2014/main" val="757867109"/>
                        </a:ext>
                      </a:extLst>
                    </a:gridCol>
                    <a:gridCol w="710418">
                      <a:extLst>
                        <a:ext uri="{9D8B030D-6E8A-4147-A177-3AD203B41FA5}">
                          <a16:colId xmlns:a16="http://schemas.microsoft.com/office/drawing/2014/main" val="2442703383"/>
                        </a:ext>
                      </a:extLst>
                    </a:gridCol>
                    <a:gridCol w="659480">
                      <a:extLst>
                        <a:ext uri="{9D8B030D-6E8A-4147-A177-3AD203B41FA5}">
                          <a16:colId xmlns:a16="http://schemas.microsoft.com/office/drawing/2014/main" val="234215476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Hours (</a:t>
                          </a:r>
                          <a14:m>
                            <m:oMath xmlns:m="http://schemas.openxmlformats.org/officeDocument/2006/math"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29718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Cost (</a:t>
                          </a:r>
                          <a14:m>
                            <m:oMath xmlns:m="http://schemas.openxmlformats.org/officeDocument/2006/math"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AU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340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53412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8648F97-1118-44D1-9E0E-0451E64B09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0842988"/>
                  </p:ext>
                </p:extLst>
              </p:nvPr>
            </p:nvGraphicFramePr>
            <p:xfrm>
              <a:off x="1418492" y="1756355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9179">
                      <a:extLst>
                        <a:ext uri="{9D8B030D-6E8A-4147-A177-3AD203B41FA5}">
                          <a16:colId xmlns:a16="http://schemas.microsoft.com/office/drawing/2014/main" val="278077261"/>
                        </a:ext>
                      </a:extLst>
                    </a:gridCol>
                    <a:gridCol w="682283">
                      <a:extLst>
                        <a:ext uri="{9D8B030D-6E8A-4147-A177-3AD203B41FA5}">
                          <a16:colId xmlns:a16="http://schemas.microsoft.com/office/drawing/2014/main" val="1969597377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1627569208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3110055326"/>
                        </a:ext>
                      </a:extLst>
                    </a:gridCol>
                    <a:gridCol w="766689">
                      <a:extLst>
                        <a:ext uri="{9D8B030D-6E8A-4147-A177-3AD203B41FA5}">
                          <a16:colId xmlns:a16="http://schemas.microsoft.com/office/drawing/2014/main" val="3557858824"/>
                        </a:ext>
                      </a:extLst>
                    </a:gridCol>
                    <a:gridCol w="801859">
                      <a:extLst>
                        <a:ext uri="{9D8B030D-6E8A-4147-A177-3AD203B41FA5}">
                          <a16:colId xmlns:a16="http://schemas.microsoft.com/office/drawing/2014/main" val="757867109"/>
                        </a:ext>
                      </a:extLst>
                    </a:gridCol>
                    <a:gridCol w="710418">
                      <a:extLst>
                        <a:ext uri="{9D8B030D-6E8A-4147-A177-3AD203B41FA5}">
                          <a16:colId xmlns:a16="http://schemas.microsoft.com/office/drawing/2014/main" val="2442703383"/>
                        </a:ext>
                      </a:extLst>
                    </a:gridCol>
                    <a:gridCol w="659480">
                      <a:extLst>
                        <a:ext uri="{9D8B030D-6E8A-4147-A177-3AD203B41FA5}">
                          <a16:colId xmlns:a16="http://schemas.microsoft.com/office/drawing/2014/main" val="234215476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3" t="-8197" r="-40402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29718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3" t="-108197" r="-40402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340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53412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1AE54B8F-6594-4FBD-8B7D-A55B29DFF272}"/>
              </a:ext>
            </a:extLst>
          </p:cNvPr>
          <p:cNvSpPr/>
          <p:nvPr/>
        </p:nvSpPr>
        <p:spPr>
          <a:xfrm>
            <a:off x="2537235" y="814945"/>
            <a:ext cx="3811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Cost = $40 per hour + $100 call out fee</a:t>
            </a:r>
          </a:p>
        </p:txBody>
      </p:sp>
      <p:sp>
        <p:nvSpPr>
          <p:cNvPr id="4" name="Arrow: Curved Up 3">
            <a:extLst>
              <a:ext uri="{FF2B5EF4-FFF2-40B4-BE49-F238E27FC236}">
                <a16:creationId xmlns:a16="http://schemas.microsoft.com/office/drawing/2014/main" id="{BA5F49EC-7155-4283-B9AC-6F23F8C8EA14}"/>
              </a:ext>
            </a:extLst>
          </p:cNvPr>
          <p:cNvSpPr/>
          <p:nvPr/>
        </p:nvSpPr>
        <p:spPr>
          <a:xfrm>
            <a:off x="3024554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F5FB52-4392-40F6-BF43-8D37BBC8743F}"/>
              </a:ext>
            </a:extLst>
          </p:cNvPr>
          <p:cNvSpPr txBox="1"/>
          <p:nvPr/>
        </p:nvSpPr>
        <p:spPr>
          <a:xfrm>
            <a:off x="2778370" y="3627150"/>
            <a:ext cx="4255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1. Every 1  hour our cost increases by $40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ABF8-4308-4688-88AE-4FA8FEA67E68}"/>
              </a:ext>
            </a:extLst>
          </p:cNvPr>
          <p:cNvSpPr txBox="1"/>
          <p:nvPr/>
        </p:nvSpPr>
        <p:spPr>
          <a:xfrm>
            <a:off x="548052" y="245992"/>
            <a:ext cx="7748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Lets have a look at our table and our rule and look for how they work together</a:t>
            </a:r>
          </a:p>
        </p:txBody>
      </p:sp>
      <p:sp>
        <p:nvSpPr>
          <p:cNvPr id="7" name="Arrow: Curved Up 6">
            <a:extLst>
              <a:ext uri="{FF2B5EF4-FFF2-40B4-BE49-F238E27FC236}">
                <a16:creationId xmlns:a16="http://schemas.microsoft.com/office/drawing/2014/main" id="{26F7156C-0BC4-43BB-B3A7-C402E48EE3EC}"/>
              </a:ext>
            </a:extLst>
          </p:cNvPr>
          <p:cNvSpPr/>
          <p:nvPr/>
        </p:nvSpPr>
        <p:spPr>
          <a:xfrm>
            <a:off x="3733800" y="2498035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8" name="Arrow: Curved Up 7">
            <a:extLst>
              <a:ext uri="{FF2B5EF4-FFF2-40B4-BE49-F238E27FC236}">
                <a16:creationId xmlns:a16="http://schemas.microsoft.com/office/drawing/2014/main" id="{22079161-A8CA-4879-B41D-3150601C7972}"/>
              </a:ext>
            </a:extLst>
          </p:cNvPr>
          <p:cNvSpPr/>
          <p:nvPr/>
        </p:nvSpPr>
        <p:spPr>
          <a:xfrm>
            <a:off x="4443046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9" name="Arrow: Curved Up 8">
            <a:extLst>
              <a:ext uri="{FF2B5EF4-FFF2-40B4-BE49-F238E27FC236}">
                <a16:creationId xmlns:a16="http://schemas.microsoft.com/office/drawing/2014/main" id="{BEF7D33A-C84B-40FF-8E85-1B348C2322F4}"/>
              </a:ext>
            </a:extLst>
          </p:cNvPr>
          <p:cNvSpPr/>
          <p:nvPr/>
        </p:nvSpPr>
        <p:spPr>
          <a:xfrm>
            <a:off x="5152291" y="2480899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0" name="Arrow: Curved Up 9">
            <a:extLst>
              <a:ext uri="{FF2B5EF4-FFF2-40B4-BE49-F238E27FC236}">
                <a16:creationId xmlns:a16="http://schemas.microsoft.com/office/drawing/2014/main" id="{98CE1DFD-EE77-43BB-B52C-A3317206EBD7}"/>
              </a:ext>
            </a:extLst>
          </p:cNvPr>
          <p:cNvSpPr/>
          <p:nvPr/>
        </p:nvSpPr>
        <p:spPr>
          <a:xfrm>
            <a:off x="5855673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1" name="Arrow: Curved Up 10">
            <a:extLst>
              <a:ext uri="{FF2B5EF4-FFF2-40B4-BE49-F238E27FC236}">
                <a16:creationId xmlns:a16="http://schemas.microsoft.com/office/drawing/2014/main" id="{F542414E-3685-4246-BAFD-C94B6AB2B618}"/>
              </a:ext>
            </a:extLst>
          </p:cNvPr>
          <p:cNvSpPr/>
          <p:nvPr/>
        </p:nvSpPr>
        <p:spPr>
          <a:xfrm>
            <a:off x="6570782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F98D7B-52BD-438E-B925-942274370B72}"/>
              </a:ext>
            </a:extLst>
          </p:cNvPr>
          <p:cNvSpPr txBox="1"/>
          <p:nvPr/>
        </p:nvSpPr>
        <p:spPr>
          <a:xfrm>
            <a:off x="2945423" y="2831121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+$40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4050D9-5F3D-4EA5-8D03-39A18C9236DA}"/>
              </a:ext>
            </a:extLst>
          </p:cNvPr>
          <p:cNvSpPr txBox="1"/>
          <p:nvPr/>
        </p:nvSpPr>
        <p:spPr>
          <a:xfrm>
            <a:off x="3713283" y="2822329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+$40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B61C27-CDC5-4254-B13D-DF9E017365E5}"/>
              </a:ext>
            </a:extLst>
          </p:cNvPr>
          <p:cNvSpPr txBox="1"/>
          <p:nvPr/>
        </p:nvSpPr>
        <p:spPr>
          <a:xfrm>
            <a:off x="4466492" y="281060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+$40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E1B499-3AC5-40FE-AEC6-67BEF36129A8}"/>
              </a:ext>
            </a:extLst>
          </p:cNvPr>
          <p:cNvSpPr txBox="1"/>
          <p:nvPr/>
        </p:nvSpPr>
        <p:spPr>
          <a:xfrm>
            <a:off x="5099534" y="281060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+$40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38F0B3-B4E1-4B95-A3E0-8DEBA1D4F867}"/>
              </a:ext>
            </a:extLst>
          </p:cNvPr>
          <p:cNvSpPr txBox="1"/>
          <p:nvPr/>
        </p:nvSpPr>
        <p:spPr>
          <a:xfrm>
            <a:off x="5808780" y="281060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+$40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23DD25-632E-43BC-825B-754BB56226A2}"/>
              </a:ext>
            </a:extLst>
          </p:cNvPr>
          <p:cNvSpPr txBox="1"/>
          <p:nvPr/>
        </p:nvSpPr>
        <p:spPr>
          <a:xfrm>
            <a:off x="6570782" y="2796401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+$40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D19CFB-A5D3-44FE-8224-CFDB143D1058}"/>
              </a:ext>
            </a:extLst>
          </p:cNvPr>
          <p:cNvSpPr txBox="1"/>
          <p:nvPr/>
        </p:nvSpPr>
        <p:spPr>
          <a:xfrm>
            <a:off x="656492" y="3266610"/>
            <a:ext cx="2919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2 things do we see?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FC74E5D-8A39-408C-8FD1-51B3C10DBE29}"/>
                  </a:ext>
                </a:extLst>
              </p:cNvPr>
              <p:cNvSpPr txBox="1"/>
              <p:nvPr/>
            </p:nvSpPr>
            <p:spPr>
              <a:xfrm>
                <a:off x="3049503" y="1133648"/>
                <a:ext cx="237828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=40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+100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FC74E5D-8A39-408C-8FD1-51B3C10DB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503" y="1133648"/>
                <a:ext cx="237828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9140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8648F97-1118-44D1-9E0E-0451E64B09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7551173"/>
                  </p:ext>
                </p:extLst>
              </p:nvPr>
            </p:nvGraphicFramePr>
            <p:xfrm>
              <a:off x="1418492" y="1756355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9179">
                      <a:extLst>
                        <a:ext uri="{9D8B030D-6E8A-4147-A177-3AD203B41FA5}">
                          <a16:colId xmlns:a16="http://schemas.microsoft.com/office/drawing/2014/main" val="278077261"/>
                        </a:ext>
                      </a:extLst>
                    </a:gridCol>
                    <a:gridCol w="682283">
                      <a:extLst>
                        <a:ext uri="{9D8B030D-6E8A-4147-A177-3AD203B41FA5}">
                          <a16:colId xmlns:a16="http://schemas.microsoft.com/office/drawing/2014/main" val="1969597377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1627569208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3110055326"/>
                        </a:ext>
                      </a:extLst>
                    </a:gridCol>
                    <a:gridCol w="766689">
                      <a:extLst>
                        <a:ext uri="{9D8B030D-6E8A-4147-A177-3AD203B41FA5}">
                          <a16:colId xmlns:a16="http://schemas.microsoft.com/office/drawing/2014/main" val="3557858824"/>
                        </a:ext>
                      </a:extLst>
                    </a:gridCol>
                    <a:gridCol w="801859">
                      <a:extLst>
                        <a:ext uri="{9D8B030D-6E8A-4147-A177-3AD203B41FA5}">
                          <a16:colId xmlns:a16="http://schemas.microsoft.com/office/drawing/2014/main" val="757867109"/>
                        </a:ext>
                      </a:extLst>
                    </a:gridCol>
                    <a:gridCol w="710418">
                      <a:extLst>
                        <a:ext uri="{9D8B030D-6E8A-4147-A177-3AD203B41FA5}">
                          <a16:colId xmlns:a16="http://schemas.microsoft.com/office/drawing/2014/main" val="2442703383"/>
                        </a:ext>
                      </a:extLst>
                    </a:gridCol>
                    <a:gridCol w="659480">
                      <a:extLst>
                        <a:ext uri="{9D8B030D-6E8A-4147-A177-3AD203B41FA5}">
                          <a16:colId xmlns:a16="http://schemas.microsoft.com/office/drawing/2014/main" val="234215476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Hours (</a:t>
                          </a:r>
                          <a14:m>
                            <m:oMath xmlns:m="http://schemas.openxmlformats.org/officeDocument/2006/math"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29718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Cost (</a:t>
                          </a:r>
                          <a14:m>
                            <m:oMath xmlns:m="http://schemas.openxmlformats.org/officeDocument/2006/math"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AU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340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53412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8648F97-1118-44D1-9E0E-0451E64B09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7551173"/>
                  </p:ext>
                </p:extLst>
              </p:nvPr>
            </p:nvGraphicFramePr>
            <p:xfrm>
              <a:off x="1418492" y="1756355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9179">
                      <a:extLst>
                        <a:ext uri="{9D8B030D-6E8A-4147-A177-3AD203B41FA5}">
                          <a16:colId xmlns:a16="http://schemas.microsoft.com/office/drawing/2014/main" val="278077261"/>
                        </a:ext>
                      </a:extLst>
                    </a:gridCol>
                    <a:gridCol w="682283">
                      <a:extLst>
                        <a:ext uri="{9D8B030D-6E8A-4147-A177-3AD203B41FA5}">
                          <a16:colId xmlns:a16="http://schemas.microsoft.com/office/drawing/2014/main" val="1969597377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1627569208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3110055326"/>
                        </a:ext>
                      </a:extLst>
                    </a:gridCol>
                    <a:gridCol w="766689">
                      <a:extLst>
                        <a:ext uri="{9D8B030D-6E8A-4147-A177-3AD203B41FA5}">
                          <a16:colId xmlns:a16="http://schemas.microsoft.com/office/drawing/2014/main" val="3557858824"/>
                        </a:ext>
                      </a:extLst>
                    </a:gridCol>
                    <a:gridCol w="801859">
                      <a:extLst>
                        <a:ext uri="{9D8B030D-6E8A-4147-A177-3AD203B41FA5}">
                          <a16:colId xmlns:a16="http://schemas.microsoft.com/office/drawing/2014/main" val="757867109"/>
                        </a:ext>
                      </a:extLst>
                    </a:gridCol>
                    <a:gridCol w="710418">
                      <a:extLst>
                        <a:ext uri="{9D8B030D-6E8A-4147-A177-3AD203B41FA5}">
                          <a16:colId xmlns:a16="http://schemas.microsoft.com/office/drawing/2014/main" val="2442703383"/>
                        </a:ext>
                      </a:extLst>
                    </a:gridCol>
                    <a:gridCol w="659480">
                      <a:extLst>
                        <a:ext uri="{9D8B030D-6E8A-4147-A177-3AD203B41FA5}">
                          <a16:colId xmlns:a16="http://schemas.microsoft.com/office/drawing/2014/main" val="234215476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3" t="-8197" r="-40402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29718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3" t="-108197" r="-40402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340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53412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Arrow: Curved Up 3">
            <a:extLst>
              <a:ext uri="{FF2B5EF4-FFF2-40B4-BE49-F238E27FC236}">
                <a16:creationId xmlns:a16="http://schemas.microsoft.com/office/drawing/2014/main" id="{BA5F49EC-7155-4283-B9AC-6F23F8C8EA14}"/>
              </a:ext>
            </a:extLst>
          </p:cNvPr>
          <p:cNvSpPr/>
          <p:nvPr/>
        </p:nvSpPr>
        <p:spPr>
          <a:xfrm>
            <a:off x="3024554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F5FB52-4392-40F6-BF43-8D37BBC8743F}"/>
              </a:ext>
            </a:extLst>
          </p:cNvPr>
          <p:cNvSpPr txBox="1"/>
          <p:nvPr/>
        </p:nvSpPr>
        <p:spPr>
          <a:xfrm>
            <a:off x="2945423" y="4201810"/>
            <a:ext cx="4255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2. At time = 0 we are charged $100</a:t>
            </a:r>
            <a:endParaRPr lang="en-AU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ABF8-4308-4688-88AE-4FA8FEA67E68}"/>
              </a:ext>
            </a:extLst>
          </p:cNvPr>
          <p:cNvSpPr txBox="1"/>
          <p:nvPr/>
        </p:nvSpPr>
        <p:spPr>
          <a:xfrm>
            <a:off x="269631" y="257908"/>
            <a:ext cx="7748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Lets have a look at our table and our rule and look for how they work together</a:t>
            </a:r>
          </a:p>
        </p:txBody>
      </p:sp>
      <p:sp>
        <p:nvSpPr>
          <p:cNvPr id="7" name="Arrow: Curved Up 6">
            <a:extLst>
              <a:ext uri="{FF2B5EF4-FFF2-40B4-BE49-F238E27FC236}">
                <a16:creationId xmlns:a16="http://schemas.microsoft.com/office/drawing/2014/main" id="{26F7156C-0BC4-43BB-B3A7-C402E48EE3EC}"/>
              </a:ext>
            </a:extLst>
          </p:cNvPr>
          <p:cNvSpPr/>
          <p:nvPr/>
        </p:nvSpPr>
        <p:spPr>
          <a:xfrm>
            <a:off x="3733800" y="2498035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8" name="Arrow: Curved Up 7">
            <a:extLst>
              <a:ext uri="{FF2B5EF4-FFF2-40B4-BE49-F238E27FC236}">
                <a16:creationId xmlns:a16="http://schemas.microsoft.com/office/drawing/2014/main" id="{22079161-A8CA-4879-B41D-3150601C7972}"/>
              </a:ext>
            </a:extLst>
          </p:cNvPr>
          <p:cNvSpPr/>
          <p:nvPr/>
        </p:nvSpPr>
        <p:spPr>
          <a:xfrm>
            <a:off x="4443046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9" name="Arrow: Curved Up 8">
            <a:extLst>
              <a:ext uri="{FF2B5EF4-FFF2-40B4-BE49-F238E27FC236}">
                <a16:creationId xmlns:a16="http://schemas.microsoft.com/office/drawing/2014/main" id="{BEF7D33A-C84B-40FF-8E85-1B348C2322F4}"/>
              </a:ext>
            </a:extLst>
          </p:cNvPr>
          <p:cNvSpPr/>
          <p:nvPr/>
        </p:nvSpPr>
        <p:spPr>
          <a:xfrm>
            <a:off x="5152291" y="2480899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0" name="Arrow: Curved Up 9">
            <a:extLst>
              <a:ext uri="{FF2B5EF4-FFF2-40B4-BE49-F238E27FC236}">
                <a16:creationId xmlns:a16="http://schemas.microsoft.com/office/drawing/2014/main" id="{98CE1DFD-EE77-43BB-B52C-A3317206EBD7}"/>
              </a:ext>
            </a:extLst>
          </p:cNvPr>
          <p:cNvSpPr/>
          <p:nvPr/>
        </p:nvSpPr>
        <p:spPr>
          <a:xfrm>
            <a:off x="5855673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1" name="Arrow: Curved Up 10">
            <a:extLst>
              <a:ext uri="{FF2B5EF4-FFF2-40B4-BE49-F238E27FC236}">
                <a16:creationId xmlns:a16="http://schemas.microsoft.com/office/drawing/2014/main" id="{F542414E-3685-4246-BAFD-C94B6AB2B618}"/>
              </a:ext>
            </a:extLst>
          </p:cNvPr>
          <p:cNvSpPr/>
          <p:nvPr/>
        </p:nvSpPr>
        <p:spPr>
          <a:xfrm>
            <a:off x="6570782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F98D7B-52BD-438E-B925-942274370B72}"/>
              </a:ext>
            </a:extLst>
          </p:cNvPr>
          <p:cNvSpPr txBox="1"/>
          <p:nvPr/>
        </p:nvSpPr>
        <p:spPr>
          <a:xfrm>
            <a:off x="2945423" y="2831121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4050D9-5F3D-4EA5-8D03-39A18C9236DA}"/>
              </a:ext>
            </a:extLst>
          </p:cNvPr>
          <p:cNvSpPr txBox="1"/>
          <p:nvPr/>
        </p:nvSpPr>
        <p:spPr>
          <a:xfrm>
            <a:off x="3713283" y="2822329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B61C27-CDC5-4254-B13D-DF9E017365E5}"/>
              </a:ext>
            </a:extLst>
          </p:cNvPr>
          <p:cNvSpPr txBox="1"/>
          <p:nvPr/>
        </p:nvSpPr>
        <p:spPr>
          <a:xfrm>
            <a:off x="4466492" y="281060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E1B499-3AC5-40FE-AEC6-67BEF36129A8}"/>
              </a:ext>
            </a:extLst>
          </p:cNvPr>
          <p:cNvSpPr txBox="1"/>
          <p:nvPr/>
        </p:nvSpPr>
        <p:spPr>
          <a:xfrm>
            <a:off x="5099534" y="281060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38F0B3-B4E1-4B95-A3E0-8DEBA1D4F867}"/>
              </a:ext>
            </a:extLst>
          </p:cNvPr>
          <p:cNvSpPr txBox="1"/>
          <p:nvPr/>
        </p:nvSpPr>
        <p:spPr>
          <a:xfrm>
            <a:off x="5808780" y="281060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23DD25-632E-43BC-825B-754BB56226A2}"/>
              </a:ext>
            </a:extLst>
          </p:cNvPr>
          <p:cNvSpPr txBox="1"/>
          <p:nvPr/>
        </p:nvSpPr>
        <p:spPr>
          <a:xfrm>
            <a:off x="6570782" y="2796401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D19CFB-A5D3-44FE-8224-CFDB143D1058}"/>
              </a:ext>
            </a:extLst>
          </p:cNvPr>
          <p:cNvSpPr txBox="1"/>
          <p:nvPr/>
        </p:nvSpPr>
        <p:spPr>
          <a:xfrm>
            <a:off x="656492" y="3266610"/>
            <a:ext cx="2919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2 things do we see?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1FFB39-CE83-4A30-93E6-A2FC1895DD55}"/>
              </a:ext>
            </a:extLst>
          </p:cNvPr>
          <p:cNvSpPr txBox="1"/>
          <p:nvPr/>
        </p:nvSpPr>
        <p:spPr>
          <a:xfrm>
            <a:off x="2930770" y="3779550"/>
            <a:ext cx="4255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1. Every 1  hour our cost increases by </a:t>
            </a:r>
            <a:r>
              <a:rPr lang="en-AU" dirty="0">
                <a:highlight>
                  <a:srgbClr val="FFFF00"/>
                </a:highlight>
              </a:rPr>
              <a:t>$40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DFD0E2-87C9-401C-B26F-B63B3FFC5A9B}"/>
              </a:ext>
            </a:extLst>
          </p:cNvPr>
          <p:cNvSpPr/>
          <p:nvPr/>
        </p:nvSpPr>
        <p:spPr>
          <a:xfrm>
            <a:off x="2537235" y="814945"/>
            <a:ext cx="3811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Cost = </a:t>
            </a:r>
            <a:r>
              <a:rPr lang="en-AU" dirty="0">
                <a:highlight>
                  <a:srgbClr val="FFFF00"/>
                </a:highlight>
              </a:rPr>
              <a:t>$40 </a:t>
            </a:r>
            <a:r>
              <a:rPr lang="en-AU" dirty="0"/>
              <a:t>per hour + $100 call out fee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C4A5AB4-8727-4FC4-8F1B-B60ED1026B7D}"/>
                  </a:ext>
                </a:extLst>
              </p:cNvPr>
              <p:cNvSpPr txBox="1"/>
              <p:nvPr/>
            </p:nvSpPr>
            <p:spPr>
              <a:xfrm>
                <a:off x="3049503" y="1133648"/>
                <a:ext cx="237828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=40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+100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C4A5AB4-8727-4FC4-8F1B-B60ED1026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503" y="1133648"/>
                <a:ext cx="237828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5527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8648F97-1118-44D1-9E0E-0451E64B09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8771982"/>
                  </p:ext>
                </p:extLst>
              </p:nvPr>
            </p:nvGraphicFramePr>
            <p:xfrm>
              <a:off x="1418492" y="1756355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9179">
                      <a:extLst>
                        <a:ext uri="{9D8B030D-6E8A-4147-A177-3AD203B41FA5}">
                          <a16:colId xmlns:a16="http://schemas.microsoft.com/office/drawing/2014/main" val="278077261"/>
                        </a:ext>
                      </a:extLst>
                    </a:gridCol>
                    <a:gridCol w="682283">
                      <a:extLst>
                        <a:ext uri="{9D8B030D-6E8A-4147-A177-3AD203B41FA5}">
                          <a16:colId xmlns:a16="http://schemas.microsoft.com/office/drawing/2014/main" val="1969597377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1627569208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3110055326"/>
                        </a:ext>
                      </a:extLst>
                    </a:gridCol>
                    <a:gridCol w="766689">
                      <a:extLst>
                        <a:ext uri="{9D8B030D-6E8A-4147-A177-3AD203B41FA5}">
                          <a16:colId xmlns:a16="http://schemas.microsoft.com/office/drawing/2014/main" val="3557858824"/>
                        </a:ext>
                      </a:extLst>
                    </a:gridCol>
                    <a:gridCol w="801859">
                      <a:extLst>
                        <a:ext uri="{9D8B030D-6E8A-4147-A177-3AD203B41FA5}">
                          <a16:colId xmlns:a16="http://schemas.microsoft.com/office/drawing/2014/main" val="757867109"/>
                        </a:ext>
                      </a:extLst>
                    </a:gridCol>
                    <a:gridCol w="710418">
                      <a:extLst>
                        <a:ext uri="{9D8B030D-6E8A-4147-A177-3AD203B41FA5}">
                          <a16:colId xmlns:a16="http://schemas.microsoft.com/office/drawing/2014/main" val="2442703383"/>
                        </a:ext>
                      </a:extLst>
                    </a:gridCol>
                    <a:gridCol w="659480">
                      <a:extLst>
                        <a:ext uri="{9D8B030D-6E8A-4147-A177-3AD203B41FA5}">
                          <a16:colId xmlns:a16="http://schemas.microsoft.com/office/drawing/2014/main" val="234215476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Hours (</a:t>
                          </a:r>
                          <a14:m>
                            <m:oMath xmlns:m="http://schemas.openxmlformats.org/officeDocument/2006/math"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AU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29718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Cost (</a:t>
                          </a:r>
                          <a14:m>
                            <m:oMath xmlns:m="http://schemas.openxmlformats.org/officeDocument/2006/math"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en-AU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  <a:highlight>
                                <a:srgbClr val="00FF00"/>
                              </a:highlight>
                            </a:rPr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340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53412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8648F97-1118-44D1-9E0E-0451E64B09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8771982"/>
                  </p:ext>
                </p:extLst>
              </p:nvPr>
            </p:nvGraphicFramePr>
            <p:xfrm>
              <a:off x="1418492" y="1756355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09179">
                      <a:extLst>
                        <a:ext uri="{9D8B030D-6E8A-4147-A177-3AD203B41FA5}">
                          <a16:colId xmlns:a16="http://schemas.microsoft.com/office/drawing/2014/main" val="278077261"/>
                        </a:ext>
                      </a:extLst>
                    </a:gridCol>
                    <a:gridCol w="682283">
                      <a:extLst>
                        <a:ext uri="{9D8B030D-6E8A-4147-A177-3AD203B41FA5}">
                          <a16:colId xmlns:a16="http://schemas.microsoft.com/office/drawing/2014/main" val="1969597377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1627569208"/>
                        </a:ext>
                      </a:extLst>
                    </a:gridCol>
                    <a:gridCol w="633046">
                      <a:extLst>
                        <a:ext uri="{9D8B030D-6E8A-4147-A177-3AD203B41FA5}">
                          <a16:colId xmlns:a16="http://schemas.microsoft.com/office/drawing/2014/main" val="3110055326"/>
                        </a:ext>
                      </a:extLst>
                    </a:gridCol>
                    <a:gridCol w="766689">
                      <a:extLst>
                        <a:ext uri="{9D8B030D-6E8A-4147-A177-3AD203B41FA5}">
                          <a16:colId xmlns:a16="http://schemas.microsoft.com/office/drawing/2014/main" val="3557858824"/>
                        </a:ext>
                      </a:extLst>
                    </a:gridCol>
                    <a:gridCol w="801859">
                      <a:extLst>
                        <a:ext uri="{9D8B030D-6E8A-4147-A177-3AD203B41FA5}">
                          <a16:colId xmlns:a16="http://schemas.microsoft.com/office/drawing/2014/main" val="757867109"/>
                        </a:ext>
                      </a:extLst>
                    </a:gridCol>
                    <a:gridCol w="710418">
                      <a:extLst>
                        <a:ext uri="{9D8B030D-6E8A-4147-A177-3AD203B41FA5}">
                          <a16:colId xmlns:a16="http://schemas.microsoft.com/office/drawing/2014/main" val="2442703383"/>
                        </a:ext>
                      </a:extLst>
                    </a:gridCol>
                    <a:gridCol w="659480">
                      <a:extLst>
                        <a:ext uri="{9D8B030D-6E8A-4147-A177-3AD203B41FA5}">
                          <a16:colId xmlns:a16="http://schemas.microsoft.com/office/drawing/2014/main" val="234215476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3" t="-8197" r="-40402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329718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3" t="-108197" r="-40402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chemeClr val="tx1"/>
                              </a:solidFill>
                              <a:highlight>
                                <a:srgbClr val="00FF00"/>
                              </a:highlight>
                            </a:rPr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180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220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260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340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53412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Arrow: Curved Up 3">
            <a:extLst>
              <a:ext uri="{FF2B5EF4-FFF2-40B4-BE49-F238E27FC236}">
                <a16:creationId xmlns:a16="http://schemas.microsoft.com/office/drawing/2014/main" id="{BA5F49EC-7155-4283-B9AC-6F23F8C8EA14}"/>
              </a:ext>
            </a:extLst>
          </p:cNvPr>
          <p:cNvSpPr/>
          <p:nvPr/>
        </p:nvSpPr>
        <p:spPr>
          <a:xfrm>
            <a:off x="3024554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F5FB52-4392-40F6-BF43-8D37BBC8743F}"/>
              </a:ext>
            </a:extLst>
          </p:cNvPr>
          <p:cNvSpPr txBox="1"/>
          <p:nvPr/>
        </p:nvSpPr>
        <p:spPr>
          <a:xfrm>
            <a:off x="2186350" y="4203905"/>
            <a:ext cx="4255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2. At time = 0 we are charged </a:t>
            </a:r>
            <a:r>
              <a:rPr lang="en-AU" dirty="0">
                <a:highlight>
                  <a:srgbClr val="00FF00"/>
                </a:highlight>
              </a:rPr>
              <a:t>$100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CFABF8-4308-4688-88AE-4FA8FEA67E68}"/>
              </a:ext>
            </a:extLst>
          </p:cNvPr>
          <p:cNvSpPr txBox="1"/>
          <p:nvPr/>
        </p:nvSpPr>
        <p:spPr>
          <a:xfrm>
            <a:off x="269631" y="257908"/>
            <a:ext cx="7748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Lets have a look at our table and our rule and look for how they work together</a:t>
            </a:r>
          </a:p>
        </p:txBody>
      </p:sp>
      <p:sp>
        <p:nvSpPr>
          <p:cNvPr id="7" name="Arrow: Curved Up 6">
            <a:extLst>
              <a:ext uri="{FF2B5EF4-FFF2-40B4-BE49-F238E27FC236}">
                <a16:creationId xmlns:a16="http://schemas.microsoft.com/office/drawing/2014/main" id="{26F7156C-0BC4-43BB-B3A7-C402E48EE3EC}"/>
              </a:ext>
            </a:extLst>
          </p:cNvPr>
          <p:cNvSpPr/>
          <p:nvPr/>
        </p:nvSpPr>
        <p:spPr>
          <a:xfrm>
            <a:off x="3733800" y="2498035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8" name="Arrow: Curved Up 7">
            <a:extLst>
              <a:ext uri="{FF2B5EF4-FFF2-40B4-BE49-F238E27FC236}">
                <a16:creationId xmlns:a16="http://schemas.microsoft.com/office/drawing/2014/main" id="{22079161-A8CA-4879-B41D-3150601C7972}"/>
              </a:ext>
            </a:extLst>
          </p:cNvPr>
          <p:cNvSpPr/>
          <p:nvPr/>
        </p:nvSpPr>
        <p:spPr>
          <a:xfrm>
            <a:off x="4443046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9" name="Arrow: Curved Up 8">
            <a:extLst>
              <a:ext uri="{FF2B5EF4-FFF2-40B4-BE49-F238E27FC236}">
                <a16:creationId xmlns:a16="http://schemas.microsoft.com/office/drawing/2014/main" id="{BEF7D33A-C84B-40FF-8E85-1B348C2322F4}"/>
              </a:ext>
            </a:extLst>
          </p:cNvPr>
          <p:cNvSpPr/>
          <p:nvPr/>
        </p:nvSpPr>
        <p:spPr>
          <a:xfrm>
            <a:off x="5152291" y="2480899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0" name="Arrow: Curved Up 9">
            <a:extLst>
              <a:ext uri="{FF2B5EF4-FFF2-40B4-BE49-F238E27FC236}">
                <a16:creationId xmlns:a16="http://schemas.microsoft.com/office/drawing/2014/main" id="{98CE1DFD-EE77-43BB-B52C-A3317206EBD7}"/>
              </a:ext>
            </a:extLst>
          </p:cNvPr>
          <p:cNvSpPr/>
          <p:nvPr/>
        </p:nvSpPr>
        <p:spPr>
          <a:xfrm>
            <a:off x="5855673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1" name="Arrow: Curved Up 10">
            <a:extLst>
              <a:ext uri="{FF2B5EF4-FFF2-40B4-BE49-F238E27FC236}">
                <a16:creationId xmlns:a16="http://schemas.microsoft.com/office/drawing/2014/main" id="{F542414E-3685-4246-BAFD-C94B6AB2B618}"/>
              </a:ext>
            </a:extLst>
          </p:cNvPr>
          <p:cNvSpPr/>
          <p:nvPr/>
        </p:nvSpPr>
        <p:spPr>
          <a:xfrm>
            <a:off x="6570782" y="2506827"/>
            <a:ext cx="550984" cy="31550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F98D7B-52BD-438E-B925-942274370B72}"/>
              </a:ext>
            </a:extLst>
          </p:cNvPr>
          <p:cNvSpPr txBox="1"/>
          <p:nvPr/>
        </p:nvSpPr>
        <p:spPr>
          <a:xfrm>
            <a:off x="2945423" y="2831121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4050D9-5F3D-4EA5-8D03-39A18C9236DA}"/>
              </a:ext>
            </a:extLst>
          </p:cNvPr>
          <p:cNvSpPr txBox="1"/>
          <p:nvPr/>
        </p:nvSpPr>
        <p:spPr>
          <a:xfrm>
            <a:off x="3713283" y="2822329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B61C27-CDC5-4254-B13D-DF9E017365E5}"/>
              </a:ext>
            </a:extLst>
          </p:cNvPr>
          <p:cNvSpPr txBox="1"/>
          <p:nvPr/>
        </p:nvSpPr>
        <p:spPr>
          <a:xfrm>
            <a:off x="4466492" y="281060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E1B499-3AC5-40FE-AEC6-67BEF36129A8}"/>
              </a:ext>
            </a:extLst>
          </p:cNvPr>
          <p:cNvSpPr txBox="1"/>
          <p:nvPr/>
        </p:nvSpPr>
        <p:spPr>
          <a:xfrm>
            <a:off x="5099534" y="281060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38F0B3-B4E1-4B95-A3E0-8DEBA1D4F867}"/>
              </a:ext>
            </a:extLst>
          </p:cNvPr>
          <p:cNvSpPr txBox="1"/>
          <p:nvPr/>
        </p:nvSpPr>
        <p:spPr>
          <a:xfrm>
            <a:off x="5808780" y="281060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23DD25-632E-43BC-825B-754BB56226A2}"/>
              </a:ext>
            </a:extLst>
          </p:cNvPr>
          <p:cNvSpPr txBox="1"/>
          <p:nvPr/>
        </p:nvSpPr>
        <p:spPr>
          <a:xfrm>
            <a:off x="6570782" y="2796401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highlight>
                  <a:srgbClr val="FFFF00"/>
                </a:highlight>
              </a:rPr>
              <a:t>+$40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D19CFB-A5D3-44FE-8224-CFDB143D1058}"/>
              </a:ext>
            </a:extLst>
          </p:cNvPr>
          <p:cNvSpPr txBox="1"/>
          <p:nvPr/>
        </p:nvSpPr>
        <p:spPr>
          <a:xfrm>
            <a:off x="656492" y="3266610"/>
            <a:ext cx="2919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2 things do we see?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1FFB39-CE83-4A30-93E6-A2FC1895DD55}"/>
              </a:ext>
            </a:extLst>
          </p:cNvPr>
          <p:cNvSpPr txBox="1"/>
          <p:nvPr/>
        </p:nvSpPr>
        <p:spPr>
          <a:xfrm>
            <a:off x="2157046" y="3627150"/>
            <a:ext cx="4255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1. Every 1  hour our cost increases by </a:t>
            </a:r>
            <a:r>
              <a:rPr lang="en-AU" dirty="0">
                <a:highlight>
                  <a:srgbClr val="FFFF00"/>
                </a:highlight>
              </a:rPr>
              <a:t>$40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DFD0E2-87C9-401C-B26F-B63B3FFC5A9B}"/>
              </a:ext>
            </a:extLst>
          </p:cNvPr>
          <p:cNvSpPr/>
          <p:nvPr/>
        </p:nvSpPr>
        <p:spPr>
          <a:xfrm>
            <a:off x="2537235" y="814945"/>
            <a:ext cx="3811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Cost = </a:t>
            </a:r>
            <a:r>
              <a:rPr lang="en-AU" dirty="0">
                <a:highlight>
                  <a:srgbClr val="FFFF00"/>
                </a:highlight>
              </a:rPr>
              <a:t>$40 </a:t>
            </a:r>
            <a:r>
              <a:rPr lang="en-AU" dirty="0"/>
              <a:t>per hour + $100 call out fee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C4A5AB4-8727-4FC4-8F1B-B60ED1026B7D}"/>
                  </a:ext>
                </a:extLst>
              </p:cNvPr>
              <p:cNvSpPr txBox="1"/>
              <p:nvPr/>
            </p:nvSpPr>
            <p:spPr>
              <a:xfrm>
                <a:off x="3049503" y="1133648"/>
                <a:ext cx="237828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=40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+100</m:t>
                      </m:r>
                    </m:oMath>
                  </m:oMathPara>
                </a14:m>
                <a:endParaRPr lang="en-AU" sz="2800" dirty="0">
                  <a:highlight>
                    <a:srgbClr val="00FF00"/>
                  </a:highlight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C4A5AB4-8727-4FC4-8F1B-B60ED1026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503" y="1133648"/>
                <a:ext cx="237828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A4BCB22-CEC6-4E59-B488-7B226291D3AC}"/>
              </a:ext>
            </a:extLst>
          </p:cNvPr>
          <p:cNvSpPr txBox="1"/>
          <p:nvPr/>
        </p:nvSpPr>
        <p:spPr>
          <a:xfrm>
            <a:off x="269631" y="4937350"/>
            <a:ext cx="8616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We can use the same method to find a rule for any linear equation</a:t>
            </a:r>
          </a:p>
        </p:txBody>
      </p:sp>
      <p:sp>
        <p:nvSpPr>
          <p:cNvPr id="23" name="Speech Bubble: Rectangle 22">
            <a:extLst>
              <a:ext uri="{FF2B5EF4-FFF2-40B4-BE49-F238E27FC236}">
                <a16:creationId xmlns:a16="http://schemas.microsoft.com/office/drawing/2014/main" id="{562DB45B-031C-4774-A56E-C5DB626C8F9C}"/>
              </a:ext>
            </a:extLst>
          </p:cNvPr>
          <p:cNvSpPr/>
          <p:nvPr/>
        </p:nvSpPr>
        <p:spPr>
          <a:xfrm>
            <a:off x="6740765" y="3264298"/>
            <a:ext cx="1969482" cy="797314"/>
          </a:xfrm>
          <a:prstGeom prst="wedgeRectCallout">
            <a:avLst>
              <a:gd name="adj1" fmla="val -65335"/>
              <a:gd name="adj2" fmla="val 15246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dirty="0"/>
              <a:t>This increase is called the </a:t>
            </a:r>
            <a:r>
              <a:rPr lang="en-AU" b="1" u="sng" dirty="0"/>
              <a:t>gradient</a:t>
            </a:r>
          </a:p>
        </p:txBody>
      </p:sp>
      <p:sp>
        <p:nvSpPr>
          <p:cNvPr id="24" name="Speech Bubble: Rectangle 23">
            <a:extLst>
              <a:ext uri="{FF2B5EF4-FFF2-40B4-BE49-F238E27FC236}">
                <a16:creationId xmlns:a16="http://schemas.microsoft.com/office/drawing/2014/main" id="{37A5AEBE-AF58-4D5A-A446-BF3645E7F93A}"/>
              </a:ext>
            </a:extLst>
          </p:cNvPr>
          <p:cNvSpPr/>
          <p:nvPr/>
        </p:nvSpPr>
        <p:spPr>
          <a:xfrm>
            <a:off x="6295287" y="4151207"/>
            <a:ext cx="1969482" cy="797314"/>
          </a:xfrm>
          <a:prstGeom prst="wedgeRectCallout">
            <a:avLst>
              <a:gd name="adj1" fmla="val -77835"/>
              <a:gd name="adj2" fmla="val -21512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dirty="0"/>
              <a:t>The start position is the </a:t>
            </a:r>
            <a:r>
              <a:rPr lang="en-AU" b="1" u="sng" dirty="0"/>
              <a:t>y-intercept</a:t>
            </a:r>
          </a:p>
        </p:txBody>
      </p:sp>
    </p:spTree>
    <p:extLst>
      <p:ext uri="{BB962C8B-B14F-4D97-AF65-F5344CB8AC3E}">
        <p14:creationId xmlns:p14="http://schemas.microsoft.com/office/powerpoint/2010/main" val="3556908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4611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92089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559" y="-54200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24</a:t>
            </a:r>
          </a:p>
          <a:p>
            <a:r>
              <a:rPr lang="en-AU" sz="1100" dirty="0"/>
              <a:t>7</a:t>
            </a:r>
          </a:p>
          <a:p>
            <a:r>
              <a:rPr lang="en-AU" sz="11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978213" y="920895"/>
            <a:ext cx="0" cy="57552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08126" y="1504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61170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rule for a linear relationship.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40" y="-495"/>
            <a:ext cx="2726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Finding a rule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286000" y="984738"/>
            <a:ext cx="6745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All Linear equations can be written in the form;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934F617-0B90-474C-9150-A199608AD656}"/>
                  </a:ext>
                </a:extLst>
              </p:cNvPr>
              <p:cNvSpPr txBox="1"/>
              <p:nvPr/>
            </p:nvSpPr>
            <p:spPr>
              <a:xfrm>
                <a:off x="3956427" y="1433773"/>
                <a:ext cx="192116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𝑀𝑥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AU" sz="2800" b="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934F617-0B90-474C-9150-A199608AD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427" y="1433773"/>
                <a:ext cx="1921167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A1D6F6BB-BB71-4892-97DA-ABAD60F25B39}"/>
              </a:ext>
            </a:extLst>
          </p:cNvPr>
          <p:cNvSpPr txBox="1"/>
          <p:nvPr/>
        </p:nvSpPr>
        <p:spPr>
          <a:xfrm>
            <a:off x="2776027" y="1821673"/>
            <a:ext cx="4046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=is the gradient</a:t>
            </a:r>
          </a:p>
          <a:p>
            <a:r>
              <a:rPr lang="en-AU" dirty="0"/>
              <a:t>C = the y-intercept (x value at time 0)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8DC1C2C-D23A-4AFF-AAB7-95B3FD82D5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077626"/>
              </p:ext>
            </p:extLst>
          </p:nvPr>
        </p:nvGraphicFramePr>
        <p:xfrm>
          <a:off x="2407598" y="2530936"/>
          <a:ext cx="6096000" cy="7978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432067">
                <a:tc>
                  <a:txBody>
                    <a:bodyPr/>
                    <a:lstStyle/>
                    <a:p>
                      <a:r>
                        <a:rPr lang="en-AU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39839">
                <a:tc>
                  <a:txBody>
                    <a:bodyPr/>
                    <a:lstStyle/>
                    <a:p>
                      <a:r>
                        <a:rPr lang="en-AU" dirty="0"/>
                        <a:t>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07173DB-F00A-402A-9DE1-79D283B515E7}"/>
              </a:ext>
            </a:extLst>
          </p:cNvPr>
          <p:cNvSpPr txBox="1"/>
          <p:nvPr/>
        </p:nvSpPr>
        <p:spPr>
          <a:xfrm>
            <a:off x="3181707" y="3798501"/>
            <a:ext cx="4736107" cy="3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= 2    as the y values increase by 2 each time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955E52-7C56-4B9A-B09C-972EFA3DAC5B}"/>
              </a:ext>
            </a:extLst>
          </p:cNvPr>
          <p:cNvSpPr txBox="1"/>
          <p:nvPr/>
        </p:nvSpPr>
        <p:spPr>
          <a:xfrm>
            <a:off x="3193053" y="4136352"/>
            <a:ext cx="4736107" cy="3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 = -5   as the y value when x is 0 is -5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B1CB3C-0E89-4A14-9B37-05DFA0FD13AE}"/>
                  </a:ext>
                </a:extLst>
              </p:cNvPr>
              <p:cNvSpPr txBox="1"/>
              <p:nvPr/>
            </p:nvSpPr>
            <p:spPr>
              <a:xfrm>
                <a:off x="2494760" y="4701993"/>
                <a:ext cx="570784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𝑀𝑥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𝑏𝑒𝑐𝑜𝑚𝑒𝑠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=2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 −5</m:t>
                      </m:r>
                    </m:oMath>
                  </m:oMathPara>
                </a14:m>
                <a:endParaRPr lang="en-AU" sz="2800" b="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B1CB3C-0E89-4A14-9B37-05DFA0FD1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4760" y="4701993"/>
                <a:ext cx="570784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ADDB1CFC-FD63-4583-A3E9-A6CCAA05863E}"/>
              </a:ext>
            </a:extLst>
          </p:cNvPr>
          <p:cNvSpPr/>
          <p:nvPr/>
        </p:nvSpPr>
        <p:spPr>
          <a:xfrm>
            <a:off x="3616469" y="3763332"/>
            <a:ext cx="339958" cy="369277"/>
          </a:xfrm>
          <a:prstGeom prst="ellipse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2" name="Arrow: Curved Up 21">
            <a:extLst>
              <a:ext uri="{FF2B5EF4-FFF2-40B4-BE49-F238E27FC236}">
                <a16:creationId xmlns:a16="http://schemas.microsoft.com/office/drawing/2014/main" id="{BABD022A-E51C-4762-B1C0-9E8DF6BE43EB}"/>
              </a:ext>
            </a:extLst>
          </p:cNvPr>
          <p:cNvSpPr/>
          <p:nvPr/>
        </p:nvSpPr>
        <p:spPr>
          <a:xfrm>
            <a:off x="4097102" y="3328434"/>
            <a:ext cx="550984" cy="170464"/>
          </a:xfrm>
          <a:prstGeom prst="curved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Arrow: Curved Up 22">
            <a:extLst>
              <a:ext uri="{FF2B5EF4-FFF2-40B4-BE49-F238E27FC236}">
                <a16:creationId xmlns:a16="http://schemas.microsoft.com/office/drawing/2014/main" id="{1F8D2763-8CDF-46EC-B75F-F040B7DDD910}"/>
              </a:ext>
            </a:extLst>
          </p:cNvPr>
          <p:cNvSpPr/>
          <p:nvPr/>
        </p:nvSpPr>
        <p:spPr>
          <a:xfrm>
            <a:off x="4806348" y="3319642"/>
            <a:ext cx="550984" cy="170464"/>
          </a:xfrm>
          <a:prstGeom prst="curved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Arrow: Curved Up 23">
            <a:extLst>
              <a:ext uri="{FF2B5EF4-FFF2-40B4-BE49-F238E27FC236}">
                <a16:creationId xmlns:a16="http://schemas.microsoft.com/office/drawing/2014/main" id="{309F645D-9E18-4C15-984C-8B2A24BDC968}"/>
              </a:ext>
            </a:extLst>
          </p:cNvPr>
          <p:cNvSpPr/>
          <p:nvPr/>
        </p:nvSpPr>
        <p:spPr>
          <a:xfrm>
            <a:off x="5515594" y="3328434"/>
            <a:ext cx="550984" cy="170464"/>
          </a:xfrm>
          <a:prstGeom prst="curved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Arrow: Curved Up 24">
            <a:extLst>
              <a:ext uri="{FF2B5EF4-FFF2-40B4-BE49-F238E27FC236}">
                <a16:creationId xmlns:a16="http://schemas.microsoft.com/office/drawing/2014/main" id="{6F7DBE08-F849-47D1-837C-E98F99C2DBFA}"/>
              </a:ext>
            </a:extLst>
          </p:cNvPr>
          <p:cNvSpPr/>
          <p:nvPr/>
        </p:nvSpPr>
        <p:spPr>
          <a:xfrm>
            <a:off x="6224839" y="3302506"/>
            <a:ext cx="550984" cy="170464"/>
          </a:xfrm>
          <a:prstGeom prst="curved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Arrow: Curved Up 25">
            <a:extLst>
              <a:ext uri="{FF2B5EF4-FFF2-40B4-BE49-F238E27FC236}">
                <a16:creationId xmlns:a16="http://schemas.microsoft.com/office/drawing/2014/main" id="{B2BF5D72-C2E8-4252-8A94-E12DB435B8B2}"/>
              </a:ext>
            </a:extLst>
          </p:cNvPr>
          <p:cNvSpPr/>
          <p:nvPr/>
        </p:nvSpPr>
        <p:spPr>
          <a:xfrm>
            <a:off x="6928221" y="3328434"/>
            <a:ext cx="550984" cy="170464"/>
          </a:xfrm>
          <a:prstGeom prst="curved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7" name="Arrow: Curved Up 26">
            <a:extLst>
              <a:ext uri="{FF2B5EF4-FFF2-40B4-BE49-F238E27FC236}">
                <a16:creationId xmlns:a16="http://schemas.microsoft.com/office/drawing/2014/main" id="{1B4D7E02-11EC-4E3A-8DE3-AF6E28CDB1D0}"/>
              </a:ext>
            </a:extLst>
          </p:cNvPr>
          <p:cNvSpPr/>
          <p:nvPr/>
        </p:nvSpPr>
        <p:spPr>
          <a:xfrm>
            <a:off x="7643330" y="3328434"/>
            <a:ext cx="550984" cy="170464"/>
          </a:xfrm>
          <a:prstGeom prst="curved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E420939-A1A6-45E9-9844-8A1CB11FD579}"/>
              </a:ext>
            </a:extLst>
          </p:cNvPr>
          <p:cNvSpPr txBox="1"/>
          <p:nvPr/>
        </p:nvSpPr>
        <p:spPr>
          <a:xfrm>
            <a:off x="4234849" y="3477341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A59270-5467-4021-9CF3-5F4B0062C6FE}"/>
              </a:ext>
            </a:extLst>
          </p:cNvPr>
          <p:cNvSpPr txBox="1"/>
          <p:nvPr/>
        </p:nvSpPr>
        <p:spPr>
          <a:xfrm>
            <a:off x="5002709" y="3468549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D4AD5A-996B-41C8-AD05-702ABBCCA664}"/>
              </a:ext>
            </a:extLst>
          </p:cNvPr>
          <p:cNvSpPr txBox="1"/>
          <p:nvPr/>
        </p:nvSpPr>
        <p:spPr>
          <a:xfrm>
            <a:off x="5755918" y="345682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689C1A-47C3-4059-954B-BACDAADCA4E7}"/>
              </a:ext>
            </a:extLst>
          </p:cNvPr>
          <p:cNvSpPr txBox="1"/>
          <p:nvPr/>
        </p:nvSpPr>
        <p:spPr>
          <a:xfrm>
            <a:off x="6388960" y="345682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89E007-2947-47CD-BAD3-7C109CFD2DD4}"/>
              </a:ext>
            </a:extLst>
          </p:cNvPr>
          <p:cNvSpPr txBox="1"/>
          <p:nvPr/>
        </p:nvSpPr>
        <p:spPr>
          <a:xfrm>
            <a:off x="7098206" y="345682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54D1FE-74EB-46A8-BE86-D9C6034DE26F}"/>
              </a:ext>
            </a:extLst>
          </p:cNvPr>
          <p:cNvSpPr txBox="1"/>
          <p:nvPr/>
        </p:nvSpPr>
        <p:spPr>
          <a:xfrm>
            <a:off x="7757624" y="3512281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BCBB612-6B86-46F2-8F4F-9C880CD66605}"/>
              </a:ext>
            </a:extLst>
          </p:cNvPr>
          <p:cNvSpPr/>
          <p:nvPr/>
        </p:nvSpPr>
        <p:spPr>
          <a:xfrm>
            <a:off x="4192259" y="3470120"/>
            <a:ext cx="339958" cy="369277"/>
          </a:xfrm>
          <a:prstGeom prst="ellipse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264F903-628B-48EF-997D-B5737CAF23F3}"/>
              </a:ext>
            </a:extLst>
          </p:cNvPr>
          <p:cNvSpPr/>
          <p:nvPr/>
        </p:nvSpPr>
        <p:spPr>
          <a:xfrm>
            <a:off x="6865008" y="4701993"/>
            <a:ext cx="339958" cy="369277"/>
          </a:xfrm>
          <a:prstGeom prst="ellipse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20B6F55-5E4C-4C65-9329-7401AF871D1F}"/>
              </a:ext>
            </a:extLst>
          </p:cNvPr>
          <p:cNvSpPr/>
          <p:nvPr/>
        </p:nvSpPr>
        <p:spPr>
          <a:xfrm>
            <a:off x="3593602" y="4178868"/>
            <a:ext cx="339958" cy="369277"/>
          </a:xfrm>
          <a:prstGeom prst="ellipse">
            <a:avLst/>
          </a:prstGeom>
          <a:noFill/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84C9DBD-F19E-4F09-95DC-4377BED529AB}"/>
              </a:ext>
            </a:extLst>
          </p:cNvPr>
          <p:cNvSpPr/>
          <p:nvPr/>
        </p:nvSpPr>
        <p:spPr>
          <a:xfrm>
            <a:off x="7540134" y="4701993"/>
            <a:ext cx="709243" cy="430887"/>
          </a:xfrm>
          <a:prstGeom prst="ellipse">
            <a:avLst/>
          </a:prstGeom>
          <a:noFill/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38F9419-A573-4BFD-952C-34CA2116BF28}"/>
              </a:ext>
            </a:extLst>
          </p:cNvPr>
          <p:cNvSpPr/>
          <p:nvPr/>
        </p:nvSpPr>
        <p:spPr>
          <a:xfrm>
            <a:off x="3647210" y="2944793"/>
            <a:ext cx="449887" cy="430887"/>
          </a:xfrm>
          <a:prstGeom prst="ellipse">
            <a:avLst/>
          </a:prstGeom>
          <a:noFill/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72877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52210F5-9F53-4F44-9FCE-F9B0C1173C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127488"/>
              </p:ext>
            </p:extLst>
          </p:nvPr>
        </p:nvGraphicFramePr>
        <p:xfrm>
          <a:off x="363415" y="626208"/>
          <a:ext cx="3476730" cy="745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9455">
                  <a:extLst>
                    <a:ext uri="{9D8B030D-6E8A-4147-A177-3AD203B41FA5}">
                      <a16:colId xmlns:a16="http://schemas.microsoft.com/office/drawing/2014/main" val="548326991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1333121405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025911590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58851324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634513321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893735994"/>
                    </a:ext>
                  </a:extLst>
                </a:gridCol>
              </a:tblGrid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232266"/>
                  </a:ext>
                </a:extLst>
              </a:tr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7957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71BE484-D667-4DDF-B13F-835A9A44BF8A}"/>
              </a:ext>
            </a:extLst>
          </p:cNvPr>
          <p:cNvSpPr txBox="1"/>
          <p:nvPr/>
        </p:nvSpPr>
        <p:spPr>
          <a:xfrm>
            <a:off x="595363" y="1369939"/>
            <a:ext cx="3012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=                   y intercept =</a:t>
            </a:r>
          </a:p>
          <a:p>
            <a:r>
              <a:rPr lang="en-AU" dirty="0"/>
              <a:t>y  =  ___x + ____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31AB64-FEF6-4547-9793-F732F75F224D}"/>
              </a:ext>
            </a:extLst>
          </p:cNvPr>
          <p:cNvSpPr txBox="1"/>
          <p:nvPr/>
        </p:nvSpPr>
        <p:spPr>
          <a:xfrm>
            <a:off x="363415" y="186538"/>
            <a:ext cx="2602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try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DCE45C-71F6-49C5-A6F9-0F51561F7977}"/>
              </a:ext>
            </a:extLst>
          </p:cNvPr>
          <p:cNvSpPr txBox="1"/>
          <p:nvPr/>
        </p:nvSpPr>
        <p:spPr>
          <a:xfrm>
            <a:off x="6353908" y="186538"/>
            <a:ext cx="2602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Your turn to try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CA004B3-4687-4BB1-88E1-70432171E3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617557"/>
              </p:ext>
            </p:extLst>
          </p:nvPr>
        </p:nvGraphicFramePr>
        <p:xfrm>
          <a:off x="363415" y="2334454"/>
          <a:ext cx="3476730" cy="745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9455">
                  <a:extLst>
                    <a:ext uri="{9D8B030D-6E8A-4147-A177-3AD203B41FA5}">
                      <a16:colId xmlns:a16="http://schemas.microsoft.com/office/drawing/2014/main" val="548326991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1333121405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025911590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58851324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634513321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893735994"/>
                    </a:ext>
                  </a:extLst>
                </a:gridCol>
              </a:tblGrid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232266"/>
                  </a:ext>
                </a:extLst>
              </a:tr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7957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913EC8D-AED8-4DB0-9D05-F99144051F6F}"/>
              </a:ext>
            </a:extLst>
          </p:cNvPr>
          <p:cNvSpPr txBox="1"/>
          <p:nvPr/>
        </p:nvSpPr>
        <p:spPr>
          <a:xfrm>
            <a:off x="595363" y="3076523"/>
            <a:ext cx="3012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=                   y intercept =</a:t>
            </a:r>
          </a:p>
          <a:p>
            <a:r>
              <a:rPr lang="en-AU" dirty="0"/>
              <a:t>y  =  ___x + ____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90C5A50-A572-44B7-B37C-33B6AFED4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040914"/>
              </p:ext>
            </p:extLst>
          </p:nvPr>
        </p:nvGraphicFramePr>
        <p:xfrm>
          <a:off x="363413" y="4020234"/>
          <a:ext cx="3476730" cy="745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9455">
                  <a:extLst>
                    <a:ext uri="{9D8B030D-6E8A-4147-A177-3AD203B41FA5}">
                      <a16:colId xmlns:a16="http://schemas.microsoft.com/office/drawing/2014/main" val="548326991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1333121405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025911590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58851324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634513321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893735994"/>
                    </a:ext>
                  </a:extLst>
                </a:gridCol>
              </a:tblGrid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232266"/>
                  </a:ext>
                </a:extLst>
              </a:tr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7957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1F61BDC-770B-43DD-ADF6-4EBAA81778AA}"/>
              </a:ext>
            </a:extLst>
          </p:cNvPr>
          <p:cNvSpPr txBox="1"/>
          <p:nvPr/>
        </p:nvSpPr>
        <p:spPr>
          <a:xfrm>
            <a:off x="595364" y="4765626"/>
            <a:ext cx="3012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=                  y intercept =</a:t>
            </a:r>
          </a:p>
          <a:p>
            <a:r>
              <a:rPr lang="en-AU" dirty="0"/>
              <a:t>t  =  ___p + ____ 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0BF2BD1-5DD3-41D6-9C08-79A3F8BF7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098385"/>
              </p:ext>
            </p:extLst>
          </p:nvPr>
        </p:nvGraphicFramePr>
        <p:xfrm>
          <a:off x="5479701" y="626208"/>
          <a:ext cx="3476730" cy="745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9455">
                  <a:extLst>
                    <a:ext uri="{9D8B030D-6E8A-4147-A177-3AD203B41FA5}">
                      <a16:colId xmlns:a16="http://schemas.microsoft.com/office/drawing/2014/main" val="548326991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1333121405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025911590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58851324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634513321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893735994"/>
                    </a:ext>
                  </a:extLst>
                </a:gridCol>
              </a:tblGrid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232266"/>
                  </a:ext>
                </a:extLst>
              </a:tr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7957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0775076-FB97-4534-8442-2D1DF5F3399B}"/>
              </a:ext>
            </a:extLst>
          </p:cNvPr>
          <p:cNvSpPr txBox="1"/>
          <p:nvPr/>
        </p:nvSpPr>
        <p:spPr>
          <a:xfrm>
            <a:off x="5711649" y="1369939"/>
            <a:ext cx="3012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=                   y intercept =</a:t>
            </a:r>
          </a:p>
          <a:p>
            <a:r>
              <a:rPr lang="en-AU" dirty="0"/>
              <a:t>y  =  ___x + ____ 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9182102-D72A-47AD-80FE-19690CE34F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268666"/>
              </p:ext>
            </p:extLst>
          </p:nvPr>
        </p:nvGraphicFramePr>
        <p:xfrm>
          <a:off x="4982308" y="2334454"/>
          <a:ext cx="3974118" cy="745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4061">
                  <a:extLst>
                    <a:ext uri="{9D8B030D-6E8A-4147-A177-3AD203B41FA5}">
                      <a16:colId xmlns:a16="http://schemas.microsoft.com/office/drawing/2014/main" val="548326991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3331214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025911590"/>
                    </a:ext>
                  </a:extLst>
                </a:gridCol>
                <a:gridCol w="562705">
                  <a:extLst>
                    <a:ext uri="{9D8B030D-6E8A-4147-A177-3AD203B41FA5}">
                      <a16:colId xmlns:a16="http://schemas.microsoft.com/office/drawing/2014/main" val="358851324"/>
                    </a:ext>
                  </a:extLst>
                </a:gridCol>
                <a:gridCol w="662353">
                  <a:extLst>
                    <a:ext uri="{9D8B030D-6E8A-4147-A177-3AD203B41FA5}">
                      <a16:colId xmlns:a16="http://schemas.microsoft.com/office/drawing/2014/main" val="634513321"/>
                    </a:ext>
                  </a:extLst>
                </a:gridCol>
                <a:gridCol w="662353">
                  <a:extLst>
                    <a:ext uri="{9D8B030D-6E8A-4147-A177-3AD203B41FA5}">
                      <a16:colId xmlns:a16="http://schemas.microsoft.com/office/drawing/2014/main" val="3893735994"/>
                    </a:ext>
                  </a:extLst>
                </a:gridCol>
              </a:tblGrid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232266"/>
                  </a:ext>
                </a:extLst>
              </a:tr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7957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77AD11D-7A77-4CDD-A3AA-ED807C3029C2}"/>
              </a:ext>
            </a:extLst>
          </p:cNvPr>
          <p:cNvSpPr txBox="1"/>
          <p:nvPr/>
        </p:nvSpPr>
        <p:spPr>
          <a:xfrm>
            <a:off x="5711649" y="3076523"/>
            <a:ext cx="3012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=                   y intercept =</a:t>
            </a:r>
          </a:p>
          <a:p>
            <a:r>
              <a:rPr lang="en-AU" dirty="0"/>
              <a:t>Cost  =  ___items + ____ 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0F9E66A-9268-4429-92A9-7D77E197A0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306471"/>
              </p:ext>
            </p:extLst>
          </p:nvPr>
        </p:nvGraphicFramePr>
        <p:xfrm>
          <a:off x="5479699" y="4020234"/>
          <a:ext cx="3476730" cy="745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9455">
                  <a:extLst>
                    <a:ext uri="{9D8B030D-6E8A-4147-A177-3AD203B41FA5}">
                      <a16:colId xmlns:a16="http://schemas.microsoft.com/office/drawing/2014/main" val="548326991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1333121405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025911590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58851324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634513321"/>
                    </a:ext>
                  </a:extLst>
                </a:gridCol>
                <a:gridCol w="579455">
                  <a:extLst>
                    <a:ext uri="{9D8B030D-6E8A-4147-A177-3AD203B41FA5}">
                      <a16:colId xmlns:a16="http://schemas.microsoft.com/office/drawing/2014/main" val="3893735994"/>
                    </a:ext>
                  </a:extLst>
                </a:gridCol>
              </a:tblGrid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232266"/>
                  </a:ext>
                </a:extLst>
              </a:tr>
              <a:tr h="372696">
                <a:tc>
                  <a:txBody>
                    <a:bodyPr/>
                    <a:lstStyle/>
                    <a:p>
                      <a:r>
                        <a:rPr lang="en-AU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7957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36D8DFE-94B4-4449-8452-F840A073876F}"/>
              </a:ext>
            </a:extLst>
          </p:cNvPr>
          <p:cNvSpPr txBox="1"/>
          <p:nvPr/>
        </p:nvSpPr>
        <p:spPr>
          <a:xfrm>
            <a:off x="5711650" y="4765626"/>
            <a:ext cx="3012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=                  y intercept =</a:t>
            </a:r>
          </a:p>
          <a:p>
            <a:r>
              <a:rPr lang="en-AU" dirty="0"/>
              <a:t>g  =  ___k + ____ </a:t>
            </a:r>
          </a:p>
        </p:txBody>
      </p:sp>
    </p:spTree>
    <p:extLst>
      <p:ext uri="{BB962C8B-B14F-4D97-AF65-F5344CB8AC3E}">
        <p14:creationId xmlns:p14="http://schemas.microsoft.com/office/powerpoint/2010/main" val="2822832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E54D13-462B-45A2-B66F-DF31C7BD9C8A}"/>
              </a:ext>
            </a:extLst>
          </p:cNvPr>
          <p:cNvSpPr txBox="1"/>
          <p:nvPr/>
        </p:nvSpPr>
        <p:spPr>
          <a:xfrm>
            <a:off x="1957754" y="1148861"/>
            <a:ext cx="52284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Exercise 16.3 or Dwyer text book (page 216)</a:t>
            </a:r>
          </a:p>
          <a:p>
            <a:r>
              <a:rPr lang="en-AU" dirty="0"/>
              <a:t>	For each table.</a:t>
            </a:r>
          </a:p>
          <a:p>
            <a:r>
              <a:rPr lang="en-AU" dirty="0"/>
              <a:t>		1.Find the Gradient (M) value 		2. Find the y-intercept (C) value</a:t>
            </a:r>
          </a:p>
          <a:p>
            <a:r>
              <a:rPr lang="en-AU" dirty="0"/>
              <a:t>		3. Write the rule</a:t>
            </a:r>
          </a:p>
        </p:txBody>
      </p:sp>
    </p:spTree>
    <p:extLst>
      <p:ext uri="{BB962C8B-B14F-4D97-AF65-F5344CB8AC3E}">
        <p14:creationId xmlns:p14="http://schemas.microsoft.com/office/powerpoint/2010/main" val="2297067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4611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92089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559" y="-54200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24</a:t>
            </a:r>
          </a:p>
          <a:p>
            <a:r>
              <a:rPr lang="en-AU" sz="1100" dirty="0"/>
              <a:t>7</a:t>
            </a:r>
          </a:p>
          <a:p>
            <a:r>
              <a:rPr lang="en-AU" sz="11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978213" y="920895"/>
            <a:ext cx="0" cy="57552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08126" y="1504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61170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rule for a linear relationship.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40" y="-495"/>
            <a:ext cx="2726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Finding a rule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286000" y="984738"/>
            <a:ext cx="6745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All Linear equations can be written in the form;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934F617-0B90-474C-9150-A199608AD656}"/>
                  </a:ext>
                </a:extLst>
              </p:cNvPr>
              <p:cNvSpPr txBox="1"/>
              <p:nvPr/>
            </p:nvSpPr>
            <p:spPr>
              <a:xfrm>
                <a:off x="3956427" y="1433773"/>
                <a:ext cx="192116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𝑀𝑥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AU" sz="2800" b="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934F617-0B90-474C-9150-A199608AD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427" y="1433773"/>
                <a:ext cx="1921167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A1D6F6BB-BB71-4892-97DA-ABAD60F25B39}"/>
              </a:ext>
            </a:extLst>
          </p:cNvPr>
          <p:cNvSpPr txBox="1"/>
          <p:nvPr/>
        </p:nvSpPr>
        <p:spPr>
          <a:xfrm>
            <a:off x="2776027" y="1821673"/>
            <a:ext cx="4046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=is the gradient</a:t>
            </a:r>
          </a:p>
          <a:p>
            <a:r>
              <a:rPr lang="en-AU" dirty="0"/>
              <a:t>C = the y-intercept (x value at time 0)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8DC1C2C-D23A-4AFF-AAB7-95B3FD82D59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407598" y="2530936"/>
          <a:ext cx="6096000" cy="7978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432067">
                <a:tc>
                  <a:txBody>
                    <a:bodyPr/>
                    <a:lstStyle/>
                    <a:p>
                      <a:r>
                        <a:rPr lang="en-AU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39839">
                <a:tc>
                  <a:txBody>
                    <a:bodyPr/>
                    <a:lstStyle/>
                    <a:p>
                      <a:r>
                        <a:rPr lang="en-AU" dirty="0"/>
                        <a:t>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07173DB-F00A-402A-9DE1-79D283B515E7}"/>
              </a:ext>
            </a:extLst>
          </p:cNvPr>
          <p:cNvSpPr txBox="1"/>
          <p:nvPr/>
        </p:nvSpPr>
        <p:spPr>
          <a:xfrm>
            <a:off x="3181707" y="3798501"/>
            <a:ext cx="4736107" cy="3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= 2    as the y values increase by 2 each time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955E52-7C56-4B9A-B09C-972EFA3DAC5B}"/>
              </a:ext>
            </a:extLst>
          </p:cNvPr>
          <p:cNvSpPr txBox="1"/>
          <p:nvPr/>
        </p:nvSpPr>
        <p:spPr>
          <a:xfrm>
            <a:off x="3193053" y="4136352"/>
            <a:ext cx="4736107" cy="3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 = -5   as the y value when x is 0 is -5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B1CB3C-0E89-4A14-9B37-05DFA0FD13AE}"/>
                  </a:ext>
                </a:extLst>
              </p:cNvPr>
              <p:cNvSpPr txBox="1"/>
              <p:nvPr/>
            </p:nvSpPr>
            <p:spPr>
              <a:xfrm>
                <a:off x="2494760" y="4701993"/>
                <a:ext cx="570784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𝑀𝑥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𝑏𝑒𝑐𝑜𝑚𝑒𝑠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=2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 −5</m:t>
                      </m:r>
                    </m:oMath>
                  </m:oMathPara>
                </a14:m>
                <a:endParaRPr lang="en-AU" sz="2800" b="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B1CB3C-0E89-4A14-9B37-05DFA0FD1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4760" y="4701993"/>
                <a:ext cx="5707845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>
            <a:extLst>
              <a:ext uri="{FF2B5EF4-FFF2-40B4-BE49-F238E27FC236}">
                <a16:creationId xmlns:a16="http://schemas.microsoft.com/office/drawing/2014/main" id="{ADDB1CFC-FD63-4583-A3E9-A6CCAA05863E}"/>
              </a:ext>
            </a:extLst>
          </p:cNvPr>
          <p:cNvSpPr/>
          <p:nvPr/>
        </p:nvSpPr>
        <p:spPr>
          <a:xfrm>
            <a:off x="3616469" y="3763332"/>
            <a:ext cx="339958" cy="369277"/>
          </a:xfrm>
          <a:prstGeom prst="ellipse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Arrow: Curved Up 21">
            <a:extLst>
              <a:ext uri="{FF2B5EF4-FFF2-40B4-BE49-F238E27FC236}">
                <a16:creationId xmlns:a16="http://schemas.microsoft.com/office/drawing/2014/main" id="{BABD022A-E51C-4762-B1C0-9E8DF6BE43EB}"/>
              </a:ext>
            </a:extLst>
          </p:cNvPr>
          <p:cNvSpPr/>
          <p:nvPr/>
        </p:nvSpPr>
        <p:spPr>
          <a:xfrm>
            <a:off x="4097102" y="3328434"/>
            <a:ext cx="550984" cy="170464"/>
          </a:xfrm>
          <a:prstGeom prst="curved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3" name="Arrow: Curved Up 22">
            <a:extLst>
              <a:ext uri="{FF2B5EF4-FFF2-40B4-BE49-F238E27FC236}">
                <a16:creationId xmlns:a16="http://schemas.microsoft.com/office/drawing/2014/main" id="{1F8D2763-8CDF-46EC-B75F-F040B7DDD910}"/>
              </a:ext>
            </a:extLst>
          </p:cNvPr>
          <p:cNvSpPr/>
          <p:nvPr/>
        </p:nvSpPr>
        <p:spPr>
          <a:xfrm>
            <a:off x="4806348" y="3319642"/>
            <a:ext cx="550984" cy="170464"/>
          </a:xfrm>
          <a:prstGeom prst="curved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4" name="Arrow: Curved Up 23">
            <a:extLst>
              <a:ext uri="{FF2B5EF4-FFF2-40B4-BE49-F238E27FC236}">
                <a16:creationId xmlns:a16="http://schemas.microsoft.com/office/drawing/2014/main" id="{309F645D-9E18-4C15-984C-8B2A24BDC968}"/>
              </a:ext>
            </a:extLst>
          </p:cNvPr>
          <p:cNvSpPr/>
          <p:nvPr/>
        </p:nvSpPr>
        <p:spPr>
          <a:xfrm>
            <a:off x="5515594" y="3328434"/>
            <a:ext cx="550984" cy="170464"/>
          </a:xfrm>
          <a:prstGeom prst="curved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5" name="Arrow: Curved Up 24">
            <a:extLst>
              <a:ext uri="{FF2B5EF4-FFF2-40B4-BE49-F238E27FC236}">
                <a16:creationId xmlns:a16="http://schemas.microsoft.com/office/drawing/2014/main" id="{6F7DBE08-F849-47D1-837C-E98F99C2DBFA}"/>
              </a:ext>
            </a:extLst>
          </p:cNvPr>
          <p:cNvSpPr/>
          <p:nvPr/>
        </p:nvSpPr>
        <p:spPr>
          <a:xfrm>
            <a:off x="6224839" y="3302506"/>
            <a:ext cx="550984" cy="170464"/>
          </a:xfrm>
          <a:prstGeom prst="curved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6" name="Arrow: Curved Up 25">
            <a:extLst>
              <a:ext uri="{FF2B5EF4-FFF2-40B4-BE49-F238E27FC236}">
                <a16:creationId xmlns:a16="http://schemas.microsoft.com/office/drawing/2014/main" id="{B2BF5D72-C2E8-4252-8A94-E12DB435B8B2}"/>
              </a:ext>
            </a:extLst>
          </p:cNvPr>
          <p:cNvSpPr/>
          <p:nvPr/>
        </p:nvSpPr>
        <p:spPr>
          <a:xfrm>
            <a:off x="6928221" y="3328434"/>
            <a:ext cx="550984" cy="170464"/>
          </a:xfrm>
          <a:prstGeom prst="curved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7" name="Arrow: Curved Up 26">
            <a:extLst>
              <a:ext uri="{FF2B5EF4-FFF2-40B4-BE49-F238E27FC236}">
                <a16:creationId xmlns:a16="http://schemas.microsoft.com/office/drawing/2014/main" id="{1B4D7E02-11EC-4E3A-8DE3-AF6E28CDB1D0}"/>
              </a:ext>
            </a:extLst>
          </p:cNvPr>
          <p:cNvSpPr/>
          <p:nvPr/>
        </p:nvSpPr>
        <p:spPr>
          <a:xfrm>
            <a:off x="7643330" y="3328434"/>
            <a:ext cx="550984" cy="170464"/>
          </a:xfrm>
          <a:prstGeom prst="curved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E420939-A1A6-45E9-9844-8A1CB11FD579}"/>
              </a:ext>
            </a:extLst>
          </p:cNvPr>
          <p:cNvSpPr txBox="1"/>
          <p:nvPr/>
        </p:nvSpPr>
        <p:spPr>
          <a:xfrm>
            <a:off x="4234849" y="3477341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A59270-5467-4021-9CF3-5F4B0062C6FE}"/>
              </a:ext>
            </a:extLst>
          </p:cNvPr>
          <p:cNvSpPr txBox="1"/>
          <p:nvPr/>
        </p:nvSpPr>
        <p:spPr>
          <a:xfrm>
            <a:off x="5002709" y="3468549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D4AD5A-996B-41C8-AD05-702ABBCCA664}"/>
              </a:ext>
            </a:extLst>
          </p:cNvPr>
          <p:cNvSpPr txBox="1"/>
          <p:nvPr/>
        </p:nvSpPr>
        <p:spPr>
          <a:xfrm>
            <a:off x="5755918" y="345682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689C1A-47C3-4059-954B-BACDAADCA4E7}"/>
              </a:ext>
            </a:extLst>
          </p:cNvPr>
          <p:cNvSpPr txBox="1"/>
          <p:nvPr/>
        </p:nvSpPr>
        <p:spPr>
          <a:xfrm>
            <a:off x="6388960" y="345682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89E007-2947-47CD-BAD3-7C109CFD2DD4}"/>
              </a:ext>
            </a:extLst>
          </p:cNvPr>
          <p:cNvSpPr txBox="1"/>
          <p:nvPr/>
        </p:nvSpPr>
        <p:spPr>
          <a:xfrm>
            <a:off x="7098206" y="3456824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54D1FE-74EB-46A8-BE86-D9C6034DE26F}"/>
              </a:ext>
            </a:extLst>
          </p:cNvPr>
          <p:cNvSpPr txBox="1"/>
          <p:nvPr/>
        </p:nvSpPr>
        <p:spPr>
          <a:xfrm>
            <a:off x="7757624" y="3512281"/>
            <a:ext cx="7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BCBB612-6B86-46F2-8F4F-9C880CD66605}"/>
              </a:ext>
            </a:extLst>
          </p:cNvPr>
          <p:cNvSpPr/>
          <p:nvPr/>
        </p:nvSpPr>
        <p:spPr>
          <a:xfrm>
            <a:off x="4192259" y="3470120"/>
            <a:ext cx="339958" cy="369277"/>
          </a:xfrm>
          <a:prstGeom prst="ellipse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264F903-628B-48EF-997D-B5737CAF23F3}"/>
              </a:ext>
            </a:extLst>
          </p:cNvPr>
          <p:cNvSpPr/>
          <p:nvPr/>
        </p:nvSpPr>
        <p:spPr>
          <a:xfrm>
            <a:off x="6865008" y="4701993"/>
            <a:ext cx="339958" cy="369277"/>
          </a:xfrm>
          <a:prstGeom prst="ellipse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20B6F55-5E4C-4C65-9329-7401AF871D1F}"/>
              </a:ext>
            </a:extLst>
          </p:cNvPr>
          <p:cNvSpPr/>
          <p:nvPr/>
        </p:nvSpPr>
        <p:spPr>
          <a:xfrm>
            <a:off x="3593602" y="4178868"/>
            <a:ext cx="339958" cy="369277"/>
          </a:xfrm>
          <a:prstGeom prst="ellipse">
            <a:avLst/>
          </a:prstGeom>
          <a:noFill/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84C9DBD-F19E-4F09-95DC-4377BED529AB}"/>
              </a:ext>
            </a:extLst>
          </p:cNvPr>
          <p:cNvSpPr/>
          <p:nvPr/>
        </p:nvSpPr>
        <p:spPr>
          <a:xfrm>
            <a:off x="7540134" y="4701993"/>
            <a:ext cx="709243" cy="430887"/>
          </a:xfrm>
          <a:prstGeom prst="ellipse">
            <a:avLst/>
          </a:prstGeom>
          <a:noFill/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38F9419-A573-4BFD-952C-34CA2116BF28}"/>
              </a:ext>
            </a:extLst>
          </p:cNvPr>
          <p:cNvSpPr/>
          <p:nvPr/>
        </p:nvSpPr>
        <p:spPr>
          <a:xfrm>
            <a:off x="3647210" y="2944793"/>
            <a:ext cx="449887" cy="430887"/>
          </a:xfrm>
          <a:prstGeom prst="ellipse">
            <a:avLst/>
          </a:prstGeom>
          <a:noFill/>
          <a:ln w="571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6545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Yr11 Volume" id="{31B8F3D4-F877-43C4-9C4A-9FCD3D51D15A}" vid="{034B1D92-D033-4B76-9991-AC52F768339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Yr11 Volume</Template>
  <TotalTime>126</TotalTime>
  <Words>778</Words>
  <Application>Microsoft Office PowerPoint</Application>
  <PresentationFormat>On-screen Show (16:10)</PresentationFormat>
  <Paragraphs>279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WILSON James [Baldivis Secondary College]</cp:lastModifiedBy>
  <cp:revision>11</cp:revision>
  <dcterms:created xsi:type="dcterms:W3CDTF">2017-03-28T15:14:10Z</dcterms:created>
  <dcterms:modified xsi:type="dcterms:W3CDTF">2018-10-21T01:19:17Z</dcterms:modified>
</cp:coreProperties>
</file>
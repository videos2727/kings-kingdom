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8" r:id="rId4"/>
    <p:sldId id="263" r:id="rId5"/>
    <p:sldId id="264" r:id="rId6"/>
    <p:sldId id="269" r:id="rId7"/>
    <p:sldId id="265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75224" autoAdjust="0"/>
  </p:normalViewPr>
  <p:slideViewPr>
    <p:cSldViewPr snapToGrid="0">
      <p:cViewPr varScale="1">
        <p:scale>
          <a:sx n="57" d="100"/>
          <a:sy n="57" d="100"/>
        </p:scale>
        <p:origin x="59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290C2-520D-48CB-912D-041A709E9191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E89FA-FDB5-4ABC-BD36-5672F92183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45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53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98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price (CP): the total cost of making or buying the goods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Selling price (SP): cost price + mark up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 up: amount added to cost price in order to make a profit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Discount: decrease in the selling price to attract more buyers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Sale price = selling price – discount amount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GST: Goods and Services Tax of 10% added to selling price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Profit: difference between SP and CP, where SP &gt; CP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Loss: difference between SP and CP where SP &lt; CP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2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2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0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3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18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E89FA-FDB5-4ABC-BD36-5672F92183D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60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DC78-27E3-4F83-9CBF-0ED91875F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4DCBB-1459-49B7-B604-081A4589B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14EF-61A9-4F17-967E-B7A0C2DD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4CDDE-7F19-4CE2-8B32-250A77DE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36184-43D6-44B9-8DF4-EA7BF891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90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706E-6A87-422B-B5E6-7A53FFA2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C772-BCE8-4000-8F4C-C2F6E2FBE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D9C1-F5BC-4F4B-B1F6-DC684C67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2092-A161-40AD-A492-A01177DD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B5376-ADFD-459A-85AC-7791A38A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2ADD-BB82-4DED-B534-64096E89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8729F-544F-4797-85E7-1001BEF2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9C297-B13E-4F2C-B43A-6321E947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E853-F59B-4E0A-9904-50DF364F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C9C0-480A-4BEC-A9DC-B2D2149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12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9758-AE10-433C-910A-A0A1494B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F0B67-8B5C-42D6-8150-050F2C3FD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03EC-A3E4-4D31-B33D-EFF80C3B5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E9554-0F10-4B60-84C2-5EDEFA68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A286-D769-4531-B27F-9C42A22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9204F-BD34-46B0-8C8C-0337E0C8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21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7897-1BB0-44B0-98D1-DD19C029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D7C45-3A6B-4C16-BD65-48FF915CE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13510-0F72-42BD-A002-6BBC3CDBC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47269-78EA-4C68-BAD7-01F07D5C1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B047B-657D-486D-81E9-187849931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A7765-251A-42A5-B1C5-1033D248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FBCE2-1EE9-4A97-B8FA-C9A17999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2F2A3-5D90-4DF8-A2AD-CACAD45D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09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CF22-DDA3-421F-BD88-F5A9B759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59A33-4CB3-465E-9B97-8FA461DC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FE145-8695-4D19-BAD9-7748C80B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811A3-6B4D-4A63-B550-459B3CE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88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380A2-5FAA-493E-B78D-3DCA85C8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A00DB-2C43-4C86-B93A-96A84A36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AB4E1-9F69-404C-99BF-D390EAD6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04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9F92-8240-43C6-ADBA-2E16D16F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5B25-3720-46BC-87DD-25D32836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6DAD7-47CD-410C-9391-3A0A901F4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7F48F-0CF7-4C95-BF3E-2F276511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A6DA-FBDC-474D-A65B-D6BAF508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BA5BE-9C07-487A-B224-8D73E4F6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993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A9A7-14DC-451F-BB1A-A4D84BE9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B8EFF-5406-445B-A565-C6CB45C2A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53D89-5A7B-4E2A-A3B1-6F87EFA1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B6A5D-C5BF-48B7-A9C7-58372606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6F6C-1B82-42EB-AD04-980135ED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7DA83-57C2-4BB2-865C-EB77426C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78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A212-AC3D-4C4A-9AED-BC893EFA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CB2B7-9C05-4BA6-B45D-501AF59EB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FD496-04A8-4E83-98F9-70079EA0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B462-0F20-423C-A5F7-DD3FCE12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719F8-58C2-48FF-80F0-D73C3C2E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60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32706-1F8F-4BEE-8C0D-1EC56331C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DC355-2E58-4D0F-B3F6-1415B9F3E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3C46-31EE-41AB-80F0-16EFE401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7DAC-E777-451F-B897-3F840FFE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1AC71-7380-4264-8C7A-4F1AA50D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5331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34692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0914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35288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302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19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DE162-3C34-4364-88D8-018465B3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A0711-8C9A-43A9-BD32-C05E8B41A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DA0E-68AF-43E5-A5A6-3831D7507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7A492-8D1D-4C72-A868-B180FC881615}" type="datetimeFigureOut">
              <a:rPr lang="en-AU" smtClean="0"/>
              <a:t>3/12/2018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6225-2985-41F6-B037-5E05EA25E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BCD9-6A72-4934-985F-BF9891B3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74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-only-math.com/images/worksheet-on-profit-and-loss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Financial Math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Profit and Loss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profit and loss?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C9D913E-02C5-43DB-A296-4BB09E5C2926}"/>
              </a:ext>
            </a:extLst>
          </p:cNvPr>
          <p:cNvSpPr/>
          <p:nvPr/>
        </p:nvSpPr>
        <p:spPr>
          <a:xfrm>
            <a:off x="8861612" y="206078"/>
            <a:ext cx="3239780" cy="2705209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Only include topic and EQ!!!!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Last Lesson Recap 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65" y="4953617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F165FC-0B66-41D6-B656-4D530A046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9780"/>
            <a:ext cx="12192000" cy="99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CFEA76-B228-495D-8CAE-93FAEE2D4C95}"/>
              </a:ext>
            </a:extLst>
          </p:cNvPr>
          <p:cNvSpPr txBox="1"/>
          <p:nvPr/>
        </p:nvSpPr>
        <p:spPr>
          <a:xfrm>
            <a:off x="4411404" y="2721114"/>
            <a:ext cx="3369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Financial Math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C6E090E0-6400-4B62-A231-48234700219A}"/>
              </a:ext>
            </a:extLst>
          </p:cNvPr>
          <p:cNvSpPr/>
          <p:nvPr/>
        </p:nvSpPr>
        <p:spPr>
          <a:xfrm>
            <a:off x="4061011" y="2306171"/>
            <a:ext cx="4069977" cy="1855694"/>
          </a:xfrm>
          <a:prstGeom prst="cloud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9DF66-2B21-40AD-921F-8C4B4F413210}"/>
              </a:ext>
            </a:extLst>
          </p:cNvPr>
          <p:cNvSpPr txBox="1"/>
          <p:nvPr/>
        </p:nvSpPr>
        <p:spPr>
          <a:xfrm>
            <a:off x="120894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Cost Price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1FBD9-C120-4944-BBF4-12680DD4011C}"/>
              </a:ext>
            </a:extLst>
          </p:cNvPr>
          <p:cNvSpPr txBox="1"/>
          <p:nvPr/>
        </p:nvSpPr>
        <p:spPr>
          <a:xfrm>
            <a:off x="9513989" y="166780"/>
            <a:ext cx="255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Selling Price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A9DE1-3674-4AE4-9CCE-2263F5BABF43}"/>
              </a:ext>
            </a:extLst>
          </p:cNvPr>
          <p:cNvSpPr txBox="1"/>
          <p:nvPr/>
        </p:nvSpPr>
        <p:spPr>
          <a:xfrm>
            <a:off x="100095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Mark 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9F5BC-D570-4F0C-B0D1-AA96A7AFAAA6}"/>
              </a:ext>
            </a:extLst>
          </p:cNvPr>
          <p:cNvSpPr txBox="1"/>
          <p:nvPr/>
        </p:nvSpPr>
        <p:spPr>
          <a:xfrm>
            <a:off x="50249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Discount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8E08D1-1D8E-4819-AAE3-7912469B6881}"/>
              </a:ext>
            </a:extLst>
          </p:cNvPr>
          <p:cNvSpPr txBox="1"/>
          <p:nvPr/>
        </p:nvSpPr>
        <p:spPr>
          <a:xfrm>
            <a:off x="4817441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Sale Price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559CE1-391F-48A6-AAE6-35DC8CD1EFFF}"/>
              </a:ext>
            </a:extLst>
          </p:cNvPr>
          <p:cNvSpPr txBox="1"/>
          <p:nvPr/>
        </p:nvSpPr>
        <p:spPr>
          <a:xfrm>
            <a:off x="120894" y="2728445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GST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CCA85-1009-4D66-BD7A-DAECA0F5E6BF}"/>
              </a:ext>
            </a:extLst>
          </p:cNvPr>
          <p:cNvSpPr txBox="1"/>
          <p:nvPr/>
        </p:nvSpPr>
        <p:spPr>
          <a:xfrm>
            <a:off x="10054112" y="2710798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Profit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E76A2-23AE-430F-BA2F-FD4CBA482893}"/>
              </a:ext>
            </a:extLst>
          </p:cNvPr>
          <p:cNvSpPr txBox="1"/>
          <p:nvPr/>
        </p:nvSpPr>
        <p:spPr>
          <a:xfrm>
            <a:off x="403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Loss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ED750-3BBE-45FD-BC38-8661644E801E}"/>
              </a:ext>
            </a:extLst>
          </p:cNvPr>
          <p:cNvCxnSpPr>
            <a:stCxn id="14" idx="3"/>
          </p:cNvCxnSpPr>
          <p:nvPr/>
        </p:nvCxnSpPr>
        <p:spPr>
          <a:xfrm>
            <a:off x="2137888" y="428390"/>
            <a:ext cx="2273516" cy="2113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FEA541-A9B7-4922-9433-95D9704491C7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4817441" y="428390"/>
            <a:ext cx="1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D05A04-A835-4A64-9482-855110510CB8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780596" y="428390"/>
            <a:ext cx="1733393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DE7DC2-4373-4BE4-8FDD-83D324F4EF4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8184423" y="2972408"/>
            <a:ext cx="18696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D8B165-872A-42B4-925C-8CDEF83DFE5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483288" y="3940596"/>
            <a:ext cx="2526219" cy="24137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FB9AF8-9C98-448A-A904-48935691F0A8}"/>
              </a:ext>
            </a:extLst>
          </p:cNvPr>
          <p:cNvCxnSpPr>
            <a:cxnSpLocks/>
          </p:cNvCxnSpPr>
          <p:nvPr/>
        </p:nvCxnSpPr>
        <p:spPr>
          <a:xfrm flipV="1">
            <a:off x="5032909" y="4161865"/>
            <a:ext cx="192552" cy="21924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DA0B8E-08C4-42F1-8AF8-AA7FB966ABA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137888" y="2990055"/>
            <a:ext cx="1750298" cy="1809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6606C5-D0D0-47C2-BA93-43A88179FED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057301" y="4054288"/>
            <a:ext cx="2354103" cy="23000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320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Profit and Loss Formulas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3CD2F4-44A6-4243-901C-597CF5B4D2D2}"/>
                  </a:ext>
                </a:extLst>
              </p:cNvPr>
              <p:cNvSpPr txBox="1"/>
              <p:nvPr/>
            </p:nvSpPr>
            <p:spPr>
              <a:xfrm>
                <a:off x="6042212" y="1838425"/>
                <a:ext cx="579120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7030A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3CD2F4-44A6-4243-901C-597CF5B4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212" y="1838425"/>
                <a:ext cx="5791200" cy="927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2B7A3B-3B30-41CF-9F57-58602C007813}"/>
                  </a:ext>
                </a:extLst>
              </p:cNvPr>
              <p:cNvSpPr txBox="1"/>
              <p:nvPr/>
            </p:nvSpPr>
            <p:spPr>
              <a:xfrm>
                <a:off x="712694" y="1841246"/>
                <a:ext cx="4757829" cy="924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00B05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2B7A3B-3B30-41CF-9F57-58602C007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94" y="1841246"/>
                <a:ext cx="4757829" cy="9249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53BDB2E-4C79-4749-A57F-356E6D588E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6186"/>
          <a:stretch/>
        </p:blipFill>
        <p:spPr>
          <a:xfrm>
            <a:off x="915066" y="3586156"/>
            <a:ext cx="4171950" cy="5056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1E1BB2-4E12-406B-880E-54211333BB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4903"/>
          <a:stretch/>
        </p:blipFill>
        <p:spPr>
          <a:xfrm>
            <a:off x="7270656" y="3583249"/>
            <a:ext cx="3648075" cy="51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021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to Calculate Loss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D4C91-A24D-44A9-8CAE-C020039D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175"/>
            <a:ext cx="12192000" cy="16917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23DC2-DA69-46EC-B0D9-CDD84728A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186"/>
          <a:stretch/>
        </p:blipFill>
        <p:spPr>
          <a:xfrm>
            <a:off x="6791431" y="1713100"/>
            <a:ext cx="4171950" cy="5056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/>
              <p:nvPr/>
            </p:nvSpPr>
            <p:spPr>
              <a:xfrm>
                <a:off x="7368989" y="2841532"/>
                <a:ext cx="4757829" cy="924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00B05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989" y="2841532"/>
                <a:ext cx="4757829" cy="9249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021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to Calculate Profit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FBEF0-7CBB-4748-A879-01209862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855"/>
            <a:ext cx="12192000" cy="2053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BA4B98-DBA5-4CF5-95C2-7A526ABA20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903"/>
          <a:stretch/>
        </p:blipFill>
        <p:spPr>
          <a:xfrm>
            <a:off x="7048779" y="1707286"/>
            <a:ext cx="3648075" cy="5114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/>
              <p:nvPr/>
            </p:nvSpPr>
            <p:spPr>
              <a:xfrm>
                <a:off x="6351495" y="2900743"/>
                <a:ext cx="579120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7030A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495" y="2900743"/>
                <a:ext cx="5791200" cy="927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3A21-57AA-4317-8DFF-9CFEA31A7C4B}"/>
              </a:ext>
            </a:extLst>
          </p:cNvPr>
          <p:cNvSpPr txBox="1">
            <a:spLocks/>
          </p:cNvSpPr>
          <p:nvPr/>
        </p:nvSpPr>
        <p:spPr>
          <a:xfrm>
            <a:off x="3147574" y="416859"/>
            <a:ext cx="8608358" cy="7933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Worksheet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 descr="Worksheet on Profit and Loss">
            <a:hlinkClick r:id="rId3" tooltip="&quot;Worksheet on Profit and Loss&quot;"/>
            <a:extLst>
              <a:ext uri="{FF2B5EF4-FFF2-40B4-BE49-F238E27FC236}">
                <a16:creationId xmlns:a16="http://schemas.microsoft.com/office/drawing/2014/main" id="{288524DE-0600-41C9-8052-A3108811063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419"/>
          <a:stretch/>
        </p:blipFill>
        <p:spPr bwMode="auto">
          <a:xfrm>
            <a:off x="309282" y="0"/>
            <a:ext cx="7664824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903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7B03E-A60D-4A33-A6B7-9DB75E39F18D}"/>
              </a:ext>
            </a:extLst>
          </p:cNvPr>
          <p:cNvSpPr/>
          <p:nvPr/>
        </p:nvSpPr>
        <p:spPr>
          <a:xfrm>
            <a:off x="701488" y="368076"/>
            <a:ext cx="109234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TV was bought for $ 18,950 and sold at a loss of $ 4780. Find the selling price.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second-hand car was sold for $ 190,000, at a loss of $ 85. Find the CP of the car.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/>
              <a:t>Jane sold her genset for $ 20000 at a profit of $ 1737. Find the CP of genset.</a:t>
            </a:r>
          </a:p>
          <a:p>
            <a:pPr lvl="0">
              <a:spcAft>
                <a:spcPts val="0"/>
              </a:spcAft>
            </a:pP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7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832C6-36C9-436D-905C-1FA42B65213C}"/>
              </a:ext>
            </a:extLst>
          </p:cNvPr>
          <p:cNvSpPr/>
          <p:nvPr/>
        </p:nvSpPr>
        <p:spPr>
          <a:xfrm>
            <a:off x="540123" y="411139"/>
            <a:ext cx="111386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Abraham bought a music system for $ 6375.00 and spent $ 75.00 on its transportation He sold it for $ 6400.00. Find his profit or loss percent.</a:t>
            </a:r>
            <a:b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</a:b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Joy bought pens at $ 120 a dozen. He sold it for $ 15 each. What is his profit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Simi bought a study table for $ 9000. She sold it at a profit of 20%. How much profit did she make? What is the selling price?</a:t>
            </a: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0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0687B-DD66-458B-AF84-89B480996E23}"/>
              </a:ext>
            </a:extLst>
          </p:cNvPr>
          <p:cNvSpPr/>
          <p:nvPr/>
        </p:nvSpPr>
        <p:spPr>
          <a:xfrm>
            <a:off x="513230" y="364148"/>
            <a:ext cx="11205882" cy="5555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Find the selling price if the cost price is $ 1200 and loss percent is 25.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Marshall bought 20 refills and sold them at $ 4 each. If it had cost $ 50 for the refills, what was his profit or loss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16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Mr. Smith buys pencils at $ 250 per hundred and sells each at $ 1.75. Find his loss or profit.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0961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285</Words>
  <Application>Microsoft Office PowerPoint</Application>
  <PresentationFormat>Widescreen</PresentationFormat>
  <Paragraphs>69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Fragment Core</vt:lpstr>
      <vt:lpstr>Harrington</vt:lpstr>
      <vt:lpstr>Times New Roman</vt:lpstr>
      <vt:lpstr>Office Theme</vt:lpstr>
      <vt:lpstr>Financial Math</vt:lpstr>
      <vt:lpstr>Last Lesson Recap </vt:lpstr>
      <vt:lpstr>PowerPoint Presentation</vt:lpstr>
      <vt:lpstr>Profit and Loss Formulas</vt:lpstr>
      <vt:lpstr>How to Calculate Loss</vt:lpstr>
      <vt:lpstr>How to Calculate Profit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</dc:title>
  <dc:creator>Nine Stretch</dc:creator>
  <cp:lastModifiedBy>Nine Stretch</cp:lastModifiedBy>
  <cp:revision>17</cp:revision>
  <dcterms:created xsi:type="dcterms:W3CDTF">2018-12-03T03:46:56Z</dcterms:created>
  <dcterms:modified xsi:type="dcterms:W3CDTF">2018-12-04T01:33:20Z</dcterms:modified>
</cp:coreProperties>
</file>
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61" r:id="rId3"/>
    <p:sldId id="271" r:id="rId4"/>
    <p:sldId id="273" r:id="rId5"/>
    <p:sldId id="274" r:id="rId6"/>
    <p:sldId id="265" r:id="rId7"/>
    <p:sldId id="263" r:id="rId8"/>
    <p:sldId id="275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4" autoAdjust="0"/>
    <p:restoredTop sz="94660"/>
  </p:normalViewPr>
  <p:slideViewPr>
    <p:cSldViewPr snapToGrid="0">
      <p:cViewPr varScale="1">
        <p:scale>
          <a:sx n="71" d="100"/>
          <a:sy n="71" d="100"/>
        </p:scale>
        <p:origin x="57" y="1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1405E-2705-4630-A44D-1D1C85D55253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EB5E51-F1DB-49F4-8CEE-1CF6FB65BF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7424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9028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2752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234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554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031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69390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37067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14859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6416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9096B-4179-401E-A8C2-18A7C43EBE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E3E5BD-BA38-4BF5-B9C8-F1D8D8AA39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40019-668F-4AFA-9D24-F297A1B0E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6C744-3AD7-4263-B1A1-8B9BBE030B46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CCD6C-BAC5-4CDD-9E78-68F5BBE29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73BE6-0AE8-4665-B32D-523BDBB38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EC173-A358-45E9-A12F-C5BB8A2F44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137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83595-D61D-4819-8B98-4B7C5BC3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D6B67-D024-4753-A146-74B26C913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7706E-B3E8-47CF-9EB2-BC299F8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6C744-3AD7-4263-B1A1-8B9BBE030B46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AC0D8-C2D5-478F-B0D8-82CCCDE81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778CF-61E4-40B7-836E-FF50D32EC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EC173-A358-45E9-A12F-C5BB8A2F44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5786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BA617-BB77-4A40-93E2-FCB2DB599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1DF69-A6FD-4B77-AD1A-C3FE26016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D2A18-9B5C-4690-A11B-677501FCC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6C744-3AD7-4263-B1A1-8B9BBE030B46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EBFC0-7A6C-4507-9BD3-906638EE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88321-75EE-4303-A27F-FC203081F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EC173-A358-45E9-A12F-C5BB8A2F44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8461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FE227-442E-4BCD-8CFA-1623EFD0C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BE350-DA3E-443F-B321-E58C75035D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E5B318-1165-438D-92D4-69F57A14C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6BAEA-7CCC-42C8-8495-F6F0E85CF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6C744-3AD7-4263-B1A1-8B9BBE030B46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595B9D-E446-4FE1-8586-966BE6D5D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35C89-A311-4253-AEF2-219AF5B07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EC173-A358-45E9-A12F-C5BB8A2F44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3677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BBBF5-0810-4DF1-8E42-F215F7730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E5C1D5-FE84-462D-BABA-4A11339B7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33B5BC-DB68-4DA9-8C2C-1AB1C92F82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736C5F-21F4-4E73-A349-4E855133ED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F837C5-E38C-4A72-AD7B-41E7D07282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694E4F-8997-4CEB-AA99-348D96A3E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6C744-3AD7-4263-B1A1-8B9BBE030B46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77CCA1-2C10-4806-AC3C-4E8B8D838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8E6C80-D9B8-452C-978D-4ADDA421B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EC173-A358-45E9-A12F-C5BB8A2F44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813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8EB34-07EA-425C-9440-47660FC73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0CC0A2-473C-4C1D-8FD6-EDC5AE555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6C744-3AD7-4263-B1A1-8B9BBE030B46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222B1-7638-43FA-B9CB-2437B4494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C59AB9-BDF0-4BCA-88B7-4E1F98CEB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EC173-A358-45E9-A12F-C5BB8A2F44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5451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16890D-70F9-481F-81D1-B020AA38B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6C744-3AD7-4263-B1A1-8B9BBE030B46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6F56E1-F4BA-4D93-AC2F-87BD3801C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F077E-A649-4817-BA37-A7FABB434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EC173-A358-45E9-A12F-C5BB8A2F44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2520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D22ED-F6FC-4FF5-B7A1-941B99A5F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FA12D-F9C7-495A-8704-15323E577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A7B163-2AF6-4D35-B2F9-07CBB0306F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231824-E21E-47A8-9300-2AF48AE49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6C744-3AD7-4263-B1A1-8B9BBE030B46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2BC369-82AB-40DF-82BE-5D14F90F6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85C7E2-50A2-455F-B544-2A485C4F6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EC173-A358-45E9-A12F-C5BB8A2F44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5851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B41E7-6935-4ADA-8A25-9F67AF942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B4F8CE-7A46-469E-A8C7-5DE8F52F7F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17903-5B4B-4A07-B4EA-FEC1566689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FA6D40-F2D5-4222-9A96-4BAEA7B2F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6C744-3AD7-4263-B1A1-8B9BBE030B46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7A02A-3187-4914-AE2D-92BF95739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3A9AA4-9EE3-41D1-A4A4-6E47AE2CD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EC173-A358-45E9-A12F-C5BB8A2F44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6662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4FFBC-FBB6-442E-8060-1401DB46D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E09035-3579-461B-AA92-B5288CCA9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9ED5D-F3E6-4AFF-A852-A0967061A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6C744-3AD7-4263-B1A1-8B9BBE030B46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3E64A-8001-413D-BD4E-8F753BC00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3BA62-44DC-4F28-958E-63041C26D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EC173-A358-45E9-A12F-C5BB8A2F44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1509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12BBA4-6856-409E-BAA3-51B2DA269A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BB3862-C9D5-47AD-9D6A-4134C50151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15012-1A13-4D08-951E-B0AB42251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6C744-3AD7-4263-B1A1-8B9BBE030B46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09323-3A94-400F-A403-93F606B25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D1330-BED3-441E-940D-AA1D0287F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EC173-A358-45E9-A12F-C5BB8A2F44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8103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5780428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13491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5918663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9509832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46641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2E8EED-2320-49A8-9A4F-1FE9300D5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BE770-7996-451D-8EC2-2FB0DE1F4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1806C-BEBF-4FB9-B24E-8F1D8DFA6E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06C744-3AD7-4263-B1A1-8B9BBE030B46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C703-20B7-4E0C-8746-9A1FC6A9FC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445D8-F3F7-48C1-9E90-11AF0F693B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DEC173-A358-45E9-A12F-C5BB8A2F44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5331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err="1">
                <a:solidFill>
                  <a:srgbClr val="7C7F91"/>
                </a:solidFill>
                <a:latin typeface="Fragment Core" panose="02000504040000020003" pitchFamily="50" charset="0"/>
              </a:rPr>
              <a:t>Mrs</a:t>
            </a: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 Stretch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8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153917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Financial Maths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BEFB67-184A-4E59-8133-49BC35926EE6}"/>
              </a:ext>
            </a:extLst>
          </p:cNvPr>
          <p:cNvSpPr txBox="1">
            <a:spLocks/>
          </p:cNvSpPr>
          <p:nvPr/>
        </p:nvSpPr>
        <p:spPr>
          <a:xfrm>
            <a:off x="1372829" y="3181487"/>
            <a:ext cx="9446339" cy="1119144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Topic: Percentage Increase and Decrease 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EQ: How do we work out the % increase and decrease?</a:t>
            </a:r>
          </a:p>
        </p:txBody>
      </p:sp>
      <p:sp>
        <p:nvSpPr>
          <p:cNvPr id="2" name="Cloud 1">
            <a:extLst>
              <a:ext uri="{FF2B5EF4-FFF2-40B4-BE49-F238E27FC236}">
                <a16:creationId xmlns:a16="http://schemas.microsoft.com/office/drawing/2014/main" id="{98AF4026-9E1B-49E1-A8EF-3A5394DC66AD}"/>
              </a:ext>
            </a:extLst>
          </p:cNvPr>
          <p:cNvSpPr/>
          <p:nvPr/>
        </p:nvSpPr>
        <p:spPr>
          <a:xfrm>
            <a:off x="9161097" y="165738"/>
            <a:ext cx="2899954" cy="2184432"/>
          </a:xfrm>
          <a:prstGeom prst="cloud">
            <a:avLst/>
          </a:prstGeom>
          <a:solidFill>
            <a:srgbClr val="FF99FF"/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b="1" dirty="0">
                <a:latin typeface="Harrington" panose="04040505050A02020702" pitchFamily="82" charset="0"/>
              </a:rPr>
              <a:t>Rule up 3 column notes!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0572" y="7432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Last Lesson Re-cap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05118" y="1367348"/>
            <a:ext cx="10820400" cy="470399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Find the following percentages of an amount: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4400" dirty="0">
              <a:latin typeface="Kiwi School Handwriting" panose="000005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4000" dirty="0">
                <a:latin typeface="Kiwi School Handwriting" panose="00000500000000000000" pitchFamily="2" charset="0"/>
              </a:rPr>
              <a:t>15% of 638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4000" dirty="0">
              <a:latin typeface="Kiwi School Handwriting" panose="000005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4000" dirty="0">
              <a:latin typeface="Kiwi School Handwriting" panose="000005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4000" dirty="0">
                <a:latin typeface="Kiwi School Handwriting" panose="00000500000000000000" pitchFamily="2" charset="0"/>
              </a:rPr>
              <a:t>83% of 74</a:t>
            </a:r>
          </a:p>
        </p:txBody>
      </p:sp>
      <p:pic>
        <p:nvPicPr>
          <p:cNvPr id="14" name="Picture 2" descr="Related image">
            <a:extLst>
              <a:ext uri="{FF2B5EF4-FFF2-40B4-BE49-F238E27FC236}">
                <a16:creationId xmlns:a16="http://schemas.microsoft.com/office/drawing/2014/main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459" y="4893105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croll: Horizontal 1">
            <a:extLst>
              <a:ext uri="{FF2B5EF4-FFF2-40B4-BE49-F238E27FC236}">
                <a16:creationId xmlns:a16="http://schemas.microsoft.com/office/drawing/2014/main" id="{A1B1BF63-8694-4AF9-AEFD-F3DA5BBC9AD4}"/>
              </a:ext>
            </a:extLst>
          </p:cNvPr>
          <p:cNvSpPr/>
          <p:nvPr/>
        </p:nvSpPr>
        <p:spPr>
          <a:xfrm>
            <a:off x="7459774" y="2015434"/>
            <a:ext cx="4306421" cy="1971619"/>
          </a:xfrm>
          <a:prstGeom prst="horizont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>
                <a:latin typeface="Comic Sans MS" panose="030F0702030302020204" pitchFamily="66" charset="0"/>
              </a:rPr>
              <a:t>Remember the 2 steps!!</a:t>
            </a:r>
          </a:p>
          <a:p>
            <a:pPr marL="342900" indent="-342900" algn="ctr">
              <a:buAutoNum type="arabicPeriod"/>
            </a:pPr>
            <a:r>
              <a:rPr lang="en-AU" sz="2400" dirty="0">
                <a:latin typeface="Comic Sans MS" panose="030F0702030302020204" pitchFamily="66" charset="0"/>
              </a:rPr>
              <a:t>Fraction</a:t>
            </a:r>
          </a:p>
          <a:p>
            <a:pPr marL="342900" indent="-342900" algn="ctr">
              <a:buAutoNum type="arabicPeriod"/>
            </a:pPr>
            <a:r>
              <a:rPr lang="en-AU" sz="2400" dirty="0">
                <a:latin typeface="Comic Sans MS" panose="030F0702030302020204" pitchFamily="66" charset="0"/>
              </a:rPr>
              <a:t>Change “of”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55958" y="1315025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73683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Percentage Increase and Decrease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323633"/>
            <a:ext cx="2054361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we work out the % increase and decrease?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5950" y="1875639"/>
            <a:ext cx="6290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3200" b="1" dirty="0">
                <a:solidFill>
                  <a:schemeClr val="accent6">
                    <a:lumMod val="75000"/>
                  </a:schemeClr>
                </a:solidFill>
                <a:latin typeface="Calibri" panose="020F0502020204030204"/>
              </a:rPr>
              <a:t>Increase $2,700 by 22%</a:t>
            </a:r>
            <a:endParaRPr lang="en-US" sz="3200" b="1" dirty="0">
              <a:solidFill>
                <a:schemeClr val="accent6">
                  <a:lumMod val="75000"/>
                </a:schemeClr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ACA63F-4B8D-4A2E-9BBE-D90FD3A7F00E}"/>
              </a:ext>
            </a:extLst>
          </p:cNvPr>
          <p:cNvCxnSpPr>
            <a:cxnSpLocks/>
          </p:cNvCxnSpPr>
          <p:nvPr/>
        </p:nvCxnSpPr>
        <p:spPr>
          <a:xfrm>
            <a:off x="834597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876F9E-0D49-42C3-8A71-F13EC59A4574}"/>
              </a:ext>
            </a:extLst>
          </p:cNvPr>
          <p:cNvSpPr txBox="1"/>
          <p:nvPr/>
        </p:nvSpPr>
        <p:spPr>
          <a:xfrm>
            <a:off x="2055951" y="1315025"/>
            <a:ext cx="629001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E49EE-EEDA-4EB4-96B1-31E667E529E4}"/>
              </a:ext>
            </a:extLst>
          </p:cNvPr>
          <p:cNvSpPr txBox="1"/>
          <p:nvPr/>
        </p:nvSpPr>
        <p:spPr>
          <a:xfrm>
            <a:off x="8345965" y="1296351"/>
            <a:ext cx="3846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C8457D-F213-4D5F-A9C1-CFC1ECA9F276}"/>
              </a:ext>
            </a:extLst>
          </p:cNvPr>
          <p:cNvSpPr/>
          <p:nvPr/>
        </p:nvSpPr>
        <p:spPr>
          <a:xfrm>
            <a:off x="0" y="2185858"/>
            <a:ext cx="205595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Fragment Core" panose="02000504040000020003" pitchFamily="50" charset="0"/>
              </a:rPr>
              <a:t>What is a % Increase?</a:t>
            </a:r>
            <a:endParaRPr lang="en-AU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0521A5-06A8-40DC-8796-8E057C5A0C6A}"/>
              </a:ext>
            </a:extLst>
          </p:cNvPr>
          <p:cNvSpPr txBox="1"/>
          <p:nvPr/>
        </p:nvSpPr>
        <p:spPr>
          <a:xfrm>
            <a:off x="8345961" y="1785170"/>
            <a:ext cx="38444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dirty="0">
                <a:latin typeface="Calibri" panose="020F0502020204030204"/>
              </a:rPr>
              <a:t>1. Turn the % into a fraction</a:t>
            </a:r>
          </a:p>
          <a:p>
            <a:pPr defTabSz="914126"/>
            <a:endParaRPr lang="en-AU" sz="2400" dirty="0">
              <a:latin typeface="Calibri" panose="020F0502020204030204"/>
            </a:endParaRPr>
          </a:p>
          <a:p>
            <a:pPr defTabSz="914126"/>
            <a:endParaRPr lang="en-AU" sz="2400" dirty="0">
              <a:latin typeface="Calibri" panose="020F0502020204030204"/>
            </a:endParaRPr>
          </a:p>
          <a:p>
            <a:pPr defTabSz="914126"/>
            <a:r>
              <a:rPr lang="en-US" sz="2400" dirty="0">
                <a:latin typeface="Calibri" panose="020F0502020204030204"/>
              </a:rPr>
              <a:t>2. Multiply by the number</a:t>
            </a:r>
          </a:p>
          <a:p>
            <a:pPr defTabSz="914126"/>
            <a:endParaRPr lang="en-US" sz="2400" dirty="0">
              <a:latin typeface="Calibri" panose="020F0502020204030204"/>
            </a:endParaRPr>
          </a:p>
          <a:p>
            <a:pPr defTabSz="914126"/>
            <a:endParaRPr lang="en-US" sz="2400" dirty="0">
              <a:latin typeface="Calibri" panose="020F0502020204030204"/>
            </a:endParaRPr>
          </a:p>
          <a:p>
            <a:pPr defTabSz="914126"/>
            <a:r>
              <a:rPr lang="en-US" sz="2400" dirty="0">
                <a:latin typeface="Calibri" panose="020F0502020204030204"/>
              </a:rPr>
              <a:t>3. </a:t>
            </a:r>
            <a:r>
              <a:rPr lang="en-US" sz="2400" b="1" dirty="0">
                <a:latin typeface="Calibri" panose="020F0502020204030204"/>
              </a:rPr>
              <a:t>Add </a:t>
            </a:r>
            <a:r>
              <a:rPr lang="en-US" sz="2400" dirty="0">
                <a:latin typeface="Calibri" panose="020F0502020204030204"/>
              </a:rPr>
              <a:t>the new amount to the original number </a:t>
            </a:r>
          </a:p>
        </p:txBody>
      </p:sp>
    </p:spTree>
    <p:extLst>
      <p:ext uri="{BB962C8B-B14F-4D97-AF65-F5344CB8AC3E}">
        <p14:creationId xmlns:p14="http://schemas.microsoft.com/office/powerpoint/2010/main" val="362668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55958" y="1315025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73683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Percentage Increase and Decrease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323633"/>
            <a:ext cx="2054361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we work out the % increase and decrease?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5950" y="1875639"/>
            <a:ext cx="6290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3200" b="1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</a:rPr>
              <a:t>Decrease 163kg by 45%</a:t>
            </a:r>
            <a:endParaRPr lang="en-US" sz="3200" b="1" dirty="0">
              <a:solidFill>
                <a:schemeClr val="accent2">
                  <a:lumMod val="75000"/>
                </a:schemeClr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ACA63F-4B8D-4A2E-9BBE-D90FD3A7F00E}"/>
              </a:ext>
            </a:extLst>
          </p:cNvPr>
          <p:cNvCxnSpPr>
            <a:cxnSpLocks/>
          </p:cNvCxnSpPr>
          <p:nvPr/>
        </p:nvCxnSpPr>
        <p:spPr>
          <a:xfrm>
            <a:off x="834597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876F9E-0D49-42C3-8A71-F13EC59A4574}"/>
              </a:ext>
            </a:extLst>
          </p:cNvPr>
          <p:cNvSpPr txBox="1"/>
          <p:nvPr/>
        </p:nvSpPr>
        <p:spPr>
          <a:xfrm>
            <a:off x="2055951" y="1315025"/>
            <a:ext cx="629001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E49EE-EEDA-4EB4-96B1-31E667E529E4}"/>
              </a:ext>
            </a:extLst>
          </p:cNvPr>
          <p:cNvSpPr txBox="1"/>
          <p:nvPr/>
        </p:nvSpPr>
        <p:spPr>
          <a:xfrm>
            <a:off x="8345965" y="1296351"/>
            <a:ext cx="3846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C8457D-F213-4D5F-A9C1-CFC1ECA9F276}"/>
              </a:ext>
            </a:extLst>
          </p:cNvPr>
          <p:cNvSpPr/>
          <p:nvPr/>
        </p:nvSpPr>
        <p:spPr>
          <a:xfrm>
            <a:off x="0" y="2185858"/>
            <a:ext cx="205595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Fragment Core" panose="02000504040000020003" pitchFamily="50" charset="0"/>
              </a:rPr>
              <a:t>What is a % Decrease?</a:t>
            </a:r>
            <a:endParaRPr lang="en-AU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0521A5-06A8-40DC-8796-8E057C5A0C6A}"/>
              </a:ext>
            </a:extLst>
          </p:cNvPr>
          <p:cNvSpPr txBox="1"/>
          <p:nvPr/>
        </p:nvSpPr>
        <p:spPr>
          <a:xfrm>
            <a:off x="8345961" y="1785170"/>
            <a:ext cx="38444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dirty="0">
                <a:latin typeface="Calibri" panose="020F0502020204030204"/>
              </a:rPr>
              <a:t>1. Turn the % into a fraction</a:t>
            </a:r>
          </a:p>
          <a:p>
            <a:pPr defTabSz="914126"/>
            <a:endParaRPr lang="en-AU" sz="2400" dirty="0">
              <a:latin typeface="Calibri" panose="020F0502020204030204"/>
            </a:endParaRPr>
          </a:p>
          <a:p>
            <a:pPr defTabSz="914126"/>
            <a:endParaRPr lang="en-AU" sz="2400" dirty="0">
              <a:latin typeface="Calibri" panose="020F0502020204030204"/>
            </a:endParaRPr>
          </a:p>
          <a:p>
            <a:pPr defTabSz="914126"/>
            <a:r>
              <a:rPr lang="en-US" sz="2400" dirty="0">
                <a:latin typeface="Calibri" panose="020F0502020204030204"/>
              </a:rPr>
              <a:t>2. Multiply by the number</a:t>
            </a:r>
          </a:p>
          <a:p>
            <a:pPr defTabSz="914126"/>
            <a:endParaRPr lang="en-US" sz="2400" dirty="0">
              <a:latin typeface="Calibri" panose="020F0502020204030204"/>
            </a:endParaRPr>
          </a:p>
          <a:p>
            <a:pPr defTabSz="914126"/>
            <a:endParaRPr lang="en-US" sz="2400" dirty="0">
              <a:latin typeface="Calibri" panose="020F0502020204030204"/>
            </a:endParaRPr>
          </a:p>
          <a:p>
            <a:pPr defTabSz="914126"/>
            <a:r>
              <a:rPr lang="en-US" sz="2400" dirty="0">
                <a:latin typeface="Calibri" panose="020F0502020204030204"/>
              </a:rPr>
              <a:t>3. </a:t>
            </a:r>
            <a:r>
              <a:rPr lang="en-US" sz="2400" b="1" dirty="0">
                <a:latin typeface="Calibri" panose="020F0502020204030204"/>
              </a:rPr>
              <a:t>Subtract </a:t>
            </a:r>
            <a:r>
              <a:rPr lang="en-US" sz="2400" dirty="0">
                <a:latin typeface="Calibri" panose="020F0502020204030204"/>
              </a:rPr>
              <a:t>the new amount to the original number </a:t>
            </a:r>
          </a:p>
        </p:txBody>
      </p:sp>
    </p:spTree>
    <p:extLst>
      <p:ext uri="{BB962C8B-B14F-4D97-AF65-F5344CB8AC3E}">
        <p14:creationId xmlns:p14="http://schemas.microsoft.com/office/powerpoint/2010/main" val="861368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55958" y="1315025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73683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Percentage Increase and Decrease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323633"/>
            <a:ext cx="2054361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we work out the % increase and decrease?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ACA63F-4B8D-4A2E-9BBE-D90FD3A7F00E}"/>
              </a:ext>
            </a:extLst>
          </p:cNvPr>
          <p:cNvCxnSpPr>
            <a:cxnSpLocks/>
          </p:cNvCxnSpPr>
          <p:nvPr/>
        </p:nvCxnSpPr>
        <p:spPr>
          <a:xfrm>
            <a:off x="834597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876F9E-0D49-42C3-8A71-F13EC59A4574}"/>
              </a:ext>
            </a:extLst>
          </p:cNvPr>
          <p:cNvSpPr txBox="1"/>
          <p:nvPr/>
        </p:nvSpPr>
        <p:spPr>
          <a:xfrm>
            <a:off x="2055951" y="1315025"/>
            <a:ext cx="629001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E49EE-EEDA-4EB4-96B1-31E667E529E4}"/>
              </a:ext>
            </a:extLst>
          </p:cNvPr>
          <p:cNvSpPr txBox="1"/>
          <p:nvPr/>
        </p:nvSpPr>
        <p:spPr>
          <a:xfrm>
            <a:off x="8345965" y="1296351"/>
            <a:ext cx="3846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C8457D-F213-4D5F-A9C1-CFC1ECA9F276}"/>
              </a:ext>
            </a:extLst>
          </p:cNvPr>
          <p:cNvSpPr/>
          <p:nvPr/>
        </p:nvSpPr>
        <p:spPr>
          <a:xfrm>
            <a:off x="0" y="2185858"/>
            <a:ext cx="205595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Fragment Core" panose="02000504040000020003" pitchFamily="50" charset="0"/>
              </a:rPr>
              <a:t>How to find the %?</a:t>
            </a:r>
            <a:endParaRPr lang="en-AU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0521A5-06A8-40DC-8796-8E057C5A0C6A}"/>
              </a:ext>
            </a:extLst>
          </p:cNvPr>
          <p:cNvSpPr txBox="1"/>
          <p:nvPr/>
        </p:nvSpPr>
        <p:spPr>
          <a:xfrm>
            <a:off x="8345961" y="1785170"/>
            <a:ext cx="384444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dirty="0">
                <a:latin typeface="Calibri" panose="020F0502020204030204"/>
              </a:rPr>
              <a:t>1. Write the amount of the increase as a fraction over the original amount.</a:t>
            </a:r>
          </a:p>
          <a:p>
            <a:pPr defTabSz="914126"/>
            <a:endParaRPr lang="en-AU" sz="2400" dirty="0">
              <a:latin typeface="Calibri" panose="020F0502020204030204"/>
            </a:endParaRPr>
          </a:p>
          <a:p>
            <a:pPr defTabSz="914126"/>
            <a:endParaRPr lang="en-AU" sz="2400" dirty="0">
              <a:latin typeface="Calibri" panose="020F0502020204030204"/>
            </a:endParaRPr>
          </a:p>
          <a:p>
            <a:pPr defTabSz="914126"/>
            <a:r>
              <a:rPr lang="en-US" sz="2400" dirty="0">
                <a:latin typeface="Calibri" panose="020F0502020204030204"/>
              </a:rPr>
              <a:t>2. Multiply by 100%</a:t>
            </a:r>
          </a:p>
          <a:p>
            <a:pPr defTabSz="914126"/>
            <a:endParaRPr lang="en-US" sz="2400" dirty="0">
              <a:latin typeface="Calibri" panose="020F0502020204030204"/>
            </a:endParaRPr>
          </a:p>
          <a:p>
            <a:pPr defTabSz="914126"/>
            <a:endParaRPr lang="en-US" sz="2400" dirty="0">
              <a:latin typeface="Calibri" panose="020F0502020204030204"/>
            </a:endParaRPr>
          </a:p>
          <a:p>
            <a:pPr defTabSz="914126"/>
            <a:r>
              <a:rPr lang="en-US" sz="2400" dirty="0">
                <a:latin typeface="Calibri" panose="020F0502020204030204"/>
              </a:rPr>
              <a:t>3. Write the answer as a percent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38A549-1585-4F55-8AFD-F14178FB9069}"/>
              </a:ext>
            </a:extLst>
          </p:cNvPr>
          <p:cNvSpPr txBox="1"/>
          <p:nvPr/>
        </p:nvSpPr>
        <p:spPr>
          <a:xfrm>
            <a:off x="2055943" y="1737270"/>
            <a:ext cx="629001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b="1" dirty="0">
                <a:solidFill>
                  <a:srgbClr val="7030A0"/>
                </a:solidFill>
                <a:latin typeface="Calibri" panose="020F0502020204030204"/>
              </a:rPr>
              <a:t>Tori earns $950 per week as an electrician. She receives a pay increase of $32 per week. Find out by how much Tori’s pay increased by as a percentage.</a:t>
            </a:r>
            <a:endParaRPr lang="en-US" sz="2800" b="1" dirty="0">
              <a:solidFill>
                <a:srgbClr val="7030A0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2672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0850" y="122276"/>
            <a:ext cx="8608358" cy="104761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5467E3-27C3-437F-BC6D-5E89C9E5B7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2917"/>
          <a:stretch/>
        </p:blipFill>
        <p:spPr>
          <a:xfrm>
            <a:off x="0" y="1232431"/>
            <a:ext cx="12192000" cy="542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0850" y="122276"/>
            <a:ext cx="8608358" cy="104761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5467E3-27C3-437F-BC6D-5E89C9E5B7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000"/>
          <a:stretch/>
        </p:blipFill>
        <p:spPr>
          <a:xfrm>
            <a:off x="0" y="1169894"/>
            <a:ext cx="12192000" cy="576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063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866083"/>
          </a:xfrm>
        </p:spPr>
        <p:txBody>
          <a:bodyPr>
            <a:normAutofit fontScale="90000"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9B9582-2138-4587-B3CC-C3380F36D2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8269"/>
          <a:stretch/>
        </p:blipFill>
        <p:spPr>
          <a:xfrm>
            <a:off x="0" y="1066923"/>
            <a:ext cx="12192000" cy="12728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06C817D-828D-45AF-9313-BA242A905B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5643" b="-1344"/>
          <a:stretch/>
        </p:blipFill>
        <p:spPr>
          <a:xfrm>
            <a:off x="0" y="3684494"/>
            <a:ext cx="12192000" cy="143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278</Words>
  <Application>Microsoft Office PowerPoint</Application>
  <PresentationFormat>Widescreen</PresentationFormat>
  <Paragraphs>76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Light</vt:lpstr>
      <vt:lpstr>Comic Sans MS</vt:lpstr>
      <vt:lpstr>Fragment Core</vt:lpstr>
      <vt:lpstr>Harrington</vt:lpstr>
      <vt:lpstr>Kiwi School Handwriting</vt:lpstr>
      <vt:lpstr>Office Theme</vt:lpstr>
      <vt:lpstr>Financial Maths</vt:lpstr>
      <vt:lpstr>Last Lesson Re-cap</vt:lpstr>
      <vt:lpstr>PowerPoint Presentation</vt:lpstr>
      <vt:lpstr>PowerPoint Presentation</vt:lpstr>
      <vt:lpstr>PowerPoint Presentation</vt:lpstr>
      <vt:lpstr>PowerPoint Presentation</vt:lpstr>
      <vt:lpstr>Practice</vt:lpstr>
      <vt:lpstr>Practice</vt:lpstr>
      <vt:lpstr>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Maths</dc:title>
  <dc:creator>Nine Stretch</dc:creator>
  <cp:lastModifiedBy>Nine Stretch</cp:lastModifiedBy>
  <cp:revision>9</cp:revision>
  <dcterms:created xsi:type="dcterms:W3CDTF">2018-11-29T02:19:03Z</dcterms:created>
  <dcterms:modified xsi:type="dcterms:W3CDTF">2018-11-29T03:15:40Z</dcterms:modified>
</cp:coreProperties>
</file>
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27"/>
  </p:notesMasterIdLst>
  <p:sldIdLst>
    <p:sldId id="257" r:id="rId3"/>
    <p:sldId id="271" r:id="rId4"/>
    <p:sldId id="272" r:id="rId5"/>
    <p:sldId id="265" r:id="rId6"/>
    <p:sldId id="263" r:id="rId7"/>
    <p:sldId id="264" r:id="rId8"/>
    <p:sldId id="256" r:id="rId9"/>
    <p:sldId id="273" r:id="rId10"/>
    <p:sldId id="258" r:id="rId11"/>
    <p:sldId id="262" r:id="rId12"/>
    <p:sldId id="274" r:id="rId13"/>
    <p:sldId id="275" r:id="rId14"/>
    <p:sldId id="276" r:id="rId15"/>
    <p:sldId id="277" r:id="rId16"/>
    <p:sldId id="268" r:id="rId17"/>
    <p:sldId id="278" r:id="rId18"/>
    <p:sldId id="266" r:id="rId19"/>
    <p:sldId id="259" r:id="rId20"/>
    <p:sldId id="279" r:id="rId21"/>
    <p:sldId id="280" r:id="rId22"/>
    <p:sldId id="269" r:id="rId23"/>
    <p:sldId id="267" r:id="rId24"/>
    <p:sldId id="27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63886-A336-469C-A4D4-5E349FEAB3C2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1CF30-1AB0-490D-BC00-75A66C2247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73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1371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10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82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876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52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62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B770-AF60-4EA9-98C4-D04BFDDCF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7C83D-48F6-40E0-BDEA-1BE49BD32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5E4F7-D8AE-4BEB-9DC7-0023EE33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9BF01-33BC-4EAA-8751-79F07EE44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5EEDE-799D-4DC1-9D16-10223566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3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55DB-3D04-4154-859C-49BE2FDCF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45C5F-404E-4F99-9AE3-EAF51016D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188D2-1B6E-4C43-A591-26623AF3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6299-713C-4501-B664-79FCD756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2E675-3FF1-4D34-84B4-F9B4915D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339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1837-A9FB-47DB-97E5-894839D1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8B311-1486-4895-89D2-CA838DAED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62840-F536-4C58-8FA5-12F6CDE1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4BE7D-48D8-48B3-93E4-4BB06175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2A9F7-A424-4E73-B914-8E1F3346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15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14E5-E254-46FD-BF49-0D6570F0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6B8EC-DB11-4BEF-A568-90A3C768D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04E6D-6C50-43C8-88ED-FE0764F4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B40C8-49BA-4BA7-A4F6-115EB7C4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E45F2-F047-4241-8CCD-EC4BF661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9796C-9FEF-422E-A77C-725DDF5A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61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B124A-6A0D-4E3A-940D-3A2AC5ABF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32449-1F25-4C06-BDBE-55C650D76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9886C-985C-4ABE-82DC-54F96C6E9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8A9AB-A190-4C15-B31D-4024541D5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CF583-9CE0-46A4-A5BC-5F39375F4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065E4-58A0-40D2-AA67-083D85CC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3CF2D-87C5-4B6A-8F18-70E8C157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6FE62-6A54-44A6-A9CD-8BB81C34F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50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E6AE-C054-4469-BC4C-F9FA23F3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E9732-6C4A-4035-999F-CC4329E2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27EB6-3C6A-4E1A-BDEC-5528B3C5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6A734-A88F-4CF7-8C32-B5F3FEE8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5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594CA-09A0-4F9A-B384-6E252C05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F6118-D00C-49DF-9432-96982BB7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A757C-9C44-4392-9422-EABAB600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789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B57C-73F0-4971-84C9-3C4FC99D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64E4-D24E-4EB7-9FA0-487641561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DFE7B-D222-4B11-A97B-E24DE3FF5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A7AE2-63A3-45F5-A9C6-BAFBECCE6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4D98B-7FA7-4727-A3F5-37CE86F2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19CAD-5942-44B5-9839-DFED4586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114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DD81-3453-4F74-8EDC-93629F9E0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2A43F-C4BD-4159-9E57-9983F6254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544DD-3196-48E0-9D41-8419A563C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0E803-1FB9-4D12-8608-13AAB99F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33AF9-D293-4122-8738-86B337548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5D1EB-8639-488B-B2CE-76CD5D23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9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790D-AEE4-4215-B392-FB43D6570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77D32-E705-4965-B51A-A9CE9EDC8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DB571-FED1-4A2E-A5B2-78E23179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CD55D-4B9A-46C5-ACF7-736277C0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5258-0232-4D76-A938-4279E105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24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9FD15-9AD2-4DD1-8C48-7E0113B0A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9BF7B-8DAC-4032-BC43-885E56B4B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78A1F-6055-4E9F-8816-9BBFA40F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10CC-D24C-4546-9205-205F697F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3FAA8-C866-48B2-8D92-5715A4CF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0804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29912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8225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24101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665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732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345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437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37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90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016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5592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5194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2425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918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48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7C4855-AECA-4144-9CA6-CEF282B1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1E131-47FB-4BA4-9765-2A6B19E85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0CEC5-354E-4D14-B11E-FAD2A06B2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7ED2A-3381-4C65-99A0-B1751C070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D02CE-77C2-43B9-BF59-388AE9D64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15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EBA83A-0FE1-4D7D-8547-E9BCA3B2C3F1}" type="datetimeFigureOut">
              <a:rPr lang="en-AU" smtClean="0"/>
              <a:t>29/11/2018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2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Financial Maths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Percentage Recap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I work out the % of an amount? 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98AF4026-9E1B-49E1-A8EF-3A5394DC66AD}"/>
              </a:ext>
            </a:extLst>
          </p:cNvPr>
          <p:cNvSpPr/>
          <p:nvPr/>
        </p:nvSpPr>
        <p:spPr>
          <a:xfrm>
            <a:off x="9228333" y="73975"/>
            <a:ext cx="2899954" cy="2184432"/>
          </a:xfrm>
          <a:prstGeom prst="cloud">
            <a:avLst/>
          </a:prstGeom>
          <a:solidFill>
            <a:srgbClr val="FF99F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9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Percentage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I work out the % of an amount?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7855156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3751485" y="134398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7F1A8026-4B2D-45E3-AD8E-5C65414C8622}"/>
              </a:ext>
            </a:extLst>
          </p:cNvPr>
          <p:cNvSpPr txBox="1">
            <a:spLocks/>
          </p:cNvSpPr>
          <p:nvPr/>
        </p:nvSpPr>
        <p:spPr>
          <a:xfrm>
            <a:off x="7940489" y="1931250"/>
            <a:ext cx="4251511" cy="41489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400" dirty="0"/>
              <a:t>1. Express the percentage as a fraction.</a:t>
            </a:r>
          </a:p>
          <a:p>
            <a:pPr marL="45720" indent="0" algn="ctr">
              <a:buNone/>
            </a:pPr>
            <a:r>
              <a:rPr lang="en-US" sz="2400" b="1" i="1" dirty="0">
                <a:solidFill>
                  <a:schemeClr val="accent5">
                    <a:lumMod val="75000"/>
                  </a:schemeClr>
                </a:solidFill>
              </a:rPr>
              <a:t>(% is always out of 100)</a:t>
            </a:r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r>
              <a:rPr lang="en-US" sz="2400" dirty="0"/>
              <a:t>2. Change the ‘of’ to a multiplication sign.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C2675-6DC8-441C-888B-C3A3A9652BC7}"/>
              </a:ext>
            </a:extLst>
          </p:cNvPr>
          <p:cNvSpPr txBox="1"/>
          <p:nvPr/>
        </p:nvSpPr>
        <p:spPr>
          <a:xfrm>
            <a:off x="-19236" y="1776562"/>
            <a:ext cx="1845938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AU" sz="2400" b="1" dirty="0"/>
              <a:t>How do I calculate the percentage of a number?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B71D1E-62DE-41C2-9B9C-7FA4636FB2B6}"/>
              </a:ext>
            </a:extLst>
          </p:cNvPr>
          <p:cNvSpPr txBox="1"/>
          <p:nvPr/>
        </p:nvSpPr>
        <p:spPr>
          <a:xfrm>
            <a:off x="2780024" y="1848527"/>
            <a:ext cx="378885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30% of 50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89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Percentage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I work out the % of an amount?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93526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3498475" y="137013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7F1A8026-4B2D-45E3-AD8E-5C65414C8622}"/>
              </a:ext>
            </a:extLst>
          </p:cNvPr>
          <p:cNvSpPr txBox="1">
            <a:spLocks/>
          </p:cNvSpPr>
          <p:nvPr/>
        </p:nvSpPr>
        <p:spPr>
          <a:xfrm>
            <a:off x="8693526" y="1931251"/>
            <a:ext cx="3498474" cy="3891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400" dirty="0"/>
              <a:t>1. Express the percentage as a fraction.</a:t>
            </a:r>
          </a:p>
          <a:p>
            <a:pPr marL="45720" indent="0" algn="ctr">
              <a:buNone/>
            </a:pPr>
            <a:r>
              <a:rPr lang="en-US" sz="2400" b="1" i="1" dirty="0">
                <a:solidFill>
                  <a:schemeClr val="accent5">
                    <a:lumMod val="75000"/>
                  </a:schemeClr>
                </a:solidFill>
              </a:rPr>
              <a:t>(% is always out of 100)</a:t>
            </a:r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r>
              <a:rPr lang="en-US" sz="2400" dirty="0"/>
              <a:t>2. Change the ‘of’ to a multiplication sign.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ECA1F4-7895-4BA0-A2B8-C2F968DB4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54" b="988"/>
          <a:stretch/>
        </p:blipFill>
        <p:spPr>
          <a:xfrm>
            <a:off x="0" y="1845725"/>
            <a:ext cx="8585945" cy="76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956" y="95382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352A7-093A-4A66-BE69-B1EDC14FF3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817"/>
          <a:stretch/>
        </p:blipFill>
        <p:spPr>
          <a:xfrm>
            <a:off x="0" y="1388410"/>
            <a:ext cx="12192000" cy="228263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8CEFB9-0485-4943-A747-C9FD4233F3CC}"/>
              </a:ext>
            </a:extLst>
          </p:cNvPr>
          <p:cNvCxnSpPr/>
          <p:nvPr/>
        </p:nvCxnSpPr>
        <p:spPr>
          <a:xfrm>
            <a:off x="100853" y="2171700"/>
            <a:ext cx="111072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78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Worded Questions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1C732A-A25E-4A9B-8537-C0487570F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5920"/>
            <a:ext cx="12192000" cy="48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6B34EB9-9E49-4D2B-9CD6-49A688A9BB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5117" y="4671212"/>
            <a:ext cx="7772400" cy="1463040"/>
          </a:xfrm>
        </p:spPr>
        <p:txBody>
          <a:bodyPr/>
          <a:lstStyle/>
          <a:p>
            <a:r>
              <a:rPr lang="en-GB" altLang="en-US" dirty="0"/>
              <a:t>Percentage Bingo</a:t>
            </a:r>
            <a:endParaRPr lang="en-US" altLang="en-US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DB4F5B9-3D7D-468A-BE4E-1620DF7425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74545" y="4815357"/>
            <a:ext cx="6400800" cy="1752600"/>
          </a:xfrm>
        </p:spPr>
        <p:txBody>
          <a:bodyPr/>
          <a:lstStyle/>
          <a:p>
            <a:pPr algn="l"/>
            <a:r>
              <a:rPr lang="en-GB" altLang="en-US" sz="2800" dirty="0"/>
              <a:t>Aim:  Full House</a:t>
            </a:r>
          </a:p>
          <a:p>
            <a:pPr algn="l"/>
            <a:r>
              <a:rPr lang="en-GB" altLang="en-US" sz="2800" dirty="0"/>
              <a:t>Grid: 9 Grid</a:t>
            </a:r>
          </a:p>
          <a:p>
            <a:pPr algn="l"/>
            <a:r>
              <a:rPr lang="en-GB" altLang="en-US" sz="2800" dirty="0"/>
              <a:t>Play: Calculate answer &amp; cross it off</a:t>
            </a:r>
            <a:endParaRPr lang="en-US" altLang="en-US" sz="2800" dirty="0"/>
          </a:p>
        </p:txBody>
      </p:sp>
      <p:grpSp>
        <p:nvGrpSpPr>
          <p:cNvPr id="2058" name="Group 10">
            <a:extLst>
              <a:ext uri="{FF2B5EF4-FFF2-40B4-BE49-F238E27FC236}">
                <a16:creationId xmlns:a16="http://schemas.microsoft.com/office/drawing/2014/main" id="{4759F847-1616-479C-AD42-51FEADBD0AFA}"/>
              </a:ext>
            </a:extLst>
          </p:cNvPr>
          <p:cNvGrpSpPr>
            <a:grpSpLocks/>
          </p:cNvGrpSpPr>
          <p:nvPr/>
        </p:nvGrpSpPr>
        <p:grpSpPr bwMode="auto">
          <a:xfrm>
            <a:off x="9397067" y="4683594"/>
            <a:ext cx="2016125" cy="2016125"/>
            <a:chOff x="3424" y="1752"/>
            <a:chExt cx="1270" cy="1270"/>
          </a:xfrm>
        </p:grpSpPr>
        <p:sp>
          <p:nvSpPr>
            <p:cNvPr id="2052" name="Rectangle 4">
              <a:extLst>
                <a:ext uri="{FF2B5EF4-FFF2-40B4-BE49-F238E27FC236}">
                  <a16:creationId xmlns:a16="http://schemas.microsoft.com/office/drawing/2014/main" id="{2DE61005-BCE9-46FF-B84E-DC67A0571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752"/>
              <a:ext cx="1270" cy="127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2053" name="Line 5">
              <a:extLst>
                <a:ext uri="{FF2B5EF4-FFF2-40B4-BE49-F238E27FC236}">
                  <a16:creationId xmlns:a16="http://schemas.microsoft.com/office/drawing/2014/main" id="{2EDDA197-E56F-48AC-820B-075AF435A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752"/>
              <a:ext cx="0" cy="12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54" name="Line 6">
              <a:extLst>
                <a:ext uri="{FF2B5EF4-FFF2-40B4-BE49-F238E27FC236}">
                  <a16:creationId xmlns:a16="http://schemas.microsoft.com/office/drawing/2014/main" id="{3229E8DA-7EB6-4F3E-A8FB-C3625E0C2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752"/>
              <a:ext cx="0" cy="12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55" name="Line 7">
              <a:extLst>
                <a:ext uri="{FF2B5EF4-FFF2-40B4-BE49-F238E27FC236}">
                  <a16:creationId xmlns:a16="http://schemas.microsoft.com/office/drawing/2014/main" id="{BD985E62-B485-44FC-B7E8-8F418004F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205"/>
              <a:ext cx="1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57" name="Line 9">
              <a:extLst>
                <a:ext uri="{FF2B5EF4-FFF2-40B4-BE49-F238E27FC236}">
                  <a16:creationId xmlns:a16="http://schemas.microsoft.com/office/drawing/2014/main" id="{A500A16E-F9BC-4C3D-A41C-298416365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14"/>
              <a:ext cx="1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10277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D3856B-8AC8-4CBC-921B-3B00DE128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/>
              <a:t>Use any of these numbers in your grid </a:t>
            </a:r>
            <a:br>
              <a:rPr lang="en-GB" altLang="en-US" dirty="0"/>
            </a:br>
            <a:r>
              <a:rPr lang="en-GB" altLang="en-US" dirty="0">
                <a:solidFill>
                  <a:schemeClr val="accent5">
                    <a:lumMod val="75000"/>
                  </a:schemeClr>
                </a:solidFill>
              </a:rPr>
              <a:t>(NO REPEATS)</a:t>
            </a:r>
            <a:endParaRPr lang="en-US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4B79744-2174-4546-B702-C877B6DA67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49424"/>
            <a:ext cx="9720073" cy="4023360"/>
          </a:xfrm>
        </p:spPr>
        <p:txBody>
          <a:bodyPr/>
          <a:lstStyle/>
          <a:p>
            <a:r>
              <a:rPr lang="en-GB" altLang="en-US" sz="4000" dirty="0"/>
              <a:t>24 	       12		25		63</a:t>
            </a:r>
          </a:p>
          <a:p>
            <a:r>
              <a:rPr lang="en-GB" altLang="en-US" sz="4000" dirty="0"/>
              <a:t>49		48		15		36</a:t>
            </a:r>
          </a:p>
          <a:p>
            <a:r>
              <a:rPr lang="en-GB" altLang="en-US" sz="4000" dirty="0"/>
              <a:t>21		54		30		16</a:t>
            </a:r>
          </a:p>
          <a:p>
            <a:r>
              <a:rPr lang="en-GB" altLang="en-US" sz="4000" dirty="0"/>
              <a:t>9		10		55		33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24980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C46CD77-6E74-449A-A62F-BD094858F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39609FCF-B955-4985-9A10-D51134E60003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5% of 1080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29320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209D7E0-911F-4577-A202-68A39DA1B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356E1433-AA93-48B1-ABF6-10C6EC3420BB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40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86804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7BD005F-7447-40AC-A6DD-A93B9154F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A5201412-2928-4750-99D0-C475C029F14D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5% of 180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209870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F59FFCB-F5AD-4231-A5FA-BB84A0919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ADB0AD65-B997-4257-AACC-F71DEC74A518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90% of 40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950497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BCA8149-F3D6-42C0-8149-1E3B71055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FED1FB1E-180B-4055-A2A0-C7BB523854AC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20% of 120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624669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9EC0AD0-4759-481E-8FA0-009672942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72AEC06D-CAD8-4AA0-91DB-520F13CA6CA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12.5% of 200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606688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BD8FA7F-61C1-4E26-A305-BC6B5DF78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A20860DF-7275-4CAB-BCE2-CCBFCFDD423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 baseline="30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50% of 60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981497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44F14AA-9E66-48BB-9837-7D2ECBB91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604ECA38-37C8-45CE-A19A-07801D8F3FA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110% of 50</a:t>
            </a:r>
          </a:p>
        </p:txBody>
      </p:sp>
    </p:spTree>
    <p:extLst>
      <p:ext uri="{BB962C8B-B14F-4D97-AF65-F5344CB8AC3E}">
        <p14:creationId xmlns:p14="http://schemas.microsoft.com/office/powerpoint/2010/main" val="576910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DD3512C-B3A1-4982-A2C3-5AFD7ECEB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6DC58706-F75F-46EF-A462-9FE61656FE11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210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491514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95AA236-FD3A-4DB9-85B9-B24C9C168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5CF2F51-C222-4919-AAAA-F3E6F1CB6E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150% of 10</a:t>
            </a:r>
            <a:endParaRPr lang="en-US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288772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2B707A7-DB4E-4FDA-B37C-45D037C13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037867D-D4CD-495B-BF2A-E866CB5A922D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40% of 120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167304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751D4D0-4720-4DF1-8EED-8AD6A30C9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A32140CE-C1E2-4563-811B-304F3D522322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70% of 70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3957966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DB01632-D789-49F3-B0D7-1C7C485B8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32E80F9C-6742-4223-BA54-ABDC91B23860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125% of 8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235138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4BBCB7E-5C5E-4C96-BA8B-43116C5B6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687EFE41-5496-4D27-BC0F-EB7BD171F0CF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 baseline="30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10% of 160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922218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C4E2D0C-8CD6-4529-8C63-C818B475C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C8E99623-FF9A-4FD6-8933-36A6B78D7A1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11% of 300</a:t>
            </a:r>
          </a:p>
        </p:txBody>
      </p:sp>
    </p:spTree>
    <p:extLst>
      <p:ext uri="{BB962C8B-B14F-4D97-AF65-F5344CB8AC3E}">
        <p14:creationId xmlns:p14="http://schemas.microsoft.com/office/powerpoint/2010/main" val="2368524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EBDE099-C7F5-4F9A-8D25-F291ABF6B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1EFEDA56-4886-484B-B7B6-4B45D3550641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70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143558651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254</Words>
  <Application>Microsoft Office PowerPoint</Application>
  <PresentationFormat>Widescreen</PresentationFormat>
  <Paragraphs>95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Britannic Bold</vt:lpstr>
      <vt:lpstr>Calibri</vt:lpstr>
      <vt:lpstr>Calibri Light</vt:lpstr>
      <vt:lpstr>Fragment Core</vt:lpstr>
      <vt:lpstr>Harrington</vt:lpstr>
      <vt:lpstr>Tw Cen MT</vt:lpstr>
      <vt:lpstr>Tw Cen MT Condensed</vt:lpstr>
      <vt:lpstr>Wingdings</vt:lpstr>
      <vt:lpstr>Wingdings 3</vt:lpstr>
      <vt:lpstr>Office Theme</vt:lpstr>
      <vt:lpstr>Integral</vt:lpstr>
      <vt:lpstr>Financial Maths</vt:lpstr>
      <vt:lpstr>PowerPoint Presentation</vt:lpstr>
      <vt:lpstr>PowerPoint Presentation</vt:lpstr>
      <vt:lpstr>PowerPoint Presentation</vt:lpstr>
      <vt:lpstr>Practice</vt:lpstr>
      <vt:lpstr>Worded Questions</vt:lpstr>
      <vt:lpstr>Percentage Bingo</vt:lpstr>
      <vt:lpstr>Use any of these numbers in your grid  (NO REPEATS)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Maths</dc:title>
  <dc:creator>Nine Stretch</dc:creator>
  <cp:lastModifiedBy>Nine Stretch</cp:lastModifiedBy>
  <cp:revision>7</cp:revision>
  <dcterms:created xsi:type="dcterms:W3CDTF">2018-11-29T01:19:38Z</dcterms:created>
  <dcterms:modified xsi:type="dcterms:W3CDTF">2018-11-29T01:30:13Z</dcterms:modified>
</cp:coreProperties>
</file>
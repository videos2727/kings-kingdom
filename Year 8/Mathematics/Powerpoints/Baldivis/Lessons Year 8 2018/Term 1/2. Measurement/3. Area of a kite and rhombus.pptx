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10"/>
  </p:notesMasterIdLst>
  <p:sldIdLst>
    <p:sldId id="286" r:id="rId3"/>
    <p:sldId id="272" r:id="rId4"/>
    <p:sldId id="284" r:id="rId5"/>
    <p:sldId id="285" r:id="rId6"/>
    <p:sldId id="273" r:id="rId7"/>
    <p:sldId id="274" r:id="rId8"/>
    <p:sldId id="287" r:id="rId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99"/>
    <a:srgbClr val="009900"/>
    <a:srgbClr val="99FF66"/>
    <a:srgbClr val="FF6600"/>
    <a:srgbClr val="0000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078" autoAdjust="0"/>
    <p:restoredTop sz="94712"/>
  </p:normalViewPr>
  <p:slideViewPr>
    <p:cSldViewPr>
      <p:cViewPr varScale="1">
        <p:scale>
          <a:sx n="102" d="100"/>
          <a:sy n="102" d="100"/>
        </p:scale>
        <p:origin x="1768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FAC2DFA9-CC8D-4011-AA2B-848F3FC946D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25355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AC2DFA9-CC8D-4011-AA2B-848F3FC946D3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2269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AC2DFA9-CC8D-4011-AA2B-848F3FC946D3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2269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AC2DFA9-CC8D-4011-AA2B-848F3FC946D3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2269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E7DB3228-A4BF-4710-B170-7D874C72D660}" type="datetimeFigureOut">
              <a:rPr lang="en-AU"/>
              <a:pPr>
                <a:defRPr/>
              </a:pPr>
              <a:t>26/2/18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AC068C35-D08D-411D-AFD3-30454A46649C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59265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737A028F-01B4-4168-89A4-2FCBF8EA50F7}" type="datetimeFigureOut">
              <a:rPr lang="en-AU"/>
              <a:pPr>
                <a:defRPr/>
              </a:pPr>
              <a:t>26/2/18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70D4B55C-788B-4384-AE4C-AF3774EE3BFF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404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5A8829D5-32F7-4E4C-924F-FA78E31AE6CE}" type="datetimeFigureOut">
              <a:rPr lang="en-AU"/>
              <a:pPr>
                <a:defRPr/>
              </a:pPr>
              <a:t>26/2/18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BD8AC7E4-D36B-49DA-840F-760B2D73149F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62559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7E3F35E1-FF4A-414F-B5F3-318AEF94F5EF}" type="datetimeFigureOut">
              <a:rPr lang="en-AU"/>
              <a:pPr>
                <a:defRPr/>
              </a:pPr>
              <a:t>26/2/18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76388422-0EF8-4DE8-BBFE-70125E5E1C76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35051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D93899AC-0404-479C-B6F9-78EFDF3F8207}" type="datetimeFigureOut">
              <a:rPr lang="en-AU"/>
              <a:pPr>
                <a:defRPr/>
              </a:pPr>
              <a:t>26/2/18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EDD7A2C0-3F5E-4D8C-A941-5FF4E226F069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743378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F944F178-6F59-47E4-9DC9-CB5551992E52}" type="datetimeFigureOut">
              <a:rPr lang="en-AU"/>
              <a:pPr>
                <a:defRPr/>
              </a:pPr>
              <a:t>26/2/18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85574DAA-D9D2-488F-811D-5E5349E47E38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98583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657813FC-AC3C-416C-A3E6-7A03EE0756A9}" type="datetimeFigureOut">
              <a:rPr lang="en-AU"/>
              <a:pPr>
                <a:defRPr/>
              </a:pPr>
              <a:t>26/2/18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D52D8E22-6720-49DF-B787-4400306EB55E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483157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60C12627-B49B-45F0-BFED-A63E8503E0BA}" type="datetimeFigureOut">
              <a:rPr lang="en-AU"/>
              <a:pPr>
                <a:defRPr/>
              </a:pPr>
              <a:t>26/2/18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0BEEF719-D25C-4CB0-805E-62D2CCAFFDFC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25669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AU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96C9D0AB-17D5-4F15-A425-60A3C9728353}" type="datetimeFigureOut">
              <a:rPr lang="en-AU"/>
              <a:pPr>
                <a:defRPr/>
              </a:pPr>
              <a:t>26/2/18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5065FC16-AB15-4FD9-9542-133A71CDA18A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355176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9A728C1E-5E46-45CA-8CEC-4190666ACE39}" type="datetimeFigureOut">
              <a:rPr lang="en-AU"/>
              <a:pPr>
                <a:defRPr/>
              </a:pPr>
              <a:t>26/2/18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E3C975BD-9BB9-496B-BFDE-0221B1164364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22168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C557D1D7-18C0-4A88-8D54-58C0B185D722}" type="datetimeFigureOut">
              <a:rPr lang="en-AU"/>
              <a:pPr>
                <a:defRPr/>
              </a:pPr>
              <a:t>26/2/18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AEE61735-1B25-4CF3-B6BE-303EAB081E22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839052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58CD227D-F45F-412A-8D7B-D03DAAC35A59}" type="datetimeFigureOut">
              <a:rPr lang="en-AU"/>
              <a:pPr>
                <a:defRPr/>
              </a:pPr>
              <a:t>26/2/18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023E6989-D397-4A16-A0D4-09B26C611026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41495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8F497677-DD77-4FB2-BCD4-2BD59DE13003}" type="datetimeFigureOut">
              <a:rPr lang="en-AU"/>
              <a:pPr>
                <a:defRPr/>
              </a:pPr>
              <a:t>26/2/18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5E903F39-6BF8-4E8B-9932-4085FE0B6CA0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40421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A83DF8F2-924F-4530-8EF2-8FEE184B2975}" type="datetimeFigureOut">
              <a:rPr lang="en-AU"/>
              <a:pPr>
                <a:defRPr/>
              </a:pPr>
              <a:t>26/2/18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33281837-3A2D-4DBB-9C47-592013C2EE8E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6974750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8BF115BC-170B-4801-83D0-16522993966D}" type="datetimeFigureOut">
              <a:rPr lang="en-AU"/>
              <a:pPr>
                <a:defRPr/>
              </a:pPr>
              <a:t>26/2/18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1DC59C29-6A7F-478F-8FA1-7D95C4A9E2FA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539571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04C69E61-AAB9-431A-AD3B-115736A94EB6}" type="datetimeFigureOut">
              <a:rPr lang="en-AU"/>
              <a:pPr>
                <a:defRPr/>
              </a:pPr>
              <a:t>26/2/18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518184FF-1D7B-46FD-9FFF-735C33E5E438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646634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E72EC0D2-789C-472C-A80A-AE53B35E1666}" type="datetimeFigureOut">
              <a:rPr lang="en-AU"/>
              <a:pPr>
                <a:defRPr/>
              </a:pPr>
              <a:t>26/2/18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9B18B35A-AA10-4F38-ADE0-BCB46AB22A17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048204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43C5F3B1-6421-4503-86B1-B35E783CCF9B}" type="datetimeFigureOut">
              <a:rPr lang="en-AU"/>
              <a:pPr>
                <a:defRPr/>
              </a:pPr>
              <a:t>26/2/18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CCFFBDB7-D030-4B60-ABDF-77E21D5B3ABB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2884032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8B81CE0C-208E-4178-8619-B82B3861AD52}" type="datetimeFigureOut">
              <a:rPr lang="en-AU"/>
              <a:pPr>
                <a:defRPr/>
              </a:pPr>
              <a:t>26/2/18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752A4650-5CFF-4109-A108-7615637CD4D4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301183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AU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A28636D1-E59C-4AA0-8637-62A138E10DED}" type="datetimeFigureOut">
              <a:rPr lang="en-AU"/>
              <a:pPr>
                <a:defRPr/>
              </a:pPr>
              <a:t>26/2/18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88587249-B79C-4BBE-8E24-27CC82DA5877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48487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10D28ADB-E613-45FB-96CB-2300BF9D21EA}" type="datetimeFigureOut">
              <a:rPr lang="en-AU"/>
              <a:pPr>
                <a:defRPr/>
              </a:pPr>
              <a:t>26/2/18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1CA434F3-96B9-4123-B6AF-31009A222E53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2151311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C1E9586F-E2E4-4D48-AFF2-63CBEB0DCB1D}" type="datetimeFigureOut">
              <a:rPr lang="en-AU"/>
              <a:pPr>
                <a:defRPr/>
              </a:pPr>
              <a:t>26/2/18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latin typeface="Times New Roman" pitchFamily="18" charset="0"/>
              </a:defRPr>
            </a:lvl1pPr>
          </a:lstStyle>
          <a:p>
            <a:pPr>
              <a:defRPr/>
            </a:pPr>
            <a:fld id="{79C9181B-E1BB-4279-863D-3128480F8956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72607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07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Calibri"/>
              </a:defRPr>
            </a:lvl1pPr>
          </a:lstStyle>
          <a:p>
            <a:pPr>
              <a:defRPr/>
            </a:pPr>
            <a:fld id="{A2349C4C-B07F-45F1-9E43-C7232431594C}" type="datetimeFigureOut">
              <a:rPr lang="en-AU"/>
              <a:pPr>
                <a:defRPr/>
              </a:pPr>
              <a:t>26/2/18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Calibri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prstClr val="black">
                    <a:tint val="75000"/>
                  </a:prstClr>
                </a:solidFill>
                <a:latin typeface="Calibri"/>
              </a:defRPr>
            </a:lvl1pPr>
          </a:lstStyle>
          <a:p>
            <a:pPr>
              <a:defRPr/>
            </a:pPr>
            <a:fld id="{D6F5FD3A-7F44-4D3B-9954-B2319C68E7AC}" type="slidenum">
              <a:rPr lang="en-AU"/>
              <a:pPr>
                <a:defRPr/>
              </a:pPr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96674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07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prstClr val="black">
                    <a:tint val="75000"/>
                  </a:prstClr>
                </a:solidFill>
                <a:latin typeface="Calibri"/>
              </a:defRPr>
            </a:lvl1pPr>
          </a:lstStyle>
          <a:p>
            <a:pPr>
              <a:defRPr/>
            </a:pPr>
            <a:fld id="{DC314EBB-1FAE-4AF9-8750-82836BE4C0A3}" type="datetimeFigureOut">
              <a:rPr lang="en-AU">
                <a:cs typeface="+mn-cs"/>
              </a:rPr>
              <a:pPr>
                <a:defRPr/>
              </a:pPr>
              <a:t>26/2/18</a:t>
            </a:fld>
            <a:endParaRPr lang="en-AU" dirty="0"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dirty="0">
                <a:solidFill>
                  <a:prstClr val="black">
                    <a:tint val="75000"/>
                  </a:prstClr>
                </a:solidFill>
                <a:latin typeface="Calibri"/>
              </a:defRPr>
            </a:lvl1pPr>
          </a:lstStyle>
          <a:p>
            <a:pPr>
              <a:defRPr/>
            </a:pPr>
            <a:endParaRPr lang="en-AU"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prstClr val="black">
                    <a:tint val="75000"/>
                  </a:prstClr>
                </a:solidFill>
                <a:latin typeface="Calibri"/>
              </a:defRPr>
            </a:lvl1pPr>
          </a:lstStyle>
          <a:p>
            <a:pPr>
              <a:defRPr/>
            </a:pPr>
            <a:fld id="{F30B5F73-3933-45EC-867D-19C2B719B4B8}" type="slidenum">
              <a:rPr lang="en-AU">
                <a:cs typeface="+mn-cs"/>
              </a:rPr>
              <a:pPr>
                <a:defRPr/>
              </a:pPr>
              <a:t>‹#›</a:t>
            </a:fld>
            <a:endParaRPr lang="en-AU" dirty="0"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6697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ctrTitle"/>
          </p:nvPr>
        </p:nvSpPr>
        <p:spPr>
          <a:xfrm>
            <a:off x="611188" y="333375"/>
            <a:ext cx="7772400" cy="1470025"/>
          </a:xfrm>
        </p:spPr>
        <p:txBody>
          <a:bodyPr/>
          <a:lstStyle/>
          <a:p>
            <a:pPr eaLnBrk="1" hangingPunct="1"/>
            <a:r>
              <a:rPr lang="en-AU" dirty="0"/>
              <a:t>My Measurement</a:t>
            </a:r>
            <a:br>
              <a:rPr lang="en-AU" dirty="0"/>
            </a:br>
            <a:r>
              <a:rPr lang="en-AU" dirty="0"/>
              <a:t>Interactive Notebook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85000" lnSpcReduction="20000"/>
          </a:bodyPr>
          <a:lstStyle/>
          <a:p>
            <a:pPr algn="l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AU" dirty="0"/>
              <a:t>Name </a:t>
            </a:r>
          </a:p>
          <a:p>
            <a:pPr algn="l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AU" dirty="0"/>
              <a:t>Class: 8-</a:t>
            </a:r>
          </a:p>
          <a:p>
            <a:pPr algn="l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AU" dirty="0"/>
              <a:t>Teacher: Mr Evans</a:t>
            </a:r>
          </a:p>
          <a:p>
            <a:pPr algn="l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AU" dirty="0"/>
              <a:t>Term 1 Semester 1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DC38E07-BA7A-4902-95BA-09BA78FE94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0503" y="4191888"/>
            <a:ext cx="2723085" cy="226923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34D5330-4D57-44F7-AC79-9DB9324088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633" y="2035175"/>
            <a:ext cx="1879934" cy="119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8343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563" y="0"/>
            <a:ext cx="71437" cy="695801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59" name="TextBox 5"/>
          <p:cNvSpPr txBox="1">
            <a:spLocks noChangeArrowheads="1"/>
          </p:cNvSpPr>
          <p:nvPr/>
        </p:nvSpPr>
        <p:spPr bwMode="auto">
          <a:xfrm>
            <a:off x="0" y="6475413"/>
            <a:ext cx="3016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800">
                <a:solidFill>
                  <a:srgbClr val="000000"/>
                </a:solidFill>
                <a:latin typeface="Calibri" pitchFamily="34" charset="0"/>
              </a:rPr>
              <a:t>6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563" y="620713"/>
            <a:ext cx="4643437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563" y="1196975"/>
            <a:ext cx="4643437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00" y="5373688"/>
            <a:ext cx="4725988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7400" y="1196975"/>
            <a:ext cx="0" cy="417671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464" name="TextBox 18"/>
          <p:cNvSpPr txBox="1">
            <a:spLocks noChangeArrowheads="1"/>
          </p:cNvSpPr>
          <p:nvPr/>
        </p:nvSpPr>
        <p:spPr bwMode="auto">
          <a:xfrm>
            <a:off x="4533900" y="66675"/>
            <a:ext cx="43180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000">
                <a:solidFill>
                  <a:srgbClr val="000000"/>
                </a:solidFill>
                <a:latin typeface="Calibri" pitchFamily="34" charset="0"/>
              </a:rPr>
              <a:t>24</a:t>
            </a:r>
          </a:p>
          <a:p>
            <a:pPr eaLnBrk="1" hangingPunct="1"/>
            <a:r>
              <a:rPr lang="en-AU" sz="1000">
                <a:solidFill>
                  <a:srgbClr val="000000"/>
                </a:solidFill>
                <a:latin typeface="Calibri" pitchFamily="34" charset="0"/>
              </a:rPr>
              <a:t>7</a:t>
            </a:r>
          </a:p>
          <a:p>
            <a:pPr eaLnBrk="1" hangingPunct="1"/>
            <a:r>
              <a:rPr lang="en-AU" sz="1000">
                <a:solidFill>
                  <a:srgbClr val="000000"/>
                </a:solidFill>
                <a:latin typeface="Calibri" pitchFamily="34" charset="0"/>
              </a:rPr>
              <a:t>30</a:t>
            </a:r>
          </a:p>
        </p:txBody>
      </p:sp>
      <p:sp>
        <p:nvSpPr>
          <p:cNvPr id="19465" name="TextBox 19"/>
          <p:cNvSpPr txBox="1">
            <a:spLocks noChangeArrowheads="1"/>
          </p:cNvSpPr>
          <p:nvPr/>
        </p:nvSpPr>
        <p:spPr bwMode="auto">
          <a:xfrm>
            <a:off x="4572000" y="601663"/>
            <a:ext cx="114300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000">
                <a:solidFill>
                  <a:srgbClr val="000000"/>
                </a:solidFill>
                <a:latin typeface="Calibri" pitchFamily="34" charset="0"/>
              </a:rPr>
              <a:t>Essential Question</a:t>
            </a:r>
          </a:p>
        </p:txBody>
      </p:sp>
      <p:sp>
        <p:nvSpPr>
          <p:cNvPr id="19466" name="TextBox 21"/>
          <p:cNvSpPr txBox="1">
            <a:spLocks noChangeArrowheads="1"/>
          </p:cNvSpPr>
          <p:nvPr/>
        </p:nvSpPr>
        <p:spPr bwMode="auto">
          <a:xfrm>
            <a:off x="5867400" y="1196975"/>
            <a:ext cx="492125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000">
                <a:solidFill>
                  <a:srgbClr val="000000"/>
                </a:solidFill>
                <a:latin typeface="Calibri" pitchFamily="34" charset="0"/>
              </a:rPr>
              <a:t>Notes</a:t>
            </a:r>
          </a:p>
        </p:txBody>
      </p:sp>
      <p:sp>
        <p:nvSpPr>
          <p:cNvPr id="19467" name="TextBox 22"/>
          <p:cNvSpPr txBox="1">
            <a:spLocks noChangeArrowheads="1"/>
          </p:cNvSpPr>
          <p:nvPr/>
        </p:nvSpPr>
        <p:spPr bwMode="auto">
          <a:xfrm>
            <a:off x="4521200" y="1196975"/>
            <a:ext cx="709613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000">
                <a:solidFill>
                  <a:srgbClr val="000000"/>
                </a:solidFill>
                <a:latin typeface="Calibri" pitchFamily="34" charset="0"/>
              </a:rPr>
              <a:t>Questions</a:t>
            </a:r>
          </a:p>
        </p:txBody>
      </p:sp>
      <p:sp>
        <p:nvSpPr>
          <p:cNvPr id="19468" name="TextBox 23"/>
          <p:cNvSpPr txBox="1">
            <a:spLocks noChangeArrowheads="1"/>
          </p:cNvSpPr>
          <p:nvPr/>
        </p:nvSpPr>
        <p:spPr bwMode="auto">
          <a:xfrm>
            <a:off x="4572000" y="5373688"/>
            <a:ext cx="679450" cy="246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000">
                <a:solidFill>
                  <a:srgbClr val="000000"/>
                </a:solidFill>
                <a:latin typeface="Calibri" pitchFamily="34" charset="0"/>
              </a:rPr>
              <a:t>Summary</a:t>
            </a:r>
          </a:p>
        </p:txBody>
      </p:sp>
      <p:sp>
        <p:nvSpPr>
          <p:cNvPr id="19469" name="TextBox 24"/>
          <p:cNvSpPr txBox="1">
            <a:spLocks noChangeArrowheads="1"/>
          </p:cNvSpPr>
          <p:nvPr/>
        </p:nvSpPr>
        <p:spPr bwMode="auto">
          <a:xfrm>
            <a:off x="150813" y="142875"/>
            <a:ext cx="67151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eaLnBrk="1" hangingPunct="1"/>
            <a:r>
              <a:rPr lang="en-AU" sz="1800">
                <a:solidFill>
                  <a:srgbClr val="000000"/>
                </a:solidFill>
                <a:latin typeface="Calibri" pitchFamily="34" charset="0"/>
              </a:rPr>
              <a:t>Tasks</a:t>
            </a:r>
          </a:p>
        </p:txBody>
      </p:sp>
    </p:spTree>
    <p:extLst>
      <p:ext uri="{BB962C8B-B14F-4D97-AF65-F5344CB8AC3E}">
        <p14:creationId xmlns:p14="http://schemas.microsoft.com/office/powerpoint/2010/main" val="1761092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-64216" y="167640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solidFill>
                  <a:prstClr val="black"/>
                </a:solidFill>
                <a:latin typeface="Times New Roman" pitchFamily="18" charset="0"/>
                <a:cs typeface="+mn-cs"/>
              </a:rPr>
              <a:t>24</a:t>
            </a:r>
          </a:p>
          <a:p>
            <a:r>
              <a:rPr lang="en-AU" sz="1600" dirty="0">
                <a:solidFill>
                  <a:prstClr val="black"/>
                </a:solidFill>
                <a:latin typeface="Times New Roman" pitchFamily="18" charset="0"/>
                <a:cs typeface="+mn-cs"/>
              </a:rPr>
              <a:t>7</a:t>
            </a:r>
          </a:p>
          <a:p>
            <a:r>
              <a:rPr lang="en-AU" sz="1600" dirty="0">
                <a:solidFill>
                  <a:prstClr val="black"/>
                </a:solidFill>
                <a:latin typeface="Times New Roman" pitchFamily="18" charset="0"/>
                <a:cs typeface="+mn-cs"/>
              </a:rPr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219200" y="1676400"/>
            <a:ext cx="0" cy="51816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  <a:latin typeface="Times New Roman" pitchFamily="18" charset="0"/>
                <a:cs typeface="+mn-cs"/>
              </a:rPr>
              <a:t>Date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3090" y="1052736"/>
            <a:ext cx="876938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200" dirty="0">
                <a:solidFill>
                  <a:prstClr val="black"/>
                </a:solidFill>
                <a:latin typeface="Times New Roman" pitchFamily="18" charset="0"/>
                <a:cs typeface="+mn-cs"/>
              </a:rPr>
              <a:t>EQ – How do I find the area of a kite and a rhombus?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2000" y="298231"/>
            <a:ext cx="54697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solidFill>
                  <a:prstClr val="black"/>
                </a:solidFill>
                <a:latin typeface="Times New Roman" pitchFamily="18" charset="0"/>
                <a:cs typeface="+mn-cs"/>
              </a:rPr>
              <a:t>Topic: Area of Kites and Rhombuses</a:t>
            </a:r>
          </a:p>
        </p:txBody>
      </p:sp>
    </p:spTree>
    <p:extLst>
      <p:ext uri="{BB962C8B-B14F-4D97-AF65-F5344CB8AC3E}">
        <p14:creationId xmlns:p14="http://schemas.microsoft.com/office/powerpoint/2010/main" val="20309529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-64216" y="167640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solidFill>
                  <a:prstClr val="black"/>
                </a:solidFill>
                <a:latin typeface="Times New Roman" pitchFamily="18" charset="0"/>
                <a:cs typeface="+mn-cs"/>
              </a:rPr>
              <a:t>24</a:t>
            </a:r>
          </a:p>
          <a:p>
            <a:r>
              <a:rPr lang="en-AU" sz="1600" dirty="0">
                <a:solidFill>
                  <a:prstClr val="black"/>
                </a:solidFill>
                <a:latin typeface="Times New Roman" pitchFamily="18" charset="0"/>
                <a:cs typeface="+mn-cs"/>
              </a:rPr>
              <a:t>7</a:t>
            </a:r>
          </a:p>
          <a:p>
            <a:r>
              <a:rPr lang="en-AU" sz="1600" dirty="0">
                <a:solidFill>
                  <a:prstClr val="black"/>
                </a:solidFill>
                <a:latin typeface="Times New Roman" pitchFamily="18" charset="0"/>
                <a:cs typeface="+mn-cs"/>
              </a:rPr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219200" y="1676400"/>
            <a:ext cx="0" cy="51816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  <a:latin typeface="Times New Roman" pitchFamily="18" charset="0"/>
                <a:cs typeface="+mn-cs"/>
              </a:rPr>
              <a:t>Date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3090" y="1052736"/>
            <a:ext cx="876938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200" dirty="0">
                <a:solidFill>
                  <a:prstClr val="black"/>
                </a:solidFill>
                <a:latin typeface="Times New Roman" pitchFamily="18" charset="0"/>
                <a:cs typeface="+mn-cs"/>
              </a:rPr>
              <a:t>EQ – How do I find the area of a kite?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2000" y="298231"/>
            <a:ext cx="54697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solidFill>
                  <a:prstClr val="black"/>
                </a:solidFill>
                <a:latin typeface="Times New Roman" pitchFamily="18" charset="0"/>
                <a:cs typeface="+mn-cs"/>
              </a:rPr>
              <a:t>Topic: Area of Kites and Rhombuses</a:t>
            </a:r>
          </a:p>
        </p:txBody>
      </p:sp>
      <p:pic>
        <p:nvPicPr>
          <p:cNvPr id="12" name="Picture 21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92" t="67222" r="57734" b="9028"/>
          <a:stretch/>
        </p:blipFill>
        <p:spPr bwMode="auto">
          <a:xfrm>
            <a:off x="1763688" y="2132856"/>
            <a:ext cx="4191000" cy="1628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21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578" t="67222" r="33216" b="9028"/>
          <a:stretch/>
        </p:blipFill>
        <p:spPr bwMode="auto">
          <a:xfrm>
            <a:off x="1668437" y="4797152"/>
            <a:ext cx="1731987" cy="1628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" name="Picture 21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59" t="67222" r="11485" b="18561"/>
          <a:stretch/>
        </p:blipFill>
        <p:spPr bwMode="auto">
          <a:xfrm>
            <a:off x="3779912" y="5013176"/>
            <a:ext cx="2725713" cy="974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Rectangle 14"/>
          <p:cNvSpPr/>
          <p:nvPr/>
        </p:nvSpPr>
        <p:spPr>
          <a:xfrm>
            <a:off x="1569993" y="1728267"/>
            <a:ext cx="76975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200" dirty="0">
                <a:solidFill>
                  <a:prstClr val="black"/>
                </a:solidFill>
                <a:latin typeface="Times New Roman" pitchFamily="18" charset="0"/>
                <a:cs typeface="+mn-cs"/>
              </a:rPr>
              <a:t>Kite: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8808" y="4051756"/>
            <a:ext cx="1753032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200" dirty="0">
                <a:solidFill>
                  <a:prstClr val="black"/>
                </a:solidFill>
                <a:latin typeface="Times New Roman" pitchFamily="18" charset="0"/>
                <a:cs typeface="+mn-cs"/>
              </a:rPr>
              <a:t>Example:</a:t>
            </a:r>
          </a:p>
        </p:txBody>
      </p:sp>
    </p:spTree>
    <p:extLst>
      <p:ext uri="{BB962C8B-B14F-4D97-AF65-F5344CB8AC3E}">
        <p14:creationId xmlns:p14="http://schemas.microsoft.com/office/powerpoint/2010/main" val="3604444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-64216" y="1676400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solidFill>
                  <a:prstClr val="black"/>
                </a:solidFill>
                <a:latin typeface="Times New Roman" pitchFamily="18" charset="0"/>
                <a:cs typeface="+mn-cs"/>
              </a:rPr>
              <a:t>24</a:t>
            </a:r>
          </a:p>
          <a:p>
            <a:r>
              <a:rPr lang="en-AU" sz="1600" dirty="0">
                <a:solidFill>
                  <a:prstClr val="black"/>
                </a:solidFill>
                <a:latin typeface="Times New Roman" pitchFamily="18" charset="0"/>
                <a:cs typeface="+mn-cs"/>
              </a:rPr>
              <a:t>7</a:t>
            </a:r>
          </a:p>
          <a:p>
            <a:r>
              <a:rPr lang="en-AU" sz="1600" dirty="0">
                <a:solidFill>
                  <a:prstClr val="black"/>
                </a:solidFill>
                <a:latin typeface="Times New Roman" pitchFamily="18" charset="0"/>
                <a:cs typeface="+mn-cs"/>
              </a:rPr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219200" y="1676400"/>
            <a:ext cx="0" cy="51816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prstClr val="black"/>
                </a:solidFill>
                <a:latin typeface="Times New Roman" pitchFamily="18" charset="0"/>
                <a:cs typeface="+mn-cs"/>
              </a:rPr>
              <a:t>Date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3090" y="1052736"/>
            <a:ext cx="876938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200" dirty="0">
                <a:solidFill>
                  <a:prstClr val="black"/>
                </a:solidFill>
                <a:latin typeface="Times New Roman" pitchFamily="18" charset="0"/>
                <a:cs typeface="+mn-cs"/>
              </a:rPr>
              <a:t>EQ – How do I find the area of a kite?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2000" y="298231"/>
            <a:ext cx="54697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solidFill>
                  <a:prstClr val="black"/>
                </a:solidFill>
                <a:latin typeface="Times New Roman" pitchFamily="18" charset="0"/>
                <a:cs typeface="+mn-cs"/>
              </a:rPr>
              <a:t>Topic: Area of Kites and Rhombuses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569993" y="1728267"/>
            <a:ext cx="1777871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200" dirty="0">
                <a:solidFill>
                  <a:prstClr val="black"/>
                </a:solidFill>
                <a:latin typeface="Times New Roman" pitchFamily="18" charset="0"/>
                <a:cs typeface="+mn-cs"/>
              </a:rPr>
              <a:t>Rhombus: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378808" y="4051756"/>
            <a:ext cx="1753032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200" dirty="0">
                <a:solidFill>
                  <a:prstClr val="black"/>
                </a:solidFill>
                <a:latin typeface="Times New Roman" pitchFamily="18" charset="0"/>
                <a:cs typeface="+mn-cs"/>
              </a:rPr>
              <a:t>Example:</a:t>
            </a:r>
          </a:p>
        </p:txBody>
      </p:sp>
      <p:pic>
        <p:nvPicPr>
          <p:cNvPr id="2070" name="Picture 2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78" t="22917" r="35391" b="58471"/>
          <a:stretch/>
        </p:blipFill>
        <p:spPr bwMode="auto">
          <a:xfrm>
            <a:off x="1569993" y="2348880"/>
            <a:ext cx="4819651" cy="1276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71" name="Picture 23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562" t="55139" r="54219" b="26336"/>
          <a:stretch/>
        </p:blipFill>
        <p:spPr bwMode="auto">
          <a:xfrm>
            <a:off x="1475656" y="4796675"/>
            <a:ext cx="2343151" cy="12704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9" name="Picture 23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562" t="73015" r="54219" b="13752"/>
          <a:stretch/>
        </p:blipFill>
        <p:spPr bwMode="auto">
          <a:xfrm>
            <a:off x="4355976" y="4978138"/>
            <a:ext cx="2343151" cy="9075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55704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89A3937-B282-4109-A8C2-0B23430A47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268760"/>
            <a:ext cx="1523250" cy="1143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3626038-65A0-494A-BEAB-3E5E55570F3C}"/>
              </a:ext>
            </a:extLst>
          </p:cNvPr>
          <p:cNvSpPr txBox="1"/>
          <p:nvPr/>
        </p:nvSpPr>
        <p:spPr>
          <a:xfrm>
            <a:off x="539552" y="260648"/>
            <a:ext cx="7344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Let’s try some together.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BDB98C-8103-4913-A01B-30C89739B8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8104" y="1279857"/>
            <a:ext cx="1117050" cy="12827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053753B-7790-4A22-8B84-F795FACFCE34}"/>
              </a:ext>
            </a:extLst>
          </p:cNvPr>
          <p:cNvSpPr/>
          <p:nvPr/>
        </p:nvSpPr>
        <p:spPr>
          <a:xfrm>
            <a:off x="941137" y="2132856"/>
            <a:ext cx="288032" cy="1440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080B3FA-8F0C-4107-A80D-BB2646D5B6DB}"/>
              </a:ext>
            </a:extLst>
          </p:cNvPr>
          <p:cNvSpPr/>
          <p:nvPr/>
        </p:nvSpPr>
        <p:spPr>
          <a:xfrm>
            <a:off x="1547664" y="1556792"/>
            <a:ext cx="144016" cy="2160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0811294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3626038-65A0-494A-BEAB-3E5E55570F3C}"/>
              </a:ext>
            </a:extLst>
          </p:cNvPr>
          <p:cNvSpPr txBox="1"/>
          <p:nvPr/>
        </p:nvSpPr>
        <p:spPr>
          <a:xfrm>
            <a:off x="539552" y="260648"/>
            <a:ext cx="7344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Your turn.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0BB13FC-CF91-4B38-BE08-C7DC91DDB6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0" y="642456"/>
            <a:ext cx="6042226" cy="46863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BBB679B-E8A5-D94E-8077-900CF888E665}"/>
              </a:ext>
            </a:extLst>
          </p:cNvPr>
          <p:cNvSpPr txBox="1"/>
          <p:nvPr/>
        </p:nvSpPr>
        <p:spPr>
          <a:xfrm>
            <a:off x="1187624" y="5733256"/>
            <a:ext cx="7344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Now complete the Worksheet.</a:t>
            </a:r>
          </a:p>
        </p:txBody>
      </p:sp>
    </p:spTree>
    <p:extLst>
      <p:ext uri="{BB962C8B-B14F-4D97-AF65-F5344CB8AC3E}">
        <p14:creationId xmlns:p14="http://schemas.microsoft.com/office/powerpoint/2010/main" val="34196586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1775</TotalTime>
  <Words>122</Words>
  <Application>Microsoft Macintosh PowerPoint</Application>
  <PresentationFormat>On-screen Show (4:3)</PresentationFormat>
  <Paragraphs>44</Paragraphs>
  <Slides>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Times New Roman</vt:lpstr>
      <vt:lpstr>Office Theme</vt:lpstr>
      <vt:lpstr>2_Office Theme</vt:lpstr>
      <vt:lpstr>My Measurement Interactive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Range High School</Company>
  <LinksUpToDate>false</LinksUpToDate>
  <SharedDoc>false</SharedDoc>
  <HyperlinksChanged>false</HyperlinksChanged>
  <AppVersion>16.0010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just a test to see if notes will appear here…</dc:title>
  <dc:creator>Craig Barton</dc:creator>
  <cp:lastModifiedBy>EVANS Clem [Baldivis Secondary College]</cp:lastModifiedBy>
  <cp:revision>311</cp:revision>
  <dcterms:created xsi:type="dcterms:W3CDTF">2007-08-06T16:33:49Z</dcterms:created>
  <dcterms:modified xsi:type="dcterms:W3CDTF">2018-02-26T00:06:09Z</dcterms:modified>
</cp:coreProperties>
</file>
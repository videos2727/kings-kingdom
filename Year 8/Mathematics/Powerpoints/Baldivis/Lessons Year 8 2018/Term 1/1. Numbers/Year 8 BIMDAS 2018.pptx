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5" r:id="rId3"/>
    <p:sldId id="258" r:id="rId4"/>
    <p:sldId id="264" r:id="rId5"/>
    <p:sldId id="270" r:id="rId6"/>
    <p:sldId id="271" r:id="rId7"/>
    <p:sldId id="273" r:id="rId8"/>
    <p:sldId id="265" r:id="rId9"/>
    <p:sldId id="266" r:id="rId10"/>
    <p:sldId id="276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6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6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3" y="273845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75AC5-3342-4978-ABBC-FF56FEC1E7F9}"/>
              </a:ext>
            </a:extLst>
          </p:cNvPr>
          <p:cNvSpPr txBox="1"/>
          <p:nvPr/>
        </p:nvSpPr>
        <p:spPr>
          <a:xfrm>
            <a:off x="107860" y="578548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use BIMDAS?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4F560-E318-4792-A51B-398EED029B21}"/>
              </a:ext>
            </a:extLst>
          </p:cNvPr>
          <p:cNvSpPr txBox="1"/>
          <p:nvPr/>
        </p:nvSpPr>
        <p:spPr>
          <a:xfrm>
            <a:off x="591905" y="52581"/>
            <a:ext cx="204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BIMDAS</a:t>
            </a:r>
            <a:endParaRPr lang="en-A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E29A5-05B4-4866-9129-B84F637A8442}"/>
              </a:ext>
            </a:extLst>
          </p:cNvPr>
          <p:cNvSpPr txBox="1"/>
          <p:nvPr/>
        </p:nvSpPr>
        <p:spPr>
          <a:xfrm>
            <a:off x="638134" y="1341783"/>
            <a:ext cx="8110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While you are waiting,</a:t>
            </a:r>
          </a:p>
          <a:p>
            <a:endParaRPr lang="en-AU" dirty="0"/>
          </a:p>
          <a:p>
            <a:r>
              <a:rPr lang="en-AU" dirty="0"/>
              <a:t>Use maths to estimate the number of light globes in W.A. homes given the population of W.A. is about 2.5 million.</a:t>
            </a:r>
          </a:p>
        </p:txBody>
      </p:sp>
      <p:pic>
        <p:nvPicPr>
          <p:cNvPr id="5" name="Picture 2" descr="Image result for writing">
            <a:extLst>
              <a:ext uri="{FF2B5EF4-FFF2-40B4-BE49-F238E27FC236}">
                <a16:creationId xmlns:a16="http://schemas.microsoft.com/office/drawing/2014/main" id="{09E39E11-FE4B-464B-A27D-CDA89103E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468" y="129862"/>
            <a:ext cx="1083466" cy="108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77336E-618D-49C5-9A70-91C84B105EDA}"/>
              </a:ext>
            </a:extLst>
          </p:cNvPr>
          <p:cNvSpPr txBox="1"/>
          <p:nvPr/>
        </p:nvSpPr>
        <p:spPr>
          <a:xfrm>
            <a:off x="3217342" y="129862"/>
            <a:ext cx="7835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latin typeface="Arial Black" panose="020B0A04020102020204" pitchFamily="34" charset="0"/>
              </a:rPr>
              <a:t>LESSON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EDEC6-4F5F-45CF-9C4E-31944344BBB4}"/>
              </a:ext>
            </a:extLst>
          </p:cNvPr>
          <p:cNvSpPr txBox="1"/>
          <p:nvPr/>
        </p:nvSpPr>
        <p:spPr>
          <a:xfrm>
            <a:off x="5580548" y="246315"/>
            <a:ext cx="61760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1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1100" dirty="0">
                <a:latin typeface="Arial Black" panose="020B0A04020102020204" pitchFamily="34" charset="0"/>
              </a:rPr>
              <a:t>Use BIMDAS to answer calculations</a:t>
            </a:r>
          </a:p>
          <a:p>
            <a:endParaRPr lang="en-AU" sz="1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20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75AC5-3342-4978-ABBC-FF56FEC1E7F9}"/>
              </a:ext>
            </a:extLst>
          </p:cNvPr>
          <p:cNvSpPr txBox="1"/>
          <p:nvPr/>
        </p:nvSpPr>
        <p:spPr>
          <a:xfrm>
            <a:off x="107860" y="578548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use BIMDAS?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4F560-E318-4792-A51B-398EED029B21}"/>
              </a:ext>
            </a:extLst>
          </p:cNvPr>
          <p:cNvSpPr txBox="1"/>
          <p:nvPr/>
        </p:nvSpPr>
        <p:spPr>
          <a:xfrm>
            <a:off x="591905" y="52581"/>
            <a:ext cx="204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BIMDAS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2BF0D6-D7FE-45C2-B18A-24B571984D0A}"/>
              </a:ext>
            </a:extLst>
          </p:cNvPr>
          <p:cNvSpPr txBox="1"/>
          <p:nvPr/>
        </p:nvSpPr>
        <p:spPr>
          <a:xfrm>
            <a:off x="387625" y="2673626"/>
            <a:ext cx="8259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Mr Wilson’s logic</a:t>
            </a:r>
          </a:p>
          <a:p>
            <a:r>
              <a:rPr lang="en-AU" dirty="0"/>
              <a:t>	WA has about 2.5 million people in it.</a:t>
            </a:r>
          </a:p>
          <a:p>
            <a:r>
              <a:rPr lang="en-AU" dirty="0"/>
              <a:t>	There are about 4 people per family so 2.5 million ÷ 4 = 625,000</a:t>
            </a:r>
          </a:p>
          <a:p>
            <a:r>
              <a:rPr lang="en-AU" dirty="0"/>
              <a:t>	Mr Wilson’s home has about 50 lights (including fridge, oven and outside)</a:t>
            </a:r>
          </a:p>
          <a:p>
            <a:r>
              <a:rPr lang="en-AU" dirty="0"/>
              <a:t>	625,000 x 50 = 31,250,000</a:t>
            </a:r>
          </a:p>
          <a:p>
            <a:endParaRPr lang="en-AU" dirty="0"/>
          </a:p>
          <a:p>
            <a:r>
              <a:rPr lang="en-AU" dirty="0"/>
              <a:t>What do you think – which assumptions could Mr Wilson have wrong?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335AF-B396-4C7F-80D4-30A97CF000C0}"/>
              </a:ext>
            </a:extLst>
          </p:cNvPr>
          <p:cNvSpPr txBox="1"/>
          <p:nvPr/>
        </p:nvSpPr>
        <p:spPr>
          <a:xfrm>
            <a:off x="638134" y="1341783"/>
            <a:ext cx="8110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While you are waiting,</a:t>
            </a:r>
          </a:p>
          <a:p>
            <a:endParaRPr lang="en-AU" dirty="0"/>
          </a:p>
          <a:p>
            <a:r>
              <a:rPr lang="en-AU" dirty="0"/>
              <a:t>Use maths to estimate the number of light globes in W.A. homes given the population of W.A. is about 2.5 million.</a:t>
            </a:r>
          </a:p>
        </p:txBody>
      </p:sp>
    </p:spTree>
    <p:extLst>
      <p:ext uri="{BB962C8B-B14F-4D97-AF65-F5344CB8AC3E}">
        <p14:creationId xmlns:p14="http://schemas.microsoft.com/office/powerpoint/2010/main" val="407995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4669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00835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47547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424615" y="100835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64288" y="994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578548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use BIMDAS?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9792" y="1140928"/>
            <a:ext cx="6444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91905" y="52581"/>
            <a:ext cx="204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BIMDAS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0" y="4631635"/>
            <a:ext cx="91440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Summary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4669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00835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47547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480397" y="100835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64288" y="994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578548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use BIMDAS?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2280" y="1140928"/>
            <a:ext cx="64442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Order of Operations / BIMDAS</a:t>
            </a:r>
          </a:p>
          <a:p>
            <a:endParaRPr lang="en-AU" dirty="0"/>
          </a:p>
          <a:p>
            <a:r>
              <a:rPr lang="en-AU" dirty="0"/>
              <a:t>1. </a:t>
            </a:r>
            <a:r>
              <a:rPr lang="en-AU" b="1" u="sng" dirty="0"/>
              <a:t>B</a:t>
            </a:r>
            <a:r>
              <a:rPr lang="en-AU" dirty="0"/>
              <a:t>rackets First</a:t>
            </a:r>
          </a:p>
          <a:p>
            <a:endParaRPr lang="en-AU" dirty="0"/>
          </a:p>
          <a:p>
            <a:r>
              <a:rPr lang="en-AU" dirty="0"/>
              <a:t>2. </a:t>
            </a:r>
            <a:r>
              <a:rPr lang="en-AU" b="1" u="sng" dirty="0" err="1"/>
              <a:t>I</a:t>
            </a:r>
            <a:r>
              <a:rPr lang="en-AU" dirty="0" err="1"/>
              <a:t>ndicies</a:t>
            </a:r>
            <a:endParaRPr lang="en-AU" dirty="0"/>
          </a:p>
          <a:p>
            <a:endParaRPr lang="en-AU" dirty="0"/>
          </a:p>
          <a:p>
            <a:r>
              <a:rPr lang="en-AU" dirty="0"/>
              <a:t>3. </a:t>
            </a:r>
            <a:r>
              <a:rPr lang="en-AU" b="1" u="sng" dirty="0"/>
              <a:t>M</a:t>
            </a:r>
            <a:r>
              <a:rPr lang="en-AU" dirty="0"/>
              <a:t>ultiply and/or </a:t>
            </a:r>
            <a:r>
              <a:rPr lang="en-AU" b="1" u="sng" dirty="0"/>
              <a:t>D</a:t>
            </a:r>
            <a:r>
              <a:rPr lang="en-AU" dirty="0"/>
              <a:t>ivide </a:t>
            </a:r>
          </a:p>
          <a:p>
            <a:r>
              <a:rPr lang="en-AU" dirty="0"/>
              <a:t>                   (from left to right)</a:t>
            </a:r>
          </a:p>
          <a:p>
            <a:endParaRPr lang="en-AU" b="1" u="sng" dirty="0"/>
          </a:p>
          <a:p>
            <a:r>
              <a:rPr lang="en-AU" dirty="0"/>
              <a:t>4. </a:t>
            </a:r>
            <a:r>
              <a:rPr lang="en-AU" b="1" u="sng" dirty="0"/>
              <a:t>A</a:t>
            </a:r>
            <a:r>
              <a:rPr lang="en-AU" dirty="0"/>
              <a:t>dd or </a:t>
            </a:r>
            <a:r>
              <a:rPr lang="en-AU" b="1" u="sng" dirty="0"/>
              <a:t>S</a:t>
            </a:r>
            <a:r>
              <a:rPr lang="en-AU" dirty="0"/>
              <a:t>ubtract </a:t>
            </a:r>
          </a:p>
          <a:p>
            <a:r>
              <a:rPr lang="en-AU" dirty="0"/>
              <a:t>                    (from left to right)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905" y="52581"/>
            <a:ext cx="204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BIMDAS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68419" y="1095148"/>
            <a:ext cx="1543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rules of BIMDAS?</a:t>
            </a:r>
          </a:p>
        </p:txBody>
      </p:sp>
    </p:spTree>
    <p:extLst>
      <p:ext uri="{BB962C8B-B14F-4D97-AF65-F5344CB8AC3E}">
        <p14:creationId xmlns:p14="http://schemas.microsoft.com/office/powerpoint/2010/main" val="87162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4669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00835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47547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480397" y="100835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64288" y="994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578548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use BIMDAS?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2280" y="1140928"/>
            <a:ext cx="64442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Order of Operations / BIMDAS</a:t>
            </a:r>
          </a:p>
          <a:p>
            <a:endParaRPr lang="en-AU" dirty="0"/>
          </a:p>
          <a:p>
            <a:r>
              <a:rPr lang="en-AU" dirty="0"/>
              <a:t>1. </a:t>
            </a:r>
            <a:r>
              <a:rPr lang="en-AU" b="1" u="sng" dirty="0"/>
              <a:t>B</a:t>
            </a:r>
            <a:r>
              <a:rPr lang="en-AU" dirty="0"/>
              <a:t>rackets First</a:t>
            </a:r>
          </a:p>
          <a:p>
            <a:endParaRPr lang="en-AU" dirty="0"/>
          </a:p>
          <a:p>
            <a:r>
              <a:rPr lang="en-AU" dirty="0"/>
              <a:t>2. </a:t>
            </a:r>
            <a:r>
              <a:rPr lang="en-AU" b="1" u="sng" dirty="0" err="1"/>
              <a:t>I</a:t>
            </a:r>
            <a:r>
              <a:rPr lang="en-AU" dirty="0" err="1"/>
              <a:t>ndicies</a:t>
            </a:r>
            <a:endParaRPr lang="en-AU" dirty="0"/>
          </a:p>
          <a:p>
            <a:endParaRPr lang="en-AU" dirty="0"/>
          </a:p>
          <a:p>
            <a:r>
              <a:rPr lang="en-AU" dirty="0"/>
              <a:t>3. </a:t>
            </a:r>
            <a:r>
              <a:rPr lang="en-AU" b="1" u="sng" dirty="0"/>
              <a:t>M</a:t>
            </a:r>
            <a:r>
              <a:rPr lang="en-AU" dirty="0"/>
              <a:t>ultiply and/or </a:t>
            </a:r>
            <a:r>
              <a:rPr lang="en-AU" b="1" u="sng" dirty="0"/>
              <a:t>D</a:t>
            </a:r>
            <a:r>
              <a:rPr lang="en-AU" dirty="0"/>
              <a:t>ivide </a:t>
            </a:r>
          </a:p>
          <a:p>
            <a:r>
              <a:rPr lang="en-AU" dirty="0"/>
              <a:t>                   (from left to right)</a:t>
            </a:r>
          </a:p>
          <a:p>
            <a:endParaRPr lang="en-AU" b="1" u="sng" dirty="0"/>
          </a:p>
          <a:p>
            <a:r>
              <a:rPr lang="en-AU" dirty="0"/>
              <a:t>4. </a:t>
            </a:r>
            <a:r>
              <a:rPr lang="en-AU" b="1" u="sng" dirty="0"/>
              <a:t>A</a:t>
            </a:r>
            <a:r>
              <a:rPr lang="en-AU" dirty="0"/>
              <a:t>dd or </a:t>
            </a:r>
            <a:r>
              <a:rPr lang="en-AU" b="1" u="sng" dirty="0"/>
              <a:t>S</a:t>
            </a:r>
            <a:r>
              <a:rPr lang="en-AU" dirty="0"/>
              <a:t>ubtract </a:t>
            </a:r>
          </a:p>
          <a:p>
            <a:r>
              <a:rPr lang="en-AU" dirty="0"/>
              <a:t>                    (from left to right)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905" y="52581"/>
            <a:ext cx="204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BIMDAS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68419" y="1095148"/>
            <a:ext cx="1543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rules of BIMDAS?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44FCED-33D1-4E3C-AC8B-1BC8E4FE9379}"/>
                  </a:ext>
                </a:extLst>
              </p:cNvPr>
              <p:cNvSpPr txBox="1"/>
              <p:nvPr/>
            </p:nvSpPr>
            <p:spPr>
              <a:xfrm>
                <a:off x="5754757" y="1282192"/>
                <a:ext cx="3132855" cy="3139321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Let’s Try…</a:t>
                </a:r>
              </a:p>
              <a:p>
                <a:endParaRPr lang="en-AU" dirty="0"/>
              </a:p>
              <a:p>
                <a:r>
                  <a:rPr lang="en-AU" b="0" dirty="0"/>
                  <a:t>2 +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6 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2 +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6 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2 +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6 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endParaRPr lang="en-AU" dirty="0">
                  <a:ea typeface="Cambria Math" panose="02040503050406030204" pitchFamily="18" charset="0"/>
                </a:endParaRPr>
              </a:p>
              <a:p>
                <a:r>
                  <a:rPr lang="en-AU" dirty="0"/>
                  <a:t>2 + 4 =</a:t>
                </a:r>
              </a:p>
              <a:p>
                <a:endParaRPr lang="en-AU" dirty="0">
                  <a:ea typeface="Cambria Math" panose="02040503050406030204" pitchFamily="18" charset="0"/>
                </a:endParaRPr>
              </a:p>
              <a:p>
                <a:r>
                  <a:rPr lang="en-AU" dirty="0">
                    <a:ea typeface="Cambria Math" panose="02040503050406030204" pitchFamily="18" charset="0"/>
                  </a:rPr>
                  <a:t>6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44FCED-33D1-4E3C-AC8B-1BC8E4FE9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757" y="1282192"/>
                <a:ext cx="3132855" cy="3139321"/>
              </a:xfrm>
              <a:prstGeom prst="rect">
                <a:avLst/>
              </a:prstGeom>
              <a:blipFill>
                <a:blip r:embed="rId2"/>
                <a:stretch>
                  <a:fillRect l="-1357" t="-774" b="-1934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579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4669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00835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47547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480397" y="100835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64288" y="994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578548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use BIMDAS?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0698" y="1118479"/>
            <a:ext cx="64442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Order of Operations / BIMDAS</a:t>
            </a:r>
          </a:p>
          <a:p>
            <a:endParaRPr lang="en-AU" dirty="0"/>
          </a:p>
          <a:p>
            <a:r>
              <a:rPr lang="en-AU" dirty="0"/>
              <a:t>1. </a:t>
            </a:r>
            <a:r>
              <a:rPr lang="en-AU" b="1" u="sng" dirty="0"/>
              <a:t>B</a:t>
            </a:r>
            <a:r>
              <a:rPr lang="en-AU" dirty="0"/>
              <a:t>rackets First</a:t>
            </a:r>
          </a:p>
          <a:p>
            <a:endParaRPr lang="en-AU" dirty="0"/>
          </a:p>
          <a:p>
            <a:r>
              <a:rPr lang="en-AU" dirty="0"/>
              <a:t>2. </a:t>
            </a:r>
            <a:r>
              <a:rPr lang="en-AU" b="1" u="sng" dirty="0" err="1"/>
              <a:t>I</a:t>
            </a:r>
            <a:r>
              <a:rPr lang="en-AU" dirty="0" err="1"/>
              <a:t>ndicies</a:t>
            </a:r>
            <a:endParaRPr lang="en-AU" dirty="0"/>
          </a:p>
          <a:p>
            <a:endParaRPr lang="en-AU" dirty="0"/>
          </a:p>
          <a:p>
            <a:r>
              <a:rPr lang="en-AU" dirty="0"/>
              <a:t>3. </a:t>
            </a:r>
            <a:r>
              <a:rPr lang="en-AU" b="1" u="sng" dirty="0"/>
              <a:t>M</a:t>
            </a:r>
            <a:r>
              <a:rPr lang="en-AU" dirty="0"/>
              <a:t>ultiply and/or </a:t>
            </a:r>
            <a:r>
              <a:rPr lang="en-AU" b="1" u="sng" dirty="0"/>
              <a:t>D</a:t>
            </a:r>
            <a:r>
              <a:rPr lang="en-AU" dirty="0"/>
              <a:t>ivide </a:t>
            </a:r>
          </a:p>
          <a:p>
            <a:r>
              <a:rPr lang="en-AU" dirty="0"/>
              <a:t>                   (from left to right)</a:t>
            </a:r>
          </a:p>
          <a:p>
            <a:endParaRPr lang="en-AU" b="1" u="sng" dirty="0"/>
          </a:p>
          <a:p>
            <a:r>
              <a:rPr lang="en-AU" dirty="0"/>
              <a:t>4. </a:t>
            </a:r>
            <a:r>
              <a:rPr lang="en-AU" b="1" u="sng" dirty="0"/>
              <a:t>A</a:t>
            </a:r>
            <a:r>
              <a:rPr lang="en-AU" dirty="0"/>
              <a:t>dd or </a:t>
            </a:r>
            <a:r>
              <a:rPr lang="en-AU" b="1" u="sng" dirty="0"/>
              <a:t>S</a:t>
            </a:r>
            <a:r>
              <a:rPr lang="en-AU" dirty="0"/>
              <a:t>ubtract </a:t>
            </a:r>
          </a:p>
          <a:p>
            <a:r>
              <a:rPr lang="en-AU" dirty="0"/>
              <a:t>                    (from left to right)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905" y="52581"/>
            <a:ext cx="204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BIMDAS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68419" y="1095148"/>
            <a:ext cx="1543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rules of BIMDAS?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44FCED-33D1-4E3C-AC8B-1BC8E4FE9379}"/>
                  </a:ext>
                </a:extLst>
              </p:cNvPr>
              <p:cNvSpPr txBox="1"/>
              <p:nvPr/>
            </p:nvSpPr>
            <p:spPr>
              <a:xfrm>
                <a:off x="5798255" y="1106931"/>
                <a:ext cx="3299791" cy="3210623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Let’s Try…</a:t>
                </a:r>
              </a:p>
              <a:p>
                <a:endParaRPr lang="en-AU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3−3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×4=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algn="ctr"/>
                <a:endParaRPr lang="en-AU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×4=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pPr algn="ctr"/>
                <a:endParaRPr lang="en-AU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×4=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pPr algn="ctr"/>
                <a:endParaRPr lang="en-AU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×4=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endParaRPr lang="en-AU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>
                    <a:ea typeface="Cambria Math" panose="02040503050406030204" pitchFamily="18" charset="0"/>
                  </a:rPr>
                  <a:t>8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44FCED-33D1-4E3C-AC8B-1BC8E4FE9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255" y="1106931"/>
                <a:ext cx="3299791" cy="3210623"/>
              </a:xfrm>
              <a:prstGeom prst="rect">
                <a:avLst/>
              </a:prstGeom>
              <a:blipFill>
                <a:blip r:embed="rId2"/>
                <a:stretch>
                  <a:fillRect l="-1289" t="-947" b="-94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80F0EAC3-CB97-4605-AC6F-751AD870F857}"/>
              </a:ext>
            </a:extLst>
          </p:cNvPr>
          <p:cNvSpPr/>
          <p:nvPr/>
        </p:nvSpPr>
        <p:spPr>
          <a:xfrm>
            <a:off x="3890617" y="1229078"/>
            <a:ext cx="1958009" cy="13355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Inside brackets first</a:t>
            </a:r>
          </a:p>
        </p:txBody>
      </p:sp>
    </p:spTree>
    <p:extLst>
      <p:ext uri="{BB962C8B-B14F-4D97-AF65-F5344CB8AC3E}">
        <p14:creationId xmlns:p14="http://schemas.microsoft.com/office/powerpoint/2010/main" val="227236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B9F35E-E353-4678-B5EF-2F00D41A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83" y="3535017"/>
            <a:ext cx="2133600" cy="133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3BC22F-42E3-4975-AAF9-7CE173477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025" y="161925"/>
            <a:ext cx="2105025" cy="1457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BFA464-DD9C-45F9-8204-1838D1382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95" y="161925"/>
            <a:ext cx="1857375" cy="2533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5DC2C5-1BDE-4944-8BA6-055063A4C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638" y="1828800"/>
            <a:ext cx="3028950" cy="1733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A3396B-1A1A-4671-A6B8-4C9F39C4DD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025" y="3661121"/>
            <a:ext cx="2924175" cy="12668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3E8154-067C-4025-980A-71F420CDC76A}"/>
              </a:ext>
            </a:extLst>
          </p:cNvPr>
          <p:cNvSpPr/>
          <p:nvPr/>
        </p:nvSpPr>
        <p:spPr>
          <a:xfrm>
            <a:off x="641695" y="447882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DF930-4D59-4F85-80CD-1C57756C6B30}"/>
              </a:ext>
            </a:extLst>
          </p:cNvPr>
          <p:cNvSpPr/>
          <p:nvPr/>
        </p:nvSpPr>
        <p:spPr>
          <a:xfrm>
            <a:off x="734461" y="676482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A6F616-FAF7-40D8-8C82-AD1085AF1EA4}"/>
              </a:ext>
            </a:extLst>
          </p:cNvPr>
          <p:cNvSpPr/>
          <p:nvPr/>
        </p:nvSpPr>
        <p:spPr>
          <a:xfrm>
            <a:off x="641695" y="981903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C14654-6D29-43E4-A48F-6910F6D4F88A}"/>
              </a:ext>
            </a:extLst>
          </p:cNvPr>
          <p:cNvSpPr/>
          <p:nvPr/>
        </p:nvSpPr>
        <p:spPr>
          <a:xfrm>
            <a:off x="373339" y="2144160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1C659-D2D2-48DE-904F-0BA790D7B6DC}"/>
              </a:ext>
            </a:extLst>
          </p:cNvPr>
          <p:cNvSpPr/>
          <p:nvPr/>
        </p:nvSpPr>
        <p:spPr>
          <a:xfrm>
            <a:off x="373339" y="2449581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DAD415-BBAE-4783-8CF9-2E2B10B7C30D}"/>
              </a:ext>
            </a:extLst>
          </p:cNvPr>
          <p:cNvSpPr/>
          <p:nvPr/>
        </p:nvSpPr>
        <p:spPr>
          <a:xfrm>
            <a:off x="696982" y="3840438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C960A-5C1B-4198-8E2F-E788145FB538}"/>
              </a:ext>
            </a:extLst>
          </p:cNvPr>
          <p:cNvSpPr/>
          <p:nvPr/>
        </p:nvSpPr>
        <p:spPr>
          <a:xfrm>
            <a:off x="503583" y="4129190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DA4694-720F-489A-BC66-87798A0ED7F5}"/>
              </a:ext>
            </a:extLst>
          </p:cNvPr>
          <p:cNvSpPr/>
          <p:nvPr/>
        </p:nvSpPr>
        <p:spPr>
          <a:xfrm>
            <a:off x="503583" y="4340449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E6D02A-4742-4594-8794-EDC429F18C18}"/>
              </a:ext>
            </a:extLst>
          </p:cNvPr>
          <p:cNvSpPr/>
          <p:nvPr/>
        </p:nvSpPr>
        <p:spPr>
          <a:xfrm>
            <a:off x="373339" y="4631247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844677-0DC4-4D13-A635-979D93C15D2B}"/>
              </a:ext>
            </a:extLst>
          </p:cNvPr>
          <p:cNvSpPr/>
          <p:nvPr/>
        </p:nvSpPr>
        <p:spPr>
          <a:xfrm>
            <a:off x="5651638" y="447882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427112-0F56-44AD-8728-E398924BDE5A}"/>
              </a:ext>
            </a:extLst>
          </p:cNvPr>
          <p:cNvSpPr/>
          <p:nvPr/>
        </p:nvSpPr>
        <p:spPr>
          <a:xfrm>
            <a:off x="4915521" y="739688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6A5568-77A7-4059-A215-32ACFF5AC8B2}"/>
              </a:ext>
            </a:extLst>
          </p:cNvPr>
          <p:cNvSpPr/>
          <p:nvPr/>
        </p:nvSpPr>
        <p:spPr>
          <a:xfrm>
            <a:off x="5651638" y="1047024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942C7C-DBB0-4696-8EF3-5E685DD691AF}"/>
              </a:ext>
            </a:extLst>
          </p:cNvPr>
          <p:cNvSpPr/>
          <p:nvPr/>
        </p:nvSpPr>
        <p:spPr>
          <a:xfrm>
            <a:off x="4915521" y="1292864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DE8301-7D92-4F6C-9C54-CE1F439B6567}"/>
              </a:ext>
            </a:extLst>
          </p:cNvPr>
          <p:cNvSpPr/>
          <p:nvPr/>
        </p:nvSpPr>
        <p:spPr>
          <a:xfrm>
            <a:off x="5431425" y="2172426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FB762-3377-4441-8B89-75DF673B026F}"/>
              </a:ext>
            </a:extLst>
          </p:cNvPr>
          <p:cNvSpPr/>
          <p:nvPr/>
        </p:nvSpPr>
        <p:spPr>
          <a:xfrm>
            <a:off x="5555973" y="2426350"/>
            <a:ext cx="3220278" cy="25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B83301-1858-47F2-9790-B2795B7C39F4}"/>
              </a:ext>
            </a:extLst>
          </p:cNvPr>
          <p:cNvSpPr/>
          <p:nvPr/>
        </p:nvSpPr>
        <p:spPr>
          <a:xfrm>
            <a:off x="5923722" y="2703134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50105D-8D1B-4157-880F-7072229F8197}"/>
              </a:ext>
            </a:extLst>
          </p:cNvPr>
          <p:cNvSpPr/>
          <p:nvPr/>
        </p:nvSpPr>
        <p:spPr>
          <a:xfrm>
            <a:off x="5555973" y="2988987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E7CFE0-C0F4-494C-B397-1DCC8809C8EC}"/>
              </a:ext>
            </a:extLst>
          </p:cNvPr>
          <p:cNvSpPr/>
          <p:nvPr/>
        </p:nvSpPr>
        <p:spPr>
          <a:xfrm>
            <a:off x="5460310" y="3280431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F20DF0-2A69-4126-AAA2-BEA4F98AD06F}"/>
              </a:ext>
            </a:extLst>
          </p:cNvPr>
          <p:cNvSpPr/>
          <p:nvPr/>
        </p:nvSpPr>
        <p:spPr>
          <a:xfrm>
            <a:off x="5810043" y="3914515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9EE852-A074-49CD-A159-6F49B36D4F44}"/>
              </a:ext>
            </a:extLst>
          </p:cNvPr>
          <p:cNvSpPr/>
          <p:nvPr/>
        </p:nvSpPr>
        <p:spPr>
          <a:xfrm>
            <a:off x="5704025" y="4226149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9E2833-99B9-4DAA-8C0C-F728779A5E8F}"/>
              </a:ext>
            </a:extLst>
          </p:cNvPr>
          <p:cNvSpPr/>
          <p:nvPr/>
        </p:nvSpPr>
        <p:spPr>
          <a:xfrm>
            <a:off x="5801347" y="4462747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D4B576-120A-4DAB-B1C4-183DD0533F4C}"/>
              </a:ext>
            </a:extLst>
          </p:cNvPr>
          <p:cNvSpPr/>
          <p:nvPr/>
        </p:nvSpPr>
        <p:spPr>
          <a:xfrm>
            <a:off x="5704025" y="4725743"/>
            <a:ext cx="322027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720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39" y="273942"/>
            <a:ext cx="8343280" cy="152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17" y="325528"/>
            <a:ext cx="8224010" cy="15009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16445"/>
          <a:stretch/>
        </p:blipFill>
        <p:spPr>
          <a:xfrm>
            <a:off x="2076347" y="2546488"/>
            <a:ext cx="4857750" cy="2085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383" y="2077278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370368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833FC8-3B0A-4289-8E36-FA954D6295F7}"/>
              </a:ext>
            </a:extLst>
          </p:cNvPr>
          <p:cNvSpPr txBox="1"/>
          <p:nvPr/>
        </p:nvSpPr>
        <p:spPr>
          <a:xfrm>
            <a:off x="844826" y="636104"/>
            <a:ext cx="627159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Exit Pass</a:t>
            </a:r>
          </a:p>
          <a:p>
            <a:r>
              <a:rPr lang="en-AU" dirty="0"/>
              <a:t>Write your name on a piece of paper and write your answer to  these 3 questions </a:t>
            </a:r>
          </a:p>
          <a:p>
            <a:r>
              <a:rPr lang="en-AU" dirty="0"/>
              <a:t>Hand it to your teacher before you leave class.</a:t>
            </a:r>
          </a:p>
          <a:p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5 – 2 + 2 x 5 ÷ 2 = 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5 x (12 – 8) ÷ (4 - 2) = 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2</a:t>
            </a:r>
            <a:r>
              <a:rPr lang="en-AU" baseline="30000" dirty="0"/>
              <a:t>3</a:t>
            </a:r>
            <a:r>
              <a:rPr lang="en-AU" dirty="0"/>
              <a:t> – (9÷3) x 2 </a:t>
            </a:r>
            <a:r>
              <a:rPr lang="en-AU"/>
              <a:t>+ (8 </a:t>
            </a:r>
            <a:r>
              <a:rPr lang="en-AU" dirty="0"/>
              <a:t>- 3)</a:t>
            </a:r>
            <a:r>
              <a:rPr lang="en-AU" baseline="30000" dirty="0"/>
              <a:t>2</a:t>
            </a:r>
            <a:r>
              <a:rPr lang="en-AU" dirty="0"/>
              <a:t> =  </a:t>
            </a:r>
          </a:p>
        </p:txBody>
      </p:sp>
    </p:spTree>
    <p:extLst>
      <p:ext uri="{BB962C8B-B14F-4D97-AF65-F5344CB8AC3E}">
        <p14:creationId xmlns:p14="http://schemas.microsoft.com/office/powerpoint/2010/main" val="783341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83C0F4-36BE-4ACB-8690-D1125DDC0F4A}" vid="{C65F8EC1-CBEA-480F-BD1C-EB7EE81841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- jw</Template>
  <TotalTime>3353</TotalTime>
  <Words>422</Words>
  <Application>Microsoft Office PowerPoint</Application>
  <PresentationFormat>On-screen Show (16:9)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19</cp:revision>
  <dcterms:created xsi:type="dcterms:W3CDTF">2017-02-05T07:53:31Z</dcterms:created>
  <dcterms:modified xsi:type="dcterms:W3CDTF">2018-02-04T10:12:57Z</dcterms:modified>
</cp:coreProperties>
</file>
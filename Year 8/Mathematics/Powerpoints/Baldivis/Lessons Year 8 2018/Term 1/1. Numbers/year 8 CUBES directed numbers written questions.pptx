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69" r:id="rId3"/>
    <p:sldId id="270" r:id="rId4"/>
    <p:sldId id="268" r:id="rId5"/>
    <p:sldId id="262" r:id="rId6"/>
    <p:sldId id="263" r:id="rId7"/>
    <p:sldId id="264" r:id="rId8"/>
    <p:sldId id="265" r:id="rId9"/>
    <p:sldId id="266" r:id="rId10"/>
    <p:sldId id="267" r:id="rId11"/>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7" d="100"/>
          <a:sy n="107" d="100"/>
        </p:scale>
        <p:origin x="102"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BA98DB-85F7-4057-9FF8-584B97218105}" type="datetimeFigureOut">
              <a:rPr lang="en-AU" smtClean="0"/>
              <a:t>8/02/2018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54506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BA98DB-85F7-4057-9FF8-584B97218105}" type="datetimeFigureOut">
              <a:rPr lang="en-AU" smtClean="0"/>
              <a:t>8/02/2018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3452774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2"/>
            <a:ext cx="7886700" cy="2377281"/>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824553"/>
            <a:ext cx="7886700" cy="1250156"/>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EBA98DB-85F7-4057-9FF8-584B97218105}" type="datetimeFigureOut">
              <a:rPr lang="en-AU" smtClean="0"/>
              <a:t>8/02/2018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1255749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521354"/>
            <a:ext cx="3886200" cy="362611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521354"/>
            <a:ext cx="3886200" cy="362611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BA98DB-85F7-4057-9FF8-584B97218105}" type="datetimeFigureOut">
              <a:rPr lang="en-AU" smtClean="0"/>
              <a:t>8/02/2018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3714755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04271"/>
            <a:ext cx="7886700" cy="1104636"/>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087563"/>
            <a:ext cx="3868340" cy="307049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087563"/>
            <a:ext cx="3887391" cy="307049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BA98DB-85F7-4057-9FF8-584B97218105}" type="datetimeFigureOut">
              <a:rPr lang="en-AU" smtClean="0"/>
              <a:t>8/02/2018</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445669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BA98DB-85F7-4057-9FF8-584B97218105}" type="datetimeFigureOut">
              <a:rPr lang="en-AU" smtClean="0"/>
              <a:t>8/02/2018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960078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BA98DB-85F7-4057-9FF8-584B97218105}" type="datetimeFigureOut">
              <a:rPr lang="en-AU" smtClean="0"/>
              <a:t>8/02/2018</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2368027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8EBA98DB-85F7-4057-9FF8-584B97218105}" type="datetimeFigureOut">
              <a:rPr lang="en-AU" smtClean="0"/>
              <a:t>8/02/2018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3066327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822855"/>
            <a:ext cx="4629150" cy="406135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8EBA98DB-85F7-4057-9FF8-584B97218105}" type="datetimeFigureOut">
              <a:rPr lang="en-AU" smtClean="0"/>
              <a:t>8/02/2018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2164476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BA98DB-85F7-4057-9FF8-584B97218105}" type="datetimeFigureOut">
              <a:rPr lang="en-AU" smtClean="0"/>
              <a:t>8/02/2018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4176584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04271"/>
            <a:ext cx="1971675" cy="48431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04271"/>
            <a:ext cx="5800725" cy="484319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BA98DB-85F7-4057-9FF8-584B97218105}" type="datetimeFigureOut">
              <a:rPr lang="en-AU" smtClean="0"/>
              <a:t>8/02/2018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C2E16A8-604B-4602-A20D-B6548AA78A64}" type="slidenum">
              <a:rPr lang="en-AU" smtClean="0"/>
              <a:t>‹#›</a:t>
            </a:fld>
            <a:endParaRPr lang="en-AU"/>
          </a:p>
        </p:txBody>
      </p:sp>
    </p:spTree>
    <p:extLst>
      <p:ext uri="{BB962C8B-B14F-4D97-AF65-F5344CB8AC3E}">
        <p14:creationId xmlns:p14="http://schemas.microsoft.com/office/powerpoint/2010/main" val="1434825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75000"/>
                  </a:schemeClr>
                </a:solidFill>
              </a:defRPr>
            </a:lvl1pPr>
          </a:lstStyle>
          <a:p>
            <a:fld id="{8EBA98DB-85F7-4057-9FF8-584B97218105}" type="datetimeFigureOut">
              <a:rPr lang="en-AU" smtClean="0"/>
              <a:t>8/02/2018</a:t>
            </a:fld>
            <a:endParaRPr lang="en-AU"/>
          </a:p>
        </p:txBody>
      </p:sp>
      <p:sp>
        <p:nvSpPr>
          <p:cNvPr id="5" name="Footer Placeholder 4"/>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75000"/>
                  </a:schemeClr>
                </a:solidFill>
              </a:defRPr>
            </a:lvl1pPr>
          </a:lstStyle>
          <a:p>
            <a:fld id="{CC2E16A8-604B-4602-A20D-B6548AA78A64}" type="slidenum">
              <a:rPr lang="en-AU" smtClean="0"/>
              <a:t>‹#›</a:t>
            </a:fld>
            <a:endParaRPr lang="en-AU"/>
          </a:p>
        </p:txBody>
      </p:sp>
    </p:spTree>
    <p:extLst>
      <p:ext uri="{BB962C8B-B14F-4D97-AF65-F5344CB8AC3E}">
        <p14:creationId xmlns:p14="http://schemas.microsoft.com/office/powerpoint/2010/main" val="33825212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86522" y="100339"/>
            <a:ext cx="6858000" cy="524130"/>
          </a:xfrm>
        </p:spPr>
        <p:txBody>
          <a:bodyPr>
            <a:noAutofit/>
          </a:bodyPr>
          <a:lstStyle/>
          <a:p>
            <a:pPr algn="l"/>
            <a:r>
              <a:rPr lang="en-AU" sz="3200" dirty="0"/>
              <a:t>Topic : Worded Questions	</a:t>
            </a:r>
          </a:p>
        </p:txBody>
      </p:sp>
      <p:cxnSp>
        <p:nvCxnSpPr>
          <p:cNvPr id="5" name="Straight Connector 4"/>
          <p:cNvCxnSpPr/>
          <p:nvPr/>
        </p:nvCxnSpPr>
        <p:spPr>
          <a:xfrm>
            <a:off x="0" y="613317"/>
            <a:ext cx="9144000" cy="11151"/>
          </a:xfrm>
          <a:prstGeom prst="line">
            <a:avLst/>
          </a:prstGeom>
        </p:spPr>
        <p:style>
          <a:lnRef idx="2">
            <a:schemeClr val="accent2"/>
          </a:lnRef>
          <a:fillRef idx="0">
            <a:schemeClr val="accent2"/>
          </a:fillRef>
          <a:effectRef idx="1">
            <a:schemeClr val="accent2"/>
          </a:effectRef>
          <a:fontRef idx="minor">
            <a:schemeClr val="tx1"/>
          </a:fontRef>
        </p:style>
      </p:cxnSp>
      <p:cxnSp>
        <p:nvCxnSpPr>
          <p:cNvPr id="6" name="Straight Connector 5"/>
          <p:cNvCxnSpPr/>
          <p:nvPr/>
        </p:nvCxnSpPr>
        <p:spPr>
          <a:xfrm>
            <a:off x="0" y="1126295"/>
            <a:ext cx="9144000" cy="11151"/>
          </a:xfrm>
          <a:prstGeom prst="line">
            <a:avLst/>
          </a:prstGeom>
        </p:spPr>
        <p:style>
          <a:lnRef idx="2">
            <a:schemeClr val="accent2"/>
          </a:lnRef>
          <a:fillRef idx="0">
            <a:schemeClr val="accent2"/>
          </a:fillRef>
          <a:effectRef idx="1">
            <a:schemeClr val="accent2"/>
          </a:effectRef>
          <a:fontRef idx="minor">
            <a:schemeClr val="tx1"/>
          </a:fontRef>
        </p:style>
      </p:cxnSp>
      <p:sp>
        <p:nvSpPr>
          <p:cNvPr id="11" name="Title 1"/>
          <p:cNvSpPr txBox="1">
            <a:spLocks/>
          </p:cNvSpPr>
          <p:nvPr/>
        </p:nvSpPr>
        <p:spPr>
          <a:xfrm>
            <a:off x="436756" y="633749"/>
            <a:ext cx="8506521" cy="524130"/>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AU" sz="3200" dirty="0"/>
              <a:t>EQ : How do we answer worded Questions?</a:t>
            </a:r>
          </a:p>
        </p:txBody>
      </p:sp>
      <p:sp>
        <p:nvSpPr>
          <p:cNvPr id="12" name="TextBox 11"/>
          <p:cNvSpPr txBox="1"/>
          <p:nvPr/>
        </p:nvSpPr>
        <p:spPr>
          <a:xfrm>
            <a:off x="113734" y="-67294"/>
            <a:ext cx="435641" cy="757130"/>
          </a:xfrm>
          <a:prstGeom prst="rect">
            <a:avLst/>
          </a:prstGeom>
          <a:noFill/>
        </p:spPr>
        <p:txBody>
          <a:bodyPr wrap="square" rtlCol="0">
            <a:spAutoFit/>
          </a:bodyPr>
          <a:lstStyle/>
          <a:p>
            <a:r>
              <a:rPr lang="en-AU" sz="1440" dirty="0"/>
              <a:t>24</a:t>
            </a:r>
          </a:p>
          <a:p>
            <a:r>
              <a:rPr lang="en-AU" sz="1440" dirty="0"/>
              <a:t>7</a:t>
            </a:r>
          </a:p>
          <a:p>
            <a:r>
              <a:rPr lang="en-AU" sz="1440" dirty="0"/>
              <a:t>30</a:t>
            </a:r>
          </a:p>
        </p:txBody>
      </p:sp>
      <p:sp>
        <p:nvSpPr>
          <p:cNvPr id="13" name="TextBox 12"/>
          <p:cNvSpPr txBox="1"/>
          <p:nvPr/>
        </p:nvSpPr>
        <p:spPr>
          <a:xfrm>
            <a:off x="7368790" y="77786"/>
            <a:ext cx="1425758" cy="461665"/>
          </a:xfrm>
          <a:prstGeom prst="rect">
            <a:avLst/>
          </a:prstGeom>
          <a:noFill/>
        </p:spPr>
        <p:txBody>
          <a:bodyPr wrap="square" rtlCol="0">
            <a:spAutoFit/>
          </a:bodyPr>
          <a:lstStyle/>
          <a:p>
            <a:r>
              <a:rPr lang="en-AU" sz="2400" dirty="0"/>
              <a:t>Date</a:t>
            </a:r>
          </a:p>
        </p:txBody>
      </p:sp>
      <p:pic>
        <p:nvPicPr>
          <p:cNvPr id="10" name="Picture 9">
            <a:extLst>
              <a:ext uri="{FF2B5EF4-FFF2-40B4-BE49-F238E27FC236}">
                <a16:creationId xmlns:a16="http://schemas.microsoft.com/office/drawing/2014/main" id="{17C70AAC-042B-43BC-B6CE-81C3703C1005}"/>
              </a:ext>
            </a:extLst>
          </p:cNvPr>
          <p:cNvPicPr>
            <a:picLocks noChangeAspect="1"/>
          </p:cNvPicPr>
          <p:nvPr/>
        </p:nvPicPr>
        <p:blipFill>
          <a:blip r:embed="rId2"/>
          <a:stretch>
            <a:fillRect/>
          </a:stretch>
        </p:blipFill>
        <p:spPr>
          <a:xfrm>
            <a:off x="727616" y="2344986"/>
            <a:ext cx="7924800" cy="2019300"/>
          </a:xfrm>
          <a:prstGeom prst="rect">
            <a:avLst/>
          </a:prstGeom>
        </p:spPr>
      </p:pic>
      <p:sp>
        <p:nvSpPr>
          <p:cNvPr id="22" name="TextBox 21">
            <a:extLst>
              <a:ext uri="{FF2B5EF4-FFF2-40B4-BE49-F238E27FC236}">
                <a16:creationId xmlns:a16="http://schemas.microsoft.com/office/drawing/2014/main" id="{69A4942F-B929-4D78-A04A-B94AA53B0E1B}"/>
              </a:ext>
            </a:extLst>
          </p:cNvPr>
          <p:cNvSpPr txBox="1"/>
          <p:nvPr/>
        </p:nvSpPr>
        <p:spPr>
          <a:xfrm>
            <a:off x="331554" y="1860776"/>
            <a:ext cx="5067573" cy="369332"/>
          </a:xfrm>
          <a:prstGeom prst="rect">
            <a:avLst/>
          </a:prstGeom>
          <a:noFill/>
        </p:spPr>
        <p:txBody>
          <a:bodyPr wrap="square" rtlCol="0">
            <a:spAutoFit/>
          </a:bodyPr>
          <a:lstStyle/>
          <a:p>
            <a:r>
              <a:rPr lang="en-AU" dirty="0"/>
              <a:t>While you are waiting……</a:t>
            </a:r>
          </a:p>
        </p:txBody>
      </p:sp>
    </p:spTree>
    <p:extLst>
      <p:ext uri="{BB962C8B-B14F-4D97-AF65-F5344CB8AC3E}">
        <p14:creationId xmlns:p14="http://schemas.microsoft.com/office/powerpoint/2010/main" val="1590379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86522" y="100339"/>
            <a:ext cx="6858000" cy="524130"/>
          </a:xfrm>
        </p:spPr>
        <p:txBody>
          <a:bodyPr>
            <a:noAutofit/>
          </a:bodyPr>
          <a:lstStyle/>
          <a:p>
            <a:pPr algn="l"/>
            <a:r>
              <a:rPr lang="en-AU" sz="3200" dirty="0"/>
              <a:t>Topic : Worded Questions	</a:t>
            </a:r>
          </a:p>
        </p:txBody>
      </p:sp>
      <p:cxnSp>
        <p:nvCxnSpPr>
          <p:cNvPr id="5" name="Straight Connector 4"/>
          <p:cNvCxnSpPr/>
          <p:nvPr/>
        </p:nvCxnSpPr>
        <p:spPr>
          <a:xfrm>
            <a:off x="0" y="613317"/>
            <a:ext cx="9144000" cy="11151"/>
          </a:xfrm>
          <a:prstGeom prst="line">
            <a:avLst/>
          </a:prstGeom>
        </p:spPr>
        <p:style>
          <a:lnRef idx="2">
            <a:schemeClr val="accent2"/>
          </a:lnRef>
          <a:fillRef idx="0">
            <a:schemeClr val="accent2"/>
          </a:fillRef>
          <a:effectRef idx="1">
            <a:schemeClr val="accent2"/>
          </a:effectRef>
          <a:fontRef idx="minor">
            <a:schemeClr val="tx1"/>
          </a:fontRef>
        </p:style>
      </p:cxnSp>
      <p:cxnSp>
        <p:nvCxnSpPr>
          <p:cNvPr id="6" name="Straight Connector 5"/>
          <p:cNvCxnSpPr/>
          <p:nvPr/>
        </p:nvCxnSpPr>
        <p:spPr>
          <a:xfrm>
            <a:off x="0" y="1126295"/>
            <a:ext cx="9144000" cy="11151"/>
          </a:xfrm>
          <a:prstGeom prst="line">
            <a:avLst/>
          </a:prstGeom>
        </p:spPr>
        <p:style>
          <a:lnRef idx="2">
            <a:schemeClr val="accent2"/>
          </a:lnRef>
          <a:fillRef idx="0">
            <a:schemeClr val="accent2"/>
          </a:fillRef>
          <a:effectRef idx="1">
            <a:schemeClr val="accent2"/>
          </a:effectRef>
          <a:fontRef idx="minor">
            <a:schemeClr val="tx1"/>
          </a:fontRef>
        </p:style>
      </p:cxnSp>
      <p:sp>
        <p:nvSpPr>
          <p:cNvPr id="11" name="Title 1"/>
          <p:cNvSpPr txBox="1">
            <a:spLocks/>
          </p:cNvSpPr>
          <p:nvPr/>
        </p:nvSpPr>
        <p:spPr>
          <a:xfrm>
            <a:off x="436756" y="633749"/>
            <a:ext cx="8506521" cy="524130"/>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AU" sz="3200" dirty="0"/>
              <a:t>EQ : How do we answer worded Questions?</a:t>
            </a:r>
          </a:p>
        </p:txBody>
      </p:sp>
      <p:sp>
        <p:nvSpPr>
          <p:cNvPr id="12" name="TextBox 11"/>
          <p:cNvSpPr txBox="1"/>
          <p:nvPr/>
        </p:nvSpPr>
        <p:spPr>
          <a:xfrm>
            <a:off x="113734" y="-67294"/>
            <a:ext cx="435641" cy="757130"/>
          </a:xfrm>
          <a:prstGeom prst="rect">
            <a:avLst/>
          </a:prstGeom>
          <a:noFill/>
        </p:spPr>
        <p:txBody>
          <a:bodyPr wrap="square" rtlCol="0">
            <a:spAutoFit/>
          </a:bodyPr>
          <a:lstStyle/>
          <a:p>
            <a:r>
              <a:rPr lang="en-AU" sz="1440" dirty="0"/>
              <a:t>24</a:t>
            </a:r>
          </a:p>
          <a:p>
            <a:r>
              <a:rPr lang="en-AU" sz="1440" dirty="0"/>
              <a:t>7</a:t>
            </a:r>
          </a:p>
          <a:p>
            <a:r>
              <a:rPr lang="en-AU" sz="1440" dirty="0"/>
              <a:t>30</a:t>
            </a:r>
          </a:p>
        </p:txBody>
      </p:sp>
      <p:sp>
        <p:nvSpPr>
          <p:cNvPr id="13" name="TextBox 12"/>
          <p:cNvSpPr txBox="1"/>
          <p:nvPr/>
        </p:nvSpPr>
        <p:spPr>
          <a:xfrm>
            <a:off x="7368790" y="77786"/>
            <a:ext cx="1425758" cy="461665"/>
          </a:xfrm>
          <a:prstGeom prst="rect">
            <a:avLst/>
          </a:prstGeom>
          <a:noFill/>
        </p:spPr>
        <p:txBody>
          <a:bodyPr wrap="square" rtlCol="0">
            <a:spAutoFit/>
          </a:bodyPr>
          <a:lstStyle/>
          <a:p>
            <a:r>
              <a:rPr lang="en-AU" sz="2400" dirty="0"/>
              <a:t>Date</a:t>
            </a:r>
          </a:p>
        </p:txBody>
      </p:sp>
      <p:pic>
        <p:nvPicPr>
          <p:cNvPr id="10" name="Picture 9">
            <a:extLst>
              <a:ext uri="{FF2B5EF4-FFF2-40B4-BE49-F238E27FC236}">
                <a16:creationId xmlns:a16="http://schemas.microsoft.com/office/drawing/2014/main" id="{17C70AAC-042B-43BC-B6CE-81C3703C1005}"/>
              </a:ext>
            </a:extLst>
          </p:cNvPr>
          <p:cNvPicPr>
            <a:picLocks noChangeAspect="1"/>
          </p:cNvPicPr>
          <p:nvPr/>
        </p:nvPicPr>
        <p:blipFill>
          <a:blip r:embed="rId2"/>
          <a:stretch>
            <a:fillRect/>
          </a:stretch>
        </p:blipFill>
        <p:spPr>
          <a:xfrm>
            <a:off x="727616" y="2378893"/>
            <a:ext cx="7924800" cy="2019300"/>
          </a:xfrm>
          <a:prstGeom prst="rect">
            <a:avLst/>
          </a:prstGeom>
        </p:spPr>
      </p:pic>
      <p:sp>
        <p:nvSpPr>
          <p:cNvPr id="22" name="TextBox 21">
            <a:extLst>
              <a:ext uri="{FF2B5EF4-FFF2-40B4-BE49-F238E27FC236}">
                <a16:creationId xmlns:a16="http://schemas.microsoft.com/office/drawing/2014/main" id="{69A4942F-B929-4D78-A04A-B94AA53B0E1B}"/>
              </a:ext>
            </a:extLst>
          </p:cNvPr>
          <p:cNvSpPr txBox="1"/>
          <p:nvPr/>
        </p:nvSpPr>
        <p:spPr>
          <a:xfrm>
            <a:off x="331554" y="1860776"/>
            <a:ext cx="5067573" cy="369332"/>
          </a:xfrm>
          <a:prstGeom prst="rect">
            <a:avLst/>
          </a:prstGeom>
          <a:noFill/>
        </p:spPr>
        <p:txBody>
          <a:bodyPr wrap="square" rtlCol="0">
            <a:spAutoFit/>
          </a:bodyPr>
          <a:lstStyle/>
          <a:p>
            <a:r>
              <a:rPr lang="en-AU" dirty="0"/>
              <a:t>While you are waiting……</a:t>
            </a:r>
          </a:p>
        </p:txBody>
      </p:sp>
      <p:sp>
        <p:nvSpPr>
          <p:cNvPr id="3" name="TextBox 2">
            <a:extLst>
              <a:ext uri="{FF2B5EF4-FFF2-40B4-BE49-F238E27FC236}">
                <a16:creationId xmlns:a16="http://schemas.microsoft.com/office/drawing/2014/main" id="{E574F809-31FA-45EE-AA89-4D3CAC0B8F78}"/>
              </a:ext>
            </a:extLst>
          </p:cNvPr>
          <p:cNvSpPr txBox="1"/>
          <p:nvPr/>
        </p:nvSpPr>
        <p:spPr>
          <a:xfrm>
            <a:off x="1515035" y="3872753"/>
            <a:ext cx="403412" cy="369332"/>
          </a:xfrm>
          <a:prstGeom prst="rect">
            <a:avLst/>
          </a:prstGeom>
          <a:noFill/>
        </p:spPr>
        <p:txBody>
          <a:bodyPr wrap="square" rtlCol="0">
            <a:spAutoFit/>
          </a:bodyPr>
          <a:lstStyle/>
          <a:p>
            <a:r>
              <a:rPr lang="en-AU" dirty="0">
                <a:solidFill>
                  <a:srgbClr val="FF0000"/>
                </a:solidFill>
              </a:rPr>
              <a:t>3</a:t>
            </a:r>
          </a:p>
        </p:txBody>
      </p:sp>
      <p:sp>
        <p:nvSpPr>
          <p:cNvPr id="14" name="TextBox 13">
            <a:extLst>
              <a:ext uri="{FF2B5EF4-FFF2-40B4-BE49-F238E27FC236}">
                <a16:creationId xmlns:a16="http://schemas.microsoft.com/office/drawing/2014/main" id="{4E65ACB8-2CD2-4141-A19D-B77CA3A21A21}"/>
              </a:ext>
            </a:extLst>
          </p:cNvPr>
          <p:cNvSpPr txBox="1"/>
          <p:nvPr/>
        </p:nvSpPr>
        <p:spPr>
          <a:xfrm>
            <a:off x="1169894" y="3388543"/>
            <a:ext cx="546847" cy="369332"/>
          </a:xfrm>
          <a:prstGeom prst="rect">
            <a:avLst/>
          </a:prstGeom>
          <a:noFill/>
        </p:spPr>
        <p:txBody>
          <a:bodyPr wrap="square" rtlCol="0">
            <a:spAutoFit/>
          </a:bodyPr>
          <a:lstStyle/>
          <a:p>
            <a:r>
              <a:rPr lang="en-AU" dirty="0">
                <a:solidFill>
                  <a:srgbClr val="FF0000"/>
                </a:solidFill>
              </a:rPr>
              <a:t>13</a:t>
            </a:r>
          </a:p>
        </p:txBody>
      </p:sp>
      <p:sp>
        <p:nvSpPr>
          <p:cNvPr id="15" name="TextBox 14">
            <a:extLst>
              <a:ext uri="{FF2B5EF4-FFF2-40B4-BE49-F238E27FC236}">
                <a16:creationId xmlns:a16="http://schemas.microsoft.com/office/drawing/2014/main" id="{691F5E67-546B-4132-8EE4-E5432B673829}"/>
              </a:ext>
            </a:extLst>
          </p:cNvPr>
          <p:cNvSpPr txBox="1"/>
          <p:nvPr/>
        </p:nvSpPr>
        <p:spPr>
          <a:xfrm>
            <a:off x="3523129" y="3949842"/>
            <a:ext cx="403412" cy="369332"/>
          </a:xfrm>
          <a:prstGeom prst="rect">
            <a:avLst/>
          </a:prstGeom>
          <a:noFill/>
        </p:spPr>
        <p:txBody>
          <a:bodyPr wrap="square" rtlCol="0">
            <a:spAutoFit/>
          </a:bodyPr>
          <a:lstStyle/>
          <a:p>
            <a:r>
              <a:rPr lang="en-AU" dirty="0">
                <a:solidFill>
                  <a:srgbClr val="FF0000"/>
                </a:solidFill>
              </a:rPr>
              <a:t>-5</a:t>
            </a:r>
          </a:p>
        </p:txBody>
      </p:sp>
      <p:sp>
        <p:nvSpPr>
          <p:cNvPr id="16" name="TextBox 15">
            <a:extLst>
              <a:ext uri="{FF2B5EF4-FFF2-40B4-BE49-F238E27FC236}">
                <a16:creationId xmlns:a16="http://schemas.microsoft.com/office/drawing/2014/main" id="{2CB0C782-E8FD-45D4-9CF5-9D96120DE6F1}"/>
              </a:ext>
            </a:extLst>
          </p:cNvPr>
          <p:cNvSpPr txBox="1"/>
          <p:nvPr/>
        </p:nvSpPr>
        <p:spPr>
          <a:xfrm>
            <a:off x="3227294" y="3422644"/>
            <a:ext cx="403412" cy="369332"/>
          </a:xfrm>
          <a:prstGeom prst="rect">
            <a:avLst/>
          </a:prstGeom>
          <a:noFill/>
        </p:spPr>
        <p:txBody>
          <a:bodyPr wrap="square" rtlCol="0">
            <a:spAutoFit/>
          </a:bodyPr>
          <a:lstStyle/>
          <a:p>
            <a:r>
              <a:rPr lang="en-AU" dirty="0">
                <a:solidFill>
                  <a:srgbClr val="FF0000"/>
                </a:solidFill>
              </a:rPr>
              <a:t>7</a:t>
            </a:r>
          </a:p>
        </p:txBody>
      </p:sp>
      <p:sp>
        <p:nvSpPr>
          <p:cNvPr id="17" name="TextBox 16">
            <a:extLst>
              <a:ext uri="{FF2B5EF4-FFF2-40B4-BE49-F238E27FC236}">
                <a16:creationId xmlns:a16="http://schemas.microsoft.com/office/drawing/2014/main" id="{62E6896A-E9D1-45CE-80CB-18249B6EBBA7}"/>
              </a:ext>
            </a:extLst>
          </p:cNvPr>
          <p:cNvSpPr txBox="1"/>
          <p:nvPr/>
        </p:nvSpPr>
        <p:spPr>
          <a:xfrm>
            <a:off x="5197421" y="3422644"/>
            <a:ext cx="403412" cy="369332"/>
          </a:xfrm>
          <a:prstGeom prst="rect">
            <a:avLst/>
          </a:prstGeom>
          <a:noFill/>
        </p:spPr>
        <p:txBody>
          <a:bodyPr wrap="square" rtlCol="0">
            <a:spAutoFit/>
          </a:bodyPr>
          <a:lstStyle/>
          <a:p>
            <a:r>
              <a:rPr lang="en-AU" dirty="0">
                <a:solidFill>
                  <a:srgbClr val="FF0000"/>
                </a:solidFill>
              </a:rPr>
              <a:t>-2</a:t>
            </a:r>
          </a:p>
        </p:txBody>
      </p:sp>
      <p:sp>
        <p:nvSpPr>
          <p:cNvPr id="18" name="TextBox 17">
            <a:extLst>
              <a:ext uri="{FF2B5EF4-FFF2-40B4-BE49-F238E27FC236}">
                <a16:creationId xmlns:a16="http://schemas.microsoft.com/office/drawing/2014/main" id="{072D07D0-ED52-4F02-9163-DF194BAE93E1}"/>
              </a:ext>
            </a:extLst>
          </p:cNvPr>
          <p:cNvSpPr txBox="1"/>
          <p:nvPr/>
        </p:nvSpPr>
        <p:spPr>
          <a:xfrm>
            <a:off x="5531223" y="3937168"/>
            <a:ext cx="439271" cy="369332"/>
          </a:xfrm>
          <a:prstGeom prst="rect">
            <a:avLst/>
          </a:prstGeom>
          <a:noFill/>
        </p:spPr>
        <p:txBody>
          <a:bodyPr wrap="square" rtlCol="0">
            <a:spAutoFit/>
          </a:bodyPr>
          <a:lstStyle/>
          <a:p>
            <a:r>
              <a:rPr lang="en-AU" dirty="0">
                <a:solidFill>
                  <a:srgbClr val="FF0000"/>
                </a:solidFill>
              </a:rPr>
              <a:t>15</a:t>
            </a:r>
          </a:p>
        </p:txBody>
      </p:sp>
      <p:sp>
        <p:nvSpPr>
          <p:cNvPr id="19" name="TextBox 18">
            <a:extLst>
              <a:ext uri="{FF2B5EF4-FFF2-40B4-BE49-F238E27FC236}">
                <a16:creationId xmlns:a16="http://schemas.microsoft.com/office/drawing/2014/main" id="{07820930-C7C9-43A4-A392-9F35C9DAB101}"/>
              </a:ext>
            </a:extLst>
          </p:cNvPr>
          <p:cNvSpPr txBox="1"/>
          <p:nvPr/>
        </p:nvSpPr>
        <p:spPr>
          <a:xfrm>
            <a:off x="5844988" y="3422644"/>
            <a:ext cx="439271" cy="369332"/>
          </a:xfrm>
          <a:prstGeom prst="rect">
            <a:avLst/>
          </a:prstGeom>
          <a:noFill/>
        </p:spPr>
        <p:txBody>
          <a:bodyPr wrap="square" rtlCol="0">
            <a:spAutoFit/>
          </a:bodyPr>
          <a:lstStyle/>
          <a:p>
            <a:r>
              <a:rPr lang="en-AU" dirty="0">
                <a:solidFill>
                  <a:srgbClr val="FF0000"/>
                </a:solidFill>
              </a:rPr>
              <a:t>7</a:t>
            </a:r>
          </a:p>
        </p:txBody>
      </p:sp>
      <p:sp>
        <p:nvSpPr>
          <p:cNvPr id="20" name="TextBox 19">
            <a:extLst>
              <a:ext uri="{FF2B5EF4-FFF2-40B4-BE49-F238E27FC236}">
                <a16:creationId xmlns:a16="http://schemas.microsoft.com/office/drawing/2014/main" id="{9078F02B-5E79-4FD3-83DD-F901B1BBFA10}"/>
              </a:ext>
            </a:extLst>
          </p:cNvPr>
          <p:cNvSpPr txBox="1"/>
          <p:nvPr/>
        </p:nvSpPr>
        <p:spPr>
          <a:xfrm>
            <a:off x="7303776" y="3427900"/>
            <a:ext cx="439271" cy="369332"/>
          </a:xfrm>
          <a:prstGeom prst="rect">
            <a:avLst/>
          </a:prstGeom>
          <a:noFill/>
        </p:spPr>
        <p:txBody>
          <a:bodyPr wrap="square" rtlCol="0">
            <a:spAutoFit/>
          </a:bodyPr>
          <a:lstStyle/>
          <a:p>
            <a:r>
              <a:rPr lang="en-AU" dirty="0">
                <a:solidFill>
                  <a:srgbClr val="FF0000"/>
                </a:solidFill>
              </a:rPr>
              <a:t>6</a:t>
            </a:r>
          </a:p>
        </p:txBody>
      </p:sp>
      <p:sp>
        <p:nvSpPr>
          <p:cNvPr id="21" name="TextBox 20">
            <a:extLst>
              <a:ext uri="{FF2B5EF4-FFF2-40B4-BE49-F238E27FC236}">
                <a16:creationId xmlns:a16="http://schemas.microsoft.com/office/drawing/2014/main" id="{4323FDD2-DDF2-47E5-8218-6064116C8BE2}"/>
              </a:ext>
            </a:extLst>
          </p:cNvPr>
          <p:cNvSpPr txBox="1"/>
          <p:nvPr/>
        </p:nvSpPr>
        <p:spPr>
          <a:xfrm>
            <a:off x="7862033" y="3422644"/>
            <a:ext cx="439271" cy="369332"/>
          </a:xfrm>
          <a:prstGeom prst="rect">
            <a:avLst/>
          </a:prstGeom>
          <a:noFill/>
        </p:spPr>
        <p:txBody>
          <a:bodyPr wrap="square" rtlCol="0">
            <a:spAutoFit/>
          </a:bodyPr>
          <a:lstStyle/>
          <a:p>
            <a:r>
              <a:rPr lang="en-AU" dirty="0">
                <a:solidFill>
                  <a:srgbClr val="FF0000"/>
                </a:solidFill>
              </a:rPr>
              <a:t>26</a:t>
            </a:r>
          </a:p>
        </p:txBody>
      </p:sp>
      <p:sp>
        <p:nvSpPr>
          <p:cNvPr id="23" name="TextBox 22">
            <a:extLst>
              <a:ext uri="{FF2B5EF4-FFF2-40B4-BE49-F238E27FC236}">
                <a16:creationId xmlns:a16="http://schemas.microsoft.com/office/drawing/2014/main" id="{C2CFAD19-DCD1-41F4-99BB-4A631F6DE731}"/>
              </a:ext>
            </a:extLst>
          </p:cNvPr>
          <p:cNvSpPr txBox="1"/>
          <p:nvPr/>
        </p:nvSpPr>
        <p:spPr>
          <a:xfrm>
            <a:off x="7523411" y="3907790"/>
            <a:ext cx="439271" cy="369332"/>
          </a:xfrm>
          <a:prstGeom prst="rect">
            <a:avLst/>
          </a:prstGeom>
          <a:noFill/>
        </p:spPr>
        <p:txBody>
          <a:bodyPr wrap="square" rtlCol="0">
            <a:spAutoFit/>
          </a:bodyPr>
          <a:lstStyle/>
          <a:p>
            <a:r>
              <a:rPr lang="en-AU" dirty="0">
                <a:solidFill>
                  <a:srgbClr val="FF0000"/>
                </a:solidFill>
              </a:rPr>
              <a:t>-8</a:t>
            </a:r>
          </a:p>
        </p:txBody>
      </p:sp>
    </p:spTree>
    <p:extLst>
      <p:ext uri="{BB962C8B-B14F-4D97-AF65-F5344CB8AC3E}">
        <p14:creationId xmlns:p14="http://schemas.microsoft.com/office/powerpoint/2010/main" val="109512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866605-74C0-44BB-9088-2F682D488325}"/>
              </a:ext>
            </a:extLst>
          </p:cNvPr>
          <p:cNvSpPr txBox="1"/>
          <p:nvPr/>
        </p:nvSpPr>
        <p:spPr>
          <a:xfrm>
            <a:off x="735106" y="475129"/>
            <a:ext cx="7261412" cy="3139321"/>
          </a:xfrm>
          <a:prstGeom prst="rect">
            <a:avLst/>
          </a:prstGeom>
          <a:noFill/>
        </p:spPr>
        <p:txBody>
          <a:bodyPr wrap="square" rtlCol="0">
            <a:spAutoFit/>
          </a:bodyPr>
          <a:lstStyle/>
          <a:p>
            <a:r>
              <a:rPr lang="en-AU" dirty="0"/>
              <a:t>From last lesson.</a:t>
            </a:r>
          </a:p>
          <a:p>
            <a:endParaRPr lang="en-AU" dirty="0"/>
          </a:p>
          <a:p>
            <a:r>
              <a:rPr lang="en-AU" dirty="0"/>
              <a:t>	a)  2 x -4 = </a:t>
            </a:r>
          </a:p>
          <a:p>
            <a:r>
              <a:rPr lang="en-AU" dirty="0"/>
              <a:t>	b)  -40 ÷ 8 =</a:t>
            </a:r>
          </a:p>
          <a:p>
            <a:r>
              <a:rPr lang="en-AU" dirty="0"/>
              <a:t>	c)  -1000000  x -3 =</a:t>
            </a:r>
          </a:p>
          <a:p>
            <a:r>
              <a:rPr lang="en-AU" dirty="0"/>
              <a:t>	d)  80 ÷ 2 = </a:t>
            </a:r>
          </a:p>
          <a:p>
            <a:r>
              <a:rPr lang="en-AU" dirty="0"/>
              <a:t>	e) -80 ÷ -4 = </a:t>
            </a:r>
          </a:p>
          <a:p>
            <a:r>
              <a:rPr lang="en-AU" dirty="0"/>
              <a:t>	f)  16 - + 20 = </a:t>
            </a:r>
          </a:p>
          <a:p>
            <a:r>
              <a:rPr lang="en-AU" dirty="0"/>
              <a:t>	g) -8 + -10 = </a:t>
            </a:r>
          </a:p>
          <a:p>
            <a:r>
              <a:rPr lang="en-AU" dirty="0"/>
              <a:t>	h) 7 - - 9 = </a:t>
            </a:r>
          </a:p>
          <a:p>
            <a:r>
              <a:rPr lang="en-AU" dirty="0"/>
              <a:t>	g)  - 2 + + 8 = </a:t>
            </a:r>
          </a:p>
        </p:txBody>
      </p:sp>
    </p:spTree>
    <p:extLst>
      <p:ext uri="{BB962C8B-B14F-4D97-AF65-F5344CB8AC3E}">
        <p14:creationId xmlns:p14="http://schemas.microsoft.com/office/powerpoint/2010/main" val="4121006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86522" y="100339"/>
            <a:ext cx="6858000" cy="524130"/>
          </a:xfrm>
        </p:spPr>
        <p:txBody>
          <a:bodyPr>
            <a:noAutofit/>
          </a:bodyPr>
          <a:lstStyle/>
          <a:p>
            <a:pPr algn="l"/>
            <a:r>
              <a:rPr lang="en-AU" sz="3200" dirty="0"/>
              <a:t>Topic : Worded Questions	</a:t>
            </a:r>
          </a:p>
        </p:txBody>
      </p:sp>
      <p:sp>
        <p:nvSpPr>
          <p:cNvPr id="3" name="Subtitle 2"/>
          <p:cNvSpPr>
            <a:spLocks noGrp="1"/>
          </p:cNvSpPr>
          <p:nvPr>
            <p:ph type="subTitle" idx="1"/>
          </p:nvPr>
        </p:nvSpPr>
        <p:spPr>
          <a:xfrm>
            <a:off x="2072525" y="1194206"/>
            <a:ext cx="6858000" cy="2408048"/>
          </a:xfrm>
        </p:spPr>
        <p:txBody>
          <a:bodyPr>
            <a:normAutofit/>
          </a:bodyPr>
          <a:lstStyle/>
          <a:p>
            <a:pPr algn="l"/>
            <a:r>
              <a:rPr lang="en-AU" sz="2400" dirty="0"/>
              <a:t>C - </a:t>
            </a:r>
            <a:r>
              <a:rPr lang="en-AU" sz="2400" u="sng" dirty="0"/>
              <a:t>C</a:t>
            </a:r>
            <a:r>
              <a:rPr lang="en-AU" sz="2400" dirty="0"/>
              <a:t>ircle the numbers in the question</a:t>
            </a:r>
          </a:p>
          <a:p>
            <a:pPr algn="l"/>
            <a:r>
              <a:rPr lang="en-AU" sz="2400" dirty="0"/>
              <a:t>U - </a:t>
            </a:r>
            <a:r>
              <a:rPr lang="en-AU" sz="2400" u="sng" dirty="0"/>
              <a:t>U</a:t>
            </a:r>
            <a:r>
              <a:rPr lang="en-AU" sz="2400" dirty="0"/>
              <a:t>nderline the question</a:t>
            </a:r>
          </a:p>
          <a:p>
            <a:pPr algn="l"/>
            <a:r>
              <a:rPr lang="en-AU" sz="2400" dirty="0"/>
              <a:t>B - </a:t>
            </a:r>
            <a:r>
              <a:rPr lang="en-AU" sz="2400" u="sng" dirty="0"/>
              <a:t>B</a:t>
            </a:r>
            <a:r>
              <a:rPr lang="en-AU" sz="2400" dirty="0"/>
              <a:t>ox the keywords</a:t>
            </a:r>
          </a:p>
          <a:p>
            <a:pPr algn="l"/>
            <a:r>
              <a:rPr lang="en-AU" sz="2400" dirty="0"/>
              <a:t>E - </a:t>
            </a:r>
            <a:r>
              <a:rPr lang="en-AU" sz="2400" u="sng" dirty="0"/>
              <a:t>E</a:t>
            </a:r>
            <a:r>
              <a:rPr lang="en-AU" sz="2400" dirty="0"/>
              <a:t>liminate the unnecessary information</a:t>
            </a:r>
          </a:p>
          <a:p>
            <a:pPr algn="l"/>
            <a:r>
              <a:rPr lang="en-AU" sz="2400" dirty="0"/>
              <a:t>S - </a:t>
            </a:r>
            <a:r>
              <a:rPr lang="en-AU" sz="2400" u="sng" dirty="0"/>
              <a:t>S</a:t>
            </a:r>
            <a:r>
              <a:rPr lang="en-AU" sz="2400" dirty="0"/>
              <a:t>olve the question with working out</a:t>
            </a:r>
          </a:p>
        </p:txBody>
      </p:sp>
      <p:cxnSp>
        <p:nvCxnSpPr>
          <p:cNvPr id="5" name="Straight Connector 4"/>
          <p:cNvCxnSpPr/>
          <p:nvPr/>
        </p:nvCxnSpPr>
        <p:spPr>
          <a:xfrm>
            <a:off x="0" y="613317"/>
            <a:ext cx="9144000" cy="11151"/>
          </a:xfrm>
          <a:prstGeom prst="line">
            <a:avLst/>
          </a:prstGeom>
        </p:spPr>
        <p:style>
          <a:lnRef idx="2">
            <a:schemeClr val="accent2"/>
          </a:lnRef>
          <a:fillRef idx="0">
            <a:schemeClr val="accent2"/>
          </a:fillRef>
          <a:effectRef idx="1">
            <a:schemeClr val="accent2"/>
          </a:effectRef>
          <a:fontRef idx="minor">
            <a:schemeClr val="tx1"/>
          </a:fontRef>
        </p:style>
      </p:cxnSp>
      <p:cxnSp>
        <p:nvCxnSpPr>
          <p:cNvPr id="6" name="Straight Connector 5"/>
          <p:cNvCxnSpPr/>
          <p:nvPr/>
        </p:nvCxnSpPr>
        <p:spPr>
          <a:xfrm>
            <a:off x="0" y="1126295"/>
            <a:ext cx="9144000" cy="11151"/>
          </a:xfrm>
          <a:prstGeom prst="line">
            <a:avLst/>
          </a:prstGeom>
        </p:spPr>
        <p:style>
          <a:lnRef idx="2">
            <a:schemeClr val="accent2"/>
          </a:lnRef>
          <a:fillRef idx="0">
            <a:schemeClr val="accent2"/>
          </a:fillRef>
          <a:effectRef idx="1">
            <a:schemeClr val="accent2"/>
          </a:effectRef>
          <a:fontRef idx="minor">
            <a:schemeClr val="tx1"/>
          </a:fontRef>
        </p:style>
      </p:cxnSp>
      <p:cxnSp>
        <p:nvCxnSpPr>
          <p:cNvPr id="7" name="Straight Connector 6"/>
          <p:cNvCxnSpPr>
            <a:cxnSpLocks/>
          </p:cNvCxnSpPr>
          <p:nvPr/>
        </p:nvCxnSpPr>
        <p:spPr>
          <a:xfrm>
            <a:off x="1884556" y="1178312"/>
            <a:ext cx="0" cy="4547839"/>
          </a:xfrm>
          <a:prstGeom prst="line">
            <a:avLst/>
          </a:prstGeom>
        </p:spPr>
        <p:style>
          <a:lnRef idx="2">
            <a:schemeClr val="accent2"/>
          </a:lnRef>
          <a:fillRef idx="0">
            <a:schemeClr val="accent2"/>
          </a:fillRef>
          <a:effectRef idx="1">
            <a:schemeClr val="accent2"/>
          </a:effectRef>
          <a:fontRef idx="minor">
            <a:schemeClr val="tx1"/>
          </a:fontRef>
        </p:style>
      </p:cxnSp>
      <p:sp>
        <p:nvSpPr>
          <p:cNvPr id="11" name="Title 1"/>
          <p:cNvSpPr txBox="1">
            <a:spLocks/>
          </p:cNvSpPr>
          <p:nvPr/>
        </p:nvSpPr>
        <p:spPr>
          <a:xfrm>
            <a:off x="436756" y="633749"/>
            <a:ext cx="8506521" cy="524130"/>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AU" sz="3200" dirty="0"/>
              <a:t>EQ : How do we answer worded Questions?</a:t>
            </a:r>
          </a:p>
        </p:txBody>
      </p:sp>
      <p:sp>
        <p:nvSpPr>
          <p:cNvPr id="12" name="TextBox 11"/>
          <p:cNvSpPr txBox="1"/>
          <p:nvPr/>
        </p:nvSpPr>
        <p:spPr>
          <a:xfrm>
            <a:off x="113734" y="-67294"/>
            <a:ext cx="435641" cy="757130"/>
          </a:xfrm>
          <a:prstGeom prst="rect">
            <a:avLst/>
          </a:prstGeom>
          <a:noFill/>
        </p:spPr>
        <p:txBody>
          <a:bodyPr wrap="square" rtlCol="0">
            <a:spAutoFit/>
          </a:bodyPr>
          <a:lstStyle/>
          <a:p>
            <a:r>
              <a:rPr lang="en-AU" sz="1440" dirty="0"/>
              <a:t>24</a:t>
            </a:r>
          </a:p>
          <a:p>
            <a:r>
              <a:rPr lang="en-AU" sz="1440" dirty="0"/>
              <a:t>7</a:t>
            </a:r>
          </a:p>
          <a:p>
            <a:r>
              <a:rPr lang="en-AU" sz="1440" dirty="0"/>
              <a:t>30</a:t>
            </a:r>
          </a:p>
        </p:txBody>
      </p:sp>
      <p:sp>
        <p:nvSpPr>
          <p:cNvPr id="13" name="TextBox 12"/>
          <p:cNvSpPr txBox="1"/>
          <p:nvPr/>
        </p:nvSpPr>
        <p:spPr>
          <a:xfrm>
            <a:off x="7368790" y="77786"/>
            <a:ext cx="1425758" cy="461665"/>
          </a:xfrm>
          <a:prstGeom prst="rect">
            <a:avLst/>
          </a:prstGeom>
          <a:noFill/>
        </p:spPr>
        <p:txBody>
          <a:bodyPr wrap="square" rtlCol="0">
            <a:spAutoFit/>
          </a:bodyPr>
          <a:lstStyle/>
          <a:p>
            <a:r>
              <a:rPr lang="en-AU" sz="2400" dirty="0"/>
              <a:t>Date</a:t>
            </a:r>
          </a:p>
        </p:txBody>
      </p:sp>
      <p:sp>
        <p:nvSpPr>
          <p:cNvPr id="4" name="TextBox 3">
            <a:extLst>
              <a:ext uri="{FF2B5EF4-FFF2-40B4-BE49-F238E27FC236}">
                <a16:creationId xmlns:a16="http://schemas.microsoft.com/office/drawing/2014/main" id="{4E28243A-9660-464A-8C00-2B51FE6DCAA4}"/>
              </a:ext>
            </a:extLst>
          </p:cNvPr>
          <p:cNvSpPr txBox="1"/>
          <p:nvPr/>
        </p:nvSpPr>
        <p:spPr>
          <a:xfrm>
            <a:off x="267286" y="1362095"/>
            <a:ext cx="1301262" cy="646331"/>
          </a:xfrm>
          <a:prstGeom prst="rect">
            <a:avLst/>
          </a:prstGeom>
          <a:noFill/>
        </p:spPr>
        <p:txBody>
          <a:bodyPr wrap="square" rtlCol="0">
            <a:spAutoFit/>
          </a:bodyPr>
          <a:lstStyle/>
          <a:p>
            <a:r>
              <a:rPr lang="en-AU" dirty="0"/>
              <a:t>What is C.U.B.E.S?</a:t>
            </a:r>
          </a:p>
        </p:txBody>
      </p:sp>
      <p:sp>
        <p:nvSpPr>
          <p:cNvPr id="8" name="TextBox 7">
            <a:extLst>
              <a:ext uri="{FF2B5EF4-FFF2-40B4-BE49-F238E27FC236}">
                <a16:creationId xmlns:a16="http://schemas.microsoft.com/office/drawing/2014/main" id="{11261ACF-63F1-41BA-A972-7D2F98E431BF}"/>
              </a:ext>
            </a:extLst>
          </p:cNvPr>
          <p:cNvSpPr txBox="1"/>
          <p:nvPr/>
        </p:nvSpPr>
        <p:spPr>
          <a:xfrm>
            <a:off x="2433586" y="3363756"/>
            <a:ext cx="5866228" cy="1200329"/>
          </a:xfrm>
          <a:prstGeom prst="rect">
            <a:avLst/>
          </a:prstGeom>
          <a:noFill/>
        </p:spPr>
        <p:txBody>
          <a:bodyPr wrap="square" rtlCol="0">
            <a:spAutoFit/>
          </a:bodyPr>
          <a:lstStyle/>
          <a:p>
            <a:r>
              <a:rPr lang="en-AU" dirty="0"/>
              <a:t>Example</a:t>
            </a:r>
          </a:p>
          <a:p>
            <a:r>
              <a:rPr lang="en-AU" dirty="0"/>
              <a:t>Jane spent $42 for shoes she also bought a new hat, sunglasses and a new shirt.  This was $14 less than she spent for the new shirt.  How much was the shirt?</a:t>
            </a:r>
          </a:p>
        </p:txBody>
      </p:sp>
      <p:sp>
        <p:nvSpPr>
          <p:cNvPr id="9" name="Oval 8">
            <a:extLst>
              <a:ext uri="{FF2B5EF4-FFF2-40B4-BE49-F238E27FC236}">
                <a16:creationId xmlns:a16="http://schemas.microsoft.com/office/drawing/2014/main" id="{3048214F-7695-41CF-A086-0381F57ED4E1}"/>
              </a:ext>
            </a:extLst>
          </p:cNvPr>
          <p:cNvSpPr/>
          <p:nvPr/>
        </p:nvSpPr>
        <p:spPr>
          <a:xfrm>
            <a:off x="3608990" y="3684218"/>
            <a:ext cx="400929" cy="309489"/>
          </a:xfrm>
          <a:prstGeom prst="ellipse">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AU"/>
          </a:p>
        </p:txBody>
      </p:sp>
      <p:sp>
        <p:nvSpPr>
          <p:cNvPr id="14" name="Oval 13">
            <a:extLst>
              <a:ext uri="{FF2B5EF4-FFF2-40B4-BE49-F238E27FC236}">
                <a16:creationId xmlns:a16="http://schemas.microsoft.com/office/drawing/2014/main" id="{7A8126E3-1A25-4072-BCFD-D0D075379F7B}"/>
              </a:ext>
            </a:extLst>
          </p:cNvPr>
          <p:cNvSpPr/>
          <p:nvPr/>
        </p:nvSpPr>
        <p:spPr>
          <a:xfrm>
            <a:off x="5912765" y="3951502"/>
            <a:ext cx="481629" cy="309489"/>
          </a:xfrm>
          <a:prstGeom prst="ellipse">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AU"/>
          </a:p>
        </p:txBody>
      </p:sp>
      <p:cxnSp>
        <p:nvCxnSpPr>
          <p:cNvPr id="15" name="Straight Connector 14">
            <a:extLst>
              <a:ext uri="{FF2B5EF4-FFF2-40B4-BE49-F238E27FC236}">
                <a16:creationId xmlns:a16="http://schemas.microsoft.com/office/drawing/2014/main" id="{E9669D5D-05C2-41D4-88FD-848BE31E582E}"/>
              </a:ext>
            </a:extLst>
          </p:cNvPr>
          <p:cNvCxnSpPr/>
          <p:nvPr/>
        </p:nvCxnSpPr>
        <p:spPr>
          <a:xfrm>
            <a:off x="4263138" y="4514213"/>
            <a:ext cx="2412609"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97B85A48-0C02-40BE-96B1-E09DC5B35B4A}"/>
              </a:ext>
            </a:extLst>
          </p:cNvPr>
          <p:cNvSpPr/>
          <p:nvPr/>
        </p:nvSpPr>
        <p:spPr>
          <a:xfrm>
            <a:off x="2990012" y="3684218"/>
            <a:ext cx="618978" cy="309489"/>
          </a:xfrm>
          <a:prstGeom prst="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AU"/>
          </a:p>
        </p:txBody>
      </p:sp>
      <p:sp>
        <p:nvSpPr>
          <p:cNvPr id="17" name="Rectangle 16">
            <a:extLst>
              <a:ext uri="{FF2B5EF4-FFF2-40B4-BE49-F238E27FC236}">
                <a16:creationId xmlns:a16="http://schemas.microsoft.com/office/drawing/2014/main" id="{4E77F643-DF31-4A39-B759-E93ABC42BD65}"/>
              </a:ext>
            </a:extLst>
          </p:cNvPr>
          <p:cNvSpPr/>
          <p:nvPr/>
        </p:nvSpPr>
        <p:spPr>
          <a:xfrm>
            <a:off x="6387360" y="3958540"/>
            <a:ext cx="443131" cy="302451"/>
          </a:xfrm>
          <a:prstGeom prst="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AU"/>
          </a:p>
        </p:txBody>
      </p:sp>
      <p:cxnSp>
        <p:nvCxnSpPr>
          <p:cNvPr id="20" name="Straight Connector 19">
            <a:extLst>
              <a:ext uri="{FF2B5EF4-FFF2-40B4-BE49-F238E27FC236}">
                <a16:creationId xmlns:a16="http://schemas.microsoft.com/office/drawing/2014/main" id="{ED0F6040-B240-4BB2-B4F3-CF12D34B0794}"/>
              </a:ext>
            </a:extLst>
          </p:cNvPr>
          <p:cNvCxnSpPr>
            <a:cxnSpLocks/>
          </p:cNvCxnSpPr>
          <p:nvPr/>
        </p:nvCxnSpPr>
        <p:spPr>
          <a:xfrm>
            <a:off x="6394394" y="3853031"/>
            <a:ext cx="1048043"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2516766-412C-4EC2-8B60-CCC9BE51BC51}"/>
              </a:ext>
            </a:extLst>
          </p:cNvPr>
          <p:cNvCxnSpPr>
            <a:cxnSpLocks/>
          </p:cNvCxnSpPr>
          <p:nvPr/>
        </p:nvCxnSpPr>
        <p:spPr>
          <a:xfrm>
            <a:off x="2577025" y="4132040"/>
            <a:ext cx="1573572" cy="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E841BCD-2C1C-4BFC-9E90-83C7321C66AF}"/>
              </a:ext>
            </a:extLst>
          </p:cNvPr>
          <p:cNvSpPr txBox="1"/>
          <p:nvPr/>
        </p:nvSpPr>
        <p:spPr>
          <a:xfrm>
            <a:off x="3039250" y="4610239"/>
            <a:ext cx="4403187" cy="923330"/>
          </a:xfrm>
          <a:prstGeom prst="rect">
            <a:avLst/>
          </a:prstGeom>
          <a:noFill/>
        </p:spPr>
        <p:txBody>
          <a:bodyPr wrap="square" rtlCol="0">
            <a:spAutoFit/>
          </a:bodyPr>
          <a:lstStyle/>
          <a:p>
            <a:r>
              <a:rPr lang="en-AU" dirty="0"/>
              <a:t>42 = shirt - 14</a:t>
            </a:r>
          </a:p>
          <a:p>
            <a:r>
              <a:rPr lang="en-AU" dirty="0"/>
              <a:t>42 + 14 = shirt</a:t>
            </a:r>
          </a:p>
          <a:p>
            <a:r>
              <a:rPr lang="en-AU" dirty="0"/>
              <a:t>56 = shirt       The shirt cost $56</a:t>
            </a:r>
          </a:p>
        </p:txBody>
      </p:sp>
    </p:spTree>
    <p:extLst>
      <p:ext uri="{BB962C8B-B14F-4D97-AF65-F5344CB8AC3E}">
        <p14:creationId xmlns:p14="http://schemas.microsoft.com/office/powerpoint/2010/main" val="1642860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P spid="16" grpId="0" animBg="1"/>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D67D5-AF1D-4AF5-B3ED-ABE789A4BF87}"/>
              </a:ext>
            </a:extLst>
          </p:cNvPr>
          <p:cNvSpPr>
            <a:spLocks noGrp="1"/>
          </p:cNvSpPr>
          <p:nvPr>
            <p:ph type="title"/>
          </p:nvPr>
        </p:nvSpPr>
        <p:spPr/>
        <p:txBody>
          <a:bodyPr/>
          <a:lstStyle/>
          <a:p>
            <a:endParaRPr lang="en-AU"/>
          </a:p>
        </p:txBody>
      </p:sp>
      <p:pic>
        <p:nvPicPr>
          <p:cNvPr id="4" name="Content Placeholder 3">
            <a:extLst>
              <a:ext uri="{FF2B5EF4-FFF2-40B4-BE49-F238E27FC236}">
                <a16:creationId xmlns:a16="http://schemas.microsoft.com/office/drawing/2014/main" id="{0C574709-FC47-4E7E-A682-332EAB790FB0}"/>
              </a:ext>
            </a:extLst>
          </p:cNvPr>
          <p:cNvPicPr>
            <a:picLocks noGrp="1" noChangeAspect="1"/>
          </p:cNvPicPr>
          <p:nvPr>
            <p:ph idx="1"/>
          </p:nvPr>
        </p:nvPicPr>
        <p:blipFill>
          <a:blip r:embed="rId2"/>
          <a:stretch>
            <a:fillRect/>
          </a:stretch>
        </p:blipFill>
        <p:spPr>
          <a:xfrm>
            <a:off x="385172" y="304271"/>
            <a:ext cx="8373656" cy="2149321"/>
          </a:xfrm>
          <a:prstGeom prst="rect">
            <a:avLst/>
          </a:prstGeom>
        </p:spPr>
      </p:pic>
      <p:pic>
        <p:nvPicPr>
          <p:cNvPr id="5" name="Picture 4">
            <a:extLst>
              <a:ext uri="{FF2B5EF4-FFF2-40B4-BE49-F238E27FC236}">
                <a16:creationId xmlns:a16="http://schemas.microsoft.com/office/drawing/2014/main" id="{420064FE-D557-4ED4-88D3-0023236FC49D}"/>
              </a:ext>
            </a:extLst>
          </p:cNvPr>
          <p:cNvPicPr>
            <a:picLocks noChangeAspect="1"/>
          </p:cNvPicPr>
          <p:nvPr/>
        </p:nvPicPr>
        <p:blipFill>
          <a:blip r:embed="rId3"/>
          <a:stretch>
            <a:fillRect/>
          </a:stretch>
        </p:blipFill>
        <p:spPr>
          <a:xfrm>
            <a:off x="385172" y="2544105"/>
            <a:ext cx="6782723" cy="2708120"/>
          </a:xfrm>
          <a:prstGeom prst="rect">
            <a:avLst/>
          </a:prstGeom>
        </p:spPr>
      </p:pic>
    </p:spTree>
    <p:extLst>
      <p:ext uri="{BB962C8B-B14F-4D97-AF65-F5344CB8AC3E}">
        <p14:creationId xmlns:p14="http://schemas.microsoft.com/office/powerpoint/2010/main" val="2375180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5992F8-FE97-4A22-A1AE-D99FFF2C9500}"/>
              </a:ext>
            </a:extLst>
          </p:cNvPr>
          <p:cNvPicPr>
            <a:picLocks noChangeAspect="1"/>
          </p:cNvPicPr>
          <p:nvPr/>
        </p:nvPicPr>
        <p:blipFill>
          <a:blip r:embed="rId2"/>
          <a:stretch>
            <a:fillRect/>
          </a:stretch>
        </p:blipFill>
        <p:spPr>
          <a:xfrm>
            <a:off x="279841" y="490654"/>
            <a:ext cx="8685231" cy="4650057"/>
          </a:xfrm>
          <a:prstGeom prst="rect">
            <a:avLst/>
          </a:prstGeom>
        </p:spPr>
      </p:pic>
    </p:spTree>
    <p:extLst>
      <p:ext uri="{BB962C8B-B14F-4D97-AF65-F5344CB8AC3E}">
        <p14:creationId xmlns:p14="http://schemas.microsoft.com/office/powerpoint/2010/main" val="2988568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EFE24B-A927-452A-8F0C-AA4FA5E55959}"/>
              </a:ext>
            </a:extLst>
          </p:cNvPr>
          <p:cNvPicPr>
            <a:picLocks noChangeAspect="1"/>
          </p:cNvPicPr>
          <p:nvPr/>
        </p:nvPicPr>
        <p:blipFill>
          <a:blip r:embed="rId2"/>
          <a:stretch>
            <a:fillRect/>
          </a:stretch>
        </p:blipFill>
        <p:spPr>
          <a:xfrm>
            <a:off x="730404" y="836341"/>
            <a:ext cx="7699918" cy="3849959"/>
          </a:xfrm>
          <a:prstGeom prst="rect">
            <a:avLst/>
          </a:prstGeom>
        </p:spPr>
      </p:pic>
    </p:spTree>
    <p:extLst>
      <p:ext uri="{BB962C8B-B14F-4D97-AF65-F5344CB8AC3E}">
        <p14:creationId xmlns:p14="http://schemas.microsoft.com/office/powerpoint/2010/main" val="3428184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5753C-1BCD-4683-B5AB-75E49E72C1D0}"/>
              </a:ext>
            </a:extLst>
          </p:cNvPr>
          <p:cNvSpPr>
            <a:spLocks noGrp="1"/>
          </p:cNvSpPr>
          <p:nvPr>
            <p:ph type="title"/>
          </p:nvPr>
        </p:nvSpPr>
        <p:spPr>
          <a:xfrm>
            <a:off x="547968" y="609070"/>
            <a:ext cx="7886700" cy="1524530"/>
          </a:xfrm>
        </p:spPr>
        <p:txBody>
          <a:bodyPr>
            <a:noAutofit/>
          </a:bodyPr>
          <a:lstStyle/>
          <a:p>
            <a:r>
              <a:rPr lang="en-AU" sz="2000" b="1" dirty="0"/>
              <a:t>Learning Log</a:t>
            </a:r>
            <a:br>
              <a:rPr lang="en-AU" sz="2000" dirty="0"/>
            </a:br>
            <a:r>
              <a:rPr lang="en-AU" sz="2000" dirty="0"/>
              <a:t>	Over the past week we have looked at;</a:t>
            </a:r>
            <a:br>
              <a:rPr lang="en-AU" sz="2000" dirty="0"/>
            </a:br>
            <a:r>
              <a:rPr lang="en-AU" sz="2000" dirty="0"/>
              <a:t>		BIMDAS</a:t>
            </a:r>
            <a:br>
              <a:rPr lang="en-AU" sz="2000" dirty="0"/>
            </a:br>
            <a:r>
              <a:rPr lang="en-AU" sz="2000" dirty="0"/>
              <a:t>		Adding and Subtracting positive and negative numbers</a:t>
            </a:r>
            <a:br>
              <a:rPr lang="en-AU" sz="2000" dirty="0"/>
            </a:br>
            <a:r>
              <a:rPr lang="en-AU" sz="2000" dirty="0"/>
              <a:t>		Multiplying and dividing positive and negative numbers</a:t>
            </a:r>
            <a:br>
              <a:rPr lang="en-AU" sz="2000" dirty="0"/>
            </a:br>
            <a:br>
              <a:rPr lang="en-AU" sz="2000" dirty="0"/>
            </a:br>
            <a:r>
              <a:rPr lang="en-AU" sz="2000" dirty="0"/>
              <a:t>	Fill in the learning log entry on what you learned on these subjects for the week and place it at the back of your INB.</a:t>
            </a:r>
          </a:p>
        </p:txBody>
      </p:sp>
    </p:spTree>
    <p:extLst>
      <p:ext uri="{BB962C8B-B14F-4D97-AF65-F5344CB8AC3E}">
        <p14:creationId xmlns:p14="http://schemas.microsoft.com/office/powerpoint/2010/main" val="1340690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28865"/>
            <a:ext cx="6669360" cy="348382"/>
          </a:xfrm>
        </p:spPr>
        <p:txBody>
          <a:bodyPr>
            <a:normAutofit fontScale="90000"/>
          </a:bodyPr>
          <a:lstStyle/>
          <a:p>
            <a:r>
              <a:rPr lang="en-AU" dirty="0"/>
              <a:t>Extension/Extra Questions</a:t>
            </a:r>
          </a:p>
        </p:txBody>
      </p:sp>
      <p:pic>
        <p:nvPicPr>
          <p:cNvPr id="3" name="Picture 2">
            <a:extLst>
              <a:ext uri="{FF2B5EF4-FFF2-40B4-BE49-F238E27FC236}">
                <a16:creationId xmlns:a16="http://schemas.microsoft.com/office/drawing/2014/main" id="{BE102F71-F39A-48F8-8619-4F086E8A4AEE}"/>
              </a:ext>
            </a:extLst>
          </p:cNvPr>
          <p:cNvPicPr>
            <a:picLocks noChangeAspect="1"/>
          </p:cNvPicPr>
          <p:nvPr/>
        </p:nvPicPr>
        <p:blipFill rotWithShape="1">
          <a:blip r:embed="rId2"/>
          <a:srcRect t="34800"/>
          <a:stretch/>
        </p:blipFill>
        <p:spPr>
          <a:xfrm>
            <a:off x="453827" y="815788"/>
            <a:ext cx="8036077" cy="2160494"/>
          </a:xfrm>
          <a:prstGeom prst="rect">
            <a:avLst/>
          </a:prstGeom>
        </p:spPr>
      </p:pic>
      <p:pic>
        <p:nvPicPr>
          <p:cNvPr id="4" name="Picture 3">
            <a:extLst>
              <a:ext uri="{FF2B5EF4-FFF2-40B4-BE49-F238E27FC236}">
                <a16:creationId xmlns:a16="http://schemas.microsoft.com/office/drawing/2014/main" id="{35E1B1ED-1E47-4C34-9C17-B61127B42AB5}"/>
              </a:ext>
            </a:extLst>
          </p:cNvPr>
          <p:cNvPicPr>
            <a:picLocks noChangeAspect="1"/>
          </p:cNvPicPr>
          <p:nvPr/>
        </p:nvPicPr>
        <p:blipFill rotWithShape="1">
          <a:blip r:embed="rId3"/>
          <a:srcRect t="31796"/>
          <a:stretch/>
        </p:blipFill>
        <p:spPr>
          <a:xfrm>
            <a:off x="2306931" y="3747247"/>
            <a:ext cx="3775609" cy="1027518"/>
          </a:xfrm>
          <a:prstGeom prst="rect">
            <a:avLst/>
          </a:prstGeom>
        </p:spPr>
      </p:pic>
    </p:spTree>
    <p:extLst>
      <p:ext uri="{BB962C8B-B14F-4D97-AF65-F5344CB8AC3E}">
        <p14:creationId xmlns:p14="http://schemas.microsoft.com/office/powerpoint/2010/main" val="1709319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662F83-DB15-47A8-9FD4-42E6E9BB94AD}"/>
              </a:ext>
            </a:extLst>
          </p:cNvPr>
          <p:cNvPicPr>
            <a:picLocks noChangeAspect="1"/>
          </p:cNvPicPr>
          <p:nvPr/>
        </p:nvPicPr>
        <p:blipFill>
          <a:blip r:embed="rId2"/>
          <a:stretch>
            <a:fillRect/>
          </a:stretch>
        </p:blipFill>
        <p:spPr>
          <a:xfrm>
            <a:off x="966129" y="1657367"/>
            <a:ext cx="7407823" cy="2340260"/>
          </a:xfrm>
          <a:prstGeom prst="rect">
            <a:avLst/>
          </a:prstGeom>
        </p:spPr>
      </p:pic>
      <p:pic>
        <p:nvPicPr>
          <p:cNvPr id="4" name="Picture 3">
            <a:extLst>
              <a:ext uri="{FF2B5EF4-FFF2-40B4-BE49-F238E27FC236}">
                <a16:creationId xmlns:a16="http://schemas.microsoft.com/office/drawing/2014/main" id="{50DD3C02-D751-4C47-8D14-4DD430BFBD03}"/>
              </a:ext>
            </a:extLst>
          </p:cNvPr>
          <p:cNvPicPr>
            <a:picLocks noChangeAspect="1"/>
          </p:cNvPicPr>
          <p:nvPr/>
        </p:nvPicPr>
        <p:blipFill>
          <a:blip r:embed="rId3"/>
          <a:stretch>
            <a:fillRect/>
          </a:stretch>
        </p:blipFill>
        <p:spPr>
          <a:xfrm>
            <a:off x="2231740" y="3997627"/>
            <a:ext cx="4383712" cy="1515953"/>
          </a:xfrm>
          <a:prstGeom prst="rect">
            <a:avLst/>
          </a:prstGeom>
        </p:spPr>
      </p:pic>
      <p:pic>
        <p:nvPicPr>
          <p:cNvPr id="5" name="Picture 4">
            <a:extLst>
              <a:ext uri="{FF2B5EF4-FFF2-40B4-BE49-F238E27FC236}">
                <a16:creationId xmlns:a16="http://schemas.microsoft.com/office/drawing/2014/main" id="{91442F89-4807-4893-BA46-3DD749D7F575}"/>
              </a:ext>
            </a:extLst>
          </p:cNvPr>
          <p:cNvPicPr>
            <a:picLocks noChangeAspect="1"/>
          </p:cNvPicPr>
          <p:nvPr/>
        </p:nvPicPr>
        <p:blipFill>
          <a:blip r:embed="rId4"/>
          <a:stretch>
            <a:fillRect/>
          </a:stretch>
        </p:blipFill>
        <p:spPr>
          <a:xfrm>
            <a:off x="851587" y="455490"/>
            <a:ext cx="8005721" cy="1201877"/>
          </a:xfrm>
          <a:prstGeom prst="rect">
            <a:avLst/>
          </a:prstGeom>
        </p:spPr>
      </p:pic>
    </p:spTree>
    <p:extLst>
      <p:ext uri="{BB962C8B-B14F-4D97-AF65-F5344CB8AC3E}">
        <p14:creationId xmlns:p14="http://schemas.microsoft.com/office/powerpoint/2010/main" val="2052289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07FEA2C9-6E64-4028-8A3E-19098D2F43C5}" vid="{975935DD-9AD2-443E-9D3A-1AF4DC2D5AD5}"/>
    </a:ext>
  </a:extLst>
</a:theme>
</file>

<file path=docProps/app.xml><?xml version="1.0" encoding="utf-8"?>
<Properties xmlns="http://schemas.openxmlformats.org/officeDocument/2006/extended-properties" xmlns:vt="http://schemas.openxmlformats.org/officeDocument/2006/docPropsVTypes">
  <Template>AVID 2017</Template>
  <TotalTime>791</TotalTime>
  <Words>166</Words>
  <Application>Microsoft Office PowerPoint</Application>
  <PresentationFormat>On-screen Show (16:10)</PresentationFormat>
  <Paragraphs>54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Topic : Worded Questions </vt:lpstr>
      <vt:lpstr>Topic : Worded Questions </vt:lpstr>
      <vt:lpstr>PowerPoint Presentation</vt:lpstr>
      <vt:lpstr>Topic : Worded Questions </vt:lpstr>
      <vt:lpstr>PowerPoint Presentation</vt:lpstr>
      <vt:lpstr>PowerPoint Presentation</vt:lpstr>
      <vt:lpstr>PowerPoint Presentation</vt:lpstr>
      <vt:lpstr>Learning Log  Over the past week we have looked at;   BIMDAS   Adding and Subtracting positive and negative numbers   Multiplying and dividing positive and negative numbers   Fill in the learning log entry on what you learned on these subjects for the week and place it at the back of your INB.</vt:lpstr>
      <vt:lpstr>Extension/Extra 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WILSON James [Baldivis Secondary College]</dc:creator>
  <cp:lastModifiedBy>James WILSON</cp:lastModifiedBy>
  <cp:revision>12</cp:revision>
  <dcterms:created xsi:type="dcterms:W3CDTF">2017-06-08T21:35:48Z</dcterms:created>
  <dcterms:modified xsi:type="dcterms:W3CDTF">2018-02-09T01:10:06Z</dcterms:modified>
</cp:coreProperties>
</file>
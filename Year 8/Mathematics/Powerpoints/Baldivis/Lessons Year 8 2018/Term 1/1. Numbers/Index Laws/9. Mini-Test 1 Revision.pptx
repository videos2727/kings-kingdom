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60" r:id="rId3"/>
    <p:sldId id="262" r:id="rId4"/>
    <p:sldId id="261" r:id="rId5"/>
    <p:sldId id="264" r:id="rId6"/>
    <p:sldId id="265" r:id="rId7"/>
    <p:sldId id="266" r:id="rId8"/>
    <p:sldId id="269" r:id="rId9"/>
    <p:sldId id="270" r:id="rId10"/>
    <p:sldId id="271" r:id="rId11"/>
    <p:sldId id="272" r:id="rId12"/>
    <p:sldId id="273" r:id="rId13"/>
    <p:sldId id="274" r:id="rId14"/>
    <p:sldId id="263" r:id="rId15"/>
    <p:sldId id="275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93E9A-AB2C-4CD7-AC41-8D936785B3AD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DD71C-A9FA-4002-90BE-A2F0DB8FC4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3090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582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09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1975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030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41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71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573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2430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744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73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86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01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90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16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61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592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04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63DC-02C5-4033-9E24-22B92D91A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89820-651F-4784-8AB4-6F0E9FBDA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E9F61-B4C6-47FE-A8BE-D85B9D69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16285-0B78-4176-9369-E86F7D6F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D1C06-0984-4EA5-8FE6-2B9D18CF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669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165C-414C-4A29-A1BD-A85A2AE6E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C7944-9A57-4F51-A0FE-55368DABC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E128-C3C3-46F3-98BC-556EE5D4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1CB58-E580-46D2-86CD-45EA445A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C46A-1A77-4152-9BEF-F6E7E6A8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968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80A9-1A9B-4224-B58D-4212D526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5FD6F-5D67-48EC-AF80-18E885209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5914D-35C0-4FF6-99D5-BAFFE836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79974-A648-4EFC-A7D6-BFABEE42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48A41-EAAD-44E0-8D63-3178D07BE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8991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17CC-3EDD-4882-8FB2-A65E8AC0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5D82-31F8-43A3-943F-5ACB721CC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FF300-5B82-444B-985E-B4B4F8DD3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9D18E-F11D-451C-AE7D-3F2D3707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2B2C9-192E-482B-88D6-421571FB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00117-178F-460B-9DA6-73053801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744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6526-80C9-4AA3-AC51-4738FEF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1D515-303F-46A0-A1E6-C9DF45C86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3DE33-B117-47AF-9785-0DD36A0BB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F2E5A-6371-4FA7-9189-E85803756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AC829-4666-4BFC-8704-CD2CFF628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362E1-DB76-4A05-AF9C-E067F0CE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C9C93-2BA0-4DEB-B983-DAA95C0C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37139-B56A-40ED-B1C4-9E889DC5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06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614B-856D-4246-BCFF-A81836EA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65CDD-8945-45E9-9934-5D962795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97AAA-A9EA-4961-91D7-36FD8304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E8434-9B66-465D-8214-D9DAF181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492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BED2E-C518-4FF4-8C79-1E7302560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5ADBF-E2C5-402A-8BD7-C1E7E7A80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C192B-CC4A-4906-9092-FA2FD5C1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86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5F761-FE8E-4714-9D1F-A0B84F76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180E-6874-45B5-83CE-643A7CCF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7EC78-F173-49C2-B2F1-CAF2608FD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07DE9-2DB8-4FAD-9D78-F732AE26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5DC72-5864-4502-BAF8-134AB193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BF8DA-3FA8-459B-B2F2-09A47594C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412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5C920-1C36-461E-B862-C8BC12F90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E8FCC-7387-4D20-A8C9-97445692A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D936F-C0A8-4ACA-AD59-B6D6A6473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B9F34-AF72-49CD-84D5-41B6C187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E12A-C5D4-4198-9373-ADFA80D3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C9F6A-EE9E-4145-9A86-7D047A36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90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7087-DF56-443F-8ACC-F9AB24D4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E139C-AFD9-4A33-AEE0-165987BCC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B9883-0D59-43D2-BE17-6B1368DB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20477-9D47-45A3-ADAB-FC48FC6E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9B3C9-A6F3-479E-A742-E290FF96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248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48336-11CD-41C8-8680-646BA43572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DA7DC-5CB8-485C-BA4B-7C79F498C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C1808-B4DA-47D7-BF89-DE73C68E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C5CBF-1465-4A82-BABB-960F9BF1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5F337-DC9D-42E1-B779-B3C43A39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283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97050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670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6016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679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8E8D4C-65DB-4442-804F-4B23FC98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37165-CDBE-4B41-B54E-6BCFCB5C2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A2F6D-B7FE-4452-8F69-32444C070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89F8D-A59A-4489-B255-A3A0160EB10F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0CB18-C64C-487E-A02B-440218D00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70049-2180-41E7-A73A-3B43260F6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ADB46-CF61-4EF8-8A75-FE83C4729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43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http://www.mathgoodies.com/lessons/vol5/images/no_line10.gi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Mini-Test 1 Revision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57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Mini-Test 1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have we learnt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233D68-6155-4916-8989-3B335ADDD0E2}"/>
              </a:ext>
            </a:extLst>
          </p:cNvPr>
          <p:cNvSpPr txBox="1"/>
          <p:nvPr/>
        </p:nvSpPr>
        <p:spPr>
          <a:xfrm>
            <a:off x="0" y="1738377"/>
            <a:ext cx="1847525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rules of BIMDAS?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50925-3BE7-46AC-9D4C-667E916DA671}"/>
              </a:ext>
            </a:extLst>
          </p:cNvPr>
          <p:cNvSpPr txBox="1"/>
          <p:nvPr/>
        </p:nvSpPr>
        <p:spPr>
          <a:xfrm>
            <a:off x="2069351" y="1428625"/>
            <a:ext cx="494938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u="sng" dirty="0">
                <a:solidFill>
                  <a:srgbClr val="CC00CC"/>
                </a:solidFill>
              </a:rPr>
              <a:t>Order of Operations / BIMDAS</a:t>
            </a:r>
          </a:p>
          <a:p>
            <a:endParaRPr lang="en-AU" sz="2800" dirty="0"/>
          </a:p>
          <a:p>
            <a:r>
              <a:rPr lang="en-AU" sz="2800" dirty="0"/>
              <a:t>1. </a:t>
            </a:r>
            <a:r>
              <a:rPr lang="en-AU" sz="2800" b="1" u="sng" dirty="0">
                <a:solidFill>
                  <a:srgbClr val="CC00CC"/>
                </a:solidFill>
              </a:rPr>
              <a:t>B</a:t>
            </a:r>
            <a:r>
              <a:rPr lang="en-AU" sz="2800" dirty="0"/>
              <a:t>rackets First</a:t>
            </a:r>
          </a:p>
          <a:p>
            <a:endParaRPr lang="en-AU" sz="2800" dirty="0"/>
          </a:p>
          <a:p>
            <a:r>
              <a:rPr lang="en-AU" sz="2800" dirty="0"/>
              <a:t>2. </a:t>
            </a:r>
            <a:r>
              <a:rPr lang="en-AU" sz="2800" b="1" u="sng" dirty="0">
                <a:solidFill>
                  <a:srgbClr val="CC00CC"/>
                </a:solidFill>
              </a:rPr>
              <a:t>I</a:t>
            </a:r>
            <a:r>
              <a:rPr lang="en-AU" sz="2800" dirty="0"/>
              <a:t>ndices</a:t>
            </a:r>
          </a:p>
          <a:p>
            <a:endParaRPr lang="en-AU" sz="2800" dirty="0"/>
          </a:p>
          <a:p>
            <a:r>
              <a:rPr lang="en-AU" sz="2800" dirty="0"/>
              <a:t>3. </a:t>
            </a:r>
            <a:r>
              <a:rPr lang="en-AU" sz="2800" b="1" u="sng" dirty="0">
                <a:solidFill>
                  <a:srgbClr val="CC00CC"/>
                </a:solidFill>
              </a:rPr>
              <a:t>M</a:t>
            </a:r>
            <a:r>
              <a:rPr lang="en-AU" sz="2800" dirty="0"/>
              <a:t>ultiply and/or </a:t>
            </a:r>
            <a:r>
              <a:rPr lang="en-AU" sz="2800" b="1" u="sng" dirty="0">
                <a:solidFill>
                  <a:srgbClr val="CC00CC"/>
                </a:solidFill>
              </a:rPr>
              <a:t>D</a:t>
            </a:r>
            <a:r>
              <a:rPr lang="en-AU" sz="2800" dirty="0"/>
              <a:t>ivide </a:t>
            </a:r>
          </a:p>
          <a:p>
            <a:r>
              <a:rPr lang="en-AU" sz="2800" dirty="0"/>
              <a:t>                   (from left to right)</a:t>
            </a:r>
          </a:p>
          <a:p>
            <a:endParaRPr lang="en-AU" sz="2800" b="1" u="sng" dirty="0"/>
          </a:p>
          <a:p>
            <a:r>
              <a:rPr lang="en-AU" sz="2800" dirty="0"/>
              <a:t>4. </a:t>
            </a:r>
            <a:r>
              <a:rPr lang="en-AU" sz="2800" b="1" u="sng" dirty="0">
                <a:solidFill>
                  <a:srgbClr val="CC00CC"/>
                </a:solidFill>
              </a:rPr>
              <a:t>A</a:t>
            </a:r>
            <a:r>
              <a:rPr lang="en-AU" sz="2800" dirty="0"/>
              <a:t>dd or </a:t>
            </a:r>
            <a:r>
              <a:rPr lang="en-AU" sz="2800" b="1" u="sng" dirty="0">
                <a:solidFill>
                  <a:srgbClr val="CC00CC"/>
                </a:solidFill>
              </a:rPr>
              <a:t>S</a:t>
            </a:r>
            <a:r>
              <a:rPr lang="en-AU" sz="2800" dirty="0"/>
              <a:t>ubtract </a:t>
            </a:r>
          </a:p>
          <a:p>
            <a:r>
              <a:rPr lang="en-AU" sz="2800" dirty="0"/>
              <a:t>                    (from left to right)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8DEF79-C766-4ED2-9321-656A8F09A4D1}"/>
                  </a:ext>
                </a:extLst>
              </p:cNvPr>
              <p:cNvSpPr txBox="1"/>
              <p:nvPr/>
            </p:nvSpPr>
            <p:spPr>
              <a:xfrm>
                <a:off x="7647959" y="1498737"/>
                <a:ext cx="4269893" cy="4278094"/>
              </a:xfrm>
              <a:prstGeom prst="rect">
                <a:avLst/>
              </a:prstGeom>
              <a:noFill/>
              <a:ln w="38100">
                <a:solidFill>
                  <a:srgbClr val="FF00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Let’s Try…</a:t>
                </a:r>
              </a:p>
              <a:p>
                <a:endParaRPr lang="en-AU" sz="2400" dirty="0"/>
              </a:p>
              <a:p>
                <a:r>
                  <a:rPr lang="en-AU" sz="2400" b="0" dirty="0"/>
                  <a:t>2 +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4+2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dirty="0"/>
              </a:p>
              <a:p>
                <a:r>
                  <a:rPr lang="en-AU" sz="2400" dirty="0"/>
                  <a:t>2 +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dirty="0">
                  <a:ea typeface="Cambria Math" panose="02040503050406030204" pitchFamily="18" charset="0"/>
                </a:endParaRPr>
              </a:p>
              <a:p>
                <a:endParaRPr lang="en-AU" sz="2400" dirty="0"/>
              </a:p>
              <a:p>
                <a:r>
                  <a:rPr lang="en-AU" sz="2400" dirty="0"/>
                  <a:t>2 +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×6 ÷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dirty="0">
                  <a:ea typeface="Cambria Math" panose="02040503050406030204" pitchFamily="18" charset="0"/>
                </a:endParaRP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r>
                  <a:rPr lang="en-AU" sz="2400" dirty="0"/>
                  <a:t>2 + 4 =</a:t>
                </a: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r>
                  <a:rPr lang="en-AU" sz="32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6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8DEF79-C766-4ED2-9321-656A8F09A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959" y="1498737"/>
                <a:ext cx="4269893" cy="4278094"/>
              </a:xfrm>
              <a:prstGeom prst="rect">
                <a:avLst/>
              </a:prstGeom>
              <a:blipFill>
                <a:blip r:embed="rId3"/>
                <a:stretch>
                  <a:fillRect l="-3258" t="-706" b="-3249"/>
                </a:stretch>
              </a:blipFill>
              <a:ln w="38100"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76745FD-0338-49B8-BECC-1BA807D5F50C}"/>
                  </a:ext>
                </a:extLst>
              </p:cNvPr>
              <p:cNvSpPr/>
              <p:nvPr/>
            </p:nvSpPr>
            <p:spPr>
              <a:xfrm>
                <a:off x="583985" y="577193"/>
                <a:ext cx="11515249" cy="3549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b="1" dirty="0"/>
                  <a:t>1</a:t>
                </a:r>
                <a:r>
                  <a:rPr lang="en-AU" sz="2800" dirty="0"/>
                  <a:t>. 100 ÷ 10 × 4 + 6</a:t>
                </a:r>
              </a:p>
              <a:p>
                <a:endParaRPr lang="en-AU" sz="2800" dirty="0"/>
              </a:p>
              <a:p>
                <a:endParaRPr lang="en-AU" sz="2800" dirty="0"/>
              </a:p>
              <a:p>
                <a:r>
                  <a:rPr lang="en-AU" sz="2800" b="1" dirty="0"/>
                  <a:t>2</a:t>
                </a:r>
                <a:r>
                  <a:rPr lang="en-AU" sz="2800" dirty="0"/>
                  <a:t>. (15 × 6) − 4 + 7							</a:t>
                </a:r>
                <a:r>
                  <a:rPr lang="en-AU" sz="2800" b="1" dirty="0"/>
                  <a:t>3</a:t>
                </a:r>
                <a:r>
                  <a:rPr lang="en-AU" sz="2800" dirty="0"/>
                  <a:t>. (11 + 4) × (6 + 4)</a:t>
                </a:r>
              </a:p>
              <a:p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  <a:p>
                <a:r>
                  <a:rPr lang="en-AU" sz="2800" b="1" dirty="0"/>
                  <a:t>4</a:t>
                </a:r>
                <a:r>
                  <a:rPr lang="en-AU" sz="2800" dirty="0"/>
                  <a:t>. 77 ÷ (12 − 4 − 1) × 2 + 8 − (9 − 4)			     </a:t>
                </a:r>
                <a:r>
                  <a:rPr lang="en-AU" sz="2800" b="1" dirty="0"/>
                  <a:t> 5</a:t>
                </a:r>
                <a:r>
                  <a:rPr lang="en-AU" sz="2800" dirty="0"/>
                  <a:t>. 9 -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(15</m:t>
                        </m:r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÷5)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800" dirty="0"/>
                  <a:t> x 8 + 8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76745FD-0338-49B8-BECC-1BA807D5F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5" y="577193"/>
                <a:ext cx="11515249" cy="3549177"/>
              </a:xfrm>
              <a:prstGeom prst="rect">
                <a:avLst/>
              </a:prstGeom>
              <a:blipFill>
                <a:blip r:embed="rId3"/>
                <a:stretch>
                  <a:fillRect l="-1112" t="-1718" b="-3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57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Mini-Test 1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have we learnt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233D68-6155-4916-8989-3B335ADDD0E2}"/>
              </a:ext>
            </a:extLst>
          </p:cNvPr>
          <p:cNvSpPr txBox="1"/>
          <p:nvPr/>
        </p:nvSpPr>
        <p:spPr>
          <a:xfrm>
            <a:off x="0" y="1738377"/>
            <a:ext cx="1847525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Adding and Subtracting Integers</a:t>
            </a:r>
          </a:p>
        </p:txBody>
      </p:sp>
      <p:pic>
        <p:nvPicPr>
          <p:cNvPr id="13" name="Picture 4" descr="[IMAGE]">
            <a:extLst>
              <a:ext uri="{FF2B5EF4-FFF2-40B4-BE49-F238E27FC236}">
                <a16:creationId xmlns:a16="http://schemas.microsoft.com/office/drawing/2014/main" id="{2518801D-E27D-4BF4-9D29-BBF0A6682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724" y="2334529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A8DEC2DA-41E7-444C-82F7-E63FE66FC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577" y="1597372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00FF00"/>
                </a:highlight>
              </a:rPr>
              <a:t>Addition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A485D06-D7CF-414F-83A0-23DA02BF2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061" y="168444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00FFFF"/>
                </a:highlight>
              </a:rPr>
              <a:t>Subtraction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D3218E-C23F-49F3-A8FB-2C64C5A79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425" y="1432777"/>
            <a:ext cx="1357463" cy="9049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6E6BF1-9157-438C-86EB-DCB0634E5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748958" y="1491184"/>
            <a:ext cx="1403130" cy="9354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58B2744-952F-4CC3-8518-AF3948581F9A}"/>
              </a:ext>
            </a:extLst>
          </p:cNvPr>
          <p:cNvSpPr txBox="1"/>
          <p:nvPr/>
        </p:nvSpPr>
        <p:spPr>
          <a:xfrm>
            <a:off x="2060425" y="3239504"/>
            <a:ext cx="39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Subtraction we go </a:t>
            </a:r>
            <a:r>
              <a:rPr lang="en-AU" sz="2800" b="1" dirty="0">
                <a:highlight>
                  <a:srgbClr val="00FFFF"/>
                </a:highlight>
              </a:rPr>
              <a:t>left!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C3DAAB-F880-452F-BA06-56F60E7D007D}"/>
              </a:ext>
            </a:extLst>
          </p:cNvPr>
          <p:cNvSpPr txBox="1"/>
          <p:nvPr/>
        </p:nvSpPr>
        <p:spPr>
          <a:xfrm>
            <a:off x="8067577" y="3198081"/>
            <a:ext cx="3771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Addition we go </a:t>
            </a:r>
            <a:r>
              <a:rPr lang="en-AU" sz="2800" b="1" dirty="0">
                <a:highlight>
                  <a:srgbClr val="00FF00"/>
                </a:highlight>
              </a:rPr>
              <a:t>right</a:t>
            </a:r>
            <a:r>
              <a:rPr lang="en-AU" sz="2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6825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57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Mini-Test 1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have we learnt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233D68-6155-4916-8989-3B335ADDD0E2}"/>
              </a:ext>
            </a:extLst>
          </p:cNvPr>
          <p:cNvSpPr txBox="1"/>
          <p:nvPr/>
        </p:nvSpPr>
        <p:spPr>
          <a:xfrm>
            <a:off x="0" y="1738377"/>
            <a:ext cx="1847525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Adding and Subtracting Integers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275098-3739-46D7-AD12-A38C256512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026"/>
          <a:stretch/>
        </p:blipFill>
        <p:spPr>
          <a:xfrm>
            <a:off x="2311506" y="3075530"/>
            <a:ext cx="9206884" cy="36593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D815F87-966C-419E-B7AF-1466D97E7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150" y="-46627"/>
            <a:ext cx="4297017" cy="30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2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72E74-F5E3-483F-96B1-BF5BB288905E}"/>
              </a:ext>
            </a:extLst>
          </p:cNvPr>
          <p:cNvSpPr/>
          <p:nvPr/>
        </p:nvSpPr>
        <p:spPr>
          <a:xfrm>
            <a:off x="583986" y="692256"/>
            <a:ext cx="458436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AU" sz="3200" dirty="0">
                <a:latin typeface="Arial" panose="020B0604020202020204" pitchFamily="34" charset="0"/>
              </a:rPr>
              <a:t> -2 - 7 =</a:t>
            </a:r>
          </a:p>
          <a:p>
            <a:pPr marL="342900" indent="-342900">
              <a:buFont typeface="+mj-lt"/>
              <a:buAutoNum type="arabicParenR"/>
            </a:pPr>
            <a:endParaRPr lang="en-AU" sz="3200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AU" sz="3200" dirty="0"/>
              <a:t> 2 + 3 =</a:t>
            </a:r>
          </a:p>
          <a:p>
            <a:pPr marL="342900" indent="-342900">
              <a:buFont typeface="+mj-lt"/>
              <a:buAutoNum type="arabicParenR"/>
            </a:pPr>
            <a:endParaRPr lang="en-AU" sz="3200" dirty="0"/>
          </a:p>
          <a:p>
            <a:pPr marL="342900" indent="-342900">
              <a:buFont typeface="+mj-lt"/>
              <a:buAutoNum type="arabicParenR"/>
            </a:pPr>
            <a:r>
              <a:rPr lang="en-AU" sz="3200" dirty="0"/>
              <a:t> 8 - 3 =</a:t>
            </a:r>
          </a:p>
          <a:p>
            <a:pPr marL="342900" indent="-342900">
              <a:buFont typeface="+mj-lt"/>
              <a:buAutoNum type="arabicParenR"/>
            </a:pPr>
            <a:endParaRPr lang="en-AU" sz="3200" dirty="0"/>
          </a:p>
          <a:p>
            <a:pPr marL="342900" indent="-342900">
              <a:buFont typeface="+mj-lt"/>
              <a:buAutoNum type="arabicParenR"/>
            </a:pPr>
            <a:r>
              <a:rPr lang="en-AU" sz="3200" dirty="0"/>
              <a:t> 3 + -9 =</a:t>
            </a:r>
          </a:p>
          <a:p>
            <a:pPr marL="342900" indent="-342900">
              <a:buFont typeface="+mj-lt"/>
              <a:buAutoNum type="arabicParenR"/>
            </a:pPr>
            <a:endParaRPr lang="en-AU" sz="3200" dirty="0"/>
          </a:p>
          <a:p>
            <a:pPr marL="342900" indent="-342900">
              <a:buFont typeface="+mj-lt"/>
              <a:buAutoNum type="arabicParenR"/>
            </a:pPr>
            <a:r>
              <a:rPr lang="en-AU" sz="3200" dirty="0"/>
              <a:t> 4 – (-9) =</a:t>
            </a:r>
          </a:p>
          <a:p>
            <a:pPr marL="342900" indent="-342900">
              <a:buFont typeface="+mj-lt"/>
              <a:buAutoNum type="arabicParenR"/>
            </a:pPr>
            <a:endParaRPr lang="en-AU" sz="3200" dirty="0"/>
          </a:p>
          <a:p>
            <a:pPr marL="342900" indent="-342900">
              <a:buFont typeface="+mj-lt"/>
              <a:buAutoNum type="arabicParenR"/>
            </a:pPr>
            <a:r>
              <a:rPr lang="en-AU" sz="3200" dirty="0"/>
              <a:t> -6 + (-5) =</a:t>
            </a:r>
          </a:p>
        </p:txBody>
      </p:sp>
    </p:spTree>
    <p:extLst>
      <p:ext uri="{BB962C8B-B14F-4D97-AF65-F5344CB8AC3E}">
        <p14:creationId xmlns:p14="http://schemas.microsoft.com/office/powerpoint/2010/main" val="163610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41A07C-9B3D-46A4-8328-9F223B6905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606"/>
          <a:stretch/>
        </p:blipFill>
        <p:spPr>
          <a:xfrm>
            <a:off x="510210" y="460599"/>
            <a:ext cx="3796748" cy="20175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3A1B63-1A81-4660-889F-FED53AAFA0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180"/>
          <a:stretch/>
        </p:blipFill>
        <p:spPr>
          <a:xfrm>
            <a:off x="510209" y="3738355"/>
            <a:ext cx="3916017" cy="206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78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51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57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Mini-Test 1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have we learnt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233D68-6155-4916-8989-3B335ADDD0E2}"/>
              </a:ext>
            </a:extLst>
          </p:cNvPr>
          <p:cNvSpPr txBox="1"/>
          <p:nvPr/>
        </p:nvSpPr>
        <p:spPr>
          <a:xfrm>
            <a:off x="0" y="1738377"/>
            <a:ext cx="18475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Index Notation</a:t>
            </a:r>
          </a:p>
        </p:txBody>
      </p:sp>
      <p:sp>
        <p:nvSpPr>
          <p:cNvPr id="21" name="CustomShape 11">
            <a:extLst>
              <a:ext uri="{FF2B5EF4-FFF2-40B4-BE49-F238E27FC236}">
                <a16:creationId xmlns:a16="http://schemas.microsoft.com/office/drawing/2014/main" id="{037351FD-F25D-435F-BEED-628DB74276F3}"/>
              </a:ext>
            </a:extLst>
          </p:cNvPr>
          <p:cNvSpPr/>
          <p:nvPr/>
        </p:nvSpPr>
        <p:spPr>
          <a:xfrm>
            <a:off x="3616880" y="2530080"/>
            <a:ext cx="4270320" cy="59004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CustomShape 12">
            <a:extLst>
              <a:ext uri="{FF2B5EF4-FFF2-40B4-BE49-F238E27FC236}">
                <a16:creationId xmlns:a16="http://schemas.microsoft.com/office/drawing/2014/main" id="{3CB298FB-460F-4447-9A4E-35F875699625}"/>
              </a:ext>
            </a:extLst>
          </p:cNvPr>
          <p:cNvSpPr/>
          <p:nvPr/>
        </p:nvSpPr>
        <p:spPr>
          <a:xfrm>
            <a:off x="3499880" y="2450520"/>
            <a:ext cx="243360" cy="256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" name="CustomShape 13">
            <a:extLst>
              <a:ext uri="{FF2B5EF4-FFF2-40B4-BE49-F238E27FC236}">
                <a16:creationId xmlns:a16="http://schemas.microsoft.com/office/drawing/2014/main" id="{C198292F-9B56-4C24-B5CA-673440330007}"/>
              </a:ext>
            </a:extLst>
          </p:cNvPr>
          <p:cNvSpPr/>
          <p:nvPr/>
        </p:nvSpPr>
        <p:spPr>
          <a:xfrm>
            <a:off x="4068000" y="2265840"/>
            <a:ext cx="360" cy="312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B050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" name="CustomShape 14">
            <a:extLst>
              <a:ext uri="{FF2B5EF4-FFF2-40B4-BE49-F238E27FC236}">
                <a16:creationId xmlns:a16="http://schemas.microsoft.com/office/drawing/2014/main" id="{3B91646E-157E-430B-AF69-94C3325A5F6C}"/>
              </a:ext>
            </a:extLst>
          </p:cNvPr>
          <p:cNvSpPr/>
          <p:nvPr/>
        </p:nvSpPr>
        <p:spPr>
          <a:xfrm>
            <a:off x="2879960" y="2015984"/>
            <a:ext cx="6199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Base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CustomShape 15">
            <a:extLst>
              <a:ext uri="{FF2B5EF4-FFF2-40B4-BE49-F238E27FC236}">
                <a16:creationId xmlns:a16="http://schemas.microsoft.com/office/drawing/2014/main" id="{22AF8614-51F8-48A5-AC2C-08181F8ECE2B}"/>
              </a:ext>
            </a:extLst>
          </p:cNvPr>
          <p:cNvSpPr/>
          <p:nvPr/>
        </p:nvSpPr>
        <p:spPr>
          <a:xfrm>
            <a:off x="3924469" y="1867551"/>
            <a:ext cx="26388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Index 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CustomShape 16">
            <a:extLst>
              <a:ext uri="{FF2B5EF4-FFF2-40B4-BE49-F238E27FC236}">
                <a16:creationId xmlns:a16="http://schemas.microsoft.com/office/drawing/2014/main" id="{22796379-DFE5-41EF-B0E4-A1084A753148}"/>
              </a:ext>
            </a:extLst>
          </p:cNvPr>
          <p:cNvSpPr/>
          <p:nvPr/>
        </p:nvSpPr>
        <p:spPr>
          <a:xfrm>
            <a:off x="3363049" y="2433713"/>
            <a:ext cx="1122840" cy="669600"/>
          </a:xfrm>
          <a:prstGeom prst="ellipse">
            <a:avLst/>
          </a:prstGeom>
          <a:noFill/>
          <a:ln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" name="CustomShape 18">
            <a:extLst>
              <a:ext uri="{FF2B5EF4-FFF2-40B4-BE49-F238E27FC236}">
                <a16:creationId xmlns:a16="http://schemas.microsoft.com/office/drawing/2014/main" id="{BD9C2E42-0B33-4DF6-A509-F98EC28551DA}"/>
              </a:ext>
            </a:extLst>
          </p:cNvPr>
          <p:cNvSpPr/>
          <p:nvPr/>
        </p:nvSpPr>
        <p:spPr>
          <a:xfrm>
            <a:off x="4665809" y="2509280"/>
            <a:ext cx="3314880" cy="669600"/>
          </a:xfrm>
          <a:prstGeom prst="ellipse">
            <a:avLst/>
          </a:prstGeom>
          <a:noFill/>
          <a:ln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" name="CustomShape 19">
            <a:extLst>
              <a:ext uri="{FF2B5EF4-FFF2-40B4-BE49-F238E27FC236}">
                <a16:creationId xmlns:a16="http://schemas.microsoft.com/office/drawing/2014/main" id="{07E4F167-1ECF-4E18-800E-68DC06292DFB}"/>
              </a:ext>
            </a:extLst>
          </p:cNvPr>
          <p:cNvSpPr/>
          <p:nvPr/>
        </p:nvSpPr>
        <p:spPr>
          <a:xfrm>
            <a:off x="5752040" y="1879315"/>
            <a:ext cx="2773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 dirty="0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Extended or expanded form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730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Shape 1">
                <a:extLst>
                  <a:ext uri="{FF2B5EF4-FFF2-40B4-BE49-F238E27FC236}">
                    <a16:creationId xmlns:a16="http://schemas.microsoft.com/office/drawing/2014/main" id="{B9E59BA4-DAE9-4890-AD89-0D0C32EF5A57}"/>
                  </a:ext>
                </a:extLst>
              </p:cNvPr>
              <p:cNvSpPr txBox="1"/>
              <p:nvPr/>
            </p:nvSpPr>
            <p:spPr>
              <a:xfrm>
                <a:off x="583986" y="589721"/>
                <a:ext cx="8427492" cy="5280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44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Write in expanded form</a:t>
                </a:r>
              </a:p>
              <a:p>
                <a:pPr algn="ctr">
                  <a:lnSpc>
                    <a:spcPct val="100000"/>
                  </a:lnSpc>
                </a:pPr>
                <a:endParaRPr lang="en-US" sz="4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44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sz="44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endParaRPr lang="en-AU" sz="44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sz="4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44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endParaRPr lang="en-US" sz="44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4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4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</a:p>
              <a:p>
                <a:pPr algn="ctr">
                  <a:lnSpc>
                    <a:spcPct val="100000"/>
                  </a:lnSpc>
                </a:pPr>
                <a:endParaRPr lang="en-US" sz="44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/>
                </a:endParaRPr>
              </a:p>
            </p:txBody>
          </p:sp>
        </mc:Choice>
        <mc:Fallback xmlns="">
          <p:sp>
            <p:nvSpPr>
              <p:cNvPr id="3" name="TextShape 1">
                <a:extLst>
                  <a:ext uri="{FF2B5EF4-FFF2-40B4-BE49-F238E27FC236}">
                    <a16:creationId xmlns:a16="http://schemas.microsoft.com/office/drawing/2014/main" id="{B9E59BA4-DAE9-4890-AD89-0D0C32EF5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6" y="589721"/>
                <a:ext cx="8427492" cy="5280991"/>
              </a:xfrm>
              <a:prstGeom prst="rect">
                <a:avLst/>
              </a:prstGeom>
              <a:blipFill>
                <a:blip r:embed="rId3"/>
                <a:stretch>
                  <a:fillRect t="-40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89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Shape 1">
            <a:extLst>
              <a:ext uri="{FF2B5EF4-FFF2-40B4-BE49-F238E27FC236}">
                <a16:creationId xmlns:a16="http://schemas.microsoft.com/office/drawing/2014/main" id="{B9E59BA4-DAE9-4890-AD89-0D0C32EF5A57}"/>
              </a:ext>
            </a:extLst>
          </p:cNvPr>
          <p:cNvSpPr txBox="1"/>
          <p:nvPr/>
        </p:nvSpPr>
        <p:spPr>
          <a:xfrm>
            <a:off x="764852" y="682486"/>
            <a:ext cx="8427492" cy="528099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Write in index notation form</a:t>
            </a:r>
          </a:p>
          <a:p>
            <a:pPr algn="ctr">
              <a:lnSpc>
                <a:spcPct val="100000"/>
              </a:lnSpc>
            </a:pPr>
            <a:endParaRPr lang="en-US" sz="4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AU" sz="4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 x 3 x 3 x 3 =</a:t>
            </a:r>
          </a:p>
          <a:p>
            <a:pPr>
              <a:lnSpc>
                <a:spcPct val="100000"/>
              </a:lnSpc>
            </a:pPr>
            <a:endParaRPr lang="en-AU" sz="4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4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 x 4 x 4 x 5 x 5 x 5 x 5 x 5 =</a:t>
            </a:r>
          </a:p>
          <a:p>
            <a:pPr>
              <a:lnSpc>
                <a:spcPct val="100000"/>
              </a:lnSpc>
            </a:pPr>
            <a:endParaRPr lang="en-US" sz="4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 x N x N x Y x Y x H x H = </a:t>
            </a:r>
          </a:p>
          <a:p>
            <a:pPr algn="ctr">
              <a:lnSpc>
                <a:spcPct val="100000"/>
              </a:lnSpc>
            </a:pPr>
            <a:endParaRPr lang="en-US" sz="4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115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57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Mini-Test 1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have we learnt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35F164A-3A81-4609-AC91-1EDE74B0FAEE}"/>
              </a:ext>
            </a:extLst>
          </p:cNvPr>
          <p:cNvSpPr txBox="1"/>
          <p:nvPr/>
        </p:nvSpPr>
        <p:spPr>
          <a:xfrm>
            <a:off x="-10530" y="1589506"/>
            <a:ext cx="185805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Index Law 1</a:t>
            </a:r>
          </a:p>
        </p:txBody>
      </p:sp>
      <p:sp>
        <p:nvSpPr>
          <p:cNvPr id="19" name="CustomShape 14">
            <a:extLst>
              <a:ext uri="{FF2B5EF4-FFF2-40B4-BE49-F238E27FC236}">
                <a16:creationId xmlns:a16="http://schemas.microsoft.com/office/drawing/2014/main" id="{A9CC25F8-C350-442F-9452-D2A425130DF4}"/>
              </a:ext>
            </a:extLst>
          </p:cNvPr>
          <p:cNvSpPr/>
          <p:nvPr/>
        </p:nvSpPr>
        <p:spPr>
          <a:xfrm>
            <a:off x="1988267" y="1435725"/>
            <a:ext cx="5538968" cy="11435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24AE08-ACF9-48F9-A404-B189915B5D93}"/>
              </a:ext>
            </a:extLst>
          </p:cNvPr>
          <p:cNvSpPr txBox="1"/>
          <p:nvPr/>
        </p:nvSpPr>
        <p:spPr>
          <a:xfrm>
            <a:off x="0" y="4232853"/>
            <a:ext cx="185805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Index Law 2</a:t>
            </a:r>
          </a:p>
        </p:txBody>
      </p:sp>
      <p:sp>
        <p:nvSpPr>
          <p:cNvPr id="23" name="CustomShape 17">
            <a:extLst>
              <a:ext uri="{FF2B5EF4-FFF2-40B4-BE49-F238E27FC236}">
                <a16:creationId xmlns:a16="http://schemas.microsoft.com/office/drawing/2014/main" id="{0E173C61-B003-4296-B67B-1C358A7F660A}"/>
              </a:ext>
            </a:extLst>
          </p:cNvPr>
          <p:cNvSpPr/>
          <p:nvPr/>
        </p:nvSpPr>
        <p:spPr>
          <a:xfrm>
            <a:off x="2019343" y="3614747"/>
            <a:ext cx="4861247" cy="2159286"/>
          </a:xfrm>
          <a:prstGeom prst="rect">
            <a:avLst/>
          </a:prstGeom>
          <a:blipFill>
            <a:blip r:embed="rId4"/>
            <a:stretch>
              <a:fillRect l="-4214" b="-6741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667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700B9F-F432-4F29-8539-6928BEEC5F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88" r="1"/>
          <a:stretch/>
        </p:blipFill>
        <p:spPr>
          <a:xfrm>
            <a:off x="0" y="1628452"/>
            <a:ext cx="12040263" cy="14815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78AA0-61DF-4239-BF15-72268A9DC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39" y="3257502"/>
            <a:ext cx="6633325" cy="33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57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Mini-Test 1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have we learnt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07A632-2823-4999-B726-02E56E75B92A}"/>
              </a:ext>
            </a:extLst>
          </p:cNvPr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Index Law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FCD3F6-6FF7-4FAC-8112-A631645F1D51}"/>
                  </a:ext>
                </a:extLst>
              </p:cNvPr>
              <p:cNvSpPr txBox="1"/>
              <p:nvPr/>
            </p:nvSpPr>
            <p:spPr>
              <a:xfrm>
                <a:off x="3861638" y="1434548"/>
                <a:ext cx="6695435" cy="1015663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sz="66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FCD3F6-6FF7-4FAC-8112-A631645F1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638" y="1434548"/>
                <a:ext cx="6695435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673248D-74F3-4D3D-B9E0-92DCB2DF3ABD}"/>
              </a:ext>
            </a:extLst>
          </p:cNvPr>
          <p:cNvSpPr txBox="1"/>
          <p:nvPr/>
        </p:nvSpPr>
        <p:spPr>
          <a:xfrm>
            <a:off x="0" y="4021367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Index Law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405A0-0B94-4DB0-8CDA-57801A582A76}"/>
                  </a:ext>
                </a:extLst>
              </p:cNvPr>
              <p:cNvSpPr txBox="1"/>
              <p:nvPr/>
            </p:nvSpPr>
            <p:spPr>
              <a:xfrm>
                <a:off x="4882056" y="3899958"/>
                <a:ext cx="3996900" cy="1015663"/>
              </a:xfrm>
              <a:prstGeom prst="rect">
                <a:avLst/>
              </a:prstGeom>
              <a:noFill/>
              <a:ln w="57150">
                <a:solidFill>
                  <a:srgbClr val="66FF33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66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405A0-0B94-4DB0-8CDA-57801A582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56" y="3899958"/>
                <a:ext cx="3996900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66FF33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59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60B97-B13E-4FF5-B139-C6B345AFD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703606"/>
            <a:ext cx="8023762" cy="25663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BA527B-20E3-4B63-B94B-3D2A59E9C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75" y="3910160"/>
            <a:ext cx="7173386" cy="206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21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6" name="TextShape 1">
            <a:extLst>
              <a:ext uri="{FF2B5EF4-FFF2-40B4-BE49-F238E27FC236}">
                <a16:creationId xmlns:a16="http://schemas.microsoft.com/office/drawing/2014/main" id="{6E1F9B23-1776-4F30-97AF-74684A8D876A}"/>
              </a:ext>
            </a:extLst>
          </p:cNvPr>
          <p:cNvSpPr txBox="1"/>
          <p:nvPr/>
        </p:nvSpPr>
        <p:spPr>
          <a:xfrm>
            <a:off x="976887" y="788504"/>
            <a:ext cx="8427492" cy="528099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AU" sz="4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Make a notes page</a:t>
            </a:r>
          </a:p>
          <a:p>
            <a:pPr algn="ctr">
              <a:lnSpc>
                <a:spcPct val="100000"/>
              </a:lnSpc>
            </a:pPr>
            <a:endParaRPr lang="en-AU" sz="4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AU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Only 1 side of a A4 page</a:t>
            </a:r>
          </a:p>
          <a:p>
            <a:pPr algn="ctr">
              <a:lnSpc>
                <a:spcPct val="100000"/>
              </a:lnSpc>
            </a:pPr>
            <a:endParaRPr lang="en-AU" sz="4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AU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Note: calculators will not be allowed during the test</a:t>
            </a:r>
            <a:endParaRPr lang="en-US" sz="4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algn="ctr">
              <a:lnSpc>
                <a:spcPct val="100000"/>
              </a:lnSpc>
            </a:pPr>
            <a:endParaRPr lang="en-US" sz="4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3001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370</Words>
  <Application>Microsoft Office PowerPoint</Application>
  <PresentationFormat>Widescreen</PresentationFormat>
  <Paragraphs>133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DejaVu Sans</vt:lpstr>
      <vt:lpstr>Kiwi School Handwriting</vt:lpstr>
      <vt:lpstr>Office Theme</vt:lpstr>
      <vt:lpstr>Mini-Test 1 Revision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Practice</vt:lpstr>
      <vt:lpstr>PowerPoint Presentation</vt:lpstr>
      <vt:lpstr>PowerPoint Presentation</vt:lpstr>
      <vt:lpstr>Practice</vt:lpstr>
      <vt:lpstr>Practice</vt:lpstr>
      <vt:lpstr>PowerPoint Presentation</vt:lpstr>
      <vt:lpstr>Task</vt:lpstr>
      <vt:lpstr>PowerPoint Presentation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Mini-Test 1 Revision</dc:title>
  <dc:creator>Nine Labuschagne</dc:creator>
  <cp:lastModifiedBy>Nine Labuschagne</cp:lastModifiedBy>
  <cp:revision>14</cp:revision>
  <dcterms:created xsi:type="dcterms:W3CDTF">2018-02-20T01:25:00Z</dcterms:created>
  <dcterms:modified xsi:type="dcterms:W3CDTF">2018-02-20T08:09:55Z</dcterms:modified>
</cp:coreProperties>
</file>
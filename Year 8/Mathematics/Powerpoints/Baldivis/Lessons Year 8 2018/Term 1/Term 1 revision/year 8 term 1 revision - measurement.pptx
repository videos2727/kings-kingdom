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7"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p:normalViewPr>
  <p:slideViewPr>
    <p:cSldViewPr snapToGrid="0">
      <p:cViewPr varScale="1">
        <p:scale>
          <a:sx n="82" d="100"/>
          <a:sy n="82" d="100"/>
        </p:scale>
        <p:origin x="99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7056"/>
            <a:ext cx="9144000" cy="5722056"/>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003779"/>
            <a:ext cx="5825202" cy="1371918"/>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375694"/>
            <a:ext cx="5825202" cy="914083"/>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05580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smtClean="0"/>
              <a:t>4/5/2018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554574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250723"/>
            <a:ext cx="6447501" cy="1522151"/>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772873"/>
            <a:ext cx="6447501" cy="7170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16335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800491"/>
            <a:ext cx="3138026" cy="323397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800491"/>
            <a:ext cx="3138026" cy="32339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smtClean="0"/>
              <a:t>4/5/2018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737776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800819"/>
            <a:ext cx="3139217" cy="480218"/>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506809" y="2281038"/>
            <a:ext cx="3139217" cy="275343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800819"/>
            <a:ext cx="3139214" cy="480218"/>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816288" y="2281038"/>
            <a:ext cx="3139213" cy="275343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4/5/2018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84824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508000"/>
            <a:ext cx="6447501" cy="11006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4/5/2018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0240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4/5/2018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8279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248837"/>
            <a:ext cx="2890896" cy="1065388"/>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429104"/>
            <a:ext cx="3385156" cy="460536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314224"/>
            <a:ext cx="2890896" cy="2153708"/>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4/5/2018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634453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000500"/>
            <a:ext cx="6447500" cy="472282"/>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508000"/>
            <a:ext cx="6447501" cy="3204765"/>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472782"/>
            <a:ext cx="6447500" cy="561687"/>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4/5/2018</a:t>
            </a:fld>
            <a:endParaRPr lang="en-US" dirty="0"/>
          </a:p>
        </p:txBody>
      </p:sp>
    </p:spTree>
    <p:extLst>
      <p:ext uri="{BB962C8B-B14F-4D97-AF65-F5344CB8AC3E}">
        <p14:creationId xmlns:p14="http://schemas.microsoft.com/office/powerpoint/2010/main" val="892669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508000"/>
            <a:ext cx="6447501" cy="2836333"/>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725333"/>
            <a:ext cx="6447501" cy="1309135"/>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07702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508000"/>
            <a:ext cx="6070601" cy="2518833"/>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3026833"/>
            <a:ext cx="5418393" cy="3175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Edit Master text styles</a:t>
            </a:r>
          </a:p>
        </p:txBody>
      </p:sp>
      <p:sp>
        <p:nvSpPr>
          <p:cNvPr id="3" name="Text Placeholder 2"/>
          <p:cNvSpPr>
            <a:spLocks noGrp="1"/>
          </p:cNvSpPr>
          <p:nvPr>
            <p:ph type="body" idx="1"/>
          </p:nvPr>
        </p:nvSpPr>
        <p:spPr>
          <a:xfrm>
            <a:off x="508001" y="3725333"/>
            <a:ext cx="6447501" cy="1309135"/>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406403" y="658649"/>
            <a:ext cx="457200" cy="487313"/>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405464"/>
            <a:ext cx="457200" cy="487313"/>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83945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609990"/>
            <a:ext cx="6447501" cy="2162883"/>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772873"/>
            <a:ext cx="6447501" cy="1261595"/>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635341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508000"/>
            <a:ext cx="6070601" cy="2518833"/>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344333"/>
            <a:ext cx="6447502" cy="428540"/>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Edit Master text styles</a:t>
            </a:r>
          </a:p>
        </p:txBody>
      </p:sp>
      <p:sp>
        <p:nvSpPr>
          <p:cNvPr id="3" name="Text Placeholder 2"/>
          <p:cNvSpPr>
            <a:spLocks noGrp="1"/>
          </p:cNvSpPr>
          <p:nvPr>
            <p:ph type="body" idx="1"/>
          </p:nvPr>
        </p:nvSpPr>
        <p:spPr>
          <a:xfrm>
            <a:off x="508001" y="3772873"/>
            <a:ext cx="6447501" cy="1261595"/>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406403" y="658649"/>
            <a:ext cx="457200" cy="487313"/>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405464"/>
            <a:ext cx="457200" cy="487313"/>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05901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508000"/>
            <a:ext cx="6441152" cy="2518833"/>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344333"/>
            <a:ext cx="6447502" cy="42854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Edit Master text styles</a:t>
            </a:r>
          </a:p>
        </p:txBody>
      </p:sp>
      <p:sp>
        <p:nvSpPr>
          <p:cNvPr id="3" name="Text Placeholder 2"/>
          <p:cNvSpPr>
            <a:spLocks noGrp="1"/>
          </p:cNvSpPr>
          <p:nvPr>
            <p:ph type="body" idx="1"/>
          </p:nvPr>
        </p:nvSpPr>
        <p:spPr>
          <a:xfrm>
            <a:off x="508001" y="3772873"/>
            <a:ext cx="6447501" cy="1261595"/>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17423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4/5/2018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909261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508000"/>
            <a:ext cx="978557" cy="4376209"/>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508000"/>
            <a:ext cx="5295113" cy="437620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99609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7056"/>
            <a:ext cx="9144000" cy="5722056"/>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508000"/>
            <a:ext cx="6447501" cy="110066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800491"/>
            <a:ext cx="6447501" cy="323397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5034469"/>
            <a:ext cx="683954" cy="304271"/>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smtClean="0"/>
              <a:pPr/>
              <a:t>4/5/2018</a:t>
            </a:fld>
            <a:endParaRPr lang="en-US" dirty="0"/>
          </a:p>
        </p:txBody>
      </p:sp>
      <p:sp>
        <p:nvSpPr>
          <p:cNvPr id="5" name="Footer Placeholder 4"/>
          <p:cNvSpPr>
            <a:spLocks noGrp="1"/>
          </p:cNvSpPr>
          <p:nvPr>
            <p:ph type="ftr" sz="quarter" idx="3"/>
          </p:nvPr>
        </p:nvSpPr>
        <p:spPr>
          <a:xfrm>
            <a:off x="508001" y="5034469"/>
            <a:ext cx="4723209" cy="304271"/>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5034469"/>
            <a:ext cx="512504" cy="304271"/>
          </a:xfrm>
          <a:prstGeom prst="rect">
            <a:avLst/>
          </a:prstGeom>
        </p:spPr>
        <p:txBody>
          <a:bodyPr vert="horz" lIns="91440" tIns="45720" rIns="91440" bIns="45720" rtlCol="0" anchor="ctr"/>
          <a:lstStyle>
            <a:lvl1pPr algn="r">
              <a:defRPr sz="675">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06940394"/>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EA12D-CCA0-4E03-B816-CC9040AC7F57}"/>
              </a:ext>
            </a:extLst>
          </p:cNvPr>
          <p:cNvSpPr>
            <a:spLocks noGrp="1"/>
          </p:cNvSpPr>
          <p:nvPr>
            <p:ph type="ctrTitle"/>
          </p:nvPr>
        </p:nvSpPr>
        <p:spPr>
          <a:xfrm>
            <a:off x="0" y="3228404"/>
            <a:ext cx="6916615" cy="786313"/>
          </a:xfrm>
        </p:spPr>
        <p:txBody>
          <a:bodyPr/>
          <a:lstStyle/>
          <a:p>
            <a:r>
              <a:rPr lang="en-AU" dirty="0"/>
              <a:t>Topic: Year 8 Measurement revision</a:t>
            </a:r>
            <a:br>
              <a:rPr lang="en-AU" dirty="0"/>
            </a:br>
            <a:br>
              <a:rPr lang="en-AU" dirty="0"/>
            </a:br>
            <a:r>
              <a:rPr lang="en-AU" dirty="0"/>
              <a:t>EQ: What have we learnt about shapes? </a:t>
            </a:r>
          </a:p>
        </p:txBody>
      </p:sp>
    </p:spTree>
    <p:extLst>
      <p:ext uri="{BB962C8B-B14F-4D97-AF65-F5344CB8AC3E}">
        <p14:creationId xmlns:p14="http://schemas.microsoft.com/office/powerpoint/2010/main" val="3026721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04A359-6C39-43EC-8E74-2F5CB7CC430A}"/>
              </a:ext>
            </a:extLst>
          </p:cNvPr>
          <p:cNvPicPr>
            <a:picLocks noChangeAspect="1"/>
          </p:cNvPicPr>
          <p:nvPr/>
        </p:nvPicPr>
        <p:blipFill>
          <a:blip r:embed="rId2"/>
          <a:stretch>
            <a:fillRect/>
          </a:stretch>
        </p:blipFill>
        <p:spPr>
          <a:xfrm>
            <a:off x="226647" y="483252"/>
            <a:ext cx="8815754" cy="2621621"/>
          </a:xfrm>
          <a:prstGeom prst="rect">
            <a:avLst/>
          </a:prstGeom>
        </p:spPr>
      </p:pic>
    </p:spTree>
    <p:extLst>
      <p:ext uri="{BB962C8B-B14F-4D97-AF65-F5344CB8AC3E}">
        <p14:creationId xmlns:p14="http://schemas.microsoft.com/office/powerpoint/2010/main" val="1836479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5F641-1F9C-470D-A02A-76445CAA4358}"/>
              </a:ext>
            </a:extLst>
          </p:cNvPr>
          <p:cNvSpPr>
            <a:spLocks noGrp="1"/>
          </p:cNvSpPr>
          <p:nvPr>
            <p:ph type="title"/>
          </p:nvPr>
        </p:nvSpPr>
        <p:spPr>
          <a:xfrm>
            <a:off x="250093" y="285262"/>
            <a:ext cx="7240953" cy="4790830"/>
          </a:xfrm>
        </p:spPr>
        <p:txBody>
          <a:bodyPr>
            <a:noAutofit/>
          </a:bodyPr>
          <a:lstStyle/>
          <a:p>
            <a:r>
              <a:rPr lang="en-AU" sz="2000" u="sng" dirty="0"/>
              <a:t>Perimeter:</a:t>
            </a:r>
            <a:br>
              <a:rPr lang="en-AU" sz="2000" dirty="0"/>
            </a:br>
            <a:r>
              <a:rPr lang="en-AU" sz="2000" dirty="0"/>
              <a:t>The length of a line needed to draw a shape.</a:t>
            </a:r>
            <a:br>
              <a:rPr lang="en-AU" sz="2000" dirty="0"/>
            </a:br>
            <a:br>
              <a:rPr lang="en-AU" sz="2000" dirty="0"/>
            </a:br>
            <a:r>
              <a:rPr lang="en-AU" sz="2000" u="sng" dirty="0"/>
              <a:t>To find the perimeter:</a:t>
            </a:r>
            <a:br>
              <a:rPr lang="en-AU" sz="2000" dirty="0"/>
            </a:br>
            <a:r>
              <a:rPr lang="en-AU" sz="2000" dirty="0"/>
              <a:t>1. Convert all lengths to the same units (</a:t>
            </a:r>
            <a:r>
              <a:rPr lang="en-AU" sz="2000" dirty="0" err="1"/>
              <a:t>eg</a:t>
            </a:r>
            <a:r>
              <a:rPr lang="en-AU" sz="2000" dirty="0"/>
              <a:t> mm, cm, m)</a:t>
            </a:r>
            <a:br>
              <a:rPr lang="en-AU" sz="2000" dirty="0"/>
            </a:br>
            <a:r>
              <a:rPr lang="en-AU" sz="2000" dirty="0"/>
              <a:t>2. Find any missing sides</a:t>
            </a:r>
            <a:br>
              <a:rPr lang="en-AU" sz="2000" dirty="0"/>
            </a:br>
            <a:r>
              <a:rPr lang="en-AU" sz="2000" dirty="0"/>
              <a:t>3. ADD all the sides together</a:t>
            </a:r>
            <a:br>
              <a:rPr lang="en-AU" sz="2000" dirty="0"/>
            </a:br>
            <a:r>
              <a:rPr lang="en-AU" sz="2000" dirty="0"/>
              <a:t>4. Answer should be in ordinary units (mm, cm, m km)</a:t>
            </a:r>
            <a:br>
              <a:rPr lang="en-AU" sz="2000" dirty="0"/>
            </a:br>
            <a:r>
              <a:rPr lang="en-AU" sz="2000" dirty="0"/>
              <a:t> </a:t>
            </a:r>
            <a:br>
              <a:rPr lang="en-AU" sz="2000" dirty="0"/>
            </a:br>
            <a:br>
              <a:rPr lang="en-AU" sz="2000" dirty="0"/>
            </a:br>
            <a:r>
              <a:rPr lang="en-AU" sz="2000" u="sng" dirty="0"/>
              <a:t>common errors are; </a:t>
            </a:r>
            <a:br>
              <a:rPr lang="en-AU" sz="2000" dirty="0"/>
            </a:br>
            <a:r>
              <a:rPr lang="en-AU" sz="2000" dirty="0"/>
              <a:t>	1. adding units of different types </a:t>
            </a:r>
            <a:br>
              <a:rPr lang="en-AU" sz="2000" dirty="0"/>
            </a:br>
            <a:r>
              <a:rPr lang="en-AU" sz="2000" dirty="0"/>
              <a:t>				(</a:t>
            </a:r>
            <a:r>
              <a:rPr lang="en-AU" sz="2000" dirty="0" err="1"/>
              <a:t>eg</a:t>
            </a:r>
            <a:r>
              <a:rPr lang="en-AU" sz="2000" dirty="0"/>
              <a:t> 4cm + 5mm does not = 9)</a:t>
            </a:r>
            <a:br>
              <a:rPr lang="en-AU" sz="2000" dirty="0"/>
            </a:br>
            <a:r>
              <a:rPr lang="en-AU" sz="2000" dirty="0"/>
              <a:t>	2. Not finding missing sides</a:t>
            </a:r>
            <a:br>
              <a:rPr lang="en-AU" sz="2000" dirty="0"/>
            </a:br>
            <a:endParaRPr lang="en-AU" sz="2000" dirty="0"/>
          </a:p>
        </p:txBody>
      </p:sp>
    </p:spTree>
    <p:extLst>
      <p:ext uri="{BB962C8B-B14F-4D97-AF65-F5344CB8AC3E}">
        <p14:creationId xmlns:p14="http://schemas.microsoft.com/office/powerpoint/2010/main" val="2014339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D3A813-70FC-4972-8D31-FD57C00A8882}"/>
              </a:ext>
            </a:extLst>
          </p:cNvPr>
          <p:cNvPicPr>
            <a:picLocks noChangeAspect="1"/>
          </p:cNvPicPr>
          <p:nvPr/>
        </p:nvPicPr>
        <p:blipFill>
          <a:blip r:embed="rId2"/>
          <a:stretch>
            <a:fillRect/>
          </a:stretch>
        </p:blipFill>
        <p:spPr>
          <a:xfrm>
            <a:off x="485774" y="2402864"/>
            <a:ext cx="5124450" cy="2105025"/>
          </a:xfrm>
          <a:prstGeom prst="rect">
            <a:avLst/>
          </a:prstGeom>
        </p:spPr>
      </p:pic>
      <p:pic>
        <p:nvPicPr>
          <p:cNvPr id="5" name="Picture 4">
            <a:extLst>
              <a:ext uri="{FF2B5EF4-FFF2-40B4-BE49-F238E27FC236}">
                <a16:creationId xmlns:a16="http://schemas.microsoft.com/office/drawing/2014/main" id="{A12F0B46-915C-4C59-8FBD-38D71066FAAE}"/>
              </a:ext>
            </a:extLst>
          </p:cNvPr>
          <p:cNvPicPr>
            <a:picLocks noChangeAspect="1"/>
          </p:cNvPicPr>
          <p:nvPr/>
        </p:nvPicPr>
        <p:blipFill>
          <a:blip r:embed="rId3"/>
          <a:stretch>
            <a:fillRect/>
          </a:stretch>
        </p:blipFill>
        <p:spPr>
          <a:xfrm>
            <a:off x="5773615" y="492735"/>
            <a:ext cx="3276600" cy="4000500"/>
          </a:xfrm>
          <a:prstGeom prst="rect">
            <a:avLst/>
          </a:prstGeom>
        </p:spPr>
      </p:pic>
      <p:pic>
        <p:nvPicPr>
          <p:cNvPr id="3" name="Picture 2">
            <a:extLst>
              <a:ext uri="{FF2B5EF4-FFF2-40B4-BE49-F238E27FC236}">
                <a16:creationId xmlns:a16="http://schemas.microsoft.com/office/drawing/2014/main" id="{818A2569-0412-4816-9F00-2BC59F5F91F2}"/>
              </a:ext>
            </a:extLst>
          </p:cNvPr>
          <p:cNvPicPr>
            <a:picLocks noChangeAspect="1"/>
          </p:cNvPicPr>
          <p:nvPr/>
        </p:nvPicPr>
        <p:blipFill>
          <a:blip r:embed="rId4"/>
          <a:stretch>
            <a:fillRect/>
          </a:stretch>
        </p:blipFill>
        <p:spPr>
          <a:xfrm>
            <a:off x="161924" y="103676"/>
            <a:ext cx="5772150" cy="1990725"/>
          </a:xfrm>
          <a:prstGeom prst="rect">
            <a:avLst/>
          </a:prstGeom>
        </p:spPr>
      </p:pic>
    </p:spTree>
    <p:extLst>
      <p:ext uri="{BB962C8B-B14F-4D97-AF65-F5344CB8AC3E}">
        <p14:creationId xmlns:p14="http://schemas.microsoft.com/office/powerpoint/2010/main" val="1360499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9CB9-3DEB-4660-8E88-FFD65273073C}"/>
              </a:ext>
            </a:extLst>
          </p:cNvPr>
          <p:cNvSpPr>
            <a:spLocks noGrp="1"/>
          </p:cNvSpPr>
          <p:nvPr>
            <p:ph type="title"/>
          </p:nvPr>
        </p:nvSpPr>
        <p:spPr>
          <a:xfrm>
            <a:off x="273539" y="203200"/>
            <a:ext cx="8002953" cy="1100667"/>
          </a:xfrm>
        </p:spPr>
        <p:txBody>
          <a:bodyPr>
            <a:noAutofit/>
          </a:bodyPr>
          <a:lstStyle/>
          <a:p>
            <a:r>
              <a:rPr lang="en-AU" sz="2000" u="sng" dirty="0"/>
              <a:t>Area:</a:t>
            </a:r>
            <a:br>
              <a:rPr lang="en-AU" sz="2000" dirty="0"/>
            </a:br>
            <a:r>
              <a:rPr lang="en-AU" sz="2000" dirty="0"/>
              <a:t>The amount of space (number of squares) that are in a flat shape.</a:t>
            </a:r>
            <a:br>
              <a:rPr lang="en-AU" sz="2000" dirty="0"/>
            </a:br>
            <a:br>
              <a:rPr lang="en-AU" sz="2000" dirty="0"/>
            </a:br>
            <a:r>
              <a:rPr lang="en-AU" sz="2000" u="sng" dirty="0"/>
              <a:t>How do we calculate it?</a:t>
            </a:r>
            <a:br>
              <a:rPr lang="en-AU" sz="2000" dirty="0"/>
            </a:br>
            <a:r>
              <a:rPr lang="en-AU" sz="2000" dirty="0"/>
              <a:t>1. identify the shape.</a:t>
            </a:r>
            <a:br>
              <a:rPr lang="en-AU" sz="2000" dirty="0"/>
            </a:br>
            <a:r>
              <a:rPr lang="en-AU" sz="2000" dirty="0"/>
              <a:t>2. select the right formula</a:t>
            </a:r>
            <a:br>
              <a:rPr lang="en-AU" sz="2000" dirty="0"/>
            </a:br>
            <a:r>
              <a:rPr lang="en-AU" sz="2000" dirty="0"/>
              <a:t>3. units are the same (</a:t>
            </a:r>
            <a:r>
              <a:rPr lang="en-AU" sz="2000" dirty="0" err="1"/>
              <a:t>eg</a:t>
            </a:r>
            <a:r>
              <a:rPr lang="en-AU" sz="2000" dirty="0"/>
              <a:t> all mm or all cm</a:t>
            </a:r>
            <a:br>
              <a:rPr lang="en-AU" sz="2000" dirty="0"/>
            </a:br>
            <a:r>
              <a:rPr lang="en-AU" sz="2000" dirty="0"/>
              <a:t>3. put the numbers into the formula and calculate</a:t>
            </a:r>
            <a:br>
              <a:rPr lang="en-AU" sz="2000" dirty="0"/>
            </a:br>
            <a:r>
              <a:rPr lang="en-AU" sz="2000" dirty="0"/>
              <a:t>4. units are “squares” – </a:t>
            </a:r>
            <a:r>
              <a:rPr lang="en-AU" sz="2000" dirty="0" err="1"/>
              <a:t>eg</a:t>
            </a:r>
            <a:r>
              <a:rPr lang="en-AU" sz="2000" dirty="0"/>
              <a:t> mm</a:t>
            </a:r>
            <a:r>
              <a:rPr lang="en-AU" sz="2000" baseline="30000" dirty="0"/>
              <a:t>2</a:t>
            </a:r>
            <a:r>
              <a:rPr lang="en-AU" sz="2000" dirty="0"/>
              <a:t>, cm</a:t>
            </a:r>
            <a:r>
              <a:rPr lang="en-AU" sz="2000" baseline="30000" dirty="0"/>
              <a:t>2</a:t>
            </a:r>
            <a:r>
              <a:rPr lang="en-AU" sz="2000" dirty="0"/>
              <a:t>, m</a:t>
            </a:r>
            <a:r>
              <a:rPr lang="en-AU" sz="2000" baseline="30000" dirty="0"/>
              <a:t>2</a:t>
            </a:r>
            <a:r>
              <a:rPr lang="en-AU" sz="2000" dirty="0"/>
              <a:t>, km</a:t>
            </a:r>
            <a:r>
              <a:rPr lang="en-AU" sz="2000" baseline="30000" dirty="0"/>
              <a:t>2</a:t>
            </a:r>
            <a:br>
              <a:rPr lang="en-AU" sz="2000" dirty="0"/>
            </a:br>
            <a:br>
              <a:rPr lang="en-AU" sz="2000" dirty="0"/>
            </a:br>
            <a:r>
              <a:rPr lang="en-AU" sz="2000" u="sng" dirty="0"/>
              <a:t>Common errors.</a:t>
            </a:r>
            <a:br>
              <a:rPr lang="en-AU" sz="2000" dirty="0"/>
            </a:br>
            <a:r>
              <a:rPr lang="en-AU" sz="2000" dirty="0"/>
              <a:t>Using the wrong formula.</a:t>
            </a:r>
            <a:br>
              <a:rPr lang="en-AU" sz="2000" dirty="0"/>
            </a:br>
            <a:r>
              <a:rPr lang="en-AU" sz="2000" dirty="0"/>
              <a:t>Multiplying every number on the page together (not using a formula)</a:t>
            </a:r>
            <a:br>
              <a:rPr lang="en-AU" sz="2000" dirty="0"/>
            </a:br>
            <a:r>
              <a:rPr lang="en-AU" sz="2000" dirty="0"/>
              <a:t>wrong units</a:t>
            </a:r>
            <a:br>
              <a:rPr lang="en-AU" sz="2000" dirty="0"/>
            </a:br>
            <a:endParaRPr lang="en-AU" sz="2000" dirty="0"/>
          </a:p>
        </p:txBody>
      </p:sp>
    </p:spTree>
    <p:extLst>
      <p:ext uri="{BB962C8B-B14F-4D97-AF65-F5344CB8AC3E}">
        <p14:creationId xmlns:p14="http://schemas.microsoft.com/office/powerpoint/2010/main" val="1528729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5DE60-EF54-4752-8506-2D5F902CA548}"/>
              </a:ext>
            </a:extLst>
          </p:cNvPr>
          <p:cNvSpPr>
            <a:spLocks noGrp="1"/>
          </p:cNvSpPr>
          <p:nvPr>
            <p:ph type="title"/>
          </p:nvPr>
        </p:nvSpPr>
        <p:spPr/>
        <p:txBody>
          <a:bodyPr/>
          <a:lstStyle/>
          <a:p>
            <a:endParaRPr lang="en-AU"/>
          </a:p>
        </p:txBody>
      </p:sp>
      <p:pic>
        <p:nvPicPr>
          <p:cNvPr id="3" name="Picture 2">
            <a:extLst>
              <a:ext uri="{FF2B5EF4-FFF2-40B4-BE49-F238E27FC236}">
                <a16:creationId xmlns:a16="http://schemas.microsoft.com/office/drawing/2014/main" id="{180F59D6-5A92-4ED3-9209-4C6068EC9536}"/>
              </a:ext>
            </a:extLst>
          </p:cNvPr>
          <p:cNvPicPr>
            <a:picLocks noChangeAspect="1"/>
          </p:cNvPicPr>
          <p:nvPr/>
        </p:nvPicPr>
        <p:blipFill>
          <a:blip r:embed="rId2"/>
          <a:stretch>
            <a:fillRect/>
          </a:stretch>
        </p:blipFill>
        <p:spPr>
          <a:xfrm>
            <a:off x="271096" y="216876"/>
            <a:ext cx="6684406" cy="1988182"/>
          </a:xfrm>
          <a:prstGeom prst="rect">
            <a:avLst/>
          </a:prstGeom>
        </p:spPr>
      </p:pic>
      <p:pic>
        <p:nvPicPr>
          <p:cNvPr id="4" name="Picture 3">
            <a:extLst>
              <a:ext uri="{FF2B5EF4-FFF2-40B4-BE49-F238E27FC236}">
                <a16:creationId xmlns:a16="http://schemas.microsoft.com/office/drawing/2014/main" id="{02D506BE-3F14-4603-86A5-1F07F2CAECB1}"/>
              </a:ext>
            </a:extLst>
          </p:cNvPr>
          <p:cNvPicPr>
            <a:picLocks noChangeAspect="1"/>
          </p:cNvPicPr>
          <p:nvPr/>
        </p:nvPicPr>
        <p:blipFill>
          <a:blip r:embed="rId3"/>
          <a:stretch>
            <a:fillRect/>
          </a:stretch>
        </p:blipFill>
        <p:spPr>
          <a:xfrm>
            <a:off x="153866" y="2205059"/>
            <a:ext cx="6705046" cy="2038696"/>
          </a:xfrm>
          <a:prstGeom prst="rect">
            <a:avLst/>
          </a:prstGeom>
        </p:spPr>
      </p:pic>
      <p:pic>
        <p:nvPicPr>
          <p:cNvPr id="5" name="Picture 4">
            <a:extLst>
              <a:ext uri="{FF2B5EF4-FFF2-40B4-BE49-F238E27FC236}">
                <a16:creationId xmlns:a16="http://schemas.microsoft.com/office/drawing/2014/main" id="{B1306206-2059-4614-BF66-880575D9793E}"/>
              </a:ext>
            </a:extLst>
          </p:cNvPr>
          <p:cNvPicPr>
            <a:picLocks noChangeAspect="1"/>
          </p:cNvPicPr>
          <p:nvPr/>
        </p:nvPicPr>
        <p:blipFill>
          <a:blip r:embed="rId4"/>
          <a:stretch>
            <a:fillRect/>
          </a:stretch>
        </p:blipFill>
        <p:spPr>
          <a:xfrm>
            <a:off x="6955502" y="601785"/>
            <a:ext cx="1889613" cy="1398144"/>
          </a:xfrm>
          <a:prstGeom prst="rect">
            <a:avLst/>
          </a:prstGeom>
        </p:spPr>
      </p:pic>
      <p:pic>
        <p:nvPicPr>
          <p:cNvPr id="6" name="Picture 5">
            <a:extLst>
              <a:ext uri="{FF2B5EF4-FFF2-40B4-BE49-F238E27FC236}">
                <a16:creationId xmlns:a16="http://schemas.microsoft.com/office/drawing/2014/main" id="{B65F951E-458C-49DD-89A4-B96282E091C0}"/>
              </a:ext>
            </a:extLst>
          </p:cNvPr>
          <p:cNvPicPr>
            <a:picLocks noChangeAspect="1"/>
          </p:cNvPicPr>
          <p:nvPr/>
        </p:nvPicPr>
        <p:blipFill>
          <a:blip r:embed="rId5"/>
          <a:stretch>
            <a:fillRect/>
          </a:stretch>
        </p:blipFill>
        <p:spPr>
          <a:xfrm>
            <a:off x="2030014" y="4429125"/>
            <a:ext cx="2952750" cy="1285875"/>
          </a:xfrm>
          <a:prstGeom prst="rect">
            <a:avLst/>
          </a:prstGeom>
        </p:spPr>
      </p:pic>
      <p:pic>
        <p:nvPicPr>
          <p:cNvPr id="7" name="Picture 6">
            <a:extLst>
              <a:ext uri="{FF2B5EF4-FFF2-40B4-BE49-F238E27FC236}">
                <a16:creationId xmlns:a16="http://schemas.microsoft.com/office/drawing/2014/main" id="{40B38639-1740-4DD6-9F5F-EDC76FE64E94}"/>
              </a:ext>
            </a:extLst>
          </p:cNvPr>
          <p:cNvPicPr>
            <a:picLocks noChangeAspect="1"/>
          </p:cNvPicPr>
          <p:nvPr/>
        </p:nvPicPr>
        <p:blipFill>
          <a:blip r:embed="rId6"/>
          <a:stretch>
            <a:fillRect/>
          </a:stretch>
        </p:blipFill>
        <p:spPr>
          <a:xfrm>
            <a:off x="6992382" y="601785"/>
            <a:ext cx="200025" cy="257175"/>
          </a:xfrm>
          <a:prstGeom prst="rect">
            <a:avLst/>
          </a:prstGeom>
        </p:spPr>
      </p:pic>
      <p:pic>
        <p:nvPicPr>
          <p:cNvPr id="8" name="Picture 7">
            <a:extLst>
              <a:ext uri="{FF2B5EF4-FFF2-40B4-BE49-F238E27FC236}">
                <a16:creationId xmlns:a16="http://schemas.microsoft.com/office/drawing/2014/main" id="{1DF93CB2-9A66-4E9E-A07E-BF175BFC7215}"/>
              </a:ext>
            </a:extLst>
          </p:cNvPr>
          <p:cNvPicPr>
            <a:picLocks noChangeAspect="1"/>
          </p:cNvPicPr>
          <p:nvPr/>
        </p:nvPicPr>
        <p:blipFill>
          <a:blip r:embed="rId6"/>
          <a:stretch>
            <a:fillRect/>
          </a:stretch>
        </p:blipFill>
        <p:spPr>
          <a:xfrm>
            <a:off x="1930001" y="4429125"/>
            <a:ext cx="200025" cy="257175"/>
          </a:xfrm>
          <a:prstGeom prst="rect">
            <a:avLst/>
          </a:prstGeom>
        </p:spPr>
      </p:pic>
    </p:spTree>
    <p:extLst>
      <p:ext uri="{BB962C8B-B14F-4D97-AF65-F5344CB8AC3E}">
        <p14:creationId xmlns:p14="http://schemas.microsoft.com/office/powerpoint/2010/main" val="2615502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5CC89-413C-4142-BD8E-7302DFA914C6}"/>
              </a:ext>
            </a:extLst>
          </p:cNvPr>
          <p:cNvSpPr>
            <a:spLocks noGrp="1"/>
          </p:cNvSpPr>
          <p:nvPr>
            <p:ph type="title"/>
          </p:nvPr>
        </p:nvSpPr>
        <p:spPr/>
        <p:txBody>
          <a:bodyPr/>
          <a:lstStyle/>
          <a:p>
            <a:r>
              <a:rPr lang="en-AU" dirty="0"/>
              <a:t>Special quadrilateral formulas</a:t>
            </a:r>
          </a:p>
        </p:txBody>
      </p:sp>
      <p:pic>
        <p:nvPicPr>
          <p:cNvPr id="4" name="Picture 3">
            <a:extLst>
              <a:ext uri="{FF2B5EF4-FFF2-40B4-BE49-F238E27FC236}">
                <a16:creationId xmlns:a16="http://schemas.microsoft.com/office/drawing/2014/main" id="{42D0B747-DBFE-4173-B640-4A076E93C0FB}"/>
              </a:ext>
            </a:extLst>
          </p:cNvPr>
          <p:cNvPicPr>
            <a:picLocks noChangeAspect="1"/>
          </p:cNvPicPr>
          <p:nvPr/>
        </p:nvPicPr>
        <p:blipFill>
          <a:blip r:embed="rId2"/>
          <a:stretch>
            <a:fillRect/>
          </a:stretch>
        </p:blipFill>
        <p:spPr>
          <a:xfrm>
            <a:off x="251314" y="1576103"/>
            <a:ext cx="8470614" cy="3862387"/>
          </a:xfrm>
          <a:prstGeom prst="rect">
            <a:avLst/>
          </a:prstGeom>
        </p:spPr>
      </p:pic>
    </p:spTree>
    <p:extLst>
      <p:ext uri="{BB962C8B-B14F-4D97-AF65-F5344CB8AC3E}">
        <p14:creationId xmlns:p14="http://schemas.microsoft.com/office/powerpoint/2010/main" val="1094242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E1EBD4-9127-47D8-8513-9D06CE62C63E}"/>
              </a:ext>
            </a:extLst>
          </p:cNvPr>
          <p:cNvPicPr>
            <a:picLocks noChangeAspect="1"/>
          </p:cNvPicPr>
          <p:nvPr/>
        </p:nvPicPr>
        <p:blipFill>
          <a:blip r:embed="rId2"/>
          <a:stretch>
            <a:fillRect/>
          </a:stretch>
        </p:blipFill>
        <p:spPr>
          <a:xfrm>
            <a:off x="960194" y="147637"/>
            <a:ext cx="5629275" cy="1457325"/>
          </a:xfrm>
          <a:prstGeom prst="rect">
            <a:avLst/>
          </a:prstGeom>
        </p:spPr>
      </p:pic>
      <p:pic>
        <p:nvPicPr>
          <p:cNvPr id="4" name="Picture 3">
            <a:extLst>
              <a:ext uri="{FF2B5EF4-FFF2-40B4-BE49-F238E27FC236}">
                <a16:creationId xmlns:a16="http://schemas.microsoft.com/office/drawing/2014/main" id="{06EA0199-59E5-4DFC-86FD-D0B83251D8FB}"/>
              </a:ext>
            </a:extLst>
          </p:cNvPr>
          <p:cNvPicPr>
            <a:picLocks noChangeAspect="1"/>
          </p:cNvPicPr>
          <p:nvPr/>
        </p:nvPicPr>
        <p:blipFill>
          <a:blip r:embed="rId3"/>
          <a:stretch>
            <a:fillRect/>
          </a:stretch>
        </p:blipFill>
        <p:spPr>
          <a:xfrm>
            <a:off x="538163" y="1797825"/>
            <a:ext cx="2695575" cy="1571625"/>
          </a:xfrm>
          <a:prstGeom prst="rect">
            <a:avLst/>
          </a:prstGeom>
        </p:spPr>
      </p:pic>
      <p:pic>
        <p:nvPicPr>
          <p:cNvPr id="5" name="Picture 4">
            <a:extLst>
              <a:ext uri="{FF2B5EF4-FFF2-40B4-BE49-F238E27FC236}">
                <a16:creationId xmlns:a16="http://schemas.microsoft.com/office/drawing/2014/main" id="{F2D52A6F-762B-427B-BAA1-447E50B224B4}"/>
              </a:ext>
            </a:extLst>
          </p:cNvPr>
          <p:cNvPicPr>
            <a:picLocks noChangeAspect="1"/>
          </p:cNvPicPr>
          <p:nvPr/>
        </p:nvPicPr>
        <p:blipFill>
          <a:blip r:embed="rId4"/>
          <a:stretch>
            <a:fillRect/>
          </a:stretch>
        </p:blipFill>
        <p:spPr>
          <a:xfrm>
            <a:off x="4741984" y="1604962"/>
            <a:ext cx="2124075" cy="1764488"/>
          </a:xfrm>
          <a:prstGeom prst="rect">
            <a:avLst/>
          </a:prstGeom>
        </p:spPr>
      </p:pic>
      <p:pic>
        <p:nvPicPr>
          <p:cNvPr id="6" name="Picture 5">
            <a:extLst>
              <a:ext uri="{FF2B5EF4-FFF2-40B4-BE49-F238E27FC236}">
                <a16:creationId xmlns:a16="http://schemas.microsoft.com/office/drawing/2014/main" id="{1A983D8E-FF36-447A-BC24-4127E0D63A5D}"/>
              </a:ext>
            </a:extLst>
          </p:cNvPr>
          <p:cNvPicPr>
            <a:picLocks noChangeAspect="1"/>
          </p:cNvPicPr>
          <p:nvPr/>
        </p:nvPicPr>
        <p:blipFill>
          <a:blip r:embed="rId5"/>
          <a:stretch>
            <a:fillRect/>
          </a:stretch>
        </p:blipFill>
        <p:spPr>
          <a:xfrm>
            <a:off x="174747" y="3738562"/>
            <a:ext cx="8439150" cy="1790700"/>
          </a:xfrm>
          <a:prstGeom prst="rect">
            <a:avLst/>
          </a:prstGeom>
        </p:spPr>
      </p:pic>
    </p:spTree>
    <p:extLst>
      <p:ext uri="{BB962C8B-B14F-4D97-AF65-F5344CB8AC3E}">
        <p14:creationId xmlns:p14="http://schemas.microsoft.com/office/powerpoint/2010/main" val="491693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B40E4-F904-44A7-9859-6A6E3A9946E1}"/>
              </a:ext>
            </a:extLst>
          </p:cNvPr>
          <p:cNvSpPr>
            <a:spLocks noGrp="1"/>
          </p:cNvSpPr>
          <p:nvPr>
            <p:ph type="title"/>
          </p:nvPr>
        </p:nvSpPr>
        <p:spPr>
          <a:xfrm>
            <a:off x="320433" y="214923"/>
            <a:ext cx="7240952" cy="1100667"/>
          </a:xfrm>
        </p:spPr>
        <p:txBody>
          <a:bodyPr>
            <a:noAutofit/>
          </a:bodyPr>
          <a:lstStyle/>
          <a:p>
            <a:r>
              <a:rPr lang="en-AU" sz="2000" u="sng" dirty="0"/>
              <a:t>Volume</a:t>
            </a:r>
            <a:br>
              <a:rPr lang="en-AU" sz="2000" dirty="0"/>
            </a:br>
            <a:r>
              <a:rPr lang="en-AU" sz="2000" dirty="0"/>
              <a:t>How much (how many cubes) can fit inside a 3D shape</a:t>
            </a:r>
            <a:br>
              <a:rPr lang="en-AU" sz="2000" dirty="0"/>
            </a:br>
            <a:br>
              <a:rPr lang="en-AU" sz="2000" dirty="0"/>
            </a:br>
            <a:r>
              <a:rPr lang="en-AU" sz="2000" u="sng" dirty="0"/>
              <a:t>How do we calculate it?</a:t>
            </a:r>
            <a:br>
              <a:rPr lang="en-AU" sz="2000" dirty="0"/>
            </a:br>
            <a:r>
              <a:rPr lang="en-AU" sz="2000" dirty="0"/>
              <a:t>1. Check all units are alike (mm, cm, m or km)</a:t>
            </a:r>
            <a:br>
              <a:rPr lang="en-AU" sz="2000" dirty="0"/>
            </a:br>
            <a:r>
              <a:rPr lang="en-AU" sz="2000" dirty="0"/>
              <a:t>2. Use area formula to calculate the area of the face</a:t>
            </a:r>
            <a:br>
              <a:rPr lang="en-AU" sz="2000" dirty="0"/>
            </a:br>
            <a:r>
              <a:rPr lang="en-AU" sz="2000" dirty="0"/>
              <a:t>3. Multiply the area of the face by the depth</a:t>
            </a:r>
            <a:br>
              <a:rPr lang="en-AU" sz="2000" dirty="0"/>
            </a:br>
            <a:r>
              <a:rPr lang="en-AU" sz="2000" dirty="0"/>
              <a:t>4. Units should be “cubes” (</a:t>
            </a:r>
            <a:r>
              <a:rPr lang="en-AU" sz="2000" dirty="0" err="1"/>
              <a:t>eg</a:t>
            </a:r>
            <a:r>
              <a:rPr lang="en-AU" sz="2000" dirty="0"/>
              <a:t> mm</a:t>
            </a:r>
            <a:r>
              <a:rPr lang="en-AU" sz="2000" baseline="30000" dirty="0"/>
              <a:t>3</a:t>
            </a:r>
            <a:r>
              <a:rPr lang="en-AU" sz="2000" dirty="0"/>
              <a:t>, cm</a:t>
            </a:r>
            <a:r>
              <a:rPr lang="en-AU" sz="2000" baseline="30000" dirty="0"/>
              <a:t>3</a:t>
            </a:r>
            <a:r>
              <a:rPr lang="en-AU" sz="2000" dirty="0"/>
              <a:t>, m</a:t>
            </a:r>
            <a:r>
              <a:rPr lang="en-AU" sz="2000" baseline="30000" dirty="0"/>
              <a:t>3</a:t>
            </a:r>
            <a:r>
              <a:rPr lang="en-AU" sz="2000" dirty="0"/>
              <a:t> or km</a:t>
            </a:r>
            <a:r>
              <a:rPr lang="en-AU" sz="2000" baseline="30000" dirty="0"/>
              <a:t>3</a:t>
            </a:r>
            <a:r>
              <a:rPr lang="en-AU" sz="2000" dirty="0"/>
              <a:t>)</a:t>
            </a:r>
            <a:br>
              <a:rPr lang="en-AU" sz="2000" dirty="0"/>
            </a:br>
            <a:br>
              <a:rPr lang="en-AU" sz="2000" dirty="0"/>
            </a:br>
            <a:br>
              <a:rPr lang="en-AU" sz="2000" dirty="0"/>
            </a:br>
            <a:r>
              <a:rPr lang="en-AU" sz="2000" u="sng" dirty="0"/>
              <a:t>Common mistakes</a:t>
            </a:r>
            <a:br>
              <a:rPr lang="en-AU" sz="2000" dirty="0"/>
            </a:br>
            <a:r>
              <a:rPr lang="en-AU" sz="2000" dirty="0"/>
              <a:t>1. Just multiplying everything together</a:t>
            </a:r>
            <a:br>
              <a:rPr lang="en-AU" sz="2000" dirty="0"/>
            </a:br>
            <a:r>
              <a:rPr lang="en-AU" sz="2000" dirty="0"/>
              <a:t>2. Wrong units or units are different types</a:t>
            </a:r>
            <a:br>
              <a:rPr lang="en-AU" sz="2000" dirty="0"/>
            </a:br>
            <a:r>
              <a:rPr lang="en-AU" sz="2000" dirty="0"/>
              <a:t>3. Wrong formula used</a:t>
            </a:r>
          </a:p>
        </p:txBody>
      </p:sp>
    </p:spTree>
    <p:extLst>
      <p:ext uri="{BB962C8B-B14F-4D97-AF65-F5344CB8AC3E}">
        <p14:creationId xmlns:p14="http://schemas.microsoft.com/office/powerpoint/2010/main" val="797921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1331-5884-440D-9379-B251CDDB23D4}"/>
              </a:ext>
            </a:extLst>
          </p:cNvPr>
          <p:cNvSpPr>
            <a:spLocks noGrp="1"/>
          </p:cNvSpPr>
          <p:nvPr>
            <p:ph type="title"/>
          </p:nvPr>
        </p:nvSpPr>
        <p:spPr/>
        <p:txBody>
          <a:bodyPr/>
          <a:lstStyle/>
          <a:p>
            <a:endParaRPr lang="en-AU"/>
          </a:p>
        </p:txBody>
      </p:sp>
      <p:pic>
        <p:nvPicPr>
          <p:cNvPr id="3" name="Picture 2">
            <a:extLst>
              <a:ext uri="{FF2B5EF4-FFF2-40B4-BE49-F238E27FC236}">
                <a16:creationId xmlns:a16="http://schemas.microsoft.com/office/drawing/2014/main" id="{EA195F3F-893F-484D-B978-AFD1DCB5C1FE}"/>
              </a:ext>
            </a:extLst>
          </p:cNvPr>
          <p:cNvPicPr>
            <a:picLocks noChangeAspect="1"/>
          </p:cNvPicPr>
          <p:nvPr/>
        </p:nvPicPr>
        <p:blipFill>
          <a:blip r:embed="rId2"/>
          <a:stretch>
            <a:fillRect/>
          </a:stretch>
        </p:blipFill>
        <p:spPr>
          <a:xfrm>
            <a:off x="310567" y="200759"/>
            <a:ext cx="6842368" cy="2096855"/>
          </a:xfrm>
          <a:prstGeom prst="rect">
            <a:avLst/>
          </a:prstGeom>
        </p:spPr>
      </p:pic>
      <p:pic>
        <p:nvPicPr>
          <p:cNvPr id="5" name="Picture 4">
            <a:extLst>
              <a:ext uri="{FF2B5EF4-FFF2-40B4-BE49-F238E27FC236}">
                <a16:creationId xmlns:a16="http://schemas.microsoft.com/office/drawing/2014/main" id="{A89F582B-256C-4800-8E7F-121748D9C11D}"/>
              </a:ext>
            </a:extLst>
          </p:cNvPr>
          <p:cNvPicPr>
            <a:picLocks noChangeAspect="1"/>
          </p:cNvPicPr>
          <p:nvPr/>
        </p:nvPicPr>
        <p:blipFill>
          <a:blip r:embed="rId3"/>
          <a:stretch>
            <a:fillRect/>
          </a:stretch>
        </p:blipFill>
        <p:spPr>
          <a:xfrm>
            <a:off x="603643" y="2168769"/>
            <a:ext cx="7011699" cy="3546231"/>
          </a:xfrm>
          <a:prstGeom prst="rect">
            <a:avLst/>
          </a:prstGeom>
        </p:spPr>
      </p:pic>
      <p:pic>
        <p:nvPicPr>
          <p:cNvPr id="6" name="Picture 5">
            <a:extLst>
              <a:ext uri="{FF2B5EF4-FFF2-40B4-BE49-F238E27FC236}">
                <a16:creationId xmlns:a16="http://schemas.microsoft.com/office/drawing/2014/main" id="{02C0CB66-8319-4279-A247-82CC80EA6AE0}"/>
              </a:ext>
            </a:extLst>
          </p:cNvPr>
          <p:cNvPicPr>
            <a:picLocks noChangeAspect="1"/>
          </p:cNvPicPr>
          <p:nvPr/>
        </p:nvPicPr>
        <p:blipFill>
          <a:blip r:embed="rId4"/>
          <a:stretch>
            <a:fillRect/>
          </a:stretch>
        </p:blipFill>
        <p:spPr>
          <a:xfrm>
            <a:off x="3544182" y="3751386"/>
            <a:ext cx="1918772" cy="1869830"/>
          </a:xfrm>
          <a:prstGeom prst="rect">
            <a:avLst/>
          </a:prstGeom>
        </p:spPr>
      </p:pic>
    </p:spTree>
    <p:extLst>
      <p:ext uri="{BB962C8B-B14F-4D97-AF65-F5344CB8AC3E}">
        <p14:creationId xmlns:p14="http://schemas.microsoft.com/office/powerpoint/2010/main" val="807416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BDC30-2E98-4404-852E-8EA656B59752}"/>
              </a:ext>
            </a:extLst>
          </p:cNvPr>
          <p:cNvSpPr>
            <a:spLocks noGrp="1"/>
          </p:cNvSpPr>
          <p:nvPr>
            <p:ph type="title"/>
          </p:nvPr>
        </p:nvSpPr>
        <p:spPr>
          <a:xfrm>
            <a:off x="95250" y="-76892"/>
            <a:ext cx="6447501" cy="1100667"/>
          </a:xfrm>
        </p:spPr>
        <p:txBody>
          <a:bodyPr/>
          <a:lstStyle/>
          <a:p>
            <a:r>
              <a:rPr lang="en-AU" dirty="0"/>
              <a:t>Converting units</a:t>
            </a:r>
            <a:br>
              <a:rPr lang="en-AU" dirty="0"/>
            </a:br>
            <a:endParaRPr lang="en-AU" dirty="0"/>
          </a:p>
        </p:txBody>
      </p:sp>
      <p:pic>
        <p:nvPicPr>
          <p:cNvPr id="3" name="Picture 2">
            <a:extLst>
              <a:ext uri="{FF2B5EF4-FFF2-40B4-BE49-F238E27FC236}">
                <a16:creationId xmlns:a16="http://schemas.microsoft.com/office/drawing/2014/main" id="{44AB5987-5AD0-473E-B07D-8DE0A031905A}"/>
              </a:ext>
            </a:extLst>
          </p:cNvPr>
          <p:cNvPicPr>
            <a:picLocks noChangeAspect="1"/>
          </p:cNvPicPr>
          <p:nvPr/>
        </p:nvPicPr>
        <p:blipFill>
          <a:blip r:embed="rId2"/>
          <a:stretch>
            <a:fillRect/>
          </a:stretch>
        </p:blipFill>
        <p:spPr>
          <a:xfrm>
            <a:off x="95250" y="478366"/>
            <a:ext cx="3771900" cy="1247775"/>
          </a:xfrm>
          <a:prstGeom prst="rect">
            <a:avLst/>
          </a:prstGeom>
        </p:spPr>
      </p:pic>
      <p:pic>
        <p:nvPicPr>
          <p:cNvPr id="6" name="Picture 5">
            <a:extLst>
              <a:ext uri="{FF2B5EF4-FFF2-40B4-BE49-F238E27FC236}">
                <a16:creationId xmlns:a16="http://schemas.microsoft.com/office/drawing/2014/main" id="{0B1FD23D-7E0D-4710-9A0F-3B5A244E5574}"/>
              </a:ext>
            </a:extLst>
          </p:cNvPr>
          <p:cNvPicPr>
            <a:picLocks noChangeAspect="1"/>
          </p:cNvPicPr>
          <p:nvPr/>
        </p:nvPicPr>
        <p:blipFill>
          <a:blip r:embed="rId3"/>
          <a:stretch>
            <a:fillRect/>
          </a:stretch>
        </p:blipFill>
        <p:spPr>
          <a:xfrm>
            <a:off x="4447076" y="473441"/>
            <a:ext cx="3743325" cy="1257300"/>
          </a:xfrm>
          <a:prstGeom prst="rect">
            <a:avLst/>
          </a:prstGeom>
        </p:spPr>
      </p:pic>
      <p:pic>
        <p:nvPicPr>
          <p:cNvPr id="7" name="Picture 6">
            <a:extLst>
              <a:ext uri="{FF2B5EF4-FFF2-40B4-BE49-F238E27FC236}">
                <a16:creationId xmlns:a16="http://schemas.microsoft.com/office/drawing/2014/main" id="{8028B50F-23ED-430B-A809-56143D683859}"/>
              </a:ext>
            </a:extLst>
          </p:cNvPr>
          <p:cNvPicPr>
            <a:picLocks noChangeAspect="1"/>
          </p:cNvPicPr>
          <p:nvPr/>
        </p:nvPicPr>
        <p:blipFill>
          <a:blip r:embed="rId4"/>
          <a:stretch>
            <a:fillRect/>
          </a:stretch>
        </p:blipFill>
        <p:spPr>
          <a:xfrm>
            <a:off x="95250" y="1940169"/>
            <a:ext cx="3676650" cy="1905000"/>
          </a:xfrm>
          <a:prstGeom prst="rect">
            <a:avLst/>
          </a:prstGeom>
        </p:spPr>
      </p:pic>
      <p:pic>
        <p:nvPicPr>
          <p:cNvPr id="8" name="Picture 7">
            <a:extLst>
              <a:ext uri="{FF2B5EF4-FFF2-40B4-BE49-F238E27FC236}">
                <a16:creationId xmlns:a16="http://schemas.microsoft.com/office/drawing/2014/main" id="{CF81E828-33DC-42C6-A28C-6DF526F04BF8}"/>
              </a:ext>
            </a:extLst>
          </p:cNvPr>
          <p:cNvPicPr>
            <a:picLocks noChangeAspect="1"/>
          </p:cNvPicPr>
          <p:nvPr/>
        </p:nvPicPr>
        <p:blipFill>
          <a:blip r:embed="rId5"/>
          <a:stretch>
            <a:fillRect/>
          </a:stretch>
        </p:blipFill>
        <p:spPr>
          <a:xfrm>
            <a:off x="4161501" y="2281074"/>
            <a:ext cx="4762500" cy="1209675"/>
          </a:xfrm>
          <a:prstGeom prst="rect">
            <a:avLst/>
          </a:prstGeom>
        </p:spPr>
      </p:pic>
      <p:pic>
        <p:nvPicPr>
          <p:cNvPr id="9" name="Picture 8">
            <a:extLst>
              <a:ext uri="{FF2B5EF4-FFF2-40B4-BE49-F238E27FC236}">
                <a16:creationId xmlns:a16="http://schemas.microsoft.com/office/drawing/2014/main" id="{74DFDDD7-5B33-4CCE-A3A7-50D423E96A0C}"/>
              </a:ext>
            </a:extLst>
          </p:cNvPr>
          <p:cNvPicPr>
            <a:picLocks noChangeAspect="1"/>
          </p:cNvPicPr>
          <p:nvPr/>
        </p:nvPicPr>
        <p:blipFill>
          <a:blip r:embed="rId6"/>
          <a:stretch>
            <a:fillRect/>
          </a:stretch>
        </p:blipFill>
        <p:spPr>
          <a:xfrm>
            <a:off x="95250" y="4059197"/>
            <a:ext cx="3543300" cy="1304925"/>
          </a:xfrm>
          <a:prstGeom prst="rect">
            <a:avLst/>
          </a:prstGeom>
        </p:spPr>
      </p:pic>
      <p:pic>
        <p:nvPicPr>
          <p:cNvPr id="10" name="Picture 9">
            <a:extLst>
              <a:ext uri="{FF2B5EF4-FFF2-40B4-BE49-F238E27FC236}">
                <a16:creationId xmlns:a16="http://schemas.microsoft.com/office/drawing/2014/main" id="{7900BC00-434C-4316-A63B-9E743A104B91}"/>
              </a:ext>
            </a:extLst>
          </p:cNvPr>
          <p:cNvPicPr>
            <a:picLocks noChangeAspect="1"/>
          </p:cNvPicPr>
          <p:nvPr/>
        </p:nvPicPr>
        <p:blipFill rotWithShape="1">
          <a:blip r:embed="rId7"/>
          <a:srcRect r="50000" b="1119"/>
          <a:stretch/>
        </p:blipFill>
        <p:spPr>
          <a:xfrm>
            <a:off x="4647101" y="4059197"/>
            <a:ext cx="3543300" cy="395572"/>
          </a:xfrm>
          <a:prstGeom prst="rect">
            <a:avLst/>
          </a:prstGeom>
        </p:spPr>
      </p:pic>
      <p:pic>
        <p:nvPicPr>
          <p:cNvPr id="11" name="Picture 10">
            <a:extLst>
              <a:ext uri="{FF2B5EF4-FFF2-40B4-BE49-F238E27FC236}">
                <a16:creationId xmlns:a16="http://schemas.microsoft.com/office/drawing/2014/main" id="{564A0005-BC90-4299-B89D-9D347B98E014}"/>
              </a:ext>
            </a:extLst>
          </p:cNvPr>
          <p:cNvPicPr>
            <a:picLocks noChangeAspect="1"/>
          </p:cNvPicPr>
          <p:nvPr/>
        </p:nvPicPr>
        <p:blipFill rotWithShape="1">
          <a:blip r:embed="rId7"/>
          <a:srcRect l="51060" t="9708"/>
          <a:stretch/>
        </p:blipFill>
        <p:spPr>
          <a:xfrm>
            <a:off x="4684651" y="4454769"/>
            <a:ext cx="3468199" cy="361217"/>
          </a:xfrm>
          <a:prstGeom prst="rect">
            <a:avLst/>
          </a:prstGeom>
        </p:spPr>
      </p:pic>
    </p:spTree>
    <p:extLst>
      <p:ext uri="{BB962C8B-B14F-4D97-AF65-F5344CB8AC3E}">
        <p14:creationId xmlns:p14="http://schemas.microsoft.com/office/powerpoint/2010/main" val="1190041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D6B30-D2CF-46D4-ABF4-0E1A879497D9}"/>
              </a:ext>
            </a:extLst>
          </p:cNvPr>
          <p:cNvSpPr>
            <a:spLocks noGrp="1"/>
          </p:cNvSpPr>
          <p:nvPr>
            <p:ph type="title"/>
          </p:nvPr>
        </p:nvSpPr>
        <p:spPr>
          <a:xfrm>
            <a:off x="367324" y="379278"/>
            <a:ext cx="6447501" cy="1100667"/>
          </a:xfrm>
        </p:spPr>
        <p:txBody>
          <a:bodyPr>
            <a:normAutofit fontScale="90000"/>
          </a:bodyPr>
          <a:lstStyle/>
          <a:p>
            <a:r>
              <a:rPr lang="en-AU" dirty="0"/>
              <a:t>Capacity</a:t>
            </a:r>
            <a:br>
              <a:rPr lang="en-AU" dirty="0"/>
            </a:br>
            <a:r>
              <a:rPr lang="en-AU" dirty="0"/>
              <a:t>We convert our volume (</a:t>
            </a:r>
            <a:r>
              <a:rPr lang="en-AU" sz="2800" dirty="0"/>
              <a:t>mm</a:t>
            </a:r>
            <a:r>
              <a:rPr lang="en-AU" sz="2800" baseline="30000" dirty="0"/>
              <a:t>3</a:t>
            </a:r>
            <a:r>
              <a:rPr lang="en-AU" sz="2800" dirty="0"/>
              <a:t>, cm</a:t>
            </a:r>
            <a:r>
              <a:rPr lang="en-AU" sz="2800" baseline="30000" dirty="0"/>
              <a:t>3</a:t>
            </a:r>
            <a:r>
              <a:rPr lang="en-AU" sz="2800" dirty="0"/>
              <a:t>, m</a:t>
            </a:r>
            <a:r>
              <a:rPr lang="en-AU" sz="2800" baseline="30000" dirty="0"/>
              <a:t>3</a:t>
            </a:r>
            <a:r>
              <a:rPr lang="en-AU" sz="2800" dirty="0"/>
              <a:t> or km</a:t>
            </a:r>
            <a:r>
              <a:rPr lang="en-AU" sz="2800" baseline="30000" dirty="0"/>
              <a:t>3) </a:t>
            </a:r>
            <a:r>
              <a:rPr lang="en-AU" sz="2800" dirty="0"/>
              <a:t>into litres, mL etc.</a:t>
            </a:r>
            <a:br>
              <a:rPr lang="en-AU" sz="2800" dirty="0"/>
            </a:br>
            <a:br>
              <a:rPr lang="en-AU" sz="2800" dirty="0"/>
            </a:br>
            <a:endParaRPr lang="en-AU" dirty="0"/>
          </a:p>
        </p:txBody>
      </p:sp>
      <p:pic>
        <p:nvPicPr>
          <p:cNvPr id="4" name="Picture 3">
            <a:extLst>
              <a:ext uri="{FF2B5EF4-FFF2-40B4-BE49-F238E27FC236}">
                <a16:creationId xmlns:a16="http://schemas.microsoft.com/office/drawing/2014/main" id="{4E29E355-9739-43C3-AF1E-853ED943656F}"/>
              </a:ext>
            </a:extLst>
          </p:cNvPr>
          <p:cNvPicPr>
            <a:picLocks noChangeAspect="1"/>
          </p:cNvPicPr>
          <p:nvPr/>
        </p:nvPicPr>
        <p:blipFill>
          <a:blip r:embed="rId2"/>
          <a:stretch>
            <a:fillRect/>
          </a:stretch>
        </p:blipFill>
        <p:spPr>
          <a:xfrm>
            <a:off x="508001" y="4334201"/>
            <a:ext cx="7553325" cy="1000125"/>
          </a:xfrm>
          <a:prstGeom prst="rect">
            <a:avLst/>
          </a:prstGeom>
        </p:spPr>
      </p:pic>
      <p:sp>
        <p:nvSpPr>
          <p:cNvPr id="5" name="TextBox 4">
            <a:extLst>
              <a:ext uri="{FF2B5EF4-FFF2-40B4-BE49-F238E27FC236}">
                <a16:creationId xmlns:a16="http://schemas.microsoft.com/office/drawing/2014/main" id="{A0EE1954-2C27-4A76-ADF5-5E5258E156E6}"/>
              </a:ext>
            </a:extLst>
          </p:cNvPr>
          <p:cNvSpPr txBox="1"/>
          <p:nvPr/>
        </p:nvSpPr>
        <p:spPr>
          <a:xfrm>
            <a:off x="508001" y="1758462"/>
            <a:ext cx="2481384" cy="923330"/>
          </a:xfrm>
          <a:prstGeom prst="rect">
            <a:avLst/>
          </a:prstGeom>
          <a:noFill/>
        </p:spPr>
        <p:txBody>
          <a:bodyPr wrap="square" rtlCol="0">
            <a:spAutoFit/>
          </a:bodyPr>
          <a:lstStyle/>
          <a:p>
            <a:r>
              <a:rPr lang="en-AU" dirty="0"/>
              <a:t>1cm</a:t>
            </a:r>
            <a:r>
              <a:rPr lang="en-AU" baseline="30000" dirty="0"/>
              <a:t>3</a:t>
            </a:r>
            <a:r>
              <a:rPr lang="en-AU" dirty="0"/>
              <a:t> = 1mL</a:t>
            </a:r>
          </a:p>
          <a:p>
            <a:r>
              <a:rPr lang="en-AU" dirty="0"/>
              <a:t>10000cm</a:t>
            </a:r>
            <a:r>
              <a:rPr lang="en-AU" baseline="30000" dirty="0"/>
              <a:t>3</a:t>
            </a:r>
            <a:r>
              <a:rPr lang="en-AU" dirty="0"/>
              <a:t> = 1l</a:t>
            </a:r>
          </a:p>
          <a:p>
            <a:r>
              <a:rPr lang="en-AU" dirty="0"/>
              <a:t>1m</a:t>
            </a:r>
            <a:r>
              <a:rPr lang="en-AU" baseline="30000" dirty="0"/>
              <a:t>3</a:t>
            </a:r>
            <a:r>
              <a:rPr lang="en-AU" dirty="0"/>
              <a:t> = 1KL = 1000ml</a:t>
            </a:r>
          </a:p>
        </p:txBody>
      </p:sp>
      <p:pic>
        <p:nvPicPr>
          <p:cNvPr id="6" name="Picture 5">
            <a:extLst>
              <a:ext uri="{FF2B5EF4-FFF2-40B4-BE49-F238E27FC236}">
                <a16:creationId xmlns:a16="http://schemas.microsoft.com/office/drawing/2014/main" id="{7CF6CE4C-0428-4291-A2BF-B092F14FCA0E}"/>
              </a:ext>
            </a:extLst>
          </p:cNvPr>
          <p:cNvPicPr>
            <a:picLocks noChangeAspect="1"/>
          </p:cNvPicPr>
          <p:nvPr/>
        </p:nvPicPr>
        <p:blipFill>
          <a:blip r:embed="rId3"/>
          <a:stretch>
            <a:fillRect/>
          </a:stretch>
        </p:blipFill>
        <p:spPr>
          <a:xfrm>
            <a:off x="4630615" y="1758462"/>
            <a:ext cx="3657600" cy="1323975"/>
          </a:xfrm>
          <a:prstGeom prst="rect">
            <a:avLst/>
          </a:prstGeom>
        </p:spPr>
      </p:pic>
      <p:pic>
        <p:nvPicPr>
          <p:cNvPr id="7" name="Picture 6">
            <a:extLst>
              <a:ext uri="{FF2B5EF4-FFF2-40B4-BE49-F238E27FC236}">
                <a16:creationId xmlns:a16="http://schemas.microsoft.com/office/drawing/2014/main" id="{4EA09160-8D63-4AA7-926F-202D52F0D982}"/>
              </a:ext>
            </a:extLst>
          </p:cNvPr>
          <p:cNvPicPr>
            <a:picLocks noChangeAspect="1"/>
          </p:cNvPicPr>
          <p:nvPr/>
        </p:nvPicPr>
        <p:blipFill>
          <a:blip r:embed="rId4"/>
          <a:stretch>
            <a:fillRect/>
          </a:stretch>
        </p:blipFill>
        <p:spPr>
          <a:xfrm>
            <a:off x="508001" y="3238826"/>
            <a:ext cx="7572375" cy="1095375"/>
          </a:xfrm>
          <a:prstGeom prst="rect">
            <a:avLst/>
          </a:prstGeom>
        </p:spPr>
      </p:pic>
    </p:spTree>
    <p:extLst>
      <p:ext uri="{BB962C8B-B14F-4D97-AF65-F5344CB8AC3E}">
        <p14:creationId xmlns:p14="http://schemas.microsoft.com/office/powerpoint/2010/main" val="590711872"/>
      </p:ext>
    </p:extLst>
  </p:cSld>
  <p:clrMapOvr>
    <a:masterClrMapping/>
  </p:clrMapOvr>
</p:sld>
</file>

<file path=ppt/theme/theme1.xml><?xml version="1.0" encoding="utf-8"?>
<a:theme xmlns:a="http://schemas.openxmlformats.org/drawingml/2006/main" name="Facet">
  <a:themeElements>
    <a:clrScheme name="Custom 2">
      <a:dk1>
        <a:sysClr val="windowText" lastClr="000000"/>
      </a:dk1>
      <a:lt1>
        <a:sysClr val="window" lastClr="FFFFFF"/>
      </a:lt1>
      <a:dk2>
        <a:srgbClr val="2C3C43"/>
      </a:dk2>
      <a:lt2>
        <a:srgbClr val="EBEBEB"/>
      </a:lt2>
      <a:accent1>
        <a:srgbClr val="226292"/>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806</TotalTime>
  <Words>28</Words>
  <Application>Microsoft Office PowerPoint</Application>
  <PresentationFormat>On-screen Show (16:10)</PresentationFormat>
  <Paragraphs>10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Wingdings 3</vt:lpstr>
      <vt:lpstr>Facet</vt:lpstr>
      <vt:lpstr>Topic: Year 8 Measurement revision  EQ: What have we learnt about shapes? </vt:lpstr>
      <vt:lpstr>PowerPoint Presentation</vt:lpstr>
      <vt:lpstr>Perimeter: The length of a line needed to draw a shape.  To find the perimeter: 1. Convert all lengths to the same units (eg mm, cm, m) 2. Find any missing sides 3. ADD all the sides together 4. Answer should be in ordinary units (mm, cm, m km)    common errors are;   1. adding units of different types      (eg 4cm + 5mm does not = 9)  2. Not finding missing sides </vt:lpstr>
      <vt:lpstr>PowerPoint Presentation</vt:lpstr>
      <vt:lpstr>Area: The amount of space (number of squares) that are in a flat shape.  How do we calculate it? 1. identify the shape. 2. select the right formula 3. units are the same (eg all mm or all cm 3. put the numbers into the formula and calculate 4. units are “squares” – eg mm2, cm2, m2, km2  Common errors. Using the wrong formula. Multiplying every number on the page together (not using a formula) wrong units </vt:lpstr>
      <vt:lpstr>PowerPoint Presentation</vt:lpstr>
      <vt:lpstr>Special quadrilateral formulas</vt:lpstr>
      <vt:lpstr>PowerPoint Presentation</vt:lpstr>
      <vt:lpstr>Volume How much (how many cubes) can fit inside a 3D shape  How do we calculate it? 1. Check all units are alike (mm, cm, m or km) 2. Use area formula to calculate the area of the face 3. Multiply the area of the face by the depth 4. Units should be “cubes” (eg mm3, cm3, m3 or km3)   Common mistakes 1. Just multiplying everything together 2. Wrong units or units are different types 3. Wrong formula used</vt:lpstr>
      <vt:lpstr>PowerPoint Presentation</vt:lpstr>
      <vt:lpstr>Converting units </vt:lpstr>
      <vt:lpstr>Capacity We convert our volume (mm3, cm3, m3 or km3) into litres, mL etc.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Year 8 Measurement revision  EQ: What have we learnt about shapes?</dc:title>
  <dc:creator>WILSON James [Baldivis Secondary College]</dc:creator>
  <cp:lastModifiedBy>WILSON James [Baldivis Secondary College]</cp:lastModifiedBy>
  <cp:revision>12</cp:revision>
  <dcterms:created xsi:type="dcterms:W3CDTF">2018-04-05T13:58:55Z</dcterms:created>
  <dcterms:modified xsi:type="dcterms:W3CDTF">2018-04-06T03:25:03Z</dcterms:modified>
</cp:coreProperties>
</file>
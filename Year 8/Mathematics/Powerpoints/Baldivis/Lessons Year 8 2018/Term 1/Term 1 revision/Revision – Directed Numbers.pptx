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1" r:id="rId3"/>
    <p:sldId id="266" r:id="rId4"/>
    <p:sldId id="264" r:id="rId5"/>
    <p:sldId id="273" r:id="rId6"/>
    <p:sldId id="265" r:id="rId7"/>
    <p:sldId id="274" r:id="rId8"/>
    <p:sldId id="267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0FAD9-BCC5-4D2D-84FF-C3B278DC7155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0A094-8176-4197-8BBD-BD836A8355C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275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7373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007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225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20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01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719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322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5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40F1-3DF4-4295-8450-AF5D55CB4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83D16-43C3-486B-9DCE-FB3A192BC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4F695-596C-492D-9EB8-0059FC36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C0F80-F50D-4854-808B-747ECA8B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9D595-4143-411E-86EC-4D2B8E50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751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582C-7D60-4663-92EE-E5644C70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E0791-1CFD-4E3D-977C-A144B0D06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51764-8F18-4D5B-B09B-F09C6863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E80D-63B5-41BD-9C20-C22BC9F5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289BA-DA8E-4E0D-B332-53B4E9AD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217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84EF-142C-40A6-99A5-034B828C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33C38-CDE6-40EE-AFF3-4CFADE2C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A3216-424A-4C8A-B1FD-C13A29C54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F7A7-C6BB-464D-89FB-6A1F09B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0C05B-9650-41E3-9F72-18841689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7719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A92E-DAF0-4844-816B-4DC38726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4309-059D-4779-BBDA-92EEF6F08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50F84-09E9-47AC-95D0-09744C79B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B6353-225B-42BD-95A0-F37FF781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4A072-CC1B-4DC8-A367-975C66DA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19586-752C-4F8F-A253-C3EFC93A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41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E603-89ED-48A7-9E75-2A7D0B2B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AA315-4EF4-419D-B76B-184EDBFF4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9B5E3-46C4-47E9-A3DD-3CF109DBD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03D1E-246D-4117-9383-CFA7A11DA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F5ED4-966A-49AF-8E8E-65BFA3806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612D2-78EC-4F16-B697-93C7F120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DB105-3F4E-4FE0-96A6-BAC069C5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5B85C-E9D3-47CB-A0FA-5D1191DF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5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3796-4F8B-40FB-B82D-7FA922170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5038A-4C16-433D-92DC-4ECADB72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A021-D895-4921-907A-4BF2F8AB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1BB2E-2B13-4F73-BE94-5C6A8524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216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78A32-A3B9-460A-9DF7-63A4FECF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99FD1-4F32-4C9B-A8EF-0A8897E6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6B1CA-4C73-4367-81B1-7ECD35EF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539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2080-8575-4215-894D-EE44F0AC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C22C-EE0C-4F6D-85ED-3A81A0B69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673C-1318-40D8-898F-930647E25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6009-200B-436B-B279-170713BA4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4CCD3-B897-42EB-A119-E7FB4F7B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AE3B0-A74D-4175-9AD3-BC6D9971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57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0A1B5-9CCA-4647-B8BE-12984F69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F4610-46E0-4421-ADCB-B2C850E73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A2DCA-4BE3-4C54-AB25-1AE7972D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36849-FC65-4566-979B-C55C97D8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BFED9-6C6C-4E81-85FE-2ECE9958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0384F-63A1-4BD3-A648-9603970A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42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A478-C798-46FD-A53C-A11B5C9C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E50C7-083A-4E45-BBB8-CB92B9647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474EA-7E64-4D00-8584-432EDF48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7884F-AD61-4D2E-8273-D88DC8E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8D8E-C821-4475-8820-067E1B92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463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CBDF0-21C2-455D-BCB4-DA4429EC7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DA2EB-C440-4CB5-B10D-7A086E628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AE2A-2E96-45E9-B489-48E6DA03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93F3F-4896-4CF8-B17C-0BB99DC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1C57D-780A-4515-904E-AA8B08EC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579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6452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53226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282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104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8A07D-405F-433E-98EB-E2F7F5B5B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2FAA0-A0AD-4D45-9A35-390B4B894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DF3FF-90E7-40A3-927A-ADFBB2595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8CA7E-103D-4EF5-B71F-4BBB4D1D36B3}" type="datetimeFigureOut">
              <a:rPr lang="en-AU" smtClean="0"/>
              <a:t>9/04/2018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9C670-A760-4F59-90C8-6CA96499B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63E35-87EA-4654-B672-75429B583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05CED-96FD-493E-B590-82653BB22DE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33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Revision – Directed Numbers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71" y="278490"/>
            <a:ext cx="7887930" cy="989871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BIMDAS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136C0-E534-4C5F-88B6-5984EA301D0D}"/>
              </a:ext>
            </a:extLst>
          </p:cNvPr>
          <p:cNvSpPr txBox="1"/>
          <p:nvPr/>
        </p:nvSpPr>
        <p:spPr>
          <a:xfrm>
            <a:off x="650729" y="484355"/>
            <a:ext cx="613942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u="sng" dirty="0">
                <a:solidFill>
                  <a:srgbClr val="CC00CC"/>
                </a:solidFill>
              </a:rPr>
              <a:t>Order of Operations / BIMDAS</a:t>
            </a:r>
          </a:p>
          <a:p>
            <a:endParaRPr lang="en-AU" sz="3200" dirty="0"/>
          </a:p>
          <a:p>
            <a:r>
              <a:rPr lang="en-AU" sz="3200" dirty="0"/>
              <a:t>1. </a:t>
            </a:r>
            <a:r>
              <a:rPr lang="en-AU" sz="3200" b="1" u="sng" dirty="0">
                <a:solidFill>
                  <a:srgbClr val="CC00CC"/>
                </a:solidFill>
              </a:rPr>
              <a:t>B</a:t>
            </a:r>
            <a:r>
              <a:rPr lang="en-AU" sz="3200" dirty="0"/>
              <a:t>rackets First</a:t>
            </a:r>
          </a:p>
          <a:p>
            <a:endParaRPr lang="en-AU" sz="3200" dirty="0"/>
          </a:p>
          <a:p>
            <a:r>
              <a:rPr lang="en-AU" sz="3200" dirty="0"/>
              <a:t>2. </a:t>
            </a:r>
            <a:r>
              <a:rPr lang="en-AU" sz="3200" b="1" u="sng" dirty="0">
                <a:solidFill>
                  <a:srgbClr val="CC00CC"/>
                </a:solidFill>
              </a:rPr>
              <a:t>I</a:t>
            </a:r>
            <a:r>
              <a:rPr lang="en-AU" sz="3200" dirty="0"/>
              <a:t>ndices</a:t>
            </a:r>
          </a:p>
          <a:p>
            <a:endParaRPr lang="en-AU" sz="3200" dirty="0"/>
          </a:p>
          <a:p>
            <a:r>
              <a:rPr lang="en-AU" sz="3200" dirty="0"/>
              <a:t>3. </a:t>
            </a:r>
            <a:r>
              <a:rPr lang="en-AU" sz="3200" b="1" u="sng" dirty="0">
                <a:solidFill>
                  <a:srgbClr val="CC00CC"/>
                </a:solidFill>
              </a:rPr>
              <a:t>M</a:t>
            </a:r>
            <a:r>
              <a:rPr lang="en-AU" sz="3200" dirty="0"/>
              <a:t>ultiply and/or </a:t>
            </a:r>
            <a:r>
              <a:rPr lang="en-AU" sz="3200" b="1" u="sng" dirty="0">
                <a:solidFill>
                  <a:srgbClr val="CC00CC"/>
                </a:solidFill>
              </a:rPr>
              <a:t>D</a:t>
            </a:r>
            <a:r>
              <a:rPr lang="en-AU" sz="3200" dirty="0"/>
              <a:t>ivide </a:t>
            </a:r>
          </a:p>
          <a:p>
            <a:r>
              <a:rPr lang="en-AU" sz="3200" dirty="0"/>
              <a:t>                   (from left to right)</a:t>
            </a:r>
          </a:p>
          <a:p>
            <a:endParaRPr lang="en-AU" sz="3200" b="1" u="sng" dirty="0"/>
          </a:p>
          <a:p>
            <a:r>
              <a:rPr lang="en-AU" sz="3200" dirty="0"/>
              <a:t>4. </a:t>
            </a:r>
            <a:r>
              <a:rPr lang="en-AU" sz="3200" b="1" u="sng" dirty="0">
                <a:solidFill>
                  <a:srgbClr val="CC00CC"/>
                </a:solidFill>
              </a:rPr>
              <a:t>A</a:t>
            </a:r>
            <a:r>
              <a:rPr lang="en-AU" sz="3200" dirty="0"/>
              <a:t>dd or </a:t>
            </a:r>
            <a:r>
              <a:rPr lang="en-AU" sz="3200" b="1" u="sng" dirty="0">
                <a:solidFill>
                  <a:srgbClr val="CC00CC"/>
                </a:solidFill>
              </a:rPr>
              <a:t>S</a:t>
            </a:r>
            <a:r>
              <a:rPr lang="en-AU" sz="3200" dirty="0"/>
              <a:t>ubtract </a:t>
            </a:r>
          </a:p>
          <a:p>
            <a:r>
              <a:rPr lang="en-AU" sz="3200" dirty="0"/>
              <a:t>                    (from left to right)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2DF781-7C72-4F23-8B89-AA426274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731" y="3830829"/>
            <a:ext cx="3942051" cy="2463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F110C9-16DE-4D50-B0D2-C378D66567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185"/>
          <a:stretch/>
        </p:blipFill>
        <p:spPr>
          <a:xfrm>
            <a:off x="8637130" y="1184787"/>
            <a:ext cx="3173871" cy="1464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27A13B-5F95-4211-8AE7-5407C66A4C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916"/>
          <a:stretch/>
        </p:blipFill>
        <p:spPr>
          <a:xfrm>
            <a:off x="4624975" y="1184787"/>
            <a:ext cx="3589248" cy="22073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89AC2A-2208-4464-8155-DBCB30151D2A}"/>
              </a:ext>
            </a:extLst>
          </p:cNvPr>
          <p:cNvSpPr/>
          <p:nvPr/>
        </p:nvSpPr>
        <p:spPr>
          <a:xfrm>
            <a:off x="4667746" y="1697301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09A63B-D8DF-467E-B09D-39C4311D3B20}"/>
              </a:ext>
            </a:extLst>
          </p:cNvPr>
          <p:cNvSpPr/>
          <p:nvPr/>
        </p:nvSpPr>
        <p:spPr>
          <a:xfrm>
            <a:off x="4808347" y="2211701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E46F31-6717-4715-A4DA-37903816E207}"/>
              </a:ext>
            </a:extLst>
          </p:cNvPr>
          <p:cNvSpPr/>
          <p:nvPr/>
        </p:nvSpPr>
        <p:spPr>
          <a:xfrm>
            <a:off x="4829496" y="2801915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E53B7E-A13A-4F21-8CF7-2129C694962F}"/>
              </a:ext>
            </a:extLst>
          </p:cNvPr>
          <p:cNvSpPr/>
          <p:nvPr/>
        </p:nvSpPr>
        <p:spPr>
          <a:xfrm>
            <a:off x="8800995" y="1678119"/>
            <a:ext cx="2943579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7A61F-3E37-4373-BF7C-C068D14A6938}"/>
              </a:ext>
            </a:extLst>
          </p:cNvPr>
          <p:cNvSpPr/>
          <p:nvPr/>
        </p:nvSpPr>
        <p:spPr>
          <a:xfrm>
            <a:off x="9515913" y="2155476"/>
            <a:ext cx="2295088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375D0D-9DEF-425E-AB41-8875A47748FE}"/>
              </a:ext>
            </a:extLst>
          </p:cNvPr>
          <p:cNvSpPr/>
          <p:nvPr/>
        </p:nvSpPr>
        <p:spPr>
          <a:xfrm>
            <a:off x="8041193" y="4335469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43DC8-89B1-4750-8979-1E523D8CF8C4}"/>
              </a:ext>
            </a:extLst>
          </p:cNvPr>
          <p:cNvSpPr/>
          <p:nvPr/>
        </p:nvSpPr>
        <p:spPr>
          <a:xfrm>
            <a:off x="8041193" y="4887026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B7C724-053D-4762-8A66-CB04F42CAB48}"/>
              </a:ext>
            </a:extLst>
          </p:cNvPr>
          <p:cNvSpPr/>
          <p:nvPr/>
        </p:nvSpPr>
        <p:spPr>
          <a:xfrm>
            <a:off x="8041192" y="5352027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DF8B50-890D-4106-822A-FE8A4FF1469E}"/>
              </a:ext>
            </a:extLst>
          </p:cNvPr>
          <p:cNvSpPr/>
          <p:nvPr/>
        </p:nvSpPr>
        <p:spPr>
          <a:xfrm>
            <a:off x="8171330" y="5841740"/>
            <a:ext cx="3503705" cy="477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 Trick for Adding and Subtracting Negative Numbers">
            <a:hlinkClick r:id="" action="ppaction://media"/>
            <a:extLst>
              <a:ext uri="{FF2B5EF4-FFF2-40B4-BE49-F238E27FC236}">
                <a16:creationId xmlns:a16="http://schemas.microsoft.com/office/drawing/2014/main" id="{3FB48C26-C29E-4296-84AD-BE719137EE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6568" y="121820"/>
            <a:ext cx="11758863" cy="661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7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7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422" y="129784"/>
            <a:ext cx="8608358" cy="1090059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Little Birdy Method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1E523-BE22-4D30-8632-A875ED38D7F6}"/>
              </a:ext>
            </a:extLst>
          </p:cNvPr>
          <p:cNvSpPr txBox="1"/>
          <p:nvPr/>
        </p:nvSpPr>
        <p:spPr>
          <a:xfrm>
            <a:off x="1608025" y="1119237"/>
            <a:ext cx="1000835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7200" b="1" dirty="0">
                <a:solidFill>
                  <a:srgbClr val="7030A0"/>
                </a:solidFill>
                <a:latin typeface="Calibri" panose="020F0502020204030204"/>
              </a:rPr>
              <a:t>4</a:t>
            </a:r>
            <a:r>
              <a:rPr lang="en-AU" sz="72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AU" sz="7200" b="1" dirty="0">
                <a:solidFill>
                  <a:srgbClr val="00B050"/>
                </a:solidFill>
                <a:latin typeface="Calibri" panose="020F0502020204030204"/>
              </a:rPr>
              <a:t>+</a:t>
            </a:r>
            <a:r>
              <a:rPr lang="en-AU" sz="72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AU" sz="7200" b="1" dirty="0">
                <a:solidFill>
                  <a:srgbClr val="00B0F0"/>
                </a:solidFill>
                <a:latin typeface="Calibri" panose="020F0502020204030204"/>
              </a:rPr>
              <a:t>(-6)</a:t>
            </a:r>
          </a:p>
          <a:p>
            <a:pPr defTabSz="914126"/>
            <a:r>
              <a:rPr lang="en-AU" sz="2800" b="1" dirty="0">
                <a:solidFill>
                  <a:srgbClr val="7030A0"/>
                </a:solidFill>
                <a:latin typeface="Calibri" panose="020F0502020204030204"/>
              </a:rPr>
              <a:t>1. </a:t>
            </a: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This is the number that you start at on your number line</a:t>
            </a:r>
          </a:p>
          <a:p>
            <a:pPr marL="514350" indent="-514350" defTabSz="914126">
              <a:buAutoNum type="arabicParenR"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b="1" dirty="0">
                <a:solidFill>
                  <a:srgbClr val="00B050"/>
                </a:solidFill>
                <a:latin typeface="Calibri" panose="020F0502020204030204"/>
              </a:rPr>
              <a:t>2. </a:t>
            </a: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This symbol tells you which side of the number line to face</a:t>
            </a:r>
          </a:p>
          <a:p>
            <a:pPr marL="1371600" lvl="2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Positive – face right</a:t>
            </a:r>
          </a:p>
          <a:p>
            <a:pPr marL="1371600" lvl="2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Negative – face left</a:t>
            </a:r>
          </a:p>
          <a:p>
            <a:pPr lvl="2"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b="1" dirty="0">
                <a:solidFill>
                  <a:srgbClr val="00B0F0"/>
                </a:solidFill>
                <a:latin typeface="Calibri" panose="020F0502020204030204"/>
              </a:rPr>
              <a:t>3. </a:t>
            </a: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This tells you how much to walk forward or backwards</a:t>
            </a:r>
          </a:p>
          <a:p>
            <a:pPr marL="1371600" lvl="2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</a:rPr>
              <a:t>Positive – walk forward</a:t>
            </a:r>
          </a:p>
          <a:p>
            <a:pPr marL="1371600" lvl="2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</a:rPr>
              <a:t>Negative – walk backwards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26D123-E9F5-4143-9335-107CB6CA9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89" y="502065"/>
            <a:ext cx="1228657" cy="12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D4276A-495B-4BEC-858B-6B5EB0A91B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49" t="58860" r="25638" b="19875"/>
          <a:stretch/>
        </p:blipFill>
        <p:spPr>
          <a:xfrm>
            <a:off x="6680402" y="950002"/>
            <a:ext cx="4285752" cy="3970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8378F1-719F-4074-9F34-D93E2D75F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82" t="58860" r="41219" b="19875"/>
          <a:stretch/>
        </p:blipFill>
        <p:spPr>
          <a:xfrm>
            <a:off x="648929" y="950002"/>
            <a:ext cx="4253435" cy="424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4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23" y="4480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Multiply and Divide Integers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44D21F-D658-4F71-AFE6-8177D9B01196}"/>
                  </a:ext>
                </a:extLst>
              </p:cNvPr>
              <p:cNvSpPr txBox="1"/>
              <p:nvPr/>
            </p:nvSpPr>
            <p:spPr>
              <a:xfrm>
                <a:off x="1061801" y="2200242"/>
                <a:ext cx="2508892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+ </m:t>
                      </m:r>
                      <m:r>
                        <a:rPr lang="en-AU" sz="3200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sz="3200" b="0" i="1" smtClean="0">
                          <a:latin typeface="Cambria Math"/>
                        </a:rPr>
                        <m:t>+ =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− </m:t>
                      </m:r>
                      <m:r>
                        <a:rPr lang="en-AU" sz="3200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sz="3200" b="0" i="1" smtClean="0">
                          <a:latin typeface="Cambria Math"/>
                        </a:rPr>
                        <m:t> 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latin typeface="Cambria Math"/>
                        </a:rPr>
                        <m:t>=+</m:t>
                      </m:r>
                    </m:oMath>
                  </m:oMathPara>
                </a14:m>
                <a:endParaRPr lang="en-AU" sz="3200" b="0" dirty="0"/>
              </a:p>
              <a:p>
                <a:endParaRPr lang="en-AU" sz="3200" b="0" dirty="0"/>
              </a:p>
              <a:p>
                <a:endParaRPr lang="en-AU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/>
                        </a:rPr>
                        <m:t>+</m:t>
                      </m:r>
                      <m:r>
                        <a:rPr lang="en-AU" sz="3200" b="0" i="1" smtClean="0">
                          <a:latin typeface="Cambria Math"/>
                        </a:rPr>
                        <m:t> </m:t>
                      </m:r>
                      <m:r>
                        <a:rPr lang="en-AU" sz="3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3200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− </m:t>
                      </m:r>
                      <m:r>
                        <a:rPr lang="en-AU" sz="3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3200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sz="3200" b="0" dirty="0"/>
              </a:p>
              <a:p>
                <a:endParaRPr lang="en-AU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44D21F-D658-4F71-AFE6-8177D9B01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1" y="2200242"/>
                <a:ext cx="2508892" cy="35394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A5CF6776-76EE-429A-9A52-F6BE0E1380B5}"/>
              </a:ext>
            </a:extLst>
          </p:cNvPr>
          <p:cNvSpPr/>
          <p:nvPr/>
        </p:nvSpPr>
        <p:spPr>
          <a:xfrm>
            <a:off x="3778213" y="2453502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FDDBABF-19C2-48AC-B739-5DC19FA11354}"/>
              </a:ext>
            </a:extLst>
          </p:cNvPr>
          <p:cNvSpPr/>
          <p:nvPr/>
        </p:nvSpPr>
        <p:spPr>
          <a:xfrm>
            <a:off x="3585064" y="4361059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61115-C670-4D3B-B310-6DEB47D5728A}"/>
              </a:ext>
            </a:extLst>
          </p:cNvPr>
          <p:cNvSpPr txBox="1"/>
          <p:nvPr/>
        </p:nvSpPr>
        <p:spPr>
          <a:xfrm>
            <a:off x="4630163" y="2393615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Same sign 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E9488-919E-4F98-8D20-9CE50119E6BB}"/>
              </a:ext>
            </a:extLst>
          </p:cNvPr>
          <p:cNvSpPr txBox="1"/>
          <p:nvPr/>
        </p:nvSpPr>
        <p:spPr>
          <a:xfrm>
            <a:off x="4264690" y="4218134"/>
            <a:ext cx="2376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Different signs – </a:t>
            </a:r>
          </a:p>
          <a:p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B276C-0601-4F03-AE7D-FD0DC6F48730}"/>
              </a:ext>
            </a:extLst>
          </p:cNvPr>
          <p:cNvSpPr txBox="1"/>
          <p:nvPr/>
        </p:nvSpPr>
        <p:spPr>
          <a:xfrm>
            <a:off x="611672" y="3368627"/>
            <a:ext cx="9390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If both numbers are different  signs then the answer is negative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E4116-317D-44D6-B990-7E297F5798CF}"/>
              </a:ext>
            </a:extLst>
          </p:cNvPr>
          <p:cNvSpPr txBox="1"/>
          <p:nvPr/>
        </p:nvSpPr>
        <p:spPr>
          <a:xfrm>
            <a:off x="565549" y="1466801"/>
            <a:ext cx="9159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If both numbers are the same sign then the answer is positive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DFB89-8900-4D32-AB86-3EA44986FF3D}"/>
                  </a:ext>
                </a:extLst>
              </p:cNvPr>
              <p:cNvSpPr txBox="1"/>
              <p:nvPr/>
            </p:nvSpPr>
            <p:spPr>
              <a:xfrm>
                <a:off x="7439086" y="4485623"/>
                <a:ext cx="3975690" cy="1569660"/>
              </a:xfrm>
              <a:prstGeom prst="rect">
                <a:avLst/>
              </a:prstGeom>
              <a:noFill/>
              <a:ln w="3810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/>
                        </a:rPr>
                        <m:t>−4</m:t>
                      </m:r>
                      <m:r>
                        <a:rPr lang="en-AU" sz="3200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sz="3200" b="0" i="1" smtClean="0">
                          <a:latin typeface="Cambria Math"/>
                        </a:rPr>
                        <m:t>=</m:t>
                      </m:r>
                      <m:r>
                        <a:rPr lang="en-AU" sz="3200" b="0" i="0" smtClean="0">
                          <a:latin typeface="Cambria Math"/>
                        </a:rPr>
                        <m:t>−12</m:t>
                      </m:r>
                    </m:oMath>
                  </m:oMathPara>
                </a14:m>
                <a:endParaRPr lang="en-AU" sz="3200" b="0" dirty="0"/>
              </a:p>
              <a:p>
                <a:endParaRPr lang="en-AU" sz="3200" b="0" dirty="0"/>
              </a:p>
              <a:p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/>
                      </a:rPr>
                      <m:t>  −30  </m:t>
                    </m:r>
                    <m:r>
                      <a:rPr lang="en-AU" sz="3200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sz="3200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sz="3200" dirty="0"/>
                  <a:t>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DFB89-8900-4D32-AB86-3EA44986F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086" y="4485623"/>
                <a:ext cx="3975690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7827CB-AE71-487D-8A24-E0AF95393C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1" t="29980" r="80157" b="38800"/>
          <a:stretch/>
        </p:blipFill>
        <p:spPr>
          <a:xfrm>
            <a:off x="403397" y="501445"/>
            <a:ext cx="2799954" cy="28768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86A59-58B9-4592-A23D-9C9333685B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6" t="19201" r="80460" b="48600"/>
          <a:stretch/>
        </p:blipFill>
        <p:spPr>
          <a:xfrm>
            <a:off x="562394" y="3435552"/>
            <a:ext cx="2469874" cy="29403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6A5C1-2C7C-44C8-9196-B9D7D6A16A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28" t="29980" r="54948" b="38800"/>
          <a:stretch/>
        </p:blipFill>
        <p:spPr>
          <a:xfrm>
            <a:off x="6182524" y="377558"/>
            <a:ext cx="3001787" cy="28768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FFEE7E-7B76-4A74-B56D-3D558992A9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42" t="19201" r="25588" b="48600"/>
          <a:stretch/>
        </p:blipFill>
        <p:spPr>
          <a:xfrm>
            <a:off x="6182524" y="3311244"/>
            <a:ext cx="3615322" cy="294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20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23" y="4480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Special Numbers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105012-B6BD-4041-B0FF-ACE4DC523C36}"/>
              </a:ext>
            </a:extLst>
          </p:cNvPr>
          <p:cNvSpPr/>
          <p:nvPr/>
        </p:nvSpPr>
        <p:spPr>
          <a:xfrm>
            <a:off x="691509" y="1839076"/>
            <a:ext cx="824963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A prime whole number has to be greater than 1 and only divisible by itself and 1; so it only has factors of 1 and itself.</a:t>
            </a:r>
            <a:endParaRPr lang="en-AU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F8214-4853-4DE7-83A7-4E5EC4CCE251}"/>
              </a:ext>
            </a:extLst>
          </p:cNvPr>
          <p:cNvSpPr/>
          <p:nvPr/>
        </p:nvSpPr>
        <p:spPr>
          <a:xfrm>
            <a:off x="691508" y="3983132"/>
            <a:ext cx="824963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A composite number is a whole number greater than 1 that is not a prime number. This means it has more factors than just itself and 1.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3680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23" y="4480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Index Notation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A0E43-8A7D-4CCD-89D4-A715273B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906" y="3669400"/>
            <a:ext cx="2880604" cy="2620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27E11-FC65-4742-96FA-5A20FDB9CF74}"/>
              </a:ext>
            </a:extLst>
          </p:cNvPr>
          <p:cNvSpPr txBox="1"/>
          <p:nvPr/>
        </p:nvSpPr>
        <p:spPr>
          <a:xfrm>
            <a:off x="388927" y="1137905"/>
            <a:ext cx="34952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Examples of Factor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36567-3C35-4D6F-9FEE-CE7BE0BEBC26}"/>
              </a:ext>
            </a:extLst>
          </p:cNvPr>
          <p:cNvSpPr txBox="1"/>
          <p:nvPr/>
        </p:nvSpPr>
        <p:spPr>
          <a:xfrm>
            <a:off x="155628" y="2250816"/>
            <a:ext cx="3728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5400" b="1" dirty="0">
                <a:solidFill>
                  <a:schemeClr val="accent5">
                    <a:lumMod val="75000"/>
                  </a:schemeClr>
                </a:solidFill>
                <a:latin typeface="CF School Handwriting" pitchFamily="2" charset="0"/>
              </a:rPr>
              <a:t>4 x 4 x 4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AF5C04-65C9-4E57-B121-904E8CC012FE}"/>
              </a:ext>
            </a:extLst>
          </p:cNvPr>
          <p:cNvSpPr txBox="1"/>
          <p:nvPr/>
        </p:nvSpPr>
        <p:spPr>
          <a:xfrm>
            <a:off x="7156765" y="1113325"/>
            <a:ext cx="3288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Examples of Index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AC5142-3E7A-4ED8-B6D7-E523EE81D78E}"/>
                  </a:ext>
                </a:extLst>
              </p:cNvPr>
              <p:cNvSpPr txBox="1"/>
              <p:nvPr/>
            </p:nvSpPr>
            <p:spPr>
              <a:xfrm>
                <a:off x="6209848" y="2232093"/>
                <a:ext cx="5182077" cy="942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1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AU" sz="5400" b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AU" sz="5400" b="1" dirty="0">
                  <a:solidFill>
                    <a:schemeClr val="accent5">
                      <a:lumMod val="75000"/>
                    </a:schemeClr>
                  </a:solidFill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AC5142-3E7A-4ED8-B6D7-E523EE81D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848" y="2232093"/>
                <a:ext cx="5182077" cy="942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4BCC4FD-3E4D-4917-929D-39FA9D215C4C}"/>
              </a:ext>
            </a:extLst>
          </p:cNvPr>
          <p:cNvSpPr txBox="1"/>
          <p:nvPr/>
        </p:nvSpPr>
        <p:spPr>
          <a:xfrm>
            <a:off x="155628" y="3314227"/>
            <a:ext cx="5313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5400" b="1" dirty="0">
                <a:solidFill>
                  <a:schemeClr val="accent3">
                    <a:lumMod val="75000"/>
                  </a:schemeClr>
                </a:solidFill>
                <a:latin typeface="CF School Handwriting" pitchFamily="2" charset="0"/>
              </a:rPr>
              <a:t>6 x 6 x 6 x 6 x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AC32-E731-4F06-8E9F-8F2336010374}"/>
                  </a:ext>
                </a:extLst>
              </p:cNvPr>
              <p:cNvSpPr txBox="1"/>
              <p:nvPr/>
            </p:nvSpPr>
            <p:spPr>
              <a:xfrm>
                <a:off x="6209848" y="3155423"/>
                <a:ext cx="5182077" cy="954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400" b="1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  <m:sup>
                          <m:r>
                            <a:rPr lang="en-AU" sz="5400" b="1" i="0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AU" sz="5400" b="1" dirty="0">
                  <a:solidFill>
                    <a:schemeClr val="accent5">
                      <a:lumMod val="75000"/>
                    </a:schemeClr>
                  </a:solidFill>
                  <a:latin typeface="CF School Handwriting" pitchFamily="2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1FAC32-E731-4F06-8E9F-8F2336010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848" y="3155423"/>
                <a:ext cx="5182077" cy="9544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70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23" y="4480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Index Laws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6DBF60-B9B8-4EEA-80DB-8B9F56F89E76}"/>
              </a:ext>
            </a:extLst>
          </p:cNvPr>
          <p:cNvSpPr txBox="1"/>
          <p:nvPr/>
        </p:nvSpPr>
        <p:spPr>
          <a:xfrm>
            <a:off x="467405" y="876294"/>
            <a:ext cx="185805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Index Law 1</a:t>
            </a:r>
          </a:p>
        </p:txBody>
      </p:sp>
      <p:sp>
        <p:nvSpPr>
          <p:cNvPr id="12" name="CustomShape 14">
            <a:extLst>
              <a:ext uri="{FF2B5EF4-FFF2-40B4-BE49-F238E27FC236}">
                <a16:creationId xmlns:a16="http://schemas.microsoft.com/office/drawing/2014/main" id="{DD306387-B1B0-4AE7-A229-45CB865A53BD}"/>
              </a:ext>
            </a:extLst>
          </p:cNvPr>
          <p:cNvSpPr/>
          <p:nvPr/>
        </p:nvSpPr>
        <p:spPr>
          <a:xfrm>
            <a:off x="2348128" y="539023"/>
            <a:ext cx="5538968" cy="11435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CustomShape 16">
            <a:extLst>
              <a:ext uri="{FF2B5EF4-FFF2-40B4-BE49-F238E27FC236}">
                <a16:creationId xmlns:a16="http://schemas.microsoft.com/office/drawing/2014/main" id="{AAE4FDF6-72CF-41C3-B600-7288D9609AD1}"/>
              </a:ext>
            </a:extLst>
          </p:cNvPr>
          <p:cNvSpPr/>
          <p:nvPr/>
        </p:nvSpPr>
        <p:spPr>
          <a:xfrm>
            <a:off x="467405" y="2078861"/>
            <a:ext cx="4918440" cy="81612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EEB073-80B4-4A47-9E48-4259640E3864}"/>
              </a:ext>
            </a:extLst>
          </p:cNvPr>
          <p:cNvSpPr txBox="1"/>
          <p:nvPr/>
        </p:nvSpPr>
        <p:spPr>
          <a:xfrm>
            <a:off x="467405" y="1550641"/>
            <a:ext cx="2596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B7CCCC-6B8F-4614-AA5D-6B2767023EFC}"/>
              </a:ext>
            </a:extLst>
          </p:cNvPr>
          <p:cNvSpPr txBox="1"/>
          <p:nvPr/>
        </p:nvSpPr>
        <p:spPr>
          <a:xfrm>
            <a:off x="341973" y="3686950"/>
            <a:ext cx="185805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Index Law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F0BA1-6ACE-487A-A541-09C8DBF29EE1}"/>
              </a:ext>
            </a:extLst>
          </p:cNvPr>
          <p:cNvSpPr txBox="1"/>
          <p:nvPr/>
        </p:nvSpPr>
        <p:spPr>
          <a:xfrm>
            <a:off x="8249772" y="3089249"/>
            <a:ext cx="2596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19" name="CustomShape 17">
            <a:extLst>
              <a:ext uri="{FF2B5EF4-FFF2-40B4-BE49-F238E27FC236}">
                <a16:creationId xmlns:a16="http://schemas.microsoft.com/office/drawing/2014/main" id="{09FA5C46-5E22-4DCF-82FE-E2ABC5519B88}"/>
              </a:ext>
            </a:extLst>
          </p:cNvPr>
          <p:cNvSpPr/>
          <p:nvPr/>
        </p:nvSpPr>
        <p:spPr>
          <a:xfrm>
            <a:off x="2072999" y="3557693"/>
            <a:ext cx="4861247" cy="2159286"/>
          </a:xfrm>
          <a:prstGeom prst="rect">
            <a:avLst/>
          </a:prstGeom>
          <a:blipFill>
            <a:blip r:embed="rId5"/>
            <a:stretch>
              <a:fillRect l="-4214" b="-6741"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CustomShape 19">
            <a:extLst>
              <a:ext uri="{FF2B5EF4-FFF2-40B4-BE49-F238E27FC236}">
                <a16:creationId xmlns:a16="http://schemas.microsoft.com/office/drawing/2014/main" id="{98994F39-9FC9-4947-9F1B-EE88F6CD5936}"/>
              </a:ext>
            </a:extLst>
          </p:cNvPr>
          <p:cNvSpPr/>
          <p:nvPr/>
        </p:nvSpPr>
        <p:spPr>
          <a:xfrm>
            <a:off x="7064032" y="3734307"/>
            <a:ext cx="4603943" cy="82835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CustomShape 21">
            <a:extLst>
              <a:ext uri="{FF2B5EF4-FFF2-40B4-BE49-F238E27FC236}">
                <a16:creationId xmlns:a16="http://schemas.microsoft.com/office/drawing/2014/main" id="{4E48BA7D-4089-4C1F-A025-F96421C5D136}"/>
              </a:ext>
            </a:extLst>
          </p:cNvPr>
          <p:cNvSpPr/>
          <p:nvPr/>
        </p:nvSpPr>
        <p:spPr>
          <a:xfrm>
            <a:off x="7344008" y="4798532"/>
            <a:ext cx="4043990" cy="1253819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AU" sz="1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 </a:t>
            </a:r>
            <a:endParaRPr lang="en-AU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291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/>
      <p:bldP spid="18" grpId="0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23" y="44803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Index Laws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8CBB2F-0DD4-438F-8048-A4B4BF6EBE9D}"/>
              </a:ext>
            </a:extLst>
          </p:cNvPr>
          <p:cNvSpPr txBox="1"/>
          <p:nvPr/>
        </p:nvSpPr>
        <p:spPr>
          <a:xfrm>
            <a:off x="383458" y="74116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Index Law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9A873-9CE2-4393-A218-C550483A1237}"/>
                  </a:ext>
                </a:extLst>
              </p:cNvPr>
              <p:cNvSpPr txBox="1"/>
              <p:nvPr/>
            </p:nvSpPr>
            <p:spPr>
              <a:xfrm>
                <a:off x="2501327" y="1317979"/>
                <a:ext cx="5235855" cy="830997"/>
              </a:xfrm>
              <a:prstGeom prst="rect">
                <a:avLst/>
              </a:prstGeom>
              <a:noFill/>
              <a:ln w="57150">
                <a:solidFill>
                  <a:srgbClr val="7030A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5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5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A9A873-9CE2-4393-A218-C550483A1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27" y="1317979"/>
                <a:ext cx="5235855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209575F-430A-4731-BA07-9DB1E8485F36}"/>
              </a:ext>
            </a:extLst>
          </p:cNvPr>
          <p:cNvSpPr txBox="1"/>
          <p:nvPr/>
        </p:nvSpPr>
        <p:spPr>
          <a:xfrm>
            <a:off x="306766" y="266435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Index Law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833943-92E5-4370-834D-3E0FC6C75685}"/>
                  </a:ext>
                </a:extLst>
              </p:cNvPr>
              <p:cNvSpPr txBox="1"/>
              <p:nvPr/>
            </p:nvSpPr>
            <p:spPr>
              <a:xfrm>
                <a:off x="2640301" y="3221372"/>
                <a:ext cx="3996900" cy="1015663"/>
              </a:xfrm>
              <a:prstGeom prst="rect">
                <a:avLst/>
              </a:prstGeom>
              <a:noFill/>
              <a:ln w="57150">
                <a:solidFill>
                  <a:srgbClr val="66FF33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6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66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833943-92E5-4370-834D-3E0FC6C75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01" y="3221372"/>
                <a:ext cx="3996900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rgbClr val="66FF33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23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C2810C-840B-4B7E-AD5E-9AE322EC19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65" b="22596"/>
          <a:stretch/>
        </p:blipFill>
        <p:spPr>
          <a:xfrm>
            <a:off x="105701" y="1425896"/>
            <a:ext cx="11973169" cy="1404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F7ADD-C214-4B93-87EA-986DA26A16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317"/>
          <a:stretch/>
        </p:blipFill>
        <p:spPr>
          <a:xfrm>
            <a:off x="105701" y="3273619"/>
            <a:ext cx="12086299" cy="1292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2E90FB-5608-4F7F-922C-E0253CF374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617"/>
          <a:stretch/>
        </p:blipFill>
        <p:spPr>
          <a:xfrm>
            <a:off x="60121" y="5009321"/>
            <a:ext cx="12056742" cy="72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3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287</Words>
  <Application>Microsoft Office PowerPoint</Application>
  <PresentationFormat>Widescreen</PresentationFormat>
  <Paragraphs>65</Paragraphs>
  <Slides>12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CF School Handwriting</vt:lpstr>
      <vt:lpstr>DejaVu Sans</vt:lpstr>
      <vt:lpstr>Fragment Core</vt:lpstr>
      <vt:lpstr>Kiwi School Handwriting</vt:lpstr>
      <vt:lpstr>Office Theme</vt:lpstr>
      <vt:lpstr>Revision – Directed Numbers</vt:lpstr>
      <vt:lpstr>BIMDAS</vt:lpstr>
      <vt:lpstr>PowerPoint Presentation</vt:lpstr>
      <vt:lpstr>Little Birdy Method</vt:lpstr>
      <vt:lpstr>PowerPoint Presentation</vt:lpstr>
      <vt:lpstr>Multiply and Divide Integers</vt:lpstr>
      <vt:lpstr>PowerPoint Presentation</vt:lpstr>
      <vt:lpstr>Special Numbers</vt:lpstr>
      <vt:lpstr>Index Notation</vt:lpstr>
      <vt:lpstr>Index Laws</vt:lpstr>
      <vt:lpstr>Index Laws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– Directed Numbers</dc:title>
  <dc:creator>Nine LABUSCHAGNE</dc:creator>
  <cp:lastModifiedBy>LABUSCHAGNE Nine [Baldivis Secondary College]</cp:lastModifiedBy>
  <cp:revision>13</cp:revision>
  <dcterms:created xsi:type="dcterms:W3CDTF">2018-04-09T00:59:27Z</dcterms:created>
  <dcterms:modified xsi:type="dcterms:W3CDTF">2018-04-09T01:18:45Z</dcterms:modified>
</cp:coreProperties>
</file>
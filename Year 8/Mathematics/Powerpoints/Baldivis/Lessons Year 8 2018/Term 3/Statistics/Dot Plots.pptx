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4"/>
  </p:sldMasterIdLst>
  <p:notesMasterIdLst>
    <p:notesMasterId r:id="rId17"/>
  </p:notesMasterIdLst>
  <p:handoutMasterIdLst>
    <p:handoutMasterId r:id="rId18"/>
  </p:handoutMasterIdLst>
  <p:sldIdLst>
    <p:sldId id="258" r:id="rId5"/>
    <p:sldId id="266" r:id="rId6"/>
    <p:sldId id="343" r:id="rId7"/>
    <p:sldId id="268" r:id="rId8"/>
    <p:sldId id="317" r:id="rId9"/>
    <p:sldId id="341" r:id="rId10"/>
    <p:sldId id="338" r:id="rId11"/>
    <p:sldId id="333" r:id="rId12"/>
    <p:sldId id="340" r:id="rId13"/>
    <p:sldId id="329" r:id="rId14"/>
    <p:sldId id="280" r:id="rId15"/>
    <p:sldId id="318"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8" autoAdjust="0"/>
    <p:restoredTop sz="89973"/>
  </p:normalViewPr>
  <p:slideViewPr>
    <p:cSldViewPr snapToGrid="0">
      <p:cViewPr varScale="1">
        <p:scale>
          <a:sx n="105" d="100"/>
          <a:sy n="105" d="100"/>
        </p:scale>
        <p:origin x="200" y="408"/>
      </p:cViewPr>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notesMaster" Target="notesMasters/notesMaster1.xml"/><Relationship Id="rId18" Type="http://schemas.openxmlformats.org/officeDocument/2006/relationships/handoutMaster" Target="handoutMasters/handoutMaster1.xml"/><Relationship Id="rId19" Type="http://schemas.openxmlformats.org/officeDocument/2006/relationships/presProps" Target="presProps.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t>7/24/18</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t>‹#›</a:t>
            </a:fld>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7F6C43-988E-4257-9A1C-C162EF036D58}" type="datetimeFigureOut">
              <a:rPr lang="en-US"/>
              <a:t>7/24/18</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D491D0-8E1B-49C7-849B-A28568D94497}" type="slidenum">
              <a:rPr/>
              <a:t>‹#›</a:t>
            </a:fld>
            <a:endParaRPr/>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Teacher notes: Students are creating a human dot plot with the numbers</a:t>
            </a:r>
            <a:r>
              <a:rPr lang="en-US" baseline="0" dirty="0" smtClean="0"/>
              <a:t> 1-12 representing the months of the </a:t>
            </a:r>
            <a:r>
              <a:rPr lang="en-US" baseline="0" dirty="0" smtClean="0"/>
              <a:t>year. A little practical pre-activity that introduces them to what they’re about to create on paper.</a:t>
            </a:r>
          </a:p>
          <a:p>
            <a:endParaRPr lang="en-US" baseline="0" dirty="0" smtClean="0"/>
          </a:p>
          <a:p>
            <a:r>
              <a:rPr lang="en-US" baseline="0" dirty="0" smtClean="0"/>
              <a:t>You can do this survey with anything else you might want (</a:t>
            </a:r>
            <a:r>
              <a:rPr lang="en-US" baseline="0" dirty="0" err="1" smtClean="0"/>
              <a:t>instagram</a:t>
            </a:r>
            <a:r>
              <a:rPr lang="en-US" baseline="0" dirty="0" smtClean="0"/>
              <a:t> followers, </a:t>
            </a:r>
            <a:r>
              <a:rPr lang="en-US" baseline="0" dirty="0" err="1" smtClean="0"/>
              <a:t>favourite</a:t>
            </a:r>
            <a:r>
              <a:rPr lang="en-US" baseline="0" dirty="0" smtClean="0"/>
              <a:t> </a:t>
            </a:r>
            <a:r>
              <a:rPr lang="en-US" baseline="0" dirty="0" err="1" smtClean="0"/>
              <a:t>colours</a:t>
            </a:r>
            <a:r>
              <a:rPr lang="en-US" baseline="0" dirty="0" smtClean="0"/>
              <a:t>, etc...)</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3</a:t>
            </a:fld>
            <a:endParaRPr lang="uk-UA"/>
          </a:p>
        </p:txBody>
      </p:sp>
    </p:spTree>
    <p:extLst>
      <p:ext uri="{BB962C8B-B14F-4D97-AF65-F5344CB8AC3E}">
        <p14:creationId xmlns:p14="http://schemas.microsoft.com/office/powerpoint/2010/main" val="81570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Guide students through the question.</a:t>
            </a:r>
          </a:p>
          <a:p>
            <a:r>
              <a:rPr lang="en-AU" dirty="0"/>
              <a:t>Option</a:t>
            </a:r>
            <a:r>
              <a:rPr lang="en-AU" baseline="0" dirty="0"/>
              <a:t> 2: Dot plots handout (Scaffolded for kids who may need </a:t>
            </a:r>
            <a:r>
              <a:rPr lang="en-AU" baseline="0"/>
              <a:t>extra help)</a:t>
            </a:r>
            <a:endParaRPr lang="en-US"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7</a:t>
            </a:fld>
            <a:endParaRPr lang="en-US"/>
          </a:p>
        </p:txBody>
      </p:sp>
    </p:spTree>
    <p:extLst>
      <p:ext uri="{BB962C8B-B14F-4D97-AF65-F5344CB8AC3E}">
        <p14:creationId xmlns:p14="http://schemas.microsoft.com/office/powerpoint/2010/main" val="9984173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Statistics Foldable</a:t>
            </a:r>
            <a:r>
              <a:rPr lang="en-US" baseline="0" dirty="0" smtClean="0"/>
              <a:t> works with both dot plots and histograms, so may be good to start now and add on to once we get to histograms. Or just wait until histograms, your call, Teach.</a:t>
            </a:r>
            <a:endParaRPr lang="en-US" dirty="0"/>
          </a:p>
        </p:txBody>
      </p:sp>
      <p:sp>
        <p:nvSpPr>
          <p:cNvPr id="4" name="Slide Number Placeholder 3"/>
          <p:cNvSpPr>
            <a:spLocks noGrp="1"/>
          </p:cNvSpPr>
          <p:nvPr>
            <p:ph type="sldNum" sz="quarter" idx="10"/>
          </p:nvPr>
        </p:nvSpPr>
        <p:spPr/>
        <p:txBody>
          <a:bodyPr/>
          <a:lstStyle/>
          <a:p>
            <a:fld id="{DED491D0-8E1B-49C7-849B-A28568D94497}" type="slidenum">
              <a:rPr lang="uk-UA" smtClean="0"/>
              <a:t>9</a:t>
            </a:fld>
            <a:endParaRPr lang="uk-UA"/>
          </a:p>
        </p:txBody>
      </p:sp>
    </p:spTree>
    <p:extLst>
      <p:ext uri="{BB962C8B-B14F-4D97-AF65-F5344CB8AC3E}">
        <p14:creationId xmlns:p14="http://schemas.microsoft.com/office/powerpoint/2010/main" val="16096828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9" name="Rectangle 8"/>
          <p:cNvSpPr/>
          <p:nvPr/>
        </p:nvSpPr>
        <p:spPr>
          <a:xfrm>
            <a:off x="2832533" y="1371600"/>
            <a:ext cx="9359467" cy="2971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2832533" y="4462272"/>
            <a:ext cx="9359467" cy="10332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bwMode="black">
          <a:xfrm>
            <a:off x="3175199" y="1943842"/>
            <a:ext cx="8500062" cy="2387600"/>
          </a:xfrm>
        </p:spPr>
        <p:txBody>
          <a:bodyPr anchor="b"/>
          <a:lstStyle>
            <a:lvl1pPr algn="l">
              <a:lnSpc>
                <a:spcPct val="90000"/>
              </a:lnSpc>
              <a:defRPr sz="6000" b="1">
                <a:solidFill>
                  <a:schemeClr val="tx1"/>
                </a:solidFill>
              </a:defRPr>
            </a:lvl1pPr>
          </a:lstStyle>
          <a:p>
            <a:r>
              <a:rPr/>
              <a:t>Click to edit Master title style</a:t>
            </a:r>
          </a:p>
        </p:txBody>
      </p:sp>
      <p:sp>
        <p:nvSpPr>
          <p:cNvPr id="3" name="Subtitle 2"/>
          <p:cNvSpPr>
            <a:spLocks noGrp="1"/>
          </p:cNvSpPr>
          <p:nvPr>
            <p:ph type="subTitle" idx="1"/>
          </p:nvPr>
        </p:nvSpPr>
        <p:spPr>
          <a:xfrm>
            <a:off x="3175199" y="4538659"/>
            <a:ext cx="8500062" cy="865321"/>
          </a:xfrm>
        </p:spPr>
        <p:txBody>
          <a:bodyPr/>
          <a:lstStyle>
            <a:lvl1pPr marL="0" indent="0" algn="l">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a:t>Click to edit Master subtitle style</a:t>
            </a:r>
          </a:p>
        </p:txBody>
      </p:sp>
      <p:sp>
        <p:nvSpPr>
          <p:cNvPr id="11" name="Date Placeholder 10"/>
          <p:cNvSpPr>
            <a:spLocks noGrp="1"/>
          </p:cNvSpPr>
          <p:nvPr>
            <p:ph type="dt" sz="half" idx="10"/>
          </p:nvPr>
        </p:nvSpPr>
        <p:spPr/>
        <p:txBody>
          <a:bodyPr/>
          <a:lstStyle/>
          <a:p>
            <a:fld id="{2CCFE9AC-F15C-4FA0-A6F1-298829FA691D}" type="datetimeFigureOut">
              <a:rPr lang="en-US"/>
              <a:t>7/24/18</a:t>
            </a:fld>
            <a:endParaRPr/>
          </a:p>
        </p:txBody>
      </p:sp>
      <p:sp>
        <p:nvSpPr>
          <p:cNvPr id="12" name="Footer Placeholder 11"/>
          <p:cNvSpPr>
            <a:spLocks noGrp="1"/>
          </p:cNvSpPr>
          <p:nvPr>
            <p:ph type="ftr" sz="quarter" idx="11"/>
          </p:nvPr>
        </p:nvSpPr>
        <p:spPr/>
        <p:txBody>
          <a:bodyPr/>
          <a:lstStyle/>
          <a:p>
            <a:endParaRPr/>
          </a:p>
        </p:txBody>
      </p:sp>
      <p:sp>
        <p:nvSpPr>
          <p:cNvPr id="13" name="Slide Number Placeholder 12"/>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idx="1"/>
          </p:nvPr>
        </p:nvSpPr>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CCFE9AC-F15C-4FA0-A6F1-298829FA691D}" type="datetimeFigureOut">
              <a:rPr lang="en-US"/>
              <a:t>7/24/18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bwMode="inv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Rectangle 7"/>
          <p:cNvSpPr/>
          <p:nvPr/>
        </p:nvSpPr>
        <p:spPr>
          <a:xfrm>
            <a:off x="3502152" y="-20637"/>
            <a:ext cx="7315200" cy="4343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3502152" y="4462272"/>
            <a:ext cx="7315200" cy="171907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bwMode="black">
          <a:xfrm>
            <a:off x="3838015" y="658346"/>
            <a:ext cx="6597464" cy="3664417"/>
          </a:xfrm>
        </p:spPr>
        <p:txBody>
          <a:bodyPr anchor="b">
            <a:normAutofit/>
          </a:bodyPr>
          <a:lstStyle>
            <a:lvl1pPr>
              <a:lnSpc>
                <a:spcPct val="90000"/>
              </a:lnSpc>
              <a:defRPr sz="5000" b="1">
                <a:solidFill>
                  <a:schemeClr val="tx1"/>
                </a:solidFill>
              </a:defRPr>
            </a:lvl1pPr>
          </a:lstStyle>
          <a:p>
            <a:r>
              <a:rPr/>
              <a:t>Click to edit Master title style</a:t>
            </a:r>
          </a:p>
        </p:txBody>
      </p:sp>
      <p:sp>
        <p:nvSpPr>
          <p:cNvPr id="3" name="Text Placeholder 2"/>
          <p:cNvSpPr>
            <a:spLocks noGrp="1"/>
          </p:cNvSpPr>
          <p:nvPr>
            <p:ph type="body" idx="1"/>
          </p:nvPr>
        </p:nvSpPr>
        <p:spPr>
          <a:xfrm>
            <a:off x="3838014" y="4589463"/>
            <a:ext cx="6597465" cy="1500187"/>
          </a:xfrm>
        </p:spPr>
        <p:txBody>
          <a:bodyPr/>
          <a:lstStyle>
            <a:lvl1pPr marL="0" indent="0">
              <a:spcBef>
                <a:spcPts val="0"/>
              </a:spcBef>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a:t>Click to edit Master text styles</a:t>
            </a:r>
          </a:p>
        </p:txBody>
      </p:sp>
      <p:sp>
        <p:nvSpPr>
          <p:cNvPr id="4" name="Date Placeholder 3"/>
          <p:cNvSpPr>
            <a:spLocks noGrp="1"/>
          </p:cNvSpPr>
          <p:nvPr>
            <p:ph type="dt" sz="half" idx="10"/>
          </p:nvPr>
        </p:nvSpPr>
        <p:spPr/>
        <p:txBody>
          <a:bodyPr/>
          <a:lstStyle/>
          <a:p>
            <a:fld id="{2CCFE9AC-F15C-4FA0-A6F1-298829FA691D}" type="datetimeFigureOut">
              <a:rPr lang="en-US"/>
              <a:t>7/24/18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82452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Content Placeholder 2"/>
          <p:cNvSpPr>
            <a:spLocks noGrp="1"/>
          </p:cNvSpPr>
          <p:nvPr>
            <p:ph sz="half" idx="1"/>
          </p:nvPr>
        </p:nvSpPr>
        <p:spPr>
          <a:xfrm>
            <a:off x="1280160" y="2194560"/>
            <a:ext cx="4489704" cy="3986784"/>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Content Placeholder 3"/>
          <p:cNvSpPr>
            <a:spLocks noGrp="1"/>
          </p:cNvSpPr>
          <p:nvPr>
            <p:ph sz="half" idx="2"/>
          </p:nvPr>
        </p:nvSpPr>
        <p:spPr>
          <a:xfrm>
            <a:off x="6415368" y="2194560"/>
            <a:ext cx="4493424" cy="3986784"/>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Date Placeholder 4"/>
          <p:cNvSpPr>
            <a:spLocks noGrp="1"/>
          </p:cNvSpPr>
          <p:nvPr>
            <p:ph type="dt" sz="half" idx="10"/>
          </p:nvPr>
        </p:nvSpPr>
        <p:spPr/>
        <p:txBody>
          <a:bodyPr/>
          <a:lstStyle/>
          <a:p>
            <a:fld id="{2CCFE9AC-F15C-4FA0-A6F1-298829FA691D}" type="datetimeFigureOut">
              <a:rPr lang="en-US"/>
              <a:t>7/24/18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Text Placeholder 2"/>
          <p:cNvSpPr>
            <a:spLocks noGrp="1"/>
          </p:cNvSpPr>
          <p:nvPr>
            <p:ph type="body" idx="1"/>
          </p:nvPr>
        </p:nvSpPr>
        <p:spPr>
          <a:xfrm>
            <a:off x="1280160"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4" name="Content Placeholder 3"/>
          <p:cNvSpPr>
            <a:spLocks noGrp="1"/>
          </p:cNvSpPr>
          <p:nvPr>
            <p:ph sz="half" idx="2"/>
          </p:nvPr>
        </p:nvSpPr>
        <p:spPr>
          <a:xfrm>
            <a:off x="1280160" y="2743194"/>
            <a:ext cx="4489704" cy="343376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5" name="Text Placeholder 4"/>
          <p:cNvSpPr>
            <a:spLocks noGrp="1"/>
          </p:cNvSpPr>
          <p:nvPr>
            <p:ph type="body" sz="quarter" idx="3"/>
          </p:nvPr>
        </p:nvSpPr>
        <p:spPr>
          <a:xfrm>
            <a:off x="6419088" y="1828456"/>
            <a:ext cx="4489704" cy="83069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t>Click to edit Master text styles</a:t>
            </a:r>
          </a:p>
        </p:txBody>
      </p:sp>
      <p:sp>
        <p:nvSpPr>
          <p:cNvPr id="6" name="Content Placeholder 5"/>
          <p:cNvSpPr>
            <a:spLocks noGrp="1"/>
          </p:cNvSpPr>
          <p:nvPr>
            <p:ph sz="quarter" idx="4"/>
          </p:nvPr>
        </p:nvSpPr>
        <p:spPr>
          <a:xfrm>
            <a:off x="6419088" y="2743194"/>
            <a:ext cx="4489704" cy="3433769"/>
          </a:xfrm>
        </p:spPr>
        <p:txBody>
          <a:body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7" name="Date Placeholder 6"/>
          <p:cNvSpPr>
            <a:spLocks noGrp="1"/>
          </p:cNvSpPr>
          <p:nvPr>
            <p:ph type="dt" sz="half" idx="10"/>
          </p:nvPr>
        </p:nvSpPr>
        <p:spPr/>
        <p:txBody>
          <a:bodyPr/>
          <a:lstStyle/>
          <a:p>
            <a:fld id="{2CCFE9AC-F15C-4FA0-A6F1-298829FA691D}" type="datetimeFigureOut">
              <a:rPr lang="en-US"/>
              <a:t>7/24/18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Date Placeholder 2"/>
          <p:cNvSpPr>
            <a:spLocks noGrp="1"/>
          </p:cNvSpPr>
          <p:nvPr>
            <p:ph type="dt" sz="half" idx="10"/>
          </p:nvPr>
        </p:nvSpPr>
        <p:spPr/>
        <p:txBody>
          <a:bodyPr/>
          <a:lstStyle/>
          <a:p>
            <a:fld id="{2CCFE9AC-F15C-4FA0-A6F1-298829FA691D}" type="datetimeFigureOut">
              <a:rPr lang="en-US"/>
              <a:t>7/24/18</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CFE9AC-F15C-4FA0-A6F1-298829FA691D}" type="datetimeFigureOut">
              <a:rPr lang="en-US"/>
              <a:t>7/24/18</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a:t>Click to edit Master title style</a:t>
            </a:r>
          </a:p>
        </p:txBody>
      </p:sp>
      <p:sp>
        <p:nvSpPr>
          <p:cNvPr id="3" name="Content Placeholder 2"/>
          <p:cNvSpPr>
            <a:spLocks noGrp="1"/>
          </p:cNvSpPr>
          <p:nvPr>
            <p:ph idx="1"/>
          </p:nvPr>
        </p:nvSpPr>
        <p:spPr>
          <a:xfrm>
            <a:off x="5518896" y="2465294"/>
            <a:ext cx="5389895" cy="4392706"/>
          </a:xfrm>
        </p:spPr>
        <p:txBody>
          <a:bodyPr>
            <a:norm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Text Placeholder 3"/>
          <p:cNvSpPr>
            <a:spLocks noGrp="1"/>
          </p:cNvSpPr>
          <p:nvPr>
            <p:ph type="body" sz="half" idx="2"/>
          </p:nvPr>
        </p:nvSpPr>
        <p:spPr>
          <a:xfrm>
            <a:off x="1291818" y="2465294"/>
            <a:ext cx="3834874" cy="3711669"/>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7/24/18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a:t>Click to edit Master title style</a:t>
            </a:r>
          </a:p>
        </p:txBody>
      </p:sp>
      <p:sp>
        <p:nvSpPr>
          <p:cNvPr id="3" name="Picture Placeholder 2"/>
          <p:cNvSpPr>
            <a:spLocks noGrp="1"/>
          </p:cNvSpPr>
          <p:nvPr>
            <p:ph type="pic" idx="1"/>
          </p:nvPr>
        </p:nvSpPr>
        <p:spPr>
          <a:xfrm>
            <a:off x="5518896" y="1828456"/>
            <a:ext cx="5389895" cy="5029544"/>
          </a:xfrm>
        </p:spPr>
        <p:txBody>
          <a:bodyPr tIns="137160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291819" y="2465293"/>
            <a:ext cx="3834874" cy="3711669"/>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a:t>Click to edit Master text styles</a:t>
            </a:r>
          </a:p>
        </p:txBody>
      </p:sp>
      <p:sp>
        <p:nvSpPr>
          <p:cNvPr id="5" name="Date Placeholder 4"/>
          <p:cNvSpPr>
            <a:spLocks noGrp="1"/>
          </p:cNvSpPr>
          <p:nvPr>
            <p:ph type="dt" sz="half" idx="10"/>
          </p:nvPr>
        </p:nvSpPr>
        <p:spPr/>
        <p:txBody>
          <a:bodyPr/>
          <a:lstStyle/>
          <a:p>
            <a:fld id="{2CCFE9AC-F15C-4FA0-A6F1-298829FA691D}" type="datetimeFigureOut">
              <a:rPr lang="en-US"/>
              <a:t>7/24/18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4161366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Click to edit Master title style</a:t>
            </a:r>
          </a:p>
        </p:txBody>
      </p:sp>
      <p:sp>
        <p:nvSpPr>
          <p:cNvPr id="3" name="Vertical Text Placeholder 2"/>
          <p:cNvSpPr>
            <a:spLocks noGrp="1"/>
          </p:cNvSpPr>
          <p:nvPr>
            <p:ph type="body" orient="vert" idx="1"/>
          </p:nvPr>
        </p:nvSpPr>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p:txBody>
          <a:bodyPr/>
          <a:lstStyle/>
          <a:p>
            <a:fld id="{2CCFE9AC-F15C-4FA0-A6F1-298829FA691D}" type="datetimeFigureOut">
              <a:rPr lang="en-US"/>
              <a:t>7/24/18</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BD266BE7-899D-4075-917F-DBDE33B6B692}" type="slidenum">
              <a:rPr/>
              <a:t>‹#›</a:t>
            </a:fld>
            <a:endParaRPr/>
          </a:p>
        </p:txBody>
      </p:sp>
    </p:spTree>
    <p:extLst>
      <p:ext uri="{BB962C8B-B14F-4D97-AF65-F5344CB8AC3E}">
        <p14:creationId xmlns:p14="http://schemas.microsoft.com/office/powerpoint/2010/main" val="2664405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a:off x="378199" y="462249"/>
            <a:ext cx="9693088" cy="5714714"/>
          </a:xfrm>
        </p:spPr>
        <p:txBody>
          <a:bodyPr vert="eaVert"/>
          <a:lstStyle/>
          <a:p>
            <a:pPr lvl="0"/>
            <a:r>
              <a:rPr/>
              <a:t>Click to edit Master text styles</a:t>
            </a:r>
          </a:p>
          <a:p>
            <a:pPr lvl="1"/>
            <a:r>
              <a:rPr/>
              <a:t>Second level</a:t>
            </a:r>
          </a:p>
          <a:p>
            <a:pPr lvl="2"/>
            <a:r>
              <a:rPr/>
              <a:t>Third level</a:t>
            </a:r>
          </a:p>
          <a:p>
            <a:pPr lvl="3"/>
            <a:r>
              <a:rPr/>
              <a:t>Fourth level</a:t>
            </a:r>
          </a:p>
          <a:p>
            <a:pPr lvl="4"/>
            <a:r>
              <a:rPr/>
              <a:t>Fifth level</a:t>
            </a:r>
          </a:p>
        </p:txBody>
      </p:sp>
      <p:sp>
        <p:nvSpPr>
          <p:cNvPr id="4" name="Date Placeholder 3"/>
          <p:cNvSpPr>
            <a:spLocks noGrp="1"/>
          </p:cNvSpPr>
          <p:nvPr>
            <p:ph type="dt" sz="half" idx="10"/>
          </p:nvPr>
        </p:nvSpPr>
        <p:spPr>
          <a:xfrm>
            <a:off x="378199" y="6356350"/>
            <a:ext cx="1971947" cy="365125"/>
          </a:xfrm>
        </p:spPr>
        <p:txBody>
          <a:bodyPr/>
          <a:lstStyle/>
          <a:p>
            <a:fld id="{2CCFE9AC-F15C-4FA0-A6F1-298829FA691D}" type="datetimeFigureOut">
              <a:rPr lang="en-US"/>
              <a:t>7/24/18</a:t>
            </a:fld>
            <a:endParaRPr/>
          </a:p>
        </p:txBody>
      </p:sp>
      <p:sp>
        <p:nvSpPr>
          <p:cNvPr id="5" name="Footer Placeholder 4"/>
          <p:cNvSpPr>
            <a:spLocks noGrp="1"/>
          </p:cNvSpPr>
          <p:nvPr>
            <p:ph type="ftr" sz="quarter" idx="11"/>
          </p:nvPr>
        </p:nvSpPr>
        <p:spPr>
          <a:xfrm>
            <a:off x="2382374" y="6356350"/>
            <a:ext cx="5687786" cy="365125"/>
          </a:xfrm>
        </p:spPr>
        <p:txBody>
          <a:bodyPr/>
          <a:lstStyle/>
          <a:p>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invGray">
          <a:xfrm rot="5400000">
            <a:off x="7523375" y="2743540"/>
            <a:ext cx="6857433" cy="1371487"/>
          </a:xfrm>
          <a:prstGeom prst="rect">
            <a:avLst/>
          </a:prstGeom>
        </p:spPr>
      </p:pic>
      <p:sp>
        <p:nvSpPr>
          <p:cNvPr id="10" name="Rectangle 9"/>
          <p:cNvSpPr/>
          <p:nvPr/>
        </p:nvSpPr>
        <p:spPr>
          <a:xfrm rot="5400000">
            <a:off x="8267671" y="3370131"/>
            <a:ext cx="6858000"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10266348" y="462249"/>
            <a:ext cx="1370886" cy="5714714"/>
          </a:xfrm>
        </p:spPr>
        <p:txBody>
          <a:bodyPr vert="eaVert"/>
          <a:lstStyle/>
          <a:p>
            <a:r>
              <a:rPr/>
              <a:t>Click to edit Master title style</a:t>
            </a:r>
          </a:p>
        </p:txBody>
      </p:sp>
      <p:sp>
        <p:nvSpPr>
          <p:cNvPr id="6" name="Slide Number Placeholder 5"/>
          <p:cNvSpPr>
            <a:spLocks noGrp="1"/>
          </p:cNvSpPr>
          <p:nvPr>
            <p:ph type="sldNum" sz="quarter" idx="12"/>
          </p:nvPr>
        </p:nvSpPr>
        <p:spPr>
          <a:xfrm>
            <a:off x="8102389" y="6356350"/>
            <a:ext cx="1968898" cy="365125"/>
          </a:xfrm>
        </p:spPr>
        <p:txBody>
          <a:bodyPr/>
          <a:lstStyle/>
          <a:p>
            <a:fld id="{BD266BE7-899D-4075-917F-DBDE33B6B692}" type="slidenum">
              <a:rPr/>
              <a:t>‹#›</a:t>
            </a:fld>
            <a:endParaRPr/>
          </a:p>
        </p:txBody>
      </p:sp>
    </p:spTree>
    <p:extLst>
      <p:ext uri="{BB962C8B-B14F-4D97-AF65-F5344CB8AC3E}">
        <p14:creationId xmlns:p14="http://schemas.microsoft.com/office/powerpoint/2010/main" val="3029411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347472"/>
            <a:ext cx="12188952" cy="11887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8" name="Picture 7"/>
          <p:cNvPicPr>
            <a:picLocks noChangeAspect="1"/>
          </p:cNvPicPr>
          <p:nvPr/>
        </p:nvPicPr>
        <p:blipFill>
          <a:blip r:embed="rId13">
            <a:extLst>
              <a:ext uri="{28A0092B-C50C-407E-A947-70E740481C1C}">
                <a14:useLocalDpi xmlns:a14="http://schemas.microsoft.com/office/drawing/2010/main" val="0"/>
              </a:ext>
            </a:extLst>
          </a:blip>
          <a:stretch>
            <a:fillRect/>
          </a:stretch>
        </p:blipFill>
        <p:spPr bwMode="invGray">
          <a:xfrm>
            <a:off x="0" y="457200"/>
            <a:ext cx="12188952" cy="1371257"/>
          </a:xfrm>
          <a:prstGeom prst="rect">
            <a:avLst/>
          </a:prstGeom>
        </p:spPr>
      </p:pic>
      <p:sp>
        <p:nvSpPr>
          <p:cNvPr id="2" name="Title Placeholder 1"/>
          <p:cNvSpPr>
            <a:spLocks noGrp="1"/>
          </p:cNvSpPr>
          <p:nvPr>
            <p:ph type="title"/>
          </p:nvPr>
        </p:nvSpPr>
        <p:spPr bwMode="black">
          <a:xfrm>
            <a:off x="1280160" y="466343"/>
            <a:ext cx="9628632" cy="1362113"/>
          </a:xfrm>
          <a:prstGeom prst="rect">
            <a:avLst/>
          </a:prstGeom>
        </p:spPr>
        <p:txBody>
          <a:bodyPr vert="horz" lIns="91440" tIns="45720" rIns="91440" bIns="45720" rtlCol="0" anchor="ctr">
            <a:normAutofit/>
          </a:bodyPr>
          <a:lstStyle/>
          <a:p>
            <a:r>
              <a:rPr/>
              <a:t>Click to edit Master title style</a:t>
            </a:r>
          </a:p>
        </p:txBody>
      </p:sp>
      <p:sp>
        <p:nvSpPr>
          <p:cNvPr id="3" name="Text Placeholder 2"/>
          <p:cNvSpPr>
            <a:spLocks noGrp="1"/>
          </p:cNvSpPr>
          <p:nvPr>
            <p:ph type="body" idx="1"/>
          </p:nvPr>
        </p:nvSpPr>
        <p:spPr>
          <a:xfrm>
            <a:off x="1280160" y="2190749"/>
            <a:ext cx="9628632" cy="3986213"/>
          </a:xfrm>
          <a:prstGeom prst="rect">
            <a:avLst/>
          </a:prstGeom>
        </p:spPr>
        <p:txBody>
          <a:bodyPr vert="horz" lIns="91440" tIns="45720" rIns="91440" bIns="45720" rtlCol="0">
            <a:normAutofit/>
          </a:bodyPr>
          <a:lstStyle/>
          <a:p>
            <a:pPr lvl="0"/>
            <a:r>
              <a:rPr/>
              <a:t>Click to edit Master text styles</a:t>
            </a:r>
          </a:p>
          <a:p>
            <a:pPr lvl="1"/>
            <a:r>
              <a:rPr/>
              <a:t>Second level</a:t>
            </a:r>
          </a:p>
          <a:p>
            <a:pPr lvl="2"/>
            <a:r>
              <a:rPr/>
              <a:t>Third level</a:t>
            </a:r>
          </a:p>
          <a:p>
            <a:pPr lvl="3"/>
            <a:r>
              <a:rPr/>
              <a:t>Fourth level</a:t>
            </a:r>
          </a:p>
          <a:p>
            <a:pPr lvl="4"/>
            <a:r>
              <a:rPr/>
              <a:t>Fifth level</a:t>
            </a:r>
          </a:p>
          <a:p>
            <a:pPr lvl="5"/>
            <a:r>
              <a:rPr/>
              <a:t>Sixth</a:t>
            </a:r>
          </a:p>
          <a:p>
            <a:pPr lvl="6"/>
            <a:r>
              <a:rPr/>
              <a:t>Seventh</a:t>
            </a:r>
          </a:p>
          <a:p>
            <a:pPr lvl="7"/>
            <a:r>
              <a:rPr/>
              <a:t>Eighth</a:t>
            </a:r>
          </a:p>
          <a:p>
            <a:pPr lvl="8"/>
            <a:r>
              <a:rPr/>
              <a:t>Ninth</a:t>
            </a:r>
          </a:p>
        </p:txBody>
      </p:sp>
      <p:sp>
        <p:nvSpPr>
          <p:cNvPr id="4" name="Date Placeholder 3"/>
          <p:cNvSpPr>
            <a:spLocks noGrp="1"/>
          </p:cNvSpPr>
          <p:nvPr>
            <p:ph type="dt" sz="half" idx="2"/>
          </p:nvPr>
        </p:nvSpPr>
        <p:spPr>
          <a:xfrm>
            <a:off x="1280160" y="6356350"/>
            <a:ext cx="1971947"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CFE9AC-F15C-4FA0-A6F1-298829FA691D}" type="datetimeFigureOut">
              <a:rPr lang="en-US"/>
              <a:t>7/24/18</a:t>
            </a:fld>
            <a:endParaRPr/>
          </a:p>
        </p:txBody>
      </p:sp>
      <p:sp>
        <p:nvSpPr>
          <p:cNvPr id="5" name="Footer Placeholder 4"/>
          <p:cNvSpPr>
            <a:spLocks noGrp="1"/>
          </p:cNvSpPr>
          <p:nvPr>
            <p:ph type="ftr" sz="quarter" idx="3"/>
          </p:nvPr>
        </p:nvSpPr>
        <p:spPr>
          <a:xfrm>
            <a:off x="3252107" y="6356350"/>
            <a:ext cx="5687786"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a:p>
        </p:txBody>
      </p:sp>
      <p:sp>
        <p:nvSpPr>
          <p:cNvPr id="6" name="Slide Number Placeholder 5"/>
          <p:cNvSpPr>
            <a:spLocks noGrp="1"/>
          </p:cNvSpPr>
          <p:nvPr>
            <p:ph type="sldNum" sz="quarter" idx="4"/>
          </p:nvPr>
        </p:nvSpPr>
        <p:spPr>
          <a:xfrm>
            <a:off x="8939894" y="6356350"/>
            <a:ext cx="196889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266BE7-899D-4075-917F-DBDE33B6B692}" type="slidenum">
              <a:rPr/>
              <a:t>‹#›</a:t>
            </a:fld>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kern="1200">
          <a:solidFill>
            <a:schemeClr val="bg1"/>
          </a:solidFill>
          <a:latin typeface="+mj-lt"/>
          <a:ea typeface="+mj-ea"/>
          <a:cs typeface="+mj-cs"/>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Statistical Analysis</a:t>
            </a:r>
            <a:endParaRPr lang="en-US" dirty="0"/>
          </a:p>
        </p:txBody>
      </p:sp>
      <p:sp>
        <p:nvSpPr>
          <p:cNvPr id="3" name="Subtitle 2"/>
          <p:cNvSpPr>
            <a:spLocks noGrp="1"/>
          </p:cNvSpPr>
          <p:nvPr>
            <p:ph type="subTitle" idx="1"/>
          </p:nvPr>
        </p:nvSpPr>
        <p:spPr>
          <a:xfrm>
            <a:off x="2816352" y="4596384"/>
            <a:ext cx="9375647" cy="826516"/>
          </a:xfrm>
        </p:spPr>
        <p:txBody>
          <a:bodyPr>
            <a:noAutofit/>
          </a:bodyPr>
          <a:lstStyle/>
          <a:p>
            <a:r>
              <a:rPr lang="en-US" sz="2000" dirty="0" smtClean="0"/>
              <a:t>Topic: Dot Plots</a:t>
            </a:r>
          </a:p>
          <a:p>
            <a:r>
              <a:rPr lang="en-US" sz="2000" dirty="0" smtClean="0"/>
              <a:t>EQ: What is a dot plot and why do we use them to display data?</a:t>
            </a:r>
            <a:endParaRPr lang="en-US" sz="2000" dirty="0"/>
          </a:p>
        </p:txBody>
      </p:sp>
    </p:spTree>
    <p:extLst>
      <p:ext uri="{BB962C8B-B14F-4D97-AF65-F5344CB8AC3E}">
        <p14:creationId xmlns:p14="http://schemas.microsoft.com/office/powerpoint/2010/main" val="1732698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600" y="466343"/>
            <a:ext cx="12090400" cy="943357"/>
          </a:xfrm>
        </p:spPr>
        <p:txBody>
          <a:bodyPr/>
          <a:lstStyle/>
          <a:p>
            <a:r>
              <a:rPr lang="en-US" dirty="0" smtClean="0"/>
              <a:t>The Judging Standards for this unit (aka - How You will be Assessed!)</a:t>
            </a:r>
            <a:endParaRPr lang="en-US" dirty="0"/>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51912"/>
            <a:ext cx="12192000" cy="552133"/>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608655"/>
            <a:ext cx="12192000" cy="1577523"/>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427157"/>
            <a:ext cx="12192000" cy="1225948"/>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141728"/>
            <a:ext cx="12192000" cy="1408503"/>
          </a:xfrm>
          <a:prstGeom prst="rect">
            <a:avLst/>
          </a:prstGeom>
        </p:spPr>
      </p:pic>
    </p:spTree>
    <p:extLst>
      <p:ext uri="{BB962C8B-B14F-4D97-AF65-F5344CB8AC3E}">
        <p14:creationId xmlns:p14="http://schemas.microsoft.com/office/powerpoint/2010/main" val="29024663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anim calcmode="lin" valueType="num">
                                      <p:cBhvr additive="base">
                                        <p:cTn id="11" dur="500" fill="hold"/>
                                        <p:tgtEl>
                                          <p:spTgt spid="13"/>
                                        </p:tgtEl>
                                        <p:attrNameLst>
                                          <p:attrName>ppt_x</p:attrName>
                                        </p:attrNameLst>
                                      </p:cBhvr>
                                      <p:tavLst>
                                        <p:tav tm="0">
                                          <p:val>
                                            <p:strVal val="#ppt_x"/>
                                          </p:val>
                                        </p:tav>
                                        <p:tav tm="100000">
                                          <p:val>
                                            <p:strVal val="#ppt_x"/>
                                          </p:val>
                                        </p:tav>
                                      </p:tavLst>
                                    </p:anim>
                                    <p:anim calcmode="lin" valueType="num">
                                      <p:cBhvr additive="base">
                                        <p:cTn id="1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additive="base">
                                        <p:cTn id="17" dur="500" fill="hold"/>
                                        <p:tgtEl>
                                          <p:spTgt spid="12"/>
                                        </p:tgtEl>
                                        <p:attrNameLst>
                                          <p:attrName>ppt_x</p:attrName>
                                        </p:attrNameLst>
                                      </p:cBhvr>
                                      <p:tavLst>
                                        <p:tav tm="0">
                                          <p:val>
                                            <p:strVal val="#ppt_x"/>
                                          </p:val>
                                        </p:tav>
                                        <p:tav tm="100000">
                                          <p:val>
                                            <p:strVal val="#ppt_x"/>
                                          </p:val>
                                        </p:tav>
                                      </p:tavLst>
                                    </p:anim>
                                    <p:anim calcmode="lin" valueType="num">
                                      <p:cBhvr additive="base">
                                        <p:cTn id="1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 calcmode="lin" valueType="num">
                                      <p:cBhvr additive="base">
                                        <p:cTn id="23" dur="500" fill="hold"/>
                                        <p:tgtEl>
                                          <p:spTgt spid="14"/>
                                        </p:tgtEl>
                                        <p:attrNameLst>
                                          <p:attrName>ppt_x</p:attrName>
                                        </p:attrNameLst>
                                      </p:cBhvr>
                                      <p:tavLst>
                                        <p:tav tm="0">
                                          <p:val>
                                            <p:strVal val="#ppt_x"/>
                                          </p:val>
                                        </p:tav>
                                        <p:tav tm="100000">
                                          <p:val>
                                            <p:strVal val="#ppt_x"/>
                                          </p:val>
                                        </p:tav>
                                      </p:tavLst>
                                    </p:anim>
                                    <p:anim calcmode="lin" valueType="num">
                                      <p:cBhvr additive="base">
                                        <p:cTn id="2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9643" y="444041"/>
            <a:ext cx="11231508" cy="1329004"/>
          </a:xfrm>
        </p:spPr>
        <p:txBody>
          <a:bodyPr/>
          <a:lstStyle/>
          <a:p>
            <a:r>
              <a:rPr lang="en-US" dirty="0"/>
              <a:t>S</a:t>
            </a:r>
            <a:r>
              <a:rPr lang="en-US" dirty="0" smtClean="0"/>
              <a:t>tarter Activity </a:t>
            </a:r>
            <a:r>
              <a:rPr lang="mr-IN" dirty="0" smtClean="0"/>
              <a:t>–</a:t>
            </a:r>
            <a:r>
              <a:rPr lang="en-US" dirty="0" smtClean="0"/>
              <a:t> To be done in the classroom if space permits, or in the hallway/outside with chalk</a:t>
            </a:r>
            <a:endParaRPr lang="en-US" dirty="0"/>
          </a:p>
        </p:txBody>
      </p:sp>
      <p:sp>
        <p:nvSpPr>
          <p:cNvPr id="3" name="TextBox 2"/>
          <p:cNvSpPr txBox="1"/>
          <p:nvPr/>
        </p:nvSpPr>
        <p:spPr>
          <a:xfrm>
            <a:off x="367990" y="2230244"/>
            <a:ext cx="10738625" cy="3416320"/>
          </a:xfrm>
          <a:prstGeom prst="rect">
            <a:avLst/>
          </a:prstGeom>
          <a:noFill/>
        </p:spPr>
        <p:txBody>
          <a:bodyPr wrap="square" rtlCol="0">
            <a:spAutoFit/>
          </a:bodyPr>
          <a:lstStyle/>
          <a:p>
            <a:pPr marL="285750" indent="-285750">
              <a:buFont typeface="Arial" charset="0"/>
              <a:buChar char="•"/>
            </a:pPr>
            <a:r>
              <a:rPr lang="en-US" sz="2400" dirty="0" smtClean="0"/>
              <a:t>Wherever you are, mark a number line out (with tape, chalk, etc...), close to or on the ground, over a significant distance (ex </a:t>
            </a:r>
            <a:r>
              <a:rPr lang="mr-IN" sz="2400" dirty="0" smtClean="0"/>
              <a:t>–</a:t>
            </a:r>
            <a:r>
              <a:rPr lang="en-US" sz="2400" dirty="0" smtClean="0"/>
              <a:t> half the width of a classroom)</a:t>
            </a:r>
          </a:p>
          <a:p>
            <a:pPr marL="285750" indent="-285750">
              <a:buFont typeface="Arial" charset="0"/>
              <a:buChar char="•"/>
            </a:pPr>
            <a:endParaRPr lang="en-US" sz="2400" dirty="0" smtClean="0"/>
          </a:p>
          <a:p>
            <a:pPr marL="285750" indent="-285750">
              <a:buFont typeface="Arial" charset="0"/>
              <a:buChar char="•"/>
            </a:pPr>
            <a:r>
              <a:rPr lang="en-US" sz="2400" dirty="0" smtClean="0"/>
              <a:t>Number the intervals 1-12</a:t>
            </a:r>
          </a:p>
          <a:p>
            <a:pPr marL="285750" indent="-285750">
              <a:buFont typeface="Arial" charset="0"/>
              <a:buChar char="•"/>
            </a:pPr>
            <a:endParaRPr lang="en-US" sz="2400" dirty="0" smtClean="0"/>
          </a:p>
          <a:p>
            <a:pPr marL="285750" indent="-285750">
              <a:buFont typeface="Arial" charset="0"/>
              <a:buChar char="•"/>
            </a:pPr>
            <a:r>
              <a:rPr lang="en-US" sz="2400" dirty="0" smtClean="0"/>
              <a:t>Have students arrange themselves in the number that corresponds with their birth month ( 1- Jan, 2 </a:t>
            </a:r>
            <a:r>
              <a:rPr lang="mr-IN" sz="2400" dirty="0" smtClean="0"/>
              <a:t>–</a:t>
            </a:r>
            <a:r>
              <a:rPr lang="en-US" sz="2400" dirty="0" smtClean="0"/>
              <a:t> Feb, 3 </a:t>
            </a:r>
            <a:r>
              <a:rPr lang="mr-IN" sz="2400" dirty="0" smtClean="0"/>
              <a:t>–</a:t>
            </a:r>
            <a:r>
              <a:rPr lang="en-US" sz="2400" dirty="0" smtClean="0"/>
              <a:t> Mar, etc...)</a:t>
            </a:r>
          </a:p>
          <a:p>
            <a:pPr marL="285750" indent="-285750">
              <a:buFont typeface="Arial" charset="0"/>
              <a:buChar char="•"/>
            </a:pPr>
            <a:endParaRPr lang="en-US" sz="2400" dirty="0" smtClean="0"/>
          </a:p>
          <a:p>
            <a:pPr marL="285750" indent="-285750">
              <a:buFont typeface="Arial" charset="0"/>
              <a:buChar char="•"/>
            </a:pPr>
            <a:r>
              <a:rPr lang="en-US" sz="2400" dirty="0" smtClean="0"/>
              <a:t>What type of graph might this be? </a:t>
            </a:r>
            <a:endParaRPr lang="en-US" sz="2400" dirty="0"/>
          </a:p>
        </p:txBody>
      </p:sp>
    </p:spTree>
    <p:extLst>
      <p:ext uri="{BB962C8B-B14F-4D97-AF65-F5344CB8AC3E}">
        <p14:creationId xmlns:p14="http://schemas.microsoft.com/office/powerpoint/2010/main" val="852797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p:cNvCxnSpPr/>
          <p:nvPr/>
        </p:nvCxnSpPr>
        <p:spPr>
          <a:xfrm>
            <a:off x="0" y="5998464"/>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0" y="5998464"/>
            <a:ext cx="1455463" cy="461665"/>
          </a:xfrm>
          <a:prstGeom prst="rect">
            <a:avLst/>
          </a:prstGeom>
          <a:noFill/>
        </p:spPr>
        <p:txBody>
          <a:bodyPr wrap="none" rtlCol="0">
            <a:spAutoFit/>
          </a:bodyPr>
          <a:lstStyle/>
          <a:p>
            <a:r>
              <a:rPr lang="en-US" sz="2400" dirty="0" smtClean="0"/>
              <a:t>Summary:</a:t>
            </a:r>
            <a:endParaRPr lang="en-US" sz="2400" dirty="0"/>
          </a:p>
        </p:txBody>
      </p:sp>
      <p:sp>
        <p:nvSpPr>
          <p:cNvPr id="15"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dirty="0" smtClean="0"/>
              <a:t>Dot Plots</a:t>
            </a:r>
            <a:br>
              <a:rPr lang="en-US" dirty="0" smtClean="0"/>
            </a:br>
            <a:r>
              <a:rPr lang="en-US" dirty="0" smtClean="0"/>
              <a:t>EQ: </a:t>
            </a:r>
            <a:r>
              <a:rPr lang="en-US" sz="2900" dirty="0" smtClean="0"/>
              <a:t>What are dot plots and why do we use them to display data? </a:t>
            </a:r>
            <a:endParaRPr lang="en-US" sz="2900" dirty="0"/>
          </a:p>
        </p:txBody>
      </p:sp>
    </p:spTree>
    <p:extLst>
      <p:ext uri="{BB962C8B-B14F-4D97-AF65-F5344CB8AC3E}">
        <p14:creationId xmlns:p14="http://schemas.microsoft.com/office/powerpoint/2010/main" val="42187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smtClean="0"/>
              <a:t>Dot Plots</a:t>
            </a:r>
            <a:br>
              <a:rPr lang="en-US" dirty="0" smtClean="0"/>
            </a:br>
            <a:r>
              <a:rPr lang="en-US" dirty="0" smtClean="0"/>
              <a:t>EQ: </a:t>
            </a:r>
            <a:r>
              <a:rPr lang="en-US" sz="2900" dirty="0" smtClean="0"/>
              <a:t>What </a:t>
            </a:r>
            <a:r>
              <a:rPr lang="en-US" sz="2900" dirty="0"/>
              <a:t>are </a:t>
            </a:r>
            <a:r>
              <a:rPr lang="en-US" sz="2900" dirty="0" smtClean="0"/>
              <a:t>dot plots and why do we use them to display data? </a:t>
            </a:r>
            <a:endParaRPr lang="en-US" sz="2900" dirty="0"/>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cxnSp>
        <p:nvCxnSpPr>
          <p:cNvPr id="63" name="Straight Connector 62"/>
          <p:cNvCxnSpPr/>
          <p:nvPr/>
        </p:nvCxnSpPr>
        <p:spPr>
          <a:xfrm flipH="1">
            <a:off x="1497159" y="1790700"/>
            <a:ext cx="19407" cy="5067300"/>
          </a:xfrm>
          <a:prstGeom prst="line">
            <a:avLst/>
          </a:prstGeom>
        </p:spPr>
        <p:style>
          <a:lnRef idx="1">
            <a:schemeClr val="accent2"/>
          </a:lnRef>
          <a:fillRef idx="0">
            <a:schemeClr val="accent2"/>
          </a:fillRef>
          <a:effectRef idx="0">
            <a:schemeClr val="accent2"/>
          </a:effectRef>
          <a:fontRef idx="minor">
            <a:schemeClr val="tx1"/>
          </a:fontRef>
        </p:style>
      </p:cxnSp>
      <p:sp>
        <p:nvSpPr>
          <p:cNvPr id="64" name="TextBox 63"/>
          <p:cNvSpPr txBox="1"/>
          <p:nvPr/>
        </p:nvSpPr>
        <p:spPr>
          <a:xfrm>
            <a:off x="17935" y="2850502"/>
            <a:ext cx="1720003" cy="830740"/>
          </a:xfrm>
          <a:prstGeom prst="rect">
            <a:avLst/>
          </a:prstGeom>
          <a:noFill/>
        </p:spPr>
        <p:txBody>
          <a:bodyPr wrap="square" rtlCol="0">
            <a:spAutoFit/>
          </a:bodyPr>
          <a:lstStyle/>
          <a:p>
            <a:pPr defTabSz="914126"/>
            <a:r>
              <a:rPr lang="en-US" sz="2399" dirty="0">
                <a:solidFill>
                  <a:prstClr val="black"/>
                </a:solidFill>
                <a:latin typeface="Calibri" panose="020F0502020204030204"/>
              </a:rPr>
              <a:t>What are dot plots?</a:t>
            </a:r>
          </a:p>
        </p:txBody>
      </p:sp>
      <p:sp>
        <p:nvSpPr>
          <p:cNvPr id="65" name="TextBox 64"/>
          <p:cNvSpPr txBox="1"/>
          <p:nvPr/>
        </p:nvSpPr>
        <p:spPr>
          <a:xfrm>
            <a:off x="1757456" y="2846402"/>
            <a:ext cx="9544926" cy="461537"/>
          </a:xfrm>
          <a:prstGeom prst="rect">
            <a:avLst/>
          </a:prstGeom>
          <a:noFill/>
        </p:spPr>
        <p:txBody>
          <a:bodyPr wrap="square" rtlCol="0">
            <a:spAutoFit/>
          </a:bodyPr>
          <a:lstStyle/>
          <a:p>
            <a:pPr defTabSz="914126"/>
            <a:r>
              <a:rPr lang="en-AU" sz="2399" dirty="0">
                <a:solidFill>
                  <a:prstClr val="black"/>
                </a:solidFill>
                <a:latin typeface="Calibri" panose="020F0502020204030204"/>
              </a:rPr>
              <a:t>Dot plots are constructed by putting a dot for each data item above a scale. </a:t>
            </a:r>
            <a:endParaRPr lang="en-US" sz="2399" dirty="0">
              <a:solidFill>
                <a:prstClr val="black"/>
              </a:solidFill>
              <a:latin typeface="Calibri" panose="020F0502020204030204"/>
            </a:endParaRPr>
          </a:p>
        </p:txBody>
      </p:sp>
      <p:sp>
        <p:nvSpPr>
          <p:cNvPr id="66" name="TextBox 65"/>
          <p:cNvSpPr txBox="1"/>
          <p:nvPr/>
        </p:nvSpPr>
        <p:spPr>
          <a:xfrm>
            <a:off x="1757456" y="1947099"/>
            <a:ext cx="9544926" cy="830740"/>
          </a:xfrm>
          <a:prstGeom prst="rect">
            <a:avLst/>
          </a:prstGeom>
          <a:noFill/>
        </p:spPr>
        <p:txBody>
          <a:bodyPr wrap="square" rtlCol="0">
            <a:spAutoFit/>
          </a:bodyPr>
          <a:lstStyle/>
          <a:p>
            <a:pPr defTabSz="914126"/>
            <a:r>
              <a:rPr lang="en-AU" sz="2399" dirty="0">
                <a:solidFill>
                  <a:prstClr val="black"/>
                </a:solidFill>
                <a:latin typeface="Calibri" panose="020F0502020204030204"/>
              </a:rPr>
              <a:t>Displaying a data allows reader easily see the patterns in the data. Data can be displayed in dot plots, column plots, picture graphs etc. </a:t>
            </a:r>
            <a:endParaRPr lang="en-US" sz="2399" dirty="0">
              <a:solidFill>
                <a:prstClr val="black"/>
              </a:solidFill>
              <a:latin typeface="Calibri" panose="020F0502020204030204"/>
            </a:endParaRPr>
          </a:p>
        </p:txBody>
      </p:sp>
      <p:sp>
        <p:nvSpPr>
          <p:cNvPr id="67" name="TextBox 66"/>
          <p:cNvSpPr txBox="1"/>
          <p:nvPr/>
        </p:nvSpPr>
        <p:spPr>
          <a:xfrm>
            <a:off x="1757456" y="3477782"/>
            <a:ext cx="5667471" cy="830740"/>
          </a:xfrm>
          <a:prstGeom prst="rect">
            <a:avLst/>
          </a:prstGeom>
          <a:noFill/>
        </p:spPr>
        <p:txBody>
          <a:bodyPr wrap="square" rtlCol="0">
            <a:spAutoFit/>
          </a:bodyPr>
          <a:lstStyle/>
          <a:p>
            <a:pPr defTabSz="914126"/>
            <a:r>
              <a:rPr lang="en-AU" sz="2399" dirty="0">
                <a:solidFill>
                  <a:prstClr val="black"/>
                </a:solidFill>
                <a:latin typeface="Calibri" panose="020F0502020204030204"/>
              </a:rPr>
              <a:t>Each dot represents one data value. </a:t>
            </a:r>
          </a:p>
          <a:p>
            <a:pPr defTabSz="914126"/>
            <a:endParaRPr lang="en-AU" sz="2399" dirty="0">
              <a:solidFill>
                <a:prstClr val="black"/>
              </a:solidFill>
              <a:latin typeface="Calibri" panose="020F0502020204030204"/>
            </a:endParaRPr>
          </a:p>
        </p:txBody>
      </p:sp>
      <p:pic>
        <p:nvPicPr>
          <p:cNvPr id="68" name="Picture 6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4060" y="3671276"/>
            <a:ext cx="3301628" cy="3121153"/>
          </a:xfrm>
          <a:prstGeom prst="rect">
            <a:avLst/>
          </a:prstGeom>
        </p:spPr>
      </p:pic>
      <p:sp>
        <p:nvSpPr>
          <p:cNvPr id="69" name="TextBox 68"/>
          <p:cNvSpPr txBox="1"/>
          <p:nvPr/>
        </p:nvSpPr>
        <p:spPr>
          <a:xfrm>
            <a:off x="1757456" y="4308522"/>
            <a:ext cx="6179536" cy="2215991"/>
          </a:xfrm>
          <a:prstGeom prst="rect">
            <a:avLst/>
          </a:prstGeom>
          <a:noFill/>
        </p:spPr>
        <p:txBody>
          <a:bodyPr wrap="square" rtlCol="0">
            <a:spAutoFit/>
          </a:bodyPr>
          <a:lstStyle/>
          <a:p>
            <a:pPr defTabSz="914126"/>
            <a:r>
              <a:rPr lang="en-AU" sz="2400" dirty="0">
                <a:solidFill>
                  <a:prstClr val="black"/>
                </a:solidFill>
              </a:rPr>
              <a:t>How many families have 2 children?</a:t>
            </a:r>
          </a:p>
          <a:p>
            <a:pPr defTabSz="914126"/>
            <a:endParaRPr lang="en-AU" sz="2400" dirty="0">
              <a:solidFill>
                <a:prstClr val="black"/>
              </a:solidFill>
            </a:endParaRPr>
          </a:p>
          <a:p>
            <a:pPr defTabSz="914126"/>
            <a:r>
              <a:rPr lang="en-AU" sz="2400" dirty="0">
                <a:solidFill>
                  <a:prstClr val="black"/>
                </a:solidFill>
              </a:rPr>
              <a:t>What is the most common number of children in a family?</a:t>
            </a:r>
            <a:endParaRPr lang="en-US" sz="2400" dirty="0">
              <a:solidFill>
                <a:prstClr val="black"/>
              </a:solidFill>
            </a:endParaRPr>
          </a:p>
          <a:p>
            <a:endParaRPr lang="en-US" dirty="0" smtClean="0"/>
          </a:p>
          <a:p>
            <a:r>
              <a:rPr lang="en-US" sz="2400" dirty="0" smtClean="0">
                <a:solidFill>
                  <a:schemeClr val="tx2"/>
                </a:solidFill>
              </a:rPr>
              <a:t>How many people were surveyed?	</a:t>
            </a:r>
            <a:endParaRPr lang="en-US" sz="2400" dirty="0">
              <a:solidFill>
                <a:schemeClr val="tx2"/>
              </a:solidFill>
            </a:endParaRPr>
          </a:p>
        </p:txBody>
      </p:sp>
      <p:sp>
        <p:nvSpPr>
          <p:cNvPr id="70" name="TextBox 69"/>
          <p:cNvSpPr txBox="1"/>
          <p:nvPr/>
        </p:nvSpPr>
        <p:spPr>
          <a:xfrm>
            <a:off x="6379076" y="4311885"/>
            <a:ext cx="340158" cy="461665"/>
          </a:xfrm>
          <a:prstGeom prst="rect">
            <a:avLst/>
          </a:prstGeom>
          <a:noFill/>
        </p:spPr>
        <p:txBody>
          <a:bodyPr wrap="none" rtlCol="0">
            <a:spAutoFit/>
          </a:bodyPr>
          <a:lstStyle/>
          <a:p>
            <a:r>
              <a:rPr lang="en-US" sz="2400" dirty="0" smtClean="0">
                <a:solidFill>
                  <a:srgbClr val="002060"/>
                </a:solidFill>
              </a:rPr>
              <a:t>8</a:t>
            </a:r>
            <a:endParaRPr lang="en-US" sz="2400" dirty="0">
              <a:solidFill>
                <a:srgbClr val="002060"/>
              </a:solidFill>
            </a:endParaRPr>
          </a:p>
        </p:txBody>
      </p:sp>
      <p:sp>
        <p:nvSpPr>
          <p:cNvPr id="71" name="TextBox 70"/>
          <p:cNvSpPr txBox="1"/>
          <p:nvPr/>
        </p:nvSpPr>
        <p:spPr>
          <a:xfrm>
            <a:off x="4603946" y="5423245"/>
            <a:ext cx="340158" cy="461665"/>
          </a:xfrm>
          <a:prstGeom prst="rect">
            <a:avLst/>
          </a:prstGeom>
          <a:noFill/>
        </p:spPr>
        <p:txBody>
          <a:bodyPr wrap="none" rtlCol="0">
            <a:spAutoFit/>
          </a:bodyPr>
          <a:lstStyle/>
          <a:p>
            <a:r>
              <a:rPr lang="en-US" sz="2400" dirty="0">
                <a:solidFill>
                  <a:srgbClr val="002060"/>
                </a:solidFill>
              </a:rPr>
              <a:t>3</a:t>
            </a:r>
          </a:p>
        </p:txBody>
      </p:sp>
      <p:sp>
        <p:nvSpPr>
          <p:cNvPr id="72" name="TextBox 71"/>
          <p:cNvSpPr txBox="1"/>
          <p:nvPr/>
        </p:nvSpPr>
        <p:spPr>
          <a:xfrm>
            <a:off x="6379076" y="6038155"/>
            <a:ext cx="495649" cy="461665"/>
          </a:xfrm>
          <a:prstGeom prst="rect">
            <a:avLst/>
          </a:prstGeom>
          <a:noFill/>
        </p:spPr>
        <p:txBody>
          <a:bodyPr wrap="none" rtlCol="0">
            <a:spAutoFit/>
          </a:bodyPr>
          <a:lstStyle/>
          <a:p>
            <a:r>
              <a:rPr lang="en-US" sz="2400" dirty="0" smtClean="0">
                <a:solidFill>
                  <a:srgbClr val="002060"/>
                </a:solidFill>
              </a:rPr>
              <a:t>28</a:t>
            </a:r>
            <a:endParaRPr lang="en-US" sz="2400" dirty="0">
              <a:solidFill>
                <a:srgbClr val="002060"/>
              </a:solidFill>
            </a:endParaRPr>
          </a:p>
        </p:txBody>
      </p:sp>
    </p:spTree>
    <p:extLst>
      <p:ext uri="{BB962C8B-B14F-4D97-AF65-F5344CB8AC3E}">
        <p14:creationId xmlns:p14="http://schemas.microsoft.com/office/powerpoint/2010/main" val="112130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fade">
                                      <p:cBhvr>
                                        <p:cTn id="7" dur="5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4"/>
                                        </p:tgtEl>
                                        <p:attrNameLst>
                                          <p:attrName>style.visibility</p:attrName>
                                        </p:attrNameLst>
                                      </p:cBhvr>
                                      <p:to>
                                        <p:strVal val="visible"/>
                                      </p:to>
                                    </p:set>
                                    <p:animEffect transition="in" filter="fade">
                                      <p:cBhvr>
                                        <p:cTn id="12" dur="500"/>
                                        <p:tgtEl>
                                          <p:spTgt spid="6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5"/>
                                        </p:tgtEl>
                                        <p:attrNameLst>
                                          <p:attrName>style.visibility</p:attrName>
                                        </p:attrNameLst>
                                      </p:cBhvr>
                                      <p:to>
                                        <p:strVal val="visible"/>
                                      </p:to>
                                    </p:set>
                                    <p:animEffect transition="in" filter="fade">
                                      <p:cBhvr>
                                        <p:cTn id="17" dur="500"/>
                                        <p:tgtEl>
                                          <p:spTgt spid="6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fade">
                                      <p:cBhvr>
                                        <p:cTn id="27" dur="500"/>
                                        <p:tgtEl>
                                          <p:spTgt spid="67"/>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69"/>
                                        </p:tgtEl>
                                        <p:attrNameLst>
                                          <p:attrName>style.visibility</p:attrName>
                                        </p:attrNameLst>
                                      </p:cBhvr>
                                      <p:to>
                                        <p:strVal val="visible"/>
                                      </p:to>
                                    </p:set>
                                    <p:anim calcmode="lin" valueType="num">
                                      <p:cBhvr additive="base">
                                        <p:cTn id="32" dur="500" fill="hold"/>
                                        <p:tgtEl>
                                          <p:spTgt spid="69"/>
                                        </p:tgtEl>
                                        <p:attrNameLst>
                                          <p:attrName>ppt_x</p:attrName>
                                        </p:attrNameLst>
                                      </p:cBhvr>
                                      <p:tavLst>
                                        <p:tav tm="0">
                                          <p:val>
                                            <p:strVal val="#ppt_x"/>
                                          </p:val>
                                        </p:tav>
                                        <p:tav tm="100000">
                                          <p:val>
                                            <p:strVal val="#ppt_x"/>
                                          </p:val>
                                        </p:tav>
                                      </p:tavLst>
                                    </p:anim>
                                    <p:anim calcmode="lin" valueType="num">
                                      <p:cBhvr additive="base">
                                        <p:cTn id="33" dur="500" fill="hold"/>
                                        <p:tgtEl>
                                          <p:spTgt spid="6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70"/>
                                        </p:tgtEl>
                                        <p:attrNameLst>
                                          <p:attrName>style.visibility</p:attrName>
                                        </p:attrNameLst>
                                      </p:cBhvr>
                                      <p:to>
                                        <p:strVal val="visible"/>
                                      </p:to>
                                    </p:set>
                                    <p:anim calcmode="lin" valueType="num">
                                      <p:cBhvr additive="base">
                                        <p:cTn id="38" dur="500" fill="hold"/>
                                        <p:tgtEl>
                                          <p:spTgt spid="70"/>
                                        </p:tgtEl>
                                        <p:attrNameLst>
                                          <p:attrName>ppt_x</p:attrName>
                                        </p:attrNameLst>
                                      </p:cBhvr>
                                      <p:tavLst>
                                        <p:tav tm="0">
                                          <p:val>
                                            <p:strVal val="#ppt_x"/>
                                          </p:val>
                                        </p:tav>
                                        <p:tav tm="100000">
                                          <p:val>
                                            <p:strVal val="#ppt_x"/>
                                          </p:val>
                                        </p:tav>
                                      </p:tavLst>
                                    </p:anim>
                                    <p:anim calcmode="lin" valueType="num">
                                      <p:cBhvr additive="base">
                                        <p:cTn id="39" dur="500" fill="hold"/>
                                        <p:tgtEl>
                                          <p:spTgt spid="70"/>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71"/>
                                        </p:tgtEl>
                                        <p:attrNameLst>
                                          <p:attrName>style.visibility</p:attrName>
                                        </p:attrNameLst>
                                      </p:cBhvr>
                                      <p:to>
                                        <p:strVal val="visible"/>
                                      </p:to>
                                    </p:set>
                                    <p:anim calcmode="lin" valueType="num">
                                      <p:cBhvr additive="base">
                                        <p:cTn id="44" dur="500" fill="hold"/>
                                        <p:tgtEl>
                                          <p:spTgt spid="71"/>
                                        </p:tgtEl>
                                        <p:attrNameLst>
                                          <p:attrName>ppt_x</p:attrName>
                                        </p:attrNameLst>
                                      </p:cBhvr>
                                      <p:tavLst>
                                        <p:tav tm="0">
                                          <p:val>
                                            <p:strVal val="#ppt_x"/>
                                          </p:val>
                                        </p:tav>
                                        <p:tav tm="100000">
                                          <p:val>
                                            <p:strVal val="#ppt_x"/>
                                          </p:val>
                                        </p:tav>
                                      </p:tavLst>
                                    </p:anim>
                                    <p:anim calcmode="lin" valueType="num">
                                      <p:cBhvr additive="base">
                                        <p:cTn id="45"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72"/>
                                        </p:tgtEl>
                                        <p:attrNameLst>
                                          <p:attrName>style.visibility</p:attrName>
                                        </p:attrNameLst>
                                      </p:cBhvr>
                                      <p:to>
                                        <p:strVal val="visible"/>
                                      </p:to>
                                    </p:set>
                                    <p:anim calcmode="lin" valueType="num">
                                      <p:cBhvr additive="base">
                                        <p:cTn id="50" dur="500" fill="hold"/>
                                        <p:tgtEl>
                                          <p:spTgt spid="72"/>
                                        </p:tgtEl>
                                        <p:attrNameLst>
                                          <p:attrName>ppt_x</p:attrName>
                                        </p:attrNameLst>
                                      </p:cBhvr>
                                      <p:tavLst>
                                        <p:tav tm="0">
                                          <p:val>
                                            <p:strVal val="#ppt_x"/>
                                          </p:val>
                                        </p:tav>
                                        <p:tav tm="100000">
                                          <p:val>
                                            <p:strVal val="#ppt_x"/>
                                          </p:val>
                                        </p:tav>
                                      </p:tavLst>
                                    </p:anim>
                                    <p:anim calcmode="lin" valueType="num">
                                      <p:cBhvr additive="base">
                                        <p:cTn id="51"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p:bldP spid="65" grpId="0"/>
      <p:bldP spid="66" grpId="0"/>
      <p:bldP spid="67" grpId="0"/>
      <p:bldP spid="69" grpId="0"/>
      <p:bldP spid="70" grpId="0"/>
      <p:bldP spid="71" grpId="0"/>
      <p:bldP spid="7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smtClean="0"/>
              <a:t>Dot Plots</a:t>
            </a:r>
            <a:br>
              <a:rPr lang="en-US" dirty="0" smtClean="0"/>
            </a:br>
            <a:r>
              <a:rPr lang="en-US" dirty="0" smtClean="0"/>
              <a:t>EQ: </a:t>
            </a:r>
            <a:r>
              <a:rPr lang="en-US" sz="2900" dirty="0" smtClean="0"/>
              <a:t>What </a:t>
            </a:r>
            <a:r>
              <a:rPr lang="en-US" sz="2900" dirty="0"/>
              <a:t>are </a:t>
            </a:r>
            <a:r>
              <a:rPr lang="en-US" sz="2900" dirty="0" smtClean="0"/>
              <a:t>dot plots and why do we use them to display data? </a:t>
            </a:r>
            <a:endParaRPr lang="en-US" sz="2900" dirty="0"/>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26198" y="2076378"/>
            <a:ext cx="1720003" cy="1199944"/>
          </a:xfrm>
          <a:prstGeom prst="rect">
            <a:avLst/>
          </a:prstGeom>
          <a:noFill/>
        </p:spPr>
        <p:txBody>
          <a:bodyPr wrap="square" rtlCol="0">
            <a:spAutoFit/>
          </a:bodyPr>
          <a:lstStyle/>
          <a:p>
            <a:pPr defTabSz="914126">
              <a:defRPr/>
            </a:pPr>
            <a:r>
              <a:rPr lang="en-US" sz="2399" dirty="0">
                <a:solidFill>
                  <a:prstClr val="black"/>
                </a:solidFill>
                <a:latin typeface="Calibri" panose="020F0502020204030204"/>
              </a:rPr>
              <a:t>How do I create a dot plot?</a:t>
            </a:r>
          </a:p>
        </p:txBody>
      </p:sp>
      <p:sp>
        <p:nvSpPr>
          <p:cNvPr id="5" name="TextBox 4"/>
          <p:cNvSpPr txBox="1"/>
          <p:nvPr/>
        </p:nvSpPr>
        <p:spPr>
          <a:xfrm>
            <a:off x="1870899" y="2080605"/>
            <a:ext cx="9544926" cy="1199944"/>
          </a:xfrm>
          <a:prstGeom prst="rect">
            <a:avLst/>
          </a:prstGeom>
          <a:noFill/>
        </p:spPr>
        <p:txBody>
          <a:bodyPr wrap="square" rtlCol="0">
            <a:spAutoFit/>
          </a:bodyPr>
          <a:lstStyle/>
          <a:p>
            <a:pPr defTabSz="914126">
              <a:defRPr/>
            </a:pPr>
            <a:r>
              <a:rPr lang="en-AU" sz="2399" b="1" u="sng" dirty="0">
                <a:solidFill>
                  <a:prstClr val="black"/>
                </a:solidFill>
                <a:latin typeface="Calibri" panose="020F0502020204030204"/>
              </a:rPr>
              <a:t>Example 1:</a:t>
            </a:r>
          </a:p>
          <a:p>
            <a:pPr defTabSz="914126">
              <a:defRPr/>
            </a:pPr>
            <a:r>
              <a:rPr lang="en-AU" sz="2399" dirty="0">
                <a:solidFill>
                  <a:prstClr val="black"/>
                </a:solidFill>
                <a:latin typeface="Calibri" panose="020F0502020204030204"/>
              </a:rPr>
              <a:t>The following list shows ages of the students in the group:</a:t>
            </a:r>
          </a:p>
          <a:p>
            <a:pPr defTabSz="914126">
              <a:defRPr/>
            </a:pPr>
            <a:r>
              <a:rPr lang="en-AU" sz="2399" dirty="0">
                <a:solidFill>
                  <a:prstClr val="black"/>
                </a:solidFill>
                <a:latin typeface="Calibri" panose="020F0502020204030204"/>
              </a:rPr>
              <a:t>12, 12, 13, 12, 12, 11, 12, 11, 12, 12, 11, 11, 12, 13, 12 </a:t>
            </a:r>
          </a:p>
        </p:txBody>
      </p:sp>
      <p:cxnSp>
        <p:nvCxnSpPr>
          <p:cNvPr id="6" name="Straight Connector 5"/>
          <p:cNvCxnSpPr/>
          <p:nvPr/>
        </p:nvCxnSpPr>
        <p:spPr>
          <a:xfrm>
            <a:off x="8131889" y="5936336"/>
            <a:ext cx="3456000" cy="0"/>
          </a:xfrm>
          <a:prstGeom prst="line">
            <a:avLst/>
          </a:prstGeom>
          <a:ln w="19050">
            <a:solidFill>
              <a:schemeClr val="tx1"/>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8779577" y="58667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9931705" y="5866760"/>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1083833" y="5864328"/>
            <a:ext cx="0" cy="1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8563553" y="6031054"/>
            <a:ext cx="648072" cy="369332"/>
          </a:xfrm>
          <a:prstGeom prst="rect">
            <a:avLst/>
          </a:prstGeom>
          <a:noFill/>
        </p:spPr>
        <p:txBody>
          <a:bodyPr wrap="square" rtlCol="0">
            <a:spAutoFit/>
          </a:bodyPr>
          <a:lstStyle/>
          <a:p>
            <a:r>
              <a:rPr lang="en-AU" dirty="0"/>
              <a:t>11</a:t>
            </a:r>
            <a:endParaRPr lang="en-US" dirty="0"/>
          </a:p>
        </p:txBody>
      </p:sp>
      <p:sp>
        <p:nvSpPr>
          <p:cNvPr id="11" name="TextBox 10"/>
          <p:cNvSpPr txBox="1"/>
          <p:nvPr/>
        </p:nvSpPr>
        <p:spPr>
          <a:xfrm>
            <a:off x="9607670" y="6044328"/>
            <a:ext cx="648072" cy="369332"/>
          </a:xfrm>
          <a:prstGeom prst="rect">
            <a:avLst/>
          </a:prstGeom>
          <a:noFill/>
        </p:spPr>
        <p:txBody>
          <a:bodyPr wrap="square" rtlCol="0">
            <a:spAutoFit/>
          </a:bodyPr>
          <a:lstStyle/>
          <a:p>
            <a:pPr algn="ctr"/>
            <a:r>
              <a:rPr lang="en-AU" dirty="0"/>
              <a:t>12</a:t>
            </a:r>
            <a:endParaRPr lang="en-US" dirty="0"/>
          </a:p>
        </p:txBody>
      </p:sp>
      <p:sp>
        <p:nvSpPr>
          <p:cNvPr id="12" name="TextBox 11"/>
          <p:cNvSpPr txBox="1"/>
          <p:nvPr/>
        </p:nvSpPr>
        <p:spPr>
          <a:xfrm>
            <a:off x="10759797" y="6034918"/>
            <a:ext cx="648072" cy="369332"/>
          </a:xfrm>
          <a:prstGeom prst="rect">
            <a:avLst/>
          </a:prstGeom>
          <a:noFill/>
        </p:spPr>
        <p:txBody>
          <a:bodyPr wrap="square" rtlCol="0">
            <a:spAutoFit/>
          </a:bodyPr>
          <a:lstStyle/>
          <a:p>
            <a:pPr algn="ctr"/>
            <a:r>
              <a:rPr lang="en-AU" dirty="0"/>
              <a:t>13</a:t>
            </a:r>
            <a:endParaRPr lang="en-US" dirty="0"/>
          </a:p>
        </p:txBody>
      </p:sp>
      <p:sp>
        <p:nvSpPr>
          <p:cNvPr id="13" name="Oval 12"/>
          <p:cNvSpPr/>
          <p:nvPr/>
        </p:nvSpPr>
        <p:spPr>
          <a:xfrm>
            <a:off x="9877705" y="5704765"/>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4" name="Straight Connector 13"/>
          <p:cNvCxnSpPr/>
          <p:nvPr/>
        </p:nvCxnSpPr>
        <p:spPr>
          <a:xfrm flipV="1">
            <a:off x="1962225"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9877705" y="55697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6" name="Straight Connector 15"/>
          <p:cNvCxnSpPr/>
          <p:nvPr/>
        </p:nvCxnSpPr>
        <p:spPr>
          <a:xfrm flipV="1">
            <a:off x="2442873" y="293764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Oval 16"/>
          <p:cNvSpPr/>
          <p:nvPr/>
        </p:nvSpPr>
        <p:spPr>
          <a:xfrm>
            <a:off x="11029833" y="572031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8" name="Straight Connector 17"/>
          <p:cNvCxnSpPr/>
          <p:nvPr/>
        </p:nvCxnSpPr>
        <p:spPr>
          <a:xfrm flipV="1">
            <a:off x="2898329"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9877705" y="5427335"/>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0" name="Straight Connector 19"/>
          <p:cNvCxnSpPr/>
          <p:nvPr/>
        </p:nvCxnSpPr>
        <p:spPr>
          <a:xfrm flipV="1">
            <a:off x="3304569"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1" name="Oval 20"/>
          <p:cNvSpPr/>
          <p:nvPr/>
        </p:nvSpPr>
        <p:spPr>
          <a:xfrm>
            <a:off x="9877705" y="5280764"/>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2" name="Straight Connector 21"/>
          <p:cNvCxnSpPr/>
          <p:nvPr/>
        </p:nvCxnSpPr>
        <p:spPr>
          <a:xfrm flipV="1">
            <a:off x="3760954" y="2917846"/>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8725577" y="571140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4" name="Straight Connector 23"/>
          <p:cNvCxnSpPr/>
          <p:nvPr/>
        </p:nvCxnSpPr>
        <p:spPr>
          <a:xfrm flipV="1">
            <a:off x="4267856"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5" name="Oval 24"/>
          <p:cNvSpPr/>
          <p:nvPr/>
        </p:nvSpPr>
        <p:spPr>
          <a:xfrm>
            <a:off x="9877705" y="51449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6" name="Straight Connector 25"/>
          <p:cNvCxnSpPr/>
          <p:nvPr/>
        </p:nvCxnSpPr>
        <p:spPr>
          <a:xfrm flipV="1">
            <a:off x="4698721" y="2937640"/>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27" name="Oval 26"/>
          <p:cNvSpPr/>
          <p:nvPr/>
        </p:nvSpPr>
        <p:spPr>
          <a:xfrm>
            <a:off x="8728677" y="5569768"/>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28" name="Straight Connector 27"/>
          <p:cNvCxnSpPr/>
          <p:nvPr/>
        </p:nvCxnSpPr>
        <p:spPr>
          <a:xfrm flipV="1">
            <a:off x="5184336" y="2937906"/>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flipV="1">
            <a:off x="5610302" y="292254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V="1">
            <a:off x="6090950" y="294818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V="1">
            <a:off x="6471998" y="292254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flipV="1">
            <a:off x="6952646" y="2948183"/>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flipV="1">
            <a:off x="7421156" y="2918719"/>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V="1">
            <a:off x="7901804" y="2944359"/>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V="1">
            <a:off x="8344409" y="2912001"/>
            <a:ext cx="264624" cy="224459"/>
          </a:xfrm>
          <a:prstGeom prst="line">
            <a:avLst/>
          </a:prstGeom>
          <a:ln w="12700">
            <a:solidFill>
              <a:srgbClr val="FF0000"/>
            </a:solidFill>
          </a:ln>
        </p:spPr>
        <p:style>
          <a:lnRef idx="1">
            <a:schemeClr val="accent1"/>
          </a:lnRef>
          <a:fillRef idx="0">
            <a:schemeClr val="accent1"/>
          </a:fillRef>
          <a:effectRef idx="0">
            <a:schemeClr val="accent1"/>
          </a:effectRef>
          <a:fontRef idx="minor">
            <a:schemeClr val="tx1"/>
          </a:fontRef>
        </p:style>
      </p:cxnSp>
      <p:sp>
        <p:nvSpPr>
          <p:cNvPr id="36" name="Oval 35"/>
          <p:cNvSpPr/>
          <p:nvPr/>
        </p:nvSpPr>
        <p:spPr>
          <a:xfrm>
            <a:off x="8725577" y="5419797"/>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7" name="Oval 36"/>
          <p:cNvSpPr/>
          <p:nvPr/>
        </p:nvSpPr>
        <p:spPr>
          <a:xfrm>
            <a:off x="8725577" y="5273226"/>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8" name="Oval 37"/>
          <p:cNvSpPr/>
          <p:nvPr/>
        </p:nvSpPr>
        <p:spPr>
          <a:xfrm>
            <a:off x="9877705" y="4992387"/>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9" name="Oval 38"/>
          <p:cNvSpPr/>
          <p:nvPr/>
        </p:nvSpPr>
        <p:spPr>
          <a:xfrm>
            <a:off x="9877705" y="4853969"/>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0" name="Oval 39"/>
          <p:cNvSpPr/>
          <p:nvPr/>
        </p:nvSpPr>
        <p:spPr>
          <a:xfrm>
            <a:off x="9877705" y="4718173"/>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1" name="Oval 40"/>
          <p:cNvSpPr/>
          <p:nvPr/>
        </p:nvSpPr>
        <p:spPr>
          <a:xfrm>
            <a:off x="9877705" y="4565592"/>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3" name="Oval 42"/>
          <p:cNvSpPr/>
          <p:nvPr/>
        </p:nvSpPr>
        <p:spPr>
          <a:xfrm>
            <a:off x="11029833" y="5576296"/>
            <a:ext cx="108000" cy="108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44" name="TextBox 43"/>
          <p:cNvSpPr txBox="1"/>
          <p:nvPr/>
        </p:nvSpPr>
        <p:spPr>
          <a:xfrm>
            <a:off x="11515880" y="5975544"/>
            <a:ext cx="676120" cy="369332"/>
          </a:xfrm>
          <a:prstGeom prst="rect">
            <a:avLst/>
          </a:prstGeom>
          <a:noFill/>
        </p:spPr>
        <p:txBody>
          <a:bodyPr wrap="square" rtlCol="0">
            <a:spAutoFit/>
          </a:bodyPr>
          <a:lstStyle/>
          <a:p>
            <a:r>
              <a:rPr lang="en-AU" dirty="0"/>
              <a:t>Age</a:t>
            </a:r>
            <a:endParaRPr lang="en-US" dirty="0"/>
          </a:p>
        </p:txBody>
      </p:sp>
      <p:sp>
        <p:nvSpPr>
          <p:cNvPr id="45" name="TextBox 44"/>
          <p:cNvSpPr txBox="1"/>
          <p:nvPr/>
        </p:nvSpPr>
        <p:spPr>
          <a:xfrm>
            <a:off x="1870898" y="3322984"/>
            <a:ext cx="5702551" cy="3407000"/>
          </a:xfrm>
          <a:prstGeom prst="rect">
            <a:avLst/>
          </a:prstGeom>
          <a:noFill/>
        </p:spPr>
        <p:txBody>
          <a:bodyPr wrap="square" rtlCol="0">
            <a:spAutoFit/>
          </a:bodyPr>
          <a:lstStyle/>
          <a:p>
            <a:pPr defTabSz="914126">
              <a:defRPr/>
            </a:pPr>
            <a:r>
              <a:rPr lang="en-AU" sz="2399" b="1" u="sng" dirty="0">
                <a:solidFill>
                  <a:prstClr val="black"/>
                </a:solidFill>
                <a:latin typeface="Calibri" panose="020F0502020204030204"/>
              </a:rPr>
              <a:t>Process:</a:t>
            </a:r>
          </a:p>
          <a:p>
            <a:pPr defTabSz="914126">
              <a:defRPr/>
            </a:pPr>
            <a:r>
              <a:rPr lang="en-AU" sz="2400" dirty="0">
                <a:solidFill>
                  <a:prstClr val="black"/>
                </a:solidFill>
                <a:latin typeface="Calibri" panose="020F0502020204030204"/>
              </a:rPr>
              <a:t>Step 1 : Draw a number line from the lowest value to highest value. Leave room able the scale for the dots.</a:t>
            </a:r>
          </a:p>
          <a:p>
            <a:pPr defTabSz="914126">
              <a:defRPr/>
            </a:pPr>
            <a:endParaRPr lang="en-AU" sz="2400" dirty="0">
              <a:solidFill>
                <a:prstClr val="black"/>
              </a:solidFill>
              <a:latin typeface="Calibri" panose="020F0502020204030204"/>
            </a:endParaRPr>
          </a:p>
          <a:p>
            <a:pPr defTabSz="914126">
              <a:defRPr/>
            </a:pPr>
            <a:r>
              <a:rPr lang="en-AU" sz="2400" dirty="0">
                <a:solidFill>
                  <a:prstClr val="black"/>
                </a:solidFill>
                <a:latin typeface="Calibri" panose="020F0502020204030204"/>
              </a:rPr>
              <a:t>Step 2: Put dots for each number on the scale.</a:t>
            </a:r>
          </a:p>
          <a:p>
            <a:pPr defTabSz="914126">
              <a:defRPr/>
            </a:pPr>
            <a:endParaRPr lang="en-AU" sz="2400" dirty="0">
              <a:solidFill>
                <a:prstClr val="black"/>
              </a:solidFill>
              <a:latin typeface="Calibri" panose="020F0502020204030204"/>
            </a:endParaRPr>
          </a:p>
          <a:p>
            <a:pPr defTabSz="914126">
              <a:defRPr/>
            </a:pPr>
            <a:r>
              <a:rPr lang="en-AU" sz="2400" dirty="0">
                <a:solidFill>
                  <a:prstClr val="black"/>
                </a:solidFill>
                <a:latin typeface="Calibri" panose="020F0502020204030204"/>
              </a:rPr>
              <a:t>Step 3 : Label the number line</a:t>
            </a:r>
          </a:p>
        </p:txBody>
      </p:sp>
      <p:cxnSp>
        <p:nvCxnSpPr>
          <p:cNvPr id="46" name="Straight Connector 45"/>
          <p:cNvCxnSpPr/>
          <p:nvPr/>
        </p:nvCxnSpPr>
        <p:spPr>
          <a:xfrm flipH="1">
            <a:off x="1692918" y="1790700"/>
            <a:ext cx="11740" cy="5067300"/>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03296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
                                            <p:txEl>
                                              <p:pRg st="0" end="0"/>
                                            </p:txEl>
                                          </p:spTgt>
                                        </p:tgtEl>
                                        <p:attrNameLst>
                                          <p:attrName>style.visibility</p:attrName>
                                        </p:attrNameLst>
                                      </p:cBhvr>
                                      <p:to>
                                        <p:strVal val="visible"/>
                                      </p:to>
                                    </p:set>
                                    <p:animEffect transition="in" filter="fade">
                                      <p:cBhvr>
                                        <p:cTn id="12" dur="500"/>
                                        <p:tgtEl>
                                          <p:spTgt spid="4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fade">
                                      <p:cBhvr>
                                        <p:cTn id="17" dur="500"/>
                                        <p:tgtEl>
                                          <p:spTgt spid="4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5">
                                            <p:txEl>
                                              <p:pRg st="3" end="3"/>
                                            </p:txEl>
                                          </p:spTgt>
                                        </p:tgtEl>
                                        <p:attrNameLst>
                                          <p:attrName>style.visibility</p:attrName>
                                        </p:attrNameLst>
                                      </p:cBhvr>
                                      <p:to>
                                        <p:strVal val="visible"/>
                                      </p:to>
                                    </p:set>
                                    <p:animEffect transition="in" filter="fade">
                                      <p:cBhvr>
                                        <p:cTn id="22" dur="500"/>
                                        <p:tgtEl>
                                          <p:spTgt spid="4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5">
                                            <p:txEl>
                                              <p:pRg st="5" end="5"/>
                                            </p:txEl>
                                          </p:spTgt>
                                        </p:tgtEl>
                                        <p:attrNameLst>
                                          <p:attrName>style.visibility</p:attrName>
                                        </p:attrNameLst>
                                      </p:cBhvr>
                                      <p:to>
                                        <p:strVal val="visible"/>
                                      </p:to>
                                    </p:set>
                                    <p:animEffect transition="in" filter="fade">
                                      <p:cBhvr>
                                        <p:cTn id="27" dur="500"/>
                                        <p:tgtEl>
                                          <p:spTgt spid="45">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fade">
                                      <p:cBhvr>
                                        <p:cTn id="32" dur="500"/>
                                        <p:tgtEl>
                                          <p:spTgt spid="6"/>
                                        </p:tgtEl>
                                      </p:cBhvr>
                                    </p:animEffect>
                                  </p:childTnLst>
                                </p:cTn>
                              </p:par>
                              <p:par>
                                <p:cTn id="33" presetID="10" presetClass="entr" presetSubtype="0" fill="hold" nodeType="with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500"/>
                                        <p:tgtEl>
                                          <p:spTgt spid="7"/>
                                        </p:tgtEl>
                                      </p:cBhvr>
                                    </p:animEffect>
                                  </p:childTnLst>
                                </p:cTn>
                              </p:par>
                              <p:par>
                                <p:cTn id="36" presetID="10"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par>
                                <p:cTn id="39" presetID="10" presetClass="entr" presetSubtype="0"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childTnLst>
                                </p:cTn>
                              </p:par>
                            </p:childTnLst>
                          </p:cTn>
                        </p:par>
                        <p:par>
                          <p:cTn id="42" fill="hold">
                            <p:stCondLst>
                              <p:cond delay="500"/>
                            </p:stCondLst>
                            <p:childTnLst>
                              <p:par>
                                <p:cTn id="43" presetID="10" presetClass="entr" presetSubtype="0" fill="hold" grpId="0" nodeType="after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childTnLst>
                          </p:cTn>
                        </p:par>
                        <p:par>
                          <p:cTn id="46" fill="hold">
                            <p:stCondLst>
                              <p:cond delay="1000"/>
                            </p:stCondLst>
                            <p:childTnLst>
                              <p:par>
                                <p:cTn id="47" presetID="10" presetClass="entr" presetSubtype="0" fill="hold" grpId="0" nodeType="after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childTnLst>
                          </p:cTn>
                        </p:par>
                        <p:par>
                          <p:cTn id="50" fill="hold">
                            <p:stCondLst>
                              <p:cond delay="1500"/>
                            </p:stCondLst>
                            <p:childTnLst>
                              <p:par>
                                <p:cTn id="51" presetID="10" presetClass="entr" presetSubtype="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5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6" presetClass="entr" presetSubtype="16"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circle(in)">
                                      <p:cBhvr>
                                        <p:cTn id="58" dur="1000"/>
                                        <p:tgtEl>
                                          <p:spTgt spid="13"/>
                                        </p:tgtEl>
                                      </p:cBhvr>
                                    </p:animEffect>
                                  </p:childTnLst>
                                </p:cTn>
                              </p:par>
                            </p:childTnLst>
                          </p:cTn>
                        </p:par>
                        <p:par>
                          <p:cTn id="59" fill="hold">
                            <p:stCondLst>
                              <p:cond delay="1000"/>
                            </p:stCondLst>
                            <p:childTnLst>
                              <p:par>
                                <p:cTn id="60" presetID="22" presetClass="entr" presetSubtype="4"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down)">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animEffect transition="in" filter="circle(in)">
                                      <p:cBhvr>
                                        <p:cTn id="67" dur="1000"/>
                                        <p:tgtEl>
                                          <p:spTgt spid="15"/>
                                        </p:tgtEl>
                                      </p:cBhvr>
                                    </p:animEffect>
                                  </p:childTnLst>
                                </p:cTn>
                              </p:par>
                            </p:childTnLst>
                          </p:cTn>
                        </p:par>
                        <p:par>
                          <p:cTn id="68" fill="hold">
                            <p:stCondLst>
                              <p:cond delay="1000"/>
                            </p:stCondLst>
                            <p:childTnLst>
                              <p:par>
                                <p:cTn id="69" presetID="22" presetClass="entr" presetSubtype="4" fill="hold" nodeType="after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wipe(down)">
                                      <p:cBhvr>
                                        <p:cTn id="71" dur="500"/>
                                        <p:tgtEl>
                                          <p:spTgt spid="16"/>
                                        </p:tgtEl>
                                      </p:cBhvr>
                                    </p:animEffect>
                                  </p:childTnLst>
                                </p:cTn>
                              </p:par>
                            </p:childTnLst>
                          </p:cTn>
                        </p:par>
                      </p:childTnLst>
                    </p:cTn>
                  </p:par>
                  <p:par>
                    <p:cTn id="72" fill="hold">
                      <p:stCondLst>
                        <p:cond delay="indefinite"/>
                      </p:stCondLst>
                      <p:childTnLst>
                        <p:par>
                          <p:cTn id="73" fill="hold">
                            <p:stCondLst>
                              <p:cond delay="0"/>
                            </p:stCondLst>
                            <p:childTnLst>
                              <p:par>
                                <p:cTn id="74" presetID="6" presetClass="entr" presetSubtype="16" fill="hold" grpId="0" nodeType="click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circle(in)">
                                      <p:cBhvr>
                                        <p:cTn id="76" dur="1000"/>
                                        <p:tgtEl>
                                          <p:spTgt spid="17"/>
                                        </p:tgtEl>
                                      </p:cBhvr>
                                    </p:animEffect>
                                  </p:childTnLst>
                                </p:cTn>
                              </p:par>
                            </p:childTnLst>
                          </p:cTn>
                        </p:par>
                        <p:par>
                          <p:cTn id="77" fill="hold">
                            <p:stCondLst>
                              <p:cond delay="1000"/>
                            </p:stCondLst>
                            <p:childTnLst>
                              <p:par>
                                <p:cTn id="78" presetID="22" presetClass="entr" presetSubtype="4" fill="hold"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wipe(down)">
                                      <p:cBhvr>
                                        <p:cTn id="80" dur="500"/>
                                        <p:tgtEl>
                                          <p:spTgt spid="18"/>
                                        </p:tgtEl>
                                      </p:cBhvr>
                                    </p:animEffect>
                                  </p:childTnLst>
                                </p:cTn>
                              </p:par>
                            </p:childTnLst>
                          </p:cTn>
                        </p:par>
                      </p:childTnLst>
                    </p:cTn>
                  </p:par>
                  <p:par>
                    <p:cTn id="81" fill="hold">
                      <p:stCondLst>
                        <p:cond delay="indefinite"/>
                      </p:stCondLst>
                      <p:childTnLst>
                        <p:par>
                          <p:cTn id="82" fill="hold">
                            <p:stCondLst>
                              <p:cond delay="0"/>
                            </p:stCondLst>
                            <p:childTnLst>
                              <p:par>
                                <p:cTn id="83" presetID="6" presetClass="entr" presetSubtype="16" fill="hold" grpId="0"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circle(in)">
                                      <p:cBhvr>
                                        <p:cTn id="85" dur="1000"/>
                                        <p:tgtEl>
                                          <p:spTgt spid="19"/>
                                        </p:tgtEl>
                                      </p:cBhvr>
                                    </p:animEffect>
                                  </p:childTnLst>
                                </p:cTn>
                              </p:par>
                            </p:childTnLst>
                          </p:cTn>
                        </p:par>
                        <p:par>
                          <p:cTn id="86" fill="hold">
                            <p:stCondLst>
                              <p:cond delay="1000"/>
                            </p:stCondLst>
                            <p:childTnLst>
                              <p:par>
                                <p:cTn id="87" presetID="22" presetClass="entr" presetSubtype="4" fill="hold" nodeType="afterEffect">
                                  <p:stCondLst>
                                    <p:cond delay="0"/>
                                  </p:stCondLst>
                                  <p:childTnLst>
                                    <p:set>
                                      <p:cBhvr>
                                        <p:cTn id="88" dur="1" fill="hold">
                                          <p:stCondLst>
                                            <p:cond delay="0"/>
                                          </p:stCondLst>
                                        </p:cTn>
                                        <p:tgtEl>
                                          <p:spTgt spid="20"/>
                                        </p:tgtEl>
                                        <p:attrNameLst>
                                          <p:attrName>style.visibility</p:attrName>
                                        </p:attrNameLst>
                                      </p:cBhvr>
                                      <p:to>
                                        <p:strVal val="visible"/>
                                      </p:to>
                                    </p:set>
                                    <p:animEffect transition="in" filter="wipe(down)">
                                      <p:cBhvr>
                                        <p:cTn id="89" dur="500"/>
                                        <p:tgtEl>
                                          <p:spTgt spid="20"/>
                                        </p:tgtEl>
                                      </p:cBhvr>
                                    </p:animEffect>
                                  </p:childTnLst>
                                </p:cTn>
                              </p:par>
                            </p:childTnLst>
                          </p:cTn>
                        </p:par>
                      </p:childTnLst>
                    </p:cTn>
                  </p:par>
                  <p:par>
                    <p:cTn id="90" fill="hold">
                      <p:stCondLst>
                        <p:cond delay="indefinite"/>
                      </p:stCondLst>
                      <p:childTnLst>
                        <p:par>
                          <p:cTn id="91" fill="hold">
                            <p:stCondLst>
                              <p:cond delay="0"/>
                            </p:stCondLst>
                            <p:childTnLst>
                              <p:par>
                                <p:cTn id="92" presetID="6" presetClass="entr" presetSubtype="16" fill="hold" grpId="0" nodeType="clickEffect">
                                  <p:stCondLst>
                                    <p:cond delay="0"/>
                                  </p:stCondLst>
                                  <p:childTnLst>
                                    <p:set>
                                      <p:cBhvr>
                                        <p:cTn id="93" dur="1" fill="hold">
                                          <p:stCondLst>
                                            <p:cond delay="0"/>
                                          </p:stCondLst>
                                        </p:cTn>
                                        <p:tgtEl>
                                          <p:spTgt spid="21"/>
                                        </p:tgtEl>
                                        <p:attrNameLst>
                                          <p:attrName>style.visibility</p:attrName>
                                        </p:attrNameLst>
                                      </p:cBhvr>
                                      <p:to>
                                        <p:strVal val="visible"/>
                                      </p:to>
                                    </p:set>
                                    <p:animEffect transition="in" filter="circle(in)">
                                      <p:cBhvr>
                                        <p:cTn id="94" dur="1000"/>
                                        <p:tgtEl>
                                          <p:spTgt spid="21"/>
                                        </p:tgtEl>
                                      </p:cBhvr>
                                    </p:animEffect>
                                  </p:childTnLst>
                                </p:cTn>
                              </p:par>
                            </p:childTnLst>
                          </p:cTn>
                        </p:par>
                        <p:par>
                          <p:cTn id="95" fill="hold">
                            <p:stCondLst>
                              <p:cond delay="1000"/>
                            </p:stCondLst>
                            <p:childTnLst>
                              <p:par>
                                <p:cTn id="96" presetID="22" presetClass="entr" presetSubtype="4" fill="hold" nodeType="after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wipe(down)">
                                      <p:cBhvr>
                                        <p:cTn id="98" dur="500"/>
                                        <p:tgtEl>
                                          <p:spTgt spid="22"/>
                                        </p:tgtEl>
                                      </p:cBhvr>
                                    </p:animEffect>
                                  </p:childTnLst>
                                </p:cTn>
                              </p:par>
                            </p:childTnLst>
                          </p:cTn>
                        </p:par>
                      </p:childTnLst>
                    </p:cTn>
                  </p:par>
                  <p:par>
                    <p:cTn id="99" fill="hold">
                      <p:stCondLst>
                        <p:cond delay="indefinite"/>
                      </p:stCondLst>
                      <p:childTnLst>
                        <p:par>
                          <p:cTn id="100" fill="hold">
                            <p:stCondLst>
                              <p:cond delay="0"/>
                            </p:stCondLst>
                            <p:childTnLst>
                              <p:par>
                                <p:cTn id="101" presetID="6" presetClass="entr" presetSubtype="16" fill="hold" grpId="0" nodeType="click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circle(in)">
                                      <p:cBhvr>
                                        <p:cTn id="103" dur="1000"/>
                                        <p:tgtEl>
                                          <p:spTgt spid="23"/>
                                        </p:tgtEl>
                                      </p:cBhvr>
                                    </p:animEffect>
                                  </p:childTnLst>
                                </p:cTn>
                              </p:par>
                            </p:childTnLst>
                          </p:cTn>
                        </p:par>
                        <p:par>
                          <p:cTn id="104" fill="hold">
                            <p:stCondLst>
                              <p:cond delay="1000"/>
                            </p:stCondLst>
                            <p:childTnLst>
                              <p:par>
                                <p:cTn id="105" presetID="22" presetClass="entr" presetSubtype="4" fill="hold" nodeType="afterEffect">
                                  <p:stCondLst>
                                    <p:cond delay="0"/>
                                  </p:stCondLst>
                                  <p:childTnLst>
                                    <p:set>
                                      <p:cBhvr>
                                        <p:cTn id="106" dur="1" fill="hold">
                                          <p:stCondLst>
                                            <p:cond delay="0"/>
                                          </p:stCondLst>
                                        </p:cTn>
                                        <p:tgtEl>
                                          <p:spTgt spid="24"/>
                                        </p:tgtEl>
                                        <p:attrNameLst>
                                          <p:attrName>style.visibility</p:attrName>
                                        </p:attrNameLst>
                                      </p:cBhvr>
                                      <p:to>
                                        <p:strVal val="visible"/>
                                      </p:to>
                                    </p:set>
                                    <p:animEffect transition="in" filter="wipe(down)">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6" presetClass="entr" presetSubtype="16" fill="hold" grpId="0" nodeType="clickEffect">
                                  <p:stCondLst>
                                    <p:cond delay="0"/>
                                  </p:stCondLst>
                                  <p:childTnLst>
                                    <p:set>
                                      <p:cBhvr>
                                        <p:cTn id="111" dur="1" fill="hold">
                                          <p:stCondLst>
                                            <p:cond delay="0"/>
                                          </p:stCondLst>
                                        </p:cTn>
                                        <p:tgtEl>
                                          <p:spTgt spid="25"/>
                                        </p:tgtEl>
                                        <p:attrNameLst>
                                          <p:attrName>style.visibility</p:attrName>
                                        </p:attrNameLst>
                                      </p:cBhvr>
                                      <p:to>
                                        <p:strVal val="visible"/>
                                      </p:to>
                                    </p:set>
                                    <p:animEffect transition="in" filter="circle(in)">
                                      <p:cBhvr>
                                        <p:cTn id="112" dur="1000"/>
                                        <p:tgtEl>
                                          <p:spTgt spid="25"/>
                                        </p:tgtEl>
                                      </p:cBhvr>
                                    </p:animEffect>
                                  </p:childTnLst>
                                </p:cTn>
                              </p:par>
                            </p:childTnLst>
                          </p:cTn>
                        </p:par>
                        <p:par>
                          <p:cTn id="113" fill="hold">
                            <p:stCondLst>
                              <p:cond delay="1000"/>
                            </p:stCondLst>
                            <p:childTnLst>
                              <p:par>
                                <p:cTn id="114" presetID="22" presetClass="entr" presetSubtype="4" fill="hold" nodeType="afterEffect">
                                  <p:stCondLst>
                                    <p:cond delay="0"/>
                                  </p:stCondLst>
                                  <p:childTnLst>
                                    <p:set>
                                      <p:cBhvr>
                                        <p:cTn id="115" dur="1" fill="hold">
                                          <p:stCondLst>
                                            <p:cond delay="0"/>
                                          </p:stCondLst>
                                        </p:cTn>
                                        <p:tgtEl>
                                          <p:spTgt spid="26"/>
                                        </p:tgtEl>
                                        <p:attrNameLst>
                                          <p:attrName>style.visibility</p:attrName>
                                        </p:attrNameLst>
                                      </p:cBhvr>
                                      <p:to>
                                        <p:strVal val="visible"/>
                                      </p:to>
                                    </p:set>
                                    <p:animEffect transition="in" filter="wipe(down)">
                                      <p:cBhvr>
                                        <p:cTn id="116" dur="500"/>
                                        <p:tgtEl>
                                          <p:spTgt spid="26"/>
                                        </p:tgtEl>
                                      </p:cBhvr>
                                    </p:animEffect>
                                  </p:childTnLst>
                                </p:cTn>
                              </p:par>
                            </p:childTnLst>
                          </p:cTn>
                        </p:par>
                      </p:childTnLst>
                    </p:cTn>
                  </p:par>
                  <p:par>
                    <p:cTn id="117" fill="hold">
                      <p:stCondLst>
                        <p:cond delay="indefinite"/>
                      </p:stCondLst>
                      <p:childTnLst>
                        <p:par>
                          <p:cTn id="118" fill="hold">
                            <p:stCondLst>
                              <p:cond delay="0"/>
                            </p:stCondLst>
                            <p:childTnLst>
                              <p:par>
                                <p:cTn id="119" presetID="6" presetClass="entr" presetSubtype="16" fill="hold" grpId="0" nodeType="clickEffect">
                                  <p:stCondLst>
                                    <p:cond delay="0"/>
                                  </p:stCondLst>
                                  <p:childTnLst>
                                    <p:set>
                                      <p:cBhvr>
                                        <p:cTn id="120" dur="1" fill="hold">
                                          <p:stCondLst>
                                            <p:cond delay="0"/>
                                          </p:stCondLst>
                                        </p:cTn>
                                        <p:tgtEl>
                                          <p:spTgt spid="27"/>
                                        </p:tgtEl>
                                        <p:attrNameLst>
                                          <p:attrName>style.visibility</p:attrName>
                                        </p:attrNameLst>
                                      </p:cBhvr>
                                      <p:to>
                                        <p:strVal val="visible"/>
                                      </p:to>
                                    </p:set>
                                    <p:animEffect transition="in" filter="circle(in)">
                                      <p:cBhvr>
                                        <p:cTn id="121" dur="1000"/>
                                        <p:tgtEl>
                                          <p:spTgt spid="27"/>
                                        </p:tgtEl>
                                      </p:cBhvr>
                                    </p:animEffect>
                                  </p:childTnLst>
                                </p:cTn>
                              </p:par>
                            </p:childTnLst>
                          </p:cTn>
                        </p:par>
                        <p:par>
                          <p:cTn id="122" fill="hold">
                            <p:stCondLst>
                              <p:cond delay="1000"/>
                            </p:stCondLst>
                            <p:childTnLst>
                              <p:par>
                                <p:cTn id="123" presetID="22" presetClass="entr" presetSubtype="4" fill="hold" nodeType="afterEffect">
                                  <p:stCondLst>
                                    <p:cond delay="0"/>
                                  </p:stCondLst>
                                  <p:childTnLst>
                                    <p:set>
                                      <p:cBhvr>
                                        <p:cTn id="124" dur="1" fill="hold">
                                          <p:stCondLst>
                                            <p:cond delay="0"/>
                                          </p:stCondLst>
                                        </p:cTn>
                                        <p:tgtEl>
                                          <p:spTgt spid="28"/>
                                        </p:tgtEl>
                                        <p:attrNameLst>
                                          <p:attrName>style.visibility</p:attrName>
                                        </p:attrNameLst>
                                      </p:cBhvr>
                                      <p:to>
                                        <p:strVal val="visible"/>
                                      </p:to>
                                    </p:set>
                                    <p:animEffect transition="in" filter="wipe(down)">
                                      <p:cBhvr>
                                        <p:cTn id="125" dur="500"/>
                                        <p:tgtEl>
                                          <p:spTgt spid="28"/>
                                        </p:tgtEl>
                                      </p:cBhvr>
                                    </p:animEffect>
                                  </p:childTnLst>
                                </p:cTn>
                              </p:par>
                            </p:childTnLst>
                          </p:cTn>
                        </p:par>
                      </p:childTnLst>
                    </p:cTn>
                  </p:par>
                  <p:par>
                    <p:cTn id="126" fill="hold">
                      <p:stCondLst>
                        <p:cond delay="indefinite"/>
                      </p:stCondLst>
                      <p:childTnLst>
                        <p:par>
                          <p:cTn id="127" fill="hold">
                            <p:stCondLst>
                              <p:cond delay="0"/>
                            </p:stCondLst>
                            <p:childTnLst>
                              <p:par>
                                <p:cTn id="128" presetID="6" presetClass="entr" presetSubtype="16" fill="hold" grpId="0" nodeType="clickEffect">
                                  <p:stCondLst>
                                    <p:cond delay="0"/>
                                  </p:stCondLst>
                                  <p:childTnLst>
                                    <p:set>
                                      <p:cBhvr>
                                        <p:cTn id="129" dur="1" fill="hold">
                                          <p:stCondLst>
                                            <p:cond delay="0"/>
                                          </p:stCondLst>
                                        </p:cTn>
                                        <p:tgtEl>
                                          <p:spTgt spid="38"/>
                                        </p:tgtEl>
                                        <p:attrNameLst>
                                          <p:attrName>style.visibility</p:attrName>
                                        </p:attrNameLst>
                                      </p:cBhvr>
                                      <p:to>
                                        <p:strVal val="visible"/>
                                      </p:to>
                                    </p:set>
                                    <p:animEffect transition="in" filter="circle(in)">
                                      <p:cBhvr>
                                        <p:cTn id="130" dur="1000"/>
                                        <p:tgtEl>
                                          <p:spTgt spid="38"/>
                                        </p:tgtEl>
                                      </p:cBhvr>
                                    </p:animEffect>
                                  </p:childTnLst>
                                </p:cTn>
                              </p:par>
                            </p:childTnLst>
                          </p:cTn>
                        </p:par>
                        <p:par>
                          <p:cTn id="131" fill="hold">
                            <p:stCondLst>
                              <p:cond delay="1000"/>
                            </p:stCondLst>
                            <p:childTnLst>
                              <p:par>
                                <p:cTn id="132" presetID="22" presetClass="entr" presetSubtype="4" fill="hold" nodeType="afterEffect">
                                  <p:stCondLst>
                                    <p:cond delay="0"/>
                                  </p:stCondLst>
                                  <p:childTnLst>
                                    <p:set>
                                      <p:cBhvr>
                                        <p:cTn id="133" dur="1" fill="hold">
                                          <p:stCondLst>
                                            <p:cond delay="0"/>
                                          </p:stCondLst>
                                        </p:cTn>
                                        <p:tgtEl>
                                          <p:spTgt spid="29"/>
                                        </p:tgtEl>
                                        <p:attrNameLst>
                                          <p:attrName>style.visibility</p:attrName>
                                        </p:attrNameLst>
                                      </p:cBhvr>
                                      <p:to>
                                        <p:strVal val="visible"/>
                                      </p:to>
                                    </p:set>
                                    <p:animEffect transition="in" filter="wipe(down)">
                                      <p:cBhvr>
                                        <p:cTn id="134" dur="500"/>
                                        <p:tgtEl>
                                          <p:spTgt spid="29"/>
                                        </p:tgtEl>
                                      </p:cBhvr>
                                    </p:animEffect>
                                  </p:childTnLst>
                                </p:cTn>
                              </p:par>
                            </p:childTnLst>
                          </p:cTn>
                        </p:par>
                      </p:childTnLst>
                    </p:cTn>
                  </p:par>
                  <p:par>
                    <p:cTn id="135" fill="hold">
                      <p:stCondLst>
                        <p:cond delay="indefinite"/>
                      </p:stCondLst>
                      <p:childTnLst>
                        <p:par>
                          <p:cTn id="136" fill="hold">
                            <p:stCondLst>
                              <p:cond delay="0"/>
                            </p:stCondLst>
                            <p:childTnLst>
                              <p:par>
                                <p:cTn id="137" presetID="6" presetClass="entr" presetSubtype="16" fill="hold" grpId="0" nodeType="clickEffect">
                                  <p:stCondLst>
                                    <p:cond delay="0"/>
                                  </p:stCondLst>
                                  <p:childTnLst>
                                    <p:set>
                                      <p:cBhvr>
                                        <p:cTn id="138" dur="1" fill="hold">
                                          <p:stCondLst>
                                            <p:cond delay="0"/>
                                          </p:stCondLst>
                                        </p:cTn>
                                        <p:tgtEl>
                                          <p:spTgt spid="39"/>
                                        </p:tgtEl>
                                        <p:attrNameLst>
                                          <p:attrName>style.visibility</p:attrName>
                                        </p:attrNameLst>
                                      </p:cBhvr>
                                      <p:to>
                                        <p:strVal val="visible"/>
                                      </p:to>
                                    </p:set>
                                    <p:animEffect transition="in" filter="circle(in)">
                                      <p:cBhvr>
                                        <p:cTn id="139" dur="1000"/>
                                        <p:tgtEl>
                                          <p:spTgt spid="39"/>
                                        </p:tgtEl>
                                      </p:cBhvr>
                                    </p:animEffect>
                                  </p:childTnLst>
                                </p:cTn>
                              </p:par>
                            </p:childTnLst>
                          </p:cTn>
                        </p:par>
                        <p:par>
                          <p:cTn id="140" fill="hold">
                            <p:stCondLst>
                              <p:cond delay="1000"/>
                            </p:stCondLst>
                            <p:childTnLst>
                              <p:par>
                                <p:cTn id="141" presetID="22" presetClass="entr" presetSubtype="4" fill="hold" nodeType="afterEffect">
                                  <p:stCondLst>
                                    <p:cond delay="0"/>
                                  </p:stCondLst>
                                  <p:childTnLst>
                                    <p:set>
                                      <p:cBhvr>
                                        <p:cTn id="142" dur="1" fill="hold">
                                          <p:stCondLst>
                                            <p:cond delay="0"/>
                                          </p:stCondLst>
                                        </p:cTn>
                                        <p:tgtEl>
                                          <p:spTgt spid="30"/>
                                        </p:tgtEl>
                                        <p:attrNameLst>
                                          <p:attrName>style.visibility</p:attrName>
                                        </p:attrNameLst>
                                      </p:cBhvr>
                                      <p:to>
                                        <p:strVal val="visible"/>
                                      </p:to>
                                    </p:set>
                                    <p:animEffect transition="in" filter="wipe(down)">
                                      <p:cBhvr>
                                        <p:cTn id="143" dur="500"/>
                                        <p:tgtEl>
                                          <p:spTgt spid="30"/>
                                        </p:tgtEl>
                                      </p:cBhvr>
                                    </p:animEffect>
                                  </p:childTnLst>
                                </p:cTn>
                              </p:par>
                            </p:childTnLst>
                          </p:cTn>
                        </p:par>
                      </p:childTnLst>
                    </p:cTn>
                  </p:par>
                  <p:par>
                    <p:cTn id="144" fill="hold">
                      <p:stCondLst>
                        <p:cond delay="indefinite"/>
                      </p:stCondLst>
                      <p:childTnLst>
                        <p:par>
                          <p:cTn id="145" fill="hold">
                            <p:stCondLst>
                              <p:cond delay="0"/>
                            </p:stCondLst>
                            <p:childTnLst>
                              <p:par>
                                <p:cTn id="146" presetID="6" presetClass="entr" presetSubtype="16" fill="hold" grpId="0" nodeType="clickEffect">
                                  <p:stCondLst>
                                    <p:cond delay="0"/>
                                  </p:stCondLst>
                                  <p:childTnLst>
                                    <p:set>
                                      <p:cBhvr>
                                        <p:cTn id="147" dur="1" fill="hold">
                                          <p:stCondLst>
                                            <p:cond delay="0"/>
                                          </p:stCondLst>
                                        </p:cTn>
                                        <p:tgtEl>
                                          <p:spTgt spid="36"/>
                                        </p:tgtEl>
                                        <p:attrNameLst>
                                          <p:attrName>style.visibility</p:attrName>
                                        </p:attrNameLst>
                                      </p:cBhvr>
                                      <p:to>
                                        <p:strVal val="visible"/>
                                      </p:to>
                                    </p:set>
                                    <p:animEffect transition="in" filter="circle(in)">
                                      <p:cBhvr>
                                        <p:cTn id="148" dur="1000"/>
                                        <p:tgtEl>
                                          <p:spTgt spid="36"/>
                                        </p:tgtEl>
                                      </p:cBhvr>
                                    </p:animEffect>
                                  </p:childTnLst>
                                </p:cTn>
                              </p:par>
                            </p:childTnLst>
                          </p:cTn>
                        </p:par>
                        <p:par>
                          <p:cTn id="149" fill="hold">
                            <p:stCondLst>
                              <p:cond delay="1000"/>
                            </p:stCondLst>
                            <p:childTnLst>
                              <p:par>
                                <p:cTn id="150" presetID="22" presetClass="entr" presetSubtype="4" fill="hold" nodeType="afterEffect">
                                  <p:stCondLst>
                                    <p:cond delay="0"/>
                                  </p:stCondLst>
                                  <p:childTnLst>
                                    <p:set>
                                      <p:cBhvr>
                                        <p:cTn id="151" dur="1" fill="hold">
                                          <p:stCondLst>
                                            <p:cond delay="0"/>
                                          </p:stCondLst>
                                        </p:cTn>
                                        <p:tgtEl>
                                          <p:spTgt spid="31"/>
                                        </p:tgtEl>
                                        <p:attrNameLst>
                                          <p:attrName>style.visibility</p:attrName>
                                        </p:attrNameLst>
                                      </p:cBhvr>
                                      <p:to>
                                        <p:strVal val="visible"/>
                                      </p:to>
                                    </p:set>
                                    <p:animEffect transition="in" filter="wipe(down)">
                                      <p:cBhvr>
                                        <p:cTn id="152" dur="500"/>
                                        <p:tgtEl>
                                          <p:spTgt spid="31"/>
                                        </p:tgtEl>
                                      </p:cBhvr>
                                    </p:animEffect>
                                  </p:childTnLst>
                                </p:cTn>
                              </p:par>
                            </p:childTnLst>
                          </p:cTn>
                        </p:par>
                      </p:childTnLst>
                    </p:cTn>
                  </p:par>
                  <p:par>
                    <p:cTn id="153" fill="hold">
                      <p:stCondLst>
                        <p:cond delay="indefinite"/>
                      </p:stCondLst>
                      <p:childTnLst>
                        <p:par>
                          <p:cTn id="154" fill="hold">
                            <p:stCondLst>
                              <p:cond delay="0"/>
                            </p:stCondLst>
                            <p:childTnLst>
                              <p:par>
                                <p:cTn id="155" presetID="6" presetClass="entr" presetSubtype="16" fill="hold" grpId="0" nodeType="clickEffect">
                                  <p:stCondLst>
                                    <p:cond delay="0"/>
                                  </p:stCondLst>
                                  <p:childTnLst>
                                    <p:set>
                                      <p:cBhvr>
                                        <p:cTn id="156" dur="1" fill="hold">
                                          <p:stCondLst>
                                            <p:cond delay="0"/>
                                          </p:stCondLst>
                                        </p:cTn>
                                        <p:tgtEl>
                                          <p:spTgt spid="37"/>
                                        </p:tgtEl>
                                        <p:attrNameLst>
                                          <p:attrName>style.visibility</p:attrName>
                                        </p:attrNameLst>
                                      </p:cBhvr>
                                      <p:to>
                                        <p:strVal val="visible"/>
                                      </p:to>
                                    </p:set>
                                    <p:animEffect transition="in" filter="circle(in)">
                                      <p:cBhvr>
                                        <p:cTn id="157" dur="1000"/>
                                        <p:tgtEl>
                                          <p:spTgt spid="37"/>
                                        </p:tgtEl>
                                      </p:cBhvr>
                                    </p:animEffect>
                                  </p:childTnLst>
                                </p:cTn>
                              </p:par>
                            </p:childTnLst>
                          </p:cTn>
                        </p:par>
                        <p:par>
                          <p:cTn id="158" fill="hold">
                            <p:stCondLst>
                              <p:cond delay="1000"/>
                            </p:stCondLst>
                            <p:childTnLst>
                              <p:par>
                                <p:cTn id="159" presetID="22" presetClass="entr" presetSubtype="4" fill="hold" nodeType="afterEffect">
                                  <p:stCondLst>
                                    <p:cond delay="0"/>
                                  </p:stCondLst>
                                  <p:childTnLst>
                                    <p:set>
                                      <p:cBhvr>
                                        <p:cTn id="160" dur="1" fill="hold">
                                          <p:stCondLst>
                                            <p:cond delay="0"/>
                                          </p:stCondLst>
                                        </p:cTn>
                                        <p:tgtEl>
                                          <p:spTgt spid="32"/>
                                        </p:tgtEl>
                                        <p:attrNameLst>
                                          <p:attrName>style.visibility</p:attrName>
                                        </p:attrNameLst>
                                      </p:cBhvr>
                                      <p:to>
                                        <p:strVal val="visible"/>
                                      </p:to>
                                    </p:set>
                                    <p:animEffect transition="in" filter="wipe(down)">
                                      <p:cBhvr>
                                        <p:cTn id="161" dur="500"/>
                                        <p:tgtEl>
                                          <p:spTgt spid="32"/>
                                        </p:tgtEl>
                                      </p:cBhvr>
                                    </p:animEffect>
                                  </p:childTnLst>
                                </p:cTn>
                              </p:par>
                            </p:childTnLst>
                          </p:cTn>
                        </p:par>
                      </p:childTnLst>
                    </p:cTn>
                  </p:par>
                  <p:par>
                    <p:cTn id="162" fill="hold">
                      <p:stCondLst>
                        <p:cond delay="indefinite"/>
                      </p:stCondLst>
                      <p:childTnLst>
                        <p:par>
                          <p:cTn id="163" fill="hold">
                            <p:stCondLst>
                              <p:cond delay="0"/>
                            </p:stCondLst>
                            <p:childTnLst>
                              <p:par>
                                <p:cTn id="164" presetID="6" presetClass="entr" presetSubtype="16" fill="hold" grpId="0" nodeType="clickEffect">
                                  <p:stCondLst>
                                    <p:cond delay="0"/>
                                  </p:stCondLst>
                                  <p:childTnLst>
                                    <p:set>
                                      <p:cBhvr>
                                        <p:cTn id="165" dur="1" fill="hold">
                                          <p:stCondLst>
                                            <p:cond delay="0"/>
                                          </p:stCondLst>
                                        </p:cTn>
                                        <p:tgtEl>
                                          <p:spTgt spid="40"/>
                                        </p:tgtEl>
                                        <p:attrNameLst>
                                          <p:attrName>style.visibility</p:attrName>
                                        </p:attrNameLst>
                                      </p:cBhvr>
                                      <p:to>
                                        <p:strVal val="visible"/>
                                      </p:to>
                                    </p:set>
                                    <p:animEffect transition="in" filter="circle(in)">
                                      <p:cBhvr>
                                        <p:cTn id="166" dur="1000"/>
                                        <p:tgtEl>
                                          <p:spTgt spid="40"/>
                                        </p:tgtEl>
                                      </p:cBhvr>
                                    </p:animEffect>
                                  </p:childTnLst>
                                </p:cTn>
                              </p:par>
                            </p:childTnLst>
                          </p:cTn>
                        </p:par>
                        <p:par>
                          <p:cTn id="167" fill="hold">
                            <p:stCondLst>
                              <p:cond delay="1000"/>
                            </p:stCondLst>
                            <p:childTnLst>
                              <p:par>
                                <p:cTn id="168" presetID="22" presetClass="entr" presetSubtype="4" fill="hold" nodeType="afterEffect">
                                  <p:stCondLst>
                                    <p:cond delay="0"/>
                                  </p:stCondLst>
                                  <p:childTnLst>
                                    <p:set>
                                      <p:cBhvr>
                                        <p:cTn id="169" dur="1" fill="hold">
                                          <p:stCondLst>
                                            <p:cond delay="0"/>
                                          </p:stCondLst>
                                        </p:cTn>
                                        <p:tgtEl>
                                          <p:spTgt spid="33"/>
                                        </p:tgtEl>
                                        <p:attrNameLst>
                                          <p:attrName>style.visibility</p:attrName>
                                        </p:attrNameLst>
                                      </p:cBhvr>
                                      <p:to>
                                        <p:strVal val="visible"/>
                                      </p:to>
                                    </p:set>
                                    <p:animEffect transition="in" filter="wipe(down)">
                                      <p:cBhvr>
                                        <p:cTn id="170" dur="500"/>
                                        <p:tgtEl>
                                          <p:spTgt spid="33"/>
                                        </p:tgtEl>
                                      </p:cBhvr>
                                    </p:animEffect>
                                  </p:childTnLst>
                                </p:cTn>
                              </p:par>
                            </p:childTnLst>
                          </p:cTn>
                        </p:par>
                      </p:childTnLst>
                    </p:cTn>
                  </p:par>
                  <p:par>
                    <p:cTn id="171" fill="hold">
                      <p:stCondLst>
                        <p:cond delay="indefinite"/>
                      </p:stCondLst>
                      <p:childTnLst>
                        <p:par>
                          <p:cTn id="172" fill="hold">
                            <p:stCondLst>
                              <p:cond delay="0"/>
                            </p:stCondLst>
                            <p:childTnLst>
                              <p:par>
                                <p:cTn id="173" presetID="6" presetClass="entr" presetSubtype="16" fill="hold" grpId="0" nodeType="clickEffect">
                                  <p:stCondLst>
                                    <p:cond delay="0"/>
                                  </p:stCondLst>
                                  <p:childTnLst>
                                    <p:set>
                                      <p:cBhvr>
                                        <p:cTn id="174" dur="1" fill="hold">
                                          <p:stCondLst>
                                            <p:cond delay="0"/>
                                          </p:stCondLst>
                                        </p:cTn>
                                        <p:tgtEl>
                                          <p:spTgt spid="43"/>
                                        </p:tgtEl>
                                        <p:attrNameLst>
                                          <p:attrName>style.visibility</p:attrName>
                                        </p:attrNameLst>
                                      </p:cBhvr>
                                      <p:to>
                                        <p:strVal val="visible"/>
                                      </p:to>
                                    </p:set>
                                    <p:animEffect transition="in" filter="circle(in)">
                                      <p:cBhvr>
                                        <p:cTn id="175" dur="1000"/>
                                        <p:tgtEl>
                                          <p:spTgt spid="43"/>
                                        </p:tgtEl>
                                      </p:cBhvr>
                                    </p:animEffect>
                                  </p:childTnLst>
                                </p:cTn>
                              </p:par>
                            </p:childTnLst>
                          </p:cTn>
                        </p:par>
                        <p:par>
                          <p:cTn id="176" fill="hold">
                            <p:stCondLst>
                              <p:cond delay="1000"/>
                            </p:stCondLst>
                            <p:childTnLst>
                              <p:par>
                                <p:cTn id="177" presetID="22" presetClass="entr" presetSubtype="4" fill="hold" nodeType="afterEffect">
                                  <p:stCondLst>
                                    <p:cond delay="0"/>
                                  </p:stCondLst>
                                  <p:childTnLst>
                                    <p:set>
                                      <p:cBhvr>
                                        <p:cTn id="178" dur="1" fill="hold">
                                          <p:stCondLst>
                                            <p:cond delay="0"/>
                                          </p:stCondLst>
                                        </p:cTn>
                                        <p:tgtEl>
                                          <p:spTgt spid="34"/>
                                        </p:tgtEl>
                                        <p:attrNameLst>
                                          <p:attrName>style.visibility</p:attrName>
                                        </p:attrNameLst>
                                      </p:cBhvr>
                                      <p:to>
                                        <p:strVal val="visible"/>
                                      </p:to>
                                    </p:set>
                                    <p:animEffect transition="in" filter="wipe(down)">
                                      <p:cBhvr>
                                        <p:cTn id="179" dur="500"/>
                                        <p:tgtEl>
                                          <p:spTgt spid="34"/>
                                        </p:tgtEl>
                                      </p:cBhvr>
                                    </p:animEffect>
                                  </p:childTnLst>
                                </p:cTn>
                              </p:par>
                            </p:childTnLst>
                          </p:cTn>
                        </p:par>
                      </p:childTnLst>
                    </p:cTn>
                  </p:par>
                  <p:par>
                    <p:cTn id="180" fill="hold">
                      <p:stCondLst>
                        <p:cond delay="indefinite"/>
                      </p:stCondLst>
                      <p:childTnLst>
                        <p:par>
                          <p:cTn id="181" fill="hold">
                            <p:stCondLst>
                              <p:cond delay="0"/>
                            </p:stCondLst>
                            <p:childTnLst>
                              <p:par>
                                <p:cTn id="182" presetID="6" presetClass="entr" presetSubtype="16" fill="hold" grpId="0" nodeType="clickEffect">
                                  <p:stCondLst>
                                    <p:cond delay="0"/>
                                  </p:stCondLst>
                                  <p:childTnLst>
                                    <p:set>
                                      <p:cBhvr>
                                        <p:cTn id="183" dur="1" fill="hold">
                                          <p:stCondLst>
                                            <p:cond delay="0"/>
                                          </p:stCondLst>
                                        </p:cTn>
                                        <p:tgtEl>
                                          <p:spTgt spid="41"/>
                                        </p:tgtEl>
                                        <p:attrNameLst>
                                          <p:attrName>style.visibility</p:attrName>
                                        </p:attrNameLst>
                                      </p:cBhvr>
                                      <p:to>
                                        <p:strVal val="visible"/>
                                      </p:to>
                                    </p:set>
                                    <p:animEffect transition="in" filter="circle(in)">
                                      <p:cBhvr>
                                        <p:cTn id="184" dur="1000"/>
                                        <p:tgtEl>
                                          <p:spTgt spid="41"/>
                                        </p:tgtEl>
                                      </p:cBhvr>
                                    </p:animEffect>
                                  </p:childTnLst>
                                </p:cTn>
                              </p:par>
                            </p:childTnLst>
                          </p:cTn>
                        </p:par>
                        <p:par>
                          <p:cTn id="185" fill="hold">
                            <p:stCondLst>
                              <p:cond delay="1000"/>
                            </p:stCondLst>
                            <p:childTnLst>
                              <p:par>
                                <p:cTn id="186" presetID="22" presetClass="entr" presetSubtype="4" fill="hold" nodeType="afterEffect">
                                  <p:stCondLst>
                                    <p:cond delay="0"/>
                                  </p:stCondLst>
                                  <p:childTnLst>
                                    <p:set>
                                      <p:cBhvr>
                                        <p:cTn id="187" dur="1" fill="hold">
                                          <p:stCondLst>
                                            <p:cond delay="0"/>
                                          </p:stCondLst>
                                        </p:cTn>
                                        <p:tgtEl>
                                          <p:spTgt spid="35"/>
                                        </p:tgtEl>
                                        <p:attrNameLst>
                                          <p:attrName>style.visibility</p:attrName>
                                        </p:attrNameLst>
                                      </p:cBhvr>
                                      <p:to>
                                        <p:strVal val="visible"/>
                                      </p:to>
                                    </p:set>
                                    <p:animEffect transition="in" filter="wipe(down)">
                                      <p:cBhvr>
                                        <p:cTn id="188" dur="500"/>
                                        <p:tgtEl>
                                          <p:spTgt spid="35"/>
                                        </p:tgtEl>
                                      </p:cBhvr>
                                    </p:animEffect>
                                  </p:childTnLst>
                                </p:cTn>
                              </p:par>
                            </p:childTnLst>
                          </p:cTn>
                        </p:par>
                        <p:par>
                          <p:cTn id="189" fill="hold">
                            <p:stCondLst>
                              <p:cond delay="1500"/>
                            </p:stCondLst>
                            <p:childTnLst>
                              <p:par>
                                <p:cTn id="190" presetID="10" presetClass="entr" presetSubtype="0" fill="hold" grpId="0" nodeType="afterEffect">
                                  <p:stCondLst>
                                    <p:cond delay="0"/>
                                  </p:stCondLst>
                                  <p:childTnLst>
                                    <p:set>
                                      <p:cBhvr>
                                        <p:cTn id="191" dur="1" fill="hold">
                                          <p:stCondLst>
                                            <p:cond delay="0"/>
                                          </p:stCondLst>
                                        </p:cTn>
                                        <p:tgtEl>
                                          <p:spTgt spid="44"/>
                                        </p:tgtEl>
                                        <p:attrNameLst>
                                          <p:attrName>style.visibility</p:attrName>
                                        </p:attrNameLst>
                                      </p:cBhvr>
                                      <p:to>
                                        <p:strVal val="visible"/>
                                      </p:to>
                                    </p:set>
                                    <p:animEffect transition="in" filter="fade">
                                      <p:cBhvr>
                                        <p:cTn id="192"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3" grpId="0" animBg="1"/>
      <p:bldP spid="15" grpId="0" animBg="1"/>
      <p:bldP spid="17" grpId="0" animBg="1"/>
      <p:bldP spid="19" grpId="0" animBg="1"/>
      <p:bldP spid="21" grpId="0" animBg="1"/>
      <p:bldP spid="23" grpId="0" animBg="1"/>
      <p:bldP spid="25" grpId="0" animBg="1"/>
      <p:bldP spid="27" grpId="0" animBg="1"/>
      <p:bldP spid="36" grpId="0" animBg="1"/>
      <p:bldP spid="37" grpId="0" animBg="1"/>
      <p:bldP spid="38" grpId="0" animBg="1"/>
      <p:bldP spid="39" grpId="0" animBg="1"/>
      <p:bldP spid="40" grpId="0" animBg="1"/>
      <p:bldP spid="41" grpId="0" animBg="1"/>
      <p:bldP spid="43" grpId="0" animBg="1"/>
      <p:bldP spid="44" grpId="0"/>
      <p:bldP spid="45"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121" y="455191"/>
            <a:ext cx="9628632" cy="1362113"/>
          </a:xfrm>
        </p:spPr>
        <p:txBody>
          <a:bodyPr/>
          <a:lstStyle/>
          <a:p>
            <a:r>
              <a:rPr lang="en-AU" dirty="0" smtClean="0"/>
              <a:t>Example 2 </a:t>
            </a:r>
            <a:r>
              <a:rPr lang="mr-IN" dirty="0" smtClean="0"/>
              <a:t>–</a:t>
            </a:r>
            <a:r>
              <a:rPr lang="en-AU" dirty="0" smtClean="0"/>
              <a:t> Interpreting Dot plots</a:t>
            </a:r>
            <a:endParaRPr lang="en-US" dirty="0"/>
          </a:p>
        </p:txBody>
      </p:sp>
      <p:sp>
        <p:nvSpPr>
          <p:cNvPr id="3" name="TextBox 2"/>
          <p:cNvSpPr txBox="1"/>
          <p:nvPr/>
        </p:nvSpPr>
        <p:spPr>
          <a:xfrm>
            <a:off x="120433" y="1929162"/>
            <a:ext cx="11911733" cy="830997"/>
          </a:xfrm>
          <a:prstGeom prst="rect">
            <a:avLst/>
          </a:prstGeom>
          <a:noFill/>
        </p:spPr>
        <p:txBody>
          <a:bodyPr wrap="square" rtlCol="0">
            <a:spAutoFit/>
          </a:bodyPr>
          <a:lstStyle/>
          <a:p>
            <a:r>
              <a:rPr lang="en-US" sz="2400" dirty="0" smtClean="0"/>
              <a:t>The following dot plot shows the results of a survey that asked students how many pets the have at home:</a:t>
            </a:r>
            <a:endParaRPr lang="en-US" sz="2400"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433" y="2760159"/>
            <a:ext cx="3336445" cy="3999241"/>
          </a:xfrm>
          <a:prstGeom prst="rect">
            <a:avLst/>
          </a:prstGeom>
        </p:spPr>
      </p:pic>
      <p:sp>
        <p:nvSpPr>
          <p:cNvPr id="5" name="TextBox 4"/>
          <p:cNvSpPr txBox="1"/>
          <p:nvPr/>
        </p:nvSpPr>
        <p:spPr>
          <a:xfrm>
            <a:off x="4382430" y="2435392"/>
            <a:ext cx="5602111" cy="3970318"/>
          </a:xfrm>
          <a:prstGeom prst="rect">
            <a:avLst/>
          </a:prstGeom>
          <a:noFill/>
        </p:spPr>
        <p:txBody>
          <a:bodyPr wrap="none" rtlCol="0">
            <a:spAutoFit/>
          </a:bodyPr>
          <a:lstStyle/>
          <a:p>
            <a:pPr marL="342900" indent="-342900">
              <a:buAutoNum type="alphaLcParenR"/>
            </a:pPr>
            <a:r>
              <a:rPr lang="en-US" dirty="0" smtClean="0"/>
              <a:t>Use this graph to state how many children have 2 pets</a:t>
            </a:r>
          </a:p>
          <a:p>
            <a:pPr marL="342900" indent="-342900">
              <a:buAutoNum type="alphaLcParenR"/>
            </a:pPr>
            <a:endParaRPr lang="en-US" dirty="0"/>
          </a:p>
          <a:p>
            <a:pPr marL="342900" indent="-342900">
              <a:buAutoNum type="alphaLcParenR"/>
            </a:pPr>
            <a:endParaRPr lang="en-US" dirty="0" smtClean="0"/>
          </a:p>
          <a:p>
            <a:pPr marL="342900" indent="-342900">
              <a:buAutoNum type="alphaLcParenR"/>
            </a:pPr>
            <a:r>
              <a:rPr lang="en-US" dirty="0" smtClean="0"/>
              <a:t>How many students participated in this survey?</a:t>
            </a:r>
          </a:p>
          <a:p>
            <a:pPr marL="342900" indent="-342900">
              <a:buAutoNum type="alphaLcParenR"/>
            </a:pPr>
            <a:endParaRPr lang="en-US" dirty="0"/>
          </a:p>
          <a:p>
            <a:pPr marL="342900" indent="-342900">
              <a:buAutoNum type="alphaLcParenR"/>
            </a:pPr>
            <a:endParaRPr lang="en-US" dirty="0" smtClean="0"/>
          </a:p>
          <a:p>
            <a:pPr marL="342900" indent="-342900">
              <a:buAutoNum type="alphaLcParenR"/>
            </a:pPr>
            <a:r>
              <a:rPr lang="en-US" dirty="0" smtClean="0"/>
              <a:t>What is the range of values?</a:t>
            </a:r>
          </a:p>
          <a:p>
            <a:pPr marL="342900" indent="-342900">
              <a:buAutoNum type="alphaLcParenR"/>
            </a:pPr>
            <a:endParaRPr lang="en-US" dirty="0"/>
          </a:p>
          <a:p>
            <a:pPr marL="342900" indent="-342900">
              <a:buAutoNum type="alphaLcParenR"/>
            </a:pPr>
            <a:endParaRPr lang="en-US" dirty="0"/>
          </a:p>
          <a:p>
            <a:pPr marL="342900" indent="-342900">
              <a:buAutoNum type="alphaLcParenR"/>
            </a:pPr>
            <a:r>
              <a:rPr lang="en-US" dirty="0" smtClean="0"/>
              <a:t>What is the median number of pets?</a:t>
            </a:r>
          </a:p>
          <a:p>
            <a:pPr marL="342900" indent="-342900">
              <a:buAutoNum type="alphaLcParenR"/>
            </a:pPr>
            <a:endParaRPr lang="en-US" dirty="0" smtClean="0"/>
          </a:p>
          <a:p>
            <a:pPr marL="342900" indent="-342900">
              <a:buAutoNum type="alphaLcParenR"/>
            </a:pPr>
            <a:endParaRPr lang="en-US" dirty="0"/>
          </a:p>
          <a:p>
            <a:pPr marL="342900" indent="-342900">
              <a:buAutoNum type="alphaLcParenR"/>
            </a:pPr>
            <a:endParaRPr lang="en-US" dirty="0" smtClean="0"/>
          </a:p>
          <a:p>
            <a:pPr marL="342900" indent="-342900">
              <a:buAutoNum type="alphaLcParenR"/>
            </a:pPr>
            <a:r>
              <a:rPr lang="en-US" dirty="0" smtClean="0"/>
              <a:t>What is the mode?</a:t>
            </a:r>
          </a:p>
        </p:txBody>
      </p:sp>
      <p:sp>
        <p:nvSpPr>
          <p:cNvPr id="10" name="TextBox 9"/>
          <p:cNvSpPr txBox="1"/>
          <p:nvPr/>
        </p:nvSpPr>
        <p:spPr>
          <a:xfrm>
            <a:off x="4824146" y="2802885"/>
            <a:ext cx="6500306" cy="369332"/>
          </a:xfrm>
          <a:prstGeom prst="rect">
            <a:avLst/>
          </a:prstGeom>
          <a:noFill/>
        </p:spPr>
        <p:txBody>
          <a:bodyPr wrap="none" rtlCol="0">
            <a:spAutoFit/>
          </a:bodyPr>
          <a:lstStyle/>
          <a:p>
            <a:r>
              <a:rPr lang="en-US" dirty="0" smtClean="0">
                <a:solidFill>
                  <a:srgbClr val="C00000"/>
                </a:solidFill>
              </a:rPr>
              <a:t>- There are 4 dots in the ‘2 pets’ category, so 4 students have 2 pets</a:t>
            </a:r>
            <a:endParaRPr lang="en-US" dirty="0">
              <a:solidFill>
                <a:srgbClr val="C00000"/>
              </a:solidFill>
            </a:endParaRPr>
          </a:p>
        </p:txBody>
      </p:sp>
      <p:sp>
        <p:nvSpPr>
          <p:cNvPr id="11" name="TextBox 10"/>
          <p:cNvSpPr txBox="1"/>
          <p:nvPr/>
        </p:nvSpPr>
        <p:spPr>
          <a:xfrm>
            <a:off x="4824146" y="3646654"/>
            <a:ext cx="3191899" cy="369332"/>
          </a:xfrm>
          <a:prstGeom prst="rect">
            <a:avLst/>
          </a:prstGeom>
          <a:noFill/>
        </p:spPr>
        <p:txBody>
          <a:bodyPr wrap="none" rtlCol="0">
            <a:spAutoFit/>
          </a:bodyPr>
          <a:lstStyle/>
          <a:p>
            <a:r>
              <a:rPr lang="en-US" dirty="0" smtClean="0">
                <a:solidFill>
                  <a:srgbClr val="C00000"/>
                </a:solidFill>
              </a:rPr>
              <a:t>- The total number of dots is 22.</a:t>
            </a:r>
            <a:endParaRPr lang="en-US" dirty="0">
              <a:solidFill>
                <a:srgbClr val="C00000"/>
              </a:solidFill>
            </a:endParaRPr>
          </a:p>
        </p:txBody>
      </p:sp>
      <p:sp>
        <p:nvSpPr>
          <p:cNvPr id="12" name="TextBox 11"/>
          <p:cNvSpPr txBox="1"/>
          <p:nvPr/>
        </p:nvSpPr>
        <p:spPr>
          <a:xfrm>
            <a:off x="4824146" y="4440755"/>
            <a:ext cx="6734664" cy="369332"/>
          </a:xfrm>
          <a:prstGeom prst="rect">
            <a:avLst/>
          </a:prstGeom>
          <a:noFill/>
        </p:spPr>
        <p:txBody>
          <a:bodyPr wrap="none" rtlCol="0">
            <a:spAutoFit/>
          </a:bodyPr>
          <a:lstStyle/>
          <a:p>
            <a:r>
              <a:rPr lang="en-US" dirty="0" smtClean="0">
                <a:solidFill>
                  <a:srgbClr val="C00000"/>
                </a:solidFill>
              </a:rPr>
              <a:t>- Range = highest </a:t>
            </a:r>
            <a:r>
              <a:rPr lang="mr-IN" dirty="0" smtClean="0">
                <a:solidFill>
                  <a:srgbClr val="C00000"/>
                </a:solidFill>
              </a:rPr>
              <a:t>–</a:t>
            </a:r>
            <a:r>
              <a:rPr lang="en-US" dirty="0" smtClean="0">
                <a:solidFill>
                  <a:srgbClr val="C00000"/>
                </a:solidFill>
              </a:rPr>
              <a:t> lowest. In this case, highest = 8, lowest = 0. 8-0 = 8</a:t>
            </a:r>
            <a:endParaRPr lang="en-US" dirty="0">
              <a:solidFill>
                <a:srgbClr val="C00000"/>
              </a:solidFill>
            </a:endParaRPr>
          </a:p>
        </p:txBody>
      </p:sp>
      <p:sp>
        <p:nvSpPr>
          <p:cNvPr id="13" name="TextBox 12"/>
          <p:cNvSpPr txBox="1"/>
          <p:nvPr/>
        </p:nvSpPr>
        <p:spPr>
          <a:xfrm>
            <a:off x="4824146" y="5304809"/>
            <a:ext cx="7367854" cy="646331"/>
          </a:xfrm>
          <a:prstGeom prst="rect">
            <a:avLst/>
          </a:prstGeom>
          <a:noFill/>
        </p:spPr>
        <p:txBody>
          <a:bodyPr wrap="square" rtlCol="0">
            <a:spAutoFit/>
          </a:bodyPr>
          <a:lstStyle/>
          <a:p>
            <a:pPr marL="285750" indent="-285750">
              <a:buFontTx/>
              <a:buChar char="-"/>
            </a:pPr>
            <a:r>
              <a:rPr lang="en-US" dirty="0" smtClean="0">
                <a:solidFill>
                  <a:srgbClr val="C00000"/>
                </a:solidFill>
              </a:rPr>
              <a:t>As there are 22 children, there are 2 median values, the 11</a:t>
            </a:r>
            <a:r>
              <a:rPr lang="en-US" baseline="30000" dirty="0" smtClean="0">
                <a:solidFill>
                  <a:srgbClr val="C00000"/>
                </a:solidFill>
              </a:rPr>
              <a:t>th</a:t>
            </a:r>
            <a:r>
              <a:rPr lang="en-US" dirty="0" smtClean="0">
                <a:solidFill>
                  <a:srgbClr val="C00000"/>
                </a:solidFill>
              </a:rPr>
              <a:t> and 12</a:t>
            </a:r>
            <a:r>
              <a:rPr lang="en-US" baseline="30000" dirty="0" smtClean="0">
                <a:solidFill>
                  <a:srgbClr val="C00000"/>
                </a:solidFill>
              </a:rPr>
              <a:t>th</a:t>
            </a:r>
            <a:r>
              <a:rPr lang="en-US" dirty="0" smtClean="0">
                <a:solidFill>
                  <a:srgbClr val="C00000"/>
                </a:solidFill>
              </a:rPr>
              <a:t> values. In this case, the 11</a:t>
            </a:r>
            <a:r>
              <a:rPr lang="en-US" baseline="30000" dirty="0" smtClean="0">
                <a:solidFill>
                  <a:srgbClr val="C00000"/>
                </a:solidFill>
              </a:rPr>
              <a:t>th</a:t>
            </a:r>
            <a:r>
              <a:rPr lang="en-US" dirty="0" smtClean="0">
                <a:solidFill>
                  <a:srgbClr val="C00000"/>
                </a:solidFill>
              </a:rPr>
              <a:t> and 12</a:t>
            </a:r>
            <a:r>
              <a:rPr lang="en-US" baseline="30000" dirty="0" smtClean="0">
                <a:solidFill>
                  <a:srgbClr val="C00000"/>
                </a:solidFill>
              </a:rPr>
              <a:t>th</a:t>
            </a:r>
            <a:r>
              <a:rPr lang="en-US" dirty="0" smtClean="0">
                <a:solidFill>
                  <a:srgbClr val="C00000"/>
                </a:solidFill>
              </a:rPr>
              <a:t> values are both 1, so the median is 1.</a:t>
            </a:r>
          </a:p>
        </p:txBody>
      </p:sp>
      <p:sp>
        <p:nvSpPr>
          <p:cNvPr id="14" name="TextBox 13"/>
          <p:cNvSpPr txBox="1"/>
          <p:nvPr/>
        </p:nvSpPr>
        <p:spPr>
          <a:xfrm>
            <a:off x="4824146" y="6385682"/>
            <a:ext cx="2926122" cy="369332"/>
          </a:xfrm>
          <a:prstGeom prst="rect">
            <a:avLst/>
          </a:prstGeom>
          <a:noFill/>
        </p:spPr>
        <p:txBody>
          <a:bodyPr wrap="none" rtlCol="0">
            <a:spAutoFit/>
          </a:bodyPr>
          <a:lstStyle/>
          <a:p>
            <a:r>
              <a:rPr lang="en-US" dirty="0" smtClean="0">
                <a:solidFill>
                  <a:srgbClr val="C00000"/>
                </a:solidFill>
              </a:rPr>
              <a:t>- </a:t>
            </a:r>
            <a:r>
              <a:rPr lang="en-CA" dirty="0" smtClean="0">
                <a:solidFill>
                  <a:srgbClr val="C00000"/>
                </a:solidFill>
              </a:rPr>
              <a:t>1. Most children have 1 pet.</a:t>
            </a:r>
            <a:endParaRPr lang="en-US" dirty="0">
              <a:solidFill>
                <a:srgbClr val="C00000"/>
              </a:solidFill>
            </a:endParaRPr>
          </a:p>
        </p:txBody>
      </p:sp>
    </p:spTree>
    <p:extLst>
      <p:ext uri="{BB962C8B-B14F-4D97-AF65-F5344CB8AC3E}">
        <p14:creationId xmlns:p14="http://schemas.microsoft.com/office/powerpoint/2010/main" val="749065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500" fill="hold"/>
                                        <p:tgtEl>
                                          <p:spTgt spid="11"/>
                                        </p:tgtEl>
                                        <p:attrNameLst>
                                          <p:attrName>ppt_x</p:attrName>
                                        </p:attrNameLst>
                                      </p:cBhvr>
                                      <p:tavLst>
                                        <p:tav tm="0">
                                          <p:val>
                                            <p:strVal val="#ppt_x"/>
                                          </p:val>
                                        </p:tav>
                                        <p:tav tm="100000">
                                          <p:val>
                                            <p:strVal val="#ppt_x"/>
                                          </p:val>
                                        </p:tav>
                                      </p:tavLst>
                                    </p:anim>
                                    <p:anim calcmode="lin" valueType="num">
                                      <p:cBhvr additive="base">
                                        <p:cTn id="2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13">
                                            <p:txEl>
                                              <p:pRg st="0" end="0"/>
                                            </p:txEl>
                                          </p:spTgt>
                                        </p:tgtEl>
                                        <p:attrNameLst>
                                          <p:attrName>style.visibility</p:attrName>
                                        </p:attrNameLst>
                                      </p:cBhvr>
                                      <p:to>
                                        <p:strVal val="visible"/>
                                      </p:to>
                                    </p:set>
                                    <p:anim calcmode="lin" valueType="num">
                                      <p:cBhvr additive="base">
                                        <p:cTn id="35"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ppt_x"/>
                                          </p:val>
                                        </p:tav>
                                        <p:tav tm="100000">
                                          <p:val>
                                            <p:strVal val="#ppt_x"/>
                                          </p:val>
                                        </p:tav>
                                      </p:tavLst>
                                    </p:anim>
                                    <p:anim calcmode="lin" valueType="num">
                                      <p:cBhvr additive="base">
                                        <p:cTn id="4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P spid="11" grpId="0"/>
      <p:bldP spid="12" grpId="0"/>
      <p:bldP spid="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F2E197F-33CC-4642-97AD-718C6BD5BD22}"/>
              </a:ext>
            </a:extLst>
          </p:cNvPr>
          <p:cNvSpPr>
            <a:spLocks noGrp="1"/>
          </p:cNvSpPr>
          <p:nvPr>
            <p:ph type="title"/>
          </p:nvPr>
        </p:nvSpPr>
        <p:spPr>
          <a:xfrm>
            <a:off x="304894" y="672539"/>
            <a:ext cx="10058400" cy="734183"/>
          </a:xfrm>
        </p:spPr>
        <p:txBody>
          <a:bodyPr/>
          <a:lstStyle/>
          <a:p>
            <a:r>
              <a:rPr lang="en-AU" dirty="0"/>
              <a:t>Independent Practice</a:t>
            </a:r>
          </a:p>
        </p:txBody>
      </p:sp>
      <p:sp>
        <p:nvSpPr>
          <p:cNvPr id="4" name="TextBox 3"/>
          <p:cNvSpPr txBox="1"/>
          <p:nvPr/>
        </p:nvSpPr>
        <p:spPr>
          <a:xfrm>
            <a:off x="680224" y="2397512"/>
            <a:ext cx="5786071" cy="461665"/>
          </a:xfrm>
          <a:prstGeom prst="rect">
            <a:avLst/>
          </a:prstGeom>
          <a:noFill/>
        </p:spPr>
        <p:txBody>
          <a:bodyPr wrap="none" rtlCol="0">
            <a:spAutoFit/>
          </a:bodyPr>
          <a:lstStyle/>
          <a:p>
            <a:pPr marL="285750" indent="-285750">
              <a:buFont typeface="Arial" charset="0"/>
              <a:buChar char="•"/>
            </a:pPr>
            <a:r>
              <a:rPr lang="en-US" sz="2400" dirty="0" smtClean="0"/>
              <a:t>Roll the dice Dot Plot game in pairs/groups</a:t>
            </a:r>
            <a:endParaRPr lang="en-US" sz="2400" dirty="0"/>
          </a:p>
        </p:txBody>
      </p:sp>
      <p:sp>
        <p:nvSpPr>
          <p:cNvPr id="5" name="TextBox 4"/>
          <p:cNvSpPr txBox="1"/>
          <p:nvPr/>
        </p:nvSpPr>
        <p:spPr>
          <a:xfrm>
            <a:off x="680224" y="3157061"/>
            <a:ext cx="11426432" cy="1938992"/>
          </a:xfrm>
          <a:prstGeom prst="rect">
            <a:avLst/>
          </a:prstGeom>
          <a:noFill/>
        </p:spPr>
        <p:txBody>
          <a:bodyPr wrap="square" rtlCol="0">
            <a:spAutoFit/>
          </a:bodyPr>
          <a:lstStyle/>
          <a:p>
            <a:r>
              <a:rPr lang="en-US" sz="2400" b="1" u="sng" dirty="0" smtClean="0"/>
              <a:t>Application</a:t>
            </a:r>
            <a:r>
              <a:rPr lang="en-US" sz="2400" dirty="0" smtClean="0"/>
              <a:t>: Once you’ve completed your frequency table and Dot plot, calculate </a:t>
            </a:r>
            <a:r>
              <a:rPr lang="en-US" sz="2400" smtClean="0"/>
              <a:t>the following for your sample space: </a:t>
            </a:r>
            <a:endParaRPr lang="en-US" sz="2400" dirty="0" smtClean="0"/>
          </a:p>
          <a:p>
            <a:pPr marL="342900" indent="-342900">
              <a:buFont typeface="Arial" charset="0"/>
              <a:buChar char="•"/>
            </a:pPr>
            <a:r>
              <a:rPr lang="en-US" sz="2400" dirty="0" smtClean="0"/>
              <a:t>The Median</a:t>
            </a:r>
          </a:p>
          <a:p>
            <a:pPr marL="342900" indent="-342900">
              <a:buFont typeface="Arial" charset="0"/>
              <a:buChar char="•"/>
            </a:pPr>
            <a:r>
              <a:rPr lang="en-US" sz="2400" dirty="0" smtClean="0"/>
              <a:t>The Mode</a:t>
            </a:r>
          </a:p>
          <a:p>
            <a:pPr marL="342900" indent="-342900">
              <a:buFont typeface="Arial" charset="0"/>
              <a:buChar char="•"/>
            </a:pPr>
            <a:r>
              <a:rPr lang="en-US" sz="2400" dirty="0" smtClean="0"/>
              <a:t>The Range</a:t>
            </a:r>
          </a:p>
        </p:txBody>
      </p:sp>
      <p:sp>
        <p:nvSpPr>
          <p:cNvPr id="6" name="TextBox 5"/>
          <p:cNvSpPr txBox="1"/>
          <p:nvPr/>
        </p:nvSpPr>
        <p:spPr>
          <a:xfrm>
            <a:off x="680224" y="5393937"/>
            <a:ext cx="11426432" cy="1200329"/>
          </a:xfrm>
          <a:prstGeom prst="rect">
            <a:avLst/>
          </a:prstGeom>
          <a:noFill/>
        </p:spPr>
        <p:txBody>
          <a:bodyPr wrap="square" rtlCol="0">
            <a:spAutoFit/>
          </a:bodyPr>
          <a:lstStyle/>
          <a:p>
            <a:r>
              <a:rPr lang="en-US" sz="2400" b="1" u="sng" dirty="0" smtClean="0"/>
              <a:t>Extension</a:t>
            </a:r>
            <a:r>
              <a:rPr lang="en-US" sz="2400" dirty="0" smtClean="0"/>
              <a:t>: </a:t>
            </a:r>
          </a:p>
          <a:p>
            <a:pPr marL="342900" indent="-342900">
              <a:buFont typeface="Arial" charset="0"/>
              <a:buChar char="•"/>
            </a:pPr>
            <a:r>
              <a:rPr lang="en-US" sz="2400" dirty="0" smtClean="0"/>
              <a:t>How many times did you roll a multiple of 2?</a:t>
            </a:r>
          </a:p>
          <a:p>
            <a:pPr marL="342900" indent="-342900">
              <a:buFont typeface="Arial" charset="0"/>
              <a:buChar char="•"/>
            </a:pPr>
            <a:r>
              <a:rPr lang="en-US" sz="2400" dirty="0" smtClean="0"/>
              <a:t>What is the mean number you rolled?</a:t>
            </a:r>
            <a:endParaRPr lang="en-US" sz="2400" dirty="0" smtClean="0"/>
          </a:p>
        </p:txBody>
      </p:sp>
    </p:spTree>
    <p:extLst>
      <p:ext uri="{BB962C8B-B14F-4D97-AF65-F5344CB8AC3E}">
        <p14:creationId xmlns:p14="http://schemas.microsoft.com/office/powerpoint/2010/main" val="269749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itle 1"/>
          <p:cNvSpPr>
            <a:spLocks noGrp="1"/>
          </p:cNvSpPr>
          <p:nvPr>
            <p:ph type="title"/>
          </p:nvPr>
        </p:nvSpPr>
        <p:spPr>
          <a:xfrm>
            <a:off x="0" y="466343"/>
            <a:ext cx="12192000" cy="1324357"/>
          </a:xfrm>
        </p:spPr>
        <p:txBody>
          <a:bodyPr>
            <a:normAutofit/>
          </a:bodyPr>
          <a:lstStyle/>
          <a:p>
            <a:r>
              <a:rPr lang="en-US" dirty="0" smtClean="0"/>
              <a:t>Class/Homework</a:t>
            </a:r>
            <a:endParaRPr lang="en-US" sz="2900" dirty="0"/>
          </a:p>
        </p:txBody>
      </p:sp>
      <p:sp>
        <p:nvSpPr>
          <p:cNvPr id="53" name="TextBox 52"/>
          <p:cNvSpPr txBox="1"/>
          <p:nvPr/>
        </p:nvSpPr>
        <p:spPr>
          <a:xfrm>
            <a:off x="10098637" y="6499820"/>
            <a:ext cx="632475" cy="461665"/>
          </a:xfrm>
          <a:prstGeom prst="rect">
            <a:avLst/>
          </a:prstGeom>
          <a:noFill/>
        </p:spPr>
        <p:txBody>
          <a:bodyPr wrap="square" rtlCol="0">
            <a:spAutoFit/>
          </a:bodyPr>
          <a:lstStyle/>
          <a:p>
            <a:r>
              <a:rPr lang="en-AU" sz="2400" dirty="0">
                <a:solidFill>
                  <a:prstClr val="black"/>
                </a:solidFill>
              </a:rPr>
              <a:t> </a:t>
            </a:r>
          </a:p>
        </p:txBody>
      </p:sp>
      <p:sp>
        <p:nvSpPr>
          <p:cNvPr id="4" name="TextBox 3"/>
          <p:cNvSpPr txBox="1"/>
          <p:nvPr/>
        </p:nvSpPr>
        <p:spPr>
          <a:xfrm>
            <a:off x="853441" y="2462784"/>
            <a:ext cx="11026648" cy="1200329"/>
          </a:xfrm>
          <a:prstGeom prst="rect">
            <a:avLst/>
          </a:prstGeom>
          <a:noFill/>
        </p:spPr>
        <p:txBody>
          <a:bodyPr wrap="square" rtlCol="0">
            <a:spAutoFit/>
          </a:bodyPr>
          <a:lstStyle/>
          <a:p>
            <a:pPr marL="285750" indent="-285750">
              <a:buFont typeface="Arial" charset="0"/>
              <a:buChar char="•"/>
            </a:pPr>
            <a:r>
              <a:rPr lang="en-US" sz="3600" dirty="0" smtClean="0"/>
              <a:t>Dot Plot Worksheet or Statistics Foldable</a:t>
            </a:r>
            <a:endParaRPr lang="en-US" sz="3600" dirty="0" smtClean="0"/>
          </a:p>
          <a:p>
            <a:pPr marL="285750" indent="-285750">
              <a:buFont typeface="Arial" charset="0"/>
              <a:buChar char="•"/>
            </a:pPr>
            <a:endParaRPr lang="en-US" sz="3600" dirty="0" smtClean="0"/>
          </a:p>
        </p:txBody>
      </p:sp>
    </p:spTree>
    <p:extLst>
      <p:ext uri="{BB962C8B-B14F-4D97-AF65-F5344CB8AC3E}">
        <p14:creationId xmlns:p14="http://schemas.microsoft.com/office/powerpoint/2010/main" val="160073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z="3600" dirty="0"/>
              <a:t> </a:t>
            </a:r>
            <a:r>
              <a:rPr lang="en-US" sz="3600" dirty="0" smtClean="0"/>
              <a:t> Exit Pass</a:t>
            </a:r>
            <a:endParaRPr lang="en-US" sz="3600" dirty="0"/>
          </a:p>
        </p:txBody>
      </p:sp>
      <p:sp>
        <p:nvSpPr>
          <p:cNvPr id="3" name="TextBox 2"/>
          <p:cNvSpPr txBox="1"/>
          <p:nvPr/>
        </p:nvSpPr>
        <p:spPr>
          <a:xfrm>
            <a:off x="2909610" y="2118731"/>
            <a:ext cx="4501553" cy="646331"/>
          </a:xfrm>
          <a:prstGeom prst="rect">
            <a:avLst/>
          </a:prstGeom>
          <a:noFill/>
        </p:spPr>
        <p:txBody>
          <a:bodyPr wrap="none" rtlCol="0">
            <a:spAutoFit/>
          </a:bodyPr>
          <a:lstStyle/>
          <a:p>
            <a:r>
              <a:rPr lang="en-US" sz="3600" dirty="0"/>
              <a:t>6</a:t>
            </a:r>
            <a:r>
              <a:rPr lang="en-US" sz="3600" dirty="0" smtClean="0"/>
              <a:t>, 6, </a:t>
            </a:r>
            <a:r>
              <a:rPr lang="en-US" sz="3600" dirty="0" smtClean="0"/>
              <a:t>2, </a:t>
            </a:r>
            <a:r>
              <a:rPr lang="en-US" sz="3600" dirty="0" smtClean="0"/>
              <a:t>5</a:t>
            </a:r>
            <a:r>
              <a:rPr lang="en-US" sz="3600" dirty="0" smtClean="0"/>
              <a:t>, 7, 3, </a:t>
            </a:r>
            <a:r>
              <a:rPr lang="en-US" sz="3600" dirty="0" smtClean="0"/>
              <a:t>2, </a:t>
            </a:r>
            <a:r>
              <a:rPr lang="en-US" sz="3600" dirty="0" smtClean="0"/>
              <a:t>2, 1, </a:t>
            </a:r>
            <a:r>
              <a:rPr lang="en-US" sz="3600" dirty="0" smtClean="0"/>
              <a:t>4</a:t>
            </a:r>
            <a:endParaRPr lang="en-US" sz="3600" dirty="0"/>
          </a:p>
        </p:txBody>
      </p:sp>
      <p:sp>
        <p:nvSpPr>
          <p:cNvPr id="6" name="TextBox 5"/>
          <p:cNvSpPr txBox="1"/>
          <p:nvPr/>
        </p:nvSpPr>
        <p:spPr>
          <a:xfrm>
            <a:off x="345687" y="3479179"/>
            <a:ext cx="9835377" cy="2677656"/>
          </a:xfrm>
          <a:prstGeom prst="rect">
            <a:avLst/>
          </a:prstGeom>
          <a:noFill/>
        </p:spPr>
        <p:txBody>
          <a:bodyPr wrap="square" rtlCol="0">
            <a:spAutoFit/>
          </a:bodyPr>
          <a:lstStyle/>
          <a:p>
            <a:pPr marL="457200" indent="-457200">
              <a:buFont typeface="Arial" charset="0"/>
              <a:buChar char="•"/>
            </a:pPr>
            <a:r>
              <a:rPr lang="en-US" sz="2800" dirty="0" smtClean="0"/>
              <a:t>On a piece of paper, </a:t>
            </a:r>
            <a:r>
              <a:rPr lang="en-US" sz="2800" dirty="0" smtClean="0"/>
              <a:t>create a dot plot for above set of numbers.</a:t>
            </a:r>
          </a:p>
          <a:p>
            <a:pPr marL="457200" indent="-457200">
              <a:buFont typeface="Arial" charset="0"/>
              <a:buChar char="•"/>
            </a:pPr>
            <a:endParaRPr lang="en-US" sz="2800" dirty="0"/>
          </a:p>
          <a:p>
            <a:pPr marL="457200" indent="-457200">
              <a:buFont typeface="Arial" charset="0"/>
              <a:buChar char="•"/>
            </a:pPr>
            <a:r>
              <a:rPr lang="en-US" sz="2800" dirty="0" smtClean="0"/>
              <a:t>Calculate the </a:t>
            </a:r>
            <a:r>
              <a:rPr lang="en-US" sz="2800" dirty="0" smtClean="0"/>
              <a:t>mean, median, mode and range for the above set of numbers</a:t>
            </a:r>
          </a:p>
          <a:p>
            <a:pPr marL="457200" indent="-457200">
              <a:buFont typeface="Arial" charset="0"/>
              <a:buChar char="•"/>
            </a:pPr>
            <a:endParaRPr lang="en-US" sz="2800" dirty="0" smtClean="0"/>
          </a:p>
          <a:p>
            <a:pPr marL="457200" indent="-457200">
              <a:buFont typeface="Arial" charset="0"/>
              <a:buChar char="•"/>
            </a:pPr>
            <a:r>
              <a:rPr lang="en-US" sz="2800" dirty="0" smtClean="0"/>
              <a:t>Hand in to me when done and complete summary</a:t>
            </a:r>
          </a:p>
        </p:txBody>
      </p:sp>
    </p:spTree>
    <p:extLst>
      <p:ext uri="{BB962C8B-B14F-4D97-AF65-F5344CB8AC3E}">
        <p14:creationId xmlns:p14="http://schemas.microsoft.com/office/powerpoint/2010/main" val="1521723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5977900"/>
            <a:ext cx="1455463" cy="461665"/>
          </a:xfrm>
          <a:prstGeom prst="rect">
            <a:avLst/>
          </a:prstGeom>
          <a:noFill/>
        </p:spPr>
        <p:txBody>
          <a:bodyPr wrap="none" rtlCol="0">
            <a:spAutoFit/>
          </a:bodyPr>
          <a:lstStyle/>
          <a:p>
            <a:r>
              <a:rPr lang="en-US" sz="2400" dirty="0" smtClean="0"/>
              <a:t>Summary:</a:t>
            </a:r>
            <a:endParaRPr lang="en-US" sz="2400" dirty="0"/>
          </a:p>
        </p:txBody>
      </p:sp>
      <p:cxnSp>
        <p:nvCxnSpPr>
          <p:cNvPr id="6" name="Straight Connector 5"/>
          <p:cNvCxnSpPr/>
          <p:nvPr/>
        </p:nvCxnSpPr>
        <p:spPr>
          <a:xfrm>
            <a:off x="0" y="5977900"/>
            <a:ext cx="12192000" cy="0"/>
          </a:xfrm>
          <a:prstGeom prst="line">
            <a:avLst/>
          </a:prstGeom>
          <a:ln w="44450"/>
        </p:spPr>
        <p:style>
          <a:lnRef idx="1">
            <a:schemeClr val="accent1"/>
          </a:lnRef>
          <a:fillRef idx="0">
            <a:schemeClr val="accent1"/>
          </a:fillRef>
          <a:effectRef idx="0">
            <a:schemeClr val="accent1"/>
          </a:effectRef>
          <a:fontRef idx="minor">
            <a:schemeClr val="tx1"/>
          </a:fontRef>
        </p:style>
      </p:cxnSp>
      <p:sp>
        <p:nvSpPr>
          <p:cNvPr id="7" name="Right Arrow 6"/>
          <p:cNvSpPr/>
          <p:nvPr/>
        </p:nvSpPr>
        <p:spPr>
          <a:xfrm rot="8845994">
            <a:off x="1520211" y="5114600"/>
            <a:ext cx="981068" cy="5271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p:cNvSpPr txBox="1"/>
          <p:nvPr/>
        </p:nvSpPr>
        <p:spPr>
          <a:xfrm>
            <a:off x="2474976" y="4547616"/>
            <a:ext cx="5897512" cy="461665"/>
          </a:xfrm>
          <a:prstGeom prst="rect">
            <a:avLst/>
          </a:prstGeom>
          <a:noFill/>
        </p:spPr>
        <p:txBody>
          <a:bodyPr wrap="none" rtlCol="0">
            <a:spAutoFit/>
          </a:bodyPr>
          <a:lstStyle/>
          <a:p>
            <a:r>
              <a:rPr lang="en-US" sz="2400" dirty="0" smtClean="0"/>
              <a:t>Complete your summary by answering the EQ</a:t>
            </a:r>
            <a:endParaRPr lang="en-US" sz="2400" dirty="0"/>
          </a:p>
        </p:txBody>
      </p:sp>
      <p:sp>
        <p:nvSpPr>
          <p:cNvPr id="13" name="Title 1"/>
          <p:cNvSpPr txBox="1">
            <a:spLocks/>
          </p:cNvSpPr>
          <p:nvPr/>
        </p:nvSpPr>
        <p:spPr bwMode="black">
          <a:xfrm>
            <a:off x="0" y="466343"/>
            <a:ext cx="12192000" cy="1324357"/>
          </a:xfrm>
          <a:prstGeom prst="rect">
            <a:avLst/>
          </a:prstGeom>
        </p:spPr>
        <p:txBody>
          <a:bodyPr vert="horz" lIns="91440" tIns="45720" rIns="91440" bIns="45720" rtlCol="0" anchor="ctr">
            <a:normAutofit/>
          </a:bodyPr>
          <a:lstStyle>
            <a:lvl1pPr algn="l" defTabSz="914400" rtl="0" eaLnBrk="1" latinLnBrk="0" hangingPunct="1">
              <a:lnSpc>
                <a:spcPct val="95000"/>
              </a:lnSpc>
              <a:spcBef>
                <a:spcPct val="0"/>
              </a:spcBef>
              <a:buNone/>
              <a:defRPr sz="3000" kern="1200">
                <a:solidFill>
                  <a:schemeClr val="bg1"/>
                </a:solidFill>
                <a:latin typeface="+mj-lt"/>
                <a:ea typeface="+mj-ea"/>
                <a:cs typeface="+mj-cs"/>
              </a:defRPr>
            </a:lvl1pPr>
          </a:lstStyle>
          <a:p>
            <a:r>
              <a:rPr lang="en-US" smtClean="0"/>
              <a:t>Measures of Center and Spread</a:t>
            </a:r>
            <a:br>
              <a:rPr lang="en-US" smtClean="0"/>
            </a:br>
            <a:r>
              <a:rPr lang="en-US" smtClean="0"/>
              <a:t>EQ: </a:t>
            </a:r>
            <a:r>
              <a:rPr lang="en-US" sz="2900" smtClean="0"/>
              <a:t>What are mode and range and what do they tell us about a data set? </a:t>
            </a:r>
            <a:endParaRPr lang="en-US" sz="2900" dirty="0"/>
          </a:p>
        </p:txBody>
      </p:sp>
    </p:spTree>
    <p:extLst>
      <p:ext uri="{BB962C8B-B14F-4D97-AF65-F5344CB8AC3E}">
        <p14:creationId xmlns:p14="http://schemas.microsoft.com/office/powerpoint/2010/main" val="1348115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dissolv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t>Homework</a:t>
            </a:r>
            <a:endParaRPr lang="en-US" sz="3600" dirty="0"/>
          </a:p>
        </p:txBody>
      </p:sp>
      <p:sp>
        <p:nvSpPr>
          <p:cNvPr id="3" name="TextBox 2"/>
          <p:cNvSpPr txBox="1"/>
          <p:nvPr/>
        </p:nvSpPr>
        <p:spPr>
          <a:xfrm>
            <a:off x="682753" y="2353056"/>
            <a:ext cx="11026648" cy="3416320"/>
          </a:xfrm>
          <a:prstGeom prst="rect">
            <a:avLst/>
          </a:prstGeom>
          <a:noFill/>
        </p:spPr>
        <p:txBody>
          <a:bodyPr wrap="square" rtlCol="0">
            <a:spAutoFit/>
          </a:bodyPr>
          <a:lstStyle/>
          <a:p>
            <a:pPr marL="285750" indent="-285750">
              <a:buFont typeface="Arial" charset="0"/>
              <a:buChar char="•"/>
            </a:pPr>
            <a:r>
              <a:rPr lang="en-US" sz="3600" dirty="0" smtClean="0"/>
              <a:t>Review Notes</a:t>
            </a:r>
          </a:p>
          <a:p>
            <a:pPr marL="285750" indent="-285750">
              <a:buFont typeface="Arial" charset="0"/>
              <a:buChar char="•"/>
            </a:pPr>
            <a:endParaRPr lang="en-US" sz="3600" dirty="0" smtClean="0"/>
          </a:p>
          <a:p>
            <a:pPr marL="285750" indent="-285750">
              <a:buFont typeface="Arial" charset="0"/>
              <a:buChar char="•"/>
            </a:pPr>
            <a:r>
              <a:rPr lang="en-US" sz="3600" dirty="0" smtClean="0"/>
              <a:t>List all new terms in </a:t>
            </a:r>
            <a:r>
              <a:rPr lang="en-US" sz="3600" dirty="0" smtClean="0"/>
              <a:t>glossary</a:t>
            </a:r>
          </a:p>
          <a:p>
            <a:pPr marL="285750" indent="-285750">
              <a:buFont typeface="Arial" charset="0"/>
              <a:buChar char="•"/>
            </a:pPr>
            <a:endParaRPr lang="en-US" sz="3600" dirty="0"/>
          </a:p>
          <a:p>
            <a:pPr marL="285750" indent="-285750">
              <a:buFont typeface="Arial" charset="0"/>
              <a:buChar char="•"/>
            </a:pPr>
            <a:r>
              <a:rPr lang="en-US" sz="3600" dirty="0" smtClean="0"/>
              <a:t>Finish Dot Plot worksheet or Statistics Foldable</a:t>
            </a:r>
            <a:endParaRPr lang="en-US" sz="3600" dirty="0" smtClean="0"/>
          </a:p>
          <a:p>
            <a:pPr marL="285750" indent="-285750">
              <a:buFont typeface="Arial" charset="0"/>
              <a:buChar char="•"/>
            </a:pPr>
            <a:endParaRPr lang="en-US" sz="3600" dirty="0"/>
          </a:p>
        </p:txBody>
      </p:sp>
    </p:spTree>
    <p:extLst>
      <p:ext uri="{BB962C8B-B14F-4D97-AF65-F5344CB8AC3E}">
        <p14:creationId xmlns:p14="http://schemas.microsoft.com/office/powerpoint/2010/main" val="15378910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 16x9">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ducation_16x9.potx" id="{AA5F22BC-61EA-4F01-AB22-75117871E196}" vid="{BD0EB374-1DDC-4F15-88A9-D386288C58A6}"/>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C1D5F340F01F94FA2FD29A5E6DC872E" ma:contentTypeVersion="0" ma:contentTypeDescription="Create a new document." ma:contentTypeScope="" ma:versionID="141aba3b8f8cb7f331be6546df69db50">
  <xsd:schema xmlns:xsd="http://www.w3.org/2001/XMLSchema" xmlns:xs="http://www.w3.org/2001/XMLSchema" xmlns:p="http://schemas.microsoft.com/office/2006/metadata/properties" targetNamespace="http://schemas.microsoft.com/office/2006/metadata/properties" ma:root="true" ma:fieldsID="f8e4ef66d87525153bd8907774ed28f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7A874A-6E55-415B-9061-8B2D43DC2F48}">
  <ds:schemaRefs>
    <ds:schemaRef ds:uri="http://schemas.microsoft.com/sharepoint/v3/contenttype/forms"/>
  </ds:schemaRefs>
</ds:datastoreItem>
</file>

<file path=customXml/itemProps2.xml><?xml version="1.0" encoding="utf-8"?>
<ds:datastoreItem xmlns:ds="http://schemas.openxmlformats.org/officeDocument/2006/customXml" ds:itemID="{9896FEF9-821E-45A6-82F2-0B1CE4CD8C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1BC99BC-3A63-4255-9D4F-38C5B80A319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769</Words>
  <Application>Microsoft Macintosh PowerPoint</Application>
  <PresentationFormat>Widescreen</PresentationFormat>
  <Paragraphs>102</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Mangal</vt:lpstr>
      <vt:lpstr>Wingdings</vt:lpstr>
      <vt:lpstr>Arial</vt:lpstr>
      <vt:lpstr>Education 16x9</vt:lpstr>
      <vt:lpstr>Statistical Analysis</vt:lpstr>
      <vt:lpstr>The Judging Standards for this unit (aka - How You will be Assessed!)</vt:lpstr>
      <vt:lpstr>Starter Activity – To be done in the classroom if space permits, or in the hallway/outside with chalk</vt:lpstr>
      <vt:lpstr>PowerPoint Presentation</vt:lpstr>
      <vt:lpstr>Dot Plots EQ: What are dot plots and why do we use them to display data? </vt:lpstr>
      <vt:lpstr>Dot Plots EQ: What are dot plots and why do we use them to display data? </vt:lpstr>
      <vt:lpstr>Example 2 – Interpreting Dot plots</vt:lpstr>
      <vt:lpstr>Independent Practice</vt:lpstr>
      <vt:lpstr>Class/Homework</vt:lpstr>
      <vt:lpstr>PowerPoint Presentation</vt:lpstr>
      <vt:lpstr>PowerPoint Presentation</vt:lpstr>
      <vt:lpstr>Homework</vt:lpstr>
    </vt:vector>
  </TitlesOfParts>
  <Manager/>
  <Company/>
  <LinksUpToDate>false</LinksUpToDate>
  <SharedDoc>false</SharedDoc>
  <HyperlinkBase/>
  <HyperlinksChanged>false</HyperlinksChanged>
  <AppVersion>15.0034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2012-09-21T18:31:34Z</dcterms:created>
  <dcterms:modified xsi:type="dcterms:W3CDTF">2018-07-24T12:39:29Z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0x0101007C1D5F340F01F94FA2FD29A5E6DC872E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
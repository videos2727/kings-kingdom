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87" r:id="rId1"/>
  </p:sldMasterIdLst>
  <p:sldIdLst>
    <p:sldId id="267" r:id="rId2"/>
    <p:sldId id="256" r:id="rId3"/>
    <p:sldId id="257" r:id="rId4"/>
    <p:sldId id="258" r:id="rId5"/>
    <p:sldId id="259" r:id="rId6"/>
    <p:sldId id="260" r:id="rId7"/>
    <p:sldId id="261" r:id="rId8"/>
    <p:sldId id="265" r:id="rId9"/>
    <p:sldId id="262" r:id="rId10"/>
    <p:sldId id="266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71" autoAdjust="0"/>
    <p:restoredTop sz="94660"/>
  </p:normalViewPr>
  <p:slideViewPr>
    <p:cSldViewPr snapToGrid="0">
      <p:cViewPr varScale="1">
        <p:scale>
          <a:sx n="69" d="100"/>
          <a:sy n="69" d="100"/>
        </p:scale>
        <p:origin x="69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09800" y="4464028"/>
            <a:ext cx="9144000" cy="1641490"/>
          </a:xfrm>
        </p:spPr>
        <p:txBody>
          <a:bodyPr wrap="none" anchor="t">
            <a:normAutofit/>
          </a:bodyPr>
          <a:lstStyle>
            <a:lvl1pPr algn="r">
              <a:defRPr sz="9600" b="0" spc="-300">
                <a:gradFill flip="none" rotWithShape="1">
                  <a:gsLst>
                    <a:gs pos="32000">
                      <a:schemeClr val="tx1">
                        <a:lumMod val="89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8100000" scaled="1"/>
                  <a:tileRect/>
                </a:gradFill>
                <a:effectLst>
                  <a:outerShdw blurRad="469900" dist="342900" dir="5400000" sy="-20000" rotWithShape="0">
                    <a:prstClr val="black">
                      <a:alpha val="66000"/>
                    </a:prstClr>
                  </a:outerShdw>
                </a:effectLst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09799" y="3694375"/>
            <a:ext cx="9144000" cy="754025"/>
          </a:xfrm>
        </p:spPr>
        <p:txBody>
          <a:bodyPr anchor="b">
            <a:normAutofit/>
          </a:bodyPr>
          <a:lstStyle>
            <a:lvl1pPr marL="0" indent="0" algn="r">
              <a:buNone/>
              <a:defRPr sz="3200" b="0">
                <a:gradFill flip="none" rotWithShape="1"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  <a:tileRect/>
                </a:gra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D19FB2-3AAB-4D03-B13A-2960828C78E3}" type="datetimeFigureOut">
              <a:rPr lang="en-US" smtClean="0"/>
              <a:t>8/29/2017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47524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916976-5D93-46E4-A98A-FAD63E4D0EA8}" type="datetimeFigureOut">
              <a:rPr lang="en-US" smtClean="0"/>
              <a:t>8/29/2017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28473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ctrTitle"/>
          </p:nvPr>
        </p:nvSpPr>
        <p:spPr>
          <a:xfrm>
            <a:off x="854532" y="4464028"/>
            <a:ext cx="9144000" cy="1641490"/>
          </a:xfrm>
        </p:spPr>
        <p:txBody>
          <a:bodyPr wrap="none" anchor="t">
            <a:normAutofit/>
          </a:bodyPr>
          <a:lstStyle>
            <a:lvl1pPr algn="l">
              <a:defRPr sz="9600" b="0" spc="-300">
                <a:gradFill flip="none" rotWithShape="1">
                  <a:gsLst>
                    <a:gs pos="32000">
                      <a:schemeClr val="tx1">
                        <a:lumMod val="89000"/>
                      </a:schemeClr>
                    </a:gs>
                    <a:gs pos="0">
                      <a:schemeClr val="bg1">
                        <a:lumMod val="47000"/>
                        <a:lumOff val="53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8100000" scaled="1"/>
                  <a:tileRect/>
                </a:gradFill>
                <a:effectLst>
                  <a:outerShdw blurRad="469900" dist="342900" dir="5400000" sy="-20000" rotWithShape="0">
                    <a:prstClr val="black">
                      <a:alpha val="66000"/>
                    </a:prstClr>
                  </a:outerShdw>
                </a:effectLst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Subtitle 2"/>
          <p:cNvSpPr>
            <a:spLocks noGrp="1"/>
          </p:cNvSpPr>
          <p:nvPr>
            <p:ph type="subTitle" idx="1"/>
          </p:nvPr>
        </p:nvSpPr>
        <p:spPr>
          <a:xfrm>
            <a:off x="854532" y="3693674"/>
            <a:ext cx="9144000" cy="754025"/>
          </a:xfrm>
        </p:spPr>
        <p:txBody>
          <a:bodyPr anchor="b">
            <a:normAutofit/>
          </a:bodyPr>
          <a:lstStyle>
            <a:lvl1pPr marL="0" indent="0" algn="l">
              <a:buNone/>
              <a:defRPr sz="3200" b="0">
                <a:gradFill flip="none" rotWithShape="1"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  <a:tileRect/>
                </a:gra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39F4F5-F4D2-4D2A-AB60-88D37ADCB869}" type="datetimeFigureOut">
              <a:rPr lang="en-US" smtClean="0"/>
              <a:t>8/29/2017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2715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20000" y="1825625"/>
            <a:ext cx="5025216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19840" y="1825625"/>
            <a:ext cx="503396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3BC6CE-6D1E-47E5-8859-F31AC5380EB2}" type="datetimeFigureOut">
              <a:rPr lang="en-US" smtClean="0"/>
              <a:t>8/29/2017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71396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20000" y="1681163"/>
            <a:ext cx="5025216" cy="823912"/>
          </a:xfrm>
        </p:spPr>
        <p:txBody>
          <a:bodyPr anchor="b"/>
          <a:lstStyle>
            <a:lvl1pPr marL="0" indent="0">
              <a:buNone/>
              <a:defRPr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20000" y="2505075"/>
            <a:ext cx="5025216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19840" y="1681163"/>
            <a:ext cx="5035548" cy="823912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19840" y="2505075"/>
            <a:ext cx="503554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B4E7C4-4DA4-404D-9965-B13F2DD7D8BF}" type="datetimeFigureOut">
              <a:rPr lang="en-US" smtClean="0"/>
              <a:t>8/29/2017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43288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FB7AA-4A53-424F-AD41-70827B6504BA}" type="datetimeFigureOut">
              <a:rPr lang="en-US" smtClean="0"/>
              <a:t>8/29/2017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99860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884882-FB12-4BC8-9960-9AD8104D7FAE}" type="datetimeFigureOut">
              <a:rPr lang="en-US" smtClean="0"/>
              <a:t>8/29/2017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79888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20000" y="2057400"/>
            <a:ext cx="3652025" cy="3811588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D1BD23-6E54-4D9D-AD88-A2813C73CC25}" type="datetimeFigureOut">
              <a:rPr lang="en-US" smtClean="0"/>
              <a:t>8/29/2017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45093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20000" y="2057400"/>
            <a:ext cx="3652025" cy="3811588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71A834-4F3C-4AF9-9C74-05EC35A0F292}" type="datetimeFigureOut">
              <a:rPr lang="en-US" smtClean="0"/>
              <a:t>8/29/2017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56953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367160"/>
            <a:ext cx="10515600" cy="81935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39788" y="987425"/>
            <a:ext cx="10515600" cy="337973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5186516"/>
            <a:ext cx="10514012" cy="682472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80C674-7DFC-42FE-B9CD-82963CDB1557}" type="datetimeFigureOut">
              <a:rPr lang="en-US" smtClean="0"/>
              <a:t>8/29/2017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90108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4489399"/>
            <a:ext cx="10514012" cy="1501826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76456F-F47D-4F25-8053-2A695DA0CA7D}" type="datetimeFigureOut">
              <a:rPr lang="en-US" smtClean="0"/>
              <a:t>8/29/2017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625239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365125"/>
            <a:ext cx="9302752" cy="2992904"/>
          </a:xfrm>
        </p:spPr>
        <p:txBody>
          <a:bodyPr anchor="ctr"/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4501729"/>
            <a:ext cx="10512424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6C7379-69CC-4837-9905-BEBA22830C8A}" type="datetimeFigureOut">
              <a:rPr lang="en-US" smtClean="0"/>
              <a:t>8/29/2017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1111044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01430411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2326967"/>
            <a:ext cx="10515600" cy="2511835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4850581"/>
            <a:ext cx="10514012" cy="1140644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EB8B7E-8AEE-4F10-BFEE-C999AD004D36}" type="datetimeFigureOut">
              <a:rPr lang="en-US" smtClean="0"/>
              <a:t>8/29/2017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223690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337282" y="188595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356798" y="257175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87994" y="1885950"/>
            <a:ext cx="2936241" cy="576262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buNone/>
              <a:defRPr lang="en-US"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77441" y="257175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29035" y="1885950"/>
            <a:ext cx="2932113" cy="576262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buNone/>
              <a:defRPr lang="en-US" sz="2400" b="0" dirty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29035" y="257175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68F3F9-58BC-440B-B37B-805B9055EF92}" type="datetimeFigureOut">
              <a:rPr lang="en-US" smtClean="0"/>
              <a:t>8/29/2017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423842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332085" y="4297503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2085" y="2256354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332085" y="4873765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997" y="4297503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68996" y="2256354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67644" y="4873764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04322" y="4297503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04321" y="2256354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04197" y="4873762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5A53AF-48EA-489D-8260-9DCAB666386A}" type="datetimeFigureOut">
              <a:rPr lang="en-US" smtClean="0"/>
              <a:t>8/29/2017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761520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ED02AE-B9A4-47BD-AF8E-97E16144138B}" type="datetimeFigureOut">
              <a:rPr lang="en-US" smtClean="0"/>
              <a:t>8/29/2017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236595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FD78B-DB02-4362-BCDC-98A55456977C}" type="datetimeFigureOut">
              <a:rPr lang="en-US" smtClean="0"/>
              <a:t>8/29/2017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7909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9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20000" y="1825625"/>
            <a:ext cx="102338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fld id="{51CF1133-3259-4C45-BABA-5B62D9C6F78D}" type="datetimeFigureOut">
              <a:rPr lang="en-US" smtClean="0"/>
              <a:t>8/29/2017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987053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88" r:id="rId1"/>
    <p:sldLayoutId id="2147483689" r:id="rId2"/>
    <p:sldLayoutId id="2147483690" r:id="rId3"/>
    <p:sldLayoutId id="2147483691" r:id="rId4"/>
    <p:sldLayoutId id="2147483692" r:id="rId5"/>
    <p:sldLayoutId id="2147483693" r:id="rId6"/>
    <p:sldLayoutId id="2147483694" r:id="rId7"/>
    <p:sldLayoutId id="2147483695" r:id="rId8"/>
    <p:sldLayoutId id="2147483696" r:id="rId9"/>
    <p:sldLayoutId id="2147483697" r:id="rId10"/>
    <p:sldLayoutId id="2147483698" r:id="rId11"/>
    <p:sldLayoutId id="2147483699" r:id="rId12"/>
    <p:sldLayoutId id="2147483700" r:id="rId13"/>
    <p:sldLayoutId id="2147483701" r:id="rId14"/>
    <p:sldLayoutId id="2147483702" r:id="rId15"/>
    <p:sldLayoutId id="2147483703" r:id="rId16"/>
    <p:sldLayoutId id="2147483704" r:id="rId17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b="0" kern="1200">
          <a:gradFill flip="none" rotWithShape="1">
            <a:gsLst>
              <a:gs pos="28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  <a:tileRect/>
          </a:gra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Recap – Do Now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514350" indent="-514350">
                  <a:lnSpc>
                    <a:spcPct val="150000"/>
                  </a:lnSpc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AU" b="0" i="1" smtClean="0">
                        <a:latin typeface="Cambria Math" panose="02040503050406030204" pitchFamily="18" charset="0"/>
                      </a:rPr>
                      <m:t>8−4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=−4</m:t>
                    </m:r>
                  </m:oMath>
                </a14:m>
                <a:endParaRPr lang="en-AU" b="0" dirty="0"/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AU" b="0" i="1" smtClean="0">
                        <a:latin typeface="Cambria Math" panose="02040503050406030204" pitchFamily="18" charset="0"/>
                      </a:rPr>
                      <m:t>4</m:t>
                    </m:r>
                    <m:d>
                      <m:dPr>
                        <m:ctrlPr>
                          <a:rPr lang="en-AU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−12</m:t>
                        </m:r>
                      </m:e>
                    </m:d>
                    <m:r>
                      <a:rPr lang="en-AU" b="0" i="1" smtClean="0">
                        <a:latin typeface="Cambria Math" panose="02040503050406030204" pitchFamily="18" charset="0"/>
                      </a:rPr>
                      <m:t>=6</m:t>
                    </m:r>
                  </m:oMath>
                </a14:m>
                <a:endParaRPr lang="en-AU" b="0" dirty="0"/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rabicPeriod"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AU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3</m:t>
                        </m:r>
                        <m:d>
                          <m:dPr>
                            <m:ctrlPr>
                              <a:rPr lang="en-AU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AU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AU" b="0" i="1" smtClean="0">
                                <a:latin typeface="Cambria Math" panose="02040503050406030204" pitchFamily="18" charset="0"/>
                              </a:rPr>
                              <m:t>−6</m:t>
                            </m:r>
                          </m:e>
                        </m:d>
                      </m:num>
                      <m:den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a:rPr lang="en-AU" b="0" i="1" smtClean="0">
                        <a:latin typeface="Cambria Math" panose="02040503050406030204" pitchFamily="18" charset="0"/>
                      </a:rPr>
                      <m:t>=3</m:t>
                    </m:r>
                  </m:oMath>
                </a14:m>
                <a:endParaRPr lang="en-AU" b="0" dirty="0"/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rabicPeriod"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AU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a:rPr lang="en-AU" b="0" i="1" smtClean="0">
                        <a:latin typeface="Cambria Math" panose="02040503050406030204" pitchFamily="18" charset="0"/>
                      </a:rPr>
                      <m:t>−3=1</m:t>
                    </m:r>
                  </m:oMath>
                </a14:m>
                <a:endParaRPr lang="en-AU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667272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09800" y="4202771"/>
            <a:ext cx="9144000" cy="1641490"/>
          </a:xfrm>
        </p:spPr>
        <p:txBody>
          <a:bodyPr wrap="square">
            <a:normAutofit/>
          </a:bodyPr>
          <a:lstStyle/>
          <a:p>
            <a:r>
              <a:rPr lang="en-AU" sz="4800" dirty="0"/>
              <a:t>Topic : Solving Equations</a:t>
            </a:r>
            <a:endParaRPr lang="en-US" sz="48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93372" y="4826489"/>
            <a:ext cx="9960428" cy="754025"/>
          </a:xfrm>
        </p:spPr>
        <p:txBody>
          <a:bodyPr>
            <a:normAutofit fontScale="92500"/>
          </a:bodyPr>
          <a:lstStyle/>
          <a:p>
            <a:r>
              <a:rPr lang="en-AU" dirty="0"/>
              <a:t>EQ – How do I solve equations with unknowns on both sides?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2279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AU" b="0" dirty="0"/>
                  <a:t>Solve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 panose="02040503050406030204" pitchFamily="18" charset="0"/>
                      </a:rPr>
                      <m:t>5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+5=4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+8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2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 rotWithShape="1">
          <a:blip r:embed="rId3"/>
          <a:srcRect t="5760" b="4517"/>
          <a:stretch/>
        </p:blipFill>
        <p:spPr>
          <a:xfrm>
            <a:off x="3330220" y="1690688"/>
            <a:ext cx="5531560" cy="4568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81301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AU" b="0" dirty="0"/>
                  <a:t>Solve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 panose="02040503050406030204" pitchFamily="18" charset="0"/>
                      </a:rPr>
                      <m:t>5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+5=4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+8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2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3575555" y="1690688"/>
            <a:ext cx="5040890" cy="46797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30980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AU" b="0" dirty="0"/>
                  <a:t>Solve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 panose="02040503050406030204" pitchFamily="18" charset="0"/>
                      </a:rPr>
                      <m:t>5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+5=4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+8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2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 rotWithShape="1">
          <a:blip r:embed="rId3"/>
          <a:srcRect b="8451"/>
          <a:stretch/>
        </p:blipFill>
        <p:spPr>
          <a:xfrm>
            <a:off x="3579235" y="1690688"/>
            <a:ext cx="5033530" cy="4391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48757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Solving Equations – Recap </a:t>
            </a:r>
            <a:endParaRPr lang="en-US" dirty="0"/>
          </a:p>
        </p:txBody>
      </p:sp>
      <p:sp>
        <p:nvSpPr>
          <p:cNvPr id="4" name="Text Box 2"/>
          <p:cNvSpPr txBox="1">
            <a:spLocks noChangeArrowheads="1"/>
          </p:cNvSpPr>
          <p:nvPr/>
        </p:nvSpPr>
        <p:spPr bwMode="auto">
          <a:xfrm>
            <a:off x="1274618" y="1966088"/>
            <a:ext cx="1498454" cy="6093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0" hangingPunct="0">
              <a:lnSpc>
                <a:spcPct val="120000"/>
              </a:lnSpc>
            </a:pPr>
            <a:r>
              <a:rPr lang="en-US" altLang="x-none" sz="2800" dirty="0"/>
              <a:t>1)</a:t>
            </a:r>
            <a:r>
              <a:rPr lang="en-US" altLang="x-none" sz="2800" dirty="0">
                <a:solidFill>
                  <a:srgbClr val="CC0000"/>
                </a:solidFill>
              </a:rPr>
              <a:t> </a:t>
            </a:r>
            <a:r>
              <a:rPr lang="en-US" altLang="x-none" sz="2800" dirty="0">
                <a:solidFill>
                  <a:schemeClr val="tx2"/>
                </a:solidFill>
                <a:latin typeface="Impact" panose="020B0806030902050204" pitchFamily="34" charset="0"/>
              </a:rPr>
              <a:t>GOAL</a:t>
            </a:r>
            <a:r>
              <a:rPr lang="en-US" altLang="x-none" sz="2800" dirty="0"/>
              <a:t>:</a:t>
            </a:r>
          </a:p>
        </p:txBody>
      </p:sp>
      <p:sp>
        <p:nvSpPr>
          <p:cNvPr id="5" name="Text Box 3"/>
          <p:cNvSpPr txBox="1">
            <a:spLocks noChangeArrowheads="1"/>
          </p:cNvSpPr>
          <p:nvPr/>
        </p:nvSpPr>
        <p:spPr bwMode="auto">
          <a:xfrm>
            <a:off x="2515983" y="1953121"/>
            <a:ext cx="7606594" cy="6093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0" hangingPunct="0">
              <a:lnSpc>
                <a:spcPct val="120000"/>
              </a:lnSpc>
            </a:pPr>
            <a:r>
              <a:rPr lang="en-US" altLang="x-none" sz="2800" dirty="0">
                <a:solidFill>
                  <a:schemeClr val="tx2"/>
                </a:solidFill>
                <a:latin typeface="Impact" panose="020B0806030902050204" pitchFamily="34" charset="0"/>
              </a:rPr>
              <a:t>Get the variable </a:t>
            </a:r>
            <a:r>
              <a:rPr lang="en-US" altLang="x-none" sz="2800" dirty="0"/>
              <a:t>on one side of the equation.</a:t>
            </a:r>
          </a:p>
        </p:txBody>
      </p:sp>
      <p:sp>
        <p:nvSpPr>
          <p:cNvPr id="6" name="Text Box 4"/>
          <p:cNvSpPr txBox="1">
            <a:spLocks noChangeArrowheads="1"/>
          </p:cNvSpPr>
          <p:nvPr/>
        </p:nvSpPr>
        <p:spPr bwMode="auto">
          <a:xfrm>
            <a:off x="1274618" y="2824952"/>
            <a:ext cx="9180468" cy="11264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0" hangingPunct="0">
              <a:lnSpc>
                <a:spcPct val="120000"/>
              </a:lnSpc>
            </a:pPr>
            <a:r>
              <a:rPr lang="en-US" altLang="x-none" sz="2800" dirty="0"/>
              <a:t>2) You always perform the </a:t>
            </a:r>
            <a:r>
              <a:rPr lang="en-US" altLang="x-none" sz="2800" dirty="0">
                <a:solidFill>
                  <a:schemeClr val="accent5"/>
                </a:solidFill>
                <a:latin typeface="Impact" panose="020B0806030902050204" pitchFamily="34" charset="0"/>
              </a:rPr>
              <a:t>same operation </a:t>
            </a:r>
            <a:r>
              <a:rPr lang="en-US" altLang="x-none" sz="2800" dirty="0"/>
              <a:t>to </a:t>
            </a:r>
            <a:r>
              <a:rPr lang="en-US" altLang="x-none" sz="2800" dirty="0">
                <a:solidFill>
                  <a:schemeClr val="accent5"/>
                </a:solidFill>
                <a:latin typeface="Impact" panose="020B0806030902050204" pitchFamily="34" charset="0"/>
              </a:rPr>
              <a:t>both sides</a:t>
            </a:r>
            <a:r>
              <a:rPr lang="en-US" altLang="x-none" sz="2800" dirty="0"/>
              <a:t> of an equation.</a:t>
            </a:r>
          </a:p>
        </p:txBody>
      </p:sp>
      <p:sp>
        <p:nvSpPr>
          <p:cNvPr id="7" name="Text Box 5"/>
          <p:cNvSpPr txBox="1">
            <a:spLocks noChangeArrowheads="1"/>
          </p:cNvSpPr>
          <p:nvPr/>
        </p:nvSpPr>
        <p:spPr bwMode="auto">
          <a:xfrm>
            <a:off x="1274618" y="3964381"/>
            <a:ext cx="9180468" cy="11264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0" hangingPunct="0">
              <a:lnSpc>
                <a:spcPct val="120000"/>
              </a:lnSpc>
            </a:pPr>
            <a:r>
              <a:rPr lang="en-US" altLang="x-none" sz="2800" dirty="0"/>
              <a:t>3) To undo an operation you perform its </a:t>
            </a:r>
            <a:r>
              <a:rPr lang="en-US" altLang="x-none" sz="2800" dirty="0">
                <a:solidFill>
                  <a:schemeClr val="accent3"/>
                </a:solidFill>
                <a:latin typeface="Impact" panose="020B0806030902050204" pitchFamily="34" charset="0"/>
              </a:rPr>
              <a:t>opposite operation</a:t>
            </a:r>
            <a:r>
              <a:rPr lang="en-US" altLang="x-none" sz="2800" dirty="0"/>
              <a:t> to both sides of the equation.</a:t>
            </a:r>
          </a:p>
        </p:txBody>
      </p:sp>
      <p:sp>
        <p:nvSpPr>
          <p:cNvPr id="8" name="Text Box 6"/>
          <p:cNvSpPr txBox="1">
            <a:spLocks noChangeArrowheads="1"/>
          </p:cNvSpPr>
          <p:nvPr/>
        </p:nvSpPr>
        <p:spPr bwMode="auto">
          <a:xfrm>
            <a:off x="1212826" y="5103810"/>
            <a:ext cx="9732798" cy="6093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0" hangingPunct="0">
              <a:lnSpc>
                <a:spcPct val="120000"/>
              </a:lnSpc>
            </a:pPr>
            <a:r>
              <a:rPr lang="en-US" altLang="x-none" sz="2800" dirty="0"/>
              <a:t>4) Undo operations in the reverse order of </a:t>
            </a:r>
            <a:r>
              <a:rPr lang="en-US" altLang="x-none" sz="2800" dirty="0">
                <a:solidFill>
                  <a:schemeClr val="accent6"/>
                </a:solidFill>
                <a:latin typeface="Impact" panose="020B0806030902050204" pitchFamily="34" charset="0"/>
              </a:rPr>
              <a:t>BIMDAS</a:t>
            </a:r>
          </a:p>
        </p:txBody>
      </p:sp>
    </p:spTree>
    <p:extLst>
      <p:ext uri="{BB962C8B-B14F-4D97-AF65-F5344CB8AC3E}">
        <p14:creationId xmlns:p14="http://schemas.microsoft.com/office/powerpoint/2010/main" val="38574991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7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8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9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10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5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770" decel="100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5" dur="770" decel="100000"/>
                                        <p:tgtEl>
                                          <p:spTgt spid="5"/>
                                        </p:tgtEl>
                                      </p:cBhvr>
                                      <p:from x="10000" y="10000"/>
                                      <p:to x="200000" y="450000"/>
                                    </p:animScale>
                                    <p:animScale>
                                      <p:cBhvr>
                                        <p:cTn id="16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from x="200000" y="450000"/>
                                      <p:to x="100000" y="100000"/>
                                    </p:animScale>
                                    <p:set>
                                      <p:cBhvr>
                                        <p:cTn id="17" dur="77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o>
                                        <p:strVal val="(0.5)"/>
                                      </p:to>
                                    </p:set>
                                    <p:anim from="(0.5)" to="(#ppt_x)" calcmode="lin" valueType="num">
                                      <p:cBhvr>
                                        <p:cTn id="18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set>
                                      <p:cBhvr>
                                        <p:cTn id="19" dur="77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o>
                                        <p:strVal val="(#ppt_y+0.4)"/>
                                      </p:to>
                                    </p:set>
                                    <p:anim from="(#ppt_y+0.4)" to="(#ppt_y)" calcmode="lin" valueType="num">
                                      <p:cBhvr>
                                        <p:cTn id="20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7" presetClass="entr" presetSubtype="4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800" decel="100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80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80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80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7" presetClass="entr" presetSubtype="4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utoUpdateAnimBg="0"/>
      <p:bldP spid="5" grpId="0" autoUpdateAnimBg="0"/>
      <p:bldP spid="6" grpId="0" autoUpdateAnimBg="0"/>
      <p:bldP spid="7" grpId="0" autoUpdateAnimBg="0"/>
      <p:bldP spid="8" grpId="0" autoUpdateAnimBg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0093" y="3851562"/>
            <a:ext cx="8703912" cy="286432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AU" dirty="0"/>
                  <a:t>Example 2 -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3(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 + 4) = 2(1 −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b="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2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 rotWithShape="1">
          <a:blip r:embed="rId4"/>
          <a:srcRect l="335" r="241"/>
          <a:stretch/>
        </p:blipFill>
        <p:spPr>
          <a:xfrm>
            <a:off x="1660093" y="1690688"/>
            <a:ext cx="8703912" cy="2188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9553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You Do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b="76274"/>
          <a:stretch/>
        </p:blipFill>
        <p:spPr>
          <a:xfrm>
            <a:off x="949028" y="3271319"/>
            <a:ext cx="10947049" cy="538682"/>
          </a:xfrm>
          <a:prstGeom prst="rect">
            <a:avLst/>
          </a:prstGeom>
        </p:spPr>
      </p:pic>
      <p:pic>
        <p:nvPicPr>
          <p:cNvPr id="8" name="Content Placeholder 7"/>
          <p:cNvPicPr>
            <a:picLocks noGrp="1" noChangeAspect="1"/>
          </p:cNvPicPr>
          <p:nvPr>
            <p:ph idx="1"/>
          </p:nvPr>
        </p:nvPicPr>
        <p:blipFill rotWithShape="1">
          <a:blip r:embed="rId3"/>
          <a:srcRect l="3458" r="3454"/>
          <a:stretch/>
        </p:blipFill>
        <p:spPr>
          <a:xfrm>
            <a:off x="949029" y="1651652"/>
            <a:ext cx="10947046" cy="16374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42524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40427" y="1419684"/>
            <a:ext cx="7791154" cy="542446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>
              <a:xfrm>
                <a:off x="1078204" y="115743"/>
                <a:ext cx="10515600" cy="1325563"/>
              </a:xfrm>
            </p:spPr>
            <p:txBody>
              <a:bodyPr/>
              <a:lstStyle/>
              <a:p>
                <a:r>
                  <a:rPr lang="en-AU" dirty="0"/>
                  <a:t>Example 3 :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+4</m:t>
                        </m:r>
                      </m:num>
                      <m:den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AU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AU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num>
                      <m:den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2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1078204" y="115743"/>
                <a:ext cx="10515600" cy="1325563"/>
              </a:xfr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/>
          <p:cNvSpPr txBox="1"/>
          <p:nvPr/>
        </p:nvSpPr>
        <p:spPr>
          <a:xfrm>
            <a:off x="0" y="1926733"/>
            <a:ext cx="2440427" cy="1477328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AU" dirty="0"/>
              <a:t>LCD = Lowest common denominator. This is the lowest common multiple of the two denominators.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80998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You Do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9028" y="3271318"/>
            <a:ext cx="10947049" cy="2270499"/>
          </a:xfrm>
          <a:prstGeom prst="rect">
            <a:avLst/>
          </a:prstGeom>
        </p:spPr>
      </p:pic>
      <p:pic>
        <p:nvPicPr>
          <p:cNvPr id="8" name="Content Placeholder 7"/>
          <p:cNvPicPr>
            <a:picLocks noGrp="1" noChangeAspect="1"/>
          </p:cNvPicPr>
          <p:nvPr>
            <p:ph idx="1"/>
          </p:nvPr>
        </p:nvPicPr>
        <p:blipFill rotWithShape="1">
          <a:blip r:embed="rId3"/>
          <a:srcRect l="3458" r="3454"/>
          <a:stretch/>
        </p:blipFill>
        <p:spPr>
          <a:xfrm>
            <a:off x="949029" y="1651652"/>
            <a:ext cx="10947046" cy="16374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5710303"/>
      </p:ext>
    </p:extLst>
  </p:cSld>
  <p:clrMapOvr>
    <a:masterClrMapping/>
  </p:clrMapOvr>
</p:sld>
</file>

<file path=ppt/theme/theme1.xml><?xml version="1.0" encoding="utf-8"?>
<a:theme xmlns:a="http://schemas.openxmlformats.org/drawingml/2006/main" name="Depth">
  <a:themeElements>
    <a:clrScheme name="Depth">
      <a:dk1>
        <a:sysClr val="windowText" lastClr="000000"/>
      </a:dk1>
      <a:lt1>
        <a:sysClr val="window" lastClr="FFFFFF"/>
      </a:lt1>
      <a:dk2>
        <a:srgbClr val="455F51"/>
      </a:dk2>
      <a:lt2>
        <a:srgbClr val="94D7E4"/>
      </a:lt2>
      <a:accent1>
        <a:srgbClr val="41AEBD"/>
      </a:accent1>
      <a:accent2>
        <a:srgbClr val="97E9D5"/>
      </a:accent2>
      <a:accent3>
        <a:srgbClr val="A2CF49"/>
      </a:accent3>
      <a:accent4>
        <a:srgbClr val="608F3D"/>
      </a:accent4>
      <a:accent5>
        <a:srgbClr val="F4DE3A"/>
      </a:accent5>
      <a:accent6>
        <a:srgbClr val="FCB11C"/>
      </a:accent6>
      <a:hlink>
        <a:srgbClr val="FBCA98"/>
      </a:hlink>
      <a:folHlink>
        <a:srgbClr val="D3B86D"/>
      </a:folHlink>
    </a:clrScheme>
    <a:fontScheme name="Depth">
      <a:majorFont>
        <a:latin typeface="Corbel" panose="020B0503020204020204"/>
        <a:ea typeface=""/>
        <a:cs typeface=""/>
        <a:font script="Jpan" typeface="メイリオ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メイリオ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epth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epth" id="{7BEAFC2A-325C-49C4-AC08-2B765DA903F9}" vid="{1735E755-43E6-43AA-ABA2-C989ECC79AF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TM04033923[[fn=Depth]]</Template>
  <TotalTime>403</TotalTime>
  <Words>190</Words>
  <Application>Microsoft Office PowerPoint</Application>
  <PresentationFormat>Widescreen</PresentationFormat>
  <Paragraphs>21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Cambria Math</vt:lpstr>
      <vt:lpstr>Corbel</vt:lpstr>
      <vt:lpstr>Impact</vt:lpstr>
      <vt:lpstr>Depth</vt:lpstr>
      <vt:lpstr>Recap – Do Now</vt:lpstr>
      <vt:lpstr>Topic : Solving Equations</vt:lpstr>
      <vt:lpstr>Solve 5x+5=4x+8</vt:lpstr>
      <vt:lpstr>Solve 5x+5=4x+8</vt:lpstr>
      <vt:lpstr>Solve 5x+5=4x+8</vt:lpstr>
      <vt:lpstr>Solving Equations – Recap </vt:lpstr>
      <vt:lpstr>Example 2 - 3(x + 4) = 2(1 - x)</vt:lpstr>
      <vt:lpstr>You Do</vt:lpstr>
      <vt:lpstr>Example 3 : (3x+4)/2=(2x-1)/5</vt:lpstr>
      <vt:lpstr>You Do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Topic : Solving Equations</dc:title>
  <dc:creator>Saad Parekh</dc:creator>
  <cp:lastModifiedBy>Saad Parekh</cp:lastModifiedBy>
  <cp:revision>11</cp:revision>
  <dcterms:created xsi:type="dcterms:W3CDTF">2017-08-22T07:16:24Z</dcterms:created>
  <dcterms:modified xsi:type="dcterms:W3CDTF">2017-08-29T01:45:35Z</dcterms:modified>
</cp:coreProperties>
</file>
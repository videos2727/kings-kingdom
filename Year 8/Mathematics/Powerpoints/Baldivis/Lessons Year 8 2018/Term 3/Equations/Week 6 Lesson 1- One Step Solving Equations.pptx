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318" r:id="rId4"/>
    <p:sldId id="315" r:id="rId5"/>
    <p:sldId id="317" r:id="rId6"/>
    <p:sldId id="319" r:id="rId7"/>
    <p:sldId id="316" r:id="rId8"/>
    <p:sldId id="258" r:id="rId9"/>
    <p:sldId id="321" r:id="rId10"/>
    <p:sldId id="333" r:id="rId11"/>
    <p:sldId id="292" r:id="rId12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 varScale="1">
        <p:scale>
          <a:sx n="72" d="100"/>
          <a:sy n="72" d="100"/>
        </p:scale>
        <p:origin x="132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2805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Solving Equations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285664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6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AU" sz="6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2856644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307644" y="1902233"/>
            <a:ext cx="20966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dirty="0">
                <a:solidFill>
                  <a:srgbClr val="0070C0"/>
                </a:solidFill>
                <a:latin typeface="Cambria" panose="02040503050406030204" pitchFamily="18" charset="0"/>
              </a:rPr>
              <a:t>a-4=7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56" y="437585"/>
            <a:ext cx="22677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0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AU" sz="5000" i="1" dirty="0">
                <a:solidFill>
                  <a:srgbClr val="FFFF00"/>
                </a:solidFill>
                <a:latin typeface="Cambria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AU" sz="50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504" y="5626894"/>
            <a:ext cx="28083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000" dirty="0">
                <a:solidFill>
                  <a:srgbClr val="7030A0"/>
                </a:solidFill>
                <a:latin typeface="Cambria" panose="02040503050406030204" pitchFamily="18" charset="0"/>
              </a:rPr>
              <a:t>2b+7=13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4088" y="4797152"/>
            <a:ext cx="22322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000" i="1" dirty="0">
                <a:solidFill>
                  <a:srgbClr val="FF0000"/>
                </a:solidFill>
                <a:latin typeface="Cambria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AU" sz="5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+5=9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a </a:t>
            </a:r>
            <a:r>
              <a:rPr lang="en-US" dirty="0" err="1"/>
              <a:t>Quickwrite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954" y="1628800"/>
            <a:ext cx="8229600" cy="4525963"/>
          </a:xfrm>
        </p:spPr>
        <p:txBody>
          <a:bodyPr/>
          <a:lstStyle/>
          <a:p>
            <a:r>
              <a:rPr lang="en-US" dirty="0"/>
              <a:t>What algebra words can you remember?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AU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71600" y="2348880"/>
            <a:ext cx="25524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Expression</a:t>
            </a:r>
          </a:p>
          <a:p>
            <a:r>
              <a:rPr lang="en-US" dirty="0"/>
              <a:t>Term</a:t>
            </a:r>
          </a:p>
          <a:p>
            <a:r>
              <a:rPr lang="en-US" dirty="0"/>
              <a:t>Coefficient</a:t>
            </a:r>
          </a:p>
          <a:p>
            <a:r>
              <a:rPr lang="en-US" dirty="0"/>
              <a:t>Constant</a:t>
            </a:r>
          </a:p>
          <a:p>
            <a:r>
              <a:rPr lang="en-US" dirty="0"/>
              <a:t>Pronumeral</a:t>
            </a:r>
          </a:p>
          <a:p>
            <a:r>
              <a:rPr lang="en-US" dirty="0"/>
              <a:t>Like Terms</a:t>
            </a:r>
          </a:p>
          <a:p>
            <a:r>
              <a:rPr lang="en-US" dirty="0"/>
              <a:t>Expand</a:t>
            </a:r>
          </a:p>
          <a:p>
            <a:r>
              <a:rPr lang="en-US" dirty="0" err="1"/>
              <a:t>Factorise</a:t>
            </a:r>
            <a:endParaRPr lang="en-US" dirty="0"/>
          </a:p>
          <a:p>
            <a:r>
              <a:rPr lang="en-US" dirty="0"/>
              <a:t>Evaluate</a:t>
            </a:r>
          </a:p>
          <a:p>
            <a:r>
              <a:rPr lang="en-US" dirty="0"/>
              <a:t>Simplify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3568615"/>
            <a:ext cx="5289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3a + a + 4ab – 5ba + 3</a:t>
            </a:r>
            <a:r>
              <a:rPr lang="en-AU" sz="3600" dirty="0"/>
              <a:t>a</a:t>
            </a:r>
            <a:r>
              <a:rPr lang="en-AU" sz="3600" baseline="30000" dirty="0"/>
              <a:t>2</a:t>
            </a:r>
            <a:r>
              <a:rPr lang="en-AU" sz="3600" dirty="0"/>
              <a:t> + 7</a:t>
            </a:r>
          </a:p>
        </p:txBody>
      </p:sp>
    </p:spTree>
    <p:extLst>
      <p:ext uri="{BB962C8B-B14F-4D97-AF65-F5344CB8AC3E}">
        <p14:creationId xmlns:p14="http://schemas.microsoft.com/office/powerpoint/2010/main" val="118452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8448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39752" y="178303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40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Solving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How do I find an unknown value in an algebraic equation?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113" y="1938494"/>
            <a:ext cx="23125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variable and how do we solve equations involving them?	</a:t>
            </a:r>
          </a:p>
          <a:p>
            <a:endParaRPr lang="en-US" dirty="0"/>
          </a:p>
          <a:p>
            <a:endParaRPr lang="en-US" dirty="0"/>
          </a:p>
          <a:p>
            <a:endParaRPr lang="en-AU" dirty="0"/>
          </a:p>
          <a:p>
            <a:r>
              <a:rPr lang="en-AU" dirty="0"/>
              <a:t>Examples</a:t>
            </a:r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415140" y="1906611"/>
            <a:ext cx="633332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______________ (or pronumeral) is a letter that represents an unknown number. </a:t>
            </a:r>
            <a:endParaRPr lang="en-AU" dirty="0"/>
          </a:p>
          <a:p>
            <a:r>
              <a:rPr lang="en-AU" dirty="0"/>
              <a:t>To solve an equation with a variable, we _________ the equation so our unknown value is by itself on one side of the equals sign. We do this by doing </a:t>
            </a:r>
            <a:r>
              <a:rPr lang="en-AU" b="1" dirty="0"/>
              <a:t>the inverse action</a:t>
            </a:r>
            <a:r>
              <a:rPr lang="en-AU" dirty="0"/>
              <a:t>.</a:t>
            </a:r>
          </a:p>
          <a:p>
            <a:endParaRPr lang="en-AU" sz="1600" dirty="0"/>
          </a:p>
          <a:p>
            <a:r>
              <a:rPr lang="en-AU" sz="1600" dirty="0"/>
              <a:t>x + 2 = 4</a:t>
            </a:r>
          </a:p>
          <a:p>
            <a:r>
              <a:rPr lang="en-AU" sz="1600" dirty="0">
                <a:solidFill>
                  <a:srgbClr val="0070C0"/>
                </a:solidFill>
              </a:rPr>
              <a:t>Think: Inverse of + is -</a:t>
            </a:r>
          </a:p>
          <a:p>
            <a:endParaRPr lang="en-AU" sz="1600" dirty="0"/>
          </a:p>
          <a:p>
            <a:r>
              <a:rPr lang="en-AU" sz="1600" dirty="0"/>
              <a:t>x + 2 =   4</a:t>
            </a:r>
          </a:p>
          <a:p>
            <a:r>
              <a:rPr lang="en-AU" sz="1600" dirty="0"/>
              <a:t>  </a:t>
            </a:r>
            <a:r>
              <a:rPr lang="en-AU" sz="1600" dirty="0">
                <a:solidFill>
                  <a:srgbClr val="0070C0"/>
                </a:solidFill>
              </a:rPr>
              <a:t>-2        -2</a:t>
            </a:r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    x    =   2</a:t>
            </a:r>
          </a:p>
          <a:p>
            <a:endParaRPr lang="en-AU" sz="1600" dirty="0"/>
          </a:p>
          <a:p>
            <a:r>
              <a:rPr lang="en-AU" sz="1600" dirty="0"/>
              <a:t>CHECK YOUR ANSWER!!</a:t>
            </a:r>
          </a:p>
          <a:p>
            <a:endParaRPr lang="en-AU" sz="1600" dirty="0"/>
          </a:p>
          <a:p>
            <a:r>
              <a:rPr lang="en-AU" sz="1600" dirty="0"/>
              <a:t>  2+2=4 </a:t>
            </a:r>
          </a:p>
        </p:txBody>
      </p:sp>
      <p:pic>
        <p:nvPicPr>
          <p:cNvPr id="1030" name="Picture 6" descr="https://openclipart.org/image/2400px/svg_to_png/167549/Kliponious-green-ti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133" y="5661141"/>
            <a:ext cx="511870" cy="5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020699" y="3491433"/>
            <a:ext cx="267899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x ÷ 3 = 4</a:t>
            </a:r>
          </a:p>
          <a:p>
            <a:r>
              <a:rPr lang="en-AU" sz="1600" dirty="0">
                <a:solidFill>
                  <a:srgbClr val="0070C0"/>
                </a:solidFill>
              </a:rPr>
              <a:t>Think: Inverse of ÷ is x</a:t>
            </a:r>
          </a:p>
          <a:p>
            <a:endParaRPr lang="en-AU" sz="1600" dirty="0"/>
          </a:p>
          <a:p>
            <a:r>
              <a:rPr lang="en-AU" sz="1600" dirty="0"/>
              <a:t>x ÷ 3  = 4 </a:t>
            </a:r>
          </a:p>
          <a:p>
            <a:r>
              <a:rPr lang="en-AU" sz="1600" dirty="0"/>
              <a:t>  </a:t>
            </a:r>
            <a:r>
              <a:rPr lang="en-AU" sz="1600" dirty="0">
                <a:solidFill>
                  <a:srgbClr val="00B0F0"/>
                </a:solidFill>
              </a:rPr>
              <a:t>x3 </a:t>
            </a:r>
            <a:r>
              <a:rPr lang="en-AU" sz="1600" dirty="0"/>
              <a:t>      </a:t>
            </a:r>
            <a:r>
              <a:rPr lang="en-AU" sz="1600" dirty="0" err="1">
                <a:solidFill>
                  <a:srgbClr val="00B0F0"/>
                </a:solidFill>
              </a:rPr>
              <a:t>x3</a:t>
            </a:r>
            <a:endParaRPr lang="en-AU" sz="1600" dirty="0">
              <a:solidFill>
                <a:srgbClr val="00B0F0"/>
              </a:solidFill>
            </a:endParaRPr>
          </a:p>
          <a:p>
            <a:endParaRPr lang="en-AU" sz="1600" dirty="0"/>
          </a:p>
          <a:p>
            <a:r>
              <a:rPr lang="en-AU" sz="1600" dirty="0"/>
              <a:t>    x    =  12</a:t>
            </a:r>
          </a:p>
          <a:p>
            <a:endParaRPr lang="en-AU" sz="1600" dirty="0"/>
          </a:p>
          <a:p>
            <a:r>
              <a:rPr lang="en-AU" sz="1600" dirty="0"/>
              <a:t>CHECK YOUR ANSWER!!</a:t>
            </a:r>
          </a:p>
          <a:p>
            <a:endParaRPr lang="en-AU" sz="1600" dirty="0"/>
          </a:p>
          <a:p>
            <a:r>
              <a:rPr lang="en-AU" sz="1600" dirty="0"/>
              <a:t>  12 ÷ 3 = 4 </a:t>
            </a:r>
          </a:p>
        </p:txBody>
      </p:sp>
      <p:pic>
        <p:nvPicPr>
          <p:cNvPr id="42" name="Picture 6" descr="https://openclipart.org/image/2400px/svg_to_png/167549/Kliponious-green-ti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714" y="5573921"/>
            <a:ext cx="511870" cy="5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onut 7"/>
          <p:cNvSpPr/>
          <p:nvPr/>
        </p:nvSpPr>
        <p:spPr>
          <a:xfrm>
            <a:off x="2517006" y="4509578"/>
            <a:ext cx="357202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3" name="Donut 42"/>
          <p:cNvSpPr/>
          <p:nvPr/>
        </p:nvSpPr>
        <p:spPr>
          <a:xfrm>
            <a:off x="3052958" y="4507621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4" name="Donut 43"/>
          <p:cNvSpPr/>
          <p:nvPr/>
        </p:nvSpPr>
        <p:spPr>
          <a:xfrm>
            <a:off x="5094315" y="4507621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5" name="Donut 44"/>
          <p:cNvSpPr/>
          <p:nvPr/>
        </p:nvSpPr>
        <p:spPr>
          <a:xfrm>
            <a:off x="5618011" y="4481740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24677" y="3906815"/>
            <a:ext cx="16890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The inverse functions are:</a:t>
            </a:r>
          </a:p>
          <a:p>
            <a:r>
              <a:rPr lang="en-AU" b="1" dirty="0">
                <a:ln>
                  <a:solidFill>
                    <a:schemeClr val="accent1"/>
                  </a:solidFill>
                </a:ln>
              </a:rPr>
              <a:t>         +       -</a:t>
            </a:r>
          </a:p>
          <a:p>
            <a:pPr marL="285750" indent="-285750" algn="ctr">
              <a:buFontTx/>
              <a:buChar char="-"/>
            </a:pPr>
            <a:r>
              <a:rPr lang="en-AU" b="1" dirty="0">
                <a:ln>
                  <a:solidFill>
                    <a:schemeClr val="accent1"/>
                  </a:solidFill>
                </a:ln>
              </a:rPr>
              <a:t>   +</a:t>
            </a:r>
          </a:p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x      ÷</a:t>
            </a:r>
          </a:p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÷      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5756" y="6381370"/>
            <a:ext cx="692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If you do something on one side of the equals sign, do it on the other!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88376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this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524" y="1196753"/>
            <a:ext cx="8568952" cy="57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Another great way to think about it is with balance scales.</a:t>
            </a:r>
          </a:p>
        </p:txBody>
      </p:sp>
      <p:pic>
        <p:nvPicPr>
          <p:cNvPr id="1026" name="Picture 2" descr="Image result for maths balancing equ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916832"/>
            <a:ext cx="3912433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99792" y="4699867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 + 3           =             7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3203848" y="3240338"/>
            <a:ext cx="432048" cy="42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 rot="5400000">
            <a:off x="5472100" y="2912306"/>
            <a:ext cx="432048" cy="64807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2699792" y="5223087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– 3 			– 3 </a:t>
            </a:r>
            <a:endParaRPr lang="en-AU" sz="2800" dirty="0"/>
          </a:p>
        </p:txBody>
      </p:sp>
      <p:sp>
        <p:nvSpPr>
          <p:cNvPr id="8" name="Oval 7"/>
          <p:cNvSpPr/>
          <p:nvPr/>
        </p:nvSpPr>
        <p:spPr>
          <a:xfrm>
            <a:off x="2843808" y="5223087"/>
            <a:ext cx="648072" cy="6541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>
            <a:off x="5436096" y="5204213"/>
            <a:ext cx="648072" cy="6541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2707742" y="5974970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x               =             4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46069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6" grpId="0"/>
      <p:bldP spid="8" grpId="0" animBg="1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495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some together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a)  m + 3 = 8	b) g – 16 = 11	c) w × 6 = 24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d) k ÷ 5 = 9		e) 7v = 28		f)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88224" y="3877657"/>
                <a:ext cx="1152128" cy="710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/>
                  <a:t> = 48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3877657"/>
                <a:ext cx="1152128" cy="710579"/>
              </a:xfrm>
              <a:prstGeom prst="rect">
                <a:avLst/>
              </a:prstGeom>
              <a:blipFill rotWithShape="0">
                <a:blip r:embed="rId2"/>
                <a:stretch>
                  <a:fillRect r="-9524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077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13378" y="946268"/>
            <a:ext cx="38164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the following tasks on this side (left) of your page</a:t>
            </a:r>
            <a:endParaRPr lang="en-AU" sz="2800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Have YOU been doing your summaries?</a:t>
            </a:r>
            <a:endParaRPr lang="en-AU" sz="3200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Your book, your responsibility!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Now your turn!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462064" y="2492896"/>
                <a:ext cx="2109936" cy="34077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−6=3</m:t>
                    </m:r>
                  </m:oMath>
                </a14:m>
                <a:r>
                  <a:rPr lang="en-AU" sz="2400" dirty="0"/>
                  <a:t>	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−5=7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−2=9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	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−3=12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−6=−4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064" y="2492896"/>
                <a:ext cx="2109936" cy="3407792"/>
              </a:xfrm>
              <a:prstGeom prst="rect">
                <a:avLst/>
              </a:prstGeom>
              <a:blipFill rotWithShape="0">
                <a:blip r:embed="rId2"/>
                <a:stretch>
                  <a:fillRect l="-4624" t="-1431" b="-32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716016" y="2492896"/>
                <a:ext cx="2088232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400">
                        <a:latin typeface="Cambria Math" panose="02040503050406030204" pitchFamily="18" charset="0"/>
                      </a:rPr>
                      <m:t>x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	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AU" sz="2400" dirty="0"/>
                  <a:t>		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=63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2492896"/>
                <a:ext cx="2088232" cy="3416320"/>
              </a:xfrm>
              <a:prstGeom prst="rect">
                <a:avLst/>
              </a:prstGeom>
              <a:blipFill rotWithShape="0">
                <a:blip r:embed="rId3"/>
                <a:stretch>
                  <a:fillRect l="-4678" t="-1607" b="-32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60040" y="2492896"/>
                <a:ext cx="2123728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+3=7</m:t>
                    </m:r>
                  </m:oMath>
                </a14:m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+4=6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+5=9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	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+9=13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+6=17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40" y="2492896"/>
                <a:ext cx="2123728" cy="3416320"/>
              </a:xfrm>
              <a:prstGeom prst="rect">
                <a:avLst/>
              </a:prstGeom>
              <a:blipFill rotWithShape="0">
                <a:blip r:embed="rId4"/>
                <a:stretch>
                  <a:fillRect l="-4310" t="-1607" b="-32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804248" y="2492896"/>
                <a:ext cx="2102024" cy="3904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÷3=5</m:t>
                    </m:r>
                  </m:oMath>
                </a14:m>
                <a:r>
                  <a:rPr lang="en-AU" sz="2400" dirty="0"/>
                  <a:t>	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AU" sz="2400" dirty="0"/>
                  <a:t>		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=24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2492896"/>
                <a:ext cx="2102024" cy="3904210"/>
              </a:xfrm>
              <a:prstGeom prst="rect">
                <a:avLst/>
              </a:prstGeom>
              <a:blipFill rotWithShape="0">
                <a:blip r:embed="rId5"/>
                <a:stretch>
                  <a:fillRect l="-4348" t="-1250" b="-7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1666464"/>
            <a:ext cx="836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Set 1		    Set 2		        Set 3		Set 4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3127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Answers!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462064" y="2492896"/>
                <a:ext cx="2109936" cy="37771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FontTx/>
                  <a:buAutoNum type="arabicParenR"/>
                </a:pP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 −6=3</m:t>
                    </m:r>
                  </m:oMath>
                </a14:m>
                <a:r>
                  <a:rPr lang="en-AU" sz="2400" dirty="0"/>
                  <a:t>	</a:t>
                </a:r>
                <a:r>
                  <a:rPr lang="en-AU" sz="2400" dirty="0">
                    <a:solidFill>
                      <a:srgbClr val="00B0F0"/>
                    </a:solidFill>
                  </a:rPr>
                  <a:t>a = 9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−5=7</m:t>
                    </m:r>
                  </m:oMath>
                </a14:m>
                <a:endParaRPr lang="en-AU" sz="2400" dirty="0"/>
              </a:p>
              <a:p>
                <a:r>
                  <a:rPr lang="en-AU" sz="2400" dirty="0">
                    <a:solidFill>
                      <a:srgbClr val="00B0F0"/>
                    </a:solidFill>
                  </a:rPr>
                  <a:t>	m = 12</a:t>
                </a:r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−2=9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	</a:t>
                </a:r>
                <a:r>
                  <a:rPr lang="en-AU" sz="2400" dirty="0">
                    <a:solidFill>
                      <a:srgbClr val="00B0F0"/>
                    </a:solidFill>
                  </a:rPr>
                  <a:t> n = 11 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−3=12</m:t>
                    </m:r>
                  </m:oMath>
                </a14:m>
                <a:endParaRPr lang="en-AU" sz="2400" dirty="0"/>
              </a:p>
              <a:p>
                <a:r>
                  <a:rPr lang="en-US" sz="2400" dirty="0"/>
                  <a:t>	</a:t>
                </a:r>
                <a:r>
                  <a:rPr lang="en-AU" sz="2400" dirty="0">
                    <a:solidFill>
                      <a:srgbClr val="00B0F0"/>
                    </a:solidFill>
                  </a:rPr>
                  <a:t> x = 15</a:t>
                </a:r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−6=−4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	</a:t>
                </a:r>
                <a:r>
                  <a:rPr lang="en-AU" sz="2400" dirty="0">
                    <a:solidFill>
                      <a:srgbClr val="00B0F0"/>
                    </a:solidFill>
                  </a:rPr>
                  <a:t> b = 2</a:t>
                </a:r>
                <a:endParaRPr lang="en-AU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064" y="2492896"/>
                <a:ext cx="2109936" cy="3777124"/>
              </a:xfrm>
              <a:prstGeom prst="rect">
                <a:avLst/>
              </a:prstGeom>
              <a:blipFill rotWithShape="0">
                <a:blip r:embed="rId2"/>
                <a:stretch>
                  <a:fillRect l="-4624" t="-1290" b="-25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716016" y="2492896"/>
                <a:ext cx="2088232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400">
                        <a:latin typeface="Cambria Math" panose="02040503050406030204" pitchFamily="18" charset="0"/>
                      </a:rPr>
                      <m:t>x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	</a:t>
                </a:r>
                <a:r>
                  <a:rPr lang="en-AU" sz="2400" dirty="0">
                    <a:solidFill>
                      <a:srgbClr val="00B0F0"/>
                    </a:solidFill>
                  </a:rPr>
                  <a:t> m = 3 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endParaRPr lang="en-AU" sz="2400" dirty="0"/>
              </a:p>
              <a:p>
                <a:r>
                  <a:rPr lang="en-US" sz="2400" dirty="0"/>
                  <a:t>         </a:t>
                </a:r>
                <a:r>
                  <a:rPr lang="en-AU" sz="2400" dirty="0">
                    <a:solidFill>
                      <a:srgbClr val="00B0F0"/>
                    </a:solidFill>
                  </a:rPr>
                  <a:t>b= 4</a:t>
                </a:r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sz="2400" dirty="0"/>
              </a:p>
              <a:p>
                <a:r>
                  <a:rPr lang="en-AU" sz="2400" dirty="0">
                    <a:solidFill>
                      <a:srgbClr val="00B0F0"/>
                    </a:solidFill>
                  </a:rPr>
                  <a:t>         q = 6 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=63</m:t>
                    </m:r>
                  </m:oMath>
                </a14:m>
                <a:endParaRPr lang="en-AU" sz="2400" dirty="0"/>
              </a:p>
              <a:p>
                <a:r>
                  <a:rPr lang="en-US" sz="2400" dirty="0"/>
                  <a:t>        </a:t>
                </a:r>
                <a:r>
                  <a:rPr lang="en-AU" sz="2400" dirty="0">
                    <a:solidFill>
                      <a:srgbClr val="00B0F0"/>
                    </a:solidFill>
                  </a:rPr>
                  <a:t>p = 7</a:t>
                </a:r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endParaRPr lang="en-AU" sz="2400" dirty="0"/>
              </a:p>
              <a:p>
                <a:r>
                  <a:rPr lang="en-US" sz="2400" dirty="0"/>
                  <a:t>         </a:t>
                </a:r>
                <a:r>
                  <a:rPr lang="en-AU" sz="2400" dirty="0">
                    <a:solidFill>
                      <a:srgbClr val="00B0F0"/>
                    </a:solidFill>
                  </a:rPr>
                  <a:t>b = -1</a:t>
                </a:r>
                <a:endParaRPr lang="en-AU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2492896"/>
                <a:ext cx="2088232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4678" t="-1449" b="-27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60040" y="2492896"/>
                <a:ext cx="2123728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+3=7</m:t>
                    </m:r>
                  </m:oMath>
                </a14:m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	</a:t>
                </a:r>
                <a:r>
                  <a:rPr lang="en-AU" sz="2400" dirty="0">
                    <a:solidFill>
                      <a:srgbClr val="00B0F0"/>
                    </a:solidFill>
                  </a:rPr>
                  <a:t>x = 4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+4=6</m:t>
                    </m:r>
                  </m:oMath>
                </a14:m>
                <a:endParaRPr lang="en-AU" sz="2400" dirty="0"/>
              </a:p>
              <a:p>
                <a:r>
                  <a:rPr lang="en-AU" sz="2400" dirty="0">
                    <a:solidFill>
                      <a:srgbClr val="00B0F0"/>
                    </a:solidFill>
                  </a:rPr>
                  <a:t>             y = 2</a:t>
                </a:r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+5=19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	</a:t>
                </a:r>
                <a:r>
                  <a:rPr lang="en-AU" sz="2400" dirty="0">
                    <a:solidFill>
                      <a:srgbClr val="00B0F0"/>
                    </a:solidFill>
                  </a:rPr>
                  <a:t> z = 14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+9=22</m:t>
                    </m:r>
                  </m:oMath>
                </a14:m>
                <a:endParaRPr lang="en-AU" sz="2400" dirty="0"/>
              </a:p>
              <a:p>
                <a:r>
                  <a:rPr lang="en-AU" sz="2400" dirty="0">
                    <a:solidFill>
                      <a:srgbClr val="00B0F0"/>
                    </a:solidFill>
                  </a:rPr>
                  <a:t>              a = 13</a:t>
                </a:r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+9=7</m:t>
                    </m:r>
                  </m:oMath>
                </a14:m>
                <a:endParaRPr lang="en-AU" sz="2400" dirty="0"/>
              </a:p>
              <a:p>
                <a:r>
                  <a:rPr lang="en-AU" sz="2400" dirty="0">
                    <a:solidFill>
                      <a:srgbClr val="00B0F0"/>
                    </a:solidFill>
                  </a:rPr>
                  <a:t>              b = -2</a:t>
                </a:r>
                <a:endParaRPr lang="en-AU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40" y="2492896"/>
                <a:ext cx="2123728" cy="3785652"/>
              </a:xfrm>
              <a:prstGeom prst="rect">
                <a:avLst/>
              </a:prstGeom>
              <a:blipFill rotWithShape="0">
                <a:blip r:embed="rId4"/>
                <a:stretch>
                  <a:fillRect l="-4310" t="-1449" b="-27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804248" y="2492896"/>
                <a:ext cx="2102024" cy="42735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 ÷3=5</m:t>
                    </m:r>
                  </m:oMath>
                </a14:m>
                <a:r>
                  <a:rPr lang="en-AU" sz="2400" dirty="0"/>
                  <a:t>	</a:t>
                </a:r>
                <a:r>
                  <a:rPr lang="en-AU" sz="2400" dirty="0">
                    <a:solidFill>
                      <a:srgbClr val="00B0F0"/>
                    </a:solidFill>
                  </a:rPr>
                  <a:t> x = 15 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AU" sz="2400" dirty="0"/>
              </a:p>
              <a:p>
                <a:r>
                  <a:rPr lang="en-US" sz="2400" dirty="0"/>
                  <a:t>       </a:t>
                </a:r>
                <a:r>
                  <a:rPr lang="en-AU" sz="2400" dirty="0">
                    <a:solidFill>
                      <a:srgbClr val="00B0F0"/>
                    </a:solidFill>
                  </a:rPr>
                  <a:t>m = 42</a:t>
                </a:r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2400" dirty="0"/>
              </a:p>
              <a:p>
                <a:r>
                  <a:rPr lang="en-AU" sz="2400" dirty="0">
                    <a:solidFill>
                      <a:srgbClr val="00B0F0"/>
                    </a:solidFill>
                  </a:rPr>
                  <a:t>      p = 45 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AU" sz="2400" dirty="0"/>
              </a:p>
              <a:p>
                <a:r>
                  <a:rPr lang="en-US" sz="2400" dirty="0"/>
                  <a:t>      </a:t>
                </a:r>
                <a:r>
                  <a:rPr lang="en-AU" sz="2400" dirty="0">
                    <a:solidFill>
                      <a:srgbClr val="00B0F0"/>
                    </a:solidFill>
                  </a:rPr>
                  <a:t>y = 36</a:t>
                </a:r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=24</m:t>
                    </m:r>
                  </m:oMath>
                </a14:m>
                <a:endParaRPr lang="en-AU" sz="2400" dirty="0"/>
              </a:p>
              <a:p>
                <a:r>
                  <a:rPr lang="en-US" sz="2400" dirty="0"/>
                  <a:t>      </a:t>
                </a:r>
                <a:r>
                  <a:rPr lang="en-AU" sz="2400" dirty="0">
                    <a:solidFill>
                      <a:srgbClr val="00B0F0"/>
                    </a:solidFill>
                  </a:rPr>
                  <a:t>g = 48</a:t>
                </a:r>
                <a:endParaRPr lang="en-AU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2492896"/>
                <a:ext cx="2102024" cy="4273542"/>
              </a:xfrm>
              <a:prstGeom prst="rect">
                <a:avLst/>
              </a:prstGeom>
              <a:blipFill rotWithShape="0">
                <a:blip r:embed="rId5"/>
                <a:stretch>
                  <a:fillRect l="-4348" t="-1141" b="-22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1666464"/>
            <a:ext cx="836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Set 1		    Set 2		        Set 3		Set 4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70668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30240</TotalTime>
  <Words>406</Words>
  <Application>Microsoft Office PowerPoint</Application>
  <PresentationFormat>On-screen Show (4:3)</PresentationFormat>
  <Paragraphs>187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Cambria Math</vt:lpstr>
      <vt:lpstr>Office Theme</vt:lpstr>
      <vt:lpstr>My Solving Equations Interactive Notebook</vt:lpstr>
      <vt:lpstr>PowerPoint Presentation</vt:lpstr>
      <vt:lpstr>Let’s start with a Quickwrite</vt:lpstr>
      <vt:lpstr>PowerPoint Presentation</vt:lpstr>
      <vt:lpstr>Consider this</vt:lpstr>
      <vt:lpstr>Do you understand? Fists of Five</vt:lpstr>
      <vt:lpstr>Let’s try some together</vt:lpstr>
      <vt:lpstr>PowerPoint Presentation</vt:lpstr>
      <vt:lpstr>Now your turn! </vt:lpstr>
      <vt:lpstr>Answers! </vt:lpstr>
      <vt:lpstr>Notes Review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CRAIG Mason [Baldivis Secondary College]</cp:lastModifiedBy>
  <cp:revision>166</cp:revision>
  <cp:lastPrinted>2016-08-09T01:13:02Z</cp:lastPrinted>
  <dcterms:created xsi:type="dcterms:W3CDTF">2014-05-14T02:58:57Z</dcterms:created>
  <dcterms:modified xsi:type="dcterms:W3CDTF">2018-08-12T13:59:49Z</dcterms:modified>
</cp:coreProperties>
</file>
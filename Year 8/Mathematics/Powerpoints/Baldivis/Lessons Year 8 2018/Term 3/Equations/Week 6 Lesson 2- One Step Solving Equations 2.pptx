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34" r:id="rId5"/>
    <p:sldId id="335" r:id="rId6"/>
    <p:sldId id="337" r:id="rId7"/>
    <p:sldId id="336" r:id="rId8"/>
    <p:sldId id="338" r:id="rId9"/>
    <p:sldId id="339" r:id="rId10"/>
    <p:sldId id="315" r:id="rId11"/>
    <p:sldId id="316" r:id="rId12"/>
    <p:sldId id="319" r:id="rId13"/>
    <p:sldId id="321" r:id="rId14"/>
    <p:sldId id="292" r:id="rId1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268BE-255F-4F74-8FD4-B0459D25A11E}" v="7" dt="2018-08-20T14:03:00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 varScale="1">
        <p:scale>
          <a:sx n="107" d="100"/>
          <a:sy n="107" d="100"/>
        </p:scale>
        <p:origin x="10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13A268BE-255F-4F74-8FD4-B0459D25A11E}"/>
    <pc:docChg chg="custSel modSld">
      <pc:chgData name="Hamilton Stott" userId="e28223afab1f786a" providerId="LiveId" clId="{13A268BE-255F-4F74-8FD4-B0459D25A11E}" dt="2018-08-20T14:03:00.312" v="6" actId="478"/>
      <pc:docMkLst>
        <pc:docMk/>
      </pc:docMkLst>
      <pc:sldChg chg="delSp modSp">
        <pc:chgData name="Hamilton Stott" userId="e28223afab1f786a" providerId="LiveId" clId="{13A268BE-255F-4F74-8FD4-B0459D25A11E}" dt="2018-08-20T14:03:00.312" v="6" actId="478"/>
        <pc:sldMkLst>
          <pc:docMk/>
          <pc:sldMk cId="3125062734" sldId="260"/>
        </pc:sldMkLst>
        <pc:spChg chg="del mod">
          <ac:chgData name="Hamilton Stott" userId="e28223afab1f786a" providerId="LiveId" clId="{13A268BE-255F-4F74-8FD4-B0459D25A11E}" dt="2018-08-20T14:03:00.312" v="6" actId="478"/>
          <ac:spMkLst>
            <pc:docMk/>
            <pc:sldMk cId="3125062734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80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Solving Equations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AU" sz="6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07644" y="1902233"/>
            <a:ext cx="209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>
                <a:solidFill>
                  <a:srgbClr val="0070C0"/>
                </a:solidFill>
                <a:latin typeface="Cambria" panose="02040503050406030204" pitchFamily="18" charset="0"/>
              </a:rPr>
              <a:t>a-4=7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56" y="437585"/>
            <a:ext cx="2267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sz="5000" i="1" dirty="0">
                <a:solidFill>
                  <a:srgbClr val="FFFF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04" y="5626894"/>
            <a:ext cx="28083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>
                <a:solidFill>
                  <a:srgbClr val="7030A0"/>
                </a:solidFill>
                <a:latin typeface="Cambria" panose="02040503050406030204" pitchFamily="18" charset="0"/>
              </a:rPr>
              <a:t>2b+7=13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088" y="4797152"/>
            <a:ext cx="22322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i="1" dirty="0">
                <a:solidFill>
                  <a:srgbClr val="FF00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+5=9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3378" y="946268"/>
            <a:ext cx="3816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the following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1" name="Right Arrow 20"/>
          <p:cNvSpPr/>
          <p:nvPr/>
        </p:nvSpPr>
        <p:spPr>
          <a:xfrm rot="13196492">
            <a:off x="4569761" y="536610"/>
            <a:ext cx="2290349" cy="13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6705190" y="1785590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should be ticking these off!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start with a game of 25c Pyramid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In pairs, choose one person to be A and one person to be B</a:t>
            </a:r>
          </a:p>
          <a:p>
            <a:r>
              <a:rPr lang="en-US" dirty="0"/>
              <a:t>Person A will be looking at the board, Person B will look at the back of the room (no peeking!)</a:t>
            </a:r>
          </a:p>
          <a:p>
            <a:r>
              <a:rPr lang="en-US" dirty="0"/>
              <a:t>A number will be displayed on the screen and you have to get your partner to be the first person to say it but…</a:t>
            </a:r>
          </a:p>
          <a:p>
            <a:r>
              <a:rPr lang="en-US" dirty="0"/>
              <a:t>Person A can </a:t>
            </a:r>
            <a:r>
              <a:rPr lang="en-US" b="1" dirty="0"/>
              <a:t>only</a:t>
            </a:r>
            <a:r>
              <a:rPr lang="en-US" dirty="0"/>
              <a:t> use the variables, numbers and operations surrounding the number. Nothing else!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128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example…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/>
              <a:t>8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6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4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m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5378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3600" y="5085184"/>
            <a:ext cx="155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12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5219" y="4489261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3922168" y="854637"/>
            <a:ext cx="56201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FF0000"/>
                </a:solidFill>
              </a:rPr>
              <a:t>m + 4 = 12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32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Person A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/>
              <a:t>2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3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4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w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0295" y="5098305"/>
            <a:ext cx="9507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5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217422" y="888790"/>
            <a:ext cx="4967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FF0000"/>
                </a:solidFill>
              </a:rPr>
              <a:t>w + 3 = 5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70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Person B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/>
              <a:t>7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8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2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–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g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3600" y="5085184"/>
            <a:ext cx="155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15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020350" y="1044442"/>
            <a:ext cx="56201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FF0000"/>
                </a:solidFill>
              </a:rPr>
              <a:t>15 – g = 8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40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Person A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/>
              <a:t>5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6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4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–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h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3600" y="5085184"/>
            <a:ext cx="155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30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558374" y="992736"/>
            <a:ext cx="46491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FF0000"/>
                </a:solidFill>
              </a:rPr>
              <a:t> 6h = 30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74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Person B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372382" y="2754833"/>
            <a:ext cx="21860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/>
              <a:t>18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6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2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–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k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01535" y="5155490"/>
            <a:ext cx="10664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9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558374" y="992736"/>
            <a:ext cx="46491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FF0000"/>
                </a:solidFill>
              </a:rPr>
              <a:t> k÷9=2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4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448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39752" y="178303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40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Solving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How do I find an unknown value in an algebraic equation?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23704" y="3201825"/>
            <a:ext cx="24553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happens if the variable comes second?	</a:t>
            </a:r>
          </a:p>
          <a:p>
            <a:r>
              <a:rPr lang="en-AU" dirty="0"/>
              <a:t>Examples</a:t>
            </a:r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415140" y="1906611"/>
            <a:ext cx="633332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To solve an equation with a variable, we </a:t>
            </a:r>
            <a:r>
              <a:rPr lang="en-AU" b="1" i="1" dirty="0"/>
              <a:t>rearrange the equation </a:t>
            </a:r>
            <a:r>
              <a:rPr lang="en-AU" i="1" dirty="0"/>
              <a:t>so our unknown value is </a:t>
            </a:r>
            <a:r>
              <a:rPr lang="en-AU" b="1" i="1" dirty="0"/>
              <a:t>by itself </a:t>
            </a:r>
            <a:r>
              <a:rPr lang="en-AU" i="1" dirty="0"/>
              <a:t>on one side of the equals sign. </a:t>
            </a:r>
          </a:p>
          <a:p>
            <a:endParaRPr lang="en-AU" i="1" dirty="0"/>
          </a:p>
          <a:p>
            <a:endParaRPr lang="en-AU" sz="1600" dirty="0"/>
          </a:p>
          <a:p>
            <a:endParaRPr lang="en-US" dirty="0"/>
          </a:p>
          <a:p>
            <a:r>
              <a:rPr lang="en-US" dirty="0"/>
              <a:t>If the variable comes after the operation, be careful! For subtraction and division, we must do more rearranging. </a:t>
            </a:r>
            <a:endParaRPr lang="en-AU" dirty="0"/>
          </a:p>
          <a:p>
            <a:endParaRPr lang="en-AU" sz="1600" dirty="0"/>
          </a:p>
          <a:p>
            <a:r>
              <a:rPr lang="en-AU" sz="1600" dirty="0"/>
              <a:t>  6 – x  =  4</a:t>
            </a:r>
          </a:p>
          <a:p>
            <a:r>
              <a:rPr lang="en-AU" sz="1600" dirty="0"/>
              <a:t>    </a:t>
            </a:r>
            <a:r>
              <a:rPr lang="en-AU" sz="1600" dirty="0">
                <a:solidFill>
                  <a:srgbClr val="0070C0"/>
                </a:solidFill>
              </a:rPr>
              <a:t>+x       +x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    6    =   4 + x</a:t>
            </a:r>
          </a:p>
          <a:p>
            <a:r>
              <a:rPr lang="en-AU" sz="1600" dirty="0">
                <a:solidFill>
                  <a:srgbClr val="0070C0"/>
                </a:solidFill>
              </a:rPr>
              <a:t>    -4       -4</a:t>
            </a:r>
            <a:endParaRPr lang="en-AU" sz="1600" dirty="0"/>
          </a:p>
          <a:p>
            <a:endParaRPr lang="en-US" sz="1600" dirty="0"/>
          </a:p>
          <a:p>
            <a:r>
              <a:rPr lang="en-US" sz="1600" dirty="0"/>
              <a:t>      2   =   x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   6 – 2 = 4 </a:t>
            </a:r>
          </a:p>
        </p:txBody>
      </p:sp>
      <p:pic>
        <p:nvPicPr>
          <p:cNvPr id="1030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088" y="6195752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79270" y="4030656"/>
            <a:ext cx="26789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36 ÷ m = 4</a:t>
            </a:r>
          </a:p>
          <a:p>
            <a:r>
              <a:rPr lang="en-AU" sz="1600" dirty="0">
                <a:solidFill>
                  <a:srgbClr val="00B0F0"/>
                </a:solidFill>
              </a:rPr>
              <a:t>  × m     × m 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   36   = 4 × m </a:t>
            </a:r>
          </a:p>
          <a:p>
            <a:r>
              <a:rPr lang="en-AU" sz="1600" dirty="0">
                <a:solidFill>
                  <a:srgbClr val="00B0F0"/>
                </a:solidFill>
              </a:rPr>
              <a:t>    ÷ 4     ÷ 4</a:t>
            </a:r>
          </a:p>
          <a:p>
            <a:endParaRPr lang="en-AU" sz="1600" dirty="0"/>
          </a:p>
          <a:p>
            <a:r>
              <a:rPr lang="en-AU" sz="1600" dirty="0"/>
              <a:t>    9    =  m</a:t>
            </a:r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36 ÷ 9 = 4 </a:t>
            </a:r>
          </a:p>
        </p:txBody>
      </p:sp>
      <p:pic>
        <p:nvPicPr>
          <p:cNvPr id="42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634" y="612225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nut 7"/>
          <p:cNvSpPr/>
          <p:nvPr/>
        </p:nvSpPr>
        <p:spPr>
          <a:xfrm>
            <a:off x="2594954" y="4327601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Donut 42"/>
          <p:cNvSpPr/>
          <p:nvPr/>
        </p:nvSpPr>
        <p:spPr>
          <a:xfrm>
            <a:off x="3115492" y="431342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Donut 43"/>
          <p:cNvSpPr/>
          <p:nvPr/>
        </p:nvSpPr>
        <p:spPr>
          <a:xfrm>
            <a:off x="5036842" y="432760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Donut 44"/>
          <p:cNvSpPr/>
          <p:nvPr/>
        </p:nvSpPr>
        <p:spPr>
          <a:xfrm>
            <a:off x="5575684" y="4325672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9126" y="4022231"/>
            <a:ext cx="168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The inverse functions are:</a:t>
            </a:r>
          </a:p>
          <a:p>
            <a:r>
              <a:rPr lang="en-AU" b="1" dirty="0">
                <a:ln>
                  <a:solidFill>
                    <a:schemeClr val="accent1"/>
                  </a:solidFill>
                </a:ln>
              </a:rPr>
              <a:t>         +       -</a:t>
            </a:r>
          </a:p>
          <a:p>
            <a:pPr marL="285750" indent="-285750" algn="ctr">
              <a:buFontTx/>
              <a:buChar char="-"/>
            </a:pPr>
            <a:r>
              <a:rPr lang="en-AU" b="1" dirty="0">
                <a:ln>
                  <a:solidFill>
                    <a:schemeClr val="accent1"/>
                  </a:solidFill>
                </a:ln>
              </a:rPr>
              <a:t>   +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x      ÷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÷     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0103" y="2675708"/>
            <a:ext cx="69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If you do something on one side of the equals sign, do it on the other!</a:t>
            </a:r>
            <a:endParaRPr lang="en-AU" b="1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-10465" y="1906611"/>
            <a:ext cx="231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yesterday</a:t>
            </a:r>
            <a:endParaRPr lang="en-AU" dirty="0"/>
          </a:p>
        </p:txBody>
      </p:sp>
      <p:sp>
        <p:nvSpPr>
          <p:cNvPr id="23" name="Donut 22"/>
          <p:cNvSpPr/>
          <p:nvPr/>
        </p:nvSpPr>
        <p:spPr>
          <a:xfrm>
            <a:off x="2594954" y="5053130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Donut 23"/>
          <p:cNvSpPr/>
          <p:nvPr/>
        </p:nvSpPr>
        <p:spPr>
          <a:xfrm>
            <a:off x="3098513" y="5055830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Donut 26"/>
          <p:cNvSpPr/>
          <p:nvPr/>
        </p:nvSpPr>
        <p:spPr>
          <a:xfrm>
            <a:off x="5579146" y="5055830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9" name="Donut 28"/>
          <p:cNvSpPr/>
          <p:nvPr/>
        </p:nvSpPr>
        <p:spPr>
          <a:xfrm>
            <a:off x="5095988" y="5046807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6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a)  7 + d = 24	b) 38 – f = 16	c) 8 × j = -40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d) 63 ÷ q = 9	e) 22 – n = 8	f)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88224" y="3877657"/>
                <a:ext cx="1368152" cy="703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AU" sz="2800" dirty="0"/>
                  <a:t> = 7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3877657"/>
                <a:ext cx="1368152" cy="703911"/>
              </a:xfrm>
              <a:prstGeom prst="rect">
                <a:avLst/>
              </a:prstGeom>
              <a:blipFill rotWithShape="0">
                <a:blip r:embed="rId2"/>
                <a:stretch>
                  <a:fillRect b="-112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07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495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Now your turn!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42" y="1268760"/>
            <a:ext cx="7430916" cy="5251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35896" y="1419506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635896" y="2132856"/>
            <a:ext cx="288032" cy="190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127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30680</TotalTime>
  <Words>484</Words>
  <Application>Microsoft Office PowerPoint</Application>
  <PresentationFormat>On-screen Show (4:3)</PresentationFormat>
  <Paragraphs>157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Cambria Math</vt:lpstr>
      <vt:lpstr>Office Theme</vt:lpstr>
      <vt:lpstr>My Solving Equations Interactive Notebook</vt:lpstr>
      <vt:lpstr>PowerPoint Presentation</vt:lpstr>
      <vt:lpstr>PowerPoint Presentation</vt:lpstr>
      <vt:lpstr>Let’s start with a game of 25c Pyramid</vt:lpstr>
      <vt:lpstr>For example…</vt:lpstr>
      <vt:lpstr>Person A</vt:lpstr>
      <vt:lpstr>Person B</vt:lpstr>
      <vt:lpstr>Person A</vt:lpstr>
      <vt:lpstr>Person B</vt:lpstr>
      <vt:lpstr>PowerPoint Presentation</vt:lpstr>
      <vt:lpstr>Let’s try some together</vt:lpstr>
      <vt:lpstr>Do you understand? Fists of Five</vt:lpstr>
      <vt:lpstr>Now your turn! </vt:lpstr>
      <vt:lpstr>Notes Review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Hamilton Stott</cp:lastModifiedBy>
  <cp:revision>177</cp:revision>
  <cp:lastPrinted>2016-08-09T01:13:02Z</cp:lastPrinted>
  <dcterms:created xsi:type="dcterms:W3CDTF">2014-05-14T02:58:57Z</dcterms:created>
  <dcterms:modified xsi:type="dcterms:W3CDTF">2018-08-20T14:03:02Z</dcterms:modified>
</cp:coreProperties>
</file>
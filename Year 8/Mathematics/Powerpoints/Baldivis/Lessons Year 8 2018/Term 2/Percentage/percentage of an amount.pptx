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303" r:id="rId3"/>
    <p:sldId id="305" r:id="rId4"/>
    <p:sldId id="304" r:id="rId5"/>
    <p:sldId id="306" r:id="rId6"/>
    <p:sldId id="308" r:id="rId7"/>
    <p:sldId id="30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6A55C-50FB-44D2-A126-B48E22AF5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1F5B9-2FD5-4BBF-BD01-6197078A2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CC86A-98BE-48F0-9B51-C0E5E27A4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1640D-BA0B-4A7F-A08D-F5CC366CE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7A055-311A-47CD-91F1-74D7C5B3B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982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43826-80CA-4183-A7A0-72CF2AD54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C1240-283C-4E8A-B0E8-C982212E0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85A09-623C-47F8-B49D-98F28749F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913A0-A9F8-4E82-A645-654E65779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E28C1-80DB-48D8-AEF7-94ABDD8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762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777BB-D2D8-42F8-A5BB-210E866B5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3DF99-3B6C-48D3-9DB3-8C6487B82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A28D1-1CDE-422E-96F6-218D24DB2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A71DC-9CBD-4925-BA99-CD08606D2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C2A57-BBDC-479A-8714-6AD4AF21D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664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7CCC3-817E-4D91-AC95-58EF275BD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EC932-2EA6-4311-9340-EAD1780FD2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8B8DB8-844A-489E-84AA-5CD977B7F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95A7DE-371F-4419-8708-639CCAE7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87D95C-D634-4876-BC57-D1B0FDBC3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9C783-F6E5-493C-BBF9-AF5292B20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158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D12B2-45FF-4592-9458-2AC09446D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5FA8A7-FE76-4DC0-81C2-D764872FF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A66A6-1C75-4DD8-9E23-399FEE9F4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A0F6A8-FC71-4FEF-AE1E-2927B7EAB7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96C3A-1904-420F-86F9-6283E3EA4C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3B39E5-C01B-4B5B-B245-CD232A043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5/20/2018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8E1DFB-6E0C-4032-9A1A-CBF6E5227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65ECE2-544C-4C37-B580-3198BC1C0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23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30A31-1927-498D-896C-6F8B1BD58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C333FC-54EA-4D06-A8FB-140D7B1DA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5/20/2018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F4FD33-C01E-4559-B8C6-C7E89090A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67C2EB-77C4-4C6A-B33A-526D5DF83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176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C17B24-DCB7-4631-BBE4-34048CFF3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5/20/2018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2C7179-ECBE-4017-9E9C-0D60C9678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86935-EB77-471F-BD24-3345F7B6F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339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BAC94-6756-4F26-9FA9-11797F26C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9BF63-D86F-4905-A662-E62894257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EAD4DB-3597-4619-923D-17B871296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A45E34-B35A-44A0-A037-12645223E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8C55B4-95EC-403C-8C86-7ECFC40B8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E00963-C252-4EAD-8A88-C693DFC9E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09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97AD5-E4A1-48D8-9ED2-BDE04E87F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1C2ADE-CEEE-4A03-9179-E1E9CDDAD3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A70432-B277-4843-9791-02C32A3732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068D5-CC13-4ECB-B053-BFFA51E18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7F784F-C70C-4A28-A52D-A52F832C4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5BEDB-DC89-4D0D-8D8C-32F99982D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804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FBFFC-8F73-4A7C-BD07-95F022B60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94FA9D-8BDA-4AFB-A8E2-29B76CF170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5E929-DF75-4A6D-B2CE-08BF493E3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473AF-7BA9-4EE9-84B9-0509EE36E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7BA3A-C2C9-4B5A-8F29-DBC7011EE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104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C6911-E3F5-4EDE-8F20-AB13C5AA9A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8C46F7-0389-4140-8D16-878F7B5294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088D9-6910-41A1-B997-EA6075606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5/20/2018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EDCCD-5574-49AF-8839-4CD3EBB39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99B75-5F03-41F4-9843-BC05DDE76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467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07AF33-0938-4E6F-AD7B-A30578C33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94C15-38FA-48F2-B1F9-083D30124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540F1-4CAD-4C1E-95A9-30B4A71FCB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5/20/2018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A23A2-1BC3-4866-A9C9-2A88DBF99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8DD83-20AD-4BDD-B79F-BCC6E575F8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58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lay.kahoot.it/#/k/7fac5bfc-93f8-409e-8cb1-0e51498db6d0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59AE206-7EBA-4D33-8BC9-9D8158553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8E38ED-369A-44C2-B635-0BED0E48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00392" y="4525347"/>
            <a:ext cx="0" cy="1737360"/>
          </a:xfrm>
          <a:prstGeom prst="line">
            <a:avLst/>
          </a:prstGeom>
          <a:ln w="1905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B672F332-AF08-46C6-94F0-77684310D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95001" y="2466604"/>
            <a:ext cx="962395" cy="96239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4244EF8-D73A-40E1-BE73-D46E6B4B0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5829" y="2327988"/>
            <a:ext cx="293695" cy="29369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437D937-A7F1-4011-92B4-328E5BE1B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8567" y="620480"/>
            <a:ext cx="2243800" cy="224379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B84D7E8-4ECB-42D7-ADBF-01689B0F2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2113" y="0"/>
            <a:ext cx="5699887" cy="4059244"/>
          </a:xfrm>
          <a:custGeom>
            <a:avLst/>
            <a:gdLst>
              <a:gd name="connsiteX0" fmla="*/ 0 w 5699887"/>
              <a:gd name="connsiteY0" fmla="*/ 0 h 4059244"/>
              <a:gd name="connsiteX1" fmla="*/ 5699887 w 5699887"/>
              <a:gd name="connsiteY1" fmla="*/ 0 h 4059244"/>
              <a:gd name="connsiteX2" fmla="*/ 5699887 w 5699887"/>
              <a:gd name="connsiteY2" fmla="*/ 3944096 h 4059244"/>
              <a:gd name="connsiteX3" fmla="*/ 5525775 w 5699887"/>
              <a:gd name="connsiteY3" fmla="*/ 3980429 h 4059244"/>
              <a:gd name="connsiteX4" fmla="*/ 4663256 w 5699887"/>
              <a:gd name="connsiteY4" fmla="*/ 4059244 h 4059244"/>
              <a:gd name="connsiteX5" fmla="*/ 8566 w 5699887"/>
              <a:gd name="connsiteY5" fmla="*/ 67422 h 4059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887" h="4059244">
                <a:moveTo>
                  <a:pt x="0" y="0"/>
                </a:moveTo>
                <a:lnTo>
                  <a:pt x="5699887" y="0"/>
                </a:lnTo>
                <a:lnTo>
                  <a:pt x="5699887" y="3944096"/>
                </a:lnTo>
                <a:lnTo>
                  <a:pt x="5525775" y="3980429"/>
                </a:lnTo>
                <a:cubicBezTo>
                  <a:pt x="5246154" y="4032190"/>
                  <a:pt x="4957865" y="4059244"/>
                  <a:pt x="4663256" y="4059244"/>
                </a:cubicBezTo>
                <a:cubicBezTo>
                  <a:pt x="2306390" y="4059244"/>
                  <a:pt x="353936" y="2327747"/>
                  <a:pt x="8566" y="67422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C669C9-0604-4AF3-B29E-0EA1A2AF7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4525347"/>
            <a:ext cx="6801321" cy="1737360"/>
          </a:xfrm>
        </p:spPr>
        <p:txBody>
          <a:bodyPr anchor="ctr">
            <a:normAutofit/>
          </a:bodyPr>
          <a:lstStyle/>
          <a:p>
            <a:pPr algn="r"/>
            <a:r>
              <a:rPr lang="en-AU" dirty="0"/>
              <a:t>Topic: Percentages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D7F932-C6D1-4403-BFC1-3FEFF087C9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61258" y="4525347"/>
            <a:ext cx="3258675" cy="1737360"/>
          </a:xfrm>
        </p:spPr>
        <p:txBody>
          <a:bodyPr anchor="ctr">
            <a:normAutofit/>
          </a:bodyPr>
          <a:lstStyle/>
          <a:p>
            <a:pPr algn="l"/>
            <a:r>
              <a:rPr lang="en-AU" dirty="0"/>
              <a:t>EQ: How do we find the percentage </a:t>
            </a:r>
            <a:r>
              <a:rPr lang="en-AU" dirty="0" err="1"/>
              <a:t>oF</a:t>
            </a:r>
            <a:r>
              <a:rPr lang="en-AU" dirty="0"/>
              <a:t> something?</a:t>
            </a:r>
          </a:p>
        </p:txBody>
      </p:sp>
    </p:spTree>
    <p:extLst>
      <p:ext uri="{BB962C8B-B14F-4D97-AF65-F5344CB8AC3E}">
        <p14:creationId xmlns:p14="http://schemas.microsoft.com/office/powerpoint/2010/main" val="824502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173682" y="1019690"/>
            <a:ext cx="11585181" cy="1388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173682" y="1892569"/>
            <a:ext cx="1158518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3682" y="100415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587275" y="1892569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42737" y="224593"/>
            <a:ext cx="64214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Title: Percentages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682" y="1033573"/>
            <a:ext cx="10062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–How do you find a percentage of an amount?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63BAAE-058E-4A47-B0A8-3C980FE9EE28}"/>
              </a:ext>
            </a:extLst>
          </p:cNvPr>
          <p:cNvSpPr txBox="1"/>
          <p:nvPr/>
        </p:nvSpPr>
        <p:spPr>
          <a:xfrm>
            <a:off x="183080" y="2272061"/>
            <a:ext cx="2595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What are percentages used for?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2D584F-C8E3-4D31-B807-EBBA4E6E53E8}"/>
              </a:ext>
            </a:extLst>
          </p:cNvPr>
          <p:cNvSpPr txBox="1"/>
          <p:nvPr/>
        </p:nvSpPr>
        <p:spPr>
          <a:xfrm>
            <a:off x="2803521" y="2213065"/>
            <a:ext cx="69821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Percentages are used everyday to compare and analyse.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DF2275-6B1D-456F-8AE5-29AEF5355760}"/>
              </a:ext>
            </a:extLst>
          </p:cNvPr>
          <p:cNvSpPr txBox="1"/>
          <p:nvPr/>
        </p:nvSpPr>
        <p:spPr>
          <a:xfrm>
            <a:off x="173682" y="3397333"/>
            <a:ext cx="24505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How to find a percentage without a calculator?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DCA67C-C3CD-47D4-90D4-FE6D9654DE41}"/>
              </a:ext>
            </a:extLst>
          </p:cNvPr>
          <p:cNvSpPr txBox="1"/>
          <p:nvPr/>
        </p:nvSpPr>
        <p:spPr>
          <a:xfrm>
            <a:off x="2624053" y="3140203"/>
            <a:ext cx="761163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There are three percentages that are easy to find without a calculator that can help you find any other amount. </a:t>
            </a:r>
          </a:p>
          <a:p>
            <a:endParaRPr lang="en-AU" sz="2000" dirty="0"/>
          </a:p>
          <a:p>
            <a:r>
              <a:rPr lang="en-AU" sz="2000" dirty="0"/>
              <a:t>10 % - Divide the number by 10 (or move the decimal place once to the left)</a:t>
            </a:r>
          </a:p>
          <a:p>
            <a:endParaRPr lang="en-AU" sz="2000" dirty="0"/>
          </a:p>
          <a:p>
            <a:r>
              <a:rPr lang="en-AU" sz="2000" dirty="0"/>
              <a:t>5% - half your 10% amount</a:t>
            </a:r>
          </a:p>
          <a:p>
            <a:endParaRPr lang="en-AU" sz="2000" dirty="0"/>
          </a:p>
          <a:p>
            <a:r>
              <a:rPr lang="en-AU" sz="2000" dirty="0"/>
              <a:t>1% - Divide the number by 100 ( or move the decimal place twice to the left)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85DC4F-D7EB-4AA5-97C4-714AB29E6FFB}"/>
              </a:ext>
            </a:extLst>
          </p:cNvPr>
          <p:cNvSpPr txBox="1"/>
          <p:nvPr/>
        </p:nvSpPr>
        <p:spPr>
          <a:xfrm>
            <a:off x="10341802" y="2979947"/>
            <a:ext cx="179671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00B0F0"/>
                </a:solidFill>
              </a:rPr>
              <a:t>Lets try it with $60</a:t>
            </a:r>
          </a:p>
          <a:p>
            <a:endParaRPr lang="en-AU" sz="2000" b="1" dirty="0">
              <a:solidFill>
                <a:srgbClr val="00B0F0"/>
              </a:solidFill>
            </a:endParaRPr>
          </a:p>
          <a:p>
            <a:r>
              <a:rPr lang="en-AU" sz="2000" b="1" dirty="0">
                <a:solidFill>
                  <a:srgbClr val="00B0F0"/>
                </a:solidFill>
              </a:rPr>
              <a:t>$6</a:t>
            </a:r>
          </a:p>
          <a:p>
            <a:endParaRPr lang="en-AU" sz="2000" b="1" dirty="0">
              <a:solidFill>
                <a:srgbClr val="00B0F0"/>
              </a:solidFill>
            </a:endParaRPr>
          </a:p>
          <a:p>
            <a:endParaRPr lang="en-AU" sz="2000" b="1" dirty="0">
              <a:solidFill>
                <a:srgbClr val="00B0F0"/>
              </a:solidFill>
            </a:endParaRPr>
          </a:p>
          <a:p>
            <a:r>
              <a:rPr lang="en-AU" sz="2000" b="1" dirty="0">
                <a:solidFill>
                  <a:srgbClr val="00B0F0"/>
                </a:solidFill>
              </a:rPr>
              <a:t>$3</a:t>
            </a:r>
          </a:p>
          <a:p>
            <a:endParaRPr lang="en-AU" sz="2000" b="1" dirty="0">
              <a:solidFill>
                <a:srgbClr val="00B0F0"/>
              </a:solidFill>
            </a:endParaRPr>
          </a:p>
          <a:p>
            <a:endParaRPr lang="en-AU" sz="2000" b="1" dirty="0">
              <a:solidFill>
                <a:srgbClr val="00B0F0"/>
              </a:solidFill>
            </a:endParaRPr>
          </a:p>
          <a:p>
            <a:r>
              <a:rPr lang="en-AU" sz="2000" b="1" dirty="0">
                <a:solidFill>
                  <a:srgbClr val="00B0F0"/>
                </a:solidFill>
              </a:rPr>
              <a:t>$0.60</a:t>
            </a:r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173682" y="1019690"/>
            <a:ext cx="11585181" cy="1388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173682" y="1892569"/>
            <a:ext cx="1158518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3682" y="100415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587275" y="1892569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42737" y="224593"/>
            <a:ext cx="64214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Title: Percentages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682" y="1033573"/>
            <a:ext cx="10062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–How do you find a percentage of an amount?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DF2275-6B1D-456F-8AE5-29AEF5355760}"/>
              </a:ext>
            </a:extLst>
          </p:cNvPr>
          <p:cNvSpPr txBox="1"/>
          <p:nvPr/>
        </p:nvSpPr>
        <p:spPr>
          <a:xfrm>
            <a:off x="173682" y="2124539"/>
            <a:ext cx="24505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How to find a percentage without a calculator?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DCA67C-C3CD-47D4-90D4-FE6D9654DE41}"/>
              </a:ext>
            </a:extLst>
          </p:cNvPr>
          <p:cNvSpPr txBox="1"/>
          <p:nvPr/>
        </p:nvSpPr>
        <p:spPr>
          <a:xfrm>
            <a:off x="2624053" y="2120488"/>
            <a:ext cx="76116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There are three percentages that are easy to find without a calculator that can help you find any other amount. </a:t>
            </a:r>
          </a:p>
          <a:p>
            <a:endParaRPr lang="en-AU" dirty="0"/>
          </a:p>
          <a:p>
            <a:r>
              <a:rPr lang="en-AU" dirty="0"/>
              <a:t>10 % - Divide the number by 10 (or move the decimal place once to the left)</a:t>
            </a:r>
          </a:p>
          <a:p>
            <a:endParaRPr lang="en-AU" dirty="0"/>
          </a:p>
          <a:p>
            <a:r>
              <a:rPr lang="en-AU" dirty="0"/>
              <a:t>5% - half your 10% amount</a:t>
            </a:r>
          </a:p>
          <a:p>
            <a:endParaRPr lang="en-AU" dirty="0"/>
          </a:p>
          <a:p>
            <a:r>
              <a:rPr lang="en-AU" dirty="0"/>
              <a:t>1% - Divide the number by 100 ( or move the decimal place twice to the left)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85DC4F-D7EB-4AA5-97C4-714AB29E6FFB}"/>
              </a:ext>
            </a:extLst>
          </p:cNvPr>
          <p:cNvSpPr txBox="1"/>
          <p:nvPr/>
        </p:nvSpPr>
        <p:spPr>
          <a:xfrm>
            <a:off x="10199380" y="1994019"/>
            <a:ext cx="17967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Lets try it with $60</a:t>
            </a:r>
          </a:p>
          <a:p>
            <a:endParaRPr lang="en-AU" b="1" dirty="0">
              <a:solidFill>
                <a:srgbClr val="00B0F0"/>
              </a:solidFill>
            </a:endParaRPr>
          </a:p>
          <a:p>
            <a:r>
              <a:rPr lang="en-AU" b="1" dirty="0">
                <a:solidFill>
                  <a:srgbClr val="00B0F0"/>
                </a:solidFill>
              </a:rPr>
              <a:t>$6</a:t>
            </a:r>
          </a:p>
          <a:p>
            <a:endParaRPr lang="en-AU" b="1" dirty="0">
              <a:solidFill>
                <a:srgbClr val="00B0F0"/>
              </a:solidFill>
            </a:endParaRPr>
          </a:p>
          <a:p>
            <a:endParaRPr lang="en-AU" b="1" dirty="0">
              <a:solidFill>
                <a:srgbClr val="00B0F0"/>
              </a:solidFill>
            </a:endParaRPr>
          </a:p>
          <a:p>
            <a:r>
              <a:rPr lang="en-AU" b="1" dirty="0">
                <a:solidFill>
                  <a:srgbClr val="00B0F0"/>
                </a:solidFill>
              </a:rPr>
              <a:t>$3</a:t>
            </a:r>
          </a:p>
          <a:p>
            <a:endParaRPr lang="en-AU" b="1" dirty="0">
              <a:solidFill>
                <a:srgbClr val="00B0F0"/>
              </a:solidFill>
            </a:endParaRPr>
          </a:p>
          <a:p>
            <a:r>
              <a:rPr lang="en-AU" b="1" dirty="0">
                <a:solidFill>
                  <a:srgbClr val="00B0F0"/>
                </a:solidFill>
              </a:rPr>
              <a:t>$0.60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B79137-CE30-4119-8691-EDCE1CB8EA18}"/>
              </a:ext>
            </a:extLst>
          </p:cNvPr>
          <p:cNvSpPr txBox="1"/>
          <p:nvPr/>
        </p:nvSpPr>
        <p:spPr>
          <a:xfrm>
            <a:off x="2830323" y="4878068"/>
            <a:ext cx="857895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Then you use a combination of the 3 percentages to find any other percentages.  For example </a:t>
            </a:r>
          </a:p>
          <a:p>
            <a:endParaRPr lang="en-AU" sz="2000" dirty="0"/>
          </a:p>
          <a:p>
            <a:r>
              <a:rPr lang="en-AU" sz="2000" dirty="0"/>
              <a:t>10% + 5% = 15%		or 	10% + 10% + 1% + 1% = 22%</a:t>
            </a:r>
          </a:p>
          <a:p>
            <a:r>
              <a:rPr lang="en-AU" sz="2000" b="1" dirty="0">
                <a:solidFill>
                  <a:srgbClr val="00B0F0"/>
                </a:solidFill>
              </a:rPr>
              <a:t>$6 + $3 = $9   			$6 + $6 + $0.60 + $0.60 = $13.20</a:t>
            </a:r>
          </a:p>
        </p:txBody>
      </p:sp>
    </p:spTree>
    <p:extLst>
      <p:ext uri="{BB962C8B-B14F-4D97-AF65-F5344CB8AC3E}">
        <p14:creationId xmlns:p14="http://schemas.microsoft.com/office/powerpoint/2010/main" val="2583536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785AD3E-784A-460B-BAFB-EC835CA42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428804"/>
              </p:ext>
            </p:extLst>
          </p:nvPr>
        </p:nvGraphicFramePr>
        <p:xfrm>
          <a:off x="1090863" y="689811"/>
          <a:ext cx="9240252" cy="495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0084">
                  <a:extLst>
                    <a:ext uri="{9D8B030D-6E8A-4147-A177-3AD203B41FA5}">
                      <a16:colId xmlns:a16="http://schemas.microsoft.com/office/drawing/2014/main" val="3664981128"/>
                    </a:ext>
                  </a:extLst>
                </a:gridCol>
                <a:gridCol w="3080084">
                  <a:extLst>
                    <a:ext uri="{9D8B030D-6E8A-4147-A177-3AD203B41FA5}">
                      <a16:colId xmlns:a16="http://schemas.microsoft.com/office/drawing/2014/main" val="3998287909"/>
                    </a:ext>
                  </a:extLst>
                </a:gridCol>
                <a:gridCol w="3080084">
                  <a:extLst>
                    <a:ext uri="{9D8B030D-6E8A-4147-A177-3AD203B41FA5}">
                      <a16:colId xmlns:a16="http://schemas.microsoft.com/office/drawing/2014/main" val="2782762101"/>
                    </a:ext>
                  </a:extLst>
                </a:gridCol>
              </a:tblGrid>
              <a:tr h="826168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$50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$95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358979"/>
                  </a:ext>
                </a:extLst>
              </a:tr>
              <a:tr h="826168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Find 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8156404"/>
                  </a:ext>
                </a:extLst>
              </a:tr>
              <a:tr h="826168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Find 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3352745"/>
                  </a:ext>
                </a:extLst>
              </a:tr>
              <a:tr h="826168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Find 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5004724"/>
                  </a:ext>
                </a:extLst>
              </a:tr>
              <a:tr h="826168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Find 18%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6570676"/>
                  </a:ext>
                </a:extLst>
              </a:tr>
              <a:tr h="826168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Find 55%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926950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CD67014-45AA-4CFB-BA9B-B0D248FE724F}"/>
              </a:ext>
            </a:extLst>
          </p:cNvPr>
          <p:cNvSpPr txBox="1"/>
          <p:nvPr/>
        </p:nvSpPr>
        <p:spPr>
          <a:xfrm>
            <a:off x="417095" y="176462"/>
            <a:ext cx="2823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Complete on LHS</a:t>
            </a:r>
          </a:p>
        </p:txBody>
      </p:sp>
    </p:spTree>
    <p:extLst>
      <p:ext uri="{BB962C8B-B14F-4D97-AF65-F5344CB8AC3E}">
        <p14:creationId xmlns:p14="http://schemas.microsoft.com/office/powerpoint/2010/main" val="4266319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785AD3E-784A-460B-BAFB-EC835CA42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023297"/>
              </p:ext>
            </p:extLst>
          </p:nvPr>
        </p:nvGraphicFramePr>
        <p:xfrm>
          <a:off x="1090863" y="689811"/>
          <a:ext cx="9240252" cy="495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0084">
                  <a:extLst>
                    <a:ext uri="{9D8B030D-6E8A-4147-A177-3AD203B41FA5}">
                      <a16:colId xmlns:a16="http://schemas.microsoft.com/office/drawing/2014/main" val="3664981128"/>
                    </a:ext>
                  </a:extLst>
                </a:gridCol>
                <a:gridCol w="3080084">
                  <a:extLst>
                    <a:ext uri="{9D8B030D-6E8A-4147-A177-3AD203B41FA5}">
                      <a16:colId xmlns:a16="http://schemas.microsoft.com/office/drawing/2014/main" val="3998287909"/>
                    </a:ext>
                  </a:extLst>
                </a:gridCol>
                <a:gridCol w="3080084">
                  <a:extLst>
                    <a:ext uri="{9D8B030D-6E8A-4147-A177-3AD203B41FA5}">
                      <a16:colId xmlns:a16="http://schemas.microsoft.com/office/drawing/2014/main" val="2782762101"/>
                    </a:ext>
                  </a:extLst>
                </a:gridCol>
              </a:tblGrid>
              <a:tr h="826168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$50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$95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358979"/>
                  </a:ext>
                </a:extLst>
              </a:tr>
              <a:tr h="826168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Find 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$5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$9.50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8156404"/>
                  </a:ext>
                </a:extLst>
              </a:tr>
              <a:tr h="826168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Find 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$2.50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$4.75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3352745"/>
                  </a:ext>
                </a:extLst>
              </a:tr>
              <a:tr h="826168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Find 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$0.50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$0.95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5004724"/>
                  </a:ext>
                </a:extLst>
              </a:tr>
              <a:tr h="826168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Find 18%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$9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$17.10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6570676"/>
                  </a:ext>
                </a:extLst>
              </a:tr>
              <a:tr h="826168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Find 55%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$27.50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$52.25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926950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CD67014-45AA-4CFB-BA9B-B0D248FE724F}"/>
              </a:ext>
            </a:extLst>
          </p:cNvPr>
          <p:cNvSpPr txBox="1"/>
          <p:nvPr/>
        </p:nvSpPr>
        <p:spPr>
          <a:xfrm>
            <a:off x="417095" y="176462"/>
            <a:ext cx="2823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Complete on LHS</a:t>
            </a:r>
          </a:p>
        </p:txBody>
      </p:sp>
    </p:spTree>
    <p:extLst>
      <p:ext uri="{BB962C8B-B14F-4D97-AF65-F5344CB8AC3E}">
        <p14:creationId xmlns:p14="http://schemas.microsoft.com/office/powerpoint/2010/main" val="927503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173682" y="1019690"/>
            <a:ext cx="11585181" cy="1388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173682" y="1892569"/>
            <a:ext cx="1158518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3682" y="100415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587275" y="1892569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42737" y="224593"/>
            <a:ext cx="64214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Title: Percentages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682" y="1033573"/>
            <a:ext cx="10062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–How do you find a percentage of an amount?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DF2275-6B1D-456F-8AE5-29AEF5355760}"/>
              </a:ext>
            </a:extLst>
          </p:cNvPr>
          <p:cNvSpPr txBox="1"/>
          <p:nvPr/>
        </p:nvSpPr>
        <p:spPr>
          <a:xfrm>
            <a:off x="173682" y="2124539"/>
            <a:ext cx="24505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How to find a percentage with a calculator?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DCA67C-C3CD-47D4-90D4-FE6D9654DE41}"/>
              </a:ext>
            </a:extLst>
          </p:cNvPr>
          <p:cNvSpPr txBox="1"/>
          <p:nvPr/>
        </p:nvSpPr>
        <p:spPr>
          <a:xfrm>
            <a:off x="2624053" y="2120488"/>
            <a:ext cx="76116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Convert your percentage to a decimal (divide my 100 or move the decimal place twice to the left) and then multiply by the amount</a:t>
            </a:r>
          </a:p>
          <a:p>
            <a:endParaRPr lang="en-AU" sz="2000" dirty="0"/>
          </a:p>
          <a:p>
            <a:r>
              <a:rPr lang="en-AU" sz="2000" dirty="0"/>
              <a:t>Ex. Find 15% of 70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F9AC1B-4C8C-4317-9FAF-6FD13A8CF968}"/>
              </a:ext>
            </a:extLst>
          </p:cNvPr>
          <p:cNvSpPr txBox="1"/>
          <p:nvPr/>
        </p:nvSpPr>
        <p:spPr>
          <a:xfrm>
            <a:off x="3031958" y="3443927"/>
            <a:ext cx="37859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15% as a decimal 	                0.15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6AAAA9C-0C6E-415D-9234-9B3B459D46B4}"/>
              </a:ext>
            </a:extLst>
          </p:cNvPr>
          <p:cNvCxnSpPr/>
          <p:nvPr/>
        </p:nvCxnSpPr>
        <p:spPr>
          <a:xfrm>
            <a:off x="5093368" y="3654006"/>
            <a:ext cx="62564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2EE1601-4CBC-471A-848C-98BF56958A30}"/>
              </a:ext>
            </a:extLst>
          </p:cNvPr>
          <p:cNvSpPr txBox="1"/>
          <p:nvPr/>
        </p:nvSpPr>
        <p:spPr>
          <a:xfrm>
            <a:off x="3031958" y="3829535"/>
            <a:ext cx="37859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0.15 × 70 = 10.5 </a:t>
            </a:r>
          </a:p>
          <a:p>
            <a:endParaRPr lang="en-AU" sz="2000" dirty="0"/>
          </a:p>
          <a:p>
            <a:r>
              <a:rPr lang="en-AU" sz="2000" dirty="0"/>
              <a:t>10.5 is 15% of 70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0F1068-8A31-4678-BCD1-01EA14FD3318}"/>
              </a:ext>
            </a:extLst>
          </p:cNvPr>
          <p:cNvSpPr txBox="1"/>
          <p:nvPr/>
        </p:nvSpPr>
        <p:spPr>
          <a:xfrm>
            <a:off x="2713009" y="5373778"/>
            <a:ext cx="60792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Try these on your left hand side: </a:t>
            </a:r>
          </a:p>
          <a:p>
            <a:r>
              <a:rPr lang="en-AU" dirty="0"/>
              <a:t>16% of 65</a:t>
            </a:r>
          </a:p>
          <a:p>
            <a:r>
              <a:rPr lang="en-AU" dirty="0"/>
              <a:t>88% of 98</a:t>
            </a:r>
          </a:p>
          <a:p>
            <a:r>
              <a:rPr lang="en-AU" dirty="0"/>
              <a:t>3% of 70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FDD714-C8DD-4E35-855A-AB2D55CE2055}"/>
              </a:ext>
            </a:extLst>
          </p:cNvPr>
          <p:cNvSpPr txBox="1"/>
          <p:nvPr/>
        </p:nvSpPr>
        <p:spPr>
          <a:xfrm>
            <a:off x="7886699" y="3140202"/>
            <a:ext cx="3631223" cy="341632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A few tricky percentages to convert :</a:t>
            </a:r>
          </a:p>
          <a:p>
            <a:endParaRPr lang="en-AU" dirty="0"/>
          </a:p>
          <a:p>
            <a:r>
              <a:rPr lang="en-AU" dirty="0"/>
              <a:t>Less than 10% </a:t>
            </a:r>
          </a:p>
          <a:p>
            <a:r>
              <a:rPr lang="en-AU" dirty="0"/>
              <a:t>2%         	0.02</a:t>
            </a:r>
          </a:p>
          <a:p>
            <a:r>
              <a:rPr lang="en-AU" dirty="0"/>
              <a:t>6% 	0.06</a:t>
            </a:r>
          </a:p>
          <a:p>
            <a:endParaRPr lang="en-AU" dirty="0"/>
          </a:p>
          <a:p>
            <a:r>
              <a:rPr lang="en-AU" dirty="0"/>
              <a:t>More than 100% </a:t>
            </a:r>
          </a:p>
          <a:p>
            <a:endParaRPr lang="en-AU" dirty="0"/>
          </a:p>
          <a:p>
            <a:r>
              <a:rPr lang="en-AU" dirty="0"/>
              <a:t>115% 	   1.15</a:t>
            </a:r>
          </a:p>
          <a:p>
            <a:r>
              <a:rPr lang="en-AU" dirty="0"/>
              <a:t>180% 	   1.80</a:t>
            </a:r>
          </a:p>
          <a:p>
            <a:r>
              <a:rPr lang="en-AU" dirty="0"/>
              <a:t>200% 	   2.00</a:t>
            </a:r>
          </a:p>
          <a:p>
            <a:endParaRPr lang="en-AU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FF5713F-C0CC-4CC6-A51A-F74431105F70}"/>
              </a:ext>
            </a:extLst>
          </p:cNvPr>
          <p:cNvCxnSpPr>
            <a:cxnSpLocks/>
          </p:cNvCxnSpPr>
          <p:nvPr/>
        </p:nvCxnSpPr>
        <p:spPr>
          <a:xfrm>
            <a:off x="8358245" y="4111206"/>
            <a:ext cx="43406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ED875B2-0394-468E-A3BB-4A01F21362A3}"/>
              </a:ext>
            </a:extLst>
          </p:cNvPr>
          <p:cNvCxnSpPr>
            <a:cxnSpLocks/>
          </p:cNvCxnSpPr>
          <p:nvPr/>
        </p:nvCxnSpPr>
        <p:spPr>
          <a:xfrm>
            <a:off x="8358245" y="4416006"/>
            <a:ext cx="43406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6785E90-79F5-473E-B0B0-9A857E86A260}"/>
              </a:ext>
            </a:extLst>
          </p:cNvPr>
          <p:cNvCxnSpPr>
            <a:cxnSpLocks/>
          </p:cNvCxnSpPr>
          <p:nvPr/>
        </p:nvCxnSpPr>
        <p:spPr>
          <a:xfrm>
            <a:off x="8607360" y="5529698"/>
            <a:ext cx="43406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224C502-BE68-4526-8DDD-A8D362A6A920}"/>
              </a:ext>
            </a:extLst>
          </p:cNvPr>
          <p:cNvCxnSpPr>
            <a:cxnSpLocks/>
          </p:cNvCxnSpPr>
          <p:nvPr/>
        </p:nvCxnSpPr>
        <p:spPr>
          <a:xfrm>
            <a:off x="8575276" y="5778814"/>
            <a:ext cx="43406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DCA6641-61FB-4215-AC1A-AEE6717E5A98}"/>
              </a:ext>
            </a:extLst>
          </p:cNvPr>
          <p:cNvCxnSpPr>
            <a:cxnSpLocks/>
          </p:cNvCxnSpPr>
          <p:nvPr/>
        </p:nvCxnSpPr>
        <p:spPr>
          <a:xfrm>
            <a:off x="8575276" y="6060167"/>
            <a:ext cx="43406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4416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1" grpId="0"/>
      <p:bldP spid="13" grpId="0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9C6C1D-7AF6-494A-8826-C8251D1DBB18}"/>
              </a:ext>
            </a:extLst>
          </p:cNvPr>
          <p:cNvSpPr/>
          <p:nvPr/>
        </p:nvSpPr>
        <p:spPr>
          <a:xfrm>
            <a:off x="1705708" y="2868442"/>
            <a:ext cx="84406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hlinkClick r:id="rId2"/>
              </a:rPr>
              <a:t>https://play.kahoot.it/#/k/7fac5bfc-93f8-409e-8cb1-0e51498db6d0</a:t>
            </a:r>
            <a:r>
              <a:rPr lang="en-AU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1EB7F1-7A87-413C-A4B2-D27E5F731F84}"/>
              </a:ext>
            </a:extLst>
          </p:cNvPr>
          <p:cNvSpPr txBox="1"/>
          <p:nvPr/>
        </p:nvSpPr>
        <p:spPr>
          <a:xfrm>
            <a:off x="1705708" y="1063870"/>
            <a:ext cx="6664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Percentage of an amount review Kahoot! ~ 8 questions</a:t>
            </a:r>
          </a:p>
        </p:txBody>
      </p:sp>
    </p:spTree>
    <p:extLst>
      <p:ext uri="{BB962C8B-B14F-4D97-AF65-F5344CB8AC3E}">
        <p14:creationId xmlns:p14="http://schemas.microsoft.com/office/powerpoint/2010/main" val="1179771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</TotalTime>
  <Words>471</Words>
  <Application>Microsoft Office PowerPoint</Application>
  <PresentationFormat>Widescreen</PresentationFormat>
  <Paragraphs>115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Topic: Percentages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Percentages</dc:title>
  <dc:creator>E4092707</dc:creator>
  <cp:lastModifiedBy>E4092707</cp:lastModifiedBy>
  <cp:revision>9</cp:revision>
  <dcterms:created xsi:type="dcterms:W3CDTF">2018-05-20T02:10:51Z</dcterms:created>
  <dcterms:modified xsi:type="dcterms:W3CDTF">2018-05-20T03:34:52Z</dcterms:modified>
</cp:coreProperties>
</file>
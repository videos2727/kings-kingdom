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1093A-ADF5-407D-8553-08523F2D03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CB7343-7D52-4642-ABC9-9C1E10239B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B385AF-00E9-45F8-A346-1D3EA6E1D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905F8-2B6E-4673-B2CF-85F85C50662D}" type="datetimeFigureOut">
              <a:rPr lang="en-AU" smtClean="0"/>
              <a:t>6/05/2018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11EBE8-92EE-4B29-9052-E506C6ECF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2F33A-0E22-4DA4-9E6C-A14DC2F02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ECF36-892D-4705-8503-4AF49763B2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5474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E8300-1702-4E59-B7AE-7B3C35B74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FE3B2-407C-43D7-8EB9-6CDC11231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62FEC-BA9F-418E-B605-CFA2A4632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905F8-2B6E-4673-B2CF-85F85C50662D}" type="datetimeFigureOut">
              <a:rPr lang="en-AU" smtClean="0"/>
              <a:t>6/05/2018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1C167-C1C6-446D-8CE5-B678C7234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75FA6D-F206-4112-A3D3-F86A8CD86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ECF36-892D-4705-8503-4AF49763B2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68145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E3814-C349-4364-A92C-444975CF3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652B1B-52B0-46A0-90AE-6ACB4A2561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54417F-5D1A-4FAE-AC37-7649C4008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905F8-2B6E-4673-B2CF-85F85C50662D}" type="datetimeFigureOut">
              <a:rPr lang="en-AU" smtClean="0"/>
              <a:t>6/05/2018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3B97CA-B4B1-4CD7-802B-DDCAE22FD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DE1B21-2807-4F19-AC99-5DF764143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ECF36-892D-4705-8503-4AF49763B2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9922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714DB-6303-4801-8CD0-95515F0B8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CEDCA-43DF-4ADC-8386-03B9A55658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7094C2-D609-40D7-9BAA-48C4FD8D1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AD8195-96AB-48D8-8E83-51C840411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905F8-2B6E-4673-B2CF-85F85C50662D}" type="datetimeFigureOut">
              <a:rPr lang="en-AU" smtClean="0"/>
              <a:t>6/05/2018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393EEF-EB0C-4E93-AF45-6EFC618A2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389CEB-8116-4E63-95E6-4FC2A3EE3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ECF36-892D-4705-8503-4AF49763B2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6269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E466E-541B-430C-A82A-1F76995CB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9B5AAB-BFCB-40EE-A548-5FFA166F71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84020B-E5E0-45F9-BAB9-E9B27B30C9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FD2D8D-EDD1-430E-AE3E-AC7630E214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E9F26F-82C7-4DBE-82DD-B2F8A76004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1AE8B7-CBD1-48C2-924A-4BEF5BF58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905F8-2B6E-4673-B2CF-85F85C50662D}" type="datetimeFigureOut">
              <a:rPr lang="en-AU" smtClean="0"/>
              <a:t>6/05/2018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845A31-86F2-40A5-A025-163B17DCA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CCF2F0-9E90-4AC3-BDE6-70866E8B8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ECF36-892D-4705-8503-4AF49763B2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885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7C378-29BF-40EF-A466-F2C146424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AB5370-EAD9-4FB2-AD8A-32A91E1CE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905F8-2B6E-4673-B2CF-85F85C50662D}" type="datetimeFigureOut">
              <a:rPr lang="en-AU" smtClean="0"/>
              <a:t>6/05/2018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B9E153-7E53-4AAC-8544-93045A325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EDC321-1BAA-48AE-8BF5-079501D41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ECF36-892D-4705-8503-4AF49763B2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3752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15D1A5-80E6-4735-85ED-8DCBB4095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905F8-2B6E-4673-B2CF-85F85C50662D}" type="datetimeFigureOut">
              <a:rPr lang="en-AU" smtClean="0"/>
              <a:t>6/05/2018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8AB6D0-E365-4C8D-973A-ACA6EDCF9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3E187D-8215-4847-AF52-541BF3E0A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ECF36-892D-4705-8503-4AF49763B2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54883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6891C-00C1-487B-AA5D-003AEC2F2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2137D-0AD1-4EA6-A97F-818581FE7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9D1FCA-9825-46E5-B8F4-AA4BC6D96F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F3DC4B-1F6A-4433-AC74-CE6C9E9B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905F8-2B6E-4673-B2CF-85F85C50662D}" type="datetimeFigureOut">
              <a:rPr lang="en-AU" smtClean="0"/>
              <a:t>6/05/2018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975FB3-D528-4155-B5C5-B2174BEE4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F6A1D1-A632-4EA6-B33C-421CFC2E5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ECF36-892D-4705-8503-4AF49763B2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2509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BC957-D9C1-422C-AA6F-DB6600BC9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93715B-D878-4FF9-9D5B-02A6E9D4C1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509395-8443-4A3E-94FB-D4CF4F6252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7602E-EC59-4788-A8FC-212C2CB27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905F8-2B6E-4673-B2CF-85F85C50662D}" type="datetimeFigureOut">
              <a:rPr lang="en-AU" smtClean="0"/>
              <a:t>6/05/2018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4BEFD8-C74A-4418-8A81-F9B740FAA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EEF0EB-C77D-4E1D-9162-B247E1387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ECF36-892D-4705-8503-4AF49763B2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470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2824F-F860-429D-B929-F747482C3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CB28FF-A125-4D8A-BCE1-21C1337887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45C16A-E068-46EE-8C15-9BEDFDB88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905F8-2B6E-4673-B2CF-85F85C50662D}" type="datetimeFigureOut">
              <a:rPr lang="en-AU" smtClean="0"/>
              <a:t>6/05/2018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295782-EF71-4EC1-BBDF-1DC3B37FB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BCB363-E592-41E9-9072-BBCE4E2F5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ECF36-892D-4705-8503-4AF49763B2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0618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2E3ED8-BFF9-4488-8987-69EDBB1087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56A0A9-770D-4F72-AA18-B8A208DFCB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202E8E-6AF4-48C5-95DA-2057E369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905F8-2B6E-4673-B2CF-85F85C50662D}" type="datetimeFigureOut">
              <a:rPr lang="en-AU" smtClean="0"/>
              <a:t>6/05/2018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E649C-F2C6-444B-A338-5D4A1C33A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64BE25-CD06-409F-9903-B0926D4FB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ECF36-892D-4705-8503-4AF49763B2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9085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8534C4-C770-4EF4-9304-32944715B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18258D-8661-4BD4-8695-77E911DC8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BEAFD5-704A-40EA-9A5A-928ABFAE63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3905F8-2B6E-4673-B2CF-85F85C50662D}" type="datetimeFigureOut">
              <a:rPr lang="en-AU" smtClean="0"/>
              <a:t>6/05/2018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2C6BEE-5005-45D3-8D39-DCCBB0EBBD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F40145-06E1-4CA3-8CDF-B2245A5798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5ECF36-892D-4705-8503-4AF49763B2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740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330260" cy="311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718870"/>
            <a:ext cx="1233026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6702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53176" y="1718870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253876" y="391764"/>
            <a:ext cx="37409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Introduction to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72465" y="51011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1133140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is a fraction?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E55FC6-3E07-423A-871F-2CC5BA814F9D}"/>
              </a:ext>
            </a:extLst>
          </p:cNvPr>
          <p:cNvSpPr txBox="1"/>
          <p:nvPr/>
        </p:nvSpPr>
        <p:spPr>
          <a:xfrm>
            <a:off x="1904214" y="1875934"/>
            <a:ext cx="99524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What is a fraction?</a:t>
            </a:r>
            <a:r>
              <a:rPr lang="en-US" sz="2000" dirty="0"/>
              <a:t> 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A fraction represents part of a whole.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D117FDE-B4BC-49FF-834A-FE5242137C0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830" t="11684" r="44562" b="67010"/>
          <a:stretch/>
        </p:blipFill>
        <p:spPr>
          <a:xfrm>
            <a:off x="4543720" y="3059597"/>
            <a:ext cx="3862224" cy="106142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2E5541C-C2E7-407C-9E57-803B6961D1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448" t="33607" r="43944" b="62337"/>
          <a:stretch/>
        </p:blipFill>
        <p:spPr>
          <a:xfrm>
            <a:off x="4619030" y="4186391"/>
            <a:ext cx="3923679" cy="20526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2A5221D-2619-4CCF-BC40-B015830E38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713" t="40771" r="44679" b="53515"/>
          <a:stretch/>
        </p:blipFill>
        <p:spPr>
          <a:xfrm>
            <a:off x="4664782" y="5060339"/>
            <a:ext cx="3862224" cy="28466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7EAE165-7AB3-4B3F-9796-7CA6CC636E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075" t="63416" r="48186" b="29219"/>
          <a:stretch/>
        </p:blipFill>
        <p:spPr>
          <a:xfrm>
            <a:off x="7406544" y="6305216"/>
            <a:ext cx="3608123" cy="36690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6FE55D4-BE0A-42AE-AD96-874465FA024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830" t="48248" r="65129" b="41580"/>
          <a:stretch/>
        </p:blipFill>
        <p:spPr>
          <a:xfrm rot="8951248">
            <a:off x="5538145" y="5476315"/>
            <a:ext cx="980388" cy="69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475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330260" cy="311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718870"/>
            <a:ext cx="1233026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6702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53176" y="1718870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253876" y="391764"/>
            <a:ext cx="37409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Introduction to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72465" y="51011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1133140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is a fraction?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7724B5-65C3-47B7-BBC3-3E1DFDCE102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892" t="18419" r="46804" b="59450"/>
          <a:stretch/>
        </p:blipFill>
        <p:spPr>
          <a:xfrm>
            <a:off x="2168191" y="1924122"/>
            <a:ext cx="4699236" cy="199624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ECB7BE2-710B-4446-BC80-D46115167042}"/>
              </a:ext>
            </a:extLst>
          </p:cNvPr>
          <p:cNvSpPr/>
          <p:nvPr/>
        </p:nvSpPr>
        <p:spPr>
          <a:xfrm>
            <a:off x="4517809" y="2301808"/>
            <a:ext cx="2064470" cy="15428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E7692BF-5C80-4501-B948-91E47C1A96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674" t="41163" r="45022" b="36706"/>
          <a:stretch/>
        </p:blipFill>
        <p:spPr>
          <a:xfrm>
            <a:off x="2342482" y="4222305"/>
            <a:ext cx="4699236" cy="199624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2A8BCF7-8AF6-453D-9D85-E4DA61CA149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521" t="63371" r="47175" b="14498"/>
          <a:stretch/>
        </p:blipFill>
        <p:spPr>
          <a:xfrm>
            <a:off x="6867427" y="4154911"/>
            <a:ext cx="4699236" cy="199624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42894CF-68C2-48BC-BF47-BF7D9F3469F6}"/>
              </a:ext>
            </a:extLst>
          </p:cNvPr>
          <p:cNvSpPr/>
          <p:nvPr/>
        </p:nvSpPr>
        <p:spPr>
          <a:xfrm>
            <a:off x="6954573" y="4860405"/>
            <a:ext cx="4699236" cy="18129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7724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330260" cy="311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718870"/>
            <a:ext cx="1233026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6702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53176" y="1718870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253876" y="391764"/>
            <a:ext cx="37409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Introduction to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72465" y="51011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1133140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is a fraction?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7A6856-1D4B-4180-963A-0272FC3AF261}"/>
              </a:ext>
            </a:extLst>
          </p:cNvPr>
          <p:cNvSpPr/>
          <p:nvPr/>
        </p:nvSpPr>
        <p:spPr>
          <a:xfrm>
            <a:off x="1919956" y="1932476"/>
            <a:ext cx="36795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Numerator and Denominator</a:t>
            </a:r>
            <a:r>
              <a:rPr lang="en-A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endParaRPr lang="en-A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C50D39-E95F-4D15-B2CC-1F47B4C5CB62}"/>
              </a:ext>
            </a:extLst>
          </p:cNvPr>
          <p:cNvSpPr/>
          <p:nvPr/>
        </p:nvSpPr>
        <p:spPr>
          <a:xfrm>
            <a:off x="5140750" y="2513949"/>
            <a:ext cx="820760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numerator is </a:t>
            </a:r>
            <a:r>
              <a:rPr lang="en-US" b="1" i="0" u="sng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how many parts you have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endParaRPr lang="en-US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US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US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US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US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US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US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US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US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US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denominator is </a:t>
            </a:r>
            <a:r>
              <a:rPr lang="en-US" b="1" i="0" u="sng" dirty="0">
                <a:effectLst/>
                <a:latin typeface="Arial" panose="020B0604020202020204" pitchFamily="34" charset="0"/>
              </a:rPr>
              <a:t>how many parts the whole was divided into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endParaRPr lang="en-A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DF2D355-5411-4B50-A87E-4585B436F08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428" t="61056" r="74098" b="26186"/>
          <a:stretch/>
        </p:blipFill>
        <p:spPr>
          <a:xfrm>
            <a:off x="1827852" y="3452463"/>
            <a:ext cx="3523063" cy="1446916"/>
          </a:xfrm>
          <a:prstGeom prst="rect">
            <a:avLst/>
          </a:prstGeom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19089854-F34A-4567-A444-D82E84EBC1D0}"/>
              </a:ext>
            </a:extLst>
          </p:cNvPr>
          <p:cNvSpPr/>
          <p:nvPr/>
        </p:nvSpPr>
        <p:spPr>
          <a:xfrm rot="19774062">
            <a:off x="3580264" y="2899804"/>
            <a:ext cx="1726661" cy="433633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F5CB0D3A-66EC-4475-9A14-ECBBBFD438FE}"/>
              </a:ext>
            </a:extLst>
          </p:cNvPr>
          <p:cNvSpPr/>
          <p:nvPr/>
        </p:nvSpPr>
        <p:spPr>
          <a:xfrm rot="1868019">
            <a:off x="3446880" y="5026125"/>
            <a:ext cx="1726661" cy="433633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54283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330260" cy="311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718870"/>
            <a:ext cx="1233026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6702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53176" y="1718870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253876" y="391764"/>
            <a:ext cx="37409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Introduction to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72465" y="51011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1133140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is a fraction?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1BEB91-FF7D-41D9-AA61-1A044765AF8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273" t="23254" r="51057" b="54502"/>
          <a:stretch/>
        </p:blipFill>
        <p:spPr>
          <a:xfrm>
            <a:off x="2064470" y="1945800"/>
            <a:ext cx="4204355" cy="204927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4F6E8D2-170E-42E1-94B0-FCAEFCED68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628" t="56330" r="50702" b="38511"/>
          <a:stretch/>
        </p:blipFill>
        <p:spPr>
          <a:xfrm>
            <a:off x="2208033" y="4417195"/>
            <a:ext cx="4204355" cy="475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199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330260" cy="311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718870"/>
            <a:ext cx="1233026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6702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53176" y="1718870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253876" y="391764"/>
            <a:ext cx="37409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Introduction to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72465" y="51011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1133140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is a fraction?</a:t>
            </a:r>
          </a:p>
        </p:txBody>
      </p:sp>
      <p:pic>
        <p:nvPicPr>
          <p:cNvPr id="1026" name="Picture 2" descr="Image result for writing fractions">
            <a:extLst>
              <a:ext uri="{FF2B5EF4-FFF2-40B4-BE49-F238E27FC236}">
                <a16:creationId xmlns:a16="http://schemas.microsoft.com/office/drawing/2014/main" id="{3E100213-98C9-4549-98A9-11D1FD92B0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91" b="46803"/>
          <a:stretch/>
        </p:blipFill>
        <p:spPr bwMode="auto">
          <a:xfrm>
            <a:off x="2116119" y="2152496"/>
            <a:ext cx="4983779" cy="259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7597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330260" cy="311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718870"/>
            <a:ext cx="1233026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6702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53176" y="1718870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253876" y="391764"/>
            <a:ext cx="37409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Introduction to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72465" y="51011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1133140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is a fraction?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FA0795-202F-4654-9DEA-8D7C3322B346}"/>
              </a:ext>
            </a:extLst>
          </p:cNvPr>
          <p:cNvSpPr txBox="1"/>
          <p:nvPr/>
        </p:nvSpPr>
        <p:spPr>
          <a:xfrm>
            <a:off x="131975" y="1885361"/>
            <a:ext cx="14328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Naming fractions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3CA26E7-B1D1-4702-886B-DB63DD632AF5}"/>
                  </a:ext>
                </a:extLst>
              </p:cNvPr>
              <p:cNvSpPr txBox="1"/>
              <p:nvPr/>
            </p:nvSpPr>
            <p:spPr>
              <a:xfrm>
                <a:off x="1885151" y="1885360"/>
                <a:ext cx="6806362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u="sng" dirty="0"/>
                  <a:t>PROPER FRACTIONS</a:t>
                </a:r>
              </a:p>
              <a:p>
                <a:endParaRPr lang="en-AU" dirty="0"/>
              </a:p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𝑁𝑢𝑚𝑒𝑟𝑎𝑡𝑜𝑟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𝐷𝑒𝑛𝑜𝑚𝑖𝑛𝑎𝑡𝑜𝑟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dirty="0"/>
                  <a:t> </a:t>
                </a:r>
              </a:p>
              <a:p>
                <a:endParaRPr lang="en-AU" u="sng" dirty="0"/>
              </a:p>
              <a:p>
                <a:endParaRPr lang="en-AU" u="sng" dirty="0"/>
              </a:p>
              <a:p>
                <a:r>
                  <a:rPr lang="en-AU" u="sng" dirty="0"/>
                  <a:t>IMPROPER FRACTIONS</a:t>
                </a:r>
              </a:p>
              <a:p>
                <a:endParaRPr lang="en-AU" dirty="0"/>
              </a:p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𝑁𝑢𝑚𝑒𝑟𝑎𝑡𝑜𝑟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𝐷𝑒𝑛𝑜𝑚𝑖𝑛𝑎𝑡𝑜𝑟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dirty="0"/>
                  <a:t> </a:t>
                </a:r>
              </a:p>
              <a:p>
                <a:endParaRPr lang="en-AU" dirty="0"/>
              </a:p>
              <a:p>
                <a:endParaRPr lang="en-AU" u="sng" dirty="0"/>
              </a:p>
              <a:p>
                <a:endParaRPr lang="en-AU" u="sng" dirty="0"/>
              </a:p>
              <a:p>
                <a:r>
                  <a:rPr lang="en-AU" u="sng" dirty="0"/>
                  <a:t>MIXED FRACTIONS</a:t>
                </a:r>
              </a:p>
              <a:p>
                <a:endParaRPr lang="en-AU" u="sng" dirty="0"/>
              </a:p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𝑤h𝑜𝑙𝑒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𝑛𝑢𝑚𝑏𝑒𝑟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𝑓𝑟𝑎𝑐𝑡𝑖𝑜𝑛</m:t>
                    </m:r>
                  </m:oMath>
                </a14:m>
                <a:r>
                  <a:rPr lang="en-AU" dirty="0"/>
                  <a:t> 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3CA26E7-B1D1-4702-886B-DB63DD632A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5151" y="1885360"/>
                <a:ext cx="6806362" cy="3970318"/>
              </a:xfrm>
              <a:prstGeom prst="rect">
                <a:avLst/>
              </a:prstGeom>
              <a:blipFill>
                <a:blip r:embed="rId2"/>
                <a:stretch>
                  <a:fillRect l="-716" t="-767" b="-30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A922DEBA-978B-42DB-B1EE-FB9544A8D35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4510" t="22462" r="34433" b="72509"/>
          <a:stretch/>
        </p:blipFill>
        <p:spPr>
          <a:xfrm>
            <a:off x="4994837" y="2278836"/>
            <a:ext cx="2442908" cy="62507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6849882-91C8-4E58-8738-C5CCDDB45CD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4492" t="27527" r="35111" b="67808"/>
          <a:stretch/>
        </p:blipFill>
        <p:spPr>
          <a:xfrm>
            <a:off x="4994837" y="3695307"/>
            <a:ext cx="2296907" cy="57984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3CE76B4-7F7E-4F06-B099-C001A5ED9D2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5088" t="31772" r="34515" b="63563"/>
          <a:stretch/>
        </p:blipFill>
        <p:spPr>
          <a:xfrm>
            <a:off x="5221080" y="5373810"/>
            <a:ext cx="2296907" cy="579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825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330260" cy="311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718870"/>
            <a:ext cx="1233026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6702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53176" y="1718870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253876" y="391764"/>
            <a:ext cx="37409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Introduction to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72465" y="51011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1133140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is a fraction?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33C331-9D7D-4FBC-8456-C3F18B1797DB}"/>
              </a:ext>
            </a:extLst>
          </p:cNvPr>
          <p:cNvSpPr txBox="1"/>
          <p:nvPr/>
        </p:nvSpPr>
        <p:spPr>
          <a:xfrm>
            <a:off x="131975" y="1885361"/>
            <a:ext cx="14328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Changing mixed numbers to fractions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8C459F-8D8A-4292-BDBF-BD9D560589A2}"/>
                  </a:ext>
                </a:extLst>
              </p:cNvPr>
              <p:cNvSpPr txBox="1"/>
              <p:nvPr/>
            </p:nvSpPr>
            <p:spPr>
              <a:xfrm>
                <a:off x="2149311" y="2041576"/>
                <a:ext cx="1046376" cy="8094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i="1" smtClean="0">
                          <a:latin typeface="Cambria Math" panose="02040503050406030204" pitchFamily="18" charset="0"/>
                        </a:rPr>
                        <m:t>2</m:t>
                      </m:r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28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8C459F-8D8A-4292-BDBF-BD9D560589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9311" y="2041576"/>
                <a:ext cx="1046376" cy="80945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32E8A80E-29CA-428A-A63C-52A24476B1B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412" t="41572" r="36289" b="35945"/>
          <a:stretch/>
        </p:blipFill>
        <p:spPr>
          <a:xfrm>
            <a:off x="3591821" y="2134405"/>
            <a:ext cx="917813" cy="87278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F145310-0476-47CF-A6FE-765B179BFF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412" t="41572" r="36289" b="35945"/>
          <a:stretch/>
        </p:blipFill>
        <p:spPr>
          <a:xfrm>
            <a:off x="5933871" y="2134404"/>
            <a:ext cx="881708" cy="83845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833D1EC-D284-4EB4-A672-44B100BEA4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412" t="41572" r="36289" b="35945"/>
          <a:stretch/>
        </p:blipFill>
        <p:spPr>
          <a:xfrm>
            <a:off x="4769212" y="2134405"/>
            <a:ext cx="905724" cy="86128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F728A7D-E721-4943-A081-B2B7B18F3F3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9318" t="26873" r="41701" b="60377"/>
          <a:stretch/>
        </p:blipFill>
        <p:spPr>
          <a:xfrm>
            <a:off x="8530571" y="1885361"/>
            <a:ext cx="2638393" cy="2106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994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61EAC30-D450-4DDB-9F6C-57D4AB807E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015" t="24331" r="32000" b="46117"/>
          <a:stretch/>
        </p:blipFill>
        <p:spPr>
          <a:xfrm>
            <a:off x="1480008" y="744717"/>
            <a:ext cx="9068586" cy="4309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066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61EAC30-D450-4DDB-9F6C-57D4AB807E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119" t="54242" r="33677" b="20020"/>
          <a:stretch/>
        </p:blipFill>
        <p:spPr>
          <a:xfrm>
            <a:off x="1178350" y="1178350"/>
            <a:ext cx="9490514" cy="4138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980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666C4B-1488-4654-8659-C295DF4BE6F8}"/>
              </a:ext>
            </a:extLst>
          </p:cNvPr>
          <p:cNvSpPr txBox="1"/>
          <p:nvPr/>
        </p:nvSpPr>
        <p:spPr>
          <a:xfrm>
            <a:off x="2321351" y="254524"/>
            <a:ext cx="72492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Fraction bingo </a:t>
            </a:r>
            <a:r>
              <a:rPr lang="en-AU" dirty="0"/>
              <a:t>– cut and glue answers ANYWHERE onto board game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C0FE22-1898-4562-9321-C01C20D445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794" t="11983" r="36250" b="17801"/>
          <a:stretch/>
        </p:blipFill>
        <p:spPr>
          <a:xfrm>
            <a:off x="1734532" y="1147571"/>
            <a:ext cx="3530338" cy="481541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52C7125-8650-4EEF-9D2D-FE853BC8A3D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252" t="11556" r="35334" b="14777"/>
          <a:stretch/>
        </p:blipFill>
        <p:spPr>
          <a:xfrm>
            <a:off x="6975835" y="910843"/>
            <a:ext cx="3708086" cy="5052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322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172</Words>
  <Application>Microsoft Office PowerPoint</Application>
  <PresentationFormat>Widescreen</PresentationFormat>
  <Paragraphs>81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Jillian D'SOUZA</dc:creator>
  <cp:lastModifiedBy>D'SOUZA Jillian [Baldivis Secondary College]</cp:lastModifiedBy>
  <cp:revision>11</cp:revision>
  <dcterms:created xsi:type="dcterms:W3CDTF">2018-04-30T13:40:14Z</dcterms:created>
  <dcterms:modified xsi:type="dcterms:W3CDTF">2018-05-06T07:35:49Z</dcterms:modified>
</cp:coreProperties>
</file>
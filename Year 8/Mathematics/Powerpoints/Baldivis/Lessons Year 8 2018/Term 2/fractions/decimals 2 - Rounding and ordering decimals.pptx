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19" r:id="rId2"/>
    <p:sldId id="317" r:id="rId3"/>
    <p:sldId id="318" r:id="rId4"/>
    <p:sldId id="315" r:id="rId5"/>
    <p:sldId id="316" r:id="rId6"/>
    <p:sldId id="314" r:id="rId7"/>
    <p:sldId id="312" r:id="rId8"/>
    <p:sldId id="31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35" autoAdjust="0"/>
    <p:restoredTop sz="89165" autoAdjust="0"/>
  </p:normalViewPr>
  <p:slideViewPr>
    <p:cSldViewPr>
      <p:cViewPr varScale="1">
        <p:scale>
          <a:sx n="68" d="100"/>
          <a:sy n="68" d="100"/>
        </p:scale>
        <p:origin x="79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16/05/2018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16/05/2018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16/05/2018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16/05/2018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16/05/2018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16/05/2018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16/05/2018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2DF8F9-8939-4465-AB3F-55E3B3683995}"/>
              </a:ext>
            </a:extLst>
          </p:cNvPr>
          <p:cNvSpPr txBox="1"/>
          <p:nvPr/>
        </p:nvSpPr>
        <p:spPr>
          <a:xfrm>
            <a:off x="34073" y="188640"/>
            <a:ext cx="66704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Review</a:t>
            </a:r>
          </a:p>
          <a:p>
            <a:endParaRPr lang="en-AU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DE0810-2912-4367-B2B4-8ACD10C95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7" y="1052736"/>
            <a:ext cx="8893961" cy="22423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6193CC-434B-430A-B7B2-D1781A2EC3EF}"/>
              </a:ext>
            </a:extLst>
          </p:cNvPr>
          <p:cNvSpPr txBox="1"/>
          <p:nvPr/>
        </p:nvSpPr>
        <p:spPr>
          <a:xfrm>
            <a:off x="395536" y="3861048"/>
            <a:ext cx="7632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How do you know if a number is rational or irrational?</a:t>
            </a:r>
          </a:p>
        </p:txBody>
      </p:sp>
    </p:spTree>
    <p:extLst>
      <p:ext uri="{BB962C8B-B14F-4D97-AF65-F5344CB8AC3E}">
        <p14:creationId xmlns:p14="http://schemas.microsoft.com/office/powerpoint/2010/main" val="532933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8528" y="5896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6509" y="113398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7981" y="-10835"/>
            <a:ext cx="57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95736" y="1133989"/>
            <a:ext cx="0" cy="589541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4045" y="14332"/>
            <a:ext cx="23578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Decimal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31849" y="1052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42" y="67232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use round decimals and place them in order?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C6B27AF2-5A39-4576-9531-0942EB17E16C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2339752" y="1376748"/>
              <a:ext cx="6488981" cy="858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5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665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351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8012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65618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207508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Tens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Units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Tenths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Hundredths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Thousandths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𝟏𝟎𝟎𝟎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C6B27AF2-5A39-4576-9531-0942EB17E16C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2339752" y="1376748"/>
              <a:ext cx="6488981" cy="858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5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665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351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8012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65618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207508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Tens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Units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6497" t="-6173" r="-347458" b="-938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6912" t="-6173" r="-126103" b="-938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2903" t="-6173" r="-587" b="-938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0CFDC6F-1165-43ED-BCD1-41FF2EC382FD}"/>
                  </a:ext>
                </a:extLst>
              </p:cNvPr>
              <p:cNvSpPr txBox="1"/>
              <p:nvPr/>
            </p:nvSpPr>
            <p:spPr>
              <a:xfrm>
                <a:off x="2439695" y="2371832"/>
                <a:ext cx="2720617" cy="1714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Gives the decimal 14.358</a:t>
                </a:r>
              </a:p>
              <a:p>
                <a:endParaRPr lang="en-AU" dirty="0"/>
              </a:p>
              <a:p>
                <a:r>
                  <a:rPr lang="en-AU" dirty="0"/>
                  <a:t>=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10+4+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1000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0CFDC6F-1165-43ED-BCD1-41FF2EC38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695" y="2371832"/>
                <a:ext cx="2720617" cy="1714124"/>
              </a:xfrm>
              <a:prstGeom prst="rect">
                <a:avLst/>
              </a:prstGeom>
              <a:blipFill>
                <a:blip r:embed="rId3"/>
                <a:stretch>
                  <a:fillRect l="-1790" t="-177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8049E386-8249-4C22-BFC9-83B459331335}"/>
              </a:ext>
            </a:extLst>
          </p:cNvPr>
          <p:cNvSpPr txBox="1"/>
          <p:nvPr/>
        </p:nvSpPr>
        <p:spPr>
          <a:xfrm>
            <a:off x="128041" y="1311939"/>
            <a:ext cx="19964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place value of the digits in a number with decimals?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85803B-8790-42D1-812F-DCAA8E589F44}"/>
              </a:ext>
            </a:extLst>
          </p:cNvPr>
          <p:cNvSpPr txBox="1"/>
          <p:nvPr/>
        </p:nvSpPr>
        <p:spPr>
          <a:xfrm>
            <a:off x="2247078" y="3590188"/>
            <a:ext cx="31170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Write in a column with the decimals points lined up.</a:t>
            </a:r>
          </a:p>
          <a:p>
            <a:pPr marL="342900" indent="-342900">
              <a:buAutoNum type="arabicPeriod"/>
            </a:pPr>
            <a:r>
              <a:rPr lang="en-AU" dirty="0"/>
              <a:t> Add zeros so the numbers have the same number of decimal places.</a:t>
            </a:r>
          </a:p>
          <a:p>
            <a:pPr marL="342900" indent="-342900">
              <a:buAutoNum type="arabicPeriod"/>
            </a:pPr>
            <a:r>
              <a:rPr lang="en-AU" dirty="0"/>
              <a:t>Write in order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44E49D-7019-490B-A190-C7926907FEF7}"/>
              </a:ext>
            </a:extLst>
          </p:cNvPr>
          <p:cNvSpPr txBox="1"/>
          <p:nvPr/>
        </p:nvSpPr>
        <p:spPr>
          <a:xfrm>
            <a:off x="5510340" y="3586671"/>
            <a:ext cx="35696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70C0"/>
                </a:solidFill>
              </a:rPr>
              <a:t>Example – Write in ascending order.</a:t>
            </a:r>
          </a:p>
          <a:p>
            <a:r>
              <a:rPr lang="en-AU" dirty="0">
                <a:solidFill>
                  <a:srgbClr val="0070C0"/>
                </a:solidFill>
              </a:rPr>
              <a:t>0 . 512		</a:t>
            </a:r>
          </a:p>
          <a:p>
            <a:r>
              <a:rPr lang="en-AU" dirty="0">
                <a:solidFill>
                  <a:srgbClr val="0070C0"/>
                </a:solidFill>
              </a:rPr>
              <a:t>0 . 51</a:t>
            </a:r>
            <a:r>
              <a:rPr lang="en-AU" dirty="0">
                <a:solidFill>
                  <a:srgbClr val="FF0000"/>
                </a:solidFill>
              </a:rPr>
              <a:t>0		</a:t>
            </a:r>
          </a:p>
          <a:p>
            <a:r>
              <a:rPr lang="en-AU" dirty="0">
                <a:solidFill>
                  <a:srgbClr val="0070C0"/>
                </a:solidFill>
              </a:rPr>
              <a:t>0 . 5</a:t>
            </a:r>
            <a:r>
              <a:rPr lang="en-AU" dirty="0">
                <a:solidFill>
                  <a:srgbClr val="FF0000"/>
                </a:solidFill>
              </a:rPr>
              <a:t>00		</a:t>
            </a:r>
          </a:p>
          <a:p>
            <a:r>
              <a:rPr lang="en-AU" dirty="0">
                <a:solidFill>
                  <a:srgbClr val="0070C0"/>
                </a:solidFill>
              </a:rPr>
              <a:t>0 . 056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936A19-7D47-4BCA-932A-39CC914F37DF}"/>
              </a:ext>
            </a:extLst>
          </p:cNvPr>
          <p:cNvSpPr txBox="1"/>
          <p:nvPr/>
        </p:nvSpPr>
        <p:spPr>
          <a:xfrm>
            <a:off x="153383" y="3621767"/>
            <a:ext cx="2004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order decimals?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9C2C83-2B75-4281-A9EE-11F3EE7EC5D2}"/>
              </a:ext>
            </a:extLst>
          </p:cNvPr>
          <p:cNvSpPr/>
          <p:nvPr/>
        </p:nvSpPr>
        <p:spPr>
          <a:xfrm>
            <a:off x="2245408" y="3538017"/>
            <a:ext cx="3168352" cy="648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E20B51-D64F-4B84-A6F8-7CD9E510CFAC}"/>
              </a:ext>
            </a:extLst>
          </p:cNvPr>
          <p:cNvSpPr/>
          <p:nvPr/>
        </p:nvSpPr>
        <p:spPr>
          <a:xfrm>
            <a:off x="2341988" y="4204654"/>
            <a:ext cx="3168352" cy="8085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9A2CC0-D3B4-4356-847A-95F8DC1C4556}"/>
              </a:ext>
            </a:extLst>
          </p:cNvPr>
          <p:cNvSpPr/>
          <p:nvPr/>
        </p:nvSpPr>
        <p:spPr>
          <a:xfrm>
            <a:off x="2251392" y="4972457"/>
            <a:ext cx="3168352" cy="2688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B0D221D-BAC2-48AA-AF76-15B5D2177BDF}"/>
              </a:ext>
            </a:extLst>
          </p:cNvPr>
          <p:cNvSpPr/>
          <p:nvPr/>
        </p:nvSpPr>
        <p:spPr>
          <a:xfrm>
            <a:off x="6128040" y="4232449"/>
            <a:ext cx="144016" cy="2046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5F309A-CF6A-4514-8547-DD1DAA652724}"/>
              </a:ext>
            </a:extLst>
          </p:cNvPr>
          <p:cNvSpPr/>
          <p:nvPr/>
        </p:nvSpPr>
        <p:spPr>
          <a:xfrm>
            <a:off x="6018460" y="4506583"/>
            <a:ext cx="209723" cy="1813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833EF8-608B-452E-8BFE-DC327F123959}"/>
              </a:ext>
            </a:extLst>
          </p:cNvPr>
          <p:cNvSpPr txBox="1"/>
          <p:nvPr/>
        </p:nvSpPr>
        <p:spPr>
          <a:xfrm>
            <a:off x="7537598" y="3862417"/>
            <a:ext cx="15841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0.056</a:t>
            </a:r>
          </a:p>
          <a:p>
            <a:r>
              <a:rPr lang="en-AU" dirty="0"/>
              <a:t>0.5</a:t>
            </a:r>
          </a:p>
          <a:p>
            <a:r>
              <a:rPr lang="en-AU" dirty="0"/>
              <a:t>0.51</a:t>
            </a:r>
          </a:p>
          <a:p>
            <a:r>
              <a:rPr lang="en-AU" dirty="0"/>
              <a:t>0.512</a:t>
            </a:r>
          </a:p>
        </p:txBody>
      </p:sp>
    </p:spTree>
    <p:extLst>
      <p:ext uri="{BB962C8B-B14F-4D97-AF65-F5344CB8AC3E}">
        <p14:creationId xmlns:p14="http://schemas.microsoft.com/office/powerpoint/2010/main" val="24373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3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4" grpId="0" animBg="1"/>
      <p:bldP spid="25" grpId="0" animBg="1"/>
      <p:bldP spid="26" grpId="0" animBg="1"/>
      <p:bldP spid="27" grpId="0" animBg="1"/>
      <p:bldP spid="28" grpId="0" animBg="1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82DF90-5BA0-4420-A1B7-281A17098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484784"/>
            <a:ext cx="8810625" cy="40481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8F1453-765D-42F7-A88C-5216B53D7592}"/>
              </a:ext>
            </a:extLst>
          </p:cNvPr>
          <p:cNvSpPr txBox="1"/>
          <p:nvPr/>
        </p:nvSpPr>
        <p:spPr>
          <a:xfrm>
            <a:off x="179512" y="332656"/>
            <a:ext cx="5544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Lets Try these..    </a:t>
            </a:r>
          </a:p>
          <a:p>
            <a:r>
              <a:rPr lang="en-AU" dirty="0"/>
              <a:t>Don’t worry - the notes will be back soon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46D66B-7833-4D37-8D2C-6A910838D856}"/>
              </a:ext>
            </a:extLst>
          </p:cNvPr>
          <p:cNvSpPr/>
          <p:nvPr/>
        </p:nvSpPr>
        <p:spPr>
          <a:xfrm>
            <a:off x="683568" y="2420888"/>
            <a:ext cx="3384376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5D6513-A31F-423D-B1F0-495AD59D9981}"/>
              </a:ext>
            </a:extLst>
          </p:cNvPr>
          <p:cNvSpPr/>
          <p:nvPr/>
        </p:nvSpPr>
        <p:spPr>
          <a:xfrm>
            <a:off x="5004048" y="2344405"/>
            <a:ext cx="3384376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517EE8-3AB8-48C0-9B96-C4AC8C71AC19}"/>
              </a:ext>
            </a:extLst>
          </p:cNvPr>
          <p:cNvSpPr/>
          <p:nvPr/>
        </p:nvSpPr>
        <p:spPr>
          <a:xfrm>
            <a:off x="899592" y="4293096"/>
            <a:ext cx="3384376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CD7E71-8611-44FA-816A-86E5BB9E32B4}"/>
              </a:ext>
            </a:extLst>
          </p:cNvPr>
          <p:cNvSpPr/>
          <p:nvPr/>
        </p:nvSpPr>
        <p:spPr>
          <a:xfrm>
            <a:off x="5292080" y="4541097"/>
            <a:ext cx="3384376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6409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31493" y="-7103"/>
            <a:ext cx="1176" cy="681945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C6B27AF2-5A39-4576-9531-0942EB17E1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0041858"/>
                  </p:ext>
                </p:extLst>
              </p:nvPr>
            </p:nvGraphicFramePr>
            <p:xfrm>
              <a:off x="2371595" y="399269"/>
              <a:ext cx="6488981" cy="858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5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665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351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8012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65618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207508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Tens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Units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Tenths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Hundredths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Thousandths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𝟏𝟎𝟎𝟎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C6B27AF2-5A39-4576-9531-0942EB17E1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0041858"/>
                  </p:ext>
                </p:extLst>
              </p:nvPr>
            </p:nvGraphicFramePr>
            <p:xfrm>
              <a:off x="2371595" y="399269"/>
              <a:ext cx="6488981" cy="858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5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665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351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8012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65618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207508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Tens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Units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5056" t="-6173" r="-344944" b="-925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7528" t="-6173" r="-126568" b="-925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2610" t="-6173" r="-587" b="-925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0CFDC6F-1165-43ED-BCD1-41FF2EC382FD}"/>
                  </a:ext>
                </a:extLst>
              </p:cNvPr>
              <p:cNvSpPr txBox="1"/>
              <p:nvPr/>
            </p:nvSpPr>
            <p:spPr>
              <a:xfrm>
                <a:off x="2471538" y="1394353"/>
                <a:ext cx="2720617" cy="1714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Gives the decimal 14.358</a:t>
                </a:r>
              </a:p>
              <a:p>
                <a:endParaRPr lang="en-AU" dirty="0"/>
              </a:p>
              <a:p>
                <a:r>
                  <a:rPr lang="en-AU" dirty="0"/>
                  <a:t>=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10+4+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1000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0CFDC6F-1165-43ED-BCD1-41FF2EC38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1538" y="1394353"/>
                <a:ext cx="2720617" cy="1714124"/>
              </a:xfrm>
              <a:prstGeom prst="rect">
                <a:avLst/>
              </a:prstGeom>
              <a:blipFill>
                <a:blip r:embed="rId3"/>
                <a:stretch>
                  <a:fillRect l="-1790" t="-213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8049E386-8249-4C22-BFC9-83B459331335}"/>
              </a:ext>
            </a:extLst>
          </p:cNvPr>
          <p:cNvSpPr txBox="1"/>
          <p:nvPr/>
        </p:nvSpPr>
        <p:spPr>
          <a:xfrm>
            <a:off x="159884" y="334460"/>
            <a:ext cx="19964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place value of the digits in a number with decimals?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85803B-8790-42D1-812F-DCAA8E589F44}"/>
              </a:ext>
            </a:extLst>
          </p:cNvPr>
          <p:cNvSpPr txBox="1"/>
          <p:nvPr/>
        </p:nvSpPr>
        <p:spPr>
          <a:xfrm>
            <a:off x="2278921" y="2612709"/>
            <a:ext cx="31170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Write in a column with the decimals points lined up.</a:t>
            </a:r>
          </a:p>
          <a:p>
            <a:pPr marL="342900" indent="-342900">
              <a:buAutoNum type="arabicPeriod"/>
            </a:pPr>
            <a:r>
              <a:rPr lang="en-AU" dirty="0"/>
              <a:t> Add zeros so the numbers have the same number of decimal places.</a:t>
            </a:r>
          </a:p>
          <a:p>
            <a:pPr marL="342900" indent="-342900">
              <a:buAutoNum type="arabicPeriod"/>
            </a:pPr>
            <a:r>
              <a:rPr lang="en-AU" dirty="0"/>
              <a:t>Write in order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44E49D-7019-490B-A190-C7926907FEF7}"/>
              </a:ext>
            </a:extLst>
          </p:cNvPr>
          <p:cNvSpPr txBox="1"/>
          <p:nvPr/>
        </p:nvSpPr>
        <p:spPr>
          <a:xfrm>
            <a:off x="5542183" y="2609192"/>
            <a:ext cx="35696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70C0"/>
                </a:solidFill>
              </a:rPr>
              <a:t>Example – Write in ascending order.</a:t>
            </a:r>
          </a:p>
          <a:p>
            <a:r>
              <a:rPr lang="en-AU" dirty="0">
                <a:solidFill>
                  <a:srgbClr val="0070C0"/>
                </a:solidFill>
              </a:rPr>
              <a:t>0 . 512		</a:t>
            </a:r>
          </a:p>
          <a:p>
            <a:r>
              <a:rPr lang="en-AU" dirty="0">
                <a:solidFill>
                  <a:srgbClr val="0070C0"/>
                </a:solidFill>
              </a:rPr>
              <a:t>0 . 51</a:t>
            </a:r>
            <a:r>
              <a:rPr lang="en-AU" dirty="0">
                <a:solidFill>
                  <a:srgbClr val="FF0000"/>
                </a:solidFill>
              </a:rPr>
              <a:t>0		</a:t>
            </a:r>
          </a:p>
          <a:p>
            <a:r>
              <a:rPr lang="en-AU" dirty="0">
                <a:solidFill>
                  <a:srgbClr val="0070C0"/>
                </a:solidFill>
              </a:rPr>
              <a:t>0 . 5</a:t>
            </a:r>
            <a:r>
              <a:rPr lang="en-AU" dirty="0">
                <a:solidFill>
                  <a:srgbClr val="FF0000"/>
                </a:solidFill>
              </a:rPr>
              <a:t>00		</a:t>
            </a:r>
          </a:p>
          <a:p>
            <a:r>
              <a:rPr lang="en-AU" dirty="0">
                <a:solidFill>
                  <a:srgbClr val="0070C0"/>
                </a:solidFill>
              </a:rPr>
              <a:t>0 . 056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936A19-7D47-4BCA-932A-39CC914F37DF}"/>
              </a:ext>
            </a:extLst>
          </p:cNvPr>
          <p:cNvSpPr txBox="1"/>
          <p:nvPr/>
        </p:nvSpPr>
        <p:spPr>
          <a:xfrm>
            <a:off x="185226" y="2644288"/>
            <a:ext cx="2004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order decimals?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833EF8-608B-452E-8BFE-DC327F123959}"/>
              </a:ext>
            </a:extLst>
          </p:cNvPr>
          <p:cNvSpPr txBox="1"/>
          <p:nvPr/>
        </p:nvSpPr>
        <p:spPr>
          <a:xfrm>
            <a:off x="7569441" y="2884938"/>
            <a:ext cx="15841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0.056</a:t>
            </a:r>
          </a:p>
          <a:p>
            <a:r>
              <a:rPr lang="en-AU" dirty="0"/>
              <a:t>0.5</a:t>
            </a:r>
          </a:p>
          <a:p>
            <a:r>
              <a:rPr lang="en-AU" dirty="0"/>
              <a:t>0.51</a:t>
            </a:r>
          </a:p>
          <a:p>
            <a:r>
              <a:rPr lang="en-AU" dirty="0"/>
              <a:t>0.512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091E57-A021-4BCB-BEED-183AC01BD174}"/>
              </a:ext>
            </a:extLst>
          </p:cNvPr>
          <p:cNvSpPr txBox="1"/>
          <p:nvPr/>
        </p:nvSpPr>
        <p:spPr>
          <a:xfrm>
            <a:off x="178301" y="4638957"/>
            <a:ext cx="2004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round decimals?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930C155-5813-4D66-914E-1A59BEE2B1E0}"/>
              </a:ext>
            </a:extLst>
          </p:cNvPr>
          <p:cNvSpPr/>
          <p:nvPr/>
        </p:nvSpPr>
        <p:spPr>
          <a:xfrm>
            <a:off x="2432432" y="4705522"/>
            <a:ext cx="2645652" cy="120032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/>
              <a:t>Find your number.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/>
              <a:t>Look </a:t>
            </a:r>
            <a:r>
              <a:rPr lang="en-US" altLang="en-US" b="1" u="sng" dirty="0"/>
              <a:t>right</a:t>
            </a:r>
            <a:r>
              <a:rPr lang="en-US" altLang="en-US" b="1" dirty="0"/>
              <a:t> next door.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/>
              <a:t>4 or less just ignore.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/>
              <a:t>5 or more, add 1 more.</a:t>
            </a:r>
            <a:endParaRPr lang="en-AU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465789-3FC9-4EC9-A7B1-37AB9E9A3C41}"/>
              </a:ext>
            </a:extLst>
          </p:cNvPr>
          <p:cNvSpPr txBox="1"/>
          <p:nvPr/>
        </p:nvSpPr>
        <p:spPr>
          <a:xfrm>
            <a:off x="5579639" y="4638957"/>
            <a:ext cx="31368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tx2"/>
                </a:solidFill>
              </a:rPr>
              <a:t>Round to 3 decimal places (</a:t>
            </a:r>
            <a:r>
              <a:rPr lang="en-AU" dirty="0" err="1">
                <a:solidFill>
                  <a:schemeClr val="tx2"/>
                </a:solidFill>
              </a:rPr>
              <a:t>d.p</a:t>
            </a:r>
            <a:r>
              <a:rPr lang="en-AU" dirty="0">
                <a:solidFill>
                  <a:schemeClr val="tx2"/>
                </a:solidFill>
              </a:rPr>
              <a:t>)</a:t>
            </a:r>
          </a:p>
          <a:p>
            <a:pPr algn="ctr"/>
            <a:r>
              <a:rPr lang="en-AU" sz="2400" dirty="0">
                <a:solidFill>
                  <a:schemeClr val="tx2"/>
                </a:solidFill>
              </a:rPr>
              <a:t>2.68</a:t>
            </a:r>
            <a:r>
              <a:rPr lang="en-AU" sz="2400" u="sng" dirty="0">
                <a:solidFill>
                  <a:schemeClr val="tx2"/>
                </a:solidFill>
              </a:rPr>
              <a:t>9</a:t>
            </a:r>
            <a:r>
              <a:rPr lang="en-AU" sz="2400" dirty="0">
                <a:solidFill>
                  <a:schemeClr val="tx2"/>
                </a:solidFill>
              </a:rPr>
              <a:t>236 </a:t>
            </a:r>
          </a:p>
          <a:p>
            <a:endParaRPr lang="en-AU" dirty="0">
              <a:solidFill>
                <a:schemeClr val="tx2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EAFC11E-E795-431C-97D1-3AFB4CC2A982}"/>
              </a:ext>
            </a:extLst>
          </p:cNvPr>
          <p:cNvCxnSpPr>
            <a:stCxn id="33" idx="2"/>
            <a:endCxn id="33" idx="2"/>
          </p:cNvCxnSpPr>
          <p:nvPr/>
        </p:nvCxnSpPr>
        <p:spPr>
          <a:xfrm>
            <a:off x="7148050" y="5654620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2A5B78C-B061-471E-B8A2-84C5B9C87EEC}"/>
              </a:ext>
            </a:extLst>
          </p:cNvPr>
          <p:cNvCxnSpPr/>
          <p:nvPr/>
        </p:nvCxnSpPr>
        <p:spPr>
          <a:xfrm flipV="1">
            <a:off x="7321391" y="5278096"/>
            <a:ext cx="0" cy="37652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7676CA7-71D3-4A72-AA8C-F3D39542A0C9}"/>
              </a:ext>
            </a:extLst>
          </p:cNvPr>
          <p:cNvSpPr txBox="1"/>
          <p:nvPr/>
        </p:nvSpPr>
        <p:spPr>
          <a:xfrm>
            <a:off x="5723620" y="5423433"/>
            <a:ext cx="2848857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This digit is &lt;5 so do nothing</a:t>
            </a:r>
          </a:p>
          <a:p>
            <a:r>
              <a:rPr lang="en-AU" dirty="0"/>
              <a:t>Answer </a:t>
            </a:r>
            <a:r>
              <a:rPr lang="en-AU" sz="2800" dirty="0">
                <a:solidFill>
                  <a:schemeClr val="tx2"/>
                </a:solidFill>
              </a:rPr>
              <a:t>2.689</a:t>
            </a:r>
            <a:endParaRPr lang="en-AU" sz="2800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F150B70-0571-422F-AEDD-26AAF33EA664}"/>
              </a:ext>
            </a:extLst>
          </p:cNvPr>
          <p:cNvCxnSpPr>
            <a:cxnSpLocks/>
          </p:cNvCxnSpPr>
          <p:nvPr/>
        </p:nvCxnSpPr>
        <p:spPr>
          <a:xfrm>
            <a:off x="10060686" y="4349468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56FD43B-F633-450E-B11C-5887BB67E6FC}"/>
              </a:ext>
            </a:extLst>
          </p:cNvPr>
          <p:cNvCxnSpPr>
            <a:cxnSpLocks/>
          </p:cNvCxnSpPr>
          <p:nvPr/>
        </p:nvCxnSpPr>
        <p:spPr>
          <a:xfrm>
            <a:off x="-108520" y="4433992"/>
            <a:ext cx="922039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19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>
            <a:off x="2224176" y="-54119"/>
            <a:ext cx="49672" cy="729954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F85803B-8790-42D1-812F-DCAA8E589F44}"/>
              </a:ext>
            </a:extLst>
          </p:cNvPr>
          <p:cNvSpPr txBox="1"/>
          <p:nvPr/>
        </p:nvSpPr>
        <p:spPr>
          <a:xfrm>
            <a:off x="2273848" y="404664"/>
            <a:ext cx="31170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Write in a column with the decimals points lined up.</a:t>
            </a:r>
          </a:p>
          <a:p>
            <a:pPr marL="342900" indent="-342900">
              <a:buAutoNum type="arabicPeriod"/>
            </a:pPr>
            <a:r>
              <a:rPr lang="en-AU" dirty="0"/>
              <a:t> Add zeros so the numbers have the same number of decimal places.</a:t>
            </a:r>
          </a:p>
          <a:p>
            <a:pPr marL="342900" indent="-342900">
              <a:buAutoNum type="arabicPeriod"/>
            </a:pPr>
            <a:r>
              <a:rPr lang="en-AU" dirty="0"/>
              <a:t>Write in order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44E49D-7019-490B-A190-C7926907FEF7}"/>
              </a:ext>
            </a:extLst>
          </p:cNvPr>
          <p:cNvSpPr txBox="1"/>
          <p:nvPr/>
        </p:nvSpPr>
        <p:spPr>
          <a:xfrm>
            <a:off x="5537110" y="401147"/>
            <a:ext cx="35696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70C0"/>
                </a:solidFill>
              </a:rPr>
              <a:t>Example – Write in ascending order.</a:t>
            </a:r>
          </a:p>
          <a:p>
            <a:r>
              <a:rPr lang="en-AU" dirty="0">
                <a:solidFill>
                  <a:srgbClr val="0070C0"/>
                </a:solidFill>
              </a:rPr>
              <a:t>0 . 512		</a:t>
            </a:r>
          </a:p>
          <a:p>
            <a:r>
              <a:rPr lang="en-AU" dirty="0">
                <a:solidFill>
                  <a:srgbClr val="0070C0"/>
                </a:solidFill>
              </a:rPr>
              <a:t>0 . 51</a:t>
            </a:r>
            <a:r>
              <a:rPr lang="en-AU" dirty="0">
                <a:solidFill>
                  <a:srgbClr val="FF0000"/>
                </a:solidFill>
              </a:rPr>
              <a:t>0		</a:t>
            </a:r>
          </a:p>
          <a:p>
            <a:r>
              <a:rPr lang="en-AU" dirty="0">
                <a:solidFill>
                  <a:srgbClr val="0070C0"/>
                </a:solidFill>
              </a:rPr>
              <a:t>0 . 5</a:t>
            </a:r>
            <a:r>
              <a:rPr lang="en-AU" dirty="0">
                <a:solidFill>
                  <a:srgbClr val="FF0000"/>
                </a:solidFill>
              </a:rPr>
              <a:t>00		</a:t>
            </a:r>
          </a:p>
          <a:p>
            <a:r>
              <a:rPr lang="en-AU" dirty="0">
                <a:solidFill>
                  <a:srgbClr val="0070C0"/>
                </a:solidFill>
              </a:rPr>
              <a:t>0 . 056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936A19-7D47-4BCA-932A-39CC914F37DF}"/>
              </a:ext>
            </a:extLst>
          </p:cNvPr>
          <p:cNvSpPr txBox="1"/>
          <p:nvPr/>
        </p:nvSpPr>
        <p:spPr>
          <a:xfrm>
            <a:off x="180153" y="436243"/>
            <a:ext cx="2004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order decimals?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833EF8-608B-452E-8BFE-DC327F123959}"/>
              </a:ext>
            </a:extLst>
          </p:cNvPr>
          <p:cNvSpPr txBox="1"/>
          <p:nvPr/>
        </p:nvSpPr>
        <p:spPr>
          <a:xfrm>
            <a:off x="7564368" y="676893"/>
            <a:ext cx="15841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0.056</a:t>
            </a:r>
          </a:p>
          <a:p>
            <a:r>
              <a:rPr lang="en-AU" dirty="0"/>
              <a:t>0.5</a:t>
            </a:r>
          </a:p>
          <a:p>
            <a:r>
              <a:rPr lang="en-AU" dirty="0"/>
              <a:t>0.51</a:t>
            </a:r>
          </a:p>
          <a:p>
            <a:r>
              <a:rPr lang="en-AU" dirty="0"/>
              <a:t>0.512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091E57-A021-4BCB-BEED-183AC01BD174}"/>
              </a:ext>
            </a:extLst>
          </p:cNvPr>
          <p:cNvSpPr txBox="1"/>
          <p:nvPr/>
        </p:nvSpPr>
        <p:spPr>
          <a:xfrm>
            <a:off x="83595" y="2486647"/>
            <a:ext cx="2004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round decimals?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930C155-5813-4D66-914E-1A59BEE2B1E0}"/>
              </a:ext>
            </a:extLst>
          </p:cNvPr>
          <p:cNvSpPr/>
          <p:nvPr/>
        </p:nvSpPr>
        <p:spPr>
          <a:xfrm>
            <a:off x="2440561" y="2564704"/>
            <a:ext cx="2645652" cy="120032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/>
              <a:t>Find your number.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/>
              <a:t>Look </a:t>
            </a:r>
            <a:r>
              <a:rPr lang="en-US" altLang="en-US" b="1" u="sng" dirty="0"/>
              <a:t>right</a:t>
            </a:r>
            <a:r>
              <a:rPr lang="en-US" altLang="en-US" b="1" dirty="0"/>
              <a:t> next door.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/>
              <a:t>4 or less just ignore.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/>
              <a:t>5 or more, add 1 more.</a:t>
            </a:r>
            <a:endParaRPr lang="en-AU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465789-3FC9-4EC9-A7B1-37AB9E9A3C41}"/>
              </a:ext>
            </a:extLst>
          </p:cNvPr>
          <p:cNvSpPr txBox="1"/>
          <p:nvPr/>
        </p:nvSpPr>
        <p:spPr>
          <a:xfrm>
            <a:off x="5580205" y="1978816"/>
            <a:ext cx="31368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tx2"/>
                </a:solidFill>
              </a:rPr>
              <a:t>Round to 3 decimal places (</a:t>
            </a:r>
            <a:r>
              <a:rPr lang="en-AU" dirty="0" err="1">
                <a:solidFill>
                  <a:schemeClr val="tx2"/>
                </a:solidFill>
              </a:rPr>
              <a:t>d.p</a:t>
            </a:r>
            <a:r>
              <a:rPr lang="en-AU" dirty="0">
                <a:solidFill>
                  <a:schemeClr val="tx2"/>
                </a:solidFill>
              </a:rPr>
              <a:t>)</a:t>
            </a:r>
          </a:p>
          <a:p>
            <a:pPr algn="ctr"/>
            <a:r>
              <a:rPr lang="en-AU" sz="2400" dirty="0">
                <a:solidFill>
                  <a:schemeClr val="tx2"/>
                </a:solidFill>
              </a:rPr>
              <a:t>2.68</a:t>
            </a:r>
            <a:r>
              <a:rPr lang="en-AU" sz="2400" u="sng" dirty="0">
                <a:solidFill>
                  <a:schemeClr val="tx2"/>
                </a:solidFill>
              </a:rPr>
              <a:t>9</a:t>
            </a:r>
            <a:r>
              <a:rPr lang="en-AU" sz="2400" dirty="0">
                <a:solidFill>
                  <a:schemeClr val="tx2"/>
                </a:solidFill>
              </a:rPr>
              <a:t>236 </a:t>
            </a:r>
          </a:p>
          <a:p>
            <a:endParaRPr lang="en-AU" dirty="0">
              <a:solidFill>
                <a:schemeClr val="tx2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EAFC11E-E795-431C-97D1-3AFB4CC2A982}"/>
              </a:ext>
            </a:extLst>
          </p:cNvPr>
          <p:cNvCxnSpPr>
            <a:stCxn id="33" idx="2"/>
            <a:endCxn id="33" idx="2"/>
          </p:cNvCxnSpPr>
          <p:nvPr/>
        </p:nvCxnSpPr>
        <p:spPr>
          <a:xfrm>
            <a:off x="7148616" y="2994479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2A5B78C-B061-471E-B8A2-84C5B9C87EEC}"/>
              </a:ext>
            </a:extLst>
          </p:cNvPr>
          <p:cNvCxnSpPr/>
          <p:nvPr/>
        </p:nvCxnSpPr>
        <p:spPr>
          <a:xfrm flipV="1">
            <a:off x="7321957" y="2617955"/>
            <a:ext cx="0" cy="37652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7676CA7-71D3-4A72-AA8C-F3D39542A0C9}"/>
              </a:ext>
            </a:extLst>
          </p:cNvPr>
          <p:cNvSpPr txBox="1"/>
          <p:nvPr/>
        </p:nvSpPr>
        <p:spPr>
          <a:xfrm>
            <a:off x="5825761" y="2994479"/>
            <a:ext cx="2848857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This digit is &lt;5 so do nothing</a:t>
            </a:r>
          </a:p>
          <a:p>
            <a:r>
              <a:rPr lang="en-AU" dirty="0"/>
              <a:t>Answer </a:t>
            </a:r>
            <a:r>
              <a:rPr lang="en-AU" sz="2800" dirty="0">
                <a:solidFill>
                  <a:schemeClr val="tx2"/>
                </a:solidFill>
              </a:rPr>
              <a:t>2.689</a:t>
            </a:r>
            <a:endParaRPr lang="en-AU" sz="28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F2DF7CB-6AAC-4959-8454-A814641BFAE6}"/>
              </a:ext>
            </a:extLst>
          </p:cNvPr>
          <p:cNvSpPr txBox="1"/>
          <p:nvPr/>
        </p:nvSpPr>
        <p:spPr>
          <a:xfrm>
            <a:off x="5681778" y="4091824"/>
            <a:ext cx="31368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tx2"/>
                </a:solidFill>
              </a:rPr>
              <a:t>Round to 2 decimal places (</a:t>
            </a:r>
            <a:r>
              <a:rPr lang="en-AU" dirty="0" err="1">
                <a:solidFill>
                  <a:schemeClr val="tx2"/>
                </a:solidFill>
              </a:rPr>
              <a:t>d.p</a:t>
            </a:r>
            <a:r>
              <a:rPr lang="en-AU" dirty="0">
                <a:solidFill>
                  <a:schemeClr val="tx2"/>
                </a:solidFill>
              </a:rPr>
              <a:t>)</a:t>
            </a:r>
          </a:p>
          <a:p>
            <a:pPr algn="ctr"/>
            <a:r>
              <a:rPr lang="en-AU" sz="2400" dirty="0">
                <a:solidFill>
                  <a:schemeClr val="tx2"/>
                </a:solidFill>
              </a:rPr>
              <a:t>2.6</a:t>
            </a:r>
            <a:r>
              <a:rPr lang="en-AU" sz="2400" u="sng" dirty="0">
                <a:solidFill>
                  <a:schemeClr val="tx2"/>
                </a:solidFill>
              </a:rPr>
              <a:t>8</a:t>
            </a:r>
            <a:r>
              <a:rPr lang="en-AU" sz="2400" dirty="0">
                <a:solidFill>
                  <a:schemeClr val="tx2"/>
                </a:solidFill>
              </a:rPr>
              <a:t>9236 </a:t>
            </a:r>
          </a:p>
          <a:p>
            <a:endParaRPr lang="en-AU" dirty="0">
              <a:solidFill>
                <a:schemeClr val="tx2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F150B70-0571-422F-AEDD-26AAF33EA664}"/>
              </a:ext>
            </a:extLst>
          </p:cNvPr>
          <p:cNvCxnSpPr>
            <a:stCxn id="37" idx="2"/>
            <a:endCxn id="37" idx="2"/>
          </p:cNvCxnSpPr>
          <p:nvPr/>
        </p:nvCxnSpPr>
        <p:spPr>
          <a:xfrm>
            <a:off x="7250189" y="5107487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86ECFEA-7D2C-4FF2-9D73-355C634ED676}"/>
              </a:ext>
            </a:extLst>
          </p:cNvPr>
          <p:cNvCxnSpPr/>
          <p:nvPr/>
        </p:nvCxnSpPr>
        <p:spPr>
          <a:xfrm flipV="1">
            <a:off x="7145522" y="4730963"/>
            <a:ext cx="0" cy="37652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7D8ED39-CA43-4503-8133-65FA78175692}"/>
              </a:ext>
            </a:extLst>
          </p:cNvPr>
          <p:cNvSpPr txBox="1"/>
          <p:nvPr/>
        </p:nvSpPr>
        <p:spPr>
          <a:xfrm>
            <a:off x="6039215" y="5186650"/>
            <a:ext cx="2421945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This digit is &gt;5 round up</a:t>
            </a:r>
          </a:p>
          <a:p>
            <a:r>
              <a:rPr lang="en-AU" dirty="0"/>
              <a:t>Answer </a:t>
            </a:r>
            <a:r>
              <a:rPr lang="en-AU" sz="2800" dirty="0">
                <a:solidFill>
                  <a:schemeClr val="tx2"/>
                </a:solidFill>
              </a:rPr>
              <a:t>2.69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557006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ADBBAE-4CE4-4A85-9787-8BE6ED49A0E3}"/>
              </a:ext>
            </a:extLst>
          </p:cNvPr>
          <p:cNvSpPr/>
          <p:nvPr/>
        </p:nvSpPr>
        <p:spPr>
          <a:xfrm>
            <a:off x="6234647" y="188640"/>
            <a:ext cx="2645652" cy="14773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/>
              <a:t>Short version;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/>
              <a:t>Find your number.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/>
              <a:t>Look right next door.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/>
              <a:t>4 or less just ignore.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/>
              <a:t>5 or more, add 1 more.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892F7-24FD-4CCD-9F0B-B00B7AD3E6C4}"/>
              </a:ext>
            </a:extLst>
          </p:cNvPr>
          <p:cNvSpPr txBox="1"/>
          <p:nvPr/>
        </p:nvSpPr>
        <p:spPr>
          <a:xfrm>
            <a:off x="383355" y="1003623"/>
            <a:ext cx="849694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Let’s try – Round the following.</a:t>
            </a:r>
          </a:p>
          <a:p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/>
              <a:t>24.673 to 2 </a:t>
            </a:r>
            <a:r>
              <a:rPr lang="en-AU" sz="2400" dirty="0" err="1"/>
              <a:t>d.p.</a:t>
            </a:r>
            <a:r>
              <a:rPr lang="en-AU" sz="2400" dirty="0"/>
              <a:t> 				b)   0.7869 to 3 </a:t>
            </a:r>
            <a:r>
              <a:rPr lang="en-AU" sz="2400" dirty="0" err="1"/>
              <a:t>d.p.</a:t>
            </a:r>
            <a:endParaRPr lang="en-AU" sz="2400" dirty="0"/>
          </a:p>
          <a:p>
            <a:pPr marL="342900" indent="-342900">
              <a:buAutoNum type="alphaLcParenR"/>
            </a:pPr>
            <a:endParaRPr lang="en-AU" sz="2400" dirty="0"/>
          </a:p>
          <a:p>
            <a:pPr marL="342900" indent="-342900">
              <a:buAutoNum type="alphaLcParenR"/>
            </a:pPr>
            <a:endParaRPr lang="en-AU" sz="2400" dirty="0"/>
          </a:p>
          <a:p>
            <a:pPr marL="342900" indent="-342900">
              <a:buAutoNum type="alphaLcParenR" startAt="3"/>
            </a:pPr>
            <a:r>
              <a:rPr lang="en-AU" sz="2400" dirty="0"/>
              <a:t>123.455 to 1 </a:t>
            </a:r>
            <a:r>
              <a:rPr lang="en-AU" sz="2400" dirty="0" err="1"/>
              <a:t>d.p.</a:t>
            </a:r>
            <a:r>
              <a:rPr lang="en-AU" sz="2400" dirty="0"/>
              <a:t>				d)   42.1535 to 4d.p.</a:t>
            </a:r>
          </a:p>
          <a:p>
            <a:pPr marL="342900" indent="-342900">
              <a:buAutoNum type="alphaLcParenR" startAt="3"/>
            </a:pPr>
            <a:endParaRPr lang="en-AU" sz="2400" dirty="0"/>
          </a:p>
          <a:p>
            <a:pPr marL="342900" indent="-342900">
              <a:buAutoNum type="alphaLcParenR" startAt="3"/>
            </a:pPr>
            <a:endParaRPr lang="en-AU" sz="2400" dirty="0"/>
          </a:p>
          <a:p>
            <a:pPr marL="457200" indent="-457200">
              <a:buAutoNum type="alphaLcParenR" startAt="5"/>
            </a:pPr>
            <a:r>
              <a:rPr lang="en-AU" sz="2400" dirty="0"/>
              <a:t>0.1996 to 3 </a:t>
            </a:r>
            <a:r>
              <a:rPr lang="en-AU" sz="2400" dirty="0" err="1"/>
              <a:t>d.p.</a:t>
            </a:r>
            <a:r>
              <a:rPr lang="en-AU" sz="2400" dirty="0"/>
              <a:t>				f)  23.3452 to 1 </a:t>
            </a:r>
            <a:r>
              <a:rPr lang="en-AU" sz="2400" dirty="0" err="1"/>
              <a:t>d.p.</a:t>
            </a:r>
            <a:endParaRPr lang="en-AU" sz="2400" dirty="0"/>
          </a:p>
          <a:p>
            <a:pPr marL="457200" indent="-457200">
              <a:buAutoNum type="alphaLcParenR" startAt="5"/>
            </a:pPr>
            <a:endParaRPr lang="en-AU" sz="2400" dirty="0"/>
          </a:p>
          <a:p>
            <a:endParaRPr lang="en-AU" sz="2400" dirty="0"/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026731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212697"/>
            <a:ext cx="8124825" cy="325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Questions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90F307-139A-4572-A80D-1E9A7CB6C36C}"/>
              </a:ext>
            </a:extLst>
          </p:cNvPr>
          <p:cNvSpPr/>
          <p:nvPr/>
        </p:nvSpPr>
        <p:spPr>
          <a:xfrm>
            <a:off x="395536" y="188640"/>
            <a:ext cx="2645652" cy="14773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/>
              <a:t>Short version;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/>
              <a:t>Find your number.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/>
              <a:t>Look right next door.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/>
              <a:t>4 or less just ignore.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/>
              <a:t>5 or more, add 1 more.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DF93BB-6106-4202-9607-DE930B3A1B9E}"/>
              </a:ext>
            </a:extLst>
          </p:cNvPr>
          <p:cNvSpPr txBox="1"/>
          <p:nvPr/>
        </p:nvSpPr>
        <p:spPr>
          <a:xfrm>
            <a:off x="395536" y="1963333"/>
            <a:ext cx="80648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Order the following decimals in ascending order</a:t>
            </a:r>
          </a:p>
          <a:p>
            <a:pPr marL="800100" lvl="1" indent="-342900">
              <a:buAutoNum type="arabicPeriod"/>
            </a:pPr>
            <a:r>
              <a:rPr lang="en-AU" b="1" dirty="0"/>
              <a:t>0.231,  0.23,  0.2331, 0.223</a:t>
            </a:r>
          </a:p>
          <a:p>
            <a:pPr marL="800100" lvl="1" indent="-342900">
              <a:buAutoNum type="arabicPeriod"/>
            </a:pPr>
            <a:r>
              <a:rPr lang="en-AU" b="1" dirty="0"/>
              <a:t>2.455, 2.454, 2.45, 4.45</a:t>
            </a:r>
          </a:p>
          <a:p>
            <a:pPr marL="800100" lvl="1" indent="-342900">
              <a:buAutoNum type="arabicPeriod"/>
            </a:pPr>
            <a:r>
              <a:rPr lang="en-AU" b="1" dirty="0"/>
              <a:t>33.332, 33.233, 33.223, 33.23</a:t>
            </a:r>
          </a:p>
        </p:txBody>
      </p:sp>
    </p:spTree>
    <p:extLst>
      <p:ext uri="{BB962C8B-B14F-4D97-AF65-F5344CB8AC3E}">
        <p14:creationId xmlns:p14="http://schemas.microsoft.com/office/powerpoint/2010/main" val="2323531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996952"/>
            <a:ext cx="6448429" cy="1331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640" y="4349552"/>
            <a:ext cx="6702917" cy="879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822E94-2DE6-412A-B14F-C8E3B6A6C4F6}"/>
              </a:ext>
            </a:extLst>
          </p:cNvPr>
          <p:cNvSpPr txBox="1"/>
          <p:nvPr/>
        </p:nvSpPr>
        <p:spPr>
          <a:xfrm>
            <a:off x="1259632" y="1417638"/>
            <a:ext cx="80648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chemeClr val="accent5">
                    <a:lumMod val="50000"/>
                  </a:schemeClr>
                </a:solidFill>
              </a:rPr>
              <a:t>Order the following decimals in ascending order</a:t>
            </a:r>
          </a:p>
          <a:p>
            <a:pPr marL="800100" lvl="1" indent="-342900">
              <a:buAutoNum type="arabicPeriod"/>
            </a:pPr>
            <a:r>
              <a:rPr lang="en-AU" sz="2000" b="1" dirty="0">
                <a:solidFill>
                  <a:schemeClr val="accent5">
                    <a:lumMod val="50000"/>
                  </a:schemeClr>
                </a:solidFill>
              </a:rPr>
              <a:t>0.223,  0.23, 0.231,  0.2331</a:t>
            </a:r>
          </a:p>
          <a:p>
            <a:pPr marL="800100" lvl="1" indent="-342900">
              <a:buAutoNum type="arabicPeriod"/>
            </a:pPr>
            <a:r>
              <a:rPr lang="en-AU" sz="2000" b="1" dirty="0">
                <a:solidFill>
                  <a:schemeClr val="accent5">
                    <a:lumMod val="50000"/>
                  </a:schemeClr>
                </a:solidFill>
              </a:rPr>
              <a:t>2.454 , 2.45, 2.455, 4.45</a:t>
            </a:r>
          </a:p>
          <a:p>
            <a:pPr marL="800100" lvl="1" indent="-342900">
              <a:buAutoNum type="arabicPeriod"/>
            </a:pPr>
            <a:r>
              <a:rPr lang="en-AU" sz="2000" b="1" dirty="0">
                <a:solidFill>
                  <a:schemeClr val="accent5">
                    <a:lumMod val="50000"/>
                  </a:schemeClr>
                </a:solidFill>
              </a:rPr>
              <a:t> 33.223, 33.23, 33.233, 33.332</a:t>
            </a:r>
          </a:p>
        </p:txBody>
      </p:sp>
    </p:spTree>
    <p:extLst>
      <p:ext uri="{BB962C8B-B14F-4D97-AF65-F5344CB8AC3E}">
        <p14:creationId xmlns:p14="http://schemas.microsoft.com/office/powerpoint/2010/main" val="3028592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2575</TotalTime>
  <Words>517</Words>
  <Application>Microsoft Office PowerPoint</Application>
  <PresentationFormat>On-screen Show (4:3)</PresentationFormat>
  <Paragraphs>133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Answers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WILSON James [Baldivis Secondary College]</cp:lastModifiedBy>
  <cp:revision>74</cp:revision>
  <dcterms:created xsi:type="dcterms:W3CDTF">2014-05-14T02:58:57Z</dcterms:created>
  <dcterms:modified xsi:type="dcterms:W3CDTF">2018-05-17T13:37:08Z</dcterms:modified>
</cp:coreProperties>
</file>
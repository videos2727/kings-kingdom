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0" r:id="rId3"/>
    <p:sldId id="262" r:id="rId4"/>
    <p:sldId id="261" r:id="rId5"/>
    <p:sldId id="264" r:id="rId6"/>
    <p:sldId id="263" r:id="rId7"/>
    <p:sldId id="257" r:id="rId8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3395" autoAdjust="0"/>
  </p:normalViewPr>
  <p:slideViewPr>
    <p:cSldViewPr snapToGrid="0">
      <p:cViewPr varScale="1">
        <p:scale>
          <a:sx n="68" d="100"/>
          <a:sy n="68" d="100"/>
        </p:scale>
        <p:origin x="13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B5FD21-78F4-4C79-9ECE-C267E5B9C50B}" type="datetimeFigureOut">
              <a:rPr lang="en-AU" smtClean="0"/>
              <a:t>6/05/2018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7F12D-F7B2-45D1-B42E-505FB88CB9F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227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Alternative method for those that want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E7F12D-F7B2-45D1-B42E-505FB88CB9F0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2785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5/05/2018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CC1CBC-2D45-4012-96CA-07D23F93CEAF}"/>
              </a:ext>
            </a:extLst>
          </p:cNvPr>
          <p:cNvSpPr txBox="1"/>
          <p:nvPr/>
        </p:nvSpPr>
        <p:spPr>
          <a:xfrm>
            <a:off x="393896" y="182880"/>
            <a:ext cx="832807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At a party there are 2 cakes.  The chocolate mud cake is cut into 12 pieces and the cheesecake is cut into 10 pieces.  You have 2 pieces of chocolate cake and 3 pieces of the cheesecake.  What fraction of cake have you had over all?</a:t>
            </a:r>
          </a:p>
          <a:p>
            <a:endParaRPr lang="en-AU" sz="3200" dirty="0"/>
          </a:p>
          <a:p>
            <a:endParaRPr lang="en-AU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83241-F0D3-4433-B947-87297B764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2878" y="3213295"/>
            <a:ext cx="190500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629F1-B95F-4DD1-81C8-6D9ADB56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40" y="3091448"/>
            <a:ext cx="1905000" cy="1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595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Oval 71">
            <a:extLst>
              <a:ext uri="{FF2B5EF4-FFF2-40B4-BE49-F238E27FC236}">
                <a16:creationId xmlns:a16="http://schemas.microsoft.com/office/drawing/2014/main" id="{8125E40D-6742-4CE7-8F14-87BDE9A35CEC}"/>
              </a:ext>
            </a:extLst>
          </p:cNvPr>
          <p:cNvSpPr/>
          <p:nvPr/>
        </p:nvSpPr>
        <p:spPr>
          <a:xfrm>
            <a:off x="6084215" y="4972736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1C8FCD5-FDB3-463F-8070-62DDF58AE5E7}"/>
              </a:ext>
            </a:extLst>
          </p:cNvPr>
          <p:cNvSpPr/>
          <p:nvPr/>
        </p:nvSpPr>
        <p:spPr>
          <a:xfrm>
            <a:off x="4512868" y="4128586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8B737A-E99B-423F-B48D-6C2608E7F5DA}"/>
              </a:ext>
            </a:extLst>
          </p:cNvPr>
          <p:cNvSpPr/>
          <p:nvPr/>
        </p:nvSpPr>
        <p:spPr>
          <a:xfrm rot="2115201">
            <a:off x="4426402" y="4541908"/>
            <a:ext cx="1165425" cy="489875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442EC5AD-68B4-4362-83C3-9204CBBF95C4}"/>
              </a:ext>
            </a:extLst>
          </p:cNvPr>
          <p:cNvSpPr/>
          <p:nvPr/>
        </p:nvSpPr>
        <p:spPr>
          <a:xfrm>
            <a:off x="5073347" y="4143604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421A2607-5D91-4623-99F5-1D1FA62808D3}"/>
              </a:ext>
            </a:extLst>
          </p:cNvPr>
          <p:cNvSpPr/>
          <p:nvPr/>
        </p:nvSpPr>
        <p:spPr>
          <a:xfrm rot="8244167">
            <a:off x="4473295" y="4553632"/>
            <a:ext cx="1165425" cy="489875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97F5096-1852-4E55-81BC-E0871A2286E1}"/>
              </a:ext>
            </a:extLst>
          </p:cNvPr>
          <p:cNvSpPr/>
          <p:nvPr/>
        </p:nvSpPr>
        <p:spPr>
          <a:xfrm>
            <a:off x="3325392" y="4136372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619309A-0100-4A78-B5AB-4BB226F0BBBB}"/>
              </a:ext>
            </a:extLst>
          </p:cNvPr>
          <p:cNvSpPr/>
          <p:nvPr/>
        </p:nvSpPr>
        <p:spPr>
          <a:xfrm rot="2115201">
            <a:off x="3180311" y="4549694"/>
            <a:ext cx="1165425" cy="489875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add fractions?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1949095" y="1223696"/>
                <a:ext cx="7131129" cy="29039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Check if both fractions have the same denominator </a:t>
                </a:r>
                <a:endParaRPr lang="en-AU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AU" dirty="0"/>
                  <a:t>	same Denominator  	</a:t>
                </a:r>
                <a:r>
                  <a:rPr lang="en-AU" sz="2000" dirty="0"/>
                  <a:t>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𝑁𝑜𝑡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AU" sz="2000" b="0" i="1" smtClean="0">
                        <a:latin typeface="Cambria Math" panose="02040503050406030204" pitchFamily="18" charset="0"/>
                      </a:rPr>
                      <m:t>𝑠𝑎𝑚𝑒</m:t>
                    </m:r>
                  </m:oMath>
                </a14:m>
                <a:endParaRPr lang="en-AU" dirty="0"/>
              </a:p>
              <a:p>
                <a:endParaRPr lang="en-AU" dirty="0"/>
              </a:p>
              <a:p>
                <a:r>
                  <a:rPr lang="en-AU" dirty="0"/>
                  <a:t>If they are the same we add or subtract just the top numbers  - </a:t>
                </a:r>
                <a:r>
                  <a:rPr lang="en-AU" b="1" dirty="0"/>
                  <a:t>do not change the bottom number</a:t>
                </a:r>
                <a:r>
                  <a:rPr lang="en-AU" dirty="0"/>
                  <a:t>.</a:t>
                </a:r>
              </a:p>
              <a:p>
                <a:r>
                  <a:rPr lang="en-AU" sz="2000" dirty="0"/>
                  <a:t> 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2000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AU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000" i="1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lang="en-AU" sz="2000" dirty="0"/>
              </a:p>
              <a:p>
                <a:r>
                  <a:rPr lang="en-AU" dirty="0"/>
                  <a:t>If the denominators are not the same we can use the butterfly method (also called cross multiplication).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9095" y="1223696"/>
                <a:ext cx="7131129" cy="2903936"/>
              </a:xfrm>
              <a:prstGeom prst="rect">
                <a:avLst/>
              </a:prstGeom>
              <a:blipFill>
                <a:blip r:embed="rId2"/>
                <a:stretch>
                  <a:fillRect l="-769" t="-12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2046555" y="4387640"/>
                <a:ext cx="1200738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6555" y="4387640"/>
                <a:ext cx="1200738" cy="7861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3B3FDB-66DF-454F-9BF1-4641C04D0AFF}"/>
                  </a:ext>
                </a:extLst>
              </p:cNvPr>
              <p:cNvSpPr/>
              <p:nvPr/>
            </p:nvSpPr>
            <p:spPr>
              <a:xfrm>
                <a:off x="3337115" y="4387640"/>
                <a:ext cx="1200738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C63B3FDB-66DF-454F-9BF1-4641C04D0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7115" y="4387640"/>
                <a:ext cx="1200738" cy="7861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29E8F648-F08C-418F-97F3-62451E0DED09}"/>
              </a:ext>
            </a:extLst>
          </p:cNvPr>
          <p:cNvSpPr txBox="1"/>
          <p:nvPr/>
        </p:nvSpPr>
        <p:spPr>
          <a:xfrm>
            <a:off x="3337115" y="5342046"/>
            <a:ext cx="168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 x 5 = </a:t>
            </a:r>
            <a:r>
              <a:rPr lang="en-AU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096ADF-BD75-4C35-8B50-35DC4EE59A5F}"/>
              </a:ext>
            </a:extLst>
          </p:cNvPr>
          <p:cNvSpPr txBox="1"/>
          <p:nvPr/>
        </p:nvSpPr>
        <p:spPr>
          <a:xfrm>
            <a:off x="3358620" y="4109271"/>
            <a:ext cx="40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D41E6A-26C6-4899-A306-C97A5876CF2A}"/>
              </a:ext>
            </a:extLst>
          </p:cNvPr>
          <p:cNvSpPr/>
          <p:nvPr/>
        </p:nvSpPr>
        <p:spPr>
          <a:xfrm>
            <a:off x="3259016" y="4156123"/>
            <a:ext cx="167870" cy="231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1F69009-3EA6-4F4E-AF76-67CCEA9768DA}"/>
                  </a:ext>
                </a:extLst>
              </p:cNvPr>
              <p:cNvSpPr/>
              <p:nvPr/>
            </p:nvSpPr>
            <p:spPr>
              <a:xfrm>
                <a:off x="4583206" y="4379854"/>
                <a:ext cx="1200738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D1F69009-3EA6-4F4E-AF76-67CCEA9768D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206" y="4379854"/>
                <a:ext cx="1200738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073E108C-DD46-4054-BBAB-9F9AE4D1B46A}"/>
              </a:ext>
            </a:extLst>
          </p:cNvPr>
          <p:cNvSpPr txBox="1"/>
          <p:nvPr/>
        </p:nvSpPr>
        <p:spPr>
          <a:xfrm>
            <a:off x="4501458" y="5381153"/>
            <a:ext cx="168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x 3 = </a:t>
            </a:r>
            <a:r>
              <a:rPr lang="en-AU" dirty="0">
                <a:highlight>
                  <a:srgbClr val="00FFFF"/>
                </a:highlight>
              </a:rPr>
              <a:t>12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CE5CFAB-DBEF-44A0-8E39-AFE638744F28}"/>
              </a:ext>
            </a:extLst>
          </p:cNvPr>
          <p:cNvSpPr/>
          <p:nvPr/>
        </p:nvSpPr>
        <p:spPr>
          <a:xfrm>
            <a:off x="4505107" y="4148337"/>
            <a:ext cx="167870" cy="231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76285DF-F730-47FD-A307-DF6E9351BA14}"/>
              </a:ext>
            </a:extLst>
          </p:cNvPr>
          <p:cNvSpPr/>
          <p:nvPr/>
        </p:nvSpPr>
        <p:spPr>
          <a:xfrm>
            <a:off x="5362353" y="4109271"/>
            <a:ext cx="167870" cy="231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2164A0D-5A6E-4EAF-8350-D42BDC04AEC0}"/>
              </a:ext>
            </a:extLst>
          </p:cNvPr>
          <p:cNvSpPr txBox="1"/>
          <p:nvPr/>
        </p:nvSpPr>
        <p:spPr>
          <a:xfrm>
            <a:off x="5255089" y="3984297"/>
            <a:ext cx="43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00FFFF"/>
                </a:highlight>
              </a:rPr>
              <a:t>12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5A01AF-9C61-48B6-BCB0-F070051D8163}"/>
              </a:ext>
            </a:extLst>
          </p:cNvPr>
          <p:cNvSpPr txBox="1"/>
          <p:nvPr/>
        </p:nvSpPr>
        <p:spPr>
          <a:xfrm>
            <a:off x="4477580" y="3961814"/>
            <a:ext cx="40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3038C2E-856B-458C-8A69-E05DA373F8E0}"/>
              </a:ext>
            </a:extLst>
          </p:cNvPr>
          <p:cNvSpPr/>
          <p:nvPr/>
        </p:nvSpPr>
        <p:spPr>
          <a:xfrm>
            <a:off x="6316624" y="4143604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EC6BA9-1297-492F-8F77-F94860B335FC}"/>
              </a:ext>
            </a:extLst>
          </p:cNvPr>
          <p:cNvSpPr/>
          <p:nvPr/>
        </p:nvSpPr>
        <p:spPr>
          <a:xfrm>
            <a:off x="5756145" y="4128586"/>
            <a:ext cx="425908" cy="390798"/>
          </a:xfrm>
          <a:prstGeom prst="ellipse">
            <a:avLst/>
          </a:prstGeom>
          <a:solidFill>
            <a:schemeClr val="bg1"/>
          </a:solidFill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ctr">
              <a:buFont typeface="+mj-lt"/>
              <a:buAutoNum type="arabicPeriod"/>
            </a:pPr>
            <a:endParaRPr lang="en-AU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9CE19BD-B304-4418-A902-E78DE78E9945}"/>
              </a:ext>
            </a:extLst>
          </p:cNvPr>
          <p:cNvSpPr/>
          <p:nvPr/>
        </p:nvSpPr>
        <p:spPr>
          <a:xfrm rot="2115201">
            <a:off x="5669679" y="4541908"/>
            <a:ext cx="1165425" cy="489875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33D68641-723E-49D5-A95A-5BF9EE986EBF}"/>
              </a:ext>
            </a:extLst>
          </p:cNvPr>
          <p:cNvSpPr/>
          <p:nvPr/>
        </p:nvSpPr>
        <p:spPr>
          <a:xfrm rot="8244167">
            <a:off x="5716572" y="4553632"/>
            <a:ext cx="1165425" cy="489875"/>
          </a:xfrm>
          <a:prstGeom prst="ellipse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654A833-F0D0-4893-98CD-3A08A31F55A2}"/>
                  </a:ext>
                </a:extLst>
              </p:cNvPr>
              <p:cNvSpPr/>
              <p:nvPr/>
            </p:nvSpPr>
            <p:spPr>
              <a:xfrm>
                <a:off x="5826483" y="4379854"/>
                <a:ext cx="1200738" cy="7861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400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5654A833-F0D0-4893-98CD-3A08A31F55A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83" y="4379854"/>
                <a:ext cx="1200738" cy="7861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4616E137-0EFF-4CB5-8565-76C4A68B45ED}"/>
              </a:ext>
            </a:extLst>
          </p:cNvPr>
          <p:cNvSpPr txBox="1"/>
          <p:nvPr/>
        </p:nvSpPr>
        <p:spPr>
          <a:xfrm>
            <a:off x="5783944" y="5325551"/>
            <a:ext cx="1684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4 x 5 = </a:t>
            </a:r>
            <a:r>
              <a:rPr lang="en-AU" dirty="0">
                <a:highlight>
                  <a:srgbClr val="00FF00"/>
                </a:highlight>
              </a:rPr>
              <a:t>20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382661F-D581-4825-B81F-A1F8E030CCBB}"/>
              </a:ext>
            </a:extLst>
          </p:cNvPr>
          <p:cNvSpPr/>
          <p:nvPr/>
        </p:nvSpPr>
        <p:spPr>
          <a:xfrm>
            <a:off x="5748384" y="4148337"/>
            <a:ext cx="167870" cy="231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53309B-5686-4FB1-BEDC-42AA4D33B261}"/>
              </a:ext>
            </a:extLst>
          </p:cNvPr>
          <p:cNvSpPr/>
          <p:nvPr/>
        </p:nvSpPr>
        <p:spPr>
          <a:xfrm>
            <a:off x="6605630" y="4109271"/>
            <a:ext cx="167870" cy="231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C7DA6E-0EA6-4875-81A7-F14B8E5A65E6}"/>
              </a:ext>
            </a:extLst>
          </p:cNvPr>
          <p:cNvSpPr txBox="1"/>
          <p:nvPr/>
        </p:nvSpPr>
        <p:spPr>
          <a:xfrm>
            <a:off x="6498366" y="3984297"/>
            <a:ext cx="437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00FFFF"/>
                </a:highlight>
              </a:rPr>
              <a:t>12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448D2B-E393-4C6C-B252-3CAE98C26558}"/>
              </a:ext>
            </a:extLst>
          </p:cNvPr>
          <p:cNvSpPr txBox="1"/>
          <p:nvPr/>
        </p:nvSpPr>
        <p:spPr>
          <a:xfrm>
            <a:off x="5720857" y="3961814"/>
            <a:ext cx="40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5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1962CE9E-1743-4E3E-BE2D-95159DD74784}"/>
              </a:ext>
            </a:extLst>
          </p:cNvPr>
          <p:cNvSpPr/>
          <p:nvPr/>
        </p:nvSpPr>
        <p:spPr>
          <a:xfrm>
            <a:off x="6110874" y="5054360"/>
            <a:ext cx="4187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highlight>
                  <a:srgbClr val="00FF00"/>
                </a:highlight>
              </a:rPr>
              <a:t>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3B9FC87-99B6-4C7B-9E8B-05E50784329E}"/>
                  </a:ext>
                </a:extLst>
              </p:cNvPr>
              <p:cNvSpPr/>
              <p:nvPr/>
            </p:nvSpPr>
            <p:spPr>
              <a:xfrm>
                <a:off x="6868368" y="4355328"/>
                <a:ext cx="2125820" cy="8180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AU" sz="2400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en-AU" sz="2400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17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D3B9FC87-99B6-4C7B-9E8B-05E5078432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8368" y="4355328"/>
                <a:ext cx="2125820" cy="81804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Rectangle 79">
            <a:extLst>
              <a:ext uri="{FF2B5EF4-FFF2-40B4-BE49-F238E27FC236}">
                <a16:creationId xmlns:a16="http://schemas.microsoft.com/office/drawing/2014/main" id="{A85D4ED6-77A1-4DDB-8023-D6ED80A6D5FC}"/>
              </a:ext>
            </a:extLst>
          </p:cNvPr>
          <p:cNvSpPr/>
          <p:nvPr/>
        </p:nvSpPr>
        <p:spPr>
          <a:xfrm>
            <a:off x="6999249" y="3901480"/>
            <a:ext cx="1315472" cy="1655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40462CD-9AD6-43C0-A013-1066DABF5A06}"/>
              </a:ext>
            </a:extLst>
          </p:cNvPr>
          <p:cNvSpPr/>
          <p:nvPr/>
        </p:nvSpPr>
        <p:spPr>
          <a:xfrm>
            <a:off x="7993893" y="3942602"/>
            <a:ext cx="1086332" cy="1646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E0B99D87-9A8F-4E07-AB2D-A6790B1EE790}"/>
              </a:ext>
            </a:extLst>
          </p:cNvPr>
          <p:cNvSpPr/>
          <p:nvPr/>
        </p:nvSpPr>
        <p:spPr>
          <a:xfrm>
            <a:off x="5685988" y="3712867"/>
            <a:ext cx="1315472" cy="2003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0F4B475-C03E-492E-9F9B-55B10CF2E61A}"/>
              </a:ext>
            </a:extLst>
          </p:cNvPr>
          <p:cNvSpPr/>
          <p:nvPr/>
        </p:nvSpPr>
        <p:spPr>
          <a:xfrm>
            <a:off x="4333066" y="3872262"/>
            <a:ext cx="1315472" cy="20037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ED6C6093-4292-4410-92D3-06F583493FCC}"/>
              </a:ext>
            </a:extLst>
          </p:cNvPr>
          <p:cNvSpPr/>
          <p:nvPr/>
        </p:nvSpPr>
        <p:spPr>
          <a:xfrm>
            <a:off x="3145799" y="4038931"/>
            <a:ext cx="1315472" cy="16559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37120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9" grpId="0"/>
      <p:bldP spid="24" grpId="0"/>
      <p:bldP spid="31" grpId="0"/>
      <p:bldP spid="37" grpId="0"/>
      <p:bldP spid="73" grpId="0"/>
      <p:bldP spid="80" grpId="0" animBg="1"/>
      <p:bldP spid="81" grpId="0" animBg="1"/>
      <p:bldP spid="79" grpId="0" animBg="1"/>
      <p:bldP spid="78" grpId="0" animBg="1"/>
      <p:bldP spid="7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8A0DA-410E-4128-B457-B8064429D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23E910-0CDA-465C-8489-F88D26758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743" y="194144"/>
            <a:ext cx="6753734" cy="343251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15FDB8-B1CD-40CC-AB2A-44E9E6A304CD}"/>
              </a:ext>
            </a:extLst>
          </p:cNvPr>
          <p:cNvSpPr txBox="1"/>
          <p:nvPr/>
        </p:nvSpPr>
        <p:spPr>
          <a:xfrm>
            <a:off x="6222755" y="238210"/>
            <a:ext cx="468140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4800" b="1" dirty="0">
                <a:latin typeface="Comic Sans MS" panose="030F0702030302020204" pitchFamily="66" charset="0"/>
              </a:rPr>
              <a:t>-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0A86E6-301E-4EBB-97C2-ACFBF0239878}"/>
              </a:ext>
            </a:extLst>
          </p:cNvPr>
          <p:cNvSpPr/>
          <p:nvPr/>
        </p:nvSpPr>
        <p:spPr>
          <a:xfrm>
            <a:off x="6431879" y="2486664"/>
            <a:ext cx="380555" cy="3399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2B5299-A741-4576-BCD6-1CCD9F0E9F78}"/>
              </a:ext>
            </a:extLst>
          </p:cNvPr>
          <p:cNvSpPr txBox="1"/>
          <p:nvPr/>
        </p:nvSpPr>
        <p:spPr>
          <a:xfrm>
            <a:off x="6327479" y="2226512"/>
            <a:ext cx="3868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800" b="1" dirty="0">
                <a:latin typeface="Comic Sans MS" panose="030F0702030302020204" pitchFamily="66" charset="0"/>
              </a:rPr>
              <a:t>-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EA16A-470F-4934-AB59-A6D604F72D04}"/>
              </a:ext>
            </a:extLst>
          </p:cNvPr>
          <p:cNvSpPr txBox="1"/>
          <p:nvPr/>
        </p:nvSpPr>
        <p:spPr>
          <a:xfrm>
            <a:off x="3579773" y="1615735"/>
            <a:ext cx="451339" cy="507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22240E-7C05-4211-A66B-6E325036EA46}"/>
              </a:ext>
            </a:extLst>
          </p:cNvPr>
          <p:cNvSpPr txBox="1"/>
          <p:nvPr/>
        </p:nvSpPr>
        <p:spPr>
          <a:xfrm>
            <a:off x="4303466" y="1612758"/>
            <a:ext cx="410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1ABE3E-A187-4781-BEA7-5F9505300CD9}"/>
              </a:ext>
            </a:extLst>
          </p:cNvPr>
          <p:cNvSpPr txBox="1"/>
          <p:nvPr/>
        </p:nvSpPr>
        <p:spPr>
          <a:xfrm>
            <a:off x="3834841" y="3121206"/>
            <a:ext cx="5844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12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A0E309-556B-43CD-9B45-5994331F20DE}"/>
              </a:ext>
            </a:extLst>
          </p:cNvPr>
          <p:cNvSpPr txBox="1"/>
          <p:nvPr/>
        </p:nvSpPr>
        <p:spPr>
          <a:xfrm>
            <a:off x="6137203" y="1589184"/>
            <a:ext cx="410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B5CF35-BAD8-4FAE-BBD1-E5EABECAECEB}"/>
              </a:ext>
            </a:extLst>
          </p:cNvPr>
          <p:cNvSpPr txBox="1"/>
          <p:nvPr/>
        </p:nvSpPr>
        <p:spPr>
          <a:xfrm>
            <a:off x="6767483" y="1612757"/>
            <a:ext cx="4103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A25B09-76A7-4B63-ACE4-E2992719B629}"/>
              </a:ext>
            </a:extLst>
          </p:cNvPr>
          <p:cNvSpPr txBox="1"/>
          <p:nvPr/>
        </p:nvSpPr>
        <p:spPr>
          <a:xfrm>
            <a:off x="6342357" y="3098932"/>
            <a:ext cx="6970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omic Sans MS" panose="030F0702030302020204" pitchFamily="66" charset="0"/>
              </a:rPr>
              <a:t>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56B5E6-3B88-43D5-80A6-C9B7DDB282C1}"/>
                  </a:ext>
                </a:extLst>
              </p:cNvPr>
              <p:cNvSpPr/>
              <p:nvPr/>
            </p:nvSpPr>
            <p:spPr>
              <a:xfrm>
                <a:off x="932862" y="3755269"/>
                <a:ext cx="1458646" cy="887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5+6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856B5E6-3B88-43D5-80A6-C9B7DDB282C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862" y="3755269"/>
                <a:ext cx="1458646" cy="887166"/>
              </a:xfrm>
              <a:prstGeom prst="rect">
                <a:avLst/>
              </a:prstGeom>
              <a:blipFill>
                <a:blip r:embed="rId3"/>
                <a:stretch>
                  <a:fillRect l="-12552" b="-1232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9037AFF-88C4-41AE-941B-EBFEB1CC97AA}"/>
                  </a:ext>
                </a:extLst>
              </p:cNvPr>
              <p:cNvSpPr/>
              <p:nvPr/>
            </p:nvSpPr>
            <p:spPr>
              <a:xfrm>
                <a:off x="463939" y="4791112"/>
                <a:ext cx="1458646" cy="878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9037AFF-88C4-41AE-941B-EBFEB1CC97A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939" y="4791112"/>
                <a:ext cx="1458646" cy="878126"/>
              </a:xfrm>
              <a:prstGeom prst="rect">
                <a:avLst/>
              </a:prstGeom>
              <a:blipFill>
                <a:blip r:embed="rId4"/>
                <a:stretch>
                  <a:fillRect l="-12552" b="-1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528412-F08A-4537-9CC0-A96B4E6EC962}"/>
                  </a:ext>
                </a:extLst>
              </p:cNvPr>
              <p:cNvSpPr/>
              <p:nvPr/>
            </p:nvSpPr>
            <p:spPr>
              <a:xfrm>
                <a:off x="1308000" y="4799209"/>
                <a:ext cx="1458646" cy="8781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or  1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5528412-F08A-4537-9CC0-A96B4E6EC9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8000" y="4799209"/>
                <a:ext cx="1458646" cy="878126"/>
              </a:xfrm>
              <a:prstGeom prst="rect">
                <a:avLst/>
              </a:prstGeom>
              <a:blipFill>
                <a:blip r:embed="rId5"/>
                <a:stretch>
                  <a:fillRect l="-12971" b="-1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389B6CD-5848-4337-870D-0F30A812EFD5}"/>
                  </a:ext>
                </a:extLst>
              </p:cNvPr>
              <p:cNvSpPr/>
              <p:nvPr/>
            </p:nvSpPr>
            <p:spPr>
              <a:xfrm>
                <a:off x="3374287" y="3721953"/>
                <a:ext cx="1458646" cy="887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3+8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9389B6CD-5848-4337-870D-0F30A812EFD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4287" y="3721953"/>
                <a:ext cx="1458646" cy="887166"/>
              </a:xfrm>
              <a:prstGeom prst="rect">
                <a:avLst/>
              </a:prstGeom>
              <a:blipFill>
                <a:blip r:embed="rId6"/>
                <a:stretch>
                  <a:fillRect l="-12971" b="-124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D4A38EC-3124-41D9-BDCD-4AB07F07FFFC}"/>
                  </a:ext>
                </a:extLst>
              </p:cNvPr>
              <p:cNvSpPr/>
              <p:nvPr/>
            </p:nvSpPr>
            <p:spPr>
              <a:xfrm>
                <a:off x="3397732" y="4755642"/>
                <a:ext cx="1458646" cy="874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D4A38EC-3124-41D9-BDCD-4AB07F07FF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732" y="4755642"/>
                <a:ext cx="1458646" cy="874663"/>
              </a:xfrm>
              <a:prstGeom prst="rect">
                <a:avLst/>
              </a:prstGeom>
              <a:blipFill>
                <a:blip r:embed="rId7"/>
                <a:stretch>
                  <a:fillRect l="-12500" b="-1250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96CE375-12E9-44E2-AB93-811AF573D406}"/>
                  </a:ext>
                </a:extLst>
              </p:cNvPr>
              <p:cNvSpPr/>
              <p:nvPr/>
            </p:nvSpPr>
            <p:spPr>
              <a:xfrm>
                <a:off x="5840255" y="3721953"/>
                <a:ext cx="1458646" cy="8871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8−5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096CE375-12E9-44E2-AB93-811AF573D4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0255" y="3721953"/>
                <a:ext cx="1458646" cy="887166"/>
              </a:xfrm>
              <a:prstGeom prst="rect">
                <a:avLst/>
              </a:prstGeom>
              <a:blipFill>
                <a:blip r:embed="rId8"/>
                <a:stretch>
                  <a:fillRect l="-12552" b="-131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504EAFB-9567-4FEF-BC39-1FAA85402615}"/>
                  </a:ext>
                </a:extLst>
              </p:cNvPr>
              <p:cNvSpPr/>
              <p:nvPr/>
            </p:nvSpPr>
            <p:spPr>
              <a:xfrm>
                <a:off x="6021831" y="4712430"/>
                <a:ext cx="1458646" cy="87575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AU" sz="36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600" b="0" i="1" smtClean="0"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endParaRPr lang="en-AU" sz="3600" dirty="0"/>
              </a:p>
            </p:txBody>
          </p:sp>
        </mc:Choice>
        <mc:Fallback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504EAFB-9567-4FEF-BC39-1FAA854026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1831" y="4712430"/>
                <a:ext cx="1458646" cy="875753"/>
              </a:xfrm>
              <a:prstGeom prst="rect">
                <a:avLst/>
              </a:prstGeom>
              <a:blipFill>
                <a:blip r:embed="rId9"/>
                <a:stretch>
                  <a:fillRect l="-12971" b="-131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489D6401-BFA9-42BC-A6C7-3E913406C99D}"/>
              </a:ext>
            </a:extLst>
          </p:cNvPr>
          <p:cNvSpPr/>
          <p:nvPr/>
        </p:nvSpPr>
        <p:spPr>
          <a:xfrm>
            <a:off x="1193262" y="1713351"/>
            <a:ext cx="114738" cy="21871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1AEC89-E75A-4738-AE6B-DC4097CA4642}"/>
              </a:ext>
            </a:extLst>
          </p:cNvPr>
          <p:cNvSpPr/>
          <p:nvPr/>
        </p:nvSpPr>
        <p:spPr>
          <a:xfrm>
            <a:off x="1875510" y="1770235"/>
            <a:ext cx="152716" cy="198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82518B-4813-42D3-9368-00F3D5F440EC}"/>
              </a:ext>
            </a:extLst>
          </p:cNvPr>
          <p:cNvSpPr/>
          <p:nvPr/>
        </p:nvSpPr>
        <p:spPr>
          <a:xfrm>
            <a:off x="1499445" y="3230348"/>
            <a:ext cx="203266" cy="1988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71ECD6-16E9-4BD6-A07E-84D6EF660CC7}"/>
              </a:ext>
            </a:extLst>
          </p:cNvPr>
          <p:cNvSpPr/>
          <p:nvPr/>
        </p:nvSpPr>
        <p:spPr>
          <a:xfrm>
            <a:off x="1296178" y="3769637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4B5C6A0-18F7-4D5A-9D76-B15F02F83947}"/>
              </a:ext>
            </a:extLst>
          </p:cNvPr>
          <p:cNvSpPr/>
          <p:nvPr/>
        </p:nvSpPr>
        <p:spPr>
          <a:xfrm>
            <a:off x="1336687" y="4317092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1D01C77-54D7-406B-8945-3F0C20B5BDBA}"/>
              </a:ext>
            </a:extLst>
          </p:cNvPr>
          <p:cNvSpPr/>
          <p:nvPr/>
        </p:nvSpPr>
        <p:spPr>
          <a:xfrm>
            <a:off x="3687223" y="3792037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B2AF5B-DCAD-4FF3-9837-52BAF918AB8C}"/>
              </a:ext>
            </a:extLst>
          </p:cNvPr>
          <p:cNvSpPr/>
          <p:nvPr/>
        </p:nvSpPr>
        <p:spPr>
          <a:xfrm>
            <a:off x="3687222" y="4305808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2D692F-B6A6-4100-9DF0-9D4478560CD5}"/>
              </a:ext>
            </a:extLst>
          </p:cNvPr>
          <p:cNvSpPr/>
          <p:nvPr/>
        </p:nvSpPr>
        <p:spPr>
          <a:xfrm>
            <a:off x="6256132" y="3708394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62EA76-967F-4CB6-8DD5-453C6F0738C3}"/>
              </a:ext>
            </a:extLst>
          </p:cNvPr>
          <p:cNvSpPr/>
          <p:nvPr/>
        </p:nvSpPr>
        <p:spPr>
          <a:xfrm>
            <a:off x="6222755" y="4305808"/>
            <a:ext cx="732047" cy="33344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0720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/>
      <p:bldP spid="13" grpId="0"/>
      <p:bldP spid="16" grpId="0"/>
      <p:bldP spid="17" grpId="0"/>
      <p:bldP spid="19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/>
              <p:cNvSpPr txBox="1"/>
              <p:nvPr/>
            </p:nvSpPr>
            <p:spPr>
              <a:xfrm>
                <a:off x="1071579" y="255973"/>
                <a:ext cx="6604987" cy="63849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/>
                  <a:t>Your turn to try a couple.</a:t>
                </a:r>
              </a:p>
              <a:p>
                <a:endParaRPr lang="en-AU" sz="32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3200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endParaRPr lang="en-AU" sz="3200" dirty="0"/>
              </a:p>
              <a:p>
                <a:endParaRPr lang="en-AU" sz="3200" dirty="0"/>
              </a:p>
              <a:p>
                <a:endParaRPr lang="en-AU" sz="3200" dirty="0"/>
              </a:p>
              <a:p>
                <a:endParaRPr lang="en-AU" sz="3200" dirty="0"/>
              </a:p>
              <a:p>
                <a:endParaRPr lang="en-AU" sz="320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i="1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3200" dirty="0"/>
                  <a:t>					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AU" sz="32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AU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AU" sz="32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3200" dirty="0"/>
                  <a:t> 							</a:t>
                </a: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endParaRPr lang="en-AU" i="1" dirty="0">
                  <a:latin typeface="Cambria Math" panose="02040503050406030204" pitchFamily="18" charset="0"/>
                </a:endParaRPr>
              </a:p>
              <a:p>
                <a:endParaRPr lang="en-AU" dirty="0"/>
              </a:p>
              <a:p>
                <a:endParaRPr lang="en-AU" dirty="0"/>
              </a:p>
              <a:p>
                <a:endParaRPr lang="en-AU" dirty="0"/>
              </a:p>
            </p:txBody>
          </p:sp>
        </mc:Choice>
        <mc:Fallback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1579" y="255973"/>
                <a:ext cx="6604987" cy="6384953"/>
              </a:xfrm>
              <a:prstGeom prst="rect">
                <a:avLst/>
              </a:prstGeom>
              <a:blipFill>
                <a:blip r:embed="rId2"/>
                <a:stretch>
                  <a:fillRect l="-831" t="-5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412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ACC1CBC-2D45-4012-96CA-07D23F93CEAF}"/>
              </a:ext>
            </a:extLst>
          </p:cNvPr>
          <p:cNvSpPr txBox="1"/>
          <p:nvPr/>
        </p:nvSpPr>
        <p:spPr>
          <a:xfrm>
            <a:off x="393896" y="182880"/>
            <a:ext cx="83280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At a party there are 2 cakes.  The chocolate mud cake is cut into 12 pieces and the cheesecake is cut into 10 pieces.  You have 2 pieces of chocolate cake and 3 pieces of the cheesecake.  What fraction of cake have you had over all?</a:t>
            </a:r>
          </a:p>
          <a:p>
            <a:endParaRPr lang="en-AU" sz="2000" dirty="0"/>
          </a:p>
          <a:p>
            <a:endParaRPr lang="en-AU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683241-F0D3-4433-B947-87297B764C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507" y="1308295"/>
            <a:ext cx="190500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C629F1-B95F-4DD1-81C8-6D9ADB5688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045" y="1317820"/>
            <a:ext cx="1905000" cy="18954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ED3FBEA-9A73-4158-8759-2DFE866146BF}"/>
                  </a:ext>
                </a:extLst>
              </p:cNvPr>
              <p:cNvSpPr/>
              <p:nvPr/>
            </p:nvSpPr>
            <p:spPr>
              <a:xfrm>
                <a:off x="3311438" y="3723727"/>
                <a:ext cx="2492990" cy="9666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4000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AU" sz="4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40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40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4000" dirty="0"/>
                  <a:t>	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7ED3FBEA-9A73-4158-8759-2DFE866146B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1438" y="3723727"/>
                <a:ext cx="2492990" cy="9666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40426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4D6C47-A56F-4A3A-8AD2-FAF141180F66}"/>
              </a:ext>
            </a:extLst>
          </p:cNvPr>
          <p:cNvSpPr txBox="1"/>
          <p:nvPr/>
        </p:nvSpPr>
        <p:spPr>
          <a:xfrm>
            <a:off x="1041009" y="745588"/>
            <a:ext cx="75824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Task.</a:t>
            </a:r>
          </a:p>
          <a:p>
            <a:r>
              <a:rPr lang="en-AU" sz="2800" dirty="0"/>
              <a:t>Complete the worksheet and paste it into your workbook.</a:t>
            </a:r>
          </a:p>
        </p:txBody>
      </p:sp>
    </p:spTree>
    <p:extLst>
      <p:ext uri="{BB962C8B-B14F-4D97-AF65-F5344CB8AC3E}">
        <p14:creationId xmlns:p14="http://schemas.microsoft.com/office/powerpoint/2010/main" val="232987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86522" y="100339"/>
            <a:ext cx="6858000" cy="524130"/>
          </a:xfrm>
        </p:spPr>
        <p:txBody>
          <a:bodyPr>
            <a:noAutofit/>
          </a:bodyPr>
          <a:lstStyle/>
          <a:p>
            <a:pPr algn="l"/>
            <a:r>
              <a:rPr lang="en-AU" sz="3200" dirty="0"/>
              <a:t>Topic : Adding Fractions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613317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167161"/>
            <a:ext cx="9144000" cy="11151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cxnSpLocks/>
          </p:cNvCxnSpPr>
          <p:nvPr/>
        </p:nvCxnSpPr>
        <p:spPr>
          <a:xfrm>
            <a:off x="1884556" y="1178312"/>
            <a:ext cx="0" cy="4547839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Title 1"/>
          <p:cNvSpPr txBox="1">
            <a:spLocks/>
          </p:cNvSpPr>
          <p:nvPr/>
        </p:nvSpPr>
        <p:spPr>
          <a:xfrm>
            <a:off x="436757" y="633749"/>
            <a:ext cx="6858000" cy="52413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AU" sz="3200" dirty="0"/>
              <a:t>EQ : How do we add fractions?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734" y="-67294"/>
            <a:ext cx="435641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40" dirty="0"/>
              <a:t>24</a:t>
            </a:r>
          </a:p>
          <a:p>
            <a:r>
              <a:rPr lang="en-AU" sz="1440" dirty="0"/>
              <a:t>7</a:t>
            </a:r>
          </a:p>
          <a:p>
            <a:r>
              <a:rPr lang="en-AU" sz="1440" dirty="0"/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8790" y="77786"/>
            <a:ext cx="14257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734" y="1822737"/>
            <a:ext cx="8960264" cy="3218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AVID 2017</Template>
  <TotalTime>2286</TotalTime>
  <Words>241</Words>
  <Application>Microsoft Office PowerPoint</Application>
  <PresentationFormat>On-screen Show (16:10)</PresentationFormat>
  <Paragraphs>66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Comic Sans MS</vt:lpstr>
      <vt:lpstr>Office Theme</vt:lpstr>
      <vt:lpstr>PowerPoint Presentation</vt:lpstr>
      <vt:lpstr>Topic :</vt:lpstr>
      <vt:lpstr>PowerPoint Presentation</vt:lpstr>
      <vt:lpstr>PowerPoint Presentation</vt:lpstr>
      <vt:lpstr>PowerPoint Presentation</vt:lpstr>
      <vt:lpstr>PowerPoint Presentation</vt:lpstr>
      <vt:lpstr>Topic : Adding Fractions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WILSON James [Baldivis Secondary College]</cp:lastModifiedBy>
  <cp:revision>22</cp:revision>
  <dcterms:created xsi:type="dcterms:W3CDTF">2017-05-18T15:03:42Z</dcterms:created>
  <dcterms:modified xsi:type="dcterms:W3CDTF">2018-05-06T08:29:09Z</dcterms:modified>
</cp:coreProperties>
</file>
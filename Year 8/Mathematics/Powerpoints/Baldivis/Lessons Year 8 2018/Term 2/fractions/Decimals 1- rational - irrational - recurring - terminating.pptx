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61" r:id="rId4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9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220-B03A-4A10-9176-752C61B6EF67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1B0F-7BF0-440B-9775-05498A20B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1610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220-B03A-4A10-9176-752C61B6EF67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1B0F-7BF0-440B-9775-05498A20B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7753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220-B03A-4A10-9176-752C61B6EF67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1B0F-7BF0-440B-9775-05498A20B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340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220-B03A-4A10-9176-752C61B6EF67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1B0F-7BF0-440B-9775-05498A20B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6438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220-B03A-4A10-9176-752C61B6EF67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1B0F-7BF0-440B-9775-05498A20B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2911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220-B03A-4A10-9176-752C61B6EF67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1B0F-7BF0-440B-9775-05498A20B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793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220-B03A-4A10-9176-752C61B6EF67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1B0F-7BF0-440B-9775-05498A20B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7409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220-B03A-4A10-9176-752C61B6EF67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1B0F-7BF0-440B-9775-05498A20B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952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220-B03A-4A10-9176-752C61B6EF67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1B0F-7BF0-440B-9775-05498A20B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3919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220-B03A-4A10-9176-752C61B6EF67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1B0F-7BF0-440B-9775-05498A20B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7250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B3220-B03A-4A10-9176-752C61B6EF67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B1B0F-7BF0-440B-9775-05498A20B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1389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B3220-B03A-4A10-9176-752C61B6EF67}" type="datetimeFigureOut">
              <a:rPr lang="en-AU" smtClean="0"/>
              <a:t>14/05/2018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B1B0F-7BF0-440B-9775-05498A20BD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1862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45477" y="504811"/>
            <a:ext cx="895643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45477" y="982469"/>
            <a:ext cx="909852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477" y="-25615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734011" y="982469"/>
            <a:ext cx="0" cy="46821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21926" y="5766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844" y="498487"/>
            <a:ext cx="9180584" cy="45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333" dirty="0"/>
              <a:t>EQ – What are the different types of decimal numbers?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844" y="25713"/>
            <a:ext cx="313085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Topic: Types of Decimals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1677" y="1075081"/>
            <a:ext cx="2111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2"/>
              <p:cNvSpPr txBox="1">
                <a:spLocks/>
              </p:cNvSpPr>
              <p:nvPr/>
            </p:nvSpPr>
            <p:spPr>
              <a:xfrm>
                <a:off x="1734011" y="982468"/>
                <a:ext cx="7308062" cy="3275460"/>
              </a:xfrm>
              <a:prstGeom prst="rect">
                <a:avLst/>
              </a:prstGeom>
            </p:spPr>
            <p:txBody>
              <a:bodyPr wrap="square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x-none" sz="1800" dirty="0">
                    <a:ea typeface="ＭＳ Ｐゴシック" charset="-128"/>
                  </a:rPr>
                  <a:t>We calculate decimals from fractions by dividing the top number by the bottom number.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x-none" sz="1800" dirty="0">
                    <a:ea typeface="ＭＳ Ｐゴシック" charset="-128"/>
                  </a:rPr>
                  <a:t>	</a:t>
                </a:r>
                <a:r>
                  <a:rPr lang="en-US" altLang="x-none" sz="1800" dirty="0" err="1">
                    <a:ea typeface="ＭＳ Ｐゴシック" charset="-128"/>
                  </a:rPr>
                  <a:t>Eg</a:t>
                </a:r>
                <a:r>
                  <a:rPr lang="en-US" altLang="x-none" sz="1800" dirty="0">
                    <a:ea typeface="ＭＳ Ｐゴシック" charset="-128"/>
                  </a:rPr>
                  <a:t>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x-none" sz="2000" i="1" smtClean="0">
                            <a:latin typeface="Cambria Math" panose="02040503050406030204" pitchFamily="18" charset="0"/>
                            <a:ea typeface="ＭＳ Ｐゴシック" charset="-128"/>
                          </a:rPr>
                        </m:ctrlPr>
                      </m:fPr>
                      <m:num>
                        <m:r>
                          <a:rPr lang="en-AU" altLang="x-none" sz="2000" b="0" i="1" smtClean="0">
                            <a:latin typeface="Cambria Math" panose="02040503050406030204" pitchFamily="18" charset="0"/>
                            <a:ea typeface="ＭＳ Ｐゴシック" charset="-128"/>
                          </a:rPr>
                          <m:t>3</m:t>
                        </m:r>
                      </m:num>
                      <m:den>
                        <m:r>
                          <a:rPr lang="en-AU" altLang="x-none" sz="2000" b="0" i="1" smtClean="0">
                            <a:latin typeface="Cambria Math" panose="02040503050406030204" pitchFamily="18" charset="0"/>
                            <a:ea typeface="ＭＳ Ｐゴシック" charset="-128"/>
                          </a:rPr>
                          <m:t>4</m:t>
                        </m:r>
                      </m:den>
                    </m:f>
                    <m:r>
                      <a:rPr lang="en-AU" altLang="x-none" sz="2000" b="0" i="1" smtClean="0">
                        <a:latin typeface="Cambria Math" panose="02040503050406030204" pitchFamily="18" charset="0"/>
                        <a:ea typeface="ＭＳ Ｐゴシック" charset="-128"/>
                      </a:rPr>
                      <m:t>=3 </m:t>
                    </m:r>
                    <m:r>
                      <a:rPr lang="en-AU" altLang="x-none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÷4=0.75</m:t>
                    </m:r>
                  </m:oMath>
                </a14:m>
                <a:endParaRPr lang="en-US" altLang="x-none" sz="1800" dirty="0">
                  <a:ea typeface="ＭＳ Ｐゴシック" charset="-128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x-none" sz="1800" dirty="0">
                  <a:ea typeface="ＭＳ Ｐゴシック" charset="-128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x-none" sz="1800" dirty="0">
                    <a:ea typeface="ＭＳ Ｐゴシック" charset="-128"/>
                  </a:rPr>
                  <a:t>Numbers can be broken into 2 categories.  </a:t>
                </a:r>
              </a:p>
              <a:p>
                <a:pPr>
                  <a:lnSpc>
                    <a:spcPct val="90000"/>
                  </a:lnSpc>
                  <a:buAutoNum type="arabicPeriod"/>
                </a:pPr>
                <a:r>
                  <a:rPr lang="en-US" altLang="x-none" sz="1800" dirty="0">
                    <a:ea typeface="ＭＳ Ｐゴシック" charset="-128"/>
                  </a:rPr>
                  <a:t>Rational numbers (which can be written as fractions) </a:t>
                </a:r>
              </a:p>
              <a:p>
                <a:pPr>
                  <a:lnSpc>
                    <a:spcPct val="90000"/>
                  </a:lnSpc>
                  <a:buAutoNum type="arabicPeriod"/>
                </a:pPr>
                <a:r>
                  <a:rPr lang="en-US" altLang="x-none" sz="1800" dirty="0">
                    <a:ea typeface="ＭＳ Ｐゴシック" charset="-128"/>
                  </a:rPr>
                  <a:t>Irrational numbers (which continue forever, never repeat and cannot be written as Fractions).  Irrational numbers include pi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x-none" sz="1800" i="1" smtClean="0">
                            <a:latin typeface="Cambria Math" panose="02040503050406030204" pitchFamily="18" charset="0"/>
                            <a:ea typeface="ＭＳ Ｐゴシック" charset="-128"/>
                          </a:rPr>
                        </m:ctrlPr>
                      </m:radPr>
                      <m:deg/>
                      <m:e>
                        <m:r>
                          <a:rPr lang="en-AU" altLang="x-none" sz="1800" b="0" i="1" smtClean="0">
                            <a:latin typeface="Cambria Math" panose="02040503050406030204" pitchFamily="18" charset="0"/>
                            <a:ea typeface="ＭＳ Ｐゴシック" charset="-128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altLang="x-none" sz="1800" dirty="0">
                    <a:ea typeface="ＭＳ Ｐゴシック" charset="-128"/>
                  </a:rPr>
                  <a:t>.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x-none" sz="1800" dirty="0">
                  <a:ea typeface="ＭＳ Ｐゴシック" charset="-128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x-none" sz="1800" dirty="0">
                  <a:ea typeface="ＭＳ Ｐゴシック" charset="-128"/>
                </a:endParaRPr>
              </a:p>
            </p:txBody>
          </p:sp>
        </mc:Choice>
        <mc:Fallback>
          <p:sp>
            <p:nvSpPr>
              <p:cNvPr id="1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011" y="982468"/>
                <a:ext cx="7308062" cy="3275460"/>
              </a:xfrm>
              <a:prstGeom prst="rect">
                <a:avLst/>
              </a:prstGeom>
              <a:blipFill>
                <a:blip r:embed="rId2"/>
                <a:stretch>
                  <a:fillRect l="-667" t="-16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43EDA67-AA71-4B34-AF7C-E62626A5B862}"/>
              </a:ext>
            </a:extLst>
          </p:cNvPr>
          <p:cNvSpPr txBox="1"/>
          <p:nvPr/>
        </p:nvSpPr>
        <p:spPr>
          <a:xfrm>
            <a:off x="1734010" y="3670559"/>
            <a:ext cx="7308063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x-none" dirty="0">
                <a:ea typeface="ＭＳ Ｐゴシック" charset="-128"/>
              </a:rPr>
              <a:t>Rational number can be 2 types.</a:t>
            </a:r>
          </a:p>
          <a:p>
            <a:pPr>
              <a:lnSpc>
                <a:spcPct val="90000"/>
              </a:lnSpc>
            </a:pPr>
            <a:r>
              <a:rPr lang="en-US" altLang="x-none" b="1" u="sng" dirty="0">
                <a:ea typeface="ＭＳ Ｐゴシック" charset="-128"/>
              </a:rPr>
              <a:t>Recurring decimals  </a:t>
            </a:r>
            <a:r>
              <a:rPr lang="en-US" altLang="x-none" dirty="0">
                <a:ea typeface="ＭＳ Ｐゴシック" charset="-128"/>
              </a:rPr>
              <a:t>- which have a repeating pattern that continues forever.</a:t>
            </a:r>
          </a:p>
          <a:p>
            <a:pPr>
              <a:lnSpc>
                <a:spcPct val="90000"/>
              </a:lnSpc>
            </a:pPr>
            <a:r>
              <a:rPr lang="en-US" altLang="x-none" dirty="0">
                <a:ea typeface="ＭＳ Ｐゴシック" charset="-128"/>
              </a:rPr>
              <a:t>	</a:t>
            </a:r>
            <a:r>
              <a:rPr lang="en-US" altLang="x-none" dirty="0" err="1">
                <a:ea typeface="ＭＳ Ｐゴシック" charset="-128"/>
              </a:rPr>
              <a:t>eg</a:t>
            </a:r>
            <a:r>
              <a:rPr lang="en-US" altLang="x-none" dirty="0">
                <a:ea typeface="ＭＳ Ｐゴシック" charset="-128"/>
              </a:rPr>
              <a:t>  	1 ÷ 3 = 0.333333333…..</a:t>
            </a:r>
          </a:p>
          <a:p>
            <a:pPr>
              <a:lnSpc>
                <a:spcPct val="90000"/>
              </a:lnSpc>
            </a:pPr>
            <a:r>
              <a:rPr lang="en-US" altLang="x-none" dirty="0">
                <a:ea typeface="ＭＳ Ｐゴシック" charset="-128"/>
              </a:rPr>
              <a:t>		2 ÷ 7 = 0.285714285714285714…</a:t>
            </a:r>
            <a:endParaRPr lang="en-US" altLang="x-none" b="1" u="sng" dirty="0">
              <a:ea typeface="ＭＳ Ｐゴシック" charset="-128"/>
            </a:endParaRPr>
          </a:p>
          <a:p>
            <a:pPr>
              <a:lnSpc>
                <a:spcPct val="90000"/>
              </a:lnSpc>
            </a:pPr>
            <a:r>
              <a:rPr lang="en-US" altLang="x-none" b="1" u="sng" dirty="0">
                <a:ea typeface="ＭＳ Ｐゴシック" charset="-128"/>
              </a:rPr>
              <a:t>Terminating decimals </a:t>
            </a:r>
            <a:r>
              <a:rPr lang="en-US" altLang="x-none" dirty="0">
                <a:ea typeface="ＭＳ Ｐゴシック" charset="-128"/>
              </a:rPr>
              <a:t>– which stop </a:t>
            </a:r>
          </a:p>
          <a:p>
            <a:pPr>
              <a:lnSpc>
                <a:spcPct val="90000"/>
              </a:lnSpc>
            </a:pPr>
            <a:r>
              <a:rPr lang="en-US" altLang="x-none" dirty="0">
                <a:ea typeface="ＭＳ Ｐゴシック" charset="-128"/>
              </a:rPr>
              <a:t>	</a:t>
            </a:r>
            <a:r>
              <a:rPr lang="en-US" altLang="x-none" dirty="0" err="1">
                <a:ea typeface="ＭＳ Ｐゴシック" charset="-128"/>
              </a:rPr>
              <a:t>eg</a:t>
            </a:r>
            <a:r>
              <a:rPr lang="en-US" altLang="x-none" dirty="0">
                <a:ea typeface="ＭＳ Ｐゴシック" charset="-128"/>
              </a:rPr>
              <a:t> 0.75, 0.4, 0.125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2426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45477" y="504811"/>
            <a:ext cx="895643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45477" y="982469"/>
            <a:ext cx="909852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477" y="-25615"/>
            <a:ext cx="4800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758849" y="1032830"/>
            <a:ext cx="0" cy="46821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21926" y="5766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844" y="498487"/>
            <a:ext cx="9180584" cy="45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333" dirty="0"/>
              <a:t>EQ – What are the different types of decimal numbers?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844" y="25713"/>
            <a:ext cx="3130857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Topic: Types of Decimals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1677" y="1075081"/>
            <a:ext cx="2111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1F027A1-50B9-4213-870C-01D19D8A077D}"/>
              </a:ext>
            </a:extLst>
          </p:cNvPr>
          <p:cNvSpPr txBox="1">
            <a:spLocks/>
          </p:cNvSpPr>
          <p:nvPr/>
        </p:nvSpPr>
        <p:spPr bwMode="auto">
          <a:xfrm>
            <a:off x="1835938" y="1600664"/>
            <a:ext cx="7308062" cy="1903907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x-none" sz="2000" dirty="0">
                <a:ea typeface="ＭＳ Ｐゴシック" charset="-128"/>
              </a:rPr>
              <a:t>Write any non-recurring digits, then the digits that form the repeating pattern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x-none" sz="2000" dirty="0">
                <a:ea typeface="ＭＳ Ｐゴシック" charset="-128"/>
              </a:rPr>
              <a:t>Place a dot on top of the first and last digits of the repeating pattern, or draw a line above them</a:t>
            </a:r>
          </a:p>
          <a:p>
            <a:pPr marL="0" indent="0">
              <a:buNone/>
            </a:pPr>
            <a:r>
              <a:rPr lang="en-US" altLang="x-none" sz="2000" dirty="0">
                <a:ea typeface="ＭＳ Ｐゴシック" charset="-128"/>
              </a:rPr>
              <a:t>This is called writing the decimal in EXACT FORM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D99131-7CA8-41E4-9AA4-C084CE9ACB1A}"/>
              </a:ext>
            </a:extLst>
          </p:cNvPr>
          <p:cNvSpPr txBox="1"/>
          <p:nvPr/>
        </p:nvSpPr>
        <p:spPr>
          <a:xfrm>
            <a:off x="1758849" y="1137818"/>
            <a:ext cx="4822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How do we write recurring decimals?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F20C8D0-ACD1-4ECF-AA86-3767035ABA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3825710"/>
                  </p:ext>
                </p:extLst>
              </p:nvPr>
            </p:nvGraphicFramePr>
            <p:xfrm>
              <a:off x="1939668" y="3323554"/>
              <a:ext cx="6998676" cy="185266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063262">
                      <a:extLst>
                        <a:ext uri="{9D8B030D-6E8A-4147-A177-3AD203B41FA5}">
                          <a16:colId xmlns:a16="http://schemas.microsoft.com/office/drawing/2014/main" val="2297143366"/>
                        </a:ext>
                      </a:extLst>
                    </a:gridCol>
                    <a:gridCol w="2555630">
                      <a:extLst>
                        <a:ext uri="{9D8B030D-6E8A-4147-A177-3AD203B41FA5}">
                          <a16:colId xmlns:a16="http://schemas.microsoft.com/office/drawing/2014/main" val="2632727521"/>
                        </a:ext>
                      </a:extLst>
                    </a:gridCol>
                    <a:gridCol w="2379784">
                      <a:extLst>
                        <a:ext uri="{9D8B030D-6E8A-4147-A177-3AD203B41FA5}">
                          <a16:colId xmlns:a16="http://schemas.microsoft.com/office/drawing/2014/main" val="1507841937"/>
                        </a:ext>
                      </a:extLst>
                    </a:gridCol>
                  </a:tblGrid>
                  <a:tr h="333282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Exact form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53948"/>
                      </a:ext>
                    </a:extLst>
                  </a:tr>
                  <a:tr h="429557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600" smtClean="0"/>
                                    </m:ctrlPr>
                                  </m:fPr>
                                  <m:num>
                                    <m:r>
                                      <a:rPr lang="en-AU" sz="1600" smtClean="0"/>
                                      <m:t>7</m:t>
                                    </m:r>
                                  </m:num>
                                  <m:den>
                                    <m:r>
                                      <a:rPr lang="en-AU" sz="1600" smtClean="0"/>
                                      <m:t>300</m:t>
                                    </m:r>
                                  </m:den>
                                </m:f>
                                <m:r>
                                  <a:rPr lang="en-AU" sz="1600" smtClean="0"/>
                                  <m:t>=7 ÷300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0.0233333333333……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AU" sz="1600" smtClean="0"/>
                                  <m:t>0.02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AU" sz="1600" smtClean="0"/>
                                    </m:ctrlPr>
                                  </m:accPr>
                                  <m:e>
                                    <m:r>
                                      <a:rPr lang="en-AU" sz="1600" smtClean="0"/>
                                      <m:t>3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8999985"/>
                      </a:ext>
                    </a:extLst>
                  </a:tr>
                  <a:tr h="342927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600" smtClean="0"/>
                                  </m:ctrlPr>
                                </m:fPr>
                                <m:num>
                                  <m:r>
                                    <a:rPr lang="en-AU" sz="1600" smtClean="0"/>
                                    <m:t>4</m:t>
                                  </m:r>
                                </m:num>
                                <m:den>
                                  <m:r>
                                    <a:rPr lang="en-AU" sz="1600" smtClean="0"/>
                                    <m:t>11</m:t>
                                  </m:r>
                                </m:den>
                              </m:f>
                              <m:r>
                                <a:rPr lang="en-AU" sz="1600" smtClean="0"/>
                                <m:t>=</m:t>
                              </m:r>
                              <m:r>
                                <a:rPr lang="en-AU" sz="1600" smtClean="0"/>
                                <m:t>4</m:t>
                              </m:r>
                              <m:r>
                                <a:rPr lang="en-AU" sz="1600" smtClean="0"/>
                                <m:t> ÷</m:t>
                              </m:r>
                            </m:oMath>
                          </a14:m>
                          <a:r>
                            <a:rPr lang="en-AU" sz="1600" dirty="0"/>
                            <a:t>11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0.363636363636……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16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sz="1600" smtClean="0"/>
                                <m:t>0.</m:t>
                              </m:r>
                              <m:acc>
                                <m:accPr>
                                  <m:chr m:val="̇"/>
                                  <m:ctrlPr>
                                    <a:rPr lang="en-AU" sz="1600" smtClean="0"/>
                                  </m:ctrlPr>
                                </m:accPr>
                                <m:e>
                                  <m:r>
                                    <a:rPr lang="en-AU" sz="1600" smtClean="0"/>
                                    <m:t>3</m:t>
                                  </m:r>
                                </m:e>
                              </m:acc>
                              <m:acc>
                                <m:accPr>
                                  <m:chr m:val="̇"/>
                                  <m:ctrlPr>
                                    <a:rPr lang="en-AU" sz="1600" smtClean="0"/>
                                  </m:ctrlPr>
                                </m:accPr>
                                <m:e>
                                  <m:r>
                                    <a:rPr lang="en-AU" sz="1600" smtClean="0"/>
                                    <m:t>6</m:t>
                                  </m:r>
                                </m:e>
                              </m:acc>
                            </m:oMath>
                          </a14:m>
                          <a:r>
                            <a:rPr lang="en-AU" sz="1600" dirty="0"/>
                            <a:t>   or   </a:t>
                          </a:r>
                          <a:r>
                            <a:rPr lang="en-AU" sz="1600" baseline="0" dirty="0"/>
                            <a:t> 0.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AU" sz="1600" smtClean="0"/>
                                  </m:ctrlPr>
                                </m:accPr>
                                <m:e>
                                  <m:r>
                                    <a:rPr lang="en-AU" sz="1600" smtClean="0"/>
                                    <m:t>36</m:t>
                                  </m:r>
                                </m:e>
                              </m:acc>
                            </m:oMath>
                          </a14:m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80389068"/>
                      </a:ext>
                    </a:extLst>
                  </a:tr>
                  <a:tr h="529542"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AU" sz="1600" smtClean="0"/>
                                  </m:ctrlPr>
                                </m:fPr>
                                <m:num>
                                  <m:r>
                                    <a:rPr lang="en-AU" sz="1600" smtClean="0"/>
                                    <m:t>2</m:t>
                                  </m:r>
                                </m:num>
                                <m:den>
                                  <m:r>
                                    <a:rPr lang="en-AU" sz="1600" smtClean="0"/>
                                    <m:t>1</m:t>
                                  </m:r>
                                  <m:r>
                                    <a:rPr lang="en-AU" sz="1600" smtClean="0"/>
                                    <m:t>3</m:t>
                                  </m:r>
                                </m:den>
                              </m:f>
                              <m:r>
                                <a:rPr lang="en-AU" sz="1600" smtClean="0"/>
                                <m:t>=</m:t>
                              </m:r>
                              <m:r>
                                <a:rPr lang="en-AU" sz="1600" smtClean="0"/>
                                <m:t>2</m:t>
                              </m:r>
                              <m:r>
                                <a:rPr lang="en-AU" sz="1600" smtClean="0"/>
                                <m:t>÷</m:t>
                              </m:r>
                            </m:oMath>
                          </a14:m>
                          <a:r>
                            <a:rPr lang="en-AU" sz="1600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0.153846153846153846..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AU" sz="1600" dirty="0"/>
                            <a:t>0.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̇"/>
                                  <m:ctrlPr>
                                    <a:rPr lang="en-AU" sz="1600" smtClean="0"/>
                                  </m:ctrlPr>
                                </m:accPr>
                                <m:e>
                                  <m:r>
                                    <a:rPr lang="en-AU" sz="1600" smtClean="0"/>
                                    <m:t>1</m:t>
                                  </m:r>
                                </m:e>
                              </m:acc>
                            </m:oMath>
                          </a14:m>
                          <a:r>
                            <a:rPr lang="en-AU" sz="1600" dirty="0"/>
                            <a:t>5384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̇"/>
                                  <m:ctrlPr>
                                    <a:rPr lang="en-AU" sz="1600" dirty="0" smtClean="0"/>
                                  </m:ctrlPr>
                                </m:accPr>
                                <m:e>
                                  <m:r>
                                    <a:rPr lang="en-AU" sz="1600" dirty="0" smtClean="0"/>
                                    <m:t>6</m:t>
                                  </m:r>
                                </m:e>
                              </m:acc>
                            </m:oMath>
                          </a14:m>
                          <a:r>
                            <a:rPr lang="en-AU" sz="1600" dirty="0"/>
                            <a:t>    or</a:t>
                          </a:r>
                          <a:r>
                            <a:rPr lang="en-AU" sz="1600" baseline="0" dirty="0"/>
                            <a:t>  0.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AU" sz="1600" baseline="0" smtClean="0"/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en-AU" sz="1600" dirty="0" smtClean="0"/>
                                    <m:t>153846</m:t>
                                  </m:r>
                                </m:e>
                              </m:acc>
                            </m:oMath>
                          </a14:m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34724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F20C8D0-ACD1-4ECF-AA86-3767035ABA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3825710"/>
                  </p:ext>
                </p:extLst>
              </p:nvPr>
            </p:nvGraphicFramePr>
            <p:xfrm>
              <a:off x="1939668" y="3323554"/>
              <a:ext cx="6998676" cy="1852662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063262">
                      <a:extLst>
                        <a:ext uri="{9D8B030D-6E8A-4147-A177-3AD203B41FA5}">
                          <a16:colId xmlns:a16="http://schemas.microsoft.com/office/drawing/2014/main" val="2297143366"/>
                        </a:ext>
                      </a:extLst>
                    </a:gridCol>
                    <a:gridCol w="2555630">
                      <a:extLst>
                        <a:ext uri="{9D8B030D-6E8A-4147-A177-3AD203B41FA5}">
                          <a16:colId xmlns:a16="http://schemas.microsoft.com/office/drawing/2014/main" val="2632727521"/>
                        </a:ext>
                      </a:extLst>
                    </a:gridCol>
                    <a:gridCol w="2379784">
                      <a:extLst>
                        <a:ext uri="{9D8B030D-6E8A-4147-A177-3AD203B41FA5}">
                          <a16:colId xmlns:a16="http://schemas.microsoft.com/office/drawing/2014/main" val="1507841937"/>
                        </a:ext>
                      </a:extLst>
                    </a:gridCol>
                  </a:tblGrid>
                  <a:tr h="333282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Exact form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53948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5" t="-62222" r="-239233" b="-17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0.0233333333333……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4118" t="-62222" r="-256" b="-17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8999985"/>
                      </a:ext>
                    </a:extLst>
                  </a:tr>
                  <a:tr h="4418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5" t="-200000" r="-239233" b="-120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0.363636363636……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4118" t="-200000" r="-256" b="-1205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0389068"/>
                      </a:ext>
                    </a:extLst>
                  </a:tr>
                  <a:tr h="5295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5" t="-251724" r="-239233" b="-1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1600" dirty="0"/>
                            <a:t>0.153846153846153846..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4118" t="-251724" r="-256" b="-11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34724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82675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C68824-7D8A-460B-ACAC-5210309985EC}"/>
              </a:ext>
            </a:extLst>
          </p:cNvPr>
          <p:cNvSpPr txBox="1"/>
          <p:nvPr/>
        </p:nvSpPr>
        <p:spPr>
          <a:xfrm>
            <a:off x="386862" y="175846"/>
            <a:ext cx="2520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try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FEC8220-0D36-4522-95B2-FE40729814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2583015"/>
                  </p:ext>
                </p:extLst>
              </p:nvPr>
            </p:nvGraphicFramePr>
            <p:xfrm>
              <a:off x="597877" y="715108"/>
              <a:ext cx="8206156" cy="3051464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051539">
                      <a:extLst>
                        <a:ext uri="{9D8B030D-6E8A-4147-A177-3AD203B41FA5}">
                          <a16:colId xmlns:a16="http://schemas.microsoft.com/office/drawing/2014/main" val="4278395038"/>
                        </a:ext>
                      </a:extLst>
                    </a:gridCol>
                    <a:gridCol w="2719753">
                      <a:extLst>
                        <a:ext uri="{9D8B030D-6E8A-4147-A177-3AD203B41FA5}">
                          <a16:colId xmlns:a16="http://schemas.microsoft.com/office/drawing/2014/main" val="2523164590"/>
                        </a:ext>
                      </a:extLst>
                    </a:gridCol>
                    <a:gridCol w="1383325">
                      <a:extLst>
                        <a:ext uri="{9D8B030D-6E8A-4147-A177-3AD203B41FA5}">
                          <a16:colId xmlns:a16="http://schemas.microsoft.com/office/drawing/2014/main" val="271642506"/>
                        </a:ext>
                      </a:extLst>
                    </a:gridCol>
                    <a:gridCol w="2051539">
                      <a:extLst>
                        <a:ext uri="{9D8B030D-6E8A-4147-A177-3AD203B41FA5}">
                          <a16:colId xmlns:a16="http://schemas.microsoft.com/office/drawing/2014/main" val="3806760649"/>
                        </a:ext>
                      </a:extLst>
                    </a:gridCol>
                  </a:tblGrid>
                  <a:tr h="625954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Terminating or Recurring?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Exact form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8996478"/>
                      </a:ext>
                    </a:extLst>
                  </a:tr>
                  <a:tr h="461563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800" smtClean="0"/>
                                    </m:ctrlPr>
                                  </m:fPr>
                                  <m:num>
                                    <m:r>
                                      <a:rPr lang="en-AU" sz="1800" smtClean="0"/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sz="1800" smtClean="0"/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 0.75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Terminating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0.25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3765468"/>
                      </a:ext>
                    </a:extLst>
                  </a:tr>
                  <a:tr h="46156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800" smtClean="0"/>
                                    </m:ctrlPr>
                                  </m:fPr>
                                  <m:num>
                                    <m:r>
                                      <a:rPr lang="en-AU" sz="1800" smtClean="0"/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sz="1800" smtClean="0"/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0.333333333…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Recurring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800" smtClean="0"/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lang="en-AU" sz="1800" smtClean="0"/>
                                    </m:ctrlPr>
                                  </m:accPr>
                                  <m:e>
                                    <m:r>
                                      <a:rPr lang="en-AU" sz="1800" smtClean="0"/>
                                      <m:t>3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7590709"/>
                      </a:ext>
                    </a:extLst>
                  </a:tr>
                  <a:tr h="46156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800" smtClean="0"/>
                                    </m:ctrlPr>
                                  </m:fPr>
                                  <m:num>
                                    <m:r>
                                      <a:rPr lang="en-AU" sz="1800" smtClean="0"/>
                                      <m:t>3</m:t>
                                    </m:r>
                                  </m:num>
                                  <m:den>
                                    <m:r>
                                      <a:rPr lang="en-AU" sz="1800" smtClean="0"/>
                                      <m:t>13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0.23076923076923..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Recurring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0.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̇"/>
                                  <m:ctrlPr>
                                    <a:rPr lang="en-AU" sz="1800" smtClean="0"/>
                                  </m:ctrlPr>
                                </m:accPr>
                                <m:e>
                                  <m:r>
                                    <a:rPr lang="en-AU" sz="1800" smtClean="0"/>
                                    <m:t>2</m:t>
                                  </m:r>
                                </m:e>
                              </m:acc>
                            </m:oMath>
                          </a14:m>
                          <a:r>
                            <a:rPr lang="en-AU" sz="1800" dirty="0"/>
                            <a:t>23076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̇"/>
                                  <m:ctrlPr>
                                    <a:rPr lang="en-AU" sz="1800" dirty="0" smtClean="0"/>
                                  </m:ctrlPr>
                                </m:accPr>
                                <m:e>
                                  <m:r>
                                    <a:rPr lang="en-AU" sz="1800" dirty="0" smtClean="0"/>
                                    <m:t>9</m:t>
                                  </m:r>
                                </m:e>
                              </m:acc>
                            </m:oMath>
                          </a14:m>
                          <a:endParaRPr lang="en-A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5389878"/>
                      </a:ext>
                    </a:extLst>
                  </a:tr>
                  <a:tr h="46156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1800" smtClean="0"/>
                                    </m:ctrlPr>
                                  </m:fPr>
                                  <m:num>
                                    <m:r>
                                      <a:rPr lang="en-AU" sz="1800" smtClean="0"/>
                                      <m:t>19</m:t>
                                    </m:r>
                                  </m:num>
                                  <m:den>
                                    <m:r>
                                      <a:rPr lang="en-AU" sz="1800" smtClean="0"/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3.8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Terminating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3.8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785020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FEC8220-0D36-4522-95B2-FE40729814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2583015"/>
                  </p:ext>
                </p:extLst>
              </p:nvPr>
            </p:nvGraphicFramePr>
            <p:xfrm>
              <a:off x="597877" y="715108"/>
              <a:ext cx="8206156" cy="3051464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051539">
                      <a:extLst>
                        <a:ext uri="{9D8B030D-6E8A-4147-A177-3AD203B41FA5}">
                          <a16:colId xmlns:a16="http://schemas.microsoft.com/office/drawing/2014/main" val="4278395038"/>
                        </a:ext>
                      </a:extLst>
                    </a:gridCol>
                    <a:gridCol w="2719753">
                      <a:extLst>
                        <a:ext uri="{9D8B030D-6E8A-4147-A177-3AD203B41FA5}">
                          <a16:colId xmlns:a16="http://schemas.microsoft.com/office/drawing/2014/main" val="2523164590"/>
                        </a:ext>
                      </a:extLst>
                    </a:gridCol>
                    <a:gridCol w="1383325">
                      <a:extLst>
                        <a:ext uri="{9D8B030D-6E8A-4147-A177-3AD203B41FA5}">
                          <a16:colId xmlns:a16="http://schemas.microsoft.com/office/drawing/2014/main" val="271642506"/>
                        </a:ext>
                      </a:extLst>
                    </a:gridCol>
                    <a:gridCol w="2051539">
                      <a:extLst>
                        <a:ext uri="{9D8B030D-6E8A-4147-A177-3AD203B41FA5}">
                          <a16:colId xmlns:a16="http://schemas.microsoft.com/office/drawing/2014/main" val="3806760649"/>
                        </a:ext>
                      </a:extLst>
                    </a:gridCol>
                  </a:tblGrid>
                  <a:tr h="625954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Fraction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Decimal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Terminating or Recurring?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Exact form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8996478"/>
                      </a:ext>
                    </a:extLst>
                  </a:tr>
                  <a:tr h="6050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7" t="-105051" r="-300000" b="-3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 0.75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Terminating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0.25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3765468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7" t="-203000" r="-3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0.333333333…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Recurring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203000" r="-297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7590709"/>
                      </a:ext>
                    </a:extLst>
                  </a:tr>
                  <a:tr h="6068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7" t="-306061" r="-300000" b="-10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0.23076923076923..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Recurring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306061" r="-297" b="-102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5389878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7" t="-402000" r="-300000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3.8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Terminating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sz="1800" dirty="0"/>
                            <a:t>3.8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078502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2F396EF-2FCD-48E9-B9A2-3C3C6C35D449}"/>
              </a:ext>
            </a:extLst>
          </p:cNvPr>
          <p:cNvSpPr/>
          <p:nvPr/>
        </p:nvSpPr>
        <p:spPr>
          <a:xfrm>
            <a:off x="2743200" y="1336431"/>
            <a:ext cx="2121877" cy="586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195427-5802-4B47-BD2B-1AA1FABA71CB}"/>
              </a:ext>
            </a:extLst>
          </p:cNvPr>
          <p:cNvSpPr/>
          <p:nvPr/>
        </p:nvSpPr>
        <p:spPr>
          <a:xfrm>
            <a:off x="5380892" y="1336431"/>
            <a:ext cx="1336431" cy="586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291238-0954-4D78-9AEA-878F18F69E9B}"/>
              </a:ext>
            </a:extLst>
          </p:cNvPr>
          <p:cNvSpPr/>
          <p:nvPr/>
        </p:nvSpPr>
        <p:spPr>
          <a:xfrm>
            <a:off x="6717323" y="1336431"/>
            <a:ext cx="1336431" cy="586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FFC593-6652-4433-9AC7-8E8D14F3314A}"/>
              </a:ext>
            </a:extLst>
          </p:cNvPr>
          <p:cNvSpPr/>
          <p:nvPr/>
        </p:nvSpPr>
        <p:spPr>
          <a:xfrm>
            <a:off x="2743200" y="1965347"/>
            <a:ext cx="1594339" cy="586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B1BF8E-51CA-4F40-8D29-7C2E08E16DDF}"/>
              </a:ext>
            </a:extLst>
          </p:cNvPr>
          <p:cNvSpPr/>
          <p:nvPr/>
        </p:nvSpPr>
        <p:spPr>
          <a:xfrm>
            <a:off x="5234354" y="1965347"/>
            <a:ext cx="1336431" cy="586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EAFA47-5229-4382-B5CB-BAE5867AAAD6}"/>
              </a:ext>
            </a:extLst>
          </p:cNvPr>
          <p:cNvSpPr/>
          <p:nvPr/>
        </p:nvSpPr>
        <p:spPr>
          <a:xfrm>
            <a:off x="6893169" y="1922585"/>
            <a:ext cx="1336431" cy="586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AB9F1F-C358-4840-B384-5D578D407AF2}"/>
              </a:ext>
            </a:extLst>
          </p:cNvPr>
          <p:cNvSpPr/>
          <p:nvPr/>
        </p:nvSpPr>
        <p:spPr>
          <a:xfrm>
            <a:off x="2614246" y="2543908"/>
            <a:ext cx="2250831" cy="586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AC7D58-60A2-4C8E-83EA-35807CC74C74}"/>
              </a:ext>
            </a:extLst>
          </p:cNvPr>
          <p:cNvSpPr/>
          <p:nvPr/>
        </p:nvSpPr>
        <p:spPr>
          <a:xfrm>
            <a:off x="5380891" y="2572882"/>
            <a:ext cx="1336431" cy="586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DB1697-6346-4BA7-A669-C9F6F4A7E9E9}"/>
              </a:ext>
            </a:extLst>
          </p:cNvPr>
          <p:cNvSpPr/>
          <p:nvPr/>
        </p:nvSpPr>
        <p:spPr>
          <a:xfrm>
            <a:off x="6717322" y="2570817"/>
            <a:ext cx="1336431" cy="586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ED23AD-B58F-4341-9CA0-C2D50FF6839D}"/>
              </a:ext>
            </a:extLst>
          </p:cNvPr>
          <p:cNvSpPr/>
          <p:nvPr/>
        </p:nvSpPr>
        <p:spPr>
          <a:xfrm>
            <a:off x="2338755" y="3152841"/>
            <a:ext cx="1336431" cy="586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9DE57-1F5E-4057-935C-71ECE8E3A2CF}"/>
              </a:ext>
            </a:extLst>
          </p:cNvPr>
          <p:cNvSpPr/>
          <p:nvPr/>
        </p:nvSpPr>
        <p:spPr>
          <a:xfrm>
            <a:off x="5410203" y="3154068"/>
            <a:ext cx="1336431" cy="586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25CD44-F24A-4E20-84BA-00CB9F251F72}"/>
              </a:ext>
            </a:extLst>
          </p:cNvPr>
          <p:cNvSpPr/>
          <p:nvPr/>
        </p:nvSpPr>
        <p:spPr>
          <a:xfrm>
            <a:off x="6570785" y="3152841"/>
            <a:ext cx="1336431" cy="586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327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698</TotalTime>
  <Words>203</Words>
  <Application>Microsoft Office PowerPoint</Application>
  <PresentationFormat>On-screen Show (16:10)</PresentationFormat>
  <Paragraphs>61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ＭＳ Ｐゴシック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12</cp:revision>
  <dcterms:created xsi:type="dcterms:W3CDTF">2018-05-14T12:53:24Z</dcterms:created>
  <dcterms:modified xsi:type="dcterms:W3CDTF">2018-05-15T00:31:44Z</dcterms:modified>
</cp:coreProperties>
</file>
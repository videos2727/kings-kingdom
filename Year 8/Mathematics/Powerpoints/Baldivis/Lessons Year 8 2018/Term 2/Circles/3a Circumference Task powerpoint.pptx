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6" r:id="rId2"/>
    <p:sldMasterId id="2147483662" r:id="rId3"/>
  </p:sldMasterIdLst>
  <p:notesMasterIdLst>
    <p:notesMasterId r:id="rId46"/>
  </p:notesMasterIdLst>
  <p:handoutMasterIdLst>
    <p:handoutMasterId r:id="rId47"/>
  </p:handoutMasterIdLst>
  <p:sldIdLst>
    <p:sldId id="349" r:id="rId4"/>
    <p:sldId id="292" r:id="rId5"/>
    <p:sldId id="350" r:id="rId6"/>
    <p:sldId id="352" r:id="rId7"/>
    <p:sldId id="293" r:id="rId8"/>
    <p:sldId id="296" r:id="rId9"/>
    <p:sldId id="280" r:id="rId10"/>
    <p:sldId id="268" r:id="rId11"/>
    <p:sldId id="295" r:id="rId12"/>
    <p:sldId id="307" r:id="rId13"/>
    <p:sldId id="306" r:id="rId14"/>
    <p:sldId id="309" r:id="rId15"/>
    <p:sldId id="311" r:id="rId16"/>
    <p:sldId id="330" r:id="rId17"/>
    <p:sldId id="334" r:id="rId18"/>
    <p:sldId id="335" r:id="rId19"/>
    <p:sldId id="346" r:id="rId20"/>
    <p:sldId id="336" r:id="rId21"/>
    <p:sldId id="282" r:id="rId22"/>
    <p:sldId id="312" r:id="rId23"/>
    <p:sldId id="313" r:id="rId24"/>
    <p:sldId id="314" r:id="rId25"/>
    <p:sldId id="315" r:id="rId26"/>
    <p:sldId id="320" r:id="rId27"/>
    <p:sldId id="319" r:id="rId28"/>
    <p:sldId id="323" r:id="rId29"/>
    <p:sldId id="338" r:id="rId30"/>
    <p:sldId id="337" r:id="rId31"/>
    <p:sldId id="339" r:id="rId32"/>
    <p:sldId id="340" r:id="rId33"/>
    <p:sldId id="344" r:id="rId34"/>
    <p:sldId id="345" r:id="rId35"/>
    <p:sldId id="283" r:id="rId36"/>
    <p:sldId id="301" r:id="rId37"/>
    <p:sldId id="302" r:id="rId38"/>
    <p:sldId id="316" r:id="rId39"/>
    <p:sldId id="317" r:id="rId40"/>
    <p:sldId id="324" r:id="rId41"/>
    <p:sldId id="326" r:id="rId42"/>
    <p:sldId id="327" r:id="rId43"/>
    <p:sldId id="329" r:id="rId44"/>
    <p:sldId id="351" r:id="rId45"/>
  </p:sldIdLst>
  <p:sldSz cx="12192000" cy="6858000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ye Stacey" initials="KS" lastIdx="2" clrIdx="0"/>
  <p:cmAuthor id="1" name="Microsoft Office User" initials="Office" lastIdx="1" clrIdx="1">
    <p:extLst/>
  </p:cmAuthor>
  <p:cmAuthor id="2" name="Lucy Bates" initials="LB" lastIdx="5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AD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3" autoAdjust="0"/>
    <p:restoredTop sz="94662" autoAdjust="0"/>
  </p:normalViewPr>
  <p:slideViewPr>
    <p:cSldViewPr snapToGrid="0">
      <p:cViewPr varScale="1">
        <p:scale>
          <a:sx n="89" d="100"/>
          <a:sy n="89" d="100"/>
        </p:scale>
        <p:origin x="-216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7" d="100"/>
          <a:sy n="117" d="100"/>
        </p:scale>
        <p:origin x="235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619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619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2F5E693-0224-4A4C-8D24-A9126DE68BE1}" type="datetimeFigureOut">
              <a:rPr lang="en-AU" smtClean="0"/>
              <a:t>27-Feb-17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4999" cy="35619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6" y="6743103"/>
            <a:ext cx="4434999" cy="35619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6B8AC761-2EA5-4FB0-804A-674BD929E03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529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2A528-751C-1240-9D67-B57F406B67F5}" type="datetimeFigureOut">
              <a:rPr lang="en-US" smtClean="0"/>
              <a:t>2/27/2017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55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938" y="3416300"/>
            <a:ext cx="8186737" cy="27955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370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550" y="674370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988B9-666A-9A4D-8AB8-05CDCEFC6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6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0" y="1440000"/>
            <a:ext cx="10560000" cy="1200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000" y="2880000"/>
            <a:ext cx="10560000" cy="3360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0000" y="2880000"/>
            <a:ext cx="5160000" cy="3360000"/>
          </a:xfrm>
        </p:spPr>
        <p:txBody>
          <a:bodyPr/>
          <a:lstStyle>
            <a:lvl1pPr marL="239994">
              <a:defRPr sz="2667">
                <a:solidFill>
                  <a:schemeClr val="tx1"/>
                </a:solidFill>
              </a:defRPr>
            </a:lvl1pPr>
            <a:lvl2pPr marL="479988">
              <a:defRPr sz="2667">
                <a:solidFill>
                  <a:schemeClr val="tx1"/>
                </a:solidFill>
              </a:defRPr>
            </a:lvl2pPr>
            <a:lvl3pPr marL="719982">
              <a:defRPr sz="2667">
                <a:solidFill>
                  <a:schemeClr val="tx1"/>
                </a:solidFill>
              </a:defRPr>
            </a:lvl3pPr>
            <a:lvl4pPr marL="959976">
              <a:defRPr sz="2667">
                <a:solidFill>
                  <a:schemeClr val="tx1"/>
                </a:solidFill>
              </a:defRPr>
            </a:lvl4pPr>
            <a:lvl5pPr marL="1199970">
              <a:defRPr sz="26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0000" y="2880000"/>
            <a:ext cx="5160000" cy="3360000"/>
          </a:xfrm>
        </p:spPr>
        <p:txBody>
          <a:bodyPr>
            <a:normAutofit/>
          </a:bodyPr>
          <a:lstStyle>
            <a:lvl1pPr marL="239994">
              <a:defRPr sz="2667">
                <a:solidFill>
                  <a:schemeClr val="tx1"/>
                </a:solidFill>
              </a:defRPr>
            </a:lvl1pPr>
            <a:lvl2pPr marL="479988">
              <a:defRPr sz="2667">
                <a:solidFill>
                  <a:schemeClr val="tx1"/>
                </a:solidFill>
              </a:defRPr>
            </a:lvl2pPr>
            <a:lvl3pPr marL="719982">
              <a:defRPr sz="2667">
                <a:solidFill>
                  <a:schemeClr val="tx1"/>
                </a:solidFill>
              </a:defRPr>
            </a:lvl3pPr>
            <a:lvl4pPr marL="959976">
              <a:defRPr sz="2667">
                <a:solidFill>
                  <a:schemeClr val="tx1"/>
                </a:solidFill>
              </a:defRPr>
            </a:lvl4pPr>
            <a:lvl5pPr marL="1199970">
              <a:defRPr sz="26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BEFB1-45C7-4049-B073-B343CB1F5C4A}" type="slidenum">
              <a:rPr lang="en-AU" smtClean="0"/>
              <a:t>‹#›</a:t>
            </a:fld>
            <a:endParaRPr lang="en-AU" dirty="0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2/27/2017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0000" y="1440000"/>
            <a:ext cx="10560000" cy="120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000" y="2880000"/>
            <a:ext cx="10560000" cy="336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00000" y="6336000"/>
            <a:ext cx="1920000" cy="38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67">
                <a:solidFill>
                  <a:schemeClr val="tx1"/>
                </a:solidFill>
              </a:defRPr>
            </a:lvl1pPr>
          </a:lstStyle>
          <a:p>
            <a:fld id="{D1BBEFB1-45C7-4049-B073-B343CB1F5C4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520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4267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39994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479988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2pPr>
      <a:lvl3pPr marL="719982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959976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1199970" indent="-239994" algn="l" defTabSz="1219170" rtl="0" eaLnBrk="1" latinLnBrk="0" hangingPunct="1">
        <a:spcBef>
          <a:spcPts val="0"/>
        </a:spcBef>
        <a:spcAft>
          <a:spcPts val="80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#_Circle_Formula_Sequence: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ommons.wikimedia.org/wiki/File:Ariel_50_inch_High_Wheel_Bike.jpg?uselang=en-g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commons.wikimedia.org/wiki/File:High_wheeler.jpg?uselang=en-g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commons.wikimedia.org/wiki/File:OceanaGold_mining_truck_Macraes,_NZ.jpg?uselang=en-g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en.wikipedia.org/wiki/Dump_truck#Off-highway_dump_truc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www.facebook.com/JordanBiggieSteffens/photos/pb.1417549851795678.-2207520000.1462506331./1592170654333596/?type=3&amp;theat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facebook.com/JordanBiggieSteffens/photos/pb.1417549851795678.-2207520000.1462506331./1592170654333596/?type=3&amp;theater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facebook.com/JordanBiggieSteffens/photos/pb.1417549851795678.-2207520000.1462506331./1592170654333596/?type=3&amp;theater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facebook.com/JordanBiggieSteffens/photos/pb.1417549851795678.-2207520000.1462506331./1592170654333596/?type=3&amp;thea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en.wikipedia.org/wiki/Abraj_Al_Bai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6.png"/><Relationship Id="rId2" Type="http://schemas.openxmlformats.org/officeDocument/2006/relationships/hyperlink" Target="https://en.wikipedia.org/wiki/Abraj_Al_Bai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en.wikipedia.org/wiki/Venu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en.wikipedia.org/wiki/Venu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8.png"/><Relationship Id="rId2" Type="http://schemas.openxmlformats.org/officeDocument/2006/relationships/hyperlink" Target="https://en.wikipedia.org/wiki/Venu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0.png"/><Relationship Id="rId4" Type="http://schemas.openxmlformats.org/officeDocument/2006/relationships/image" Target="../media/image2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en.wikipedia.org/wiki/Venu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9.jpeg"/><Relationship Id="rId7" Type="http://schemas.openxmlformats.org/officeDocument/2006/relationships/image" Target="../media/image34.png"/><Relationship Id="rId2" Type="http://schemas.openxmlformats.org/officeDocument/2006/relationships/hyperlink" Target="https://en.wikipedia.org/wiki/Venu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commons.wikimedia.org/w/index.php?curid=47383540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/index.php?curid=4738354" TargetMode="External"/><Relationship Id="rId2" Type="http://schemas.openxmlformats.org/officeDocument/2006/relationships/hyperlink" Target="https://commons.wikimedia.org/wiki/File:London_Eye_Pod.jpg?uselang=en-gb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hyperlink" Target="https://commons.wikimedia.org/w/index.php?curid=4738354" TargetMode="External"/><Relationship Id="rId7" Type="http://schemas.openxmlformats.org/officeDocument/2006/relationships/image" Target="../media/image42.png"/><Relationship Id="rId2" Type="http://schemas.openxmlformats.org/officeDocument/2006/relationships/hyperlink" Target="https://commons.wikimedia.org/wiki/File:London_Eye_Pod.jpg?uselang=en-g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commons.wikimedia.org/w/index.php?curid=4738354" TargetMode="External"/><Relationship Id="rId7" Type="http://schemas.openxmlformats.org/officeDocument/2006/relationships/image" Target="../media/image44.png"/><Relationship Id="rId2" Type="http://schemas.openxmlformats.org/officeDocument/2006/relationships/hyperlink" Target="https://commons.wikimedia.org/wiki/File:London_Eye_Pod.jpg?uselang=en-g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hyperlink" Target="https://commons.wikimedia.org/wiki/File:MessradSuricata.jpg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://www.chescientific.com/edu/product_228.aspx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hyperlink" Target="http://www.chescientific.com/edu/product_228.aspx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36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dirty="0"/>
              <a:t>        the value of 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i="1" dirty="0"/>
              <a:t>Accurate Approximations</a:t>
            </a:r>
          </a:p>
        </p:txBody>
      </p:sp>
      <p:pic>
        <p:nvPicPr>
          <p:cNvPr id="4" name="Picture 3" descr="S:\Mathematics by Inquiry\Marketing\reSolve_Brand_Identity_CMY_RGB.jpg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68048"/>
            <a:ext cx="1819987" cy="6472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8610600" y="6015264"/>
            <a:ext cx="3581400" cy="842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200" i="1" dirty="0"/>
              <a:t>Ideal for use with </a:t>
            </a:r>
            <a:r>
              <a:rPr lang="en-AU" sz="1200" i="1" dirty="0" err="1"/>
              <a:t>reSolve</a:t>
            </a:r>
            <a:r>
              <a:rPr lang="en-AU" sz="1200" i="1" dirty="0"/>
              <a:t> Year 8 Circumference: Lesson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6904" y="5320320"/>
            <a:ext cx="715087" cy="694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344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What is Wrong with this Pi?</a:t>
            </a: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669" y="1674252"/>
            <a:ext cx="4535308" cy="4353061"/>
          </a:xfrm>
          <a:prstGeom prst="rect">
            <a:avLst/>
          </a:prstGeom>
          <a:noFill/>
          <a:ln>
            <a:noFill/>
          </a:ln>
          <a:ex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581104" y="2305318"/>
                <a:ext cx="4584879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sz="3200" dirty="0"/>
                  <a:t> </a:t>
                </a:r>
                <a:r>
                  <a:rPr lang="en-AU" sz="3200" dirty="0"/>
                  <a:t>= 3.14159265358979323846264</a:t>
                </a:r>
                <a:r>
                  <a:rPr lang="en-AU" sz="2400" dirty="0"/>
                  <a:t>…</a:t>
                </a:r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1104" y="2305318"/>
                <a:ext cx="4584879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3457" t="-4264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581104" y="4275786"/>
            <a:ext cx="3322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 </a:t>
            </a:r>
            <a:r>
              <a:rPr lang="en-AU" dirty="0"/>
              <a:t>5 and a 2 are stuck on the pie backwards)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713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Estimating around circles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5444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How this works…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95436"/>
            <a:ext cx="9720073" cy="4023360"/>
          </a:xfrm>
        </p:spPr>
        <p:txBody>
          <a:bodyPr>
            <a:noAutofit/>
          </a:bodyPr>
          <a:lstStyle/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200" dirty="0"/>
              <a:t>Hold up your symbol showing  </a:t>
            </a:r>
            <a:r>
              <a:rPr lang="en-AU" sz="2200" b="1" dirty="0">
                <a:solidFill>
                  <a:srgbClr val="FFC000"/>
                </a:solidFill>
              </a:rPr>
              <a:t>&gt;</a:t>
            </a:r>
            <a:r>
              <a:rPr lang="en-AU" sz="2200" dirty="0"/>
              <a:t> or </a:t>
            </a:r>
            <a:r>
              <a:rPr lang="en-AU" sz="2200" b="1" dirty="0">
                <a:solidFill>
                  <a:srgbClr val="FFC000"/>
                </a:solidFill>
              </a:rPr>
              <a:t>&lt;</a:t>
            </a:r>
            <a:r>
              <a:rPr lang="en-AU" sz="2200" dirty="0"/>
              <a:t>  to show if the particular property – circumference, diameter or radius – is greater than or less than the stated value.</a:t>
            </a:r>
          </a:p>
          <a:p>
            <a:pPr marL="982980" lvl="4" indent="-342900">
              <a:buFont typeface="Arial" panose="020B0604020202020204" pitchFamily="34" charset="0"/>
              <a:buChar char="•"/>
            </a:pPr>
            <a:r>
              <a:rPr lang="en-AU" sz="2200" dirty="0"/>
              <a:t>Don’t take too long making each decision; you are allowed to change your mind as you get more information with each slide!</a:t>
            </a:r>
          </a:p>
          <a:p>
            <a:pPr marL="982980" lvl="4" indent="-342900">
              <a:buFont typeface="Arial" panose="020B0604020202020204" pitchFamily="34" charset="0"/>
              <a:buChar char="•"/>
            </a:pPr>
            <a:r>
              <a:rPr lang="en-AU" sz="2200" dirty="0"/>
              <a:t>Eventually you will be given a measurement and you will need to use the </a:t>
            </a:r>
            <a:r>
              <a:rPr lang="el-GR" sz="22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AU" sz="2200" dirty="0"/>
              <a:t> button on your calculator to get the exact solution.</a:t>
            </a:r>
          </a:p>
          <a:p>
            <a:pPr marL="128016" lvl="1" indent="0">
              <a:buNone/>
            </a:pPr>
            <a:r>
              <a:rPr lang="en-AU" sz="2200" dirty="0"/>
              <a:t>Think about:</a:t>
            </a:r>
          </a:p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200" dirty="0"/>
              <a:t>What is a reasonable estimate?</a:t>
            </a:r>
          </a:p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200" dirty="0"/>
              <a:t>When does having more information help?</a:t>
            </a:r>
          </a:p>
          <a:p>
            <a:pPr marL="470916" lvl="1" indent="-342900">
              <a:buFont typeface="Arial" panose="020B0604020202020204" pitchFamily="34" charset="0"/>
              <a:buChar char="•"/>
            </a:pPr>
            <a:r>
              <a:rPr lang="en-AU" sz="2200" dirty="0"/>
              <a:t>How accurate can your answer reasonably be?</a:t>
            </a:r>
          </a:p>
        </p:txBody>
      </p:sp>
    </p:spTree>
    <p:extLst>
      <p:ext uri="{BB962C8B-B14F-4D97-AF65-F5344CB8AC3E}">
        <p14:creationId xmlns:p14="http://schemas.microsoft.com/office/powerpoint/2010/main" val="108786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/>
          </a:p>
          <a:p>
            <a:endParaRPr lang="en-AU" sz="1000" dirty="0"/>
          </a:p>
          <a:p>
            <a:r>
              <a:rPr lang="en-AU" sz="12800" dirty="0" smtClean="0"/>
              <a:t>the </a:t>
            </a:r>
            <a:r>
              <a:rPr lang="en-AU" sz="12800" dirty="0"/>
              <a:t>large wheel of a</a:t>
            </a:r>
          </a:p>
          <a:p>
            <a:r>
              <a:rPr lang="en-AU" sz="12800" dirty="0"/>
              <a:t>penny-farthing bicycle</a:t>
            </a:r>
          </a:p>
          <a:p>
            <a:r>
              <a:rPr lang="en-AU" sz="12800" dirty="0"/>
              <a:t>more than, or less than,</a:t>
            </a:r>
          </a:p>
          <a:p>
            <a:r>
              <a:rPr lang="en-AU" sz="12800" dirty="0"/>
              <a:t>5 metres?</a:t>
            </a:r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r>
              <a:rPr lang="en-AU" sz="1000" dirty="0"/>
              <a:t> </a:t>
            </a:r>
          </a:p>
          <a:p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				</a:t>
            </a:r>
            <a:endParaRPr lang="en-AU" sz="3400" dirty="0"/>
          </a:p>
        </p:txBody>
      </p:sp>
    </p:spTree>
    <p:extLst>
      <p:ext uri="{BB962C8B-B14F-4D97-AF65-F5344CB8AC3E}">
        <p14:creationId xmlns:p14="http://schemas.microsoft.com/office/powerpoint/2010/main" val="174754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/>
          </a:p>
          <a:p>
            <a:endParaRPr lang="en-AU" sz="1000" dirty="0"/>
          </a:p>
          <a:p>
            <a:r>
              <a:rPr lang="en-AU" sz="12800" dirty="0" smtClean="0"/>
              <a:t>the </a:t>
            </a:r>
            <a:r>
              <a:rPr lang="en-AU" sz="12800" dirty="0"/>
              <a:t>large wheel of a</a:t>
            </a:r>
          </a:p>
          <a:p>
            <a:r>
              <a:rPr lang="en-AU" sz="12800" dirty="0"/>
              <a:t>penny-farthing bicycle</a:t>
            </a:r>
          </a:p>
          <a:p>
            <a:r>
              <a:rPr lang="en-AU" sz="12800" dirty="0"/>
              <a:t>more than, or less than,</a:t>
            </a:r>
          </a:p>
          <a:p>
            <a:r>
              <a:rPr lang="en-AU" sz="12800" dirty="0"/>
              <a:t>5 metres?</a:t>
            </a:r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				</a:t>
            </a:r>
            <a:r>
              <a:rPr lang="en-AU" sz="4000" dirty="0"/>
              <a:t>Image taken from </a:t>
            </a:r>
            <a:r>
              <a:rPr lang="en-AU" sz="4000" dirty="0">
                <a:hlinkClick r:id="rId2"/>
              </a:rPr>
              <a:t>https://commons.wikimedia.org/wiki/File:Ariel_50_inch_High_Wheel_Bike.jpg?uselang=en-gb</a:t>
            </a:r>
            <a:r>
              <a:rPr lang="en-AU" sz="4000" dirty="0"/>
              <a:t> </a:t>
            </a:r>
            <a:endParaRPr lang="en-AU" sz="3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581" y="2084832"/>
            <a:ext cx="4889619" cy="365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88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/>
          </a:p>
          <a:p>
            <a:endParaRPr lang="en-AU" sz="800" dirty="0"/>
          </a:p>
          <a:p>
            <a:r>
              <a:rPr lang="en-AU" sz="12800" dirty="0" smtClean="0"/>
              <a:t>the </a:t>
            </a:r>
            <a:r>
              <a:rPr lang="en-AU" sz="12800" dirty="0"/>
              <a:t>large wheel of a</a:t>
            </a:r>
          </a:p>
          <a:p>
            <a:r>
              <a:rPr lang="en-AU" sz="12800" dirty="0"/>
              <a:t>penny-farthing bicycle</a:t>
            </a:r>
          </a:p>
          <a:p>
            <a:r>
              <a:rPr lang="en-AU" sz="12800" dirty="0"/>
              <a:t>more than, or less than,</a:t>
            </a:r>
          </a:p>
          <a:p>
            <a:r>
              <a:rPr lang="en-AU" sz="12800" dirty="0"/>
              <a:t>5 metres?</a:t>
            </a:r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endParaRPr lang="en-AU" sz="1000" dirty="0"/>
          </a:p>
          <a:p>
            <a:pPr marL="0" indent="0">
              <a:buNone/>
            </a:pPr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				</a:t>
            </a:r>
            <a:r>
              <a:rPr lang="en-AU" sz="4000" dirty="0"/>
              <a:t>Image taken from </a:t>
            </a:r>
            <a:r>
              <a:rPr lang="en-AU" sz="4000" dirty="0">
                <a:hlinkClick r:id="rId2"/>
              </a:rPr>
              <a:t>https://commons.wikimedia.org/wiki/File:High_wheeler.jpg?usel</a:t>
            </a:r>
            <a:r>
              <a:rPr lang="en-AU" sz="3400" dirty="0">
                <a:hlinkClick r:id="rId2"/>
              </a:rPr>
              <a:t>ang=en-gb</a:t>
            </a:r>
            <a:r>
              <a:rPr lang="en-AU" sz="3400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534" y="2084832"/>
            <a:ext cx="3611666" cy="361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9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/>
          </a:p>
          <a:p>
            <a:endParaRPr lang="en-AU" sz="1000" dirty="0"/>
          </a:p>
          <a:p>
            <a:r>
              <a:rPr lang="en-AU" sz="12800" dirty="0" smtClean="0"/>
              <a:t>the </a:t>
            </a:r>
            <a:r>
              <a:rPr lang="en-AU" sz="12800" dirty="0"/>
              <a:t>large wheel of a</a:t>
            </a:r>
          </a:p>
          <a:p>
            <a:r>
              <a:rPr lang="en-AU" sz="12800" dirty="0"/>
              <a:t>penny-farthing bicycle</a:t>
            </a:r>
          </a:p>
          <a:p>
            <a:r>
              <a:rPr lang="en-AU" sz="12800" dirty="0"/>
              <a:t>more than, or less than,</a:t>
            </a:r>
          </a:p>
          <a:p>
            <a:r>
              <a:rPr lang="en-AU" sz="12800" dirty="0"/>
              <a:t>5 </a:t>
            </a:r>
            <a:r>
              <a:rPr lang="en-AU" sz="12800" dirty="0" smtClean="0"/>
              <a:t>metres . . .</a:t>
            </a:r>
          </a:p>
          <a:p>
            <a:endParaRPr lang="en-AU" sz="3600" dirty="0"/>
          </a:p>
          <a:p>
            <a:r>
              <a:rPr lang="en-AU" sz="12800" dirty="0" smtClean="0"/>
              <a:t>when </a:t>
            </a:r>
            <a:r>
              <a:rPr lang="en-AU" sz="12800" dirty="0"/>
              <a:t>the large wheel</a:t>
            </a:r>
          </a:p>
          <a:p>
            <a:r>
              <a:rPr lang="en-AU" sz="12800" dirty="0"/>
              <a:t>diameter is </a:t>
            </a:r>
            <a:r>
              <a:rPr lang="en-AU" sz="12800" dirty="0" smtClean="0"/>
              <a:t>1.5m ?</a:t>
            </a:r>
            <a:endParaRPr lang="en-AU" sz="12800" dirty="0"/>
          </a:p>
          <a:p>
            <a:pPr marL="0" indent="0">
              <a:buNone/>
            </a:pPr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				</a:t>
            </a:r>
            <a:endParaRPr lang="en-AU"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255668" y="2425965"/>
                <a:ext cx="3888259" cy="3323987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×1.5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4.7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AU" sz="2800" b="0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800" b="0" dirty="0">
                    <a:ea typeface="Cambria Math" panose="02040503050406030204" pitchFamily="18" charset="0"/>
                  </a:rPr>
                  <a:t> one revolution is </a:t>
                </a:r>
                <a:r>
                  <a:rPr lang="en-AU" sz="2800" b="1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&lt;</a:t>
                </a:r>
                <a:r>
                  <a:rPr lang="en-AU" sz="2800" b="0" dirty="0">
                    <a:ea typeface="Cambria Math" panose="02040503050406030204" pitchFamily="18" charset="0"/>
                  </a:rPr>
                  <a:t> 5m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668" y="2425965"/>
                <a:ext cx="3888259" cy="3323987"/>
              </a:xfrm>
              <a:prstGeom prst="rect">
                <a:avLst/>
              </a:prstGeom>
              <a:blipFill rotWithShape="1">
                <a:blip r:embed="rId2"/>
                <a:stretch>
                  <a:fillRect r="-2038" b="-2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26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diameter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endParaRPr lang="en-AU" sz="1000" dirty="0"/>
          </a:p>
          <a:p>
            <a:endParaRPr lang="en-AU" sz="1000" dirty="0"/>
          </a:p>
          <a:p>
            <a:r>
              <a:rPr lang="en-AU" sz="3200" dirty="0" smtClean="0"/>
              <a:t>the </a:t>
            </a:r>
            <a:r>
              <a:rPr lang="en-AU" sz="3200" dirty="0"/>
              <a:t>tyre from a</a:t>
            </a:r>
          </a:p>
          <a:p>
            <a:r>
              <a:rPr lang="en-AU" sz="3200" dirty="0"/>
              <a:t>mining dump truck</a:t>
            </a:r>
          </a:p>
          <a:p>
            <a:r>
              <a:rPr lang="en-AU" sz="3200" dirty="0"/>
              <a:t>more than, or less than,</a:t>
            </a:r>
          </a:p>
          <a:p>
            <a:r>
              <a:rPr lang="en-AU" sz="3200" dirty="0"/>
              <a:t>2.5 metres?</a:t>
            </a:r>
          </a:p>
          <a:p>
            <a:pPr marL="0" indent="0" algn="r">
              <a:buNone/>
            </a:pPr>
            <a:endParaRPr lang="en-AU" sz="1000" dirty="0"/>
          </a:p>
          <a:p>
            <a:pPr marL="0" indent="0" algn="r">
              <a:buNone/>
            </a:pPr>
            <a:endParaRPr lang="en-AU" sz="1000" dirty="0"/>
          </a:p>
          <a:p>
            <a:pPr marL="0" indent="0" algn="r">
              <a:buNone/>
            </a:pPr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4717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diameter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endParaRPr lang="en-AU" sz="1000" dirty="0"/>
          </a:p>
          <a:p>
            <a:endParaRPr lang="en-AU" sz="1000" dirty="0"/>
          </a:p>
          <a:p>
            <a:r>
              <a:rPr lang="en-AU" sz="3200" dirty="0" smtClean="0"/>
              <a:t>the </a:t>
            </a:r>
            <a:r>
              <a:rPr lang="en-AU" sz="3200" dirty="0"/>
              <a:t>tyre from a</a:t>
            </a:r>
          </a:p>
          <a:p>
            <a:r>
              <a:rPr lang="en-AU" sz="3200" dirty="0"/>
              <a:t>mining dump truck</a:t>
            </a:r>
          </a:p>
          <a:p>
            <a:r>
              <a:rPr lang="en-AU" sz="3200" dirty="0"/>
              <a:t>more than, or less than,</a:t>
            </a:r>
          </a:p>
          <a:p>
            <a:r>
              <a:rPr lang="en-AU" sz="3200" dirty="0"/>
              <a:t>2.5 metres?</a:t>
            </a:r>
          </a:p>
          <a:p>
            <a:pPr marL="0" indent="0" algn="r">
              <a:buNone/>
            </a:pPr>
            <a:endParaRPr lang="en-AU" sz="1000" dirty="0"/>
          </a:p>
          <a:p>
            <a:pPr marL="0" indent="0" algn="r">
              <a:buNone/>
            </a:pPr>
            <a:endParaRPr lang="en-AU" sz="1000" dirty="0"/>
          </a:p>
          <a:p>
            <a:pPr marL="0" indent="0" algn="r">
              <a:buNone/>
            </a:pPr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Image taken from </a:t>
            </a:r>
            <a:r>
              <a:rPr lang="en-AU" sz="1000" dirty="0">
                <a:hlinkClick r:id="rId2"/>
              </a:rPr>
              <a:t>https://commons.wikimedia.org/wiki/File:OceanaGold_mining_truck_Macraes,_NZ.jpg?uselang=en-gb</a:t>
            </a:r>
            <a:r>
              <a:rPr lang="en-AU" sz="1000" dirty="0"/>
              <a:t>	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398" y="2084832"/>
            <a:ext cx="5408802" cy="346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diameter of…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 fontScale="25000" lnSpcReduction="20000"/>
          </a:bodyPr>
          <a:lstStyle/>
          <a:p>
            <a:endParaRPr lang="en-AU" sz="1000" dirty="0"/>
          </a:p>
          <a:p>
            <a:endParaRPr lang="en-AU" sz="1000" dirty="0"/>
          </a:p>
          <a:p>
            <a:r>
              <a:rPr lang="en-AU" sz="12800" dirty="0" smtClean="0"/>
              <a:t>the </a:t>
            </a:r>
            <a:r>
              <a:rPr lang="en-AU" sz="12800" dirty="0"/>
              <a:t>tyre from a</a:t>
            </a:r>
          </a:p>
          <a:p>
            <a:r>
              <a:rPr lang="en-AU" sz="12800" dirty="0"/>
              <a:t>mining dump truck</a:t>
            </a:r>
          </a:p>
          <a:p>
            <a:r>
              <a:rPr lang="en-AU" sz="12800" dirty="0"/>
              <a:t>more than, or less than,</a:t>
            </a:r>
          </a:p>
          <a:p>
            <a:r>
              <a:rPr lang="en-AU" sz="12800" dirty="0"/>
              <a:t>2.5 metres…</a:t>
            </a:r>
          </a:p>
          <a:p>
            <a:endParaRPr lang="en-AU" sz="4400" dirty="0"/>
          </a:p>
          <a:p>
            <a:r>
              <a:rPr lang="en-AU" sz="12800" dirty="0" smtClean="0"/>
              <a:t>if </a:t>
            </a:r>
            <a:r>
              <a:rPr lang="en-AU" sz="12800" dirty="0"/>
              <a:t>one revolution of the</a:t>
            </a:r>
          </a:p>
          <a:p>
            <a:r>
              <a:rPr lang="en-AU" sz="12800" dirty="0"/>
              <a:t>wheel is 7.40 m?</a:t>
            </a:r>
          </a:p>
          <a:p>
            <a:pPr marL="0" indent="0" algn="r">
              <a:buNone/>
            </a:pPr>
            <a:r>
              <a:rPr lang="en-AU" sz="10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34540" y="2016531"/>
                <a:ext cx="3907514" cy="4187493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800" b="0" dirty="0"/>
                  <a:t>		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AU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800" b="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</m:t>
                    </m:r>
                    <m:r>
                      <a:rPr lang="en-US" sz="2800" b="0" i="1" smtClean="0">
                        <a:latin typeface="Cambria Math"/>
                        <a:ea typeface="Cambria Math" panose="02040503050406030204" pitchFamily="18" charset="0"/>
                      </a:rPr>
                      <m:t>4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0=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AU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  		 </a:t>
                </a:r>
              </a:p>
              <a:p>
                <a:pPr>
                  <a:lnSpc>
                    <a:spcPct val="150000"/>
                  </a:lnSpc>
                </a:pPr>
                <a:r>
                  <a:rPr lang="en-AU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dirty="0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7.</m:t>
                        </m:r>
                        <m:r>
                          <a:rPr lang="en-US" sz="2800" b="0" i="1" dirty="0" smtClean="0">
                            <a:latin typeface="Cambria Math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AU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AU" sz="2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800" b="0" dirty="0"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</m:t>
                    </m:r>
                    <m:r>
                      <a:rPr lang="en-AU" sz="2800" b="0" i="1" smtClean="0">
                        <a:latin typeface="Cambria Math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800" b="0" i="1" smtClean="0">
                        <a:latin typeface="Cambria Math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800" dirty="0">
                    <a:ea typeface="Cambria Math" panose="02040503050406030204" pitchFamily="18" charset="0"/>
                  </a:rPr>
                  <a:t> tyre diameter is </a:t>
                </a:r>
                <a:r>
                  <a:rPr lang="en-AU" sz="2800" b="1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&lt;</a:t>
                </a:r>
                <a:r>
                  <a:rPr lang="en-AU" sz="2800" dirty="0">
                    <a:ea typeface="Cambria Math" panose="02040503050406030204" pitchFamily="18" charset="0"/>
                  </a:rPr>
                  <a:t> 2.5m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540" y="2016531"/>
                <a:ext cx="3907514" cy="4187493"/>
              </a:xfrm>
              <a:prstGeom prst="rect">
                <a:avLst/>
              </a:prstGeom>
              <a:blipFill rotWithShape="1">
                <a:blip r:embed="rId2"/>
                <a:stretch>
                  <a:fillRect l="-3120" b="-3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95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how tall is the driver if…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endParaRPr lang="en-AU" sz="1000" dirty="0"/>
          </a:p>
          <a:p>
            <a:r>
              <a:rPr lang="en-AU" sz="2800" dirty="0" smtClean="0"/>
              <a:t>the </a:t>
            </a:r>
            <a:r>
              <a:rPr lang="en-AU" sz="2800" dirty="0"/>
              <a:t>tyre diameter is </a:t>
            </a:r>
            <a:r>
              <a:rPr lang="en-AU" sz="2800" dirty="0" smtClean="0"/>
              <a:t>2.36m ?</a:t>
            </a:r>
            <a:endParaRPr lang="en-AU" sz="28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pPr marL="0" indent="0" algn="r">
              <a:buNone/>
            </a:pPr>
            <a:r>
              <a:rPr lang="en-AU" sz="1000" dirty="0"/>
              <a:t>		                  Image taken from </a:t>
            </a:r>
            <a:r>
              <a:rPr lang="en-AU" sz="1000" dirty="0">
                <a:hlinkClick r:id="rId2"/>
              </a:rPr>
              <a:t>https://en.wikipedia.org/wiki/Dump_truck#Off-highway_dump_trucks</a:t>
            </a:r>
            <a:r>
              <a:rPr lang="en-AU" sz="1000" dirty="0"/>
              <a:t> 	</a:t>
            </a:r>
          </a:p>
        </p:txBody>
      </p:sp>
      <p:pic>
        <p:nvPicPr>
          <p:cNvPr id="7" name="Picture 2" descr="https://upload.wikimedia.org/wikipedia/commons/thumb/3/39/200_Ton_Truck.JPG/280px-200_Ton_Tru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0290" y="2286000"/>
            <a:ext cx="5173910" cy="3455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90273" y="3175303"/>
                <a:ext cx="4599575" cy="258301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800" dirty="0"/>
                  <a:t>   </a:t>
                </a:r>
                <a:r>
                  <a:rPr lang="en-AU" sz="2800" dirty="0">
                    <a:ea typeface="Cambria Math" panose="02040503050406030204" pitchFamily="18" charset="0"/>
                  </a:rPr>
                  <a:t>Driver height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AU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n-AU" sz="2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AU" sz="2800" dirty="0">
                    <a:ea typeface="Cambria Math" panose="02040503050406030204" pitchFamily="18" charset="0"/>
                  </a:rPr>
                  <a:t>   Driver height</a:t>
                </a:r>
                <a14:m>
                  <m:oMath xmlns:m="http://schemas.openxmlformats.org/officeDocument/2006/math">
                    <m:r>
                      <a:rPr lang="en-AU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≈</m:t>
                    </m:r>
                    <m:f>
                      <m:fPr>
                        <m:ctrlPr>
                          <a:rPr lang="en-AU" sz="2800" i="1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800" dirty="0">
                    <a:ea typeface="Cambria Math" panose="02040503050406030204" pitchFamily="18" charset="0"/>
                  </a:rPr>
                  <a:t>2.36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</m:oMath>
                </a14:m>
                <a:r>
                  <a:rPr lang="en-AU" sz="2800" dirty="0">
                    <a:ea typeface="Cambria Math" panose="02040503050406030204" pitchFamily="18" charset="0"/>
                  </a:rPr>
                  <a:t>Driver height</a:t>
                </a:r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  <m:r>
                      <a:rPr lang="en-AU" sz="2800" b="0" i="1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AU" sz="2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273" y="3175303"/>
                <a:ext cx="4599575" cy="2583015"/>
              </a:xfrm>
              <a:prstGeom prst="rect">
                <a:avLst/>
              </a:prstGeom>
              <a:blipFill rotWithShape="1">
                <a:blip r:embed="rId4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1608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</a:t>
            </a:r>
            <a:r>
              <a:rPr lang="en-AU" dirty="0" err="1"/>
              <a:t>armspan</a:t>
            </a:r>
            <a:r>
              <a:rPr lang="en-AU" dirty="0"/>
              <a:t>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sz="1000" dirty="0"/>
          </a:p>
          <a:p>
            <a:r>
              <a:rPr lang="en-AU" sz="3200" dirty="0"/>
              <a:t>2016 Australian</a:t>
            </a:r>
          </a:p>
          <a:p>
            <a:r>
              <a:rPr lang="en-AU" sz="3200" dirty="0"/>
              <a:t>Stone Lifting record holder</a:t>
            </a:r>
          </a:p>
          <a:p>
            <a:r>
              <a:rPr lang="en-AU" sz="3200" dirty="0"/>
              <a:t>Jordan “Biggie” Steffens</a:t>
            </a:r>
          </a:p>
          <a:p>
            <a:r>
              <a:rPr lang="en-AU" sz="3200" dirty="0"/>
              <a:t>more than, or less than</a:t>
            </a:r>
          </a:p>
          <a:p>
            <a:r>
              <a:rPr lang="en-AU" sz="3200" dirty="0"/>
              <a:t>185 cm?</a:t>
            </a:r>
          </a:p>
          <a:p>
            <a:endParaRPr lang="en-AU" sz="10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6682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</a:t>
            </a:r>
            <a:r>
              <a:rPr lang="en-AU" dirty="0" err="1"/>
              <a:t>armspan</a:t>
            </a:r>
            <a:r>
              <a:rPr lang="en-AU" dirty="0"/>
              <a:t>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AU" sz="1000" dirty="0"/>
          </a:p>
          <a:p>
            <a:r>
              <a:rPr lang="en-AU" sz="3200" dirty="0"/>
              <a:t>2016 Australian</a:t>
            </a:r>
          </a:p>
          <a:p>
            <a:r>
              <a:rPr lang="en-AU" sz="3200" dirty="0"/>
              <a:t>Stone Lifting record holder</a:t>
            </a:r>
          </a:p>
          <a:p>
            <a:r>
              <a:rPr lang="en-AU" sz="3200" dirty="0"/>
              <a:t>Jordan “Biggie” Steffens</a:t>
            </a:r>
          </a:p>
          <a:p>
            <a:r>
              <a:rPr lang="en-AU" sz="3200" dirty="0"/>
              <a:t>more than, or less than</a:t>
            </a:r>
          </a:p>
          <a:p>
            <a:r>
              <a:rPr lang="en-AU" sz="3200" dirty="0"/>
              <a:t>185 cm?</a:t>
            </a:r>
          </a:p>
          <a:p>
            <a:endParaRPr lang="en-AU" sz="1000" dirty="0">
              <a:hlinkClick r:id="rId2"/>
            </a:endParaRPr>
          </a:p>
          <a:p>
            <a:pPr algn="r"/>
            <a:endParaRPr lang="en-AU" sz="1000" dirty="0">
              <a:hlinkClick r:id="rId2"/>
            </a:endParaRPr>
          </a:p>
          <a:p>
            <a:pPr algn="r"/>
            <a:r>
              <a:rPr lang="en-AU" sz="1000" dirty="0">
                <a:hlinkClick r:id="rId2"/>
              </a:rPr>
              <a:t>https://www.facebook.com/JordanBiggieSteffens/photos/pb.1417549851795678.-2207520000.1462506331./1592170654333596/?type=3&amp;theater</a:t>
            </a:r>
            <a:r>
              <a:rPr lang="en-AU" sz="1000" dirty="0"/>
              <a:t> </a:t>
            </a:r>
          </a:p>
          <a:p>
            <a:endParaRPr lang="en-AU" dirty="0"/>
          </a:p>
        </p:txBody>
      </p:sp>
      <p:pic>
        <p:nvPicPr>
          <p:cNvPr id="4" name="Picture 2" descr="https://scontent.xx.fbcdn.net/v/t1.0-9/11119007_1592170654333596_2100319891956875773_n.jpg?oh=b01486feacf62b20fc82a31b79665fdd&amp;oe=57E09E5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697" y="815875"/>
            <a:ext cx="3387503" cy="5152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69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</a:t>
            </a:r>
            <a:r>
              <a:rPr lang="en-AU" dirty="0" err="1"/>
              <a:t>armspan</a:t>
            </a:r>
            <a:r>
              <a:rPr lang="en-AU" dirty="0"/>
              <a:t>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sz="1000" dirty="0"/>
          </a:p>
          <a:p>
            <a:r>
              <a:rPr lang="en-AU" sz="3200" dirty="0"/>
              <a:t>2016 Australian</a:t>
            </a:r>
          </a:p>
          <a:p>
            <a:r>
              <a:rPr lang="en-AU" sz="3200" dirty="0"/>
              <a:t>Stone Lifting record holder</a:t>
            </a:r>
          </a:p>
          <a:p>
            <a:r>
              <a:rPr lang="en-AU" sz="3200" dirty="0"/>
              <a:t>Jordan “Biggie” Steffens</a:t>
            </a:r>
          </a:p>
          <a:p>
            <a:r>
              <a:rPr lang="en-AU" sz="3200" dirty="0"/>
              <a:t>more than, or less than</a:t>
            </a:r>
          </a:p>
          <a:p>
            <a:r>
              <a:rPr lang="en-AU" sz="3200" dirty="0"/>
              <a:t>185 cm?</a:t>
            </a:r>
          </a:p>
          <a:p>
            <a:endParaRPr lang="en-AU" sz="1000" dirty="0">
              <a:hlinkClick r:id="rId2"/>
            </a:endParaRPr>
          </a:p>
          <a:p>
            <a:endParaRPr lang="en-AU" dirty="0"/>
          </a:p>
        </p:txBody>
      </p:sp>
      <p:pic>
        <p:nvPicPr>
          <p:cNvPr id="5" name="Picture 4" descr="https://fbcdn-sphotos-a-a.akamaihd.net/hphotos-ak-xtl1/v/t1.0-9/11125277_1598231667060828_4669246647462330196_n.jpg?oh=fe1941b55320965e92118d43200a2f8c&amp;oe=57E466F3&amp;__gda__=1471207872_683277614bb0e42510d8d035caeeb62b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5" b="17724"/>
          <a:stretch/>
        </p:blipFill>
        <p:spPr bwMode="auto">
          <a:xfrm>
            <a:off x="5813946" y="2252257"/>
            <a:ext cx="5316619" cy="340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3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</a:t>
            </a:r>
            <a:r>
              <a:rPr lang="en-AU" dirty="0" err="1"/>
              <a:t>armspan</a:t>
            </a:r>
            <a:r>
              <a:rPr lang="en-AU" dirty="0"/>
              <a:t>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AU" sz="1000" dirty="0"/>
          </a:p>
          <a:p>
            <a:r>
              <a:rPr lang="en-AU" sz="3200" dirty="0"/>
              <a:t>2016 Australian</a:t>
            </a:r>
          </a:p>
          <a:p>
            <a:r>
              <a:rPr lang="en-AU" sz="3200" dirty="0"/>
              <a:t>Stone Lifting record holder</a:t>
            </a:r>
          </a:p>
          <a:p>
            <a:r>
              <a:rPr lang="en-AU" sz="3200" dirty="0"/>
              <a:t>Jordan “Biggie” Steffens</a:t>
            </a:r>
          </a:p>
          <a:p>
            <a:r>
              <a:rPr lang="en-AU" sz="3200" dirty="0"/>
              <a:t>more than, or less than</a:t>
            </a:r>
          </a:p>
          <a:p>
            <a:r>
              <a:rPr lang="en-AU" sz="3200" dirty="0" smtClean="0"/>
              <a:t>185cm . . .</a:t>
            </a:r>
            <a:endParaRPr lang="en-AU" sz="3200" dirty="0"/>
          </a:p>
          <a:p>
            <a:endParaRPr lang="en-AU" sz="1000" dirty="0">
              <a:hlinkClick r:id="rId2"/>
            </a:endParaRPr>
          </a:p>
          <a:p>
            <a:r>
              <a:rPr lang="en-AU" sz="2800" dirty="0" smtClean="0"/>
              <a:t>given </a:t>
            </a:r>
            <a:r>
              <a:rPr lang="en-AU" sz="2800" dirty="0"/>
              <a:t>the 165kg stone* he is lifting has a diameter of </a:t>
            </a:r>
            <a:r>
              <a:rPr lang="en-AU" sz="2800" dirty="0" smtClean="0"/>
              <a:t>50cm ?</a:t>
            </a:r>
            <a:endParaRPr lang="en-AU" sz="2800" dirty="0"/>
          </a:p>
        </p:txBody>
      </p:sp>
      <p:pic>
        <p:nvPicPr>
          <p:cNvPr id="5" name="Picture 4" descr="https://fbcdn-sphotos-a-a.akamaihd.net/hphotos-ak-xtl1/v/t1.0-9/11125277_1598231667060828_4669246647462330196_n.jpg?oh=fe1941b55320965e92118d43200a2f8c&amp;oe=57E466F3&amp;__gda__=1471207872_683277614bb0e42510d8d035caeeb62b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5" b="17724"/>
          <a:stretch/>
        </p:blipFill>
        <p:spPr bwMode="auto">
          <a:xfrm>
            <a:off x="5848737" y="2221310"/>
            <a:ext cx="5154769" cy="3298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09322" y="6187362"/>
            <a:ext cx="6788584" cy="50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000" i="1" dirty="0">
                <a:ea typeface="Cambria Math" panose="02040503050406030204" pitchFamily="18" charset="0"/>
              </a:rPr>
              <a:t>*His 2016 Australian Record lift was a 213.0kg stone</a:t>
            </a:r>
            <a:endParaRPr lang="en-AU" sz="20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987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</a:t>
            </a:r>
            <a:r>
              <a:rPr lang="en-AU" dirty="0" err="1"/>
              <a:t>armspan</a:t>
            </a:r>
            <a:r>
              <a:rPr lang="en-AU" dirty="0"/>
              <a:t>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2800" dirty="0"/>
              <a:t>2016 Australian</a:t>
            </a:r>
          </a:p>
          <a:p>
            <a:r>
              <a:rPr lang="en-AU" sz="2800" dirty="0"/>
              <a:t>Stone Lifting record holder</a:t>
            </a:r>
          </a:p>
          <a:p>
            <a:r>
              <a:rPr lang="en-AU" sz="2800" dirty="0"/>
              <a:t>Jordan “Biggie” Steffens</a:t>
            </a:r>
          </a:p>
          <a:p>
            <a:r>
              <a:rPr lang="en-AU" sz="2800" dirty="0"/>
              <a:t>more than, or less than</a:t>
            </a:r>
          </a:p>
          <a:p>
            <a:r>
              <a:rPr lang="en-AU" sz="2800" dirty="0" smtClean="0"/>
              <a:t>185cm . . .</a:t>
            </a:r>
          </a:p>
          <a:p>
            <a:endParaRPr lang="en-AU" sz="1000" dirty="0">
              <a:hlinkClick r:id="rId2"/>
            </a:endParaRPr>
          </a:p>
          <a:p>
            <a:r>
              <a:rPr lang="en-AU" sz="2800" dirty="0" smtClean="0"/>
              <a:t>given </a:t>
            </a:r>
            <a:r>
              <a:rPr lang="en-AU" sz="2800" dirty="0"/>
              <a:t>the 165kg stone* he is lifting has a diameter of 50cm ?</a:t>
            </a:r>
          </a:p>
          <a:p>
            <a:endParaRPr lang="en-AU" sz="2800" dirty="0"/>
          </a:p>
        </p:txBody>
      </p:sp>
      <p:pic>
        <p:nvPicPr>
          <p:cNvPr id="5" name="Picture 4" descr="https://fbcdn-sphotos-a-a.akamaihd.net/hphotos-ak-xtl1/v/t1.0-9/11125277_1598231667060828_4669246647462330196_n.jpg?oh=fe1941b55320965e92118d43200a2f8c&amp;oe=57E466F3&amp;__gda__=1471207872_683277614bb0e42510d8d035caeeb62b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5" b="17724"/>
          <a:stretch/>
        </p:blipFill>
        <p:spPr bwMode="auto">
          <a:xfrm>
            <a:off x="5718412" y="2299474"/>
            <a:ext cx="5025788" cy="321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71522" y="2498874"/>
                <a:ext cx="3512590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𝑎𝑟𝑚𝑠𝑝𝑎𝑛</m:t>
                    </m:r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522" y="2498874"/>
                <a:ext cx="3512590" cy="73866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0641648" y="2539605"/>
            <a:ext cx="1243914" cy="65870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800" i="1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160cm</a:t>
            </a:r>
            <a:endParaRPr lang="en-AU" sz="28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7224765" y="268149"/>
                <a:ext cx="4742822" cy="203132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algn="ctr" defTabSz="414338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stone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circumference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𝑑</m:t>
                      </m:r>
                    </m:oMath>
                  </m:oMathPara>
                </a14:m>
                <a:endParaRPr lang="en-AU" sz="2800" b="0" i="1" dirty="0">
                  <a:latin typeface="Cambria Math"/>
                  <a:ea typeface="Cambria Math"/>
                </a:endParaRPr>
              </a:p>
              <a:p>
                <a:pPr algn="r" defTabSz="454025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2800" i="1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AU" sz="28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 50</a:t>
                </a:r>
                <a:br>
                  <a:rPr lang="en-AU" sz="28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sz="2800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157cm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765" y="268149"/>
                <a:ext cx="4742822" cy="2031325"/>
              </a:xfrm>
              <a:prstGeom prst="rect">
                <a:avLst/>
              </a:prstGeom>
              <a:blipFill rotWithShape="0">
                <a:blip r:embed="rId5"/>
                <a:stretch>
                  <a:fillRect r="-2699" b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09322" y="6187362"/>
            <a:ext cx="6788584" cy="50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AU" sz="2000" i="1" dirty="0">
                <a:ea typeface="Cambria Math" panose="02040503050406030204" pitchFamily="18" charset="0"/>
              </a:rPr>
              <a:t>*His 2016 Australian Record lift was a 213.0kg stone</a:t>
            </a:r>
            <a:endParaRPr lang="en-AU" sz="2000" b="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471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Does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 smtClean="0"/>
              <a:t>tip </a:t>
            </a:r>
            <a:r>
              <a:rPr lang="en-AU" sz="3200" dirty="0"/>
              <a:t>of the minute hand</a:t>
            </a:r>
          </a:p>
          <a:p>
            <a:r>
              <a:rPr lang="en-AU" sz="3200" dirty="0"/>
              <a:t>of a “standard” wall clock</a:t>
            </a:r>
          </a:p>
          <a:p>
            <a:r>
              <a:rPr lang="en-AU" sz="3200" dirty="0"/>
              <a:t>travel more than, or less than</a:t>
            </a:r>
          </a:p>
          <a:p>
            <a:r>
              <a:rPr lang="en-AU" sz="3200" dirty="0"/>
              <a:t>1 metre in one revolution?</a:t>
            </a:r>
          </a:p>
          <a:p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17872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Does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 smtClean="0"/>
              <a:t>tip </a:t>
            </a:r>
            <a:r>
              <a:rPr lang="en-AU" sz="3200" dirty="0"/>
              <a:t>of the minute hand</a:t>
            </a:r>
          </a:p>
          <a:p>
            <a:r>
              <a:rPr lang="en-AU" sz="3200" dirty="0"/>
              <a:t>of a “standard” wall clock</a:t>
            </a:r>
          </a:p>
          <a:p>
            <a:r>
              <a:rPr lang="en-AU" sz="3200" dirty="0"/>
              <a:t>travel more than, or less than</a:t>
            </a:r>
          </a:p>
          <a:p>
            <a:r>
              <a:rPr lang="en-AU" sz="3200" dirty="0"/>
              <a:t>1 metre in one revolution?</a:t>
            </a:r>
          </a:p>
          <a:p>
            <a:endParaRPr lang="en-AU" sz="1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14" t="8812" r="17490" b="6271"/>
          <a:stretch/>
        </p:blipFill>
        <p:spPr>
          <a:xfrm rot="5400000">
            <a:off x="6728561" y="1205985"/>
            <a:ext cx="4134131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99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Does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 smtClean="0"/>
              <a:t>tip </a:t>
            </a:r>
            <a:r>
              <a:rPr lang="en-AU" sz="3200" dirty="0"/>
              <a:t>of the minute hand</a:t>
            </a:r>
          </a:p>
          <a:p>
            <a:r>
              <a:rPr lang="en-AU" sz="3200" dirty="0"/>
              <a:t>of a “standard” wall clock</a:t>
            </a:r>
          </a:p>
          <a:p>
            <a:r>
              <a:rPr lang="en-AU" sz="3200" dirty="0"/>
              <a:t>travel more than, or less than</a:t>
            </a:r>
          </a:p>
          <a:p>
            <a:r>
              <a:rPr lang="en-AU" sz="3200" dirty="0"/>
              <a:t>1 metre in one revolution?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1" t="6345" r="6857" b="10955"/>
          <a:stretch/>
        </p:blipFill>
        <p:spPr>
          <a:xfrm rot="5400000">
            <a:off x="5906392" y="1141478"/>
            <a:ext cx="5394069" cy="4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620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Does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 smtClean="0"/>
              <a:t>tip </a:t>
            </a:r>
            <a:r>
              <a:rPr lang="en-AU" sz="3200" dirty="0"/>
              <a:t>of the minute hand</a:t>
            </a:r>
          </a:p>
          <a:p>
            <a:r>
              <a:rPr lang="en-AU" sz="3200" dirty="0"/>
              <a:t>of a “standard” wall clock</a:t>
            </a:r>
          </a:p>
          <a:p>
            <a:r>
              <a:rPr lang="en-AU" sz="3200" dirty="0"/>
              <a:t>travel more than, or less than</a:t>
            </a:r>
          </a:p>
          <a:p>
            <a:r>
              <a:rPr lang="en-AU" sz="3200" dirty="0"/>
              <a:t>1 metre in one revolution…</a:t>
            </a:r>
          </a:p>
          <a:p>
            <a:endParaRPr lang="en-AU" sz="3200" dirty="0"/>
          </a:p>
          <a:p>
            <a:r>
              <a:rPr lang="en-AU" sz="3200" dirty="0"/>
              <a:t>…if the minute hand is 12.5 cm </a:t>
            </a:r>
            <a:r>
              <a:rPr lang="en-AU" sz="3200" dirty="0" smtClean="0"/>
              <a:t>long ?</a:t>
            </a:r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452315" y="2408349"/>
                <a:ext cx="4636395" cy="2677656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=2×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12.5</m:t>
                      </m:r>
                      <m:r>
                        <a:rPr lang="en-AU" sz="2800" b="0" i="1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 78.5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2800" b="0" dirty="0"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800" b="0" dirty="0">
                    <a:ea typeface="Cambria Math" panose="02040503050406030204" pitchFamily="18" charset="0"/>
                  </a:rPr>
                  <a:t> one revolution is </a:t>
                </a:r>
                <a:r>
                  <a:rPr lang="en-AU" sz="2800" b="1" dirty="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&lt;</a:t>
                </a:r>
                <a:r>
                  <a:rPr lang="en-AU" sz="2800" b="0" dirty="0">
                    <a:ea typeface="Cambria Math" panose="02040503050406030204" pitchFamily="18" charset="0"/>
                  </a:rPr>
                  <a:t> 1 m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2315" y="2408349"/>
                <a:ext cx="4636395" cy="2677656"/>
              </a:xfrm>
              <a:prstGeom prst="rect">
                <a:avLst/>
              </a:prstGeom>
              <a:blipFill rotWithShape="1">
                <a:blip r:embed="rId2"/>
                <a:stretch>
                  <a:fillRect r="-1971" b="-3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76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how fast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 smtClean="0"/>
              <a:t>the </a:t>
            </a:r>
            <a:r>
              <a:rPr lang="en-AU" sz="3200" dirty="0"/>
              <a:t>tip of this minute hand going </a:t>
            </a:r>
          </a:p>
          <a:p>
            <a:r>
              <a:rPr lang="en-AU" sz="3200" dirty="0"/>
              <a:t>if it is 12.5cm long?</a:t>
            </a:r>
          </a:p>
          <a:p>
            <a:endParaRPr lang="en-AU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1" t="6345" r="6857" b="10955"/>
          <a:stretch/>
        </p:blipFill>
        <p:spPr>
          <a:xfrm rot="5400000">
            <a:off x="5906393" y="1471552"/>
            <a:ext cx="5394069" cy="428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3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how fast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/>
              <a:t>The tip of this minute hand going</a:t>
            </a:r>
          </a:p>
          <a:p>
            <a:r>
              <a:rPr lang="en-AU" sz="3200" dirty="0"/>
              <a:t>if it is 12.5cm long?</a:t>
            </a:r>
          </a:p>
          <a:p>
            <a:endParaRPr lang="en-AU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01" t="6345" r="6857" b="10955"/>
          <a:stretch/>
        </p:blipFill>
        <p:spPr>
          <a:xfrm rot="5400000">
            <a:off x="5906393" y="1471552"/>
            <a:ext cx="5394069" cy="42815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99097" y="4278035"/>
                <a:ext cx="4832876" cy="203132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=2×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12.5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 78.5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97" y="4278035"/>
                <a:ext cx="4832876" cy="20313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898367" y="4924365"/>
                <a:ext cx="5512315" cy="138499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speed</m:t>
                    </m:r>
                    <m: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distance</m:t>
                    </m:r>
                    <m: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per</m:t>
                    </m:r>
                    <m: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b="0" i="0" smtClean="0">
                        <a:latin typeface="Cambria Math"/>
                        <a:ea typeface="Cambria Math" panose="02040503050406030204" pitchFamily="18" charset="0"/>
                      </a:rPr>
                      <m:t>unit</m:t>
                    </m:r>
                    <m:r>
                      <a:rPr lang="en-AU" sz="2800" b="0" i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time</m:t>
                    </m:r>
                  </m:oMath>
                </a14:m>
                <a:endParaRPr lang="en-AU" sz="2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AU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speed</m:t>
                    </m:r>
                    <m: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8.5</m:t>
                    </m:r>
                    <m:r>
                      <a:rPr lang="en-AU" sz="2800" b="0" i="0" smtClean="0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cm</m:t>
                    </m:r>
                    <m: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per</m:t>
                    </m:r>
                    <m: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hour</m:t>
                    </m:r>
                  </m:oMath>
                </a14:m>
                <a:endParaRPr lang="en-AU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367" y="4924365"/>
                <a:ext cx="5512315" cy="13849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87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how fast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AU" sz="1000" dirty="0"/>
          </a:p>
          <a:p>
            <a:r>
              <a:rPr lang="en-AU" sz="3200" dirty="0" smtClean="0"/>
              <a:t>the </a:t>
            </a:r>
            <a:r>
              <a:rPr lang="en-AU" sz="3200" dirty="0"/>
              <a:t>tip of the minute hand on</a:t>
            </a:r>
          </a:p>
          <a:p>
            <a:r>
              <a:rPr lang="en-AU" sz="3200" dirty="0" err="1"/>
              <a:t>Abraj</a:t>
            </a:r>
            <a:r>
              <a:rPr lang="en-AU" sz="3200" dirty="0"/>
              <a:t> Al-Bait Tower in</a:t>
            </a:r>
          </a:p>
          <a:p>
            <a:r>
              <a:rPr lang="en-AU" sz="3200" dirty="0"/>
              <a:t>Mecca, Saudi Arabia</a:t>
            </a:r>
          </a:p>
          <a:p>
            <a:r>
              <a:rPr lang="en-AU" sz="3200" dirty="0"/>
              <a:t>(the world’s largest clock)?</a:t>
            </a:r>
          </a:p>
          <a:p>
            <a:endParaRPr lang="en-AU" sz="2800" dirty="0"/>
          </a:p>
          <a:p>
            <a:endParaRPr lang="en-AU" sz="1000" dirty="0"/>
          </a:p>
          <a:p>
            <a:endParaRPr lang="en-AU" sz="1000" dirty="0"/>
          </a:p>
          <a:p>
            <a:r>
              <a:rPr lang="en-AU" sz="1000" dirty="0"/>
              <a:t>Image taken from </a:t>
            </a:r>
            <a:r>
              <a:rPr lang="en-AU" sz="1000" dirty="0">
                <a:hlinkClick r:id="rId2"/>
              </a:rPr>
              <a:t>https://en.wikipedia.org/wiki/Abraj_Al_Bait</a:t>
            </a:r>
            <a:r>
              <a:rPr lang="en-AU" sz="1000" dirty="0"/>
              <a:t> </a:t>
            </a:r>
          </a:p>
        </p:txBody>
      </p:sp>
      <p:pic>
        <p:nvPicPr>
          <p:cNvPr id="1026" name="Picture 2" descr="Abraj-al-Bait-Towe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458" y="556477"/>
            <a:ext cx="4310744" cy="575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741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how fast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AU" sz="1000" dirty="0"/>
          </a:p>
          <a:p>
            <a:r>
              <a:rPr lang="en-AU" sz="3200" dirty="0" smtClean="0"/>
              <a:t>the </a:t>
            </a:r>
            <a:r>
              <a:rPr lang="en-AU" sz="3200" dirty="0"/>
              <a:t>tip of the minute hand on</a:t>
            </a:r>
          </a:p>
          <a:p>
            <a:r>
              <a:rPr lang="en-AU" sz="3200" dirty="0" err="1"/>
              <a:t>Abraj</a:t>
            </a:r>
            <a:r>
              <a:rPr lang="en-AU" sz="3200" dirty="0"/>
              <a:t> Al-Bait Tower in</a:t>
            </a:r>
          </a:p>
          <a:p>
            <a:r>
              <a:rPr lang="en-AU" sz="3200" dirty="0"/>
              <a:t>Mecca, Saudi Arabia</a:t>
            </a:r>
          </a:p>
          <a:p>
            <a:r>
              <a:rPr lang="en-AU" sz="3200" dirty="0"/>
              <a:t>(the world’s largest clock)?</a:t>
            </a:r>
          </a:p>
          <a:p>
            <a:endParaRPr lang="en-AU" sz="2800" dirty="0"/>
          </a:p>
          <a:p>
            <a:endParaRPr lang="en-AU" sz="1000" dirty="0"/>
          </a:p>
          <a:p>
            <a:endParaRPr lang="en-AU" sz="1000" dirty="0"/>
          </a:p>
          <a:p>
            <a:r>
              <a:rPr lang="en-AU" sz="1000" dirty="0"/>
              <a:t>Image taken from </a:t>
            </a:r>
            <a:r>
              <a:rPr lang="en-AU" sz="1000" dirty="0">
                <a:hlinkClick r:id="rId2"/>
              </a:rPr>
              <a:t>https://en.wikipedia.org/wiki/Abraj_Al_Bait</a:t>
            </a:r>
            <a:r>
              <a:rPr lang="en-AU" sz="1000" dirty="0"/>
              <a:t> </a:t>
            </a:r>
          </a:p>
        </p:txBody>
      </p:sp>
      <p:pic>
        <p:nvPicPr>
          <p:cNvPr id="1026" name="Picture 2" descr="Abraj-al-Bait-Towe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458" y="556477"/>
            <a:ext cx="4310744" cy="5752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ight Brace 3"/>
          <p:cNvSpPr/>
          <p:nvPr/>
        </p:nvSpPr>
        <p:spPr>
          <a:xfrm>
            <a:off x="9208548" y="1902451"/>
            <a:ext cx="90902" cy="252000"/>
          </a:xfrm>
          <a:prstGeom prst="righ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439302" y="1551397"/>
                <a:ext cx="2221987" cy="954107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sz="2800" dirty="0"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  <a:ea typeface="Cambria Math" panose="02040503050406030204" pitchFamily="18" charset="0"/>
                      </a:rPr>
                      <m:t>43</m:t>
                    </m:r>
                    <m:r>
                      <a:rPr lang="en-US" sz="2800" b="0" i="1" smtClean="0">
                        <a:latin typeface="Cambria Math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302" y="1551397"/>
                <a:ext cx="2221987" cy="95410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30555" y="5273555"/>
                <a:ext cx="7693841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AU" sz="2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speed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555" y="5273555"/>
                <a:ext cx="7693841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16371" y="5273555"/>
                <a:ext cx="5227829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  <a:ea typeface="Cambria Math" panose="02040503050406030204" pitchFamily="18" charset="0"/>
                        </a:rPr>
                        <m:t>135</m:t>
                      </m:r>
                      <m:r>
                        <a:rPr lang="en-AU" sz="2800" b="0" i="1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per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hour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AU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135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km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371" y="5273555"/>
                <a:ext cx="5227829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857397" y="2899611"/>
                <a:ext cx="2803892" cy="203132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 smtClean="0">
                          <a:latin typeface="Cambria Math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×43</m:t>
                      </m:r>
                      <m:r>
                        <a:rPr lang="en-US" sz="2800" b="0" i="1" smtClean="0">
                          <a:latin typeface="Cambria Math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≈135</m:t>
                      </m:r>
                      <m:r>
                        <a:rPr lang="en-US" sz="2800" b="0" i="1" smtClean="0">
                          <a:latin typeface="Cambria Math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7397" y="2899611"/>
                <a:ext cx="2803892" cy="203132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77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circumference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/>
              <a:t>Venus, our nearest </a:t>
            </a:r>
            <a:endParaRPr lang="en-AU" sz="3200" dirty="0" smtClean="0"/>
          </a:p>
          <a:p>
            <a:r>
              <a:rPr lang="en-AU" sz="3200" dirty="0" smtClean="0"/>
              <a:t>planet, more </a:t>
            </a:r>
            <a:r>
              <a:rPr lang="en-AU" sz="3200" dirty="0"/>
              <a:t>than, </a:t>
            </a:r>
            <a:endParaRPr lang="en-AU" sz="3200" dirty="0" smtClean="0"/>
          </a:p>
          <a:p>
            <a:r>
              <a:rPr lang="en-AU" sz="3200" dirty="0" smtClean="0"/>
              <a:t>or </a:t>
            </a:r>
            <a:r>
              <a:rPr lang="en-AU" sz="3200" dirty="0"/>
              <a:t>less than,</a:t>
            </a:r>
          </a:p>
          <a:p>
            <a:r>
              <a:rPr lang="en-AU" sz="3200" dirty="0"/>
              <a:t>40 </a:t>
            </a:r>
            <a:r>
              <a:rPr lang="en-AU" sz="3200" dirty="0" smtClean="0"/>
              <a:t>000km ?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6309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circumference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/>
              <a:t>Venus, our nearest </a:t>
            </a:r>
          </a:p>
          <a:p>
            <a:r>
              <a:rPr lang="en-AU" sz="3200" dirty="0"/>
              <a:t>planet, more than, </a:t>
            </a:r>
          </a:p>
          <a:p>
            <a:r>
              <a:rPr lang="en-AU" sz="3200" dirty="0"/>
              <a:t>or less than,</a:t>
            </a:r>
          </a:p>
          <a:p>
            <a:r>
              <a:rPr lang="en-AU" sz="3200" dirty="0"/>
              <a:t>40 000km?</a:t>
            </a:r>
          </a:p>
          <a:p>
            <a:endParaRPr lang="en-AU" sz="1000" dirty="0"/>
          </a:p>
          <a:p>
            <a:endParaRPr lang="en-AU" sz="1000" dirty="0">
              <a:hlinkClick r:id="rId2"/>
            </a:endParaRPr>
          </a:p>
          <a:p>
            <a:endParaRPr lang="en-AU" sz="1000" dirty="0">
              <a:hlinkClick r:id="rId2"/>
            </a:endParaRPr>
          </a:p>
          <a:p>
            <a:pPr algn="r"/>
            <a:r>
              <a:rPr lang="en-AU" sz="1000" dirty="0">
                <a:hlinkClick r:id="rId2"/>
              </a:rPr>
              <a:t>https://en.wikipedia.org/wiki/Venus</a:t>
            </a:r>
            <a:r>
              <a:rPr lang="en-AU" sz="1000" dirty="0"/>
              <a:t> </a:t>
            </a:r>
          </a:p>
        </p:txBody>
      </p:sp>
      <p:pic>
        <p:nvPicPr>
          <p:cNvPr id="1032" name="Picture 8" descr="Venus, without its atmosphere, is placed side by side with Earth. They are nearly the same size, though Venus is slightly small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358" y="2084832"/>
            <a:ext cx="5632842" cy="292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358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 circumference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/>
              <a:t>Venus, our nearest </a:t>
            </a:r>
          </a:p>
          <a:p>
            <a:r>
              <a:rPr lang="en-AU" sz="3200" dirty="0"/>
              <a:t>planet, more than, </a:t>
            </a:r>
          </a:p>
          <a:p>
            <a:r>
              <a:rPr lang="en-AU" sz="3200" dirty="0"/>
              <a:t>or less than,</a:t>
            </a:r>
          </a:p>
          <a:p>
            <a:r>
              <a:rPr lang="en-AU" sz="3200" dirty="0"/>
              <a:t>40 </a:t>
            </a:r>
            <a:r>
              <a:rPr lang="en-AU" sz="3200" dirty="0" smtClean="0"/>
              <a:t>000km…</a:t>
            </a:r>
            <a:endParaRPr lang="en-AU" sz="3200" dirty="0"/>
          </a:p>
          <a:p>
            <a:endParaRPr lang="en-AU" sz="2800" dirty="0"/>
          </a:p>
          <a:p>
            <a:endParaRPr lang="en-AU" sz="1000" dirty="0">
              <a:hlinkClick r:id="rId2"/>
            </a:endParaRPr>
          </a:p>
          <a:p>
            <a:pPr algn="r"/>
            <a:r>
              <a:rPr lang="en-AU" sz="1000" dirty="0">
                <a:hlinkClick r:id="rId2"/>
              </a:rPr>
              <a:t>https://en.wikipedia.org/wiki/Venus</a:t>
            </a:r>
            <a:r>
              <a:rPr lang="en-AU" sz="1000" dirty="0"/>
              <a:t> </a:t>
            </a:r>
          </a:p>
        </p:txBody>
      </p:sp>
      <p:pic>
        <p:nvPicPr>
          <p:cNvPr id="1032" name="Picture 8" descr="Venus, without its atmosphere, is placed side by side with Earth. They are nearly the same size, though Venus is slightly small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358" y="2084832"/>
            <a:ext cx="5632842" cy="292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24128" y="5208037"/>
                <a:ext cx="4450701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given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=6 051.8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km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5208037"/>
                <a:ext cx="4450701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31621" y="323606"/>
                <a:ext cx="4633251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circumference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621" y="323606"/>
                <a:ext cx="4633251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226100" y="317936"/>
                <a:ext cx="1738772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38 025</m:t>
                      </m:r>
                      <m:r>
                        <a:rPr lang="en-AU" sz="2800" b="0" i="1" smtClean="0">
                          <a:latin typeface="Cambria Math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km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6100" y="317936"/>
                <a:ext cx="1738772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82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CHALLENGE:</a:t>
            </a:r>
            <a:br>
              <a:rPr lang="en-AU" dirty="0" smtClean="0"/>
            </a:br>
            <a:r>
              <a:rPr lang="en-AU" dirty="0" smtClean="0"/>
              <a:t>What </a:t>
            </a:r>
            <a:r>
              <a:rPr lang="en-AU" dirty="0"/>
              <a:t>is the </a:t>
            </a:r>
            <a:r>
              <a:rPr lang="en-AU" dirty="0" err="1"/>
              <a:t>rotationAL</a:t>
            </a:r>
            <a:r>
              <a:rPr lang="en-AU" dirty="0"/>
              <a:t> velocity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1000" dirty="0"/>
          </a:p>
          <a:p>
            <a:r>
              <a:rPr lang="en-AU" sz="3200" dirty="0"/>
              <a:t>Venus, our nearest </a:t>
            </a:r>
            <a:endParaRPr lang="en-AU" sz="3200" dirty="0" smtClean="0"/>
          </a:p>
          <a:p>
            <a:r>
              <a:rPr lang="en-AU" sz="3200" dirty="0" smtClean="0"/>
              <a:t>planet, if </a:t>
            </a:r>
            <a:r>
              <a:rPr lang="en-AU" sz="3200" dirty="0"/>
              <a:t>one </a:t>
            </a:r>
            <a:r>
              <a:rPr lang="en-AU" sz="3200" dirty="0" smtClean="0"/>
              <a:t>‘day’ </a:t>
            </a:r>
            <a:r>
              <a:rPr lang="en-AU" sz="3200" dirty="0" smtClean="0"/>
              <a:t>of</a:t>
            </a:r>
          </a:p>
          <a:p>
            <a:r>
              <a:rPr lang="en-AU" sz="3200" dirty="0"/>
              <a:t>i</a:t>
            </a:r>
            <a:r>
              <a:rPr lang="en-AU" sz="3200" dirty="0" smtClean="0"/>
              <a:t>ts </a:t>
            </a:r>
            <a:r>
              <a:rPr lang="en-AU" sz="3200" dirty="0" smtClean="0"/>
              <a:t>rotation</a:t>
            </a:r>
            <a:r>
              <a:rPr lang="en-AU" sz="3200" dirty="0"/>
              <a:t> </a:t>
            </a:r>
            <a:r>
              <a:rPr lang="en-AU" sz="3200" dirty="0" smtClean="0"/>
              <a:t>lasts 243 </a:t>
            </a:r>
            <a:br>
              <a:rPr lang="en-AU" sz="3200" dirty="0" smtClean="0"/>
            </a:br>
            <a:r>
              <a:rPr lang="en-AU" sz="3200" dirty="0" smtClean="0"/>
              <a:t>Earth </a:t>
            </a:r>
            <a:r>
              <a:rPr lang="en-AU" sz="3200" dirty="0"/>
              <a:t>days?</a:t>
            </a:r>
          </a:p>
          <a:p>
            <a:endParaRPr lang="en-AU" sz="1000" dirty="0">
              <a:hlinkClick r:id="rId2"/>
            </a:endParaRPr>
          </a:p>
          <a:p>
            <a:pPr algn="r"/>
            <a:r>
              <a:rPr lang="en-AU" sz="1000" dirty="0">
                <a:hlinkClick r:id="rId2"/>
              </a:rPr>
              <a:t>https://en.wikipedia.org/wiki/Venus</a:t>
            </a:r>
            <a:endParaRPr lang="en-AU" sz="1000" dirty="0"/>
          </a:p>
          <a:p>
            <a:pPr algn="r"/>
            <a:endParaRPr lang="en-AU" sz="1000" dirty="0"/>
          </a:p>
        </p:txBody>
      </p:sp>
      <p:pic>
        <p:nvPicPr>
          <p:cNvPr id="1032" name="Picture 8" descr="Venus, without its atmosphere, is placed side by side with Earth. They are nearly the same size, though Venus is slightly small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358" y="2084832"/>
            <a:ext cx="5632842" cy="2922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024128" y="5207972"/>
                <a:ext cx="5903894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recall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circumference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5207972"/>
                <a:ext cx="5903894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11358" y="5218275"/>
                <a:ext cx="1913245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38 025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km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1358" y="5218275"/>
                <a:ext cx="1913245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06757" y="5788623"/>
                <a:ext cx="3792150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velocity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≈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757" y="5788623"/>
                <a:ext cx="3792150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60135" y="5788623"/>
                <a:ext cx="1867888" cy="523220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6.52</m:t>
                    </m:r>
                    <m:r>
                      <m:rPr>
                        <m:nor/>
                      </m:rPr>
                      <a:rPr lang="en-AU" sz="2800" b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km</m:t>
                    </m:r>
                  </m:oMath>
                </a14:m>
                <a:r>
                  <a:rPr lang="en-AU" sz="28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/h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135" y="5788623"/>
                <a:ext cx="1867888" cy="523220"/>
              </a:xfrm>
              <a:prstGeom prst="rect">
                <a:avLst/>
              </a:prstGeom>
              <a:blipFill rotWithShape="1">
                <a:blip r:embed="rId7"/>
                <a:stretch>
                  <a:fillRect t="-11765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372569" y="5788623"/>
            <a:ext cx="4675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… the slowest planet rotation speed in our Solar System!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1625" y="212576"/>
            <a:ext cx="3209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…t</a:t>
            </a:r>
            <a:r>
              <a:rPr lang="en-AU" sz="2800" b="0" i="1" dirty="0">
                <a:latin typeface="Cambria Math" panose="02040503050406030204" pitchFamily="18" charset="0"/>
                <a:ea typeface="Cambria Math" panose="02040503050406030204" pitchFamily="18" charset="0"/>
              </a:rPr>
              <a:t>he Earth rotates at  1 674 km/h!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28" y="6393742"/>
            <a:ext cx="7180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(this is how fast a point on the equator of Venus is </a:t>
            </a:r>
            <a:r>
              <a:rPr lang="en-AU" dirty="0" smtClean="0"/>
              <a:t>moving due to its rotation)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8951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Does </a:t>
            </a:r>
            <a:r>
              <a:rPr lang="en-AU" dirty="0" err="1"/>
              <a:t>venus</a:t>
            </a:r>
            <a:r>
              <a:rPr lang="en-AU" dirty="0"/>
              <a:t> move…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AU" sz="1000" dirty="0"/>
          </a:p>
          <a:p>
            <a:r>
              <a:rPr lang="en-AU" sz="3500" dirty="0" smtClean="0"/>
              <a:t>more </a:t>
            </a:r>
            <a:r>
              <a:rPr lang="en-AU" sz="3500" dirty="0"/>
              <a:t>than, or less than,</a:t>
            </a:r>
          </a:p>
          <a:p>
            <a:r>
              <a:rPr lang="en-AU" sz="3500" dirty="0"/>
              <a:t>1 000 000 </a:t>
            </a:r>
            <a:r>
              <a:rPr lang="en-AU" sz="3500" dirty="0" smtClean="0"/>
              <a:t>000 km </a:t>
            </a:r>
            <a:r>
              <a:rPr lang="en-AU" sz="3500" dirty="0"/>
              <a:t>during its</a:t>
            </a:r>
          </a:p>
          <a:p>
            <a:r>
              <a:rPr lang="en-AU" sz="3500" dirty="0"/>
              <a:t>225 Earth day long orbit</a:t>
            </a:r>
          </a:p>
          <a:p>
            <a:r>
              <a:rPr lang="en-AU" sz="3500" dirty="0"/>
              <a:t>around our sun?</a:t>
            </a:r>
          </a:p>
          <a:p>
            <a:endParaRPr lang="en-AU" sz="1000" dirty="0">
              <a:hlinkClick r:id="rId2"/>
            </a:endParaRPr>
          </a:p>
          <a:p>
            <a:endParaRPr lang="en-AU" sz="1000" dirty="0">
              <a:hlinkClick r:id="rId2"/>
            </a:endParaRPr>
          </a:p>
          <a:p>
            <a:endParaRPr lang="en-AU" sz="1000" dirty="0">
              <a:hlinkClick r:id="rId2"/>
            </a:endParaRPr>
          </a:p>
          <a:p>
            <a:r>
              <a:rPr lang="en-AU" sz="1000" dirty="0">
                <a:hlinkClick r:id="rId2"/>
              </a:rPr>
              <a:t>https://en.wikipedia.org/wiki/Mercury_(planet)</a:t>
            </a:r>
          </a:p>
          <a:p>
            <a:r>
              <a:rPr lang="en-AU" sz="1000" dirty="0">
                <a:hlinkClick r:id="rId2"/>
              </a:rPr>
              <a:t>https://en.wikipedia.org/wiki/Venus</a:t>
            </a:r>
          </a:p>
          <a:p>
            <a:r>
              <a:rPr lang="en-AU" sz="1000" dirty="0">
                <a:hlinkClick r:id="rId2"/>
              </a:rPr>
              <a:t>https://commons.wikimedia.org/wiki/File:Sydney,_Australia_-_Flickr_-_NASA_Goddard_Photo_and_Video.jpg</a:t>
            </a:r>
          </a:p>
          <a:p>
            <a:endParaRPr lang="en-AU" sz="1000" dirty="0">
              <a:hlinkClick r:id="rId2"/>
            </a:endParaRPr>
          </a:p>
          <a:p>
            <a:pPr algn="r"/>
            <a:endParaRPr lang="en-AU" sz="1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691640" y="585216"/>
            <a:ext cx="9873840" cy="9601200"/>
            <a:chOff x="1691640" y="585216"/>
            <a:chExt cx="9873840" cy="9601200"/>
          </a:xfrm>
        </p:grpSpPr>
        <p:sp>
          <p:nvSpPr>
            <p:cNvPr id="4" name="32-Point Star 3"/>
            <p:cNvSpPr/>
            <p:nvPr/>
          </p:nvSpPr>
          <p:spPr>
            <a:xfrm>
              <a:off x="6034200" y="4928616"/>
              <a:ext cx="914400" cy="914400"/>
            </a:xfrm>
            <a:prstGeom prst="star32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28" name="Picture 4" descr="A false-colour image of Venus: ribbons of lighter colour stretch haphazardly across the surface. Plainer areas of more even colouration lie between.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5224" y="5120640"/>
              <a:ext cx="530352" cy="5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File:Sydney, Australia - Flickr - NASA Goddard Photo and Video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6840" y="5111496"/>
              <a:ext cx="548640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s://upload.wikimedia.org/wikipedia/commons/thumb/3/3f/Mercury_Globe-MESSENGER_mosaic_centered_at_0degN-0degE.jpg/220px-Mercury_Globe-MESSENGER_mosaic_centered_at_0degN-0degE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7920" y="5294376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Arc 8"/>
            <p:cNvSpPr/>
            <p:nvPr/>
          </p:nvSpPr>
          <p:spPr>
            <a:xfrm>
              <a:off x="1691640" y="585216"/>
              <a:ext cx="9601200" cy="9601200"/>
            </a:xfrm>
            <a:prstGeom prst="arc">
              <a:avLst>
                <a:gd name="adj1" fmla="val 16200000"/>
                <a:gd name="adj2" fmla="val 21414840"/>
              </a:avLst>
            </a:prstGeom>
            <a:noFill/>
            <a:ln>
              <a:solidFill>
                <a:schemeClr val="tx1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Arc 15"/>
            <p:cNvSpPr>
              <a:spLocks noChangeAspect="1"/>
            </p:cNvSpPr>
            <p:nvPr/>
          </p:nvSpPr>
          <p:spPr>
            <a:xfrm>
              <a:off x="3062400" y="1956816"/>
              <a:ext cx="6858000" cy="6858000"/>
            </a:xfrm>
            <a:prstGeom prst="arc">
              <a:avLst>
                <a:gd name="adj1" fmla="val 16200000"/>
                <a:gd name="adj2" fmla="val 21336169"/>
              </a:avLst>
            </a:prstGeom>
            <a:noFill/>
            <a:ln>
              <a:solidFill>
                <a:schemeClr val="tx1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Arc 16"/>
            <p:cNvSpPr>
              <a:spLocks noChangeAspect="1"/>
            </p:cNvSpPr>
            <p:nvPr/>
          </p:nvSpPr>
          <p:spPr>
            <a:xfrm>
              <a:off x="4662600" y="3557016"/>
              <a:ext cx="3657600" cy="3657600"/>
            </a:xfrm>
            <a:prstGeom prst="arc">
              <a:avLst>
                <a:gd name="adj1" fmla="val 16200000"/>
                <a:gd name="adj2" fmla="val 21461838"/>
              </a:avLst>
            </a:prstGeom>
            <a:noFill/>
            <a:ln>
              <a:solidFill>
                <a:schemeClr val="tx1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 flipV="1">
            <a:off x="6522098" y="2817846"/>
            <a:ext cx="2155371" cy="25659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34200" y="2356508"/>
            <a:ext cx="5926152" cy="40011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dirty="0"/>
              <a:t>Average distance from sun </a:t>
            </a:r>
            <a:r>
              <a:rPr lang="en-AU" sz="2000" i="1" dirty="0"/>
              <a:t>=</a:t>
            </a:r>
            <a:r>
              <a:rPr lang="en-AU" sz="2000" dirty="0"/>
              <a:t>108 000 000 km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6948601" y="301520"/>
                <a:ext cx="5011752" cy="132343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 smtClean="0"/>
                  <a:t>Orbital path </a:t>
                </a:r>
                <a14:m>
                  <m:oMath xmlns:m="http://schemas.openxmlformats.org/officeDocument/2006/math">
                    <m:r>
                      <a:rPr lang="en-A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000" dirty="0"/>
                  <a:t>108 000 000km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sz="2000" dirty="0"/>
                  <a:t> 678 584 000 </a:t>
                </a:r>
                <a:r>
                  <a:rPr lang="en-AU" sz="2000" dirty="0" smtClean="0"/>
                  <a:t>km</a:t>
                </a:r>
              </a:p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  <a:ea typeface="Cambria Math" panose="02040503050406030204" pitchFamily="18" charset="0"/>
                      </a:rPr>
                      <m:t>                            </m:t>
                    </m:r>
                    <m:r>
                      <a:rPr lang="en-AU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sz="2000" dirty="0"/>
                  <a:t> </a:t>
                </a:r>
                <a:r>
                  <a:rPr lang="en-AU" sz="2000" dirty="0" smtClean="0"/>
                  <a:t>679 000 </a:t>
                </a:r>
                <a:r>
                  <a:rPr lang="en-AU" sz="2000" dirty="0"/>
                  <a:t>000 </a:t>
                </a:r>
                <a:r>
                  <a:rPr lang="en-AU" sz="2000" dirty="0"/>
                  <a:t>km</a:t>
                </a:r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8601" y="301520"/>
                <a:ext cx="5011752" cy="1323439"/>
              </a:xfrm>
              <a:prstGeom prst="rect">
                <a:avLst/>
              </a:prstGeom>
              <a:blipFill rotWithShape="1">
                <a:blip r:embed="rId6"/>
                <a:stretch>
                  <a:fillRect l="-1214" t="-1818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47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Does </a:t>
            </a:r>
            <a:r>
              <a:rPr lang="en-AU" dirty="0" err="1"/>
              <a:t>venus</a:t>
            </a:r>
            <a:r>
              <a:rPr lang="en-AU" dirty="0"/>
              <a:t> move…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AU" sz="1000" dirty="0"/>
          </a:p>
          <a:p>
            <a:r>
              <a:rPr lang="en-AU" sz="3200" dirty="0"/>
              <a:t>Faster than, or slower than,</a:t>
            </a:r>
          </a:p>
          <a:p>
            <a:r>
              <a:rPr lang="en-AU" sz="3200" dirty="0"/>
              <a:t>40 km per second?</a:t>
            </a:r>
          </a:p>
          <a:p>
            <a:endParaRPr lang="en-AU" sz="3000" dirty="0"/>
          </a:p>
          <a:p>
            <a:endParaRPr lang="en-AU" sz="1000" dirty="0">
              <a:hlinkClick r:id="rId2"/>
            </a:endParaRPr>
          </a:p>
          <a:p>
            <a:endParaRPr lang="en-AU" sz="1000" dirty="0">
              <a:hlinkClick r:id="rId2"/>
            </a:endParaRPr>
          </a:p>
          <a:p>
            <a:endParaRPr lang="en-AU" sz="1000" dirty="0">
              <a:hlinkClick r:id="rId2"/>
            </a:endParaRPr>
          </a:p>
          <a:p>
            <a:endParaRPr lang="en-AU" sz="1000" dirty="0">
              <a:hlinkClick r:id="rId2"/>
            </a:endParaRPr>
          </a:p>
          <a:p>
            <a:r>
              <a:rPr lang="en-AU" sz="1000" dirty="0">
                <a:hlinkClick r:id="rId2"/>
              </a:rPr>
              <a:t>https://en.wikipedia.org/wiki/Mercury_(planet)</a:t>
            </a:r>
          </a:p>
          <a:p>
            <a:r>
              <a:rPr lang="en-AU" sz="1000" dirty="0">
                <a:hlinkClick r:id="rId2"/>
              </a:rPr>
              <a:t>https://en.wikipedia.org/wiki/Venus</a:t>
            </a:r>
          </a:p>
          <a:p>
            <a:r>
              <a:rPr lang="en-AU" sz="1000" dirty="0">
                <a:hlinkClick r:id="rId2"/>
              </a:rPr>
              <a:t>https://commons.wikimedia.org/wiki/File:Sydney,_Australia_-_Flickr_-_NASA_Goddard_Photo_and_Video.jpg</a:t>
            </a:r>
          </a:p>
          <a:p>
            <a:endParaRPr lang="en-AU" sz="1000" dirty="0">
              <a:hlinkClick r:id="rId2"/>
            </a:endParaRPr>
          </a:p>
          <a:p>
            <a:pPr algn="r"/>
            <a:endParaRPr lang="en-AU" sz="1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1691640" y="585216"/>
            <a:ext cx="9873840" cy="9601200"/>
            <a:chOff x="1691640" y="585216"/>
            <a:chExt cx="9873840" cy="9601200"/>
          </a:xfrm>
        </p:grpSpPr>
        <p:sp>
          <p:nvSpPr>
            <p:cNvPr id="4" name="32-Point Star 3"/>
            <p:cNvSpPr/>
            <p:nvPr/>
          </p:nvSpPr>
          <p:spPr>
            <a:xfrm>
              <a:off x="6034200" y="4928616"/>
              <a:ext cx="914400" cy="914400"/>
            </a:xfrm>
            <a:prstGeom prst="star32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1028" name="Picture 4" descr="A false-colour image of Venus: ribbons of lighter colour stretch haphazardly across the surface. Plainer areas of more even colouration lie between.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55224" y="5120640"/>
              <a:ext cx="530352" cy="5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File:Sydney, Australia - Flickr - NASA Goddard Photo and Video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16840" y="5111496"/>
              <a:ext cx="548640" cy="548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s://upload.wikimedia.org/wikipedia/commons/thumb/3/3f/Mercury_Globe-MESSENGER_mosaic_centered_at_0degN-0degE.jpg/220px-Mercury_Globe-MESSENGER_mosaic_centered_at_0degN-0degE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27920" y="5294376"/>
              <a:ext cx="182880" cy="182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Arc 8"/>
            <p:cNvSpPr/>
            <p:nvPr/>
          </p:nvSpPr>
          <p:spPr>
            <a:xfrm>
              <a:off x="1691640" y="585216"/>
              <a:ext cx="9601200" cy="9601200"/>
            </a:xfrm>
            <a:prstGeom prst="arc">
              <a:avLst>
                <a:gd name="adj1" fmla="val 16200000"/>
                <a:gd name="adj2" fmla="val 21414840"/>
              </a:avLst>
            </a:prstGeom>
            <a:noFill/>
            <a:ln>
              <a:solidFill>
                <a:schemeClr val="tx1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Arc 15"/>
            <p:cNvSpPr>
              <a:spLocks noChangeAspect="1"/>
            </p:cNvSpPr>
            <p:nvPr/>
          </p:nvSpPr>
          <p:spPr>
            <a:xfrm>
              <a:off x="3062400" y="1956816"/>
              <a:ext cx="6858000" cy="6858000"/>
            </a:xfrm>
            <a:prstGeom prst="arc">
              <a:avLst>
                <a:gd name="adj1" fmla="val 16200000"/>
                <a:gd name="adj2" fmla="val 21336169"/>
              </a:avLst>
            </a:prstGeom>
            <a:noFill/>
            <a:ln>
              <a:solidFill>
                <a:schemeClr val="tx1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Arc 16"/>
            <p:cNvSpPr>
              <a:spLocks noChangeAspect="1"/>
            </p:cNvSpPr>
            <p:nvPr/>
          </p:nvSpPr>
          <p:spPr>
            <a:xfrm>
              <a:off x="4662600" y="3557016"/>
              <a:ext cx="3657600" cy="3657600"/>
            </a:xfrm>
            <a:prstGeom prst="arc">
              <a:avLst>
                <a:gd name="adj1" fmla="val 16200000"/>
                <a:gd name="adj2" fmla="val 21461838"/>
              </a:avLst>
            </a:prstGeom>
            <a:noFill/>
            <a:ln>
              <a:solidFill>
                <a:schemeClr val="tx1"/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6" name="Straight Arrow Connector 5"/>
          <p:cNvCxnSpPr/>
          <p:nvPr/>
        </p:nvCxnSpPr>
        <p:spPr>
          <a:xfrm flipV="1">
            <a:off x="6522098" y="2817846"/>
            <a:ext cx="2155371" cy="256591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46459" y="2448514"/>
            <a:ext cx="5279377" cy="3693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Average distance from sun =108 000 000 km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024128" y="3670460"/>
                <a:ext cx="6332014" cy="954107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recall</m:t>
                    </m:r>
                    <m:r>
                      <a:rPr lang="en-AU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orbital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path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AU" sz="28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678 584</m:t>
                    </m:r>
                    <m:r>
                      <a:rPr lang="en-US" sz="2800" i="1">
                        <a:latin typeface="Cambria Math"/>
                        <a:ea typeface="Cambria Math" panose="02040503050406030204" pitchFamily="18" charset="0"/>
                      </a:rPr>
                      <m:t> 000</m:t>
                    </m:r>
                    <m:r>
                      <a:rPr lang="en-AU" sz="2800" i="1">
                        <a:latin typeface="Cambria Math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km</m:t>
                    </m:r>
                  </m:oMath>
                </a14:m>
                <a:endParaRPr lang="en-AU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AU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8" y="3670460"/>
                <a:ext cx="6332014" cy="95410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024127" y="4198138"/>
                <a:ext cx="6332015" cy="1384995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ea typeface="Cambria Math" panose="02040503050406030204" pitchFamily="18" charset="0"/>
                  </a:rPr>
                  <a:t>	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orbital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period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225 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days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≈225</m:t>
                      </m:r>
                      <m:r>
                        <a:rPr lang="en-US" sz="280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24×60×60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/>
                          <a:ea typeface="Cambria Math"/>
                        </a:rPr>
                        <m:t>seconds</m:t>
                      </m:r>
                    </m:oMath>
                  </m:oMathPara>
                </a14:m>
                <a:endParaRPr lang="en-AU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800" b="0" i="1" smtClean="0">
                          <a:latin typeface="Cambria Math"/>
                          <a:ea typeface="Cambria Math" panose="02040503050406030204" pitchFamily="18" charset="0"/>
                        </a:rPr>
                        <m:t>19 440 000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/>
                          <a:ea typeface="Cambria Math" panose="02040503050406030204" pitchFamily="18" charset="0"/>
                        </a:rPr>
                        <m:t>seconds</m:t>
                      </m:r>
                    </m:oMath>
                  </m:oMathPara>
                </a14:m>
                <a:endParaRPr lang="en-AU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7" y="4198138"/>
                <a:ext cx="6332015" cy="138499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226486" y="719720"/>
                <a:ext cx="4716409" cy="120032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Orbital velocity</a:t>
                </a:r>
                <a:r>
                  <a:rPr lang="en-AU" sz="2400" i="1" dirty="0"/>
                  <a:t>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678 584 000÷19 440 000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km/s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35 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km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AU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486" y="719720"/>
                <a:ext cx="4716409" cy="1200329"/>
              </a:xfrm>
              <a:prstGeom prst="rect">
                <a:avLst/>
              </a:prstGeom>
              <a:blipFill rotWithShape="1">
                <a:blip r:embed="rId8"/>
                <a:stretch>
                  <a:fillRect l="-1804" t="-3518" r="-1031" b="-6533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38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8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r>
              <a:rPr lang="en-AU" sz="3200" dirty="0" smtClean="0"/>
              <a:t>a </a:t>
            </a:r>
            <a:r>
              <a:rPr lang="en-AU" sz="3200" dirty="0"/>
              <a:t>gondola on the London </a:t>
            </a:r>
            <a:endParaRPr lang="en-AU" sz="3200" dirty="0" smtClean="0"/>
          </a:p>
          <a:p>
            <a:r>
              <a:rPr lang="en-AU" sz="3200" dirty="0" smtClean="0"/>
              <a:t>Eye more </a:t>
            </a:r>
            <a:r>
              <a:rPr lang="en-AU" sz="3200" dirty="0"/>
              <a:t>than, or less </a:t>
            </a:r>
            <a:endParaRPr lang="en-AU" sz="3200" dirty="0" smtClean="0"/>
          </a:p>
          <a:p>
            <a:r>
              <a:rPr lang="en-AU" sz="3200" dirty="0"/>
              <a:t>t</a:t>
            </a:r>
            <a:r>
              <a:rPr lang="en-AU" sz="3200" dirty="0" smtClean="0"/>
              <a:t>han 400m</a:t>
            </a:r>
            <a:r>
              <a:rPr lang="en-AU" sz="32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8445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AU" dirty="0"/>
          </a:p>
          <a:p>
            <a:r>
              <a:rPr lang="en-AU" sz="3200" dirty="0" smtClean="0"/>
              <a:t>a </a:t>
            </a:r>
            <a:r>
              <a:rPr lang="en-AU" sz="3200" dirty="0"/>
              <a:t>gondola on the London </a:t>
            </a:r>
          </a:p>
          <a:p>
            <a:r>
              <a:rPr lang="en-AU" sz="3200" dirty="0"/>
              <a:t>Eye more than, or less </a:t>
            </a:r>
          </a:p>
          <a:p>
            <a:r>
              <a:rPr lang="en-AU" sz="3200" dirty="0"/>
              <a:t>than 400m?</a:t>
            </a:r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pPr algn="r"/>
            <a:r>
              <a:rPr lang="en-AU" sz="1000" dirty="0"/>
              <a:t>By </a:t>
            </a:r>
            <a:r>
              <a:rPr lang="en-AU" sz="1000" dirty="0" err="1"/>
              <a:t>hobbesnblue</a:t>
            </a:r>
            <a:r>
              <a:rPr lang="en-AU" sz="1000" dirty="0"/>
              <a:t>, CC BY-SA 3.0, </a:t>
            </a:r>
            <a:r>
              <a:rPr lang="en-AU" sz="1000" dirty="0">
                <a:hlinkClick r:id="rId2"/>
              </a:rPr>
              <a:t>https://commons.wikimedia.org/w/index.php?curid=47383540</a:t>
            </a:r>
            <a:r>
              <a:rPr lang="en-AU" sz="1000" dirty="0"/>
              <a:t> </a:t>
            </a:r>
          </a:p>
          <a:p>
            <a:pPr marL="0" indent="0" algn="r">
              <a:buNone/>
            </a:pPr>
            <a:endParaRPr lang="en-AU" sz="1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2303" y="1948248"/>
            <a:ext cx="5191897" cy="38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49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161453"/>
          </a:xfrm>
        </p:spPr>
        <p:txBody>
          <a:bodyPr>
            <a:normAutofit fontScale="77500" lnSpcReduction="20000"/>
          </a:bodyPr>
          <a:lstStyle/>
          <a:p>
            <a:endParaRPr lang="en-AU" sz="2600" dirty="0"/>
          </a:p>
          <a:p>
            <a:r>
              <a:rPr lang="en-AU" sz="4100" dirty="0" smtClean="0"/>
              <a:t>a </a:t>
            </a:r>
            <a:r>
              <a:rPr lang="en-AU" sz="4100" dirty="0"/>
              <a:t>gondola on the London </a:t>
            </a:r>
          </a:p>
          <a:p>
            <a:r>
              <a:rPr lang="en-AU" sz="4100" dirty="0"/>
              <a:t>Eye more than, or less </a:t>
            </a:r>
          </a:p>
          <a:p>
            <a:r>
              <a:rPr lang="en-AU" sz="4100" dirty="0"/>
              <a:t>than 400m?</a:t>
            </a:r>
          </a:p>
          <a:p>
            <a:endParaRPr lang="en-AU" sz="1200" dirty="0"/>
          </a:p>
          <a:p>
            <a:endParaRPr lang="en-AU" sz="1200" dirty="0"/>
          </a:p>
          <a:p>
            <a:pPr marL="0" indent="0" algn="r">
              <a:buNone/>
            </a:pPr>
            <a:endParaRPr lang="en-AU" sz="1200" dirty="0"/>
          </a:p>
          <a:p>
            <a:pPr marL="0" indent="0" algn="r">
              <a:buNone/>
            </a:pP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1200" dirty="0"/>
              <a:t>Image taken from </a:t>
            </a:r>
            <a:r>
              <a:rPr lang="en-AU" sz="1200" dirty="0">
                <a:hlinkClick r:id="rId2"/>
              </a:rPr>
              <a:t>https://commons.wikimedia.org/wiki/File:London_Eye_Pod.jpg?uselang=en-gb</a:t>
            </a:r>
            <a:r>
              <a:rPr lang="en-AU" sz="1200" dirty="0"/>
              <a:t> 	</a:t>
            </a:r>
          </a:p>
          <a:p>
            <a:pPr marL="0" indent="0" algn="r">
              <a:buNone/>
            </a:pPr>
            <a:r>
              <a:rPr lang="en-AU" sz="1200" dirty="0"/>
              <a:t>By </a:t>
            </a:r>
            <a:r>
              <a:rPr lang="en-AU" sz="1200" dirty="0" err="1"/>
              <a:t>hobbesnblue</a:t>
            </a:r>
            <a:r>
              <a:rPr lang="en-AU" sz="1200" dirty="0"/>
              <a:t>, CC BY-SA 3.0, </a:t>
            </a:r>
            <a:r>
              <a:rPr lang="en-AU" sz="1200" dirty="0">
                <a:hlinkClick r:id="rId3"/>
              </a:rPr>
              <a:t>https://commons.wikimedia.org/w/index.php?curid=4738354</a:t>
            </a:r>
            <a:r>
              <a:rPr lang="en-AU" sz="12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303" y="1948248"/>
            <a:ext cx="5191897" cy="38939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7739" r="3437" b="22405"/>
          <a:stretch/>
        </p:blipFill>
        <p:spPr>
          <a:xfrm>
            <a:off x="2486462" y="4102443"/>
            <a:ext cx="2655313" cy="173972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51806" y="2415006"/>
            <a:ext cx="296562" cy="296562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reeform 6"/>
          <p:cNvSpPr/>
          <p:nvPr/>
        </p:nvSpPr>
        <p:spPr>
          <a:xfrm>
            <a:off x="4394717" y="2036509"/>
            <a:ext cx="3357087" cy="2065934"/>
          </a:xfrm>
          <a:custGeom>
            <a:avLst/>
            <a:gdLst>
              <a:gd name="connsiteX0" fmla="*/ 3592286 w 3592286"/>
              <a:gd name="connsiteY0" fmla="*/ 423746 h 2065934"/>
              <a:gd name="connsiteX1" fmla="*/ 2621902 w 3592286"/>
              <a:gd name="connsiteY1" fmla="*/ 3869 h 2065934"/>
              <a:gd name="connsiteX2" fmla="*/ 1259633 w 3592286"/>
              <a:gd name="connsiteY2" fmla="*/ 339771 h 2065934"/>
              <a:gd name="connsiteX3" fmla="*/ 0 w 3592286"/>
              <a:gd name="connsiteY3" fmla="*/ 2065934 h 206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2286" h="2065934">
                <a:moveTo>
                  <a:pt x="3592286" y="423746"/>
                </a:moveTo>
                <a:cubicBezTo>
                  <a:pt x="3301481" y="220805"/>
                  <a:pt x="3010677" y="17865"/>
                  <a:pt x="2621902" y="3869"/>
                </a:cubicBezTo>
                <a:cubicBezTo>
                  <a:pt x="2233127" y="-10127"/>
                  <a:pt x="1696617" y="-3906"/>
                  <a:pt x="1259633" y="339771"/>
                </a:cubicBezTo>
                <a:cubicBezTo>
                  <a:pt x="822649" y="683448"/>
                  <a:pt x="411324" y="1374691"/>
                  <a:pt x="0" y="206593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013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one revolution of…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161453"/>
          </a:xfrm>
        </p:spPr>
        <p:txBody>
          <a:bodyPr>
            <a:normAutofit fontScale="77500" lnSpcReduction="20000"/>
          </a:bodyPr>
          <a:lstStyle/>
          <a:p>
            <a:endParaRPr lang="en-AU" sz="2600" dirty="0"/>
          </a:p>
          <a:p>
            <a:r>
              <a:rPr lang="en-AU" sz="4000" dirty="0" smtClean="0"/>
              <a:t>a </a:t>
            </a:r>
            <a:r>
              <a:rPr lang="en-AU" sz="4000" dirty="0"/>
              <a:t>gondola on the London </a:t>
            </a:r>
          </a:p>
          <a:p>
            <a:r>
              <a:rPr lang="en-AU" sz="4000" dirty="0"/>
              <a:t>Eye more than, or less </a:t>
            </a:r>
          </a:p>
          <a:p>
            <a:r>
              <a:rPr lang="en-AU" sz="4000" dirty="0"/>
              <a:t>than 400m?</a:t>
            </a:r>
          </a:p>
          <a:p>
            <a:endParaRPr lang="en-AU" sz="1200" dirty="0"/>
          </a:p>
          <a:p>
            <a:endParaRPr lang="en-AU" sz="1200" dirty="0"/>
          </a:p>
          <a:p>
            <a:pPr marL="0" indent="0" algn="r">
              <a:buNone/>
            </a:pPr>
            <a:endParaRPr lang="en-AU" sz="1200" dirty="0"/>
          </a:p>
          <a:p>
            <a:pPr marL="0" indent="0" algn="r">
              <a:buNone/>
            </a:pP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1200" dirty="0"/>
              <a:t>Image taken from </a:t>
            </a:r>
            <a:r>
              <a:rPr lang="en-AU" sz="1200" dirty="0">
                <a:hlinkClick r:id="rId2"/>
              </a:rPr>
              <a:t>https://commons.wikimedia.org/wiki/File:London_Eye_Pod.jpg?uselang=en-gb</a:t>
            </a:r>
            <a:r>
              <a:rPr lang="en-AU" sz="1200" dirty="0"/>
              <a:t> 	</a:t>
            </a:r>
          </a:p>
          <a:p>
            <a:pPr marL="0" indent="0" algn="r">
              <a:buNone/>
            </a:pPr>
            <a:r>
              <a:rPr lang="en-AU" sz="1200" dirty="0"/>
              <a:t>By </a:t>
            </a:r>
            <a:r>
              <a:rPr lang="en-AU" sz="1200" dirty="0" err="1"/>
              <a:t>hobbesnblue</a:t>
            </a:r>
            <a:r>
              <a:rPr lang="en-AU" sz="1200" dirty="0"/>
              <a:t>, CC BY-SA 3.0, </a:t>
            </a:r>
            <a:r>
              <a:rPr lang="en-AU" sz="1200" dirty="0">
                <a:hlinkClick r:id="rId3"/>
              </a:rPr>
              <a:t>https://commons.wikimedia.org/w/index.php?curid=4738354</a:t>
            </a:r>
            <a:r>
              <a:rPr lang="en-AU" sz="12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303" y="1948248"/>
            <a:ext cx="5191897" cy="38939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7739" r="3437" b="22405"/>
          <a:stretch/>
        </p:blipFill>
        <p:spPr>
          <a:xfrm>
            <a:off x="2486462" y="4102443"/>
            <a:ext cx="2655313" cy="173972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51806" y="2415006"/>
            <a:ext cx="296562" cy="296562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reeform 6"/>
          <p:cNvSpPr/>
          <p:nvPr/>
        </p:nvSpPr>
        <p:spPr>
          <a:xfrm>
            <a:off x="4394717" y="2036509"/>
            <a:ext cx="3357087" cy="2065934"/>
          </a:xfrm>
          <a:custGeom>
            <a:avLst/>
            <a:gdLst>
              <a:gd name="connsiteX0" fmla="*/ 3592286 w 3592286"/>
              <a:gd name="connsiteY0" fmla="*/ 423746 h 2065934"/>
              <a:gd name="connsiteX1" fmla="*/ 2621902 w 3592286"/>
              <a:gd name="connsiteY1" fmla="*/ 3869 h 2065934"/>
              <a:gd name="connsiteX2" fmla="*/ 1259633 w 3592286"/>
              <a:gd name="connsiteY2" fmla="*/ 339771 h 2065934"/>
              <a:gd name="connsiteX3" fmla="*/ 0 w 3592286"/>
              <a:gd name="connsiteY3" fmla="*/ 2065934 h 206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2286" h="2065934">
                <a:moveTo>
                  <a:pt x="3592286" y="423746"/>
                </a:moveTo>
                <a:cubicBezTo>
                  <a:pt x="3301481" y="220805"/>
                  <a:pt x="3010677" y="17865"/>
                  <a:pt x="2621902" y="3869"/>
                </a:cubicBezTo>
                <a:cubicBezTo>
                  <a:pt x="2233127" y="-10127"/>
                  <a:pt x="1696617" y="-3906"/>
                  <a:pt x="1259633" y="339771"/>
                </a:cubicBezTo>
                <a:cubicBezTo>
                  <a:pt x="822649" y="683448"/>
                  <a:pt x="411324" y="1374691"/>
                  <a:pt x="0" y="206593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ight Brace 7"/>
          <p:cNvSpPr/>
          <p:nvPr/>
        </p:nvSpPr>
        <p:spPr>
          <a:xfrm>
            <a:off x="9660059" y="2434082"/>
            <a:ext cx="225911" cy="2598058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71910" y="3363779"/>
                <a:ext cx="1840479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910" y="3363779"/>
                <a:ext cx="1840479" cy="73866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849876" y="433532"/>
                <a:ext cx="3962513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revolution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876" y="433532"/>
                <a:ext cx="3962513" cy="73866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783443" y="433532"/>
                <a:ext cx="989703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377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3443" y="433532"/>
                <a:ext cx="989703" cy="738664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94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 how fast 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161453"/>
          </a:xfrm>
        </p:spPr>
        <p:txBody>
          <a:bodyPr>
            <a:normAutofit fontScale="85000" lnSpcReduction="20000"/>
          </a:bodyPr>
          <a:lstStyle/>
          <a:p>
            <a:endParaRPr lang="en-AU" sz="2600" dirty="0"/>
          </a:p>
          <a:p>
            <a:r>
              <a:rPr lang="en-AU" sz="3800" dirty="0" smtClean="0"/>
              <a:t>a </a:t>
            </a:r>
            <a:r>
              <a:rPr lang="en-AU" sz="3800" dirty="0"/>
              <a:t>gondola on the </a:t>
            </a:r>
            <a:r>
              <a:rPr lang="en-AU" sz="3800" dirty="0" smtClean="0"/>
              <a:t>London</a:t>
            </a:r>
          </a:p>
          <a:p>
            <a:r>
              <a:rPr lang="en-AU" sz="3800" dirty="0" smtClean="0"/>
              <a:t>Eye if </a:t>
            </a:r>
            <a:r>
              <a:rPr lang="en-AU" sz="3800" dirty="0"/>
              <a:t>it takes 30 minutes</a:t>
            </a:r>
          </a:p>
          <a:p>
            <a:r>
              <a:rPr lang="en-AU" sz="3800" dirty="0"/>
              <a:t>for one revolution?</a:t>
            </a:r>
          </a:p>
          <a:p>
            <a:endParaRPr lang="en-AU" sz="1200" dirty="0"/>
          </a:p>
          <a:p>
            <a:endParaRPr lang="en-AU" sz="1200" dirty="0"/>
          </a:p>
          <a:p>
            <a:pPr marL="0" indent="0" algn="r">
              <a:buNone/>
            </a:pPr>
            <a:endParaRPr lang="en-AU" sz="1200" dirty="0"/>
          </a:p>
          <a:p>
            <a:pPr marL="0" indent="0" algn="r">
              <a:buNone/>
            </a:pP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endParaRPr lang="en-AU" sz="1200" dirty="0"/>
          </a:p>
          <a:p>
            <a:pPr marL="0" indent="0">
              <a:buNone/>
            </a:pPr>
            <a:r>
              <a:rPr lang="en-AU" sz="1200" dirty="0"/>
              <a:t>Image taken from </a:t>
            </a:r>
            <a:r>
              <a:rPr lang="en-AU" sz="1200" dirty="0">
                <a:hlinkClick r:id="rId2"/>
              </a:rPr>
              <a:t>https://commons.wikimedia.org/wiki/File:London_Eye_Pod.jpg?uselang=en-gb</a:t>
            </a:r>
            <a:r>
              <a:rPr lang="en-AU" sz="1200" dirty="0"/>
              <a:t> 	</a:t>
            </a:r>
          </a:p>
          <a:p>
            <a:pPr marL="0" indent="0" algn="r">
              <a:buNone/>
            </a:pPr>
            <a:r>
              <a:rPr lang="en-AU" sz="1200" dirty="0"/>
              <a:t>By </a:t>
            </a:r>
            <a:r>
              <a:rPr lang="en-AU" sz="1200" dirty="0" err="1"/>
              <a:t>hobbesnblue</a:t>
            </a:r>
            <a:r>
              <a:rPr lang="en-AU" sz="1200" dirty="0"/>
              <a:t>, CC BY-SA 3.0, </a:t>
            </a:r>
            <a:r>
              <a:rPr lang="en-AU" sz="1200" dirty="0">
                <a:hlinkClick r:id="rId3"/>
              </a:rPr>
              <a:t>https://commons.wikimedia.org/w/index.php?curid=4738354</a:t>
            </a:r>
            <a:r>
              <a:rPr lang="en-AU" sz="1200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303" y="1948248"/>
            <a:ext cx="5191897" cy="38939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l="7739" r="3437" b="22405"/>
          <a:stretch/>
        </p:blipFill>
        <p:spPr>
          <a:xfrm>
            <a:off x="2486462" y="4102443"/>
            <a:ext cx="2655313" cy="173972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751806" y="2415006"/>
            <a:ext cx="296562" cy="296562"/>
          </a:xfrm>
          <a:prstGeom prst="ellipse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reeform 6"/>
          <p:cNvSpPr/>
          <p:nvPr/>
        </p:nvSpPr>
        <p:spPr>
          <a:xfrm>
            <a:off x="4394717" y="2036509"/>
            <a:ext cx="3357087" cy="2065934"/>
          </a:xfrm>
          <a:custGeom>
            <a:avLst/>
            <a:gdLst>
              <a:gd name="connsiteX0" fmla="*/ 3592286 w 3592286"/>
              <a:gd name="connsiteY0" fmla="*/ 423746 h 2065934"/>
              <a:gd name="connsiteX1" fmla="*/ 2621902 w 3592286"/>
              <a:gd name="connsiteY1" fmla="*/ 3869 h 2065934"/>
              <a:gd name="connsiteX2" fmla="*/ 1259633 w 3592286"/>
              <a:gd name="connsiteY2" fmla="*/ 339771 h 2065934"/>
              <a:gd name="connsiteX3" fmla="*/ 0 w 3592286"/>
              <a:gd name="connsiteY3" fmla="*/ 2065934 h 2065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92286" h="2065934">
                <a:moveTo>
                  <a:pt x="3592286" y="423746"/>
                </a:moveTo>
                <a:cubicBezTo>
                  <a:pt x="3301481" y="220805"/>
                  <a:pt x="3010677" y="17865"/>
                  <a:pt x="2621902" y="3869"/>
                </a:cubicBezTo>
                <a:cubicBezTo>
                  <a:pt x="2233127" y="-10127"/>
                  <a:pt x="1696617" y="-3906"/>
                  <a:pt x="1259633" y="339771"/>
                </a:cubicBezTo>
                <a:cubicBezTo>
                  <a:pt x="822649" y="683448"/>
                  <a:pt x="411324" y="1374691"/>
                  <a:pt x="0" y="2065934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ight Brace 7"/>
          <p:cNvSpPr/>
          <p:nvPr/>
        </p:nvSpPr>
        <p:spPr>
          <a:xfrm>
            <a:off x="9660059" y="2434082"/>
            <a:ext cx="225911" cy="2598058"/>
          </a:xfrm>
          <a:prstGeom prst="rightBrac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971910" y="3363779"/>
                <a:ext cx="1840479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en-AU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1910" y="3363779"/>
                <a:ext cx="1840479" cy="73866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360895" y="433532"/>
                <a:ext cx="6451494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peed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895" y="433532"/>
                <a:ext cx="6451494" cy="73866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50425" y="433532"/>
                <a:ext cx="5058581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</m:t>
                      </m:r>
                      <m:r>
                        <a:rPr lang="en-US" sz="2800" b="0" i="1" smtClean="0">
                          <a:latin typeface="Cambria Math"/>
                          <a:ea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per</m:t>
                      </m:r>
                      <m: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hour</m:t>
                      </m:r>
                      <m: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</m:t>
                      </m:r>
                      <m: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0.754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/>
                          <a:ea typeface="Cambria Math" panose="02040503050406030204" pitchFamily="18" charset="0"/>
                        </a:rPr>
                        <m:t>km</m:t>
                      </m:r>
                      <m:r>
                        <a:rPr lang="en-US" sz="2800" b="0" i="0" smtClean="0">
                          <a:latin typeface="Cambria Math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425" y="433532"/>
                <a:ext cx="5058581" cy="73866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0235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sz="1000" dirty="0"/>
          </a:p>
          <a:p>
            <a:r>
              <a:rPr lang="en-AU" sz="3200" dirty="0"/>
              <a:t>d</a:t>
            </a:r>
            <a:r>
              <a:rPr lang="en-AU" sz="3200" dirty="0" smtClean="0"/>
              <a:t>iameter </a:t>
            </a:r>
            <a:r>
              <a:rPr lang="en-AU" sz="3200" dirty="0"/>
              <a:t>of a trundle </a:t>
            </a:r>
            <a:endParaRPr lang="en-AU" sz="3200" dirty="0" smtClean="0"/>
          </a:p>
          <a:p>
            <a:r>
              <a:rPr lang="en-AU" sz="3200" dirty="0"/>
              <a:t>w</a:t>
            </a:r>
            <a:r>
              <a:rPr lang="en-AU" sz="3200" dirty="0" smtClean="0"/>
              <a:t>heel more </a:t>
            </a:r>
            <a:r>
              <a:rPr lang="en-AU" sz="3200" dirty="0"/>
              <a:t>than, </a:t>
            </a:r>
            <a:endParaRPr lang="en-AU" sz="3200" dirty="0" smtClean="0"/>
          </a:p>
          <a:p>
            <a:r>
              <a:rPr lang="en-AU" sz="3200" dirty="0" smtClean="0"/>
              <a:t>or </a:t>
            </a:r>
            <a:r>
              <a:rPr lang="en-AU" sz="3200" dirty="0"/>
              <a:t>less </a:t>
            </a:r>
            <a:r>
              <a:rPr lang="en-AU" sz="3200" dirty="0" smtClean="0"/>
              <a:t>than, 30 </a:t>
            </a:r>
            <a:r>
              <a:rPr lang="en-AU" sz="3200" dirty="0"/>
              <a:t>cm?</a:t>
            </a:r>
          </a:p>
        </p:txBody>
      </p:sp>
    </p:spTree>
    <p:extLst>
      <p:ext uri="{BB962C8B-B14F-4D97-AF65-F5344CB8AC3E}">
        <p14:creationId xmlns:p14="http://schemas.microsoft.com/office/powerpoint/2010/main" val="377847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sz="1000" dirty="0"/>
          </a:p>
          <a:p>
            <a:r>
              <a:rPr lang="en-AU" sz="3200" dirty="0"/>
              <a:t>d</a:t>
            </a:r>
            <a:r>
              <a:rPr lang="en-AU" sz="3200" dirty="0" smtClean="0"/>
              <a:t>iameter </a:t>
            </a:r>
            <a:r>
              <a:rPr lang="en-AU" sz="3200" dirty="0"/>
              <a:t>of a trundle </a:t>
            </a:r>
          </a:p>
          <a:p>
            <a:r>
              <a:rPr lang="en-AU" sz="3200" dirty="0"/>
              <a:t>wheel more than, </a:t>
            </a:r>
          </a:p>
          <a:p>
            <a:r>
              <a:rPr lang="en-AU" sz="3200" dirty="0"/>
              <a:t>or less than, 30 cm?</a:t>
            </a:r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pPr algn="r"/>
            <a:r>
              <a:rPr lang="en-AU" sz="1000" dirty="0"/>
              <a:t>Image taken from </a:t>
            </a:r>
            <a:r>
              <a:rPr lang="en-AU" sz="1000" dirty="0">
                <a:hlinkClick r:id="rId2"/>
              </a:rPr>
              <a:t>https://commons.wikimedia.org/wiki/File:MessradSuricata.jpg</a:t>
            </a:r>
            <a:r>
              <a:rPr lang="en-AU" sz="1000" dirty="0"/>
              <a:t> </a:t>
            </a:r>
          </a:p>
        </p:txBody>
      </p:sp>
      <p:pic>
        <p:nvPicPr>
          <p:cNvPr id="2050" name="Picture 2" descr="File:MessradSuricata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8" t="4289" r="5688" b="11152"/>
          <a:stretch/>
        </p:blipFill>
        <p:spPr bwMode="auto">
          <a:xfrm>
            <a:off x="5029199" y="2084832"/>
            <a:ext cx="6920753" cy="3092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724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sz="1000" dirty="0"/>
          </a:p>
          <a:p>
            <a:r>
              <a:rPr lang="en-AU" sz="3200" dirty="0"/>
              <a:t>d</a:t>
            </a:r>
            <a:r>
              <a:rPr lang="en-AU" sz="3200" dirty="0" smtClean="0"/>
              <a:t>iameter </a:t>
            </a:r>
            <a:r>
              <a:rPr lang="en-AU" sz="3200" dirty="0"/>
              <a:t>of a trundle </a:t>
            </a:r>
          </a:p>
          <a:p>
            <a:r>
              <a:rPr lang="en-AU" sz="3200" dirty="0"/>
              <a:t>wheel more than, </a:t>
            </a:r>
          </a:p>
          <a:p>
            <a:r>
              <a:rPr lang="en-AU" sz="3200" dirty="0"/>
              <a:t>or less than, 30 cm?</a:t>
            </a:r>
          </a:p>
          <a:p>
            <a:endParaRPr lang="en-AU" sz="1000" dirty="0"/>
          </a:p>
          <a:p>
            <a:endParaRPr lang="en-AU" sz="1000" dirty="0"/>
          </a:p>
          <a:p>
            <a:endParaRPr lang="en-AU" sz="1000" dirty="0"/>
          </a:p>
          <a:p>
            <a:pPr algn="r"/>
            <a:r>
              <a:rPr lang="en-AU" sz="1000" dirty="0"/>
              <a:t>Image taken from </a:t>
            </a:r>
            <a:r>
              <a:rPr lang="en-AU" sz="1000" dirty="0">
                <a:hlinkClick r:id="rId2"/>
              </a:rPr>
              <a:t>http://www.chescientific.com/edu/product_228.aspx</a:t>
            </a:r>
            <a:r>
              <a:rPr lang="en-AU" sz="1000" dirty="0"/>
              <a:t> </a:t>
            </a:r>
          </a:p>
        </p:txBody>
      </p:sp>
      <p:pic>
        <p:nvPicPr>
          <p:cNvPr id="6146" name="Picture 2" descr="Trundle whe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622" y="2286000"/>
            <a:ext cx="4631578" cy="2917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7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Is the…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AU" sz="1000" dirty="0"/>
          </a:p>
          <a:p>
            <a:r>
              <a:rPr lang="en-AU" sz="4000" dirty="0"/>
              <a:t>d</a:t>
            </a:r>
            <a:r>
              <a:rPr lang="en-AU" sz="4000" dirty="0" smtClean="0"/>
              <a:t>iameter </a:t>
            </a:r>
            <a:r>
              <a:rPr lang="en-AU" sz="4000" dirty="0"/>
              <a:t>of a trundle </a:t>
            </a:r>
          </a:p>
          <a:p>
            <a:r>
              <a:rPr lang="en-AU" sz="4000" dirty="0"/>
              <a:t>wheel more than, </a:t>
            </a:r>
          </a:p>
          <a:p>
            <a:r>
              <a:rPr lang="en-AU" sz="4000" dirty="0"/>
              <a:t>or less than, 30 </a:t>
            </a:r>
            <a:r>
              <a:rPr lang="en-AU" sz="4000" dirty="0" smtClean="0"/>
              <a:t>cm . . .</a:t>
            </a:r>
          </a:p>
          <a:p>
            <a:endParaRPr lang="en-AU" sz="3800" dirty="0"/>
          </a:p>
          <a:p>
            <a:r>
              <a:rPr lang="en-AU" sz="3800" dirty="0" smtClean="0"/>
              <a:t>remembering </a:t>
            </a:r>
            <a:r>
              <a:rPr lang="en-AU" sz="3800" dirty="0"/>
              <a:t>that the</a:t>
            </a:r>
          </a:p>
          <a:p>
            <a:r>
              <a:rPr lang="en-AU" sz="3800" dirty="0"/>
              <a:t>circumference is meant to be</a:t>
            </a:r>
          </a:p>
          <a:p>
            <a:r>
              <a:rPr lang="en-AU" sz="3800" dirty="0"/>
              <a:t>exactly 1 m?				</a:t>
            </a:r>
            <a:r>
              <a:rPr lang="en-AU" sz="1100" dirty="0"/>
              <a:t>Image taken from </a:t>
            </a:r>
            <a:r>
              <a:rPr lang="en-AU" sz="1100" dirty="0">
                <a:hlinkClick r:id="rId2"/>
              </a:rPr>
              <a:t>http://www.chescientific.com/edu/product_228.aspx</a:t>
            </a:r>
            <a:r>
              <a:rPr lang="en-AU" sz="1100" dirty="0"/>
              <a:t> </a:t>
            </a:r>
          </a:p>
        </p:txBody>
      </p:sp>
      <p:pic>
        <p:nvPicPr>
          <p:cNvPr id="6146" name="Picture 2" descr="Trundle whe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924" y="2286000"/>
            <a:ext cx="4446276" cy="280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96784" y="587395"/>
                <a:ext cx="3542934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AU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iameter</m:t>
                      </m:r>
                      <m:r>
                        <m:rPr>
                          <m:nor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AU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784" y="587395"/>
                <a:ext cx="3542934" cy="73866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224682" y="585216"/>
                <a:ext cx="1515036" cy="73866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sz="2800" b="0" i="1" smtClean="0">
                          <a:latin typeface="Cambria Math"/>
                          <a:ea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en-AU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cm</m:t>
                      </m:r>
                    </m:oMath>
                  </m:oMathPara>
                </a14:m>
                <a:endParaRPr lang="en-AU" sz="28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682" y="585216"/>
                <a:ext cx="1515036" cy="738664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59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11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6" id="{A0D193CC-76EE-4878-838D-47BE12D94ADE}" vid="{C5BFC58A-78A4-435B-BBDE-6D83B7170BDF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6" id="{A0D193CC-76EE-4878-838D-47BE12D94ADE}" vid="{8912C857-D4AD-4E07-B424-61AD33B1F67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2388</TotalTime>
  <Words>1435</Words>
  <Application>Microsoft Office PowerPoint</Application>
  <PresentationFormat>Custom</PresentationFormat>
  <Paragraphs>418</Paragraphs>
  <Slides>42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Integral</vt:lpstr>
      <vt:lpstr>Office Theme</vt:lpstr>
      <vt:lpstr>1_Office Theme</vt:lpstr>
      <vt:lpstr>PowerPoint Presentation</vt:lpstr>
      <vt:lpstr>        the value of   </vt:lpstr>
      <vt:lpstr>What is Wrong with this Pi?</vt:lpstr>
      <vt:lpstr>Estimating around circles</vt:lpstr>
      <vt:lpstr>How this works…</vt:lpstr>
      <vt:lpstr>is one revolution OF…</vt:lpstr>
      <vt:lpstr>is one revolution OF…</vt:lpstr>
      <vt:lpstr>is one revolution OF…</vt:lpstr>
      <vt:lpstr>is one revolution OF…</vt:lpstr>
      <vt:lpstr>is the diameter of…</vt:lpstr>
      <vt:lpstr>Is the diameter of…</vt:lpstr>
      <vt:lpstr>Is the diameter of…</vt:lpstr>
      <vt:lpstr>So how tall is the driver if…</vt:lpstr>
      <vt:lpstr>Is the armspan of…</vt:lpstr>
      <vt:lpstr>Is the armspan of…</vt:lpstr>
      <vt:lpstr>Is the armspan of…</vt:lpstr>
      <vt:lpstr>Is the armspan of…</vt:lpstr>
      <vt:lpstr>Is the armspan of…</vt:lpstr>
      <vt:lpstr>Does the…</vt:lpstr>
      <vt:lpstr>Does the…</vt:lpstr>
      <vt:lpstr>Does the…</vt:lpstr>
      <vt:lpstr>Does the…</vt:lpstr>
      <vt:lpstr>So how fast is…</vt:lpstr>
      <vt:lpstr>So how fast is…</vt:lpstr>
      <vt:lpstr>So how fast is…</vt:lpstr>
      <vt:lpstr>So how fast is…</vt:lpstr>
      <vt:lpstr>is the circumference of…</vt:lpstr>
      <vt:lpstr>is the circumference of…</vt:lpstr>
      <vt:lpstr>is the circumference of…</vt:lpstr>
      <vt:lpstr>CHALLENGE: What is the rotationAL velocity of…</vt:lpstr>
      <vt:lpstr>Does venus move…</vt:lpstr>
      <vt:lpstr>Does venus move…</vt:lpstr>
      <vt:lpstr>Is one revolution of…</vt:lpstr>
      <vt:lpstr>Is one revolution of…</vt:lpstr>
      <vt:lpstr>Is one revolution of…</vt:lpstr>
      <vt:lpstr>Is one revolution of…</vt:lpstr>
      <vt:lpstr>So how fast is…</vt:lpstr>
      <vt:lpstr>Is the…</vt:lpstr>
      <vt:lpstr>Is the…</vt:lpstr>
      <vt:lpstr>Is the…</vt:lpstr>
      <vt:lpstr>Is the…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Formula</dc:title>
  <dc:creator>Michael Klinkert</dc:creator>
  <cp:lastModifiedBy>Kaye Stacey</cp:lastModifiedBy>
  <cp:revision>137</cp:revision>
  <cp:lastPrinted>2016-04-27T03:37:03Z</cp:lastPrinted>
  <dcterms:created xsi:type="dcterms:W3CDTF">2016-04-17T23:29:38Z</dcterms:created>
  <dcterms:modified xsi:type="dcterms:W3CDTF">2017-02-27T04:35:31Z</dcterms:modified>
</cp:coreProperties>
</file>
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0" r:id="rId2"/>
    <p:sldId id="259" r:id="rId3"/>
    <p:sldId id="258" r:id="rId4"/>
    <p:sldId id="319" r:id="rId5"/>
    <p:sldId id="334" r:id="rId6"/>
    <p:sldId id="331" r:id="rId7"/>
    <p:sldId id="359" r:id="rId8"/>
    <p:sldId id="360" r:id="rId9"/>
    <p:sldId id="361" r:id="rId10"/>
    <p:sldId id="329" r:id="rId11"/>
    <p:sldId id="368" r:id="rId12"/>
    <p:sldId id="346" r:id="rId13"/>
    <p:sldId id="362" r:id="rId14"/>
    <p:sldId id="330" r:id="rId15"/>
    <p:sldId id="363" r:id="rId16"/>
    <p:sldId id="367" r:id="rId17"/>
    <p:sldId id="364" r:id="rId18"/>
    <p:sldId id="365" r:id="rId19"/>
    <p:sldId id="366" r:id="rId20"/>
    <p:sldId id="292" r:id="rId21"/>
    <p:sldId id="291" r:id="rId22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59" autoAdjust="0"/>
    <p:restoredTop sz="79104" autoAdjust="0"/>
  </p:normalViewPr>
  <p:slideViewPr>
    <p:cSldViewPr>
      <p:cViewPr varScale="1">
        <p:scale>
          <a:sx n="68" d="100"/>
          <a:sy n="68" d="100"/>
        </p:scale>
        <p:origin x="1877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05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23/05/2018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23/05/2018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23/05/2018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23/05/2018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23/05/2018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23/05/2018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23/05/2018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23/05/2018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Shape and Measurement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</a:t>
            </a:r>
          </a:p>
          <a:p>
            <a:pPr algn="l"/>
            <a:r>
              <a:rPr lang="en-AU" dirty="0"/>
              <a:t>Semester 1</a:t>
            </a:r>
          </a:p>
          <a:p>
            <a:pPr algn="l"/>
            <a:r>
              <a:rPr lang="en-AU" dirty="0"/>
              <a:t>Term 2</a:t>
            </a:r>
          </a:p>
          <a:p>
            <a:pPr algn="l"/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5" name="Picture 4" descr="https://encrypted-tbn3.gstatic.com/images?q=tbn:ANd9GcQalickAZJxP16UO8A0LbBxeXtkHiUS7YDCPV2AjNF2_0WMm1D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1904999"/>
            <a:ext cx="2305050" cy="1981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Definition of a circle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A 2D shape</a:t>
            </a:r>
          </a:p>
          <a:p>
            <a:r>
              <a:rPr lang="en-AU" dirty="0"/>
              <a:t>1 edge</a:t>
            </a:r>
          </a:p>
          <a:p>
            <a:r>
              <a:rPr lang="en-AU" dirty="0"/>
              <a:t>No corners</a:t>
            </a:r>
          </a:p>
        </p:txBody>
      </p:sp>
      <p:sp>
        <p:nvSpPr>
          <p:cNvPr id="5" name="Oval 4"/>
          <p:cNvSpPr/>
          <p:nvPr/>
        </p:nvSpPr>
        <p:spPr>
          <a:xfrm>
            <a:off x="3491880" y="1844824"/>
            <a:ext cx="2160240" cy="2160240"/>
          </a:xfrm>
          <a:prstGeom prst="ellipse">
            <a:avLst/>
          </a:prstGeom>
          <a:solidFill>
            <a:srgbClr val="92D050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7888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Circles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do I need to know about circles?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 circle?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2D shape that has only one edge (or side) and no vertices (corners).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total measurement around the edge of the circle.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655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Diameter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2513" y="328481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straight line measurement from one side to the other, passing through the centre of the circle.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650" y="4103784"/>
            <a:ext cx="202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Radius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1484" y="410378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straight line measurement from the centre of the circle to the edge.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1484" y="4760656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radius is half the length of the diameter.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82" y="5234716"/>
            <a:ext cx="1742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pi (</a:t>
            </a:r>
            <a:r>
              <a:rPr lang="el-GR" dirty="0"/>
              <a:t>π</a:t>
            </a:r>
            <a:r>
              <a:rPr lang="en-AU" dirty="0"/>
              <a:t>)?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770" y="5234716"/>
            <a:ext cx="5773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π</a:t>
            </a:r>
            <a:r>
              <a:rPr lang="en-AU" dirty="0"/>
              <a:t> is used in the formulas to find the circumference and area of circles.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770" y="5881047"/>
            <a:ext cx="5800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Its value is 3.14 (correct to 2dp). It is an irrational number (it has no equivalent fraction) and is a non terminating decimal.  </a:t>
            </a:r>
          </a:p>
        </p:txBody>
      </p:sp>
    </p:spTree>
    <p:extLst>
      <p:ext uri="{BB962C8B-B14F-4D97-AF65-F5344CB8AC3E}">
        <p14:creationId xmlns:p14="http://schemas.microsoft.com/office/powerpoint/2010/main" val="371881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2428860" y="1178703"/>
            <a:ext cx="4179123" cy="412250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Circumference and Radius.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4077072"/>
            <a:ext cx="6172200" cy="1709382"/>
          </a:xfrm>
        </p:spPr>
        <p:txBody>
          <a:bodyPr>
            <a:normAutofit fontScale="92500" lnSpcReduction="20000"/>
          </a:bodyPr>
          <a:lstStyle/>
          <a:p>
            <a:r>
              <a:rPr lang="en-AU" sz="1800" dirty="0"/>
              <a:t>The </a:t>
            </a:r>
            <a:r>
              <a:rPr lang="en-AU" sz="1800" b="1" dirty="0">
                <a:solidFill>
                  <a:srgbClr val="FF0000"/>
                </a:solidFill>
              </a:rPr>
              <a:t>circumference</a:t>
            </a:r>
            <a:r>
              <a:rPr lang="en-AU" sz="1800" dirty="0"/>
              <a:t> of a circle is the boundary of the circle.</a:t>
            </a:r>
          </a:p>
          <a:p>
            <a:r>
              <a:rPr lang="en-AU" sz="1800" dirty="0"/>
              <a:t>A line segment drawn from the centre of a circle to the circumference is the </a:t>
            </a:r>
            <a:r>
              <a:rPr lang="en-AU" sz="1800" b="1" dirty="0">
                <a:solidFill>
                  <a:srgbClr val="FF0000"/>
                </a:solidFill>
              </a:rPr>
              <a:t>radius</a:t>
            </a:r>
            <a:r>
              <a:rPr lang="en-AU" sz="1800" dirty="0">
                <a:solidFill>
                  <a:srgbClr val="FF0000"/>
                </a:solidFill>
              </a:rPr>
              <a:t>. </a:t>
            </a:r>
            <a:r>
              <a:rPr lang="en-AU" sz="1800" dirty="0">
                <a:solidFill>
                  <a:srgbClr val="002060"/>
                </a:solidFill>
              </a:rPr>
              <a:t>Every radius in a circle is equal in length.</a:t>
            </a:r>
          </a:p>
          <a:p>
            <a:r>
              <a:rPr lang="en-AU" sz="1800" dirty="0"/>
              <a:t>A line segment drawn through the centre from one side of a circle to its opposite side is called the </a:t>
            </a:r>
            <a:r>
              <a:rPr lang="en-AU" sz="1800" b="1" dirty="0">
                <a:solidFill>
                  <a:srgbClr val="FF0000"/>
                </a:solidFill>
              </a:rPr>
              <a:t>diameter.</a:t>
            </a:r>
            <a:r>
              <a:rPr lang="en-AU" sz="1800" dirty="0">
                <a:solidFill>
                  <a:srgbClr val="FF0000"/>
                </a:solidFill>
              </a:rPr>
              <a:t> </a:t>
            </a:r>
            <a:r>
              <a:rPr lang="en-AU" sz="1800" dirty="0"/>
              <a:t> </a:t>
            </a:r>
            <a:r>
              <a:rPr lang="en-AU" sz="1800" dirty="0">
                <a:solidFill>
                  <a:srgbClr val="002060"/>
                </a:solidFill>
              </a:rPr>
              <a:t>It is double the length of the radius.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4518421" y="1910760"/>
            <a:ext cx="1583388" cy="141617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321549" y="2032518"/>
            <a:ext cx="126443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circumference</a:t>
            </a:r>
            <a:endParaRPr lang="en-AU" sz="135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" name="Shape 6"/>
          <p:cNvCxnSpPr/>
          <p:nvPr/>
        </p:nvCxnSpPr>
        <p:spPr>
          <a:xfrm rot="5400000">
            <a:off x="6636846" y="2116326"/>
            <a:ext cx="151629" cy="48220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139659" y="1722108"/>
            <a:ext cx="2597863" cy="314705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054236" y="1864076"/>
            <a:ext cx="85725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diameter</a:t>
            </a:r>
            <a:endParaRPr lang="en-AU" sz="135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4" name="Shape 13"/>
          <p:cNvCxnSpPr/>
          <p:nvPr/>
        </p:nvCxnSpPr>
        <p:spPr>
          <a:xfrm rot="16200000" flipH="1">
            <a:off x="2994324" y="1713258"/>
            <a:ext cx="128546" cy="91083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947049" y="2089537"/>
            <a:ext cx="75010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radius</a:t>
            </a:r>
            <a:endParaRPr lang="en-AU" sz="135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7" name="Shape 16"/>
          <p:cNvCxnSpPr/>
          <p:nvPr/>
        </p:nvCxnSpPr>
        <p:spPr>
          <a:xfrm rot="5400000" flipH="1" flipV="1">
            <a:off x="5550580" y="1995617"/>
            <a:ext cx="132780" cy="241104"/>
          </a:xfrm>
          <a:prstGeom prst="bentConnector4">
            <a:avLst>
              <a:gd name="adj1" fmla="val -172164"/>
              <a:gd name="adj2" fmla="val -21703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70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Circle"/>
          <p:cNvPicPr>
            <a:picLocks noChangeAspect="1" noChangeArrowheads="1"/>
          </p:cNvPicPr>
          <p:nvPr/>
        </p:nvPicPr>
        <p:blipFill>
          <a:blip r:embed="rId2" cstate="print"/>
          <a:srcRect l="23916" t="27990" r="19976" b="13421"/>
          <a:stretch>
            <a:fillRect/>
          </a:stretch>
        </p:blipFill>
        <p:spPr bwMode="auto">
          <a:xfrm>
            <a:off x="22721" y="500500"/>
            <a:ext cx="9121279" cy="5952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1"/>
          <p:cNvPicPr>
            <a:picLocks noChangeAspect="1" noChangeArrowheads="1"/>
          </p:cNvPicPr>
          <p:nvPr/>
        </p:nvPicPr>
        <p:blipFill>
          <a:blip r:embed="rId3" cstate="print"/>
          <a:srcRect l="20469" t="30155" r="63584" b="56615"/>
          <a:stretch>
            <a:fillRect/>
          </a:stretch>
        </p:blipFill>
        <p:spPr bwMode="auto">
          <a:xfrm>
            <a:off x="107504" y="1052736"/>
            <a:ext cx="2638579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5"/>
          <p:cNvPicPr>
            <a:picLocks noChangeAspect="1" noChangeArrowheads="1"/>
          </p:cNvPicPr>
          <p:nvPr/>
        </p:nvPicPr>
        <p:blipFill>
          <a:blip r:embed="rId3" cstate="print"/>
          <a:srcRect l="20469" t="30155" r="63584" b="56615"/>
          <a:stretch>
            <a:fillRect/>
          </a:stretch>
        </p:blipFill>
        <p:spPr bwMode="auto">
          <a:xfrm>
            <a:off x="6444208" y="4797152"/>
            <a:ext cx="2638579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3" cstate="print"/>
          <a:srcRect l="20469" t="30155" r="63584" b="56615"/>
          <a:stretch>
            <a:fillRect/>
          </a:stretch>
        </p:blipFill>
        <p:spPr bwMode="auto">
          <a:xfrm>
            <a:off x="3347864" y="4941168"/>
            <a:ext cx="2638579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3" cstate="print"/>
          <a:srcRect l="20469" t="30155" r="63946" b="56615"/>
          <a:stretch>
            <a:fillRect/>
          </a:stretch>
        </p:blipFill>
        <p:spPr bwMode="auto">
          <a:xfrm>
            <a:off x="193160" y="4964864"/>
            <a:ext cx="2578640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3" cstate="print"/>
          <a:srcRect l="20469" t="30155" r="63584" b="56615"/>
          <a:stretch>
            <a:fillRect/>
          </a:stretch>
        </p:blipFill>
        <p:spPr bwMode="auto">
          <a:xfrm>
            <a:off x="89359" y="2958315"/>
            <a:ext cx="2638579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179512" y="3068960"/>
            <a:ext cx="1368152" cy="360040"/>
          </a:xfrm>
          <a:prstGeom prst="rect">
            <a:avLst/>
          </a:prstGeom>
        </p:spPr>
        <p:txBody>
          <a:bodyPr vert="horz" tIns="0" rIns="45720" bIns="0" anchor="b">
            <a:normAutofit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sz="2400" dirty="0">
                <a:solidFill>
                  <a:srgbClr val="FF0000"/>
                </a:solidFill>
              </a:rPr>
              <a:t>Diameter</a:t>
            </a:r>
            <a:endParaRPr kumimoji="0" lang="en-GB" sz="240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ubtitle 3"/>
          <p:cNvSpPr txBox="1">
            <a:spLocks/>
          </p:cNvSpPr>
          <p:nvPr/>
        </p:nvSpPr>
        <p:spPr>
          <a:xfrm>
            <a:off x="251520" y="5085184"/>
            <a:ext cx="1152128" cy="360040"/>
          </a:xfrm>
          <a:prstGeom prst="rect">
            <a:avLst/>
          </a:prstGeom>
        </p:spPr>
        <p:txBody>
          <a:bodyPr vert="horz" tIns="0" rIns="45720" bIns="0" anchor="b">
            <a:normAutofit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sz="2400" dirty="0">
                <a:solidFill>
                  <a:srgbClr val="FF0000"/>
                </a:solidFill>
              </a:rPr>
              <a:t>Radius</a:t>
            </a:r>
            <a:endParaRPr kumimoji="0" lang="en-GB" sz="240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Subtitle 4"/>
          <p:cNvSpPr txBox="1">
            <a:spLocks/>
          </p:cNvSpPr>
          <p:nvPr/>
        </p:nvSpPr>
        <p:spPr>
          <a:xfrm>
            <a:off x="3419872" y="5085184"/>
            <a:ext cx="2160240" cy="360040"/>
          </a:xfrm>
          <a:prstGeom prst="rect">
            <a:avLst/>
          </a:prstGeom>
        </p:spPr>
        <p:txBody>
          <a:bodyPr vert="horz" tIns="0" rIns="45720" bIns="0" anchor="b">
            <a:normAutofit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sz="2400" dirty="0">
                <a:solidFill>
                  <a:srgbClr val="FF0000"/>
                </a:solidFill>
              </a:rPr>
              <a:t>Circumference</a:t>
            </a:r>
            <a:endParaRPr kumimoji="0" lang="en-GB" sz="240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ubtitle 5"/>
          <p:cNvSpPr txBox="1">
            <a:spLocks/>
          </p:cNvSpPr>
          <p:nvPr/>
        </p:nvSpPr>
        <p:spPr>
          <a:xfrm>
            <a:off x="6444208" y="4941168"/>
            <a:ext cx="1224136" cy="360040"/>
          </a:xfrm>
          <a:prstGeom prst="rect">
            <a:avLst/>
          </a:prstGeom>
        </p:spPr>
        <p:txBody>
          <a:bodyPr vert="horz" tIns="0" rIns="45720" bIns="0" anchor="b">
            <a:normAutofit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sz="2400" dirty="0">
                <a:solidFill>
                  <a:srgbClr val="FF0000"/>
                </a:solidFill>
              </a:rPr>
              <a:t>Tangent</a:t>
            </a:r>
            <a:endParaRPr kumimoji="0" lang="en-GB" sz="240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Definition 2"/>
          <p:cNvSpPr txBox="1">
            <a:spLocks/>
          </p:cNvSpPr>
          <p:nvPr/>
        </p:nvSpPr>
        <p:spPr>
          <a:xfrm>
            <a:off x="107504" y="3501008"/>
            <a:ext cx="2520280" cy="720080"/>
          </a:xfrm>
          <a:prstGeom prst="rect">
            <a:avLst/>
          </a:prstGeom>
          <a:solidFill>
            <a:schemeClr val="tx1"/>
          </a:solidFill>
        </p:spPr>
        <p:txBody>
          <a:bodyPr vert="horz" tIns="0" rIns="45720" bIns="0" anchor="t">
            <a:normAutofit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dirty="0">
                <a:solidFill>
                  <a:schemeClr val="bg1"/>
                </a:solidFill>
              </a:rPr>
              <a:t>The distance across a circle through its centre</a:t>
            </a:r>
            <a:endParaRPr kumimoji="0" lang="en-GB" i="0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Definition 3"/>
          <p:cNvSpPr txBox="1">
            <a:spLocks/>
          </p:cNvSpPr>
          <p:nvPr/>
        </p:nvSpPr>
        <p:spPr>
          <a:xfrm>
            <a:off x="251520" y="5555869"/>
            <a:ext cx="2520280" cy="720080"/>
          </a:xfrm>
          <a:prstGeom prst="rect">
            <a:avLst/>
          </a:prstGeom>
          <a:solidFill>
            <a:schemeClr val="tx1"/>
          </a:solidFill>
        </p:spPr>
        <p:txBody>
          <a:bodyPr vert="horz" tIns="0" rIns="45720" bIns="0" anchor="t">
            <a:normAutofit fontScale="92500"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dirty="0">
                <a:solidFill>
                  <a:schemeClr val="bg1"/>
                </a:solidFill>
              </a:rPr>
              <a:t>The distance from the centre to the edge – it’s half of the diameter</a:t>
            </a:r>
            <a:endParaRPr kumimoji="0" lang="en-GB" i="0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Definition 4"/>
          <p:cNvSpPr txBox="1">
            <a:spLocks/>
          </p:cNvSpPr>
          <p:nvPr/>
        </p:nvSpPr>
        <p:spPr>
          <a:xfrm>
            <a:off x="3394114" y="5542990"/>
            <a:ext cx="2520280" cy="753451"/>
          </a:xfrm>
          <a:prstGeom prst="rect">
            <a:avLst/>
          </a:prstGeom>
          <a:solidFill>
            <a:schemeClr val="tx1"/>
          </a:solidFill>
        </p:spPr>
        <p:txBody>
          <a:bodyPr vert="horz" tIns="0" rIns="45720" bIns="0" anchor="t">
            <a:normAutofit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dirty="0">
                <a:solidFill>
                  <a:schemeClr val="bg1"/>
                </a:solidFill>
              </a:rPr>
              <a:t>The distance around a circle – a posh word for perimeter</a:t>
            </a:r>
            <a:endParaRPr kumimoji="0" lang="en-GB" i="0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Definition 5"/>
          <p:cNvSpPr txBox="1">
            <a:spLocks/>
          </p:cNvSpPr>
          <p:nvPr/>
        </p:nvSpPr>
        <p:spPr>
          <a:xfrm>
            <a:off x="6444208" y="5386095"/>
            <a:ext cx="2520280" cy="753451"/>
          </a:xfrm>
          <a:prstGeom prst="rect">
            <a:avLst/>
          </a:prstGeom>
          <a:solidFill>
            <a:schemeClr val="tx1"/>
          </a:solidFill>
        </p:spPr>
        <p:txBody>
          <a:bodyPr vert="horz" tIns="0" rIns="45720" bIns="0" anchor="t">
            <a:normAutofit fontScale="92500"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dirty="0">
                <a:solidFill>
                  <a:schemeClr val="bg1"/>
                </a:solidFill>
              </a:rPr>
              <a:t>A straight line that touches ONLY one point of the circumference</a:t>
            </a:r>
            <a:endParaRPr kumimoji="0" lang="en-GB" i="0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ubtitle 1"/>
          <p:cNvSpPr txBox="1">
            <a:spLocks/>
          </p:cNvSpPr>
          <p:nvPr/>
        </p:nvSpPr>
        <p:spPr>
          <a:xfrm>
            <a:off x="179512" y="1124744"/>
            <a:ext cx="1584176" cy="360040"/>
          </a:xfrm>
          <a:prstGeom prst="rect">
            <a:avLst/>
          </a:prstGeom>
        </p:spPr>
        <p:txBody>
          <a:bodyPr vert="horz" tIns="0" rIns="45720" bIns="0" anchor="b">
            <a:normAutofit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sz="2400" dirty="0">
                <a:solidFill>
                  <a:srgbClr val="FF0000"/>
                </a:solidFill>
              </a:rPr>
              <a:t>Semicircle</a:t>
            </a:r>
            <a:endParaRPr kumimoji="0" lang="en-GB" sz="240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Definition 1"/>
          <p:cNvSpPr txBox="1">
            <a:spLocks/>
          </p:cNvSpPr>
          <p:nvPr/>
        </p:nvSpPr>
        <p:spPr>
          <a:xfrm>
            <a:off x="179512" y="1628800"/>
            <a:ext cx="2195736" cy="432048"/>
          </a:xfrm>
          <a:prstGeom prst="rect">
            <a:avLst/>
          </a:prstGeom>
          <a:solidFill>
            <a:schemeClr val="tx1"/>
          </a:solidFill>
        </p:spPr>
        <p:txBody>
          <a:bodyPr vert="horz" tIns="0" rIns="45720" bIns="0" anchor="t">
            <a:normAutofit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dirty="0">
                <a:solidFill>
                  <a:schemeClr val="bg1"/>
                </a:solidFill>
              </a:rPr>
              <a:t>One half of a circle</a:t>
            </a:r>
            <a:endParaRPr kumimoji="0" lang="en-GB" i="0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11660" y="71201"/>
            <a:ext cx="63325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Other Parts of a Circle </a:t>
            </a:r>
            <a:r>
              <a:rPr lang="mr-IN" sz="2800" dirty="0"/>
              <a:t>–</a:t>
            </a:r>
            <a:r>
              <a:rPr lang="en-US" sz="2800" dirty="0"/>
              <a:t> For our Glossaries</a:t>
            </a:r>
          </a:p>
        </p:txBody>
      </p:sp>
    </p:spTree>
    <p:extLst>
      <p:ext uri="{BB962C8B-B14F-4D97-AF65-F5344CB8AC3E}">
        <p14:creationId xmlns:p14="http://schemas.microsoft.com/office/powerpoint/2010/main" val="2417080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53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1" grpId="0" animBg="1"/>
      <p:bldP spid="12" grpId="0" animBg="1"/>
      <p:bldP spid="13" grpId="0" animBg="1"/>
      <p:bldP spid="14" grpId="0" animBg="1"/>
      <p:bldP spid="5" grpId="0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Circle"/>
          <p:cNvPicPr>
            <a:picLocks noChangeAspect="1" noChangeArrowheads="1"/>
          </p:cNvPicPr>
          <p:nvPr/>
        </p:nvPicPr>
        <p:blipFill>
          <a:blip r:embed="rId2" cstate="print"/>
          <a:srcRect l="25700" t="31770" r="24700" b="10000"/>
          <a:stretch>
            <a:fillRect/>
          </a:stretch>
        </p:blipFill>
        <p:spPr bwMode="auto">
          <a:xfrm>
            <a:off x="312141" y="413130"/>
            <a:ext cx="8652347" cy="6348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2"/>
          <p:cNvPicPr>
            <a:picLocks noChangeAspect="1" noChangeArrowheads="1"/>
          </p:cNvPicPr>
          <p:nvPr/>
        </p:nvPicPr>
        <p:blipFill>
          <a:blip r:embed="rId3" cstate="print"/>
          <a:srcRect l="56990" t="54450" r="27063" b="32320"/>
          <a:stretch>
            <a:fillRect/>
          </a:stretch>
        </p:blipFill>
        <p:spPr bwMode="auto">
          <a:xfrm>
            <a:off x="5790198" y="2744548"/>
            <a:ext cx="2916324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23"/>
          <p:cNvPicPr>
            <a:picLocks noChangeAspect="1" noChangeArrowheads="1"/>
          </p:cNvPicPr>
          <p:nvPr/>
        </p:nvPicPr>
        <p:blipFill>
          <a:blip r:embed="rId3" cstate="print"/>
          <a:srcRect l="56990" t="54450" r="27063" b="32320"/>
          <a:stretch>
            <a:fillRect/>
          </a:stretch>
        </p:blipFill>
        <p:spPr bwMode="auto">
          <a:xfrm>
            <a:off x="4932040" y="4707330"/>
            <a:ext cx="2916324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1"/>
          <p:cNvPicPr>
            <a:picLocks noChangeAspect="1" noChangeArrowheads="1"/>
          </p:cNvPicPr>
          <p:nvPr/>
        </p:nvPicPr>
        <p:blipFill>
          <a:blip r:embed="rId3" cstate="print"/>
          <a:srcRect l="57384" t="54450" r="27063" b="32320"/>
          <a:stretch>
            <a:fillRect/>
          </a:stretch>
        </p:blipFill>
        <p:spPr bwMode="auto">
          <a:xfrm>
            <a:off x="5826578" y="633316"/>
            <a:ext cx="2916324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4"/>
          <p:cNvPicPr>
            <a:picLocks noChangeAspect="1" noChangeArrowheads="1"/>
          </p:cNvPicPr>
          <p:nvPr/>
        </p:nvPicPr>
        <p:blipFill>
          <a:blip r:embed="rId3" cstate="print"/>
          <a:srcRect l="57384" t="54450" r="27063" b="32320"/>
          <a:stretch>
            <a:fillRect/>
          </a:stretch>
        </p:blipFill>
        <p:spPr bwMode="auto">
          <a:xfrm>
            <a:off x="1043608" y="4941168"/>
            <a:ext cx="2916324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" name="Subtitle 1"/>
          <p:cNvSpPr txBox="1">
            <a:spLocks/>
          </p:cNvSpPr>
          <p:nvPr/>
        </p:nvSpPr>
        <p:spPr>
          <a:xfrm>
            <a:off x="5909128" y="810954"/>
            <a:ext cx="823112" cy="360040"/>
          </a:xfrm>
          <a:prstGeom prst="rect">
            <a:avLst/>
          </a:prstGeom>
        </p:spPr>
        <p:txBody>
          <a:bodyPr vert="horz" tIns="0" rIns="45720" bIns="0" anchor="b">
            <a:normAutofit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sz="2400" dirty="0">
                <a:solidFill>
                  <a:srgbClr val="FF0000"/>
                </a:solidFill>
              </a:rPr>
              <a:t>Arc</a:t>
            </a:r>
            <a:endParaRPr kumimoji="0" lang="en-GB" sz="240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Definition 1"/>
          <p:cNvSpPr txBox="1">
            <a:spLocks/>
          </p:cNvSpPr>
          <p:nvPr/>
        </p:nvSpPr>
        <p:spPr>
          <a:xfrm>
            <a:off x="5909128" y="1243002"/>
            <a:ext cx="2664296" cy="864096"/>
          </a:xfrm>
          <a:prstGeom prst="rect">
            <a:avLst/>
          </a:prstGeom>
          <a:solidFill>
            <a:schemeClr val="tx1"/>
          </a:solidFill>
        </p:spPr>
        <p:txBody>
          <a:bodyPr vert="horz" tIns="0" rIns="45720" bIns="0" anchor="t">
            <a:normAutofit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dirty="0">
                <a:solidFill>
                  <a:schemeClr val="bg1"/>
                </a:solidFill>
              </a:rPr>
              <a:t>One of the two parts between two points of the circumference</a:t>
            </a:r>
            <a:endParaRPr kumimoji="0" lang="en-GB" i="0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" name="Subtitle 2"/>
          <p:cNvSpPr txBox="1">
            <a:spLocks/>
          </p:cNvSpPr>
          <p:nvPr/>
        </p:nvSpPr>
        <p:spPr>
          <a:xfrm>
            <a:off x="5870491" y="2840057"/>
            <a:ext cx="1221789" cy="360040"/>
          </a:xfrm>
          <a:prstGeom prst="rect">
            <a:avLst/>
          </a:prstGeom>
        </p:spPr>
        <p:txBody>
          <a:bodyPr vert="horz" tIns="0" rIns="45720" bIns="0" anchor="b">
            <a:normAutofit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sz="2400" dirty="0">
                <a:solidFill>
                  <a:srgbClr val="FF0000"/>
                </a:solidFill>
              </a:rPr>
              <a:t>Sector</a:t>
            </a:r>
            <a:endParaRPr kumimoji="0" lang="en-GB" sz="240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" name="Subtitle 3"/>
          <p:cNvSpPr txBox="1">
            <a:spLocks/>
          </p:cNvSpPr>
          <p:nvPr/>
        </p:nvSpPr>
        <p:spPr>
          <a:xfrm>
            <a:off x="4957798" y="4817644"/>
            <a:ext cx="1054362" cy="360040"/>
          </a:xfrm>
          <a:prstGeom prst="rect">
            <a:avLst/>
          </a:prstGeom>
        </p:spPr>
        <p:txBody>
          <a:bodyPr vert="horz" tIns="0" rIns="45720" bIns="0" anchor="b">
            <a:normAutofit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sz="2400" dirty="0">
                <a:solidFill>
                  <a:srgbClr val="FF0000"/>
                </a:solidFill>
              </a:rPr>
              <a:t>Chord</a:t>
            </a:r>
            <a:endParaRPr kumimoji="0" lang="en-GB" sz="240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1" name="Subtitle 4"/>
          <p:cNvSpPr txBox="1">
            <a:spLocks/>
          </p:cNvSpPr>
          <p:nvPr/>
        </p:nvSpPr>
        <p:spPr>
          <a:xfrm>
            <a:off x="1102737" y="5059426"/>
            <a:ext cx="1525047" cy="360040"/>
          </a:xfrm>
          <a:prstGeom prst="rect">
            <a:avLst/>
          </a:prstGeom>
        </p:spPr>
        <p:txBody>
          <a:bodyPr vert="horz" tIns="0" rIns="45720" bIns="0" anchor="b">
            <a:normAutofit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sz="2400" dirty="0">
                <a:solidFill>
                  <a:srgbClr val="FF0000"/>
                </a:solidFill>
              </a:rPr>
              <a:t>Segment</a:t>
            </a:r>
            <a:endParaRPr kumimoji="0" lang="en-GB" sz="240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" name="Definition 2"/>
          <p:cNvSpPr txBox="1">
            <a:spLocks/>
          </p:cNvSpPr>
          <p:nvPr/>
        </p:nvSpPr>
        <p:spPr>
          <a:xfrm>
            <a:off x="5870491" y="3390363"/>
            <a:ext cx="2736304" cy="864096"/>
          </a:xfrm>
          <a:prstGeom prst="rect">
            <a:avLst/>
          </a:prstGeom>
          <a:solidFill>
            <a:schemeClr val="tx1"/>
          </a:solidFill>
        </p:spPr>
        <p:txBody>
          <a:bodyPr vert="horz" tIns="0" rIns="45720" bIns="0" anchor="t">
            <a:normAutofit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dirty="0">
                <a:solidFill>
                  <a:schemeClr val="bg1"/>
                </a:solidFill>
              </a:rPr>
              <a:t>The portion between two radii and an arc</a:t>
            </a:r>
            <a:endParaRPr kumimoji="0" lang="en-GB" i="0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3" name="Definition 3"/>
          <p:cNvSpPr txBox="1">
            <a:spLocks/>
          </p:cNvSpPr>
          <p:nvPr/>
        </p:nvSpPr>
        <p:spPr>
          <a:xfrm>
            <a:off x="4980637" y="5306474"/>
            <a:ext cx="2736304" cy="864096"/>
          </a:xfrm>
          <a:prstGeom prst="rect">
            <a:avLst/>
          </a:prstGeom>
          <a:solidFill>
            <a:schemeClr val="tx1"/>
          </a:solidFill>
        </p:spPr>
        <p:txBody>
          <a:bodyPr vert="horz" tIns="0" rIns="45720" bIns="0" anchor="t">
            <a:normAutofit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dirty="0">
                <a:solidFill>
                  <a:schemeClr val="bg1"/>
                </a:solidFill>
              </a:rPr>
              <a:t>A straight line which joins two parts of the circumference</a:t>
            </a:r>
            <a:endParaRPr kumimoji="0" lang="en-GB" i="0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4" name="Definition 4"/>
          <p:cNvSpPr txBox="1">
            <a:spLocks/>
          </p:cNvSpPr>
          <p:nvPr/>
        </p:nvSpPr>
        <p:spPr>
          <a:xfrm>
            <a:off x="1084592" y="5530111"/>
            <a:ext cx="2736304" cy="864096"/>
          </a:xfrm>
          <a:prstGeom prst="rect">
            <a:avLst/>
          </a:prstGeom>
          <a:solidFill>
            <a:schemeClr val="tx1"/>
          </a:solidFill>
        </p:spPr>
        <p:txBody>
          <a:bodyPr vert="horz" tIns="0" rIns="45720" bIns="0" anchor="t">
            <a:normAutofit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dirty="0">
                <a:solidFill>
                  <a:schemeClr val="bg1"/>
                </a:solidFill>
              </a:rPr>
              <a:t>The region of a circle between a chord and an arc</a:t>
            </a:r>
            <a:endParaRPr kumimoji="0" lang="en-GB" i="0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320480" y="98730"/>
            <a:ext cx="63325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Other Parts of a Circle </a:t>
            </a:r>
            <a:r>
              <a:rPr lang="mr-IN" sz="2800" dirty="0"/>
              <a:t>–</a:t>
            </a:r>
            <a:r>
              <a:rPr lang="en-US" sz="2800" dirty="0"/>
              <a:t> For our Glossaries</a:t>
            </a:r>
          </a:p>
        </p:txBody>
      </p:sp>
    </p:spTree>
    <p:extLst>
      <p:ext uri="{BB962C8B-B14F-4D97-AF65-F5344CB8AC3E}">
        <p14:creationId xmlns:p14="http://schemas.microsoft.com/office/powerpoint/2010/main" val="1896115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7" grpId="0"/>
      <p:bldP spid="28" grpId="0" animBg="1"/>
      <p:bldP spid="29" grpId="0"/>
      <p:bldP spid="30" grpId="0"/>
      <p:bldP spid="31" grpId="0"/>
      <p:bldP spid="32" grpId="0" animBg="1"/>
      <p:bldP spid="33" grpId="0" animBg="1"/>
      <p:bldP spid="3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700808"/>
            <a:ext cx="6350000" cy="4762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0235" y="116632"/>
            <a:ext cx="74168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Complete Parts of a Circle Handout</a:t>
            </a:r>
            <a:r>
              <a:rPr lang="en-US" sz="2800"/>
              <a:t>: Label them, then cut </a:t>
            </a:r>
            <a:r>
              <a:rPr lang="en-US" sz="2800" dirty="0"/>
              <a:t>out and Paste </a:t>
            </a:r>
          </a:p>
          <a:p>
            <a:pPr algn="ctr"/>
            <a:r>
              <a:rPr lang="en-US" sz="2800" dirty="0"/>
              <a:t>both in your INB’s</a:t>
            </a:r>
          </a:p>
        </p:txBody>
      </p:sp>
    </p:spTree>
    <p:extLst>
      <p:ext uri="{BB962C8B-B14F-4D97-AF65-F5344CB8AC3E}">
        <p14:creationId xmlns:p14="http://schemas.microsoft.com/office/powerpoint/2010/main" val="3842395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did we learn from last lesson?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341812" y="3356992"/>
            <a:ext cx="3942156" cy="4320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/>
          <p:cNvSpPr/>
          <p:nvPr/>
        </p:nvSpPr>
        <p:spPr>
          <a:xfrm>
            <a:off x="1043608" y="2974866"/>
            <a:ext cx="3240360" cy="38212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4572000" y="3284984"/>
            <a:ext cx="1080120" cy="2160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5940152" y="3284984"/>
            <a:ext cx="1080120" cy="2160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79" y="4234906"/>
            <a:ext cx="7024480" cy="36809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79" y="5178349"/>
            <a:ext cx="5565725" cy="42119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2769" y="1463627"/>
            <a:ext cx="6369764" cy="253438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61575" y="2453171"/>
            <a:ext cx="1944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14.01÷ 4.46 = 3.14</a:t>
            </a:r>
            <a:endParaRPr lang="en-A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61574" y="2805589"/>
            <a:ext cx="20507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37.32 ÷ 11.88 = 3.14</a:t>
            </a:r>
            <a:endParaRPr lang="en-A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52121" y="3158007"/>
            <a:ext cx="22504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128.76 ÷ 40.99 = 3.14</a:t>
            </a:r>
            <a:endParaRPr lang="en-A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5578" y="4714855"/>
            <a:ext cx="6878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When measured very, very accurately, they’re all equal to 3.14……..</a:t>
            </a:r>
            <a:r>
              <a:rPr lang="el-GR" sz="1600" dirty="0">
                <a:latin typeface="Arial" panose="020B0604020202020204" pitchFamily="34" charset="0"/>
                <a:cs typeface="Arial" panose="020B0604020202020204" pitchFamily="34" charset="0"/>
              </a:rPr>
              <a:t>π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! </a:t>
            </a:r>
            <a:endParaRPr lang="en-A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5577" y="5598816"/>
            <a:ext cx="6878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 ÷ d = </a:t>
            </a:r>
            <a:r>
              <a:rPr lang="el-GR" sz="1600" dirty="0">
                <a:latin typeface="Arial" panose="020B0604020202020204" pitchFamily="34" charset="0"/>
                <a:cs typeface="Arial" panose="020B0604020202020204" pitchFamily="34" charset="0"/>
              </a:rPr>
              <a:t>π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	Therefore…	d x </a:t>
            </a:r>
            <a:r>
              <a:rPr lang="el-GR" sz="1600" dirty="0">
                <a:latin typeface="Arial" panose="020B0604020202020204" pitchFamily="34" charset="0"/>
                <a:cs typeface="Arial" panose="020B0604020202020204" pitchFamily="34" charset="0"/>
              </a:rPr>
              <a:t>π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= C</a:t>
            </a:r>
            <a:endParaRPr lang="en-A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636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Words for your Glossary!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2D shape that has only one edge (or side) and no vertices (corners).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total measurement around the edge of the circle.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655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Diameter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2513" y="328481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straight line measurement from one side to the other, passing through the centre of the circle.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650" y="4103784"/>
            <a:ext cx="202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Radius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1484" y="410378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straight line measurement from the centre of the circle to the edge.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1484" y="4760656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radius is half the length of the diameter.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82" y="5234716"/>
            <a:ext cx="1742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Pi (</a:t>
            </a:r>
            <a:r>
              <a:rPr lang="el-GR" dirty="0"/>
              <a:t>π</a:t>
            </a:r>
            <a:r>
              <a:rPr lang="en-AU" dirty="0"/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770" y="5234716"/>
            <a:ext cx="5773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π</a:t>
            </a:r>
            <a:r>
              <a:rPr lang="en-AU" dirty="0"/>
              <a:t> is used in the formulas to find the circumference and area of circles.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18770" y="5881047"/>
            <a:ext cx="5800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Its value is 3.14 (correct to 2dp). It is an irrational number (it has no equivalent fraction) and is a non terminating decimal.  </a:t>
            </a:r>
          </a:p>
        </p:txBody>
      </p:sp>
    </p:spTree>
    <p:extLst>
      <p:ext uri="{BB962C8B-B14F-4D97-AF65-F5344CB8AC3E}">
        <p14:creationId xmlns:p14="http://schemas.microsoft.com/office/powerpoint/2010/main" val="1216312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Circles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do I need to know about circles?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circumference of a circle?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 = </a:t>
            </a:r>
            <a:r>
              <a:rPr lang="el-GR" dirty="0"/>
              <a:t>π</a:t>
            </a:r>
            <a:r>
              <a:rPr lang="en-AU" dirty="0"/>
              <a:t> x diameter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02336" y="3144152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Since the diameter is twice the length of the radius, it can also be found as: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31840" y="379048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 = </a:t>
            </a:r>
            <a:r>
              <a:rPr lang="el-GR" dirty="0"/>
              <a:t>π</a:t>
            </a:r>
            <a:r>
              <a:rPr lang="en-AU" dirty="0"/>
              <a:t> x 2 x radius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3203848" y="4662428"/>
            <a:ext cx="573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*remember that multiplication can be done in any order</a:t>
            </a:r>
          </a:p>
        </p:txBody>
      </p:sp>
    </p:spTree>
    <p:extLst>
      <p:ext uri="{BB962C8B-B14F-4D97-AF65-F5344CB8AC3E}">
        <p14:creationId xmlns:p14="http://schemas.microsoft.com/office/powerpoint/2010/main" val="2638557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do some together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405660"/>
            <a:ext cx="6912768" cy="189898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042" y="3717032"/>
            <a:ext cx="2592288" cy="18691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8881" y="3717032"/>
            <a:ext cx="2503479" cy="1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250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you try</a:t>
            </a:r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69" y="1314109"/>
            <a:ext cx="8413259" cy="38913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4149080"/>
            <a:ext cx="7931224" cy="20091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32" y="1772816"/>
            <a:ext cx="8259568" cy="173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73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you try</a:t>
            </a:r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69" y="1314109"/>
            <a:ext cx="8413259" cy="38913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4149080"/>
            <a:ext cx="7931224" cy="20091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32" y="1772816"/>
            <a:ext cx="8259568" cy="17399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20" y="6156285"/>
            <a:ext cx="4972050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646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 of Area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Area is the amount of space inside a shape and is measured in units squared (</a:t>
            </a:r>
            <a:r>
              <a:rPr lang="en-US" dirty="0" err="1"/>
              <a:t>eg</a:t>
            </a:r>
            <a:r>
              <a:rPr lang="en-US" dirty="0"/>
              <a:t> </a:t>
            </a:r>
            <a:r>
              <a:rPr lang="en-AU" dirty="0"/>
              <a:t>cm</a:t>
            </a:r>
            <a:r>
              <a:rPr lang="en-AU" baseline="30000" dirty="0"/>
              <a:t>2</a:t>
            </a:r>
            <a:r>
              <a:rPr lang="en-AU" dirty="0"/>
              <a:t>, m</a:t>
            </a:r>
            <a:r>
              <a:rPr lang="en-AU" baseline="30000" dirty="0"/>
              <a:t>2</a:t>
            </a:r>
            <a:r>
              <a:rPr lang="en-US" dirty="0"/>
              <a:t>)</a:t>
            </a: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26850"/>
            <a:ext cx="3971925" cy="3581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2476" y="2882077"/>
            <a:ext cx="2645165" cy="110665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64" y="4115479"/>
            <a:ext cx="857250" cy="304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1190" y="4462037"/>
            <a:ext cx="2466975" cy="11811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2039" y="5704277"/>
            <a:ext cx="1238250" cy="66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862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Circles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do I need to know about circles?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circumference of a circle?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 = </a:t>
            </a:r>
            <a:r>
              <a:rPr lang="el-GR" dirty="0"/>
              <a:t>π</a:t>
            </a:r>
            <a:r>
              <a:rPr lang="en-AU" dirty="0"/>
              <a:t> x diameter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02336" y="3144152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Since the diameter is twice the length of the radius, it can also be found as: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31840" y="379048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 = </a:t>
            </a:r>
            <a:r>
              <a:rPr lang="el-GR" dirty="0"/>
              <a:t>π</a:t>
            </a:r>
            <a:r>
              <a:rPr lang="en-AU" dirty="0"/>
              <a:t> x 2 x radius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3203848" y="4662428"/>
            <a:ext cx="573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*remember that multiplication can be done in any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9512" y="5157192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area of a circle?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5580774" y="5766545"/>
                <a:ext cx="862774" cy="2743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i="1" smtClean="0"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AU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774" y="5766545"/>
                <a:ext cx="862774" cy="274320"/>
              </a:xfrm>
              <a:prstGeom prst="rect">
                <a:avLst/>
              </a:prstGeom>
              <a:blipFill rotWithShape="0">
                <a:blip r:embed="rId4"/>
                <a:stretch>
                  <a:fillRect l="-6338" t="-4444" r="-2817"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203848" y="5301208"/>
                <a:ext cx="55360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Area = </a:t>
                </a:r>
                <a:r>
                  <a:rPr lang="el-GR" dirty="0"/>
                  <a:t>π</a:t>
                </a:r>
                <a:r>
                  <a:rPr lang="en-AU" dirty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𝑟𝑎𝑑𝑖𝑢𝑠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5301208"/>
                <a:ext cx="5536088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991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3200344" y="6136870"/>
            <a:ext cx="5659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*you must square the radius first.</a:t>
            </a:r>
          </a:p>
        </p:txBody>
      </p:sp>
    </p:spTree>
    <p:extLst>
      <p:ext uri="{BB962C8B-B14F-4D97-AF65-F5344CB8AC3E}">
        <p14:creationId xmlns:p14="http://schemas.microsoft.com/office/powerpoint/2010/main" val="350966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do some together</a:t>
            </a:r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729" y="1417638"/>
            <a:ext cx="3759237" cy="42718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729" y="1844824"/>
            <a:ext cx="2294530" cy="209081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729" y="3935634"/>
            <a:ext cx="2294530" cy="151439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3259" y="1838068"/>
            <a:ext cx="1872208" cy="20975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5467" y="1838068"/>
            <a:ext cx="2618682" cy="166533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5467" y="3455456"/>
            <a:ext cx="1895480" cy="244058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2107" y="3934209"/>
            <a:ext cx="1883359" cy="196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164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you try</a:t>
            </a:r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69" y="1314109"/>
            <a:ext cx="8413259" cy="38913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072" y="1838830"/>
            <a:ext cx="8047115" cy="18077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64" y="3933056"/>
            <a:ext cx="7429500" cy="21240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72" y="3953687"/>
            <a:ext cx="2160240" cy="146097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2160" y="4077072"/>
            <a:ext cx="2496277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377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  <a:p>
            <a:r>
              <a:rPr lang="en-US" dirty="0"/>
              <a:t>Don’t forget your </a:t>
            </a:r>
            <a:r>
              <a:rPr lang="en-US" dirty="0" err="1"/>
              <a:t>Mathspace</a:t>
            </a:r>
            <a:r>
              <a:rPr lang="en-US"/>
              <a:t> work!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2666</TotalTime>
  <Words>834</Words>
  <Application>Microsoft Office PowerPoint</Application>
  <PresentationFormat>On-screen Show (4:3)</PresentationFormat>
  <Paragraphs>146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 Math</vt:lpstr>
      <vt:lpstr>Mangal</vt:lpstr>
      <vt:lpstr>Office Theme</vt:lpstr>
      <vt:lpstr>My Shape and Measurement Interactive Notebook</vt:lpstr>
      <vt:lpstr>PowerPoint Presentation</vt:lpstr>
      <vt:lpstr>PowerPoint Presentation</vt:lpstr>
      <vt:lpstr>Definition of a circle</vt:lpstr>
      <vt:lpstr>PowerPoint Presentation</vt:lpstr>
      <vt:lpstr>Circumference and Radius.</vt:lpstr>
      <vt:lpstr>PowerPoint Presentation</vt:lpstr>
      <vt:lpstr>PowerPoint Presentation</vt:lpstr>
      <vt:lpstr>PowerPoint Presentation</vt:lpstr>
      <vt:lpstr>What did we learn from last lesson?</vt:lpstr>
      <vt:lpstr>PowerPoint Presentation</vt:lpstr>
      <vt:lpstr>PowerPoint Presentation</vt:lpstr>
      <vt:lpstr>Let’s do some together</vt:lpstr>
      <vt:lpstr>Now you try</vt:lpstr>
      <vt:lpstr>Now you try</vt:lpstr>
      <vt:lpstr>Reminder of Area</vt:lpstr>
      <vt:lpstr>PowerPoint Presentation</vt:lpstr>
      <vt:lpstr>Let’s do some together</vt:lpstr>
      <vt:lpstr>Now you try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E4092707</cp:lastModifiedBy>
  <cp:revision>86</cp:revision>
  <cp:lastPrinted>2018-05-23T04:03:40Z</cp:lastPrinted>
  <dcterms:created xsi:type="dcterms:W3CDTF">2014-05-14T02:58:57Z</dcterms:created>
  <dcterms:modified xsi:type="dcterms:W3CDTF">2018-05-23T04:04:29Z</dcterms:modified>
</cp:coreProperties>
</file>
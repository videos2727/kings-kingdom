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1"/>
  </p:notesMasterIdLst>
  <p:sldIdLst>
    <p:sldId id="260" r:id="rId2"/>
    <p:sldId id="278" r:id="rId3"/>
    <p:sldId id="266" r:id="rId4"/>
    <p:sldId id="276" r:id="rId5"/>
    <p:sldId id="284" r:id="rId6"/>
    <p:sldId id="285" r:id="rId7"/>
    <p:sldId id="286" r:id="rId8"/>
    <p:sldId id="288" r:id="rId9"/>
    <p:sldId id="28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87678" autoAdjust="0"/>
  </p:normalViewPr>
  <p:slideViewPr>
    <p:cSldViewPr snapToGrid="0">
      <p:cViewPr varScale="1">
        <p:scale>
          <a:sx n="79" d="100"/>
          <a:sy n="79" d="100"/>
        </p:scale>
        <p:origin x="108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B2E5-0E49-4534-8632-6A439051BBCA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04F66-E662-4E90-AEF9-4849296DB1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462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3441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 set of formula in case students want a consolidated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77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 set of formula in case students want a consolidated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70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66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858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03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9141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143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833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866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872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966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0017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8414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0433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2639500" y="2655767"/>
            <a:ext cx="38649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8387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58C98-802C-41D4-ADD4-60D413F2FE70}" type="datetimeFigureOut">
              <a:rPr lang="en-AU" smtClean="0"/>
              <a:t>4/06/2019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6124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029622" y="4606854"/>
            <a:ext cx="7084754" cy="103850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9622" y="1489165"/>
            <a:ext cx="7084754" cy="12503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Circle Revision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29C3D-D49B-46BF-9435-E556EA1D3AB6}"/>
              </a:ext>
            </a:extLst>
          </p:cNvPr>
          <p:cNvSpPr txBox="1"/>
          <p:nvPr/>
        </p:nvSpPr>
        <p:spPr>
          <a:xfrm>
            <a:off x="933538" y="3164862"/>
            <a:ext cx="72769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AU" sz="21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find the area and perimeter of shapes that have parts of circles?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5763" y="995679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62" y="366855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698" y="454226"/>
            <a:ext cx="24912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3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Circle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5793" y="505318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15" y="979832"/>
            <a:ext cx="856736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solve problems involving circles?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5763" y="137582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A4EA405B-7334-4DCE-8B34-82F2BFA028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5036" y="1793211"/>
            <a:ext cx="1523690" cy="11295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F671643-3A28-4DF2-83CF-337AADCE99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518" t="10888" r="75651" b="6335"/>
          <a:stretch/>
        </p:blipFill>
        <p:spPr>
          <a:xfrm>
            <a:off x="3447113" y="3039478"/>
            <a:ext cx="1013951" cy="118420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F839C67-B548-41CE-9023-C2DDF28D6805}"/>
              </a:ext>
            </a:extLst>
          </p:cNvPr>
          <p:cNvGrpSpPr/>
          <p:nvPr/>
        </p:nvGrpSpPr>
        <p:grpSpPr>
          <a:xfrm>
            <a:off x="3422073" y="4383814"/>
            <a:ext cx="1038991" cy="1019951"/>
            <a:chOff x="2643447" y="4860175"/>
            <a:chExt cx="1385321" cy="1359935"/>
          </a:xfrm>
        </p:grpSpPr>
        <p:sp>
          <p:nvSpPr>
            <p:cNvPr id="3" name="Partial Circle 2">
              <a:extLst>
                <a:ext uri="{FF2B5EF4-FFF2-40B4-BE49-F238E27FC236}">
                  <a16:creationId xmlns:a16="http://schemas.microsoft.com/office/drawing/2014/main" id="{4DB59756-FED5-4D71-8628-7AC796B88408}"/>
                </a:ext>
              </a:extLst>
            </p:cNvPr>
            <p:cNvSpPr/>
            <p:nvPr/>
          </p:nvSpPr>
          <p:spPr>
            <a:xfrm>
              <a:off x="2643447" y="4860175"/>
              <a:ext cx="1385321" cy="1359935"/>
            </a:xfrm>
            <a:prstGeom prst="pi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sz="135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150737B-69C9-4463-A2F5-491398CC6C1A}"/>
                </a:ext>
              </a:extLst>
            </p:cNvPr>
            <p:cNvSpPr/>
            <p:nvPr/>
          </p:nvSpPr>
          <p:spPr>
            <a:xfrm>
              <a:off x="3336107" y="5425440"/>
              <a:ext cx="121988" cy="12198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sz="135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ACE7C5C-6595-4C4C-A544-27FB32AC5193}"/>
              </a:ext>
            </a:extLst>
          </p:cNvPr>
          <p:cNvSpPr txBox="1"/>
          <p:nvPr/>
        </p:nvSpPr>
        <p:spPr>
          <a:xfrm>
            <a:off x="3911589" y="4448290"/>
            <a:ext cx="47961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1 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90CC5F-9890-4D83-A6DC-0E951A0BE169}"/>
                  </a:ext>
                </a:extLst>
              </p:cNvPr>
              <p:cNvSpPr txBox="1"/>
              <p:nvPr/>
            </p:nvSpPr>
            <p:spPr>
              <a:xfrm>
                <a:off x="4901738" y="2124820"/>
                <a:ext cx="34459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𝐬𝐭𝐫𝐚𝐢𝐠𝐡𝐭</m:t>
                      </m:r>
                      <m:r>
                        <a:rPr lang="en-AU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𝐥𝐢𝐧𝐞</m:t>
                      </m:r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90CC5F-9890-4D83-A6DC-0E951A0BE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738" y="2124820"/>
                <a:ext cx="3445931" cy="461665"/>
              </a:xfrm>
              <a:prstGeom prst="rect">
                <a:avLst/>
              </a:prstGeom>
              <a:blipFill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CBDCB4B-57B4-40D0-8AE0-A3AF458F9939}"/>
                  </a:ext>
                </a:extLst>
              </p:cNvPr>
              <p:cNvSpPr txBox="1"/>
              <p:nvPr/>
            </p:nvSpPr>
            <p:spPr>
              <a:xfrm>
                <a:off x="4807528" y="4389181"/>
                <a:ext cx="406463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l-GR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𝐬𝐭𝐫𝐚𝐢𝐠𝐡𝐭</m:t>
                      </m:r>
                      <m:r>
                        <a:rPr lang="en-AU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𝐥𝐢𝐧𝐞𝐬</m:t>
                      </m:r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CBDCB4B-57B4-40D0-8AE0-A3AF458F9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528" y="4389181"/>
                <a:ext cx="4064630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B3D5EB9-A2AD-45DE-9EDB-C7F83BFDF566}"/>
                  </a:ext>
                </a:extLst>
              </p:cNvPr>
              <p:cNvSpPr txBox="1"/>
              <p:nvPr/>
            </p:nvSpPr>
            <p:spPr>
              <a:xfrm>
                <a:off x="4807528" y="3039478"/>
                <a:ext cx="406463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l-GR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𝐬𝐭𝐫𝐚𝐢𝐠𝐡𝐭</m:t>
                      </m:r>
                      <m:r>
                        <a:rPr lang="en-AU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𝐥𝐢𝐧𝐞𝐬</m:t>
                      </m:r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B3D5EB9-A2AD-45DE-9EDB-C7F83BFDF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528" y="3039478"/>
                <a:ext cx="4064630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68E03DD-4A81-46BC-8080-8E8C428E1CCA}"/>
              </a:ext>
            </a:extLst>
          </p:cNvPr>
          <p:cNvSpPr txBox="1"/>
          <p:nvPr/>
        </p:nvSpPr>
        <p:spPr>
          <a:xfrm>
            <a:off x="281252" y="6306479"/>
            <a:ext cx="8709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* If you have a circle with a diameter you will need to half it in order to find the radius.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8E9221-AD08-4F20-99D6-06A1BC94CE75}"/>
              </a:ext>
            </a:extLst>
          </p:cNvPr>
          <p:cNvCxnSpPr>
            <a:cxnSpLocks/>
          </p:cNvCxnSpPr>
          <p:nvPr/>
        </p:nvCxnSpPr>
        <p:spPr>
          <a:xfrm>
            <a:off x="2370987" y="1359113"/>
            <a:ext cx="55081" cy="484498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C0BF03-63D1-40E9-8D61-70D3D458E463}"/>
              </a:ext>
            </a:extLst>
          </p:cNvPr>
          <p:cNvSpPr txBox="1"/>
          <p:nvPr/>
        </p:nvSpPr>
        <p:spPr>
          <a:xfrm>
            <a:off x="66170" y="1533830"/>
            <a:ext cx="23048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do I solve perimeter problems?</a:t>
            </a:r>
          </a:p>
        </p:txBody>
      </p:sp>
    </p:spTree>
    <p:extLst>
      <p:ext uri="{BB962C8B-B14F-4D97-AF65-F5344CB8AC3E}">
        <p14:creationId xmlns:p14="http://schemas.microsoft.com/office/powerpoint/2010/main" val="366062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1068718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39894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527265"/>
            <a:ext cx="24912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3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Circle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1222" y="578357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448861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B5E0D4-F797-40CF-A255-350B731C4FB6}"/>
                  </a:ext>
                </a:extLst>
              </p:cNvPr>
              <p:cNvSpPr txBox="1"/>
              <p:nvPr/>
            </p:nvSpPr>
            <p:spPr>
              <a:xfrm>
                <a:off x="5696888" y="2083023"/>
                <a:ext cx="311697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l-GR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B5E0D4-F797-40CF-A255-350B731C4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888" y="2083023"/>
                <a:ext cx="311697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A4EA405B-7334-4DCE-8B34-82F2BFA0283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0327" y="2028158"/>
            <a:ext cx="1523690" cy="11295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3D48B6-59C0-417B-BDE7-81CF93EC4C33}"/>
                  </a:ext>
                </a:extLst>
              </p:cNvPr>
              <p:cNvSpPr txBox="1"/>
              <p:nvPr/>
            </p:nvSpPr>
            <p:spPr>
              <a:xfrm>
                <a:off x="5730841" y="3274423"/>
                <a:ext cx="311697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l-GR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3D48B6-59C0-417B-BDE7-81CF93EC4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841" y="3274423"/>
                <a:ext cx="311697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7F671643-3A28-4DF2-83CF-337AADCE993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518" t="10888" r="75651" b="6335"/>
          <a:stretch/>
        </p:blipFill>
        <p:spPr>
          <a:xfrm>
            <a:off x="4562403" y="3274424"/>
            <a:ext cx="1013951" cy="11842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8774F1-1EBF-4A17-9A27-CB6CF5D509ED}"/>
                  </a:ext>
                </a:extLst>
              </p:cNvPr>
              <p:cNvSpPr txBox="1"/>
              <p:nvPr/>
            </p:nvSpPr>
            <p:spPr>
              <a:xfrm>
                <a:off x="5776561" y="4627364"/>
                <a:ext cx="311697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AU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l-GR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8774F1-1EBF-4A17-9A27-CB6CF5D50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561" y="4627364"/>
                <a:ext cx="311697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CF839C67-B548-41CE-9023-C2DDF28D6805}"/>
              </a:ext>
            </a:extLst>
          </p:cNvPr>
          <p:cNvGrpSpPr/>
          <p:nvPr/>
        </p:nvGrpSpPr>
        <p:grpSpPr>
          <a:xfrm>
            <a:off x="4537364" y="4618760"/>
            <a:ext cx="1038991" cy="1019951"/>
            <a:chOff x="2643447" y="4860175"/>
            <a:chExt cx="1385321" cy="1359935"/>
          </a:xfrm>
        </p:grpSpPr>
        <p:sp>
          <p:nvSpPr>
            <p:cNvPr id="3" name="Partial Circle 2">
              <a:extLst>
                <a:ext uri="{FF2B5EF4-FFF2-40B4-BE49-F238E27FC236}">
                  <a16:creationId xmlns:a16="http://schemas.microsoft.com/office/drawing/2014/main" id="{4DB59756-FED5-4D71-8628-7AC796B88408}"/>
                </a:ext>
              </a:extLst>
            </p:cNvPr>
            <p:cNvSpPr/>
            <p:nvPr/>
          </p:nvSpPr>
          <p:spPr>
            <a:xfrm>
              <a:off x="2643447" y="4860175"/>
              <a:ext cx="1385321" cy="1359935"/>
            </a:xfrm>
            <a:prstGeom prst="pi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sz="135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150737B-69C9-4463-A2F5-491398CC6C1A}"/>
                </a:ext>
              </a:extLst>
            </p:cNvPr>
            <p:cNvSpPr/>
            <p:nvPr/>
          </p:nvSpPr>
          <p:spPr>
            <a:xfrm>
              <a:off x="3336107" y="5425440"/>
              <a:ext cx="121988" cy="121988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sz="135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ACE7C5C-6595-4C4C-A544-27FB32AC5193}"/>
              </a:ext>
            </a:extLst>
          </p:cNvPr>
          <p:cNvSpPr txBox="1"/>
          <p:nvPr/>
        </p:nvSpPr>
        <p:spPr>
          <a:xfrm>
            <a:off x="5019401" y="4702325"/>
            <a:ext cx="47961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1 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61BD87-E289-4B81-A193-4F63F95A3A9B}"/>
              </a:ext>
            </a:extLst>
          </p:cNvPr>
          <p:cNvSpPr txBox="1"/>
          <p:nvPr/>
        </p:nvSpPr>
        <p:spPr>
          <a:xfrm>
            <a:off x="433128" y="1043523"/>
            <a:ext cx="86055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solve problems involving circles?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8881EF4-B481-4E19-B6A9-6E67A8538953}"/>
              </a:ext>
            </a:extLst>
          </p:cNvPr>
          <p:cNvCxnSpPr>
            <a:cxnSpLocks/>
          </p:cNvCxnSpPr>
          <p:nvPr/>
        </p:nvCxnSpPr>
        <p:spPr>
          <a:xfrm>
            <a:off x="2354573" y="1448861"/>
            <a:ext cx="55081" cy="484498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20B7B5B-4C8B-481C-A08C-1D274128F914}"/>
              </a:ext>
            </a:extLst>
          </p:cNvPr>
          <p:cNvSpPr txBox="1"/>
          <p:nvPr/>
        </p:nvSpPr>
        <p:spPr>
          <a:xfrm>
            <a:off x="50195" y="1554983"/>
            <a:ext cx="23048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do I solve area problems?</a:t>
            </a:r>
          </a:p>
        </p:txBody>
      </p:sp>
    </p:spTree>
    <p:extLst>
      <p:ext uri="{BB962C8B-B14F-4D97-AF65-F5344CB8AC3E}">
        <p14:creationId xmlns:p14="http://schemas.microsoft.com/office/powerpoint/2010/main" val="424658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CD213E-2B83-46C0-9D7C-7677DA4F6658}"/>
              </a:ext>
            </a:extLst>
          </p:cNvPr>
          <p:cNvSpPr txBox="1"/>
          <p:nvPr/>
        </p:nvSpPr>
        <p:spPr>
          <a:xfrm>
            <a:off x="293774" y="168618"/>
            <a:ext cx="4217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Demonstration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96414-D504-46C5-B6D7-88F12EB782CF}"/>
              </a:ext>
            </a:extLst>
          </p:cNvPr>
          <p:cNvSpPr txBox="1"/>
          <p:nvPr/>
        </p:nvSpPr>
        <p:spPr>
          <a:xfrm>
            <a:off x="953838" y="804085"/>
            <a:ext cx="7560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pizza tray has a diameter of 30cm. </a:t>
            </a:r>
          </a:p>
          <a:p>
            <a:r>
              <a:rPr lang="en-AU" sz="2400" dirty="0"/>
              <a:t>Calculate its area to the nearest whole number of cm</a:t>
            </a:r>
            <a:r>
              <a:rPr lang="en-AU" sz="2400" baseline="30000" dirty="0"/>
              <a:t>2</a:t>
            </a:r>
            <a:r>
              <a:rPr lang="en-AU" sz="240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7A0F17-A1B1-41F0-BCDA-177E66431754}"/>
                  </a:ext>
                </a:extLst>
              </p:cNvPr>
              <p:cNvSpPr txBox="1"/>
              <p:nvPr/>
            </p:nvSpPr>
            <p:spPr>
              <a:xfrm>
                <a:off x="2252124" y="3574981"/>
                <a:ext cx="3116974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7A0F17-A1B1-41F0-BCDA-177E66431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124" y="3574981"/>
                <a:ext cx="3116974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8F43E4B-862A-497D-9D6C-8559507B350E}"/>
              </a:ext>
            </a:extLst>
          </p:cNvPr>
          <p:cNvSpPr txBox="1"/>
          <p:nvPr/>
        </p:nvSpPr>
        <p:spPr>
          <a:xfrm>
            <a:off x="953837" y="1657182"/>
            <a:ext cx="75603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1. Draw a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22EDD4-462F-431C-A5BB-30572B8265FD}"/>
              </a:ext>
            </a:extLst>
          </p:cNvPr>
          <p:cNvSpPr txBox="1"/>
          <p:nvPr/>
        </p:nvSpPr>
        <p:spPr>
          <a:xfrm>
            <a:off x="1008339" y="3242919"/>
            <a:ext cx="75603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2. What is the formula we need?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2F984B-FBF5-4541-89F9-F24FECAEDA64}"/>
              </a:ext>
            </a:extLst>
          </p:cNvPr>
          <p:cNvSpPr/>
          <p:nvPr/>
        </p:nvSpPr>
        <p:spPr>
          <a:xfrm>
            <a:off x="3314412" y="1824342"/>
            <a:ext cx="1197032" cy="118456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35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7E4551-749C-424C-9726-37064C706231}"/>
              </a:ext>
            </a:extLst>
          </p:cNvPr>
          <p:cNvCxnSpPr>
            <a:stCxn id="12" idx="1"/>
            <a:endCxn id="12" idx="5"/>
          </p:cNvCxnSpPr>
          <p:nvPr/>
        </p:nvCxnSpPr>
        <p:spPr>
          <a:xfrm>
            <a:off x="3489713" y="1997817"/>
            <a:ext cx="846430" cy="8376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CB18F40-D7BE-4409-816E-E21D7E2034BE}"/>
              </a:ext>
            </a:extLst>
          </p:cNvPr>
          <p:cNvSpPr txBox="1"/>
          <p:nvPr/>
        </p:nvSpPr>
        <p:spPr>
          <a:xfrm>
            <a:off x="3810611" y="2098881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30cm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4DB907-D253-4897-BD40-A8548581DF0A}"/>
              </a:ext>
            </a:extLst>
          </p:cNvPr>
          <p:cNvSpPr txBox="1"/>
          <p:nvPr/>
        </p:nvSpPr>
        <p:spPr>
          <a:xfrm>
            <a:off x="1031086" y="4076050"/>
            <a:ext cx="75603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3. What is the radius?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5CC9A4-0671-4FD9-BF6D-97001B42A50B}"/>
                  </a:ext>
                </a:extLst>
              </p:cNvPr>
              <p:cNvSpPr txBox="1"/>
              <p:nvPr/>
            </p:nvSpPr>
            <p:spPr>
              <a:xfrm>
                <a:off x="2300569" y="4484250"/>
                <a:ext cx="31169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𝒄𝒎</m:t>
                      </m:r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5CC9A4-0671-4FD9-BF6D-97001B42A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569" y="4484250"/>
                <a:ext cx="311697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47B5ADA-2F40-4C70-8ACB-7540A10D6CE6}"/>
              </a:ext>
            </a:extLst>
          </p:cNvPr>
          <p:cNvSpPr txBox="1"/>
          <p:nvPr/>
        </p:nvSpPr>
        <p:spPr>
          <a:xfrm>
            <a:off x="1109810" y="5123282"/>
            <a:ext cx="75603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4. Substitute the numbers we know into the equation and solve.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75169A-CC0C-4DBB-8B46-2A611296FC9D}"/>
                  </a:ext>
                </a:extLst>
              </p:cNvPr>
              <p:cNvSpPr txBox="1"/>
              <p:nvPr/>
            </p:nvSpPr>
            <p:spPr>
              <a:xfrm>
                <a:off x="2252124" y="5551211"/>
                <a:ext cx="3116974" cy="83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595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br>
                  <a:rPr lang="en-AU" sz="2400" b="1" dirty="0">
                    <a:solidFill>
                      <a:srgbClr val="0070C0"/>
                    </a:solidFill>
                    <a:latin typeface="Calibri" panose="020F0502020204030204"/>
                  </a:rPr>
                </a:b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AU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𝟕𝟎𝟔</m:t>
                    </m:r>
                    <m:r>
                      <a:rPr lang="en-AU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𝟖𝟔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  <a:latin typeface="Calibri" panose="020F0502020204030204"/>
                  </a:rPr>
                  <a:t>cm</a:t>
                </a:r>
                <a:r>
                  <a:rPr lang="en-US" sz="2400" b="1" baseline="30000" dirty="0">
                    <a:solidFill>
                      <a:srgbClr val="0070C0"/>
                    </a:solidFill>
                    <a:latin typeface="Calibri" panose="020F0502020204030204"/>
                  </a:rPr>
                  <a:t>2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75169A-CC0C-4DBB-8B46-2A611296F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124" y="5551211"/>
                <a:ext cx="3116974" cy="839332"/>
              </a:xfrm>
              <a:prstGeom prst="rect">
                <a:avLst/>
              </a:prstGeom>
              <a:blipFill>
                <a:blip r:embed="rId4"/>
                <a:stretch>
                  <a:fillRect b="-16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23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CD213E-2B83-46C0-9D7C-7677DA4F6658}"/>
              </a:ext>
            </a:extLst>
          </p:cNvPr>
          <p:cNvSpPr txBox="1"/>
          <p:nvPr/>
        </p:nvSpPr>
        <p:spPr>
          <a:xfrm>
            <a:off x="293774" y="168618"/>
            <a:ext cx="4217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Practice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96414-D504-46C5-B6D7-88F12EB782CF}"/>
              </a:ext>
            </a:extLst>
          </p:cNvPr>
          <p:cNvSpPr txBox="1"/>
          <p:nvPr/>
        </p:nvSpPr>
        <p:spPr>
          <a:xfrm>
            <a:off x="505722" y="810141"/>
            <a:ext cx="81356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AutoNum type="arabicPeriod"/>
            </a:pPr>
            <a:r>
              <a:rPr lang="en-AU" sz="2400" dirty="0"/>
              <a:t>A tree trunk is cut to reveal a circular cross-section of radius 60cm. Is the area of the cross-section more than 1m</a:t>
            </a:r>
            <a:r>
              <a:rPr lang="en-AU" sz="2400" baseline="30000" dirty="0"/>
              <a:t>2</a:t>
            </a:r>
            <a:r>
              <a:rPr lang="en-AU" sz="2400" dirty="0"/>
              <a:t> and, if so, by how much?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AU" sz="2400" dirty="0"/>
              <a:t>A circular oil slick has a diameter of 1km. The newspaper reported an area of more than 1km</a:t>
            </a:r>
            <a:r>
              <a:rPr lang="en-AU" sz="2400" baseline="30000" dirty="0"/>
              <a:t>2</a:t>
            </a:r>
            <a:r>
              <a:rPr lang="en-AU" sz="2400" dirty="0"/>
              <a:t>. Is the newspaper correct?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AU" sz="2400" dirty="0"/>
              <a:t>Which has the largest area, a circle of radius 5m, a semicircle of radius 7m, or a quadrant of radius 9m?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AU" sz="2400" dirty="0"/>
              <a:t>Two circular plates have radii 12cm and 13cm. Find the difference in their area correct to 2 decimal places.</a:t>
            </a:r>
          </a:p>
        </p:txBody>
      </p:sp>
    </p:spTree>
    <p:extLst>
      <p:ext uri="{BB962C8B-B14F-4D97-AF65-F5344CB8AC3E}">
        <p14:creationId xmlns:p14="http://schemas.microsoft.com/office/powerpoint/2010/main" val="401728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CD213E-2B83-46C0-9D7C-7677DA4F6658}"/>
              </a:ext>
            </a:extLst>
          </p:cNvPr>
          <p:cNvSpPr txBox="1"/>
          <p:nvPr/>
        </p:nvSpPr>
        <p:spPr>
          <a:xfrm>
            <a:off x="293774" y="168618"/>
            <a:ext cx="4217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Practice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96414-D504-46C5-B6D7-88F12EB782CF}"/>
              </a:ext>
            </a:extLst>
          </p:cNvPr>
          <p:cNvSpPr txBox="1"/>
          <p:nvPr/>
        </p:nvSpPr>
        <p:spPr>
          <a:xfrm>
            <a:off x="505722" y="810141"/>
            <a:ext cx="84021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AutoNum type="arabicPeriod"/>
            </a:pPr>
            <a:r>
              <a:rPr lang="en-AU" sz="2400" dirty="0"/>
              <a:t>A tree trunk is cut to reveal a circular cross-section of radius 60cm. Is the area of the cross-section more than 1m</a:t>
            </a:r>
            <a:r>
              <a:rPr lang="en-AU" sz="2400" baseline="30000" dirty="0"/>
              <a:t>2</a:t>
            </a:r>
            <a:r>
              <a:rPr lang="en-AU" sz="2400" dirty="0"/>
              <a:t> and, if so, by how much? </a:t>
            </a:r>
            <a:r>
              <a:rPr lang="en-AU" sz="2400" dirty="0">
                <a:solidFill>
                  <a:srgbClr val="7030A0"/>
                </a:solidFill>
              </a:rPr>
              <a:t>Yes, by 1310cm</a:t>
            </a:r>
            <a:r>
              <a:rPr lang="en-AU" sz="2400" baseline="30000" dirty="0">
                <a:solidFill>
                  <a:srgbClr val="7030A0"/>
                </a:solidFill>
              </a:rPr>
              <a:t>2</a:t>
            </a:r>
            <a:endParaRPr lang="en-AU" sz="2400" baseline="30000" dirty="0"/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AU" sz="2400" dirty="0"/>
              <a:t>A circular oil slick has a diameter of 1km. The newspaper reported an area of more than 1km</a:t>
            </a:r>
            <a:r>
              <a:rPr lang="en-AU" sz="2400" baseline="30000" dirty="0"/>
              <a:t>2</a:t>
            </a:r>
            <a:r>
              <a:rPr lang="en-AU" sz="2400" dirty="0"/>
              <a:t>. Is the newspaper correct? </a:t>
            </a:r>
            <a:r>
              <a:rPr lang="en-AU" sz="2400" dirty="0">
                <a:solidFill>
                  <a:srgbClr val="7030A0"/>
                </a:solidFill>
              </a:rPr>
              <a:t>No (A=0.79km</a:t>
            </a:r>
            <a:r>
              <a:rPr lang="en-AU" sz="2400" baseline="30000" dirty="0">
                <a:solidFill>
                  <a:srgbClr val="7030A0"/>
                </a:solidFill>
              </a:rPr>
              <a:t>2</a:t>
            </a:r>
            <a:r>
              <a:rPr lang="en-AU" sz="2400" dirty="0">
                <a:solidFill>
                  <a:srgbClr val="7030A0"/>
                </a:solidFill>
              </a:rPr>
              <a:t>)</a:t>
            </a:r>
            <a:endParaRPr lang="en-AU" sz="2400" dirty="0"/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AU" sz="2400" dirty="0"/>
              <a:t>Which has the largest area, a circle of radius 5m, a semicircle of radius 7m, or a quadrant of radius 9m? </a:t>
            </a:r>
            <a:r>
              <a:rPr lang="en-AU" sz="2400" dirty="0">
                <a:solidFill>
                  <a:srgbClr val="7030A0"/>
                </a:solidFill>
              </a:rPr>
              <a:t>Circle radius 5m</a:t>
            </a:r>
            <a:endParaRPr lang="en-AU" sz="2400" dirty="0"/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AU" sz="2400" dirty="0"/>
              <a:t>Two circular plates have radii 12cm and 13cm. Find the difference in their area correct to 2 decimal places. </a:t>
            </a:r>
            <a:r>
              <a:rPr lang="en-AU" sz="2400" dirty="0">
                <a:solidFill>
                  <a:srgbClr val="7030A0"/>
                </a:solidFill>
              </a:rPr>
              <a:t>78.54cm</a:t>
            </a:r>
            <a:r>
              <a:rPr lang="en-AU" sz="2400" baseline="30000" dirty="0">
                <a:solidFill>
                  <a:srgbClr val="7030A0"/>
                </a:solidFill>
              </a:rPr>
              <a:t>2</a:t>
            </a:r>
            <a:r>
              <a:rPr lang="en-AU" sz="2400" dirty="0">
                <a:solidFill>
                  <a:srgbClr val="7030A0"/>
                </a:solidFill>
              </a:rPr>
              <a:t>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897491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2C3A33-B097-4142-8BD6-601138CB9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6" y="863391"/>
            <a:ext cx="9011941" cy="55415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1403B2-5AC9-4FA8-9C5F-8B84939E7085}"/>
              </a:ext>
            </a:extLst>
          </p:cNvPr>
          <p:cNvSpPr txBox="1"/>
          <p:nvPr/>
        </p:nvSpPr>
        <p:spPr>
          <a:xfrm>
            <a:off x="293774" y="168618"/>
            <a:ext cx="2213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535071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2C3A33-B097-4142-8BD6-601138CB9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59" y="923947"/>
            <a:ext cx="9011941" cy="55415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1403B2-5AC9-4FA8-9C5F-8B84939E7085}"/>
              </a:ext>
            </a:extLst>
          </p:cNvPr>
          <p:cNvSpPr txBox="1"/>
          <p:nvPr/>
        </p:nvSpPr>
        <p:spPr>
          <a:xfrm>
            <a:off x="293774" y="168618"/>
            <a:ext cx="2213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E13C1-1BDD-4C71-8509-A65CEC575006}"/>
              </a:ext>
            </a:extLst>
          </p:cNvPr>
          <p:cNvSpPr txBox="1"/>
          <p:nvPr/>
        </p:nvSpPr>
        <p:spPr>
          <a:xfrm>
            <a:off x="5226008" y="1507852"/>
            <a:ext cx="240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</a:rPr>
              <a:t>13 cm pizza by 0.13cm</a:t>
            </a:r>
            <a:r>
              <a:rPr lang="en-AU" b="1" baseline="300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C2BD1-E4F7-45BF-9339-615C722F6023}"/>
              </a:ext>
            </a:extLst>
          </p:cNvPr>
          <p:cNvSpPr txBox="1"/>
          <p:nvPr/>
        </p:nvSpPr>
        <p:spPr>
          <a:xfrm>
            <a:off x="1786411" y="262814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</a:rPr>
              <a:t>16 965cm</a:t>
            </a:r>
            <a:r>
              <a:rPr lang="en-AU" b="1" baseline="300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14351-EB2D-4F50-8070-C0AF7E96EF2A}"/>
              </a:ext>
            </a:extLst>
          </p:cNvPr>
          <p:cNvSpPr txBox="1"/>
          <p:nvPr/>
        </p:nvSpPr>
        <p:spPr>
          <a:xfrm>
            <a:off x="1634550" y="5889069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</a:rPr>
              <a:t>78.5%</a:t>
            </a:r>
            <a:endParaRPr lang="en-AU" b="1" baseline="30000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9672E-53A0-412D-AD63-841A0F12FC84}"/>
              </a:ext>
            </a:extLst>
          </p:cNvPr>
          <p:cNvSpPr txBox="1"/>
          <p:nvPr/>
        </p:nvSpPr>
        <p:spPr>
          <a:xfrm>
            <a:off x="5431899" y="5889069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</a:rPr>
              <a:t>30.8%</a:t>
            </a:r>
            <a:endParaRPr lang="en-AU" b="1" baseline="30000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F8223-A822-449C-9356-16645AE1BC6D}"/>
              </a:ext>
            </a:extLst>
          </p:cNvPr>
          <p:cNvSpPr txBox="1"/>
          <p:nvPr/>
        </p:nvSpPr>
        <p:spPr>
          <a:xfrm>
            <a:off x="7805706" y="5889069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</a:rPr>
              <a:t>21.5%</a:t>
            </a:r>
            <a:endParaRPr lang="en-AU" b="1" baseline="30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297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1068718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39894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527265"/>
            <a:ext cx="24912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3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Circle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1222" y="578357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448861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61BD87-E289-4B81-A193-4F63F95A3A9B}"/>
              </a:ext>
            </a:extLst>
          </p:cNvPr>
          <p:cNvSpPr txBox="1"/>
          <p:nvPr/>
        </p:nvSpPr>
        <p:spPr>
          <a:xfrm>
            <a:off x="433128" y="1043523"/>
            <a:ext cx="86055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solve problems involving circles?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8881EF4-B481-4E19-B6A9-6E67A8538953}"/>
              </a:ext>
            </a:extLst>
          </p:cNvPr>
          <p:cNvCxnSpPr>
            <a:cxnSpLocks/>
          </p:cNvCxnSpPr>
          <p:nvPr/>
        </p:nvCxnSpPr>
        <p:spPr>
          <a:xfrm>
            <a:off x="2370987" y="1414533"/>
            <a:ext cx="55081" cy="484498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20B7B5B-4C8B-481C-A08C-1D274128F914}"/>
              </a:ext>
            </a:extLst>
          </p:cNvPr>
          <p:cNvSpPr txBox="1"/>
          <p:nvPr/>
        </p:nvSpPr>
        <p:spPr>
          <a:xfrm>
            <a:off x="90064" y="1543066"/>
            <a:ext cx="23048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do I find radius from area or perimeter?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BA17C0-07F4-4843-9EF4-294011BF8711}"/>
                  </a:ext>
                </a:extLst>
              </p:cNvPr>
              <p:cNvSpPr txBox="1"/>
              <p:nvPr/>
            </p:nvSpPr>
            <p:spPr>
              <a:xfrm>
                <a:off x="-12013" y="5248538"/>
                <a:ext cx="2112314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BA17C0-07F4-4843-9EF4-294011BF8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013" y="5248538"/>
                <a:ext cx="2112314" cy="47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30111EE4-4B23-4A7C-8DD3-91BE997F5BCD}"/>
              </a:ext>
            </a:extLst>
          </p:cNvPr>
          <p:cNvSpPr/>
          <p:nvPr/>
        </p:nvSpPr>
        <p:spPr>
          <a:xfrm>
            <a:off x="2476301" y="2724754"/>
            <a:ext cx="1197032" cy="118456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25D078-0384-483B-939B-42B863880749}"/>
                  </a:ext>
                </a:extLst>
              </p:cNvPr>
              <p:cNvSpPr txBox="1"/>
              <p:nvPr/>
            </p:nvSpPr>
            <p:spPr>
              <a:xfrm>
                <a:off x="-43186" y="5641292"/>
                <a:ext cx="2112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l-GR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25D078-0384-483B-939B-42B863880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186" y="5641292"/>
                <a:ext cx="211231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B4ECD4C8-71B6-4AA6-A9BA-6C77DDCAA6CD}"/>
              </a:ext>
            </a:extLst>
          </p:cNvPr>
          <p:cNvSpPr txBox="1"/>
          <p:nvPr/>
        </p:nvSpPr>
        <p:spPr>
          <a:xfrm>
            <a:off x="3904292" y="3005412"/>
            <a:ext cx="2186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= 12.57 m</a:t>
            </a:r>
            <a:r>
              <a:rPr lang="en-AU" baseline="30000" dirty="0"/>
              <a:t>2</a:t>
            </a:r>
            <a:r>
              <a:rPr lang="en-AU" dirty="0"/>
              <a:t>, what is the radius?</a:t>
            </a:r>
          </a:p>
          <a:p>
            <a:r>
              <a:rPr lang="en-AU" dirty="0"/>
              <a:t>(round to 1dp)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7F2050B-2EA1-44BC-BC13-61A2F22DC797}"/>
              </a:ext>
            </a:extLst>
          </p:cNvPr>
          <p:cNvSpPr/>
          <p:nvPr/>
        </p:nvSpPr>
        <p:spPr>
          <a:xfrm>
            <a:off x="2476301" y="4294807"/>
            <a:ext cx="1197032" cy="118456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3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70203F-AA95-4C58-9C77-6815BF2207AD}"/>
              </a:ext>
            </a:extLst>
          </p:cNvPr>
          <p:cNvSpPr txBox="1"/>
          <p:nvPr/>
        </p:nvSpPr>
        <p:spPr>
          <a:xfrm>
            <a:off x="3904291" y="4575465"/>
            <a:ext cx="2186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 = 25.14 m, what is the radius?</a:t>
            </a:r>
          </a:p>
          <a:p>
            <a:r>
              <a:rPr lang="en-AU" dirty="0"/>
              <a:t>(round to 1dp)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8CAFDB0-EBEE-4C72-9BD1-948E34CF7A8D}"/>
                  </a:ext>
                </a:extLst>
              </p:cNvPr>
              <p:cNvSpPr txBox="1"/>
              <p:nvPr/>
            </p:nvSpPr>
            <p:spPr>
              <a:xfrm>
                <a:off x="6010191" y="4664676"/>
                <a:ext cx="3116974" cy="1562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l-GR" sz="20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AU" sz="20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  <m:oMath xmlns:m="http://schemas.openxmlformats.org/officeDocument/2006/math">
                      <m:r>
                        <a:rPr lang="en-A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A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A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A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12.57</m:t>
                          </m:r>
                        </m:num>
                        <m:den>
                          <m:r>
                            <a:rPr lang="en-A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A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=2.00</m:t>
                      </m:r>
                      <m:r>
                        <a:rPr lang="en-A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8CAFDB0-EBEE-4C72-9BD1-948E34CF7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191" y="4664676"/>
                <a:ext cx="3116974" cy="1562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B58783-5AC7-4C63-837C-B637DC8EBB74}"/>
                  </a:ext>
                </a:extLst>
              </p:cNvPr>
              <p:cNvSpPr txBox="1"/>
              <p:nvPr/>
            </p:nvSpPr>
            <p:spPr>
              <a:xfrm>
                <a:off x="5686799" y="2282535"/>
                <a:ext cx="3568037" cy="2225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A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A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AU" sz="20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AU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rad>
                    </m:oMath>
                    <m:oMath xmlns:m="http://schemas.openxmlformats.org/officeDocument/2006/math">
                      <m:r>
                        <a:rPr lang="en-A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A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AU" sz="20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12.57</m:t>
                              </m:r>
                            </m:num>
                            <m:den>
                              <m:r>
                                <a:rPr lang="en-AU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en-A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=2.00</m:t>
                          </m:r>
                          <m:r>
                            <a:rPr lang="en-A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B58783-5AC7-4C63-837C-B637DC8EB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799" y="2282535"/>
                <a:ext cx="3568037" cy="22258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1C87859B-D26B-4D6F-82D7-1E9DD3B689D1}"/>
              </a:ext>
            </a:extLst>
          </p:cNvPr>
          <p:cNvSpPr txBox="1"/>
          <p:nvPr/>
        </p:nvSpPr>
        <p:spPr>
          <a:xfrm>
            <a:off x="2431099" y="1561592"/>
            <a:ext cx="38865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Rewrite the formula using radius as the unknown then simplify</a:t>
            </a:r>
          </a:p>
        </p:txBody>
      </p:sp>
    </p:spTree>
    <p:extLst>
      <p:ext uri="{BB962C8B-B14F-4D97-AF65-F5344CB8AC3E}">
        <p14:creationId xmlns:p14="http://schemas.microsoft.com/office/powerpoint/2010/main" val="896074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/>
      <p:bldP spid="29" grpId="0" animBg="1"/>
      <p:bldP spid="30" grpId="0"/>
      <p:bldP spid="31" grpId="0"/>
      <p:bldP spid="3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3668</TotalTime>
  <Words>547</Words>
  <Application>Microsoft Office PowerPoint</Application>
  <PresentationFormat>On-screen Show (4:3)</PresentationFormat>
  <Paragraphs>75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Fragment Core</vt:lpstr>
      <vt:lpstr>Office Theme</vt:lpstr>
      <vt:lpstr>Circle 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 Revision</dc:title>
  <dc:creator>LABUSCHAGNE Nine [Baldivis Secondary College]</dc:creator>
  <cp:lastModifiedBy>Barry Stanton</cp:lastModifiedBy>
  <cp:revision>27</cp:revision>
  <dcterms:created xsi:type="dcterms:W3CDTF">2018-06-25T03:37:19Z</dcterms:created>
  <dcterms:modified xsi:type="dcterms:W3CDTF">2019-06-04T08:13:42Z</dcterms:modified>
</cp:coreProperties>
</file>
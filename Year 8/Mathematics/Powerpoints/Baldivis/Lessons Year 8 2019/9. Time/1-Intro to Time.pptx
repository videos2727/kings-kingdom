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19"/>
  </p:notesMasterIdLst>
  <p:sldIdLst>
    <p:sldId id="284" r:id="rId3"/>
    <p:sldId id="285" r:id="rId4"/>
    <p:sldId id="286" r:id="rId5"/>
    <p:sldId id="290" r:id="rId6"/>
    <p:sldId id="294" r:id="rId7"/>
    <p:sldId id="293" r:id="rId8"/>
    <p:sldId id="304" r:id="rId9"/>
    <p:sldId id="303" r:id="rId10"/>
    <p:sldId id="295" r:id="rId11"/>
    <p:sldId id="296" r:id="rId12"/>
    <p:sldId id="298" r:id="rId13"/>
    <p:sldId id="300" r:id="rId14"/>
    <p:sldId id="302" r:id="rId15"/>
    <p:sldId id="297" r:id="rId16"/>
    <p:sldId id="299" r:id="rId17"/>
    <p:sldId id="30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2"/>
    <p:restoredTop sz="79639" autoAdjust="0"/>
  </p:normalViewPr>
  <p:slideViewPr>
    <p:cSldViewPr>
      <p:cViewPr varScale="1">
        <p:scale>
          <a:sx n="72" d="100"/>
          <a:sy n="72" d="100"/>
        </p:scale>
        <p:origin x="1347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04/09/2019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34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Just in case the students need a reminder about reading clocks.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256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clip provides a 4 minute description of time conversion and builds a single conversion loop that leads nicely to the caterpillar on the next slide.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69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673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707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11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6"/>
            <a:ext cx="48006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057400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14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090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53534"/>
            <a:ext cx="8115299" cy="2801935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2"/>
            <a:ext cx="5243619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38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77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3132667"/>
            <a:ext cx="3983831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7"/>
            <a:ext cx="40005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63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95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0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308610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10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2"/>
            <a:ext cx="2733722" cy="546744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515493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39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1"/>
            <a:ext cx="8116526" cy="81935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0"/>
            <a:ext cx="8116380" cy="347816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6"/>
            <a:ext cx="8115300" cy="701969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80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3"/>
            <a:ext cx="8115300" cy="2802467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4"/>
            <a:ext cx="7597887" cy="99906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613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7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3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1803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1124702"/>
            <a:ext cx="7609640" cy="251183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8316"/>
            <a:ext cx="7608491" cy="99988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8884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376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023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4191001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4873765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4191001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4873764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1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2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13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0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82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7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745068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1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233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610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308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48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1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197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07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921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37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028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3735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1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93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4/09/2019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82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missminded.deviantart.com/art/Clock-Face-14753363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XcNV472GG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1924" y="69269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b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317552"/>
            <a:ext cx="4038600" cy="269557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5536" y="3789039"/>
            <a:ext cx="6400800" cy="17526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AU" sz="2400" dirty="0"/>
              <a:t>Name: </a:t>
            </a:r>
          </a:p>
          <a:p>
            <a:pPr marL="0" indent="0" algn="l">
              <a:buNone/>
            </a:pPr>
            <a:r>
              <a:rPr lang="en-AU" sz="2400" dirty="0"/>
              <a:t>Class:</a:t>
            </a:r>
          </a:p>
          <a:p>
            <a:pPr marL="0" indent="0" algn="l">
              <a:buNone/>
            </a:pPr>
            <a:r>
              <a:rPr lang="en-AU" sz="2400" dirty="0"/>
              <a:t>Teacher:</a:t>
            </a:r>
          </a:p>
          <a:p>
            <a:pPr marL="0" indent="0" algn="l">
              <a:buNone/>
            </a:pPr>
            <a:r>
              <a:rPr lang="en-AU" sz="2400" dirty="0"/>
              <a:t>Term 3 Semester 2</a:t>
            </a:r>
          </a:p>
        </p:txBody>
      </p:sp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65527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14126" y="3591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23728" y="404664"/>
            <a:ext cx="0" cy="65527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20475" y="5805264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6085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0475" y="1"/>
            <a:ext cx="499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851" y="792142"/>
            <a:ext cx="171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676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0473" y="5805266"/>
            <a:ext cx="977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200" u="sng" dirty="0"/>
              <a:t>Knowledge of Time</a:t>
            </a:r>
            <a:br>
              <a:rPr lang="en-US" sz="4200" dirty="0"/>
            </a:br>
            <a:r>
              <a:rPr lang="en-US" dirty="0"/>
              <a:t>Quick quiz. (LHS)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46250"/>
            <a:ext cx="8424936" cy="45259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When is the next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Why do we need a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31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30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does (BC) BCE or (AD) CE mean?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Is time the same, all over the planet, our globe called Earth?</a:t>
            </a:r>
          </a:p>
        </p:txBody>
      </p:sp>
    </p:spTree>
    <p:extLst>
      <p:ext uri="{BB962C8B-B14F-4D97-AF65-F5344CB8AC3E}">
        <p14:creationId xmlns:p14="http://schemas.microsoft.com/office/powerpoint/2010/main" val="73690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912" y="548680"/>
            <a:ext cx="6172200" cy="918102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4950" dirty="0">
                <a:latin typeface="Brandish" pitchFamily="2" charset="0"/>
              </a:rPr>
              <a:t>Fun Facts 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384340" cy="4752528"/>
          </a:xfrm>
        </p:spPr>
        <p:txBody>
          <a:bodyPr>
            <a:noAutofit/>
          </a:bodyPr>
          <a:lstStyle/>
          <a:p>
            <a:r>
              <a:rPr lang="en-GB" sz="2200" dirty="0"/>
              <a:t>Time in minutes and seconds is based on the number</a:t>
            </a:r>
            <a:r>
              <a:rPr lang="mr-IN" sz="2200" dirty="0"/>
              <a:t>……</a:t>
            </a:r>
            <a:r>
              <a:rPr lang="en-AU" sz="2200" dirty="0"/>
              <a:t>..</a:t>
            </a:r>
          </a:p>
          <a:p>
            <a:pPr marL="0" indent="0" algn="ctr">
              <a:buNone/>
            </a:pPr>
            <a:r>
              <a:rPr lang="en-AU" sz="2200" b="1" i="1" dirty="0"/>
              <a:t>Thanks to the ancient Babylonians who used a Base-60 system.</a:t>
            </a:r>
          </a:p>
          <a:p>
            <a:r>
              <a:rPr lang="en-US" sz="2200" dirty="0"/>
              <a:t>Other units of time are based on the rate that the Earth spins on it’s axis.</a:t>
            </a:r>
          </a:p>
          <a:p>
            <a:pPr marL="0" indent="0" algn="ctr">
              <a:buNone/>
            </a:pPr>
            <a:r>
              <a:rPr lang="en-US" sz="2200" b="1" i="1" dirty="0"/>
              <a:t>The ancient Egyptians described the 24 hour day as 12 hours of day and 12 hours of night.</a:t>
            </a:r>
          </a:p>
          <a:p>
            <a:r>
              <a:rPr lang="en-US" sz="2200" dirty="0"/>
              <a:t>The solar calendar recognizes that the Earth takes about 365 ¼ days to orbit the Sun. This gave us the leap year, one extra day every four years.  Leap years have 366 days, 29</a:t>
            </a:r>
            <a:r>
              <a:rPr lang="en-US" sz="2200" baseline="30000" dirty="0"/>
              <a:t>th</a:t>
            </a:r>
            <a:r>
              <a:rPr lang="en-US" sz="2200" dirty="0"/>
              <a:t> of February is the extra day.  </a:t>
            </a:r>
          </a:p>
          <a:p>
            <a:pPr marL="0" indent="0" algn="ctr">
              <a:buNone/>
            </a:pPr>
            <a:r>
              <a:rPr lang="en-US" sz="2200" b="1" i="1" dirty="0"/>
              <a:t>The Olympics occur on leap years.</a:t>
            </a:r>
            <a:r>
              <a:rPr lang="en-US" sz="2200" b="1" dirty="0"/>
              <a:t> </a:t>
            </a:r>
          </a:p>
          <a:p>
            <a:pPr marL="0" indent="0" algn="ctr">
              <a:buNone/>
            </a:pPr>
            <a:r>
              <a:rPr lang="en-US" sz="2200" b="1" i="1" dirty="0"/>
              <a:t>Julius Caesar introduced the solar calendar.</a:t>
            </a:r>
            <a:endParaRPr lang="en-GB" sz="2200" b="1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5620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300" dirty="0">
                <a:latin typeface="Kiwi School Handwriting" panose="00000500000000000000" pitchFamily="2" charset="0"/>
              </a:rPr>
              <a:t>Students will be able to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AU" sz="2400" dirty="0"/>
              <a:t>Convert between units of time (seconds, minutes, hours, days, weeks etc.)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AU" sz="2400" dirty="0"/>
              <a:t>Convert time from 24 hour clock to AM/PM and vice versa.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57854"/>
            <a:ext cx="0" cy="560014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3663" y="176412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1" y="1385484"/>
            <a:ext cx="1502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tell time on an analogue clock? 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AB8D25-9B01-494B-8413-C345E1EC7529}"/>
              </a:ext>
            </a:extLst>
          </p:cNvPr>
          <p:cNvSpPr txBox="1"/>
          <p:nvPr/>
        </p:nvSpPr>
        <p:spPr>
          <a:xfrm>
            <a:off x="1619671" y="1385484"/>
            <a:ext cx="7272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The shorter hand tells us the hour</a:t>
            </a:r>
          </a:p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The longer hand tells us the minutes past (or to) the hour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718A11A-8CC5-4792-95D6-C8EB547DCC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67744" y="2284160"/>
            <a:ext cx="1823348" cy="182334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A8E0616-D6CB-42F0-A2D5-FF23881F40DC}"/>
              </a:ext>
            </a:extLst>
          </p:cNvPr>
          <p:cNvSpPr txBox="1"/>
          <p:nvPr/>
        </p:nvSpPr>
        <p:spPr>
          <a:xfrm>
            <a:off x="1143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4" tooltip="http://missminded.deviantart.com/art/Clock-Face-147533631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5" tooltip="https://creativecommons.org/licenses/by/3.0/"/>
              </a:rPr>
              <a:t>CC BY</a:t>
            </a:r>
            <a:endParaRPr lang="en-AU" sz="9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B61327-D65E-4CD3-A7C9-053C135947B7}"/>
              </a:ext>
            </a:extLst>
          </p:cNvPr>
          <p:cNvSpPr txBox="1"/>
          <p:nvPr/>
        </p:nvSpPr>
        <p:spPr>
          <a:xfrm>
            <a:off x="42154" y="4711148"/>
            <a:ext cx="1502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tell time on a digital clock? 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1C5E03-38A6-4C84-AF2A-C011BB755454}"/>
              </a:ext>
            </a:extLst>
          </p:cNvPr>
          <p:cNvSpPr txBox="1"/>
          <p:nvPr/>
        </p:nvSpPr>
        <p:spPr>
          <a:xfrm>
            <a:off x="2267744" y="4811844"/>
            <a:ext cx="965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Hour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58BF2A-3BB3-491E-9F02-6E29B2B35BAF}"/>
              </a:ext>
            </a:extLst>
          </p:cNvPr>
          <p:cNvSpPr txBox="1"/>
          <p:nvPr/>
        </p:nvSpPr>
        <p:spPr>
          <a:xfrm>
            <a:off x="4111849" y="5477036"/>
            <a:ext cx="11288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cs typeface="Diwani Bent" panose="02010400000000000000" pitchFamily="2" charset="-78"/>
              </a:rPr>
              <a:t>01:00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E90377-ABB7-4DBD-8E84-B4C4EF4C0C9E}"/>
              </a:ext>
            </a:extLst>
          </p:cNvPr>
          <p:cNvSpPr txBox="1"/>
          <p:nvPr/>
        </p:nvSpPr>
        <p:spPr>
          <a:xfrm>
            <a:off x="5580111" y="4764631"/>
            <a:ext cx="2664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Minutes past the hour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D2EE11-D991-474B-B72F-F82895714FF5}"/>
              </a:ext>
            </a:extLst>
          </p:cNvPr>
          <p:cNvCxnSpPr>
            <a:stCxn id="56" idx="2"/>
          </p:cNvCxnSpPr>
          <p:nvPr/>
        </p:nvCxnSpPr>
        <p:spPr>
          <a:xfrm>
            <a:off x="2750658" y="5211954"/>
            <a:ext cx="1461302" cy="449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3488732-AAFC-4218-B026-1EB36E2EF6EB}"/>
              </a:ext>
            </a:extLst>
          </p:cNvPr>
          <p:cNvCxnSpPr>
            <a:stCxn id="58" idx="2"/>
          </p:cNvCxnSpPr>
          <p:nvPr/>
        </p:nvCxnSpPr>
        <p:spPr>
          <a:xfrm flipH="1">
            <a:off x="5148064" y="5164741"/>
            <a:ext cx="1764192" cy="4153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865E82-C974-4EDC-887F-0C4FA216EF56}"/>
              </a:ext>
            </a:extLst>
          </p:cNvPr>
          <p:cNvCxnSpPr>
            <a:cxnSpLocks/>
          </p:cNvCxnSpPr>
          <p:nvPr/>
        </p:nvCxnSpPr>
        <p:spPr>
          <a:xfrm flipV="1">
            <a:off x="3179418" y="2778238"/>
            <a:ext cx="301891" cy="417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17D4148-724A-4A16-90BA-3AA5276C7DC5}"/>
              </a:ext>
            </a:extLst>
          </p:cNvPr>
          <p:cNvCxnSpPr>
            <a:cxnSpLocks/>
          </p:cNvCxnSpPr>
          <p:nvPr/>
        </p:nvCxnSpPr>
        <p:spPr>
          <a:xfrm flipV="1">
            <a:off x="3179418" y="2493480"/>
            <a:ext cx="0" cy="7023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ED38915-522D-4B1C-9BC5-C2DD5C232605}"/>
              </a:ext>
            </a:extLst>
          </p:cNvPr>
          <p:cNvSpPr txBox="1"/>
          <p:nvPr/>
        </p:nvSpPr>
        <p:spPr>
          <a:xfrm>
            <a:off x="4934537" y="2757641"/>
            <a:ext cx="2664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It’s 1 o’clock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72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6" grpId="0"/>
      <p:bldP spid="58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https://www.youtube.com/watch?v=UXcNV472GGY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0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1" y="2012734"/>
            <a:ext cx="1502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convert unit of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2299" y="1318065"/>
            <a:ext cx="761763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The standard unit of time is seconds (s)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Time Conversion Caterpillar 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Day                               Hour                           Minutes		    Second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US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US" sz="2000" b="1" dirty="0">
                <a:solidFill>
                  <a:srgbClr val="00B050"/>
                </a:solidFill>
                <a:latin typeface="Calibri" panose="020F0502020204030204"/>
              </a:rPr>
              <a:t>Year                            Fortnight                    Week		                Day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There are 12 months in a year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73EB889-D79A-48B8-9356-F780D4B36081}"/>
              </a:ext>
            </a:extLst>
          </p:cNvPr>
          <p:cNvGrpSpPr/>
          <p:nvPr/>
        </p:nvGrpSpPr>
        <p:grpSpPr>
          <a:xfrm>
            <a:off x="1811544" y="2593477"/>
            <a:ext cx="2435087" cy="457200"/>
            <a:chOff x="2372139" y="1974574"/>
            <a:chExt cx="3246783" cy="609600"/>
          </a:xfrm>
        </p:grpSpPr>
        <p:sp>
          <p:nvSpPr>
            <p:cNvPr id="2" name="Arrow: Curved Down 1">
              <a:extLst>
                <a:ext uri="{FF2B5EF4-FFF2-40B4-BE49-F238E27FC236}">
                  <a16:creationId xmlns:a16="http://schemas.microsoft.com/office/drawing/2014/main" id="{88B18E47-C3E6-447C-8863-9FEAC299BE46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6F26A7-2C5A-4FAA-B779-BC83843EF02A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24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3FF91-32D4-46D0-B282-88E04FA2522D}"/>
              </a:ext>
            </a:extLst>
          </p:cNvPr>
          <p:cNvGrpSpPr/>
          <p:nvPr/>
        </p:nvGrpSpPr>
        <p:grpSpPr>
          <a:xfrm>
            <a:off x="3973305" y="2553720"/>
            <a:ext cx="2435087" cy="457200"/>
            <a:chOff x="2372139" y="1974574"/>
            <a:chExt cx="3246783" cy="609600"/>
          </a:xfrm>
        </p:grpSpPr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7C4D5D61-BD2A-4573-AA77-6A6DA95CA58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80CAD8-F574-4FEB-94DF-F63C3AE5911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FE4D06-409F-45B5-9F3E-38BDB475C7DC}"/>
              </a:ext>
            </a:extLst>
          </p:cNvPr>
          <p:cNvGrpSpPr/>
          <p:nvPr/>
        </p:nvGrpSpPr>
        <p:grpSpPr>
          <a:xfrm>
            <a:off x="6165137" y="2525932"/>
            <a:ext cx="2435087" cy="457200"/>
            <a:chOff x="2372139" y="1974574"/>
            <a:chExt cx="3246783" cy="609600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A357B714-26F1-4C41-A04F-AAA619EF79C5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55B804-78CF-4B1E-965A-7BB5BC7125A6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4D97B0-4B19-46E9-A6DB-7D04121E1E5E}"/>
              </a:ext>
            </a:extLst>
          </p:cNvPr>
          <p:cNvGrpSpPr/>
          <p:nvPr/>
        </p:nvGrpSpPr>
        <p:grpSpPr>
          <a:xfrm>
            <a:off x="6035817" y="3280384"/>
            <a:ext cx="2435087" cy="457200"/>
            <a:chOff x="8057322" y="2950963"/>
            <a:chExt cx="3246783" cy="609600"/>
          </a:xfrm>
        </p:grpSpPr>
        <p:sp>
          <p:nvSpPr>
            <p:cNvPr id="21" name="Arrow: Curved Down 20">
              <a:extLst>
                <a:ext uri="{FF2B5EF4-FFF2-40B4-BE49-F238E27FC236}">
                  <a16:creationId xmlns:a16="http://schemas.microsoft.com/office/drawing/2014/main" id="{3B378309-B22B-46AF-93A3-A381ABFCAB4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F70075-C355-47E6-97C7-8FBD970500C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D1C4A4-530A-4646-B1CF-C334850F2B6C}"/>
              </a:ext>
            </a:extLst>
          </p:cNvPr>
          <p:cNvGrpSpPr/>
          <p:nvPr/>
        </p:nvGrpSpPr>
        <p:grpSpPr>
          <a:xfrm>
            <a:off x="3870937" y="3313138"/>
            <a:ext cx="2435087" cy="457200"/>
            <a:chOff x="8057322" y="2950963"/>
            <a:chExt cx="3246783" cy="609600"/>
          </a:xfrm>
        </p:grpSpPr>
        <p:sp>
          <p:nvSpPr>
            <p:cNvPr id="24" name="Arrow: Curved Down 23">
              <a:extLst>
                <a:ext uri="{FF2B5EF4-FFF2-40B4-BE49-F238E27FC236}">
                  <a16:creationId xmlns:a16="http://schemas.microsoft.com/office/drawing/2014/main" id="{603E1C8B-0794-4B41-A61B-888E7E55303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BEB744-1D01-466F-BF60-E756219E4F40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FEF30A-E6C1-4447-8E7B-EBFA880F2AE6}"/>
              </a:ext>
            </a:extLst>
          </p:cNvPr>
          <p:cNvGrpSpPr/>
          <p:nvPr/>
        </p:nvGrpSpPr>
        <p:grpSpPr>
          <a:xfrm>
            <a:off x="1706058" y="3316993"/>
            <a:ext cx="2435087" cy="457200"/>
            <a:chOff x="8057322" y="2950963"/>
            <a:chExt cx="3246783" cy="609600"/>
          </a:xfrm>
        </p:grpSpPr>
        <p:sp>
          <p:nvSpPr>
            <p:cNvPr id="27" name="Arrow: Curved Down 26">
              <a:extLst>
                <a:ext uri="{FF2B5EF4-FFF2-40B4-BE49-F238E27FC236}">
                  <a16:creationId xmlns:a16="http://schemas.microsoft.com/office/drawing/2014/main" id="{01CFCE21-3E59-4A02-BD5F-5CA12C373AB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7F2F96-C8F3-43BC-9084-2408FFC8D6C3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24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B185C9-9E2C-4077-9DF4-605A3283D955}"/>
              </a:ext>
            </a:extLst>
          </p:cNvPr>
          <p:cNvGrpSpPr/>
          <p:nvPr/>
        </p:nvGrpSpPr>
        <p:grpSpPr>
          <a:xfrm>
            <a:off x="1688102" y="4394977"/>
            <a:ext cx="2435087" cy="457200"/>
            <a:chOff x="2372139" y="1974574"/>
            <a:chExt cx="3246783" cy="609600"/>
          </a:xfrm>
        </p:grpSpPr>
        <p:sp>
          <p:nvSpPr>
            <p:cNvPr id="30" name="Arrow: Curved Down 29">
              <a:extLst>
                <a:ext uri="{FF2B5EF4-FFF2-40B4-BE49-F238E27FC236}">
                  <a16:creationId xmlns:a16="http://schemas.microsoft.com/office/drawing/2014/main" id="{885A1432-9632-4F1F-B8D2-9B0A6CEDBD18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6EFB7C-D0E5-40CB-A5C2-BFD6CDBC862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26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780A9E-493C-45D3-A4B5-9866FF8F9A50}"/>
              </a:ext>
            </a:extLst>
          </p:cNvPr>
          <p:cNvGrpSpPr/>
          <p:nvPr/>
        </p:nvGrpSpPr>
        <p:grpSpPr>
          <a:xfrm>
            <a:off x="3849863" y="4355220"/>
            <a:ext cx="2435087" cy="457200"/>
            <a:chOff x="2372139" y="1974574"/>
            <a:chExt cx="3246783" cy="609600"/>
          </a:xfrm>
        </p:grpSpPr>
        <p:sp>
          <p:nvSpPr>
            <p:cNvPr id="34" name="Arrow: Curved Down 33">
              <a:extLst>
                <a:ext uri="{FF2B5EF4-FFF2-40B4-BE49-F238E27FC236}">
                  <a16:creationId xmlns:a16="http://schemas.microsoft.com/office/drawing/2014/main" id="{DA60EDCC-A352-42E9-AB91-B365717CE11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027B5B-B2C8-4468-AA1D-ABFE0668A65C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D479E7-638A-43C3-B687-16E96D12C490}"/>
              </a:ext>
            </a:extLst>
          </p:cNvPr>
          <p:cNvGrpSpPr/>
          <p:nvPr/>
        </p:nvGrpSpPr>
        <p:grpSpPr>
          <a:xfrm>
            <a:off x="6041695" y="4327433"/>
            <a:ext cx="2435087" cy="457200"/>
            <a:chOff x="2372139" y="1974574"/>
            <a:chExt cx="3246783" cy="609600"/>
          </a:xfrm>
        </p:grpSpPr>
        <p:sp>
          <p:nvSpPr>
            <p:cNvPr id="38" name="Arrow: Curved Down 37">
              <a:extLst>
                <a:ext uri="{FF2B5EF4-FFF2-40B4-BE49-F238E27FC236}">
                  <a16:creationId xmlns:a16="http://schemas.microsoft.com/office/drawing/2014/main" id="{4A583994-2950-4D53-8577-629754A05C23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FF2AAD-5ECB-4211-9C19-9A5C88B46041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7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BE8990C-6B3E-49F3-98EA-707D279BDE4F}"/>
              </a:ext>
            </a:extLst>
          </p:cNvPr>
          <p:cNvGrpSpPr/>
          <p:nvPr/>
        </p:nvGrpSpPr>
        <p:grpSpPr>
          <a:xfrm>
            <a:off x="5912375" y="5081885"/>
            <a:ext cx="2435087" cy="457200"/>
            <a:chOff x="8057322" y="2950963"/>
            <a:chExt cx="3246783" cy="609600"/>
          </a:xfrm>
        </p:grpSpPr>
        <p:sp>
          <p:nvSpPr>
            <p:cNvPr id="41" name="Arrow: Curved Down 40">
              <a:extLst>
                <a:ext uri="{FF2B5EF4-FFF2-40B4-BE49-F238E27FC236}">
                  <a16:creationId xmlns:a16="http://schemas.microsoft.com/office/drawing/2014/main" id="{11360455-7150-4ABF-AFCF-D1A9C5FC990B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75934A-6FE0-431C-8763-3D61476DB2CC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7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63323B-9ABE-4333-A1F7-7E78D4EBA4D8}"/>
              </a:ext>
            </a:extLst>
          </p:cNvPr>
          <p:cNvGrpSpPr/>
          <p:nvPr/>
        </p:nvGrpSpPr>
        <p:grpSpPr>
          <a:xfrm>
            <a:off x="3747495" y="5114638"/>
            <a:ext cx="2435087" cy="457200"/>
            <a:chOff x="8057322" y="2950963"/>
            <a:chExt cx="3246783" cy="609600"/>
          </a:xfrm>
        </p:grpSpPr>
        <p:sp>
          <p:nvSpPr>
            <p:cNvPr id="44" name="Arrow: Curved Down 43">
              <a:extLst>
                <a:ext uri="{FF2B5EF4-FFF2-40B4-BE49-F238E27FC236}">
                  <a16:creationId xmlns:a16="http://schemas.microsoft.com/office/drawing/2014/main" id="{3D52EDA2-CD37-4DC9-B178-036CDF1E2D4D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CF7478-695F-4C0A-BEFA-F0E2FF08D7B2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61FC4F-7616-402B-9E68-DA29705731EE}"/>
              </a:ext>
            </a:extLst>
          </p:cNvPr>
          <p:cNvGrpSpPr/>
          <p:nvPr/>
        </p:nvGrpSpPr>
        <p:grpSpPr>
          <a:xfrm>
            <a:off x="1582616" y="5118494"/>
            <a:ext cx="2435087" cy="457200"/>
            <a:chOff x="8057322" y="2950963"/>
            <a:chExt cx="3246783" cy="609600"/>
          </a:xfrm>
        </p:grpSpPr>
        <p:sp>
          <p:nvSpPr>
            <p:cNvPr id="47" name="Arrow: Curved Down 46">
              <a:extLst>
                <a:ext uri="{FF2B5EF4-FFF2-40B4-BE49-F238E27FC236}">
                  <a16:creationId xmlns:a16="http://schemas.microsoft.com/office/drawing/2014/main" id="{72A0F8A6-D702-4BC1-BB96-7F8F6585A7E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C2C702-C95B-407F-AC0B-E2975AC950E1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26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001" y="1354676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decade?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759" y="2175257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century?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27907" y="1465805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Decade is 10 years</a:t>
            </a:r>
          </a:p>
          <a:p>
            <a:pPr defTabSz="685595"/>
            <a:endParaRPr lang="en-AU" sz="24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Century is 100 years.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01" y="3073343"/>
            <a:ext cx="150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 :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1563197" y="3073343"/>
            <a:ext cx="7713409" cy="38109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A) 	</a:t>
            </a:r>
            <a:r>
              <a:rPr lang="en-US" sz="2800" b="1" dirty="0"/>
              <a:t>3 days =  _______   minutes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3 days = 3 x 24 h	</a:t>
            </a:r>
            <a:r>
              <a:rPr lang="en-US" sz="2800" dirty="0"/>
              <a:t>	</a:t>
            </a:r>
            <a:r>
              <a:rPr lang="en-US" sz="2800" i="1" dirty="0"/>
              <a:t>1 day = 24 hours  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hours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x 60 min</a:t>
            </a:r>
            <a:r>
              <a:rPr lang="en-US" sz="2800" dirty="0"/>
              <a:t>      </a:t>
            </a:r>
            <a:r>
              <a:rPr lang="en-US" sz="2800" i="1" dirty="0"/>
              <a:t>1 hour = 60 minutes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4320 min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B) </a:t>
            </a:r>
            <a:r>
              <a:rPr lang="en-US" sz="2800" b="1" dirty="0"/>
              <a:t>30 months = ________    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	30 ÷ 12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/>
              <a:t>		1 year = 12 months</a:t>
            </a:r>
            <a:endParaRPr lang="en-US" sz="2800" dirty="0"/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	2 ½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3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0"/>
            <a:ext cx="5403132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Converting Time Units Worksheet [10 mins]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3628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education.abc.net.au</a:t>
            </a:r>
            <a:r>
              <a:rPr lang="en-US" dirty="0"/>
              <a:t>/home#!/media/1566174/late-again-</a:t>
            </a:r>
          </a:p>
        </p:txBody>
      </p:sp>
    </p:spTree>
    <p:extLst>
      <p:ext uri="{BB962C8B-B14F-4D97-AF65-F5344CB8AC3E}">
        <p14:creationId xmlns:p14="http://schemas.microsoft.com/office/powerpoint/2010/main" val="165285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001" y="1354676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12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9201" y="1337449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Today we use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ante meridiem </a:t>
            </a:r>
            <a:r>
              <a:rPr lang="mr-IN" sz="2400" i="1" dirty="0">
                <a:latin typeface="Calibri" panose="020F0502020204030204" pitchFamily="34" charset="0"/>
              </a:rPr>
              <a:t>–</a:t>
            </a: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Latin for (before noon) and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post meridiem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(after noon).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1" y="2620911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24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9201" y="2620911"/>
            <a:ext cx="7617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24-hr  Time  shows the number of hours and minutes after midnight.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609201" y="3530902"/>
                <a:ext cx="7148572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Example: 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4:30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1200 + 0430 = 1630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pm, add 12 hours to 0430 hours.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201" y="3530902"/>
                <a:ext cx="7148572" cy="1354217"/>
              </a:xfrm>
              <a:prstGeom prst="rect">
                <a:avLst/>
              </a:prstGeom>
              <a:blipFill>
                <a:blip r:embed="rId3"/>
                <a:stretch>
                  <a:fillRect l="-1364" t="-360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627058" y="4891005"/>
                <a:ext cx="71485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=0700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58" y="4891005"/>
                <a:ext cx="7148572" cy="461665"/>
              </a:xfrm>
              <a:prstGeom prst="rect">
                <a:avLst/>
              </a:prstGeom>
              <a:blipFill>
                <a:blip r:embed="rId4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627058" y="5445224"/>
                <a:ext cx="714857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945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1945−1200=7:45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after 1200 (noon) hours, subtract 12 hours</a:t>
                </a:r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58" y="5445224"/>
                <a:ext cx="7148572" cy="1200329"/>
              </a:xfrm>
              <a:prstGeom prst="rect">
                <a:avLst/>
              </a:prstGeom>
              <a:blipFill>
                <a:blip r:embed="rId5"/>
                <a:stretch>
                  <a:fillRect l="-136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  <p:bldP spid="12" grpId="0"/>
      <p:bldP spid="13" grpId="0"/>
      <p:bldP spid="2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0"/>
            <a:ext cx="5403132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11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12 hours and 24 hour time Worksheet [10 mins]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349789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</TotalTime>
  <Words>661</Words>
  <Application>Microsoft Office PowerPoint</Application>
  <PresentationFormat>On-screen Show (4:3)</PresentationFormat>
  <Paragraphs>146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Brandish</vt:lpstr>
      <vt:lpstr>Calibri</vt:lpstr>
      <vt:lpstr>Calibri Light</vt:lpstr>
      <vt:lpstr>Cambria Math</vt:lpstr>
      <vt:lpstr>Century Gothic</vt:lpstr>
      <vt:lpstr>Kiwi School Handwriting</vt:lpstr>
      <vt:lpstr>Vapor Trail</vt:lpstr>
      <vt:lpstr>Office Theme</vt:lpstr>
      <vt:lpstr>Time Interactive Notebook</vt:lpstr>
      <vt:lpstr>PowerPoint Presentation</vt:lpstr>
      <vt:lpstr>PowerPoint Presentation</vt:lpstr>
      <vt:lpstr>Knowledge of Time Quick quiz. (LHS)</vt:lpstr>
      <vt:lpstr>Fun Facts on Time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</vt:lpstr>
      <vt:lpstr>PowerPoint Presentation</vt:lpstr>
      <vt:lpstr>PowerPoint Presentation</vt:lpstr>
      <vt:lpstr>PowerPoint Presentation</vt:lpstr>
      <vt:lpstr>Independent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Barry Stanton</cp:lastModifiedBy>
  <cp:revision>40</cp:revision>
  <dcterms:created xsi:type="dcterms:W3CDTF">2013-03-25T14:33:20Z</dcterms:created>
  <dcterms:modified xsi:type="dcterms:W3CDTF">2019-09-04T01:43:34Z</dcterms:modified>
</cp:coreProperties>
</file>
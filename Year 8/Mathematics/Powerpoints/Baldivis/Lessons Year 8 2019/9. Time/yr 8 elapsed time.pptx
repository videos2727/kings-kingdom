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3" r:id="rId2"/>
    <p:sldId id="293" r:id="rId3"/>
    <p:sldId id="278" r:id="rId4"/>
    <p:sldId id="279" r:id="rId5"/>
    <p:sldId id="296" r:id="rId6"/>
    <p:sldId id="281" r:id="rId7"/>
    <p:sldId id="280" r:id="rId8"/>
    <p:sldId id="299" r:id="rId9"/>
    <p:sldId id="298" r:id="rId10"/>
    <p:sldId id="285" r:id="rId11"/>
    <p:sldId id="295" r:id="rId12"/>
  </p:sldIdLst>
  <p:sldSz cx="9144000" cy="6858000" type="screen4x3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>
      <p:cViewPr varScale="1">
        <p:scale>
          <a:sx n="53" d="100"/>
          <a:sy n="53" d="100"/>
        </p:scale>
        <p:origin x="900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17/09/2019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54901CF-C54F-47BE-B557-3E1FEE9922D1}" type="slidenum">
              <a:rPr lang="en-US" smtClean="0"/>
              <a:pPr eaLnBrk="1" hangingPunct="1"/>
              <a:t>3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790A8B3-F158-4698-B507-13AF13AA55C0}" type="slidenum">
              <a:rPr lang="en-US" smtClean="0"/>
              <a:pPr eaLnBrk="1" hangingPunct="1"/>
              <a:t>4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074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FE4091F-577D-4741-9702-2BA9CB0DADC1}" type="slidenum">
              <a:rPr lang="en-US" smtClean="0"/>
              <a:pPr eaLnBrk="1" hangingPunct="1"/>
              <a:t>6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AF1E4C-5399-4EAB-B6EE-084C60D0DEC5}" type="slidenum">
              <a:rPr lang="en-US" smtClean="0"/>
              <a:pPr eaLnBrk="1" hangingPunct="1"/>
              <a:t>7</a:t>
            </a:fld>
            <a:endParaRPr lang="en-US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5884F74-F1E5-4BF3-935F-35CFB8B9E2BC}" type="slidenum">
              <a:rPr lang="en-US" smtClean="0"/>
              <a:pPr eaLnBrk="1" hangingPunct="1"/>
              <a:t>9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07875F3-3027-4E9B-A6A6-44A76FF9AC9E}" type="slidenum">
              <a:rPr lang="en-US" smtClean="0"/>
              <a:pPr eaLnBrk="1" hangingPunct="1"/>
              <a:t>10</a:t>
            </a:fld>
            <a:endParaRPr lang="en-US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17/09/2019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77" y="-1535307"/>
            <a:ext cx="8229600" cy="1143000"/>
          </a:xfr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r>
              <a:rPr lang="en-GB" sz="11500" dirty="0">
                <a:latin typeface="Martina" pitchFamily="2" charset="0"/>
              </a:rPr>
              <a:t>Warm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91680" y="2852936"/>
            <a:ext cx="9361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400" u="sng" dirty="0"/>
          </a:p>
          <a:p>
            <a:r>
              <a:rPr lang="en-GB" sz="2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4CF349-D4E0-4231-9DD0-ED767C1A2048}"/>
              </a:ext>
            </a:extLst>
          </p:cNvPr>
          <p:cNvSpPr txBox="1"/>
          <p:nvPr/>
        </p:nvSpPr>
        <p:spPr>
          <a:xfrm>
            <a:off x="253808" y="85610"/>
            <a:ext cx="417646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/>
              <a:t>5 Questions</a:t>
            </a:r>
          </a:p>
          <a:p>
            <a:endParaRPr lang="en-AU" sz="2000" b="1" dirty="0"/>
          </a:p>
          <a:p>
            <a:pPr marL="342900" indent="-342900">
              <a:buAutoNum type="arabicPeriod"/>
            </a:pPr>
            <a:r>
              <a:rPr lang="en-AU" sz="2000" b="1" dirty="0"/>
              <a:t>Convert the following between 24hr time to 12 hour time</a:t>
            </a:r>
          </a:p>
          <a:p>
            <a:pPr marL="342900" indent="-342900">
              <a:buAutoNum type="arabicPeriod"/>
            </a:pPr>
            <a:endParaRPr lang="en-AU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AE4048E-61F6-4743-AC1B-66FAFEBF6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7561651"/>
              </p:ext>
            </p:extLst>
          </p:nvPr>
        </p:nvGraphicFramePr>
        <p:xfrm>
          <a:off x="544128" y="1574800"/>
          <a:ext cx="359582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7912">
                  <a:extLst>
                    <a:ext uri="{9D8B030D-6E8A-4147-A177-3AD203B41FA5}">
                      <a16:colId xmlns:a16="http://schemas.microsoft.com/office/drawing/2014/main" val="1027330862"/>
                    </a:ext>
                  </a:extLst>
                </a:gridCol>
                <a:gridCol w="1797912">
                  <a:extLst>
                    <a:ext uri="{9D8B030D-6E8A-4147-A177-3AD203B41FA5}">
                      <a16:colId xmlns:a16="http://schemas.microsoft.com/office/drawing/2014/main" val="1516404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12hr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24 hr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0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6:13pm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1800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0015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484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0450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7871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/>
                        <a:t>11:30am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880975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54942A-C0A9-4A75-9686-AA82524CD015}"/>
                  </a:ext>
                </a:extLst>
              </p:cNvPr>
              <p:cNvSpPr txBox="1"/>
              <p:nvPr/>
            </p:nvSpPr>
            <p:spPr>
              <a:xfrm>
                <a:off x="5148064" y="616889"/>
                <a:ext cx="417646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b="1" dirty="0"/>
                  <a:t>2. </a:t>
                </a:r>
                <a14:m>
                  <m:oMath xmlns:m="http://schemas.openxmlformats.org/officeDocument/2006/math">
                    <m:r>
                      <a:rPr lang="en-AU" sz="2000" b="1" i="0" smtClean="0">
                        <a:latin typeface="Cambria Math" panose="02040503050406030204" pitchFamily="18" charset="0"/>
                      </a:rPr>
                      <m:t>𝐬𝐨𝐥𝐯𝐞</m:t>
                    </m:r>
                    <m:r>
                      <a:rPr lang="en-AU" sz="20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1" i="0" smtClean="0">
                        <a:latin typeface="Cambria Math" panose="02040503050406030204" pitchFamily="18" charset="0"/>
                      </a:rPr>
                      <m:t>𝐭𝐡𝐞</m:t>
                    </m:r>
                    <m:r>
                      <a:rPr lang="en-AU" sz="20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1" i="0" smtClean="0">
                        <a:latin typeface="Cambria Math" panose="02040503050406030204" pitchFamily="18" charset="0"/>
                      </a:rPr>
                      <m:t>𝐟𝐨𝐥𝐥𝐨𝐢𝐧𝐠</m:t>
                    </m:r>
                  </m:oMath>
                </a14:m>
                <a:endParaRPr lang="en-AU" sz="2000" b="1" i="0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000" b="1" i="0" smtClean="0">
                          <a:latin typeface="Cambria Math" panose="02040503050406030204" pitchFamily="18" charset="0"/>
                        </a:rPr>
                        <m:t>𝟒</m:t>
                      </m:r>
                      <m:d>
                        <m:dPr>
                          <m:ctrlPr>
                            <a:rPr lang="en-AU" sz="2000" b="1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2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AU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AU" sz="20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sz="20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54942A-C0A9-4A75-9686-AA82524CD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616889"/>
                <a:ext cx="4176464" cy="707886"/>
              </a:xfrm>
              <a:prstGeom prst="rect">
                <a:avLst/>
              </a:prstGeom>
              <a:blipFill>
                <a:blip r:embed="rId2"/>
                <a:stretch>
                  <a:fillRect l="-1458" t="-43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83723A2D-E984-4D35-88D5-E60A8B87042B}"/>
              </a:ext>
            </a:extLst>
          </p:cNvPr>
          <p:cNvSpPr txBox="1"/>
          <p:nvPr/>
        </p:nvSpPr>
        <p:spPr>
          <a:xfrm>
            <a:off x="4886900" y="2345104"/>
            <a:ext cx="41764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3. Identify the outlier in the following data.</a:t>
            </a:r>
          </a:p>
          <a:p>
            <a:r>
              <a:rPr lang="en-AU" sz="2000" b="1" dirty="0"/>
              <a:t> 	12, 34, 23, 78, 28, 13, 16, 21</a:t>
            </a:r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DD7033-946C-4371-AC16-CEAA03A19CB1}"/>
              </a:ext>
            </a:extLst>
          </p:cNvPr>
          <p:cNvSpPr txBox="1"/>
          <p:nvPr/>
        </p:nvSpPr>
        <p:spPr>
          <a:xfrm>
            <a:off x="1115616" y="3749743"/>
            <a:ext cx="75425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4. If I need to be at school by 8:30 it takes 45 minutes to get there, what time do I need to leave home to get to school on time?</a:t>
            </a:r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F586429-C066-4ED7-8D7D-5172BB24C7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9602" y="4583948"/>
            <a:ext cx="7524750" cy="20669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C6B9A49-8D3F-4F1F-8C39-3E210A39F002}"/>
              </a:ext>
            </a:extLst>
          </p:cNvPr>
          <p:cNvSpPr txBox="1"/>
          <p:nvPr/>
        </p:nvSpPr>
        <p:spPr>
          <a:xfrm>
            <a:off x="336144" y="4583948"/>
            <a:ext cx="6396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dirty="0"/>
              <a:t>5.</a:t>
            </a:r>
            <a:endParaRPr lang="en-A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685255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4449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4" y="-13482"/>
            <a:ext cx="6666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241717" y="1249207"/>
            <a:ext cx="0" cy="56087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-5128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77810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calculate elapsed 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5609" y="5248894"/>
            <a:ext cx="1771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          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" y="1349232"/>
            <a:ext cx="2395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elapsed time?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33054" y="139476"/>
            <a:ext cx="906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6854" y="1353949"/>
            <a:ext cx="678087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Elapsed time is the _____________ between two times. </a:t>
            </a:r>
          </a:p>
          <a:p>
            <a:r>
              <a:rPr lang="en-US" sz="2000" dirty="0" err="1">
                <a:latin typeface="+mj-lt"/>
              </a:rPr>
              <a:t>Eg</a:t>
            </a:r>
            <a:r>
              <a:rPr lang="en-US" sz="2000" dirty="0">
                <a:latin typeface="+mj-lt"/>
              </a:rPr>
              <a:t> For 3:50am and 9:30am, elapsed time is ____ </a:t>
            </a:r>
            <a:r>
              <a:rPr lang="en-US" sz="2000" dirty="0" err="1">
                <a:latin typeface="+mj-lt"/>
              </a:rPr>
              <a:t>hrs</a:t>
            </a:r>
            <a:r>
              <a:rPr lang="en-US" sz="2000" dirty="0">
                <a:latin typeface="+mj-lt"/>
              </a:rPr>
              <a:t>, ____ mins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90116" y="1980123"/>
            <a:ext cx="6712867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One method possible method to work this out is;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Step 1) 	Calculate number of minutes until the next full hour</a:t>
            </a:r>
          </a:p>
          <a:p>
            <a:r>
              <a:rPr lang="en-US" sz="2000" dirty="0"/>
              <a:t>	</a:t>
            </a:r>
            <a:r>
              <a:rPr lang="en-US" sz="2000" i="1" dirty="0" err="1"/>
              <a:t>Eg</a:t>
            </a:r>
            <a:r>
              <a:rPr lang="en-US" sz="2000" i="1" dirty="0"/>
              <a:t> There are 10 mins until 4am</a:t>
            </a:r>
          </a:p>
          <a:p>
            <a:r>
              <a:rPr lang="en-US" sz="2000" dirty="0"/>
              <a:t>Step 2) 	Calculate number of hours until you reach the correct 	hour.	</a:t>
            </a:r>
          </a:p>
          <a:p>
            <a:r>
              <a:rPr lang="en-US" sz="2000" dirty="0"/>
              <a:t>	</a:t>
            </a:r>
            <a:r>
              <a:rPr lang="en-US" sz="2000" i="1" dirty="0" err="1"/>
              <a:t>Eg</a:t>
            </a:r>
            <a:r>
              <a:rPr lang="en-US" sz="2000" i="1" dirty="0"/>
              <a:t> There are 5 hours from 4am until 9am</a:t>
            </a:r>
          </a:p>
          <a:p>
            <a:r>
              <a:rPr lang="en-US" sz="2000" dirty="0"/>
              <a:t>Step 3) 	Add the minutes needed to get the final time</a:t>
            </a:r>
          </a:p>
          <a:p>
            <a:r>
              <a:rPr lang="en-US" sz="2000" dirty="0"/>
              <a:t>	</a:t>
            </a:r>
            <a:r>
              <a:rPr lang="en-US" sz="2000" i="1" dirty="0"/>
              <a:t> </a:t>
            </a:r>
            <a:r>
              <a:rPr lang="en-US" sz="2000" i="1" dirty="0" err="1"/>
              <a:t>Eg</a:t>
            </a:r>
            <a:r>
              <a:rPr lang="en-US" sz="2000" i="1" dirty="0"/>
              <a:t> 30 min required to get you from 9am to 9:30am</a:t>
            </a:r>
            <a:endParaRPr lang="en-US" sz="2000" dirty="0"/>
          </a:p>
          <a:p>
            <a:r>
              <a:rPr lang="en-US" sz="2000" dirty="0"/>
              <a:t>Step 4) 	Put them together</a:t>
            </a:r>
          </a:p>
          <a:p>
            <a:r>
              <a:rPr lang="en-US" sz="2000" dirty="0"/>
              <a:t>		</a:t>
            </a:r>
            <a:r>
              <a:rPr lang="en-US" sz="2000" i="1" dirty="0"/>
              <a:t>1o mins + 5 hours + 30 mins</a:t>
            </a:r>
          </a:p>
          <a:p>
            <a:r>
              <a:rPr lang="en-US" sz="2000" dirty="0"/>
              <a:t>	</a:t>
            </a:r>
            <a:r>
              <a:rPr lang="en-US" sz="2000" i="1" dirty="0"/>
              <a:t>There are </a:t>
            </a:r>
            <a:r>
              <a:rPr lang="en-US" sz="2000" b="1" i="1" dirty="0"/>
              <a:t>5hrs and 40 mins</a:t>
            </a:r>
            <a:r>
              <a:rPr lang="en-US" sz="2000" i="1" dirty="0"/>
              <a:t> from 3:50am until 9:30am</a:t>
            </a:r>
            <a:endParaRPr lang="en-US" sz="2000" dirty="0"/>
          </a:p>
        </p:txBody>
      </p:sp>
      <p:sp>
        <p:nvSpPr>
          <p:cNvPr id="21" name="TextBox 20"/>
          <p:cNvSpPr txBox="1"/>
          <p:nvPr/>
        </p:nvSpPr>
        <p:spPr>
          <a:xfrm>
            <a:off x="0" y="2202071"/>
            <a:ext cx="23954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method can we use to calculate elapsed time?</a:t>
            </a:r>
            <a:endParaRPr lang="en-AU" dirty="0"/>
          </a:p>
        </p:txBody>
      </p:sp>
      <p:sp>
        <p:nvSpPr>
          <p:cNvPr id="19" name="Line 4">
            <a:extLst>
              <a:ext uri="{FF2B5EF4-FFF2-40B4-BE49-F238E27FC236}">
                <a16:creationId xmlns:a16="http://schemas.microsoft.com/office/drawing/2014/main" id="{BAD4F955-3E3B-477D-81F9-C44DF9F0A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180345" y="3436234"/>
            <a:ext cx="6781800" cy="0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arrow" w="lg" len="med"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 sz="1100"/>
          </a:p>
        </p:txBody>
      </p:sp>
      <p:sp>
        <p:nvSpPr>
          <p:cNvPr id="22" name="Text Box 6">
            <a:extLst>
              <a:ext uri="{FF2B5EF4-FFF2-40B4-BE49-F238E27FC236}">
                <a16:creationId xmlns:a16="http://schemas.microsoft.com/office/drawing/2014/main" id="{66876173-F4A9-4144-85B1-BC630A02DD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1832" y="2462420"/>
            <a:ext cx="117371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+10 min.</a:t>
            </a:r>
          </a:p>
        </p:txBody>
      </p:sp>
      <p:sp>
        <p:nvSpPr>
          <p:cNvPr id="23" name="AutoShape 9">
            <a:extLst>
              <a:ext uri="{FF2B5EF4-FFF2-40B4-BE49-F238E27FC236}">
                <a16:creationId xmlns:a16="http://schemas.microsoft.com/office/drawing/2014/main" id="{F7448D5C-BF04-4F41-8A48-D6E102EC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083" y="2775546"/>
            <a:ext cx="1066800" cy="524493"/>
          </a:xfrm>
          <a:prstGeom prst="curvedDownArrow">
            <a:avLst>
              <a:gd name="adj1" fmla="val 29091"/>
              <a:gd name="adj2" fmla="val 58182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" name="Line 12">
            <a:extLst>
              <a:ext uri="{FF2B5EF4-FFF2-40B4-BE49-F238E27FC236}">
                <a16:creationId xmlns:a16="http://schemas.microsoft.com/office/drawing/2014/main" id="{C1A5871A-3D80-4AD2-844F-EB72B41A3D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12360" y="3284984"/>
            <a:ext cx="0" cy="281377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 sz="1100"/>
          </a:p>
        </p:txBody>
      </p:sp>
      <p:sp>
        <p:nvSpPr>
          <p:cNvPr id="27" name="Text Box 15">
            <a:extLst>
              <a:ext uri="{FF2B5EF4-FFF2-40B4-BE49-F238E27FC236}">
                <a16:creationId xmlns:a16="http://schemas.microsoft.com/office/drawing/2014/main" id="{9845E8D7-F846-4F3F-9817-E73C93BE6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4948" y="3476710"/>
            <a:ext cx="683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9am</a:t>
            </a:r>
          </a:p>
        </p:txBody>
      </p:sp>
      <p:sp>
        <p:nvSpPr>
          <p:cNvPr id="28" name="Text Box 16">
            <a:extLst>
              <a:ext uri="{FF2B5EF4-FFF2-40B4-BE49-F238E27FC236}">
                <a16:creationId xmlns:a16="http://schemas.microsoft.com/office/drawing/2014/main" id="{83570992-0640-447C-8356-84BE6890E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6546" y="3470886"/>
            <a:ext cx="10390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9:30am</a:t>
            </a:r>
          </a:p>
        </p:txBody>
      </p:sp>
      <p:sp>
        <p:nvSpPr>
          <p:cNvPr id="29" name="Text Box 17">
            <a:extLst>
              <a:ext uri="{FF2B5EF4-FFF2-40B4-BE49-F238E27FC236}">
                <a16:creationId xmlns:a16="http://schemas.microsoft.com/office/drawing/2014/main" id="{8F9EC778-065C-4C92-B6FA-8AEA02ACA2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356" y="2350906"/>
            <a:ext cx="11881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+5 hours</a:t>
            </a:r>
          </a:p>
        </p:txBody>
      </p:sp>
      <p:sp>
        <p:nvSpPr>
          <p:cNvPr id="30" name="Text Box 18">
            <a:extLst>
              <a:ext uri="{FF2B5EF4-FFF2-40B4-BE49-F238E27FC236}">
                <a16:creationId xmlns:a16="http://schemas.microsoft.com/office/drawing/2014/main" id="{1BF54F2C-D5DC-403A-90CE-B666440B5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206" y="2350906"/>
            <a:ext cx="11031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+30 min</a:t>
            </a:r>
          </a:p>
        </p:txBody>
      </p:sp>
      <p:sp>
        <p:nvSpPr>
          <p:cNvPr id="31" name="AutoShape 20">
            <a:extLst>
              <a:ext uri="{FF2B5EF4-FFF2-40B4-BE49-F238E27FC236}">
                <a16:creationId xmlns:a16="http://schemas.microsoft.com/office/drawing/2014/main" id="{63ABD1E0-6C71-4150-BD88-FA64E425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8083" y="2752353"/>
            <a:ext cx="3124200" cy="547668"/>
          </a:xfrm>
          <a:prstGeom prst="curvedDownArrow">
            <a:avLst>
              <a:gd name="adj1" fmla="val 56104"/>
              <a:gd name="adj2" fmla="val 112208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3" name="AutoShape 24">
            <a:extLst>
              <a:ext uri="{FF2B5EF4-FFF2-40B4-BE49-F238E27FC236}">
                <a16:creationId xmlns:a16="http://schemas.microsoft.com/office/drawing/2014/main" id="{73F7B5DC-AAFA-4A6A-B0BE-A42D997D17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079" y="2905718"/>
            <a:ext cx="454003" cy="411513"/>
          </a:xfrm>
          <a:prstGeom prst="curvedDownArrow">
            <a:avLst>
              <a:gd name="adj1" fmla="val 22468"/>
              <a:gd name="adj2" fmla="val 44935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25">
            <a:extLst>
              <a:ext uri="{FF2B5EF4-FFF2-40B4-BE49-F238E27FC236}">
                <a16:creationId xmlns:a16="http://schemas.microsoft.com/office/drawing/2014/main" id="{2FF31909-00E8-4E5F-BC69-6E69A31C5D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9765" y="3470886"/>
            <a:ext cx="683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4am</a:t>
            </a:r>
          </a:p>
        </p:txBody>
      </p:sp>
      <p:sp>
        <p:nvSpPr>
          <p:cNvPr id="35" name="Text Box 26">
            <a:extLst>
              <a:ext uri="{FF2B5EF4-FFF2-40B4-BE49-F238E27FC236}">
                <a16:creationId xmlns:a16="http://schemas.microsoft.com/office/drawing/2014/main" id="{8A889F6E-8FA4-4BEA-A27C-B2C5E1CFE6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494" y="3482922"/>
            <a:ext cx="103906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3:50am</a:t>
            </a:r>
          </a:p>
        </p:txBody>
      </p:sp>
      <p:sp>
        <p:nvSpPr>
          <p:cNvPr id="38" name="Line 12">
            <a:extLst>
              <a:ext uri="{FF2B5EF4-FFF2-40B4-BE49-F238E27FC236}">
                <a16:creationId xmlns:a16="http://schemas.microsoft.com/office/drawing/2014/main" id="{7A3D989A-6A45-4E2C-A469-48A6D014A2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78083" y="3323459"/>
            <a:ext cx="0" cy="281377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 sz="1100"/>
          </a:p>
        </p:txBody>
      </p:sp>
      <p:sp>
        <p:nvSpPr>
          <p:cNvPr id="39" name="Line 12">
            <a:extLst>
              <a:ext uri="{FF2B5EF4-FFF2-40B4-BE49-F238E27FC236}">
                <a16:creationId xmlns:a16="http://schemas.microsoft.com/office/drawing/2014/main" id="{341C35A9-BBB1-45C7-B091-E86A0081B7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34643" y="3271464"/>
            <a:ext cx="0" cy="281377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 sz="1400"/>
          </a:p>
        </p:txBody>
      </p:sp>
      <p:sp>
        <p:nvSpPr>
          <p:cNvPr id="40" name="Line 12">
            <a:extLst>
              <a:ext uri="{FF2B5EF4-FFF2-40B4-BE49-F238E27FC236}">
                <a16:creationId xmlns:a16="http://schemas.microsoft.com/office/drawing/2014/main" id="{632F03F3-8B1B-44F3-B8E7-242204BFF7C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47864" y="3271464"/>
            <a:ext cx="0" cy="281377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 sz="1400"/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  <p:bldP spid="23" grpId="0" animBg="1"/>
      <p:bldP spid="27" grpId="0"/>
      <p:bldP spid="29" grpId="0"/>
      <p:bldP spid="30" grpId="0"/>
      <p:bldP spid="31" grpId="0" animBg="1"/>
      <p:bldP spid="33" grpId="0" animBg="1"/>
      <p:bldP spid="34" grpId="0"/>
      <p:bldP spid="38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588963"/>
            <a:ext cx="7772400" cy="45307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dirty="0"/>
              <a:t>How much time is there between 3:40 and 8:15? </a:t>
            </a:r>
          </a:p>
        </p:txBody>
      </p:sp>
      <p:sp>
        <p:nvSpPr>
          <p:cNvPr id="21508" name="Line 4"/>
          <p:cNvSpPr>
            <a:spLocks noChangeShapeType="1"/>
          </p:cNvSpPr>
          <p:nvPr/>
        </p:nvSpPr>
        <p:spPr bwMode="auto">
          <a:xfrm>
            <a:off x="1561051" y="3856311"/>
            <a:ext cx="6781800" cy="0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arrow" w="lg" len="med"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1509" name="Line 5"/>
          <p:cNvSpPr>
            <a:spLocks noChangeShapeType="1"/>
          </p:cNvSpPr>
          <p:nvPr/>
        </p:nvSpPr>
        <p:spPr bwMode="auto">
          <a:xfrm>
            <a:off x="2323051" y="3573736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2170651" y="2060848"/>
            <a:ext cx="1093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+20 min</a:t>
            </a:r>
          </a:p>
        </p:txBody>
      </p:sp>
      <p:sp>
        <p:nvSpPr>
          <p:cNvPr id="21511" name="Text Box 8"/>
          <p:cNvSpPr txBox="1">
            <a:spLocks noChangeArrowheads="1"/>
          </p:cNvSpPr>
          <p:nvPr/>
        </p:nvSpPr>
        <p:spPr bwMode="auto">
          <a:xfrm>
            <a:off x="1865851" y="4504011"/>
            <a:ext cx="877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3:40</a:t>
            </a:r>
          </a:p>
        </p:txBody>
      </p:sp>
      <p:sp>
        <p:nvSpPr>
          <p:cNvPr id="21512" name="AutoShape 9"/>
          <p:cNvSpPr>
            <a:spLocks noChangeArrowheads="1"/>
          </p:cNvSpPr>
          <p:nvPr/>
        </p:nvSpPr>
        <p:spPr bwMode="auto">
          <a:xfrm>
            <a:off x="3389851" y="2533923"/>
            <a:ext cx="2286000" cy="733425"/>
          </a:xfrm>
          <a:prstGeom prst="curvedDownArrow">
            <a:avLst>
              <a:gd name="adj1" fmla="val 62338"/>
              <a:gd name="adj2" fmla="val 124675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AutoShape 10"/>
          <p:cNvSpPr>
            <a:spLocks noChangeArrowheads="1"/>
          </p:cNvSpPr>
          <p:nvPr/>
        </p:nvSpPr>
        <p:spPr bwMode="auto">
          <a:xfrm>
            <a:off x="5675851" y="2533923"/>
            <a:ext cx="1066800" cy="733425"/>
          </a:xfrm>
          <a:prstGeom prst="curvedDownArrow">
            <a:avLst>
              <a:gd name="adj1" fmla="val 29091"/>
              <a:gd name="adj2" fmla="val 58182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4" name="Line 11"/>
          <p:cNvSpPr>
            <a:spLocks noChangeShapeType="1"/>
          </p:cNvSpPr>
          <p:nvPr/>
        </p:nvSpPr>
        <p:spPr bwMode="auto">
          <a:xfrm>
            <a:off x="3237451" y="3524523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1515" name="Line 12"/>
          <p:cNvSpPr>
            <a:spLocks noChangeShapeType="1"/>
          </p:cNvSpPr>
          <p:nvPr/>
        </p:nvSpPr>
        <p:spPr bwMode="auto">
          <a:xfrm>
            <a:off x="5447251" y="3524523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1516" name="Line 13"/>
          <p:cNvSpPr>
            <a:spLocks noChangeShapeType="1"/>
          </p:cNvSpPr>
          <p:nvPr/>
        </p:nvSpPr>
        <p:spPr bwMode="auto">
          <a:xfrm>
            <a:off x="6437851" y="3524523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1517" name="Text Box 14"/>
          <p:cNvSpPr txBox="1">
            <a:spLocks noChangeArrowheads="1"/>
          </p:cNvSpPr>
          <p:nvPr/>
        </p:nvSpPr>
        <p:spPr bwMode="auto">
          <a:xfrm>
            <a:off x="1408651" y="5429523"/>
            <a:ext cx="6932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/>
              <a:t>4 hours + 20 min. + 15 min.= </a:t>
            </a:r>
            <a:r>
              <a:rPr lang="en-US" sz="2400" b="1" dirty="0">
                <a:solidFill>
                  <a:schemeClr val="tx2"/>
                </a:solidFill>
              </a:rPr>
              <a:t>4 hours 35 minutes</a:t>
            </a:r>
          </a:p>
        </p:txBody>
      </p:sp>
      <p:sp>
        <p:nvSpPr>
          <p:cNvPr id="21518" name="Text Box 15"/>
          <p:cNvSpPr txBox="1">
            <a:spLocks noChangeArrowheads="1"/>
          </p:cNvSpPr>
          <p:nvPr/>
        </p:nvSpPr>
        <p:spPr bwMode="auto">
          <a:xfrm>
            <a:off x="2856451" y="4515123"/>
            <a:ext cx="87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4:00</a:t>
            </a:r>
          </a:p>
        </p:txBody>
      </p:sp>
      <p:sp>
        <p:nvSpPr>
          <p:cNvPr id="21519" name="Text Box 16"/>
          <p:cNvSpPr txBox="1">
            <a:spLocks noChangeArrowheads="1"/>
          </p:cNvSpPr>
          <p:nvPr/>
        </p:nvSpPr>
        <p:spPr bwMode="auto">
          <a:xfrm>
            <a:off x="4990051" y="4515123"/>
            <a:ext cx="87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8:00</a:t>
            </a:r>
          </a:p>
        </p:txBody>
      </p:sp>
      <p:sp>
        <p:nvSpPr>
          <p:cNvPr id="21520" name="Text Box 17"/>
          <p:cNvSpPr txBox="1">
            <a:spLocks noChangeArrowheads="1"/>
          </p:cNvSpPr>
          <p:nvPr/>
        </p:nvSpPr>
        <p:spPr bwMode="auto">
          <a:xfrm>
            <a:off x="5980651" y="4504011"/>
            <a:ext cx="877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8:15</a:t>
            </a:r>
          </a:p>
        </p:txBody>
      </p:sp>
      <p:sp>
        <p:nvSpPr>
          <p:cNvPr id="21521" name="Text Box 18"/>
          <p:cNvSpPr txBox="1">
            <a:spLocks noChangeArrowheads="1"/>
          </p:cNvSpPr>
          <p:nvPr/>
        </p:nvSpPr>
        <p:spPr bwMode="auto">
          <a:xfrm>
            <a:off x="3847051" y="2060848"/>
            <a:ext cx="1177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+4 hours</a:t>
            </a:r>
          </a:p>
        </p:txBody>
      </p:sp>
      <p:sp>
        <p:nvSpPr>
          <p:cNvPr id="21522" name="Text Box 19"/>
          <p:cNvSpPr txBox="1">
            <a:spLocks noChangeArrowheads="1"/>
          </p:cNvSpPr>
          <p:nvPr/>
        </p:nvSpPr>
        <p:spPr bwMode="auto">
          <a:xfrm>
            <a:off x="5599651" y="2076723"/>
            <a:ext cx="1093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+15 min</a:t>
            </a:r>
          </a:p>
        </p:txBody>
      </p:sp>
      <p:sp>
        <p:nvSpPr>
          <p:cNvPr id="21523" name="AutoShape 20"/>
          <p:cNvSpPr>
            <a:spLocks noChangeArrowheads="1"/>
          </p:cNvSpPr>
          <p:nvPr/>
        </p:nvSpPr>
        <p:spPr bwMode="auto">
          <a:xfrm>
            <a:off x="2246851" y="2533923"/>
            <a:ext cx="1066800" cy="733425"/>
          </a:xfrm>
          <a:prstGeom prst="curvedDownArrow">
            <a:avLst>
              <a:gd name="adj1" fmla="val 29091"/>
              <a:gd name="adj2" fmla="val 58182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/>
      <p:bldP spid="21512" grpId="0" animBg="1"/>
      <p:bldP spid="21513" grpId="0" animBg="1"/>
      <p:bldP spid="21514" grpId="0" animBg="1"/>
      <p:bldP spid="21515" grpId="0" animBg="1"/>
      <p:bldP spid="21517" grpId="0"/>
      <p:bldP spid="21518" grpId="0"/>
      <p:bldP spid="21519" grpId="0"/>
      <p:bldP spid="21521" grpId="0"/>
      <p:bldP spid="21522" grpId="0"/>
      <p:bldP spid="215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14400" y="297524"/>
            <a:ext cx="7772400" cy="45307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dirty="0"/>
              <a:t>How much time is there between 10:30 am and 2:45 pm? </a:t>
            </a:r>
          </a:p>
          <a:p>
            <a:pPr marL="0" indent="0" algn="ctr" eaLnBrk="1" hangingPunct="1">
              <a:buNone/>
            </a:pPr>
            <a:r>
              <a:rPr lang="en-US" sz="2800" dirty="0"/>
              <a:t>It can help to count the hours until midday and then after midday separately</a:t>
            </a:r>
          </a:p>
        </p:txBody>
      </p:sp>
      <p:sp>
        <p:nvSpPr>
          <p:cNvPr id="23556" name="Line 4"/>
          <p:cNvSpPr>
            <a:spLocks noChangeShapeType="1"/>
          </p:cNvSpPr>
          <p:nvPr/>
        </p:nvSpPr>
        <p:spPr bwMode="auto">
          <a:xfrm>
            <a:off x="1524000" y="4648200"/>
            <a:ext cx="6781800" cy="0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arrow" w="lg" len="med"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2590800" y="4392613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2341563" y="2879725"/>
            <a:ext cx="11636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+30 min.</a:t>
            </a:r>
          </a:p>
        </p:txBody>
      </p:sp>
      <p:sp>
        <p:nvSpPr>
          <p:cNvPr id="23559" name="AutoShape 9"/>
          <p:cNvSpPr>
            <a:spLocks noChangeArrowheads="1"/>
          </p:cNvSpPr>
          <p:nvPr/>
        </p:nvSpPr>
        <p:spPr bwMode="auto">
          <a:xfrm>
            <a:off x="6400800" y="3533775"/>
            <a:ext cx="1066800" cy="733425"/>
          </a:xfrm>
          <a:prstGeom prst="curvedDownArrow">
            <a:avLst>
              <a:gd name="adj1" fmla="val 29091"/>
              <a:gd name="adj2" fmla="val 58182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10"/>
          <p:cNvSpPr>
            <a:spLocks noChangeShapeType="1"/>
          </p:cNvSpPr>
          <p:nvPr/>
        </p:nvSpPr>
        <p:spPr bwMode="auto">
          <a:xfrm>
            <a:off x="45720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3561" name="Line 11"/>
          <p:cNvSpPr>
            <a:spLocks noChangeShapeType="1"/>
          </p:cNvSpPr>
          <p:nvPr/>
        </p:nvSpPr>
        <p:spPr bwMode="auto">
          <a:xfrm>
            <a:off x="63246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3562" name="Line 12"/>
          <p:cNvSpPr>
            <a:spLocks noChangeShapeType="1"/>
          </p:cNvSpPr>
          <p:nvPr/>
        </p:nvSpPr>
        <p:spPr bwMode="auto">
          <a:xfrm>
            <a:off x="72390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3563" name="Text Box 13"/>
          <p:cNvSpPr txBox="1">
            <a:spLocks noChangeArrowheads="1"/>
          </p:cNvSpPr>
          <p:nvPr/>
        </p:nvSpPr>
        <p:spPr bwMode="auto">
          <a:xfrm>
            <a:off x="457200" y="6172200"/>
            <a:ext cx="8604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/>
              <a:t>1 hr. + 2 hr. + 30 min. + 45 min. = 3 hr. 75 min. = </a:t>
            </a:r>
            <a:r>
              <a:rPr lang="en-US" sz="2400" b="1" dirty="0">
                <a:solidFill>
                  <a:srgbClr val="FF0000"/>
                </a:solidFill>
              </a:rPr>
              <a:t>4 hr. 15 min.</a:t>
            </a:r>
          </a:p>
        </p:txBody>
      </p:sp>
      <p:sp>
        <p:nvSpPr>
          <p:cNvPr id="23564" name="Text Box 14"/>
          <p:cNvSpPr txBox="1">
            <a:spLocks noChangeArrowheads="1"/>
          </p:cNvSpPr>
          <p:nvPr/>
        </p:nvSpPr>
        <p:spPr bwMode="auto">
          <a:xfrm>
            <a:off x="4114800" y="5334000"/>
            <a:ext cx="1076325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en-US" sz="2800"/>
              <a:t>12:00</a:t>
            </a:r>
          </a:p>
          <a:p>
            <a:pPr algn="ctr" eaLnBrk="1" hangingPunct="1"/>
            <a:r>
              <a:rPr lang="en-US" b="1">
                <a:solidFill>
                  <a:srgbClr val="1F4083"/>
                </a:solidFill>
              </a:rPr>
              <a:t>noon</a:t>
            </a:r>
          </a:p>
        </p:txBody>
      </p:sp>
      <p:sp>
        <p:nvSpPr>
          <p:cNvPr id="23565" name="Text Box 15"/>
          <p:cNvSpPr txBox="1">
            <a:spLocks noChangeArrowheads="1"/>
          </p:cNvSpPr>
          <p:nvPr/>
        </p:nvSpPr>
        <p:spPr bwMode="auto">
          <a:xfrm>
            <a:off x="5903913" y="5272088"/>
            <a:ext cx="877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2:00</a:t>
            </a:r>
          </a:p>
        </p:txBody>
      </p:sp>
      <p:sp>
        <p:nvSpPr>
          <p:cNvPr id="23566" name="Text Box 16"/>
          <p:cNvSpPr txBox="1">
            <a:spLocks noChangeArrowheads="1"/>
          </p:cNvSpPr>
          <p:nvPr/>
        </p:nvSpPr>
        <p:spPr bwMode="auto">
          <a:xfrm>
            <a:off x="6818313" y="5257800"/>
            <a:ext cx="877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2:45</a:t>
            </a:r>
          </a:p>
        </p:txBody>
      </p:sp>
      <p:sp>
        <p:nvSpPr>
          <p:cNvPr id="23567" name="Text Box 17"/>
          <p:cNvSpPr txBox="1">
            <a:spLocks noChangeArrowheads="1"/>
          </p:cNvSpPr>
          <p:nvPr/>
        </p:nvSpPr>
        <p:spPr bwMode="auto">
          <a:xfrm>
            <a:off x="4800600" y="2879725"/>
            <a:ext cx="1177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+2 hours</a:t>
            </a:r>
          </a:p>
        </p:txBody>
      </p:sp>
      <p:sp>
        <p:nvSpPr>
          <p:cNvPr id="23568" name="Text Box 18"/>
          <p:cNvSpPr txBox="1">
            <a:spLocks noChangeArrowheads="1"/>
          </p:cNvSpPr>
          <p:nvPr/>
        </p:nvSpPr>
        <p:spPr bwMode="auto">
          <a:xfrm>
            <a:off x="6297613" y="2895600"/>
            <a:ext cx="10937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+45 min</a:t>
            </a:r>
          </a:p>
        </p:txBody>
      </p:sp>
      <p:sp>
        <p:nvSpPr>
          <p:cNvPr id="23569" name="AutoShape 20"/>
          <p:cNvSpPr>
            <a:spLocks noChangeArrowheads="1"/>
          </p:cNvSpPr>
          <p:nvPr/>
        </p:nvSpPr>
        <p:spPr bwMode="auto">
          <a:xfrm>
            <a:off x="4419600" y="3533775"/>
            <a:ext cx="2057400" cy="733425"/>
          </a:xfrm>
          <a:prstGeom prst="curvedDownArrow">
            <a:avLst>
              <a:gd name="adj1" fmla="val 56104"/>
              <a:gd name="adj2" fmla="val 112208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22"/>
          <p:cNvSpPr>
            <a:spLocks noChangeShapeType="1"/>
          </p:cNvSpPr>
          <p:nvPr/>
        </p:nvSpPr>
        <p:spPr bwMode="auto">
          <a:xfrm>
            <a:off x="33528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3571" name="AutoShape 24"/>
          <p:cNvSpPr>
            <a:spLocks noChangeArrowheads="1"/>
          </p:cNvSpPr>
          <p:nvPr/>
        </p:nvSpPr>
        <p:spPr bwMode="auto">
          <a:xfrm>
            <a:off x="2528888" y="3505200"/>
            <a:ext cx="823912" cy="733425"/>
          </a:xfrm>
          <a:prstGeom prst="curvedDownArrow">
            <a:avLst>
              <a:gd name="adj1" fmla="val 22468"/>
              <a:gd name="adj2" fmla="val 44935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Text Box 25"/>
          <p:cNvSpPr txBox="1">
            <a:spLocks noChangeArrowheads="1"/>
          </p:cNvSpPr>
          <p:nvPr/>
        </p:nvSpPr>
        <p:spPr bwMode="auto">
          <a:xfrm>
            <a:off x="2886075" y="5334000"/>
            <a:ext cx="107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11:00</a:t>
            </a:r>
          </a:p>
        </p:txBody>
      </p:sp>
      <p:sp>
        <p:nvSpPr>
          <p:cNvPr id="23573" name="Text Box 26"/>
          <p:cNvSpPr txBox="1">
            <a:spLocks noChangeArrowheads="1"/>
          </p:cNvSpPr>
          <p:nvPr/>
        </p:nvSpPr>
        <p:spPr bwMode="auto">
          <a:xfrm>
            <a:off x="1895475" y="5348288"/>
            <a:ext cx="107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10:30</a:t>
            </a:r>
          </a:p>
        </p:txBody>
      </p:sp>
      <p:sp>
        <p:nvSpPr>
          <p:cNvPr id="23574" name="AutoShape 27"/>
          <p:cNvSpPr>
            <a:spLocks noChangeArrowheads="1"/>
          </p:cNvSpPr>
          <p:nvPr/>
        </p:nvSpPr>
        <p:spPr bwMode="auto">
          <a:xfrm>
            <a:off x="3352800" y="3533775"/>
            <a:ext cx="1066800" cy="733425"/>
          </a:xfrm>
          <a:prstGeom prst="curvedDownArrow">
            <a:avLst>
              <a:gd name="adj1" fmla="val 29091"/>
              <a:gd name="adj2" fmla="val 58182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Text Box 29"/>
          <p:cNvSpPr txBox="1">
            <a:spLocks noChangeArrowheads="1"/>
          </p:cNvSpPr>
          <p:nvPr/>
        </p:nvSpPr>
        <p:spPr bwMode="auto">
          <a:xfrm>
            <a:off x="3429000" y="2879725"/>
            <a:ext cx="1050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+1 hour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/>
      <p:bldP spid="23559" grpId="0" animBg="1"/>
      <p:bldP spid="23560" grpId="0" animBg="1"/>
      <p:bldP spid="23561" grpId="0" animBg="1"/>
      <p:bldP spid="23563" grpId="0"/>
      <p:bldP spid="23564" grpId="0"/>
      <p:bldP spid="23565" grpId="0"/>
      <p:bldP spid="23567" grpId="0"/>
      <p:bldP spid="23568" grpId="0"/>
      <p:bldP spid="23569" grpId="0" animBg="1"/>
      <p:bldP spid="23570" grpId="0" animBg="1"/>
      <p:bldP spid="23571" grpId="0" animBg="1"/>
      <p:bldP spid="23572" grpId="0"/>
      <p:bldP spid="23574" grpId="0" animBg="1"/>
      <p:bldP spid="235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</a:t>
            </a:r>
            <a:r>
              <a:rPr lang="en-US"/>
              <a:t>understand? </a:t>
            </a:r>
            <a:r>
              <a:rPr lang="en-US" dirty="0"/>
              <a:t>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916832"/>
            <a:ext cx="3669362" cy="3768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4182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297235" y="336404"/>
            <a:ext cx="8492480" cy="4530725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</a:pPr>
            <a:r>
              <a:rPr lang="en-US" dirty="0"/>
              <a:t>What time is it 4 hours and 30 minutes from 6:55?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We use the same method to find ending times if we split the 30 minutes into 5 mins and 25mins</a:t>
            </a: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1505000" y="4191000"/>
            <a:ext cx="6781800" cy="0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arrow" w="lg" len="med"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5605" name="Line 5"/>
          <p:cNvSpPr>
            <a:spLocks noChangeShapeType="1"/>
          </p:cNvSpPr>
          <p:nvPr/>
        </p:nvSpPr>
        <p:spPr bwMode="auto">
          <a:xfrm>
            <a:off x="2038400" y="3935413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5606" name="AutoShape 6"/>
          <p:cNvSpPr>
            <a:spLocks noChangeArrowheads="1"/>
          </p:cNvSpPr>
          <p:nvPr/>
        </p:nvSpPr>
        <p:spPr bwMode="auto">
          <a:xfrm>
            <a:off x="5315000" y="3152775"/>
            <a:ext cx="838200" cy="733425"/>
          </a:xfrm>
          <a:prstGeom prst="curvedDownArrow">
            <a:avLst>
              <a:gd name="adj1" fmla="val 22857"/>
              <a:gd name="adj2" fmla="val 45714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07" name="Line 7"/>
          <p:cNvSpPr>
            <a:spLocks noChangeShapeType="1"/>
          </p:cNvSpPr>
          <p:nvPr/>
        </p:nvSpPr>
        <p:spPr bwMode="auto">
          <a:xfrm>
            <a:off x="2876600" y="38862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5608" name="Line 9"/>
          <p:cNvSpPr>
            <a:spLocks noChangeShapeType="1"/>
          </p:cNvSpPr>
          <p:nvPr/>
        </p:nvSpPr>
        <p:spPr bwMode="auto">
          <a:xfrm>
            <a:off x="6077000" y="38862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5609" name="Text Box 10"/>
          <p:cNvSpPr txBox="1">
            <a:spLocks noChangeArrowheads="1"/>
          </p:cNvSpPr>
          <p:nvPr/>
        </p:nvSpPr>
        <p:spPr bwMode="auto">
          <a:xfrm>
            <a:off x="835075" y="5715000"/>
            <a:ext cx="777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 dirty="0"/>
              <a:t>The time is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11:25</a:t>
            </a:r>
            <a:r>
              <a:rPr lang="en-US" sz="2400" dirty="0"/>
              <a:t>, which is 4 hrs. and 30 min. after 6:55.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25610" name="Text Box 11"/>
          <p:cNvSpPr txBox="1">
            <a:spLocks noChangeArrowheads="1"/>
          </p:cNvSpPr>
          <p:nvPr/>
        </p:nvSpPr>
        <p:spPr bwMode="auto">
          <a:xfrm>
            <a:off x="4543475" y="4814888"/>
            <a:ext cx="107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11:00</a:t>
            </a:r>
          </a:p>
        </p:txBody>
      </p:sp>
      <p:sp>
        <p:nvSpPr>
          <p:cNvPr id="25611" name="Text Box 12"/>
          <p:cNvSpPr txBox="1">
            <a:spLocks noChangeArrowheads="1"/>
          </p:cNvSpPr>
          <p:nvPr/>
        </p:nvSpPr>
        <p:spPr bwMode="auto">
          <a:xfrm>
            <a:off x="5696000" y="4814888"/>
            <a:ext cx="107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11:25</a:t>
            </a:r>
          </a:p>
        </p:txBody>
      </p:sp>
      <p:sp>
        <p:nvSpPr>
          <p:cNvPr id="25612" name="Text Box 13"/>
          <p:cNvSpPr txBox="1">
            <a:spLocks noChangeArrowheads="1"/>
          </p:cNvSpPr>
          <p:nvPr/>
        </p:nvSpPr>
        <p:spPr bwMode="auto">
          <a:xfrm>
            <a:off x="5238800" y="2590800"/>
            <a:ext cx="1093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+25 min</a:t>
            </a:r>
          </a:p>
        </p:txBody>
      </p:sp>
      <p:sp>
        <p:nvSpPr>
          <p:cNvPr id="25613" name="Text Box 15"/>
          <p:cNvSpPr txBox="1">
            <a:spLocks noChangeArrowheads="1"/>
          </p:cNvSpPr>
          <p:nvPr/>
        </p:nvSpPr>
        <p:spPr bwMode="auto">
          <a:xfrm>
            <a:off x="2343200" y="4876800"/>
            <a:ext cx="87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7:00</a:t>
            </a:r>
          </a:p>
        </p:txBody>
      </p:sp>
      <p:sp>
        <p:nvSpPr>
          <p:cNvPr id="25614" name="Text Box 16"/>
          <p:cNvSpPr txBox="1">
            <a:spLocks noChangeArrowheads="1"/>
          </p:cNvSpPr>
          <p:nvPr/>
        </p:nvSpPr>
        <p:spPr bwMode="auto">
          <a:xfrm>
            <a:off x="1581200" y="4891088"/>
            <a:ext cx="877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6:55</a:t>
            </a:r>
          </a:p>
        </p:txBody>
      </p:sp>
      <p:sp>
        <p:nvSpPr>
          <p:cNvPr id="25615" name="AutoShape 17"/>
          <p:cNvSpPr>
            <a:spLocks noChangeArrowheads="1"/>
          </p:cNvSpPr>
          <p:nvPr/>
        </p:nvSpPr>
        <p:spPr bwMode="auto">
          <a:xfrm>
            <a:off x="1886000" y="3076575"/>
            <a:ext cx="1066800" cy="733425"/>
          </a:xfrm>
          <a:prstGeom prst="curvedDownArrow">
            <a:avLst>
              <a:gd name="adj1" fmla="val 29091"/>
              <a:gd name="adj2" fmla="val 58182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6" name="AutoShape 21"/>
          <p:cNvSpPr>
            <a:spLocks noChangeArrowheads="1"/>
          </p:cNvSpPr>
          <p:nvPr/>
        </p:nvSpPr>
        <p:spPr bwMode="auto">
          <a:xfrm>
            <a:off x="2876600" y="3124200"/>
            <a:ext cx="2514600" cy="733425"/>
          </a:xfrm>
          <a:prstGeom prst="curvedDownArrow">
            <a:avLst>
              <a:gd name="adj1" fmla="val 68571"/>
              <a:gd name="adj2" fmla="val 137143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617" name="Text Box 23"/>
          <p:cNvSpPr txBox="1">
            <a:spLocks noChangeArrowheads="1"/>
          </p:cNvSpPr>
          <p:nvPr/>
        </p:nvSpPr>
        <p:spPr bwMode="auto">
          <a:xfrm>
            <a:off x="3806875" y="2574925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+4 hr.</a:t>
            </a:r>
          </a:p>
        </p:txBody>
      </p:sp>
      <p:sp>
        <p:nvSpPr>
          <p:cNvPr id="25618" name="Text Box 26"/>
          <p:cNvSpPr txBox="1">
            <a:spLocks noChangeArrowheads="1"/>
          </p:cNvSpPr>
          <p:nvPr/>
        </p:nvSpPr>
        <p:spPr bwMode="auto">
          <a:xfrm>
            <a:off x="1886000" y="2590800"/>
            <a:ext cx="952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dirty="0"/>
              <a:t>+5 min</a:t>
            </a:r>
          </a:p>
        </p:txBody>
      </p:sp>
      <p:sp>
        <p:nvSpPr>
          <p:cNvPr id="25619" name="Line 30"/>
          <p:cNvSpPr>
            <a:spLocks noChangeShapeType="1"/>
          </p:cNvSpPr>
          <p:nvPr/>
        </p:nvSpPr>
        <p:spPr bwMode="auto">
          <a:xfrm>
            <a:off x="5162600" y="38862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animBg="1"/>
      <p:bldP spid="25607" grpId="0" animBg="1"/>
      <p:bldP spid="25609" grpId="0"/>
      <p:bldP spid="25610" grpId="0"/>
      <p:bldP spid="25612" grpId="0"/>
      <p:bldP spid="25613" grpId="0"/>
      <p:bldP spid="25615" grpId="0" animBg="1"/>
      <p:bldP spid="25616" grpId="0" animBg="1"/>
      <p:bldP spid="25617" grpId="0"/>
      <p:bldP spid="25618" grpId="0"/>
      <p:bldP spid="256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82067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Same question but done slightly differently…</a:t>
            </a:r>
            <a:endParaRPr lang="en-US" sz="4400" dirty="0"/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1641475"/>
            <a:ext cx="7772400" cy="4530725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dirty="0"/>
              <a:t>What time is it 4 hours and 30 minutes from 6:55?</a:t>
            </a:r>
          </a:p>
        </p:txBody>
      </p:sp>
      <p:sp>
        <p:nvSpPr>
          <p:cNvPr id="26628" name="Line 4"/>
          <p:cNvSpPr>
            <a:spLocks noChangeShapeType="1"/>
          </p:cNvSpPr>
          <p:nvPr/>
        </p:nvSpPr>
        <p:spPr bwMode="auto">
          <a:xfrm>
            <a:off x="1524000" y="4648200"/>
            <a:ext cx="6781800" cy="0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arrow" w="lg" len="med"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6629" name="Line 5"/>
          <p:cNvSpPr>
            <a:spLocks noChangeShapeType="1"/>
          </p:cNvSpPr>
          <p:nvPr/>
        </p:nvSpPr>
        <p:spPr bwMode="auto">
          <a:xfrm>
            <a:off x="2057400" y="4392613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6630" name="AutoShape 7"/>
          <p:cNvSpPr>
            <a:spLocks noChangeArrowheads="1"/>
          </p:cNvSpPr>
          <p:nvPr/>
        </p:nvSpPr>
        <p:spPr bwMode="auto">
          <a:xfrm>
            <a:off x="6400800" y="3609975"/>
            <a:ext cx="838200" cy="733425"/>
          </a:xfrm>
          <a:prstGeom prst="curvedDownArrow">
            <a:avLst>
              <a:gd name="adj1" fmla="val 22857"/>
              <a:gd name="adj2" fmla="val 45714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Line 8"/>
          <p:cNvSpPr>
            <a:spLocks noChangeShapeType="1"/>
          </p:cNvSpPr>
          <p:nvPr/>
        </p:nvSpPr>
        <p:spPr bwMode="auto">
          <a:xfrm>
            <a:off x="38100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6632" name="Line 9"/>
          <p:cNvSpPr>
            <a:spLocks noChangeShapeType="1"/>
          </p:cNvSpPr>
          <p:nvPr/>
        </p:nvSpPr>
        <p:spPr bwMode="auto">
          <a:xfrm>
            <a:off x="63246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6633" name="Line 10"/>
          <p:cNvSpPr>
            <a:spLocks noChangeShapeType="1"/>
          </p:cNvSpPr>
          <p:nvPr/>
        </p:nvSpPr>
        <p:spPr bwMode="auto">
          <a:xfrm>
            <a:off x="72390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6634" name="Text Box 11"/>
          <p:cNvSpPr txBox="1">
            <a:spLocks noChangeArrowheads="1"/>
          </p:cNvSpPr>
          <p:nvPr/>
        </p:nvSpPr>
        <p:spPr bwMode="auto">
          <a:xfrm>
            <a:off x="854075" y="6172200"/>
            <a:ext cx="7773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400"/>
              <a:t>The time is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 b="1">
                <a:solidFill>
                  <a:srgbClr val="FF0000"/>
                </a:solidFill>
              </a:rPr>
              <a:t>11:25</a:t>
            </a:r>
            <a:r>
              <a:rPr lang="en-US" sz="2400"/>
              <a:t>, which is 4 hrs. and 30 min. after 6:55.</a:t>
            </a:r>
            <a:endParaRPr lang="en-US" sz="2400" b="1">
              <a:solidFill>
                <a:srgbClr val="FF0000"/>
              </a:solidFill>
            </a:endParaRPr>
          </a:p>
        </p:txBody>
      </p:sp>
      <p:sp>
        <p:nvSpPr>
          <p:cNvPr id="26635" name="Text Box 13"/>
          <p:cNvSpPr txBox="1">
            <a:spLocks noChangeArrowheads="1"/>
          </p:cNvSpPr>
          <p:nvPr/>
        </p:nvSpPr>
        <p:spPr bwMode="auto">
          <a:xfrm>
            <a:off x="5791200" y="4953000"/>
            <a:ext cx="107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11:00</a:t>
            </a:r>
          </a:p>
        </p:txBody>
      </p:sp>
      <p:sp>
        <p:nvSpPr>
          <p:cNvPr id="26636" name="Text Box 14"/>
          <p:cNvSpPr txBox="1">
            <a:spLocks noChangeArrowheads="1"/>
          </p:cNvSpPr>
          <p:nvPr/>
        </p:nvSpPr>
        <p:spPr bwMode="auto">
          <a:xfrm>
            <a:off x="6818313" y="5272088"/>
            <a:ext cx="1076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11:25</a:t>
            </a:r>
          </a:p>
        </p:txBody>
      </p:sp>
      <p:sp>
        <p:nvSpPr>
          <p:cNvPr id="26637" name="Text Box 16"/>
          <p:cNvSpPr txBox="1">
            <a:spLocks noChangeArrowheads="1"/>
          </p:cNvSpPr>
          <p:nvPr/>
        </p:nvSpPr>
        <p:spPr bwMode="auto">
          <a:xfrm>
            <a:off x="6362700" y="3048000"/>
            <a:ext cx="10239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+25min</a:t>
            </a:r>
          </a:p>
        </p:txBody>
      </p:sp>
      <p:sp>
        <p:nvSpPr>
          <p:cNvPr id="26638" name="Line 18"/>
          <p:cNvSpPr>
            <a:spLocks noChangeShapeType="1"/>
          </p:cNvSpPr>
          <p:nvPr/>
        </p:nvSpPr>
        <p:spPr bwMode="auto">
          <a:xfrm>
            <a:off x="28956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6639" name="Text Box 20"/>
          <p:cNvSpPr txBox="1">
            <a:spLocks noChangeArrowheads="1"/>
          </p:cNvSpPr>
          <p:nvPr/>
        </p:nvSpPr>
        <p:spPr bwMode="auto">
          <a:xfrm>
            <a:off x="2362200" y="5334000"/>
            <a:ext cx="87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7:55</a:t>
            </a:r>
          </a:p>
        </p:txBody>
      </p:sp>
      <p:sp>
        <p:nvSpPr>
          <p:cNvPr id="26640" name="Text Box 21"/>
          <p:cNvSpPr txBox="1">
            <a:spLocks noChangeArrowheads="1"/>
          </p:cNvSpPr>
          <p:nvPr/>
        </p:nvSpPr>
        <p:spPr bwMode="auto">
          <a:xfrm>
            <a:off x="1600200" y="5348288"/>
            <a:ext cx="8778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6:55</a:t>
            </a:r>
          </a:p>
        </p:txBody>
      </p:sp>
      <p:sp>
        <p:nvSpPr>
          <p:cNvPr id="26641" name="AutoShape 22"/>
          <p:cNvSpPr>
            <a:spLocks noChangeArrowheads="1"/>
          </p:cNvSpPr>
          <p:nvPr/>
        </p:nvSpPr>
        <p:spPr bwMode="auto">
          <a:xfrm>
            <a:off x="1905000" y="3533775"/>
            <a:ext cx="1066800" cy="733425"/>
          </a:xfrm>
          <a:prstGeom prst="curvedDownArrow">
            <a:avLst>
              <a:gd name="adj1" fmla="val 29091"/>
              <a:gd name="adj2" fmla="val 58182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Text Box 23"/>
          <p:cNvSpPr txBox="1">
            <a:spLocks noChangeArrowheads="1"/>
          </p:cNvSpPr>
          <p:nvPr/>
        </p:nvSpPr>
        <p:spPr bwMode="auto">
          <a:xfrm>
            <a:off x="4740275" y="3032125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+1 hr.</a:t>
            </a:r>
          </a:p>
        </p:txBody>
      </p:sp>
      <p:sp>
        <p:nvSpPr>
          <p:cNvPr id="26643" name="AutoShape 24"/>
          <p:cNvSpPr>
            <a:spLocks noChangeArrowheads="1"/>
          </p:cNvSpPr>
          <p:nvPr/>
        </p:nvSpPr>
        <p:spPr bwMode="auto">
          <a:xfrm>
            <a:off x="5791200" y="3609975"/>
            <a:ext cx="533400" cy="733425"/>
          </a:xfrm>
          <a:prstGeom prst="curvedDownArrow">
            <a:avLst>
              <a:gd name="adj1" fmla="val 20000"/>
              <a:gd name="adj2" fmla="val 40000"/>
              <a:gd name="adj3" fmla="val 5833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4" name="AutoShape 25"/>
          <p:cNvSpPr>
            <a:spLocks noChangeArrowheads="1"/>
          </p:cNvSpPr>
          <p:nvPr/>
        </p:nvSpPr>
        <p:spPr bwMode="auto">
          <a:xfrm>
            <a:off x="4800600" y="3533775"/>
            <a:ext cx="1066800" cy="733425"/>
          </a:xfrm>
          <a:prstGeom prst="curvedDownArrow">
            <a:avLst>
              <a:gd name="adj1" fmla="val 29091"/>
              <a:gd name="adj2" fmla="val 58182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5" name="AutoShape 26"/>
          <p:cNvSpPr>
            <a:spLocks noChangeArrowheads="1"/>
          </p:cNvSpPr>
          <p:nvPr/>
        </p:nvSpPr>
        <p:spPr bwMode="auto">
          <a:xfrm>
            <a:off x="3810000" y="3581400"/>
            <a:ext cx="1066800" cy="733425"/>
          </a:xfrm>
          <a:prstGeom prst="curvedDownArrow">
            <a:avLst>
              <a:gd name="adj1" fmla="val 29091"/>
              <a:gd name="adj2" fmla="val 58182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6" name="AutoShape 27"/>
          <p:cNvSpPr>
            <a:spLocks noChangeArrowheads="1"/>
          </p:cNvSpPr>
          <p:nvPr/>
        </p:nvSpPr>
        <p:spPr bwMode="auto">
          <a:xfrm>
            <a:off x="2819400" y="3581400"/>
            <a:ext cx="1066800" cy="733425"/>
          </a:xfrm>
          <a:prstGeom prst="curvedDownArrow">
            <a:avLst>
              <a:gd name="adj1" fmla="val 29091"/>
              <a:gd name="adj2" fmla="val 58182"/>
              <a:gd name="adj3" fmla="val 42426"/>
            </a:avLst>
          </a:prstGeom>
          <a:solidFill>
            <a:schemeClr val="hlink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6647" name="Text Box 28"/>
          <p:cNvSpPr txBox="1">
            <a:spLocks noChangeArrowheads="1"/>
          </p:cNvSpPr>
          <p:nvPr/>
        </p:nvSpPr>
        <p:spPr bwMode="auto">
          <a:xfrm>
            <a:off x="3825875" y="3032125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+1 hr.</a:t>
            </a:r>
          </a:p>
        </p:txBody>
      </p:sp>
      <p:sp>
        <p:nvSpPr>
          <p:cNvPr id="26648" name="Text Box 29"/>
          <p:cNvSpPr txBox="1">
            <a:spLocks noChangeArrowheads="1"/>
          </p:cNvSpPr>
          <p:nvPr/>
        </p:nvSpPr>
        <p:spPr bwMode="auto">
          <a:xfrm>
            <a:off x="2743200" y="30480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+1 hr.</a:t>
            </a:r>
          </a:p>
        </p:txBody>
      </p:sp>
      <p:sp>
        <p:nvSpPr>
          <p:cNvPr id="26649" name="Text Box 30"/>
          <p:cNvSpPr txBox="1">
            <a:spLocks noChangeArrowheads="1"/>
          </p:cNvSpPr>
          <p:nvPr/>
        </p:nvSpPr>
        <p:spPr bwMode="auto">
          <a:xfrm>
            <a:off x="1752600" y="30480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+1 hr.</a:t>
            </a:r>
          </a:p>
        </p:txBody>
      </p:sp>
      <p:sp>
        <p:nvSpPr>
          <p:cNvPr id="26650" name="Text Box 31"/>
          <p:cNvSpPr txBox="1">
            <a:spLocks noChangeArrowheads="1"/>
          </p:cNvSpPr>
          <p:nvPr/>
        </p:nvSpPr>
        <p:spPr bwMode="auto">
          <a:xfrm>
            <a:off x="5562600" y="3048000"/>
            <a:ext cx="952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/>
              <a:t>+5 min</a:t>
            </a:r>
          </a:p>
        </p:txBody>
      </p:sp>
      <p:sp>
        <p:nvSpPr>
          <p:cNvPr id="26651" name="Text Box 32"/>
          <p:cNvSpPr txBox="1">
            <a:spLocks noChangeArrowheads="1"/>
          </p:cNvSpPr>
          <p:nvPr/>
        </p:nvSpPr>
        <p:spPr bwMode="auto">
          <a:xfrm>
            <a:off x="4303713" y="5348288"/>
            <a:ext cx="877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9:55</a:t>
            </a:r>
          </a:p>
        </p:txBody>
      </p:sp>
      <p:sp>
        <p:nvSpPr>
          <p:cNvPr id="26652" name="Text Box 33"/>
          <p:cNvSpPr txBox="1">
            <a:spLocks noChangeArrowheads="1"/>
          </p:cNvSpPr>
          <p:nvPr/>
        </p:nvSpPr>
        <p:spPr bwMode="auto">
          <a:xfrm>
            <a:off x="3352800" y="5334000"/>
            <a:ext cx="87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8:55</a:t>
            </a:r>
          </a:p>
        </p:txBody>
      </p:sp>
      <p:sp>
        <p:nvSpPr>
          <p:cNvPr id="26653" name="Text Box 34"/>
          <p:cNvSpPr txBox="1">
            <a:spLocks noChangeArrowheads="1"/>
          </p:cNvSpPr>
          <p:nvPr/>
        </p:nvSpPr>
        <p:spPr bwMode="auto">
          <a:xfrm>
            <a:off x="5218113" y="5334000"/>
            <a:ext cx="1076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10:55</a:t>
            </a:r>
          </a:p>
        </p:txBody>
      </p:sp>
      <p:sp>
        <p:nvSpPr>
          <p:cNvPr id="26654" name="Line 35"/>
          <p:cNvSpPr>
            <a:spLocks noChangeShapeType="1"/>
          </p:cNvSpPr>
          <p:nvPr/>
        </p:nvSpPr>
        <p:spPr bwMode="auto">
          <a:xfrm>
            <a:off x="48006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6655" name="Line 36"/>
          <p:cNvSpPr>
            <a:spLocks noChangeShapeType="1"/>
          </p:cNvSpPr>
          <p:nvPr/>
        </p:nvSpPr>
        <p:spPr bwMode="auto">
          <a:xfrm>
            <a:off x="57150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36C2B-D4CA-4E1A-8EE6-636761EC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Finally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98CAA-AE8E-4247-A280-7A8FD7163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468760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Finally, we can also use the same method to work backwards to find a start time</a:t>
            </a:r>
          </a:p>
        </p:txBody>
      </p:sp>
    </p:spTree>
    <p:extLst>
      <p:ext uri="{BB962C8B-B14F-4D97-AF65-F5344CB8AC3E}">
        <p14:creationId xmlns:p14="http://schemas.microsoft.com/office/powerpoint/2010/main" val="4149870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dirty="0"/>
              <a:t>What time did we start on our trip if we arrived at 8:17 and it took 3 hours and 10 minutes?</a:t>
            </a:r>
          </a:p>
          <a:p>
            <a:pPr marL="0" indent="0" eaLnBrk="1" hangingPunct="1">
              <a:buNone/>
            </a:pPr>
            <a:endParaRPr lang="en-US" dirty="0"/>
          </a:p>
        </p:txBody>
      </p:sp>
      <p:sp>
        <p:nvSpPr>
          <p:cNvPr id="28676" name="Line 4"/>
          <p:cNvSpPr>
            <a:spLocks noChangeShapeType="1"/>
          </p:cNvSpPr>
          <p:nvPr/>
        </p:nvSpPr>
        <p:spPr bwMode="auto">
          <a:xfrm>
            <a:off x="1524000" y="4675188"/>
            <a:ext cx="6781800" cy="0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arrow" w="lg" len="med"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8677" name="Line 8"/>
          <p:cNvSpPr>
            <a:spLocks noChangeShapeType="1"/>
          </p:cNvSpPr>
          <p:nvPr/>
        </p:nvSpPr>
        <p:spPr bwMode="auto">
          <a:xfrm>
            <a:off x="35052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8678" name="Line 9"/>
          <p:cNvSpPr>
            <a:spLocks noChangeShapeType="1"/>
          </p:cNvSpPr>
          <p:nvPr/>
        </p:nvSpPr>
        <p:spPr bwMode="auto">
          <a:xfrm>
            <a:off x="44196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8679" name="Line 10"/>
          <p:cNvSpPr>
            <a:spLocks noChangeShapeType="1"/>
          </p:cNvSpPr>
          <p:nvPr/>
        </p:nvSpPr>
        <p:spPr bwMode="auto">
          <a:xfrm>
            <a:off x="6477000" y="4343400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28680" name="Rectangle 11"/>
          <p:cNvSpPr>
            <a:spLocks noChangeArrowheads="1"/>
          </p:cNvSpPr>
          <p:nvPr/>
        </p:nvSpPr>
        <p:spPr bwMode="auto">
          <a:xfrm>
            <a:off x="3429000" y="2870200"/>
            <a:ext cx="1100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-10 min.</a:t>
            </a:r>
          </a:p>
        </p:txBody>
      </p:sp>
      <p:sp>
        <p:nvSpPr>
          <p:cNvPr id="28681" name="Rectangle 12"/>
          <p:cNvSpPr>
            <a:spLocks noChangeArrowheads="1"/>
          </p:cNvSpPr>
          <p:nvPr/>
        </p:nvSpPr>
        <p:spPr bwMode="auto">
          <a:xfrm>
            <a:off x="4800600" y="2870200"/>
            <a:ext cx="774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-3 hr.</a:t>
            </a:r>
          </a:p>
        </p:txBody>
      </p:sp>
      <p:sp>
        <p:nvSpPr>
          <p:cNvPr id="28682" name="Text Box 13"/>
          <p:cNvSpPr txBox="1">
            <a:spLocks noChangeArrowheads="1"/>
          </p:cNvSpPr>
          <p:nvPr/>
        </p:nvSpPr>
        <p:spPr bwMode="auto">
          <a:xfrm>
            <a:off x="2697162" y="5982493"/>
            <a:ext cx="40846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dirty="0">
                <a:solidFill>
                  <a:srgbClr val="FF0000"/>
                </a:solidFill>
              </a:rPr>
              <a:t>The start time is 5:07.</a:t>
            </a:r>
          </a:p>
        </p:txBody>
      </p:sp>
      <p:sp>
        <p:nvSpPr>
          <p:cNvPr id="28683" name="Text Box 14"/>
          <p:cNvSpPr txBox="1">
            <a:spLocks noChangeArrowheads="1"/>
          </p:cNvSpPr>
          <p:nvPr/>
        </p:nvSpPr>
        <p:spPr bwMode="auto">
          <a:xfrm>
            <a:off x="3198813" y="5334000"/>
            <a:ext cx="877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5:07</a:t>
            </a:r>
          </a:p>
        </p:txBody>
      </p:sp>
      <p:sp>
        <p:nvSpPr>
          <p:cNvPr id="28684" name="Text Box 15"/>
          <p:cNvSpPr txBox="1">
            <a:spLocks noChangeArrowheads="1"/>
          </p:cNvSpPr>
          <p:nvPr/>
        </p:nvSpPr>
        <p:spPr bwMode="auto">
          <a:xfrm>
            <a:off x="4038600" y="5334000"/>
            <a:ext cx="87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5:17</a:t>
            </a:r>
          </a:p>
        </p:txBody>
      </p:sp>
      <p:sp>
        <p:nvSpPr>
          <p:cNvPr id="28685" name="Text Box 16"/>
          <p:cNvSpPr txBox="1">
            <a:spLocks noChangeArrowheads="1"/>
          </p:cNvSpPr>
          <p:nvPr/>
        </p:nvSpPr>
        <p:spPr bwMode="auto">
          <a:xfrm>
            <a:off x="6132513" y="5322888"/>
            <a:ext cx="877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8:17</a:t>
            </a:r>
          </a:p>
        </p:txBody>
      </p:sp>
      <p:sp>
        <p:nvSpPr>
          <p:cNvPr id="28686" name="AutoShape 20"/>
          <p:cNvSpPr>
            <a:spLocks noChangeArrowheads="1"/>
          </p:cNvSpPr>
          <p:nvPr/>
        </p:nvSpPr>
        <p:spPr bwMode="auto">
          <a:xfrm rot="10553400">
            <a:off x="4341813" y="3497263"/>
            <a:ext cx="2133600" cy="685800"/>
          </a:xfrm>
          <a:prstGeom prst="curvedUpArrow">
            <a:avLst>
              <a:gd name="adj1" fmla="val 62222"/>
              <a:gd name="adj2" fmla="val 124444"/>
              <a:gd name="adj3" fmla="val 33333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AutoShape 22"/>
          <p:cNvSpPr>
            <a:spLocks noChangeArrowheads="1"/>
          </p:cNvSpPr>
          <p:nvPr/>
        </p:nvSpPr>
        <p:spPr bwMode="auto">
          <a:xfrm rot="10553400">
            <a:off x="3429000" y="3505200"/>
            <a:ext cx="990600" cy="685800"/>
          </a:xfrm>
          <a:prstGeom prst="curvedUpArrow">
            <a:avLst>
              <a:gd name="adj1" fmla="val 28889"/>
              <a:gd name="adj2" fmla="val 57778"/>
              <a:gd name="adj3" fmla="val 33333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62E66779-D613-4C51-A9EC-31FA7AE0C063}"/>
              </a:ext>
            </a:extLst>
          </p:cNvPr>
          <p:cNvSpPr txBox="1">
            <a:spLocks/>
          </p:cNvSpPr>
          <p:nvPr/>
        </p:nvSpPr>
        <p:spPr>
          <a:xfrm>
            <a:off x="624681" y="131440"/>
            <a:ext cx="8229600" cy="1184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AU" b="1" dirty="0"/>
              <a:t>Finally, we can also use the same method to work backwards to find a start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animBg="1"/>
      <p:bldP spid="28680" grpId="0"/>
      <p:bldP spid="28681" grpId="0"/>
      <p:bldP spid="28682" grpId="0"/>
      <p:bldP spid="28683" grpId="0"/>
      <p:bldP spid="28684" grpId="0"/>
      <p:bldP spid="28686" grpId="0" animBg="1"/>
      <p:bldP spid="2868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384175"/>
            <a:ext cx="8229600" cy="4525963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dirty="0"/>
              <a:t>What time do I need to wake up if I have to be at school at 8:15 am and it takes me 1 hour and 45 minutes to get ready?</a:t>
            </a:r>
          </a:p>
        </p:txBody>
      </p:sp>
      <p:sp>
        <p:nvSpPr>
          <p:cNvPr id="30724" name="Line 4"/>
          <p:cNvSpPr>
            <a:spLocks noChangeShapeType="1"/>
          </p:cNvSpPr>
          <p:nvPr/>
        </p:nvSpPr>
        <p:spPr bwMode="auto">
          <a:xfrm>
            <a:off x="773088" y="4171156"/>
            <a:ext cx="6781800" cy="0"/>
          </a:xfrm>
          <a:prstGeom prst="line">
            <a:avLst/>
          </a:prstGeom>
          <a:noFill/>
          <a:ln w="50800" cap="sq">
            <a:solidFill>
              <a:schemeClr val="tx1"/>
            </a:solidFill>
            <a:round/>
            <a:headEnd type="arrow" w="lg" len="med"/>
            <a:tailEnd type="arrow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30725" name="Line 5"/>
          <p:cNvSpPr>
            <a:spLocks noChangeShapeType="1"/>
          </p:cNvSpPr>
          <p:nvPr/>
        </p:nvSpPr>
        <p:spPr bwMode="auto">
          <a:xfrm>
            <a:off x="2906688" y="3866356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30726" name="Line 6"/>
          <p:cNvSpPr>
            <a:spLocks noChangeShapeType="1"/>
          </p:cNvSpPr>
          <p:nvPr/>
        </p:nvSpPr>
        <p:spPr bwMode="auto">
          <a:xfrm>
            <a:off x="3897288" y="3866356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30727" name="Line 7"/>
          <p:cNvSpPr>
            <a:spLocks noChangeShapeType="1"/>
          </p:cNvSpPr>
          <p:nvPr/>
        </p:nvSpPr>
        <p:spPr bwMode="auto">
          <a:xfrm>
            <a:off x="6945288" y="3866356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30728" name="Rectangle 8"/>
          <p:cNvSpPr>
            <a:spLocks noChangeArrowheads="1"/>
          </p:cNvSpPr>
          <p:nvPr/>
        </p:nvSpPr>
        <p:spPr bwMode="auto">
          <a:xfrm>
            <a:off x="3863951" y="2631281"/>
            <a:ext cx="1100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-15 min.</a:t>
            </a:r>
          </a:p>
        </p:txBody>
      </p:sp>
      <p:sp>
        <p:nvSpPr>
          <p:cNvPr id="30729" name="Rectangle 9"/>
          <p:cNvSpPr>
            <a:spLocks noChangeArrowheads="1"/>
          </p:cNvSpPr>
          <p:nvPr/>
        </p:nvSpPr>
        <p:spPr bwMode="auto">
          <a:xfrm>
            <a:off x="5497488" y="2555081"/>
            <a:ext cx="774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-1 hr.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1638275" y="5614185"/>
            <a:ext cx="55514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3200" dirty="0">
                <a:solidFill>
                  <a:srgbClr val="FF0000"/>
                </a:solidFill>
              </a:rPr>
              <a:t>I have to wake up at 6:30 AM.</a:t>
            </a:r>
          </a:p>
        </p:txBody>
      </p:sp>
      <p:sp>
        <p:nvSpPr>
          <p:cNvPr id="30731" name="Text Box 11"/>
          <p:cNvSpPr txBox="1">
            <a:spLocks noChangeArrowheads="1"/>
          </p:cNvSpPr>
          <p:nvPr/>
        </p:nvSpPr>
        <p:spPr bwMode="auto">
          <a:xfrm>
            <a:off x="2525688" y="4856956"/>
            <a:ext cx="87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6:45</a:t>
            </a:r>
          </a:p>
        </p:txBody>
      </p:sp>
      <p:sp>
        <p:nvSpPr>
          <p:cNvPr id="30732" name="Text Box 12"/>
          <p:cNvSpPr txBox="1">
            <a:spLocks noChangeArrowheads="1"/>
          </p:cNvSpPr>
          <p:nvPr/>
        </p:nvSpPr>
        <p:spPr bwMode="auto">
          <a:xfrm>
            <a:off x="4543401" y="4856956"/>
            <a:ext cx="877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/>
              <a:t>7:15</a:t>
            </a:r>
          </a:p>
        </p:txBody>
      </p:sp>
      <p:sp>
        <p:nvSpPr>
          <p:cNvPr id="30733" name="Text Box 13"/>
          <p:cNvSpPr txBox="1">
            <a:spLocks noChangeArrowheads="1"/>
          </p:cNvSpPr>
          <p:nvPr/>
        </p:nvSpPr>
        <p:spPr bwMode="auto">
          <a:xfrm>
            <a:off x="6524601" y="4845844"/>
            <a:ext cx="877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8:15</a:t>
            </a:r>
          </a:p>
        </p:txBody>
      </p:sp>
      <p:sp>
        <p:nvSpPr>
          <p:cNvPr id="30734" name="AutoShape 14"/>
          <p:cNvSpPr>
            <a:spLocks noChangeArrowheads="1"/>
          </p:cNvSpPr>
          <p:nvPr/>
        </p:nvSpPr>
        <p:spPr bwMode="auto">
          <a:xfrm rot="10553400">
            <a:off x="4735488" y="3020219"/>
            <a:ext cx="2133600" cy="685800"/>
          </a:xfrm>
          <a:prstGeom prst="curvedUpArrow">
            <a:avLst>
              <a:gd name="adj1" fmla="val 62222"/>
              <a:gd name="adj2" fmla="val 124444"/>
              <a:gd name="adj3" fmla="val 33333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5" name="AutoShape 15"/>
          <p:cNvSpPr>
            <a:spLocks noChangeArrowheads="1"/>
          </p:cNvSpPr>
          <p:nvPr/>
        </p:nvSpPr>
        <p:spPr bwMode="auto">
          <a:xfrm rot="10553400">
            <a:off x="2830488" y="3028156"/>
            <a:ext cx="990600" cy="685800"/>
          </a:xfrm>
          <a:prstGeom prst="curvedUpArrow">
            <a:avLst>
              <a:gd name="adj1" fmla="val 28889"/>
              <a:gd name="adj2" fmla="val 57778"/>
              <a:gd name="adj3" fmla="val 33333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6" name="AutoShape 16"/>
          <p:cNvSpPr>
            <a:spLocks noChangeArrowheads="1"/>
          </p:cNvSpPr>
          <p:nvPr/>
        </p:nvSpPr>
        <p:spPr bwMode="auto">
          <a:xfrm rot="10553400">
            <a:off x="1839888" y="3028156"/>
            <a:ext cx="990600" cy="685800"/>
          </a:xfrm>
          <a:prstGeom prst="curvedUpArrow">
            <a:avLst>
              <a:gd name="adj1" fmla="val 28889"/>
              <a:gd name="adj2" fmla="val 57778"/>
              <a:gd name="adj3" fmla="val 33333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7" name="AutoShape 17"/>
          <p:cNvSpPr>
            <a:spLocks noChangeArrowheads="1"/>
          </p:cNvSpPr>
          <p:nvPr/>
        </p:nvSpPr>
        <p:spPr bwMode="auto">
          <a:xfrm rot="10553400">
            <a:off x="3821088" y="3028156"/>
            <a:ext cx="990600" cy="685800"/>
          </a:xfrm>
          <a:prstGeom prst="curvedUpArrow">
            <a:avLst>
              <a:gd name="adj1" fmla="val 28889"/>
              <a:gd name="adj2" fmla="val 57778"/>
              <a:gd name="adj3" fmla="val 33333"/>
            </a:avLst>
          </a:prstGeom>
          <a:solidFill>
            <a:srgbClr val="FF0000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738" name="Line 18"/>
          <p:cNvSpPr>
            <a:spLocks noChangeShapeType="1"/>
          </p:cNvSpPr>
          <p:nvPr/>
        </p:nvSpPr>
        <p:spPr bwMode="auto">
          <a:xfrm>
            <a:off x="1992288" y="3866356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30739" name="Line 19"/>
          <p:cNvSpPr>
            <a:spLocks noChangeShapeType="1"/>
          </p:cNvSpPr>
          <p:nvPr/>
        </p:nvSpPr>
        <p:spPr bwMode="auto">
          <a:xfrm>
            <a:off x="4887888" y="3866356"/>
            <a:ext cx="0" cy="609600"/>
          </a:xfrm>
          <a:prstGeom prst="line">
            <a:avLst/>
          </a:prstGeom>
          <a:noFill/>
          <a:ln w="38100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AU"/>
          </a:p>
        </p:txBody>
      </p:sp>
      <p:sp>
        <p:nvSpPr>
          <p:cNvPr id="30740" name="Text Box 20"/>
          <p:cNvSpPr txBox="1">
            <a:spLocks noChangeArrowheads="1"/>
          </p:cNvSpPr>
          <p:nvPr/>
        </p:nvSpPr>
        <p:spPr bwMode="auto">
          <a:xfrm>
            <a:off x="1571601" y="4856956"/>
            <a:ext cx="877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 dirty="0"/>
              <a:t>6:30</a:t>
            </a:r>
          </a:p>
        </p:txBody>
      </p:sp>
      <p:sp>
        <p:nvSpPr>
          <p:cNvPr id="30741" name="Text Box 21"/>
          <p:cNvSpPr txBox="1">
            <a:spLocks noChangeArrowheads="1"/>
          </p:cNvSpPr>
          <p:nvPr/>
        </p:nvSpPr>
        <p:spPr bwMode="auto">
          <a:xfrm>
            <a:off x="3592488" y="4856956"/>
            <a:ext cx="877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800"/>
              <a:t>7:00</a:t>
            </a:r>
          </a:p>
        </p:txBody>
      </p:sp>
      <p:sp>
        <p:nvSpPr>
          <p:cNvPr id="30742" name="Rectangle 22"/>
          <p:cNvSpPr>
            <a:spLocks noChangeArrowheads="1"/>
          </p:cNvSpPr>
          <p:nvPr/>
        </p:nvSpPr>
        <p:spPr bwMode="auto">
          <a:xfrm>
            <a:off x="2830488" y="2647156"/>
            <a:ext cx="1100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-15 min.</a:t>
            </a:r>
          </a:p>
        </p:txBody>
      </p:sp>
      <p:sp>
        <p:nvSpPr>
          <p:cNvPr id="30743" name="Rectangle 23"/>
          <p:cNvSpPr>
            <a:spLocks noChangeArrowheads="1"/>
          </p:cNvSpPr>
          <p:nvPr/>
        </p:nvSpPr>
        <p:spPr bwMode="auto">
          <a:xfrm>
            <a:off x="1763688" y="2647156"/>
            <a:ext cx="11001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2000"/>
              <a:t>-15 min.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nimBg="1"/>
      <p:bldP spid="30725" grpId="0" animBg="1"/>
      <p:bldP spid="30726" grpId="0" animBg="1"/>
      <p:bldP spid="30728" grpId="0"/>
      <p:bldP spid="30729" grpId="0"/>
      <p:bldP spid="30730" grpId="0"/>
      <p:bldP spid="30731" grpId="0"/>
      <p:bldP spid="30732" grpId="0"/>
      <p:bldP spid="30734" grpId="0" animBg="1"/>
      <p:bldP spid="30735" grpId="0" animBg="1"/>
      <p:bldP spid="30736" grpId="0" animBg="1"/>
      <p:bldP spid="30737" grpId="0" animBg="1"/>
      <p:bldP spid="30739" grpId="0" animBg="1"/>
      <p:bldP spid="30740" grpId="0"/>
      <p:bldP spid="30741" grpId="0"/>
      <p:bldP spid="30742" grpId="0"/>
      <p:bldP spid="3074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Have a go at page 192 in your textbook</a:t>
            </a:r>
            <a:endParaRPr lang="en-AU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2348880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860632" y="3671699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11560" y="2749421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02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2214</TotalTime>
  <Words>563</Words>
  <Application>Microsoft Office PowerPoint</Application>
  <PresentationFormat>On-screen Show (4:3)</PresentationFormat>
  <Paragraphs>133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Impact</vt:lpstr>
      <vt:lpstr>Martina</vt:lpstr>
      <vt:lpstr>Office Theme</vt:lpstr>
      <vt:lpstr>Warm up</vt:lpstr>
      <vt:lpstr>PowerPoint Presentation</vt:lpstr>
      <vt:lpstr>PowerPoint Presentation</vt:lpstr>
      <vt:lpstr>PowerPoint Presentation</vt:lpstr>
      <vt:lpstr>Do you understand? Fists of Five</vt:lpstr>
      <vt:lpstr>PowerPoint Presentation</vt:lpstr>
      <vt:lpstr>Same question but done slightly differently…</vt:lpstr>
      <vt:lpstr>Finally</vt:lpstr>
      <vt:lpstr>PowerPoint Presentation</vt:lpstr>
      <vt:lpstr>PowerPoint Presentation</vt:lpstr>
      <vt:lpstr>Now your turn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WILSON James [Baldivis Secondary College]</cp:lastModifiedBy>
  <cp:revision>69</cp:revision>
  <cp:lastPrinted>2017-09-12T09:29:33Z</cp:lastPrinted>
  <dcterms:created xsi:type="dcterms:W3CDTF">2013-03-25T14:33:20Z</dcterms:created>
  <dcterms:modified xsi:type="dcterms:W3CDTF">2019-09-17T14:11:56Z</dcterms:modified>
</cp:coreProperties>
</file>
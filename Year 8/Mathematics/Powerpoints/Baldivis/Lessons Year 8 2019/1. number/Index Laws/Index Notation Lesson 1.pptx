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1"/>
  </p:notesMasterIdLst>
  <p:sldIdLst>
    <p:sldId id="256" r:id="rId2"/>
    <p:sldId id="266" r:id="rId3"/>
    <p:sldId id="267" r:id="rId4"/>
    <p:sldId id="259" r:id="rId5"/>
    <p:sldId id="268" r:id="rId6"/>
    <p:sldId id="261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2" autoAdjust="0"/>
    <p:restoredTop sz="86567" autoAdjust="0"/>
  </p:normalViewPr>
  <p:slideViewPr>
    <p:cSldViewPr snapToGrid="0">
      <p:cViewPr>
        <p:scale>
          <a:sx n="83" d="100"/>
          <a:sy n="83" d="100"/>
        </p:scale>
        <p:origin x="57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2475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ED3C4-14C8-4AB1-833D-A4157C1E63CE}" type="datetimeFigureOut">
              <a:rPr lang="en-GB" smtClean="0"/>
              <a:t>17/02/2019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649E1-EB48-4698-9E6C-406C883D75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475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Starter activity to be completed on the left hand side.</a:t>
            </a:r>
          </a:p>
          <a:p>
            <a:r>
              <a:rPr lang="en-AU" dirty="0"/>
              <a:t>If students are stuck on where to begin, provide them with the hint that the Order of Operations can help them find a link.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3586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9777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4125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5329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Point out calculate, evaluate as language  = give me a number!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797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Point out calculate, evaluate as language  = give me a number!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9207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Point out calculate, evaluate as language  = give me a number!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9989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E7D0976-F3F4-4718-887B-FA86C4DCBA1A}" type="datetimeFigureOut">
              <a:rPr lang="en-GB" smtClean="0"/>
              <a:t>17/02/2019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09AC-47A3-44BF-B708-18E2292D9B1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571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D0976-F3F4-4718-887B-FA86C4DCBA1A}" type="datetimeFigureOut">
              <a:rPr lang="en-GB" smtClean="0"/>
              <a:t>17/02/2019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09AC-47A3-44BF-B708-18E2292D9B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19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D0976-F3F4-4718-887B-FA86C4DCBA1A}" type="datetimeFigureOut">
              <a:rPr lang="en-GB" smtClean="0"/>
              <a:t>17/02/2019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09AC-47A3-44BF-B708-18E2292D9B1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112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D0976-F3F4-4718-887B-FA86C4DCBA1A}" type="datetimeFigureOut">
              <a:rPr lang="en-GB" smtClean="0"/>
              <a:t>17/02/2019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09AC-47A3-44BF-B708-18E2292D9B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12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D0976-F3F4-4718-887B-FA86C4DCBA1A}" type="datetimeFigureOut">
              <a:rPr lang="en-GB" smtClean="0"/>
              <a:t>17/02/2019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09AC-47A3-44BF-B708-18E2292D9B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2006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D0976-F3F4-4718-887B-FA86C4DCBA1A}" type="datetimeFigureOut">
              <a:rPr lang="en-GB" smtClean="0"/>
              <a:t>17/02/2019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09AC-47A3-44BF-B708-18E2292D9B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643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D0976-F3F4-4718-887B-FA86C4DCBA1A}" type="datetimeFigureOut">
              <a:rPr lang="en-GB" smtClean="0"/>
              <a:t>17/02/2019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09AC-47A3-44BF-B708-18E2292D9B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93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D0976-F3F4-4718-887B-FA86C4DCBA1A}" type="datetimeFigureOut">
              <a:rPr lang="en-GB" smtClean="0"/>
              <a:t>17/02/2019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09AC-47A3-44BF-B708-18E2292D9B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1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D0976-F3F4-4718-887B-FA86C4DCBA1A}" type="datetimeFigureOut">
              <a:rPr lang="en-GB" smtClean="0"/>
              <a:t>17/02/2019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09AC-47A3-44BF-B708-18E2292D9B1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208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D0976-F3F4-4718-887B-FA86C4DCBA1A}" type="datetimeFigureOut">
              <a:rPr lang="en-GB" smtClean="0"/>
              <a:t>17/02/2019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09AC-47A3-44BF-B708-18E2292D9B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187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D0976-F3F4-4718-887B-FA86C4DCBA1A}" type="datetimeFigureOut">
              <a:rPr lang="en-GB" smtClean="0"/>
              <a:t>17/02/2019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09AC-47A3-44BF-B708-18E2292D9B1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67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E7D0976-F3F4-4718-887B-FA86C4DCBA1A}" type="datetimeFigureOut">
              <a:rPr lang="en-GB" smtClean="0"/>
              <a:t>17/02/2019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4C309AC-47A3-44BF-B708-18E2292D9B1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93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FAA67-70ED-445B-B9C1-BB51FF3CBD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4800" dirty="0">
                <a:latin typeface="Calibri" panose="020F0502020204030204" pitchFamily="34" charset="0"/>
                <a:cs typeface="Calibri" panose="020F0502020204030204" pitchFamily="34" charset="0"/>
              </a:rPr>
              <a:t>Index Notation Lesson 1</a:t>
            </a:r>
            <a:endParaRPr lang="en-GB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52A25-B7C6-4BC7-BE2C-4787E84B3D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Year 8 Mathematics</a:t>
            </a:r>
          </a:p>
          <a:p>
            <a:r>
              <a:rPr lang="en-AU" dirty="0"/>
              <a:t>Mrs Parlevliet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766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445169" y="18466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index notation?</a:t>
            </a:r>
          </a:p>
        </p:txBody>
      </p:sp>
      <p:pic>
        <p:nvPicPr>
          <p:cNvPr id="9" name="Picture 8" descr="A close up of a keyboard&#10;&#10;Description automatically generated">
            <a:extLst>
              <a:ext uri="{FF2B5EF4-FFF2-40B4-BE49-F238E27FC236}">
                <a16:creationId xmlns:a16="http://schemas.microsoft.com/office/drawing/2014/main" id="{00EF14A7-353B-4FDA-A729-FC3F0C8CF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313" y="1249121"/>
            <a:ext cx="5584377" cy="558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97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807478" y="18466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index notation?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858B8-DD0E-4C66-9570-3837551836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864" y="1260898"/>
            <a:ext cx="5597102" cy="559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88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071908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876733" y="18466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index notation?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7BD506-112D-4A3C-97FC-ADADD7FDA4C8}"/>
                  </a:ext>
                </a:extLst>
              </p:cNvPr>
              <p:cNvSpPr txBox="1"/>
              <p:nvPr/>
            </p:nvSpPr>
            <p:spPr>
              <a:xfrm>
                <a:off x="2248619" y="1369454"/>
                <a:ext cx="933953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Remember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AU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sup>
                    </m:sSup>
                    <m:r>
                      <a:rPr lang="en-AU" sz="24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AU" sz="24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sz="24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r>
                      <a:rPr lang="en-AU" sz="24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sz="24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endParaRPr lang="en-AU" sz="2400" b="0" dirty="0">
                  <a:solidFill>
                    <a:srgbClr val="FF0000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endParaRPr lang="en-GB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Index notation </a:t>
                </a:r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a convenient way to describe repeated multiplication.</a:t>
                </a:r>
                <a:endParaRPr lang="en-GB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7BD506-112D-4A3C-97FC-ADADD7FDA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619" y="1369454"/>
                <a:ext cx="9339530" cy="1200329"/>
              </a:xfrm>
              <a:prstGeom prst="rect">
                <a:avLst/>
              </a:prstGeom>
              <a:blipFill>
                <a:blip r:embed="rId3"/>
                <a:stretch>
                  <a:fillRect l="-1044" t="-4061" b="-106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350525-9759-464B-8F73-6E15380E905B}"/>
                  </a:ext>
                </a:extLst>
              </p:cNvPr>
              <p:cNvSpPr txBox="1"/>
              <p:nvPr/>
            </p:nvSpPr>
            <p:spPr>
              <a:xfrm>
                <a:off x="4555519" y="3168681"/>
                <a:ext cx="3352799" cy="1119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en-AU" sz="6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GB" sz="4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350525-9759-464B-8F73-6E15380E9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519" y="3168681"/>
                <a:ext cx="3352799" cy="11195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0F018A7-3656-4B7D-B165-A69E864D698D}"/>
              </a:ext>
            </a:extLst>
          </p:cNvPr>
          <p:cNvSpPr txBox="1"/>
          <p:nvPr/>
        </p:nvSpPr>
        <p:spPr>
          <a:xfrm>
            <a:off x="6826067" y="2958361"/>
            <a:ext cx="14894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Exponent or index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30EDE9-124E-4CE4-8975-7E1EECA01BDF}"/>
              </a:ext>
            </a:extLst>
          </p:cNvPr>
          <p:cNvSpPr txBox="1"/>
          <p:nvPr/>
        </p:nvSpPr>
        <p:spPr>
          <a:xfrm>
            <a:off x="4355914" y="3943280"/>
            <a:ext cx="1489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629CBE-A871-4FD9-BD73-4C1115092151}"/>
              </a:ext>
            </a:extLst>
          </p:cNvPr>
          <p:cNvCxnSpPr/>
          <p:nvPr/>
        </p:nvCxnSpPr>
        <p:spPr>
          <a:xfrm flipV="1">
            <a:off x="4841992" y="3630046"/>
            <a:ext cx="1150189" cy="391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1ADC3A4-2869-411C-B307-0B7C35215702}"/>
              </a:ext>
            </a:extLst>
          </p:cNvPr>
          <p:cNvCxnSpPr/>
          <p:nvPr/>
        </p:nvCxnSpPr>
        <p:spPr>
          <a:xfrm flipH="1">
            <a:off x="6509766" y="3299899"/>
            <a:ext cx="494581" cy="157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119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876733" y="18466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212785" y="809731"/>
            <a:ext cx="10386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index notation?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976ADB-79F6-4126-95D4-351587B59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507936"/>
              </p:ext>
            </p:extLst>
          </p:nvPr>
        </p:nvGraphicFramePr>
        <p:xfrm>
          <a:off x="2610524" y="1424126"/>
          <a:ext cx="9053102" cy="3863340"/>
        </p:xfrm>
        <a:graphic>
          <a:graphicData uri="http://schemas.openxmlformats.org/drawingml/2006/table">
            <a:tbl>
              <a:tblPr/>
              <a:tblGrid>
                <a:gridCol w="4526551">
                  <a:extLst>
                    <a:ext uri="{9D8B030D-6E8A-4147-A177-3AD203B41FA5}">
                      <a16:colId xmlns:a16="http://schemas.microsoft.com/office/drawing/2014/main" val="1471622598"/>
                    </a:ext>
                  </a:extLst>
                </a:gridCol>
                <a:gridCol w="4526551">
                  <a:extLst>
                    <a:ext uri="{9D8B030D-6E8A-4147-A177-3AD203B41FA5}">
                      <a16:colId xmlns:a16="http://schemas.microsoft.com/office/drawing/2014/main" val="35616569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= 3</a:t>
                      </a:r>
                      <a:r>
                        <a:rPr lang="en-AU" sz="2400" b="0" i="0" u="none" strike="noStrike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AU" sz="2400" baseline="3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(read as '3' or '3 to the power 1')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332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× 3 = 3</a:t>
                      </a:r>
                      <a:r>
                        <a:rPr lang="en-AU" sz="2400" b="0" i="0" u="none" strike="noStrike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AU" sz="2400" baseline="3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(read as “3 squared”)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4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× 3 × 3 = 3</a:t>
                      </a:r>
                      <a:r>
                        <a:rPr lang="en-AU" sz="2400" b="0" i="0" u="none" strike="noStrike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AU" sz="2400" baseline="3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(read as “3 cubed”)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144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828675">
                        <a:tabLst>
                          <a:tab pos="2603500" algn="l"/>
                        </a:tabLst>
                      </a:pPr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× 3 × 3 × 3 = 3</a:t>
                      </a:r>
                      <a:r>
                        <a:rPr lang="en-AU" sz="2400" b="0" i="0" u="none" strike="noStrike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AU" sz="2400" baseline="3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(read as “3 to the power 4” or as “3 to the 4th")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9832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452438"/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× 3 × 3 × 3 × 3 = 3</a:t>
                      </a:r>
                      <a:r>
                        <a:rPr lang="en-AU" sz="2400" b="0" i="0" u="none" strike="noStrike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AU" sz="2400" baseline="3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(read as “3 to the power 5” or as “3 to the 5")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076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× 3 × 3 × 3 × 3 × 3 = 3</a:t>
                      </a:r>
                      <a:r>
                        <a:rPr lang="en-AU" sz="2400" b="0" i="0" u="none" strike="noStrike" baseline="300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AU" sz="2400" baseline="3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(read as “3 to the power 6” or as “3 to the 6”)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4454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526A243-A386-4204-A859-A2A486DE379E}"/>
              </a:ext>
            </a:extLst>
          </p:cNvPr>
          <p:cNvSpPr txBox="1"/>
          <p:nvPr/>
        </p:nvSpPr>
        <p:spPr>
          <a:xfrm>
            <a:off x="74645" y="1328468"/>
            <a:ext cx="21222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read index notation?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35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137287" y="1580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207034" y="809731"/>
            <a:ext cx="10392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index notation?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F211DF2-57A5-4BA4-B3F6-8FD95BC589D7}"/>
              </a:ext>
            </a:extLst>
          </p:cNvPr>
          <p:cNvSpPr/>
          <p:nvPr/>
        </p:nvSpPr>
        <p:spPr>
          <a:xfrm>
            <a:off x="2666711" y="1637286"/>
            <a:ext cx="8568952" cy="4104456"/>
          </a:xfrm>
          <a:prstGeom prst="roundRect">
            <a:avLst>
              <a:gd name="adj" fmla="val 71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13CE5D-BA2B-498F-8680-F960E438A7F2}"/>
              </a:ext>
            </a:extLst>
          </p:cNvPr>
          <p:cNvSpPr txBox="1"/>
          <p:nvPr/>
        </p:nvSpPr>
        <p:spPr>
          <a:xfrm>
            <a:off x="2792725" y="1673290"/>
            <a:ext cx="4536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Example 1:       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Calculate 6</a:t>
            </a:r>
            <a:r>
              <a:rPr lang="en-GB" sz="20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B4A1C-5D25-407F-8979-4322278B38BF}"/>
              </a:ext>
            </a:extLst>
          </p:cNvPr>
          <p:cNvSpPr txBox="1"/>
          <p:nvPr/>
        </p:nvSpPr>
        <p:spPr>
          <a:xfrm>
            <a:off x="2864733" y="2352140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GB" sz="28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   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means  6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6</a:t>
            </a:r>
            <a:endParaRPr lang="en-GB" sz="2800" b="1" baseline="30000" dirty="0">
              <a:solidFill>
                <a:srgbClr val="00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61DE2A-A9CA-4991-B883-10C55E435244}"/>
              </a:ext>
            </a:extLst>
          </p:cNvPr>
          <p:cNvSpPr txBox="1"/>
          <p:nvPr/>
        </p:nvSpPr>
        <p:spPr>
          <a:xfrm>
            <a:off x="7941043" y="2321362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887FBF-B527-49A5-8C55-7F6A7C19DB52}"/>
              </a:ext>
            </a:extLst>
          </p:cNvPr>
          <p:cNvSpPr txBox="1"/>
          <p:nvPr/>
        </p:nvSpPr>
        <p:spPr>
          <a:xfrm>
            <a:off x="8985159" y="2285358"/>
            <a:ext cx="1908212" cy="646986"/>
          </a:xfrm>
          <a:prstGeom prst="round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36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1A7794A-D8B9-4101-BE69-0A9657FE968C}"/>
              </a:ext>
            </a:extLst>
          </p:cNvPr>
          <p:cNvCxnSpPr/>
          <p:nvPr/>
        </p:nvCxnSpPr>
        <p:spPr>
          <a:xfrm>
            <a:off x="2972745" y="2933430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47BD561-53E5-4BAB-95AE-4F4AE30EFFC2}"/>
              </a:ext>
            </a:extLst>
          </p:cNvPr>
          <p:cNvSpPr txBox="1"/>
          <p:nvPr/>
        </p:nvSpPr>
        <p:spPr>
          <a:xfrm>
            <a:off x="2792471" y="3023440"/>
            <a:ext cx="4536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Example 2:       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Evaluate 2</a:t>
            </a:r>
            <a:r>
              <a:rPr lang="en-GB" sz="20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E6B56F-DD89-4E90-B5D5-E8CB05BE42FF}"/>
              </a:ext>
            </a:extLst>
          </p:cNvPr>
          <p:cNvSpPr txBox="1"/>
          <p:nvPr/>
        </p:nvSpPr>
        <p:spPr>
          <a:xfrm>
            <a:off x="2864479" y="3702290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GB" sz="28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  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means  2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  <a:endParaRPr lang="en-GB" sz="2800" b="1" baseline="30000" dirty="0">
              <a:solidFill>
                <a:srgbClr val="00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A19C89-0B2D-4A0F-8C21-13C95B344B27}"/>
              </a:ext>
            </a:extLst>
          </p:cNvPr>
          <p:cNvSpPr txBox="1"/>
          <p:nvPr/>
        </p:nvSpPr>
        <p:spPr>
          <a:xfrm>
            <a:off x="7940789" y="3671512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E106AF-31A3-42F6-BC67-3525FE2432C7}"/>
              </a:ext>
            </a:extLst>
          </p:cNvPr>
          <p:cNvSpPr txBox="1"/>
          <p:nvPr/>
        </p:nvSpPr>
        <p:spPr>
          <a:xfrm>
            <a:off x="8984905" y="3635508"/>
            <a:ext cx="1908212" cy="646986"/>
          </a:xfrm>
          <a:prstGeom prst="round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32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FE852B-2040-44CD-B79C-790967770003}"/>
              </a:ext>
            </a:extLst>
          </p:cNvPr>
          <p:cNvCxnSpPr/>
          <p:nvPr/>
        </p:nvCxnSpPr>
        <p:spPr>
          <a:xfrm>
            <a:off x="2972491" y="4283580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687F1FE-25DB-4252-AEA1-B2A20B91BF19}"/>
              </a:ext>
            </a:extLst>
          </p:cNvPr>
          <p:cNvSpPr txBox="1"/>
          <p:nvPr/>
        </p:nvSpPr>
        <p:spPr>
          <a:xfrm>
            <a:off x="2792471" y="4373590"/>
            <a:ext cx="4536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Example 3:       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Find 9</a:t>
            </a:r>
            <a:r>
              <a:rPr lang="en-GB" sz="20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550857-EC67-4159-88E5-C7148D0109BB}"/>
              </a:ext>
            </a:extLst>
          </p:cNvPr>
          <p:cNvSpPr txBox="1"/>
          <p:nvPr/>
        </p:nvSpPr>
        <p:spPr>
          <a:xfrm>
            <a:off x="2864479" y="5052440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r>
              <a:rPr lang="en-GB" sz="28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   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means  9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9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9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9</a:t>
            </a:r>
            <a:endParaRPr lang="en-GB" sz="2800" b="1" baseline="30000" dirty="0">
              <a:solidFill>
                <a:srgbClr val="00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DBE20B-D84F-4714-9764-A8D6CA112045}"/>
              </a:ext>
            </a:extLst>
          </p:cNvPr>
          <p:cNvSpPr txBox="1"/>
          <p:nvPr/>
        </p:nvSpPr>
        <p:spPr>
          <a:xfrm>
            <a:off x="7940789" y="5021662"/>
            <a:ext cx="936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3B8602-CB38-4E80-B532-B2F73BD50610}"/>
              </a:ext>
            </a:extLst>
          </p:cNvPr>
          <p:cNvSpPr txBox="1"/>
          <p:nvPr/>
        </p:nvSpPr>
        <p:spPr>
          <a:xfrm>
            <a:off x="8984905" y="4985658"/>
            <a:ext cx="1908212" cy="646986"/>
          </a:xfrm>
          <a:prstGeom prst="round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6561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590ACD-EAF8-4694-8B78-22E7558DABF3}"/>
              </a:ext>
            </a:extLst>
          </p:cNvPr>
          <p:cNvSpPr txBox="1"/>
          <p:nvPr/>
        </p:nvSpPr>
        <p:spPr>
          <a:xfrm>
            <a:off x="74645" y="1431985"/>
            <a:ext cx="21060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solve problems with index notation?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08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2" grpId="0"/>
      <p:bldP spid="23" grpId="0" animBg="1"/>
      <p:bldP spid="25" grpId="0"/>
      <p:bldP spid="26" grpId="0"/>
      <p:bldP spid="27" grpId="0"/>
      <p:bldP spid="28" grpId="0" animBg="1"/>
      <p:bldP spid="30" grpId="0"/>
      <p:bldP spid="31" grpId="0"/>
      <p:bldP spid="32" grpId="0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137287" y="1580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207034" y="809731"/>
            <a:ext cx="10392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index notation?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590ACD-EAF8-4694-8B78-22E7558DABF3}"/>
              </a:ext>
            </a:extLst>
          </p:cNvPr>
          <p:cNvSpPr txBox="1"/>
          <p:nvPr/>
        </p:nvSpPr>
        <p:spPr>
          <a:xfrm>
            <a:off x="74645" y="1431985"/>
            <a:ext cx="21060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solve problems with index notation?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ounded Rectangle 18">
            <a:extLst>
              <a:ext uri="{FF2B5EF4-FFF2-40B4-BE49-F238E27FC236}">
                <a16:creationId xmlns:a16="http://schemas.microsoft.com/office/drawing/2014/main" id="{AA03D45F-1EE7-4B12-89B6-8F482873E6E1}"/>
              </a:ext>
            </a:extLst>
          </p:cNvPr>
          <p:cNvSpPr/>
          <p:nvPr/>
        </p:nvSpPr>
        <p:spPr>
          <a:xfrm>
            <a:off x="2584270" y="1431985"/>
            <a:ext cx="8568952" cy="4104456"/>
          </a:xfrm>
          <a:prstGeom prst="roundRect">
            <a:avLst>
              <a:gd name="adj" fmla="val 71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531B3A-5435-4C0E-9AB0-BF53EBAB8FA8}"/>
              </a:ext>
            </a:extLst>
          </p:cNvPr>
          <p:cNvSpPr txBox="1"/>
          <p:nvPr/>
        </p:nvSpPr>
        <p:spPr>
          <a:xfrm>
            <a:off x="2710284" y="1467989"/>
            <a:ext cx="4536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Example 4:       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Write a</a:t>
            </a:r>
            <a:r>
              <a:rPr lang="en-GB" sz="20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 in factor form</a:t>
            </a:r>
            <a:endParaRPr lang="en-GB" sz="2000" b="1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9E1C87-481A-429D-95B3-EF0034E00CB3}"/>
              </a:ext>
            </a:extLst>
          </p:cNvPr>
          <p:cNvSpPr txBox="1"/>
          <p:nvPr/>
        </p:nvSpPr>
        <p:spPr>
          <a:xfrm>
            <a:off x="2782292" y="2146839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GB" sz="28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   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means  a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</a:t>
            </a:r>
            <a:endParaRPr lang="en-GB" sz="2800" b="1" baseline="30000" dirty="0">
              <a:solidFill>
                <a:srgbClr val="00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0C440B9-57A4-4BCA-B13B-18A2B308F147}"/>
              </a:ext>
            </a:extLst>
          </p:cNvPr>
          <p:cNvCxnSpPr/>
          <p:nvPr/>
        </p:nvCxnSpPr>
        <p:spPr>
          <a:xfrm>
            <a:off x="2890304" y="2728129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B3F9A54-EB3F-4EFA-B6AF-FBC3BFB4F161}"/>
              </a:ext>
            </a:extLst>
          </p:cNvPr>
          <p:cNvSpPr txBox="1"/>
          <p:nvPr/>
        </p:nvSpPr>
        <p:spPr>
          <a:xfrm>
            <a:off x="2710030" y="2818139"/>
            <a:ext cx="4536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Example 5:       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Write b</a:t>
            </a:r>
            <a:r>
              <a:rPr lang="en-GB" sz="20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 in factor form</a:t>
            </a:r>
            <a:endParaRPr lang="en-GB" sz="2000" b="1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510F76-D691-4270-BC2D-3F480FD8446B}"/>
              </a:ext>
            </a:extLst>
          </p:cNvPr>
          <p:cNvSpPr txBox="1"/>
          <p:nvPr/>
        </p:nvSpPr>
        <p:spPr>
          <a:xfrm>
            <a:off x="2782038" y="3496989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GB" sz="28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  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means  b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</a:t>
            </a:r>
            <a:endParaRPr lang="en-GB" sz="2800" b="1" baseline="30000" dirty="0">
              <a:solidFill>
                <a:srgbClr val="00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D225F05-C8E6-4A57-97BB-8217E5043A17}"/>
              </a:ext>
            </a:extLst>
          </p:cNvPr>
          <p:cNvCxnSpPr/>
          <p:nvPr/>
        </p:nvCxnSpPr>
        <p:spPr>
          <a:xfrm>
            <a:off x="2890050" y="4078279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834A51-3A50-4E6B-8175-4916335A78B4}"/>
              </a:ext>
            </a:extLst>
          </p:cNvPr>
          <p:cNvSpPr txBox="1"/>
          <p:nvPr/>
        </p:nvSpPr>
        <p:spPr>
          <a:xfrm>
            <a:off x="2710030" y="4168289"/>
            <a:ext cx="4536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Example 6:       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Write f</a:t>
            </a:r>
            <a:r>
              <a:rPr lang="en-GB" sz="20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sz="20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 in factor form</a:t>
            </a:r>
            <a:endParaRPr lang="en-GB" sz="2000" b="1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B3A484-CEA8-4C99-B58D-AB07565D8A2C}"/>
              </a:ext>
            </a:extLst>
          </p:cNvPr>
          <p:cNvSpPr txBox="1"/>
          <p:nvPr/>
        </p:nvSpPr>
        <p:spPr>
          <a:xfrm>
            <a:off x="2782037" y="4847139"/>
            <a:ext cx="5811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GB" sz="28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sz="28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   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means  f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</a:t>
            </a:r>
            <a:endParaRPr lang="en-GB" sz="2800" b="1" baseline="30000" dirty="0">
              <a:solidFill>
                <a:srgbClr val="00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14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/>
      <p:bldP spid="36" grpId="0"/>
      <p:bldP spid="38" grpId="0"/>
      <p:bldP spid="39" grpId="0"/>
      <p:bldP spid="41" grpId="0"/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807478" y="14070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207034" y="809731"/>
            <a:ext cx="10392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index notation?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590ACD-EAF8-4694-8B78-22E7558DABF3}"/>
              </a:ext>
            </a:extLst>
          </p:cNvPr>
          <p:cNvSpPr txBox="1"/>
          <p:nvPr/>
        </p:nvSpPr>
        <p:spPr>
          <a:xfrm>
            <a:off x="74645" y="1431985"/>
            <a:ext cx="21060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solve problems with index notation?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76E881-909E-4891-8382-5C74F4340D7B}"/>
              </a:ext>
            </a:extLst>
          </p:cNvPr>
          <p:cNvSpPr txBox="1"/>
          <p:nvPr/>
        </p:nvSpPr>
        <p:spPr>
          <a:xfrm>
            <a:off x="2584524" y="1407656"/>
            <a:ext cx="5114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Example 7:       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Write </a:t>
            </a:r>
            <a:r>
              <a:rPr lang="en-GB" sz="20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GB" sz="2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0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 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 in index form</a:t>
            </a:r>
            <a:endParaRPr lang="en-GB" sz="2000" b="1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00982D-065A-406C-AE3E-57CBEB608D7E}"/>
              </a:ext>
            </a:extLst>
          </p:cNvPr>
          <p:cNvSpPr txBox="1"/>
          <p:nvPr/>
        </p:nvSpPr>
        <p:spPr>
          <a:xfrm>
            <a:off x="2656533" y="2086506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  means k</a:t>
            </a:r>
            <a:r>
              <a:rPr lang="en-GB" sz="28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D8FDEF-0B2F-4245-81D7-0FD9BF302833}"/>
              </a:ext>
            </a:extLst>
          </p:cNvPr>
          <p:cNvCxnSpPr/>
          <p:nvPr/>
        </p:nvCxnSpPr>
        <p:spPr>
          <a:xfrm>
            <a:off x="2764545" y="2667796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A7523A8-48D2-4630-886F-AAF19B0DFC30}"/>
              </a:ext>
            </a:extLst>
          </p:cNvPr>
          <p:cNvSpPr txBox="1"/>
          <p:nvPr/>
        </p:nvSpPr>
        <p:spPr>
          <a:xfrm>
            <a:off x="2584270" y="2757806"/>
            <a:ext cx="62554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Example 8:       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Write </a:t>
            </a:r>
            <a:r>
              <a:rPr lang="en-GB" sz="20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 </a:t>
            </a:r>
            <a:r>
              <a:rPr lang="en-GB" sz="2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0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 </a:t>
            </a:r>
            <a:r>
              <a:rPr lang="en-GB" sz="2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0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 </a:t>
            </a:r>
            <a:r>
              <a:rPr lang="en-GB" sz="2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0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 </a:t>
            </a:r>
            <a:r>
              <a:rPr lang="en-GB" sz="2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0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 in index form</a:t>
            </a:r>
            <a:endParaRPr lang="en-GB" sz="2000" b="1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EE2797-71B1-4D60-A110-E1D13C6873C9}"/>
              </a:ext>
            </a:extLst>
          </p:cNvPr>
          <p:cNvSpPr txBox="1"/>
          <p:nvPr/>
        </p:nvSpPr>
        <p:spPr>
          <a:xfrm>
            <a:off x="2656279" y="3436656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 </a:t>
            </a:r>
            <a:r>
              <a:rPr lang="en-GB" sz="28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 means m</a:t>
            </a:r>
            <a:r>
              <a:rPr lang="en-GB" sz="28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GB" sz="28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F42D6E0-BCF1-4EC4-8AD3-D9B502A25A56}"/>
              </a:ext>
            </a:extLst>
          </p:cNvPr>
          <p:cNvCxnSpPr/>
          <p:nvPr/>
        </p:nvCxnSpPr>
        <p:spPr>
          <a:xfrm>
            <a:off x="2764291" y="4017946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95832AA-BD8D-4433-870D-4CD1277E4C69}"/>
              </a:ext>
            </a:extLst>
          </p:cNvPr>
          <p:cNvSpPr txBox="1"/>
          <p:nvPr/>
        </p:nvSpPr>
        <p:spPr>
          <a:xfrm>
            <a:off x="2584271" y="4107956"/>
            <a:ext cx="62554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Example 9:       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Write </a:t>
            </a:r>
            <a:r>
              <a:rPr lang="en-GB" sz="20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3gg3ggg3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 in index form</a:t>
            </a:r>
            <a:endParaRPr lang="en-GB" sz="2000" b="1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033037-69E7-4AA8-8306-F94FFB1F37C6}"/>
              </a:ext>
            </a:extLst>
          </p:cNvPr>
          <p:cNvSpPr txBox="1"/>
          <p:nvPr/>
        </p:nvSpPr>
        <p:spPr>
          <a:xfrm>
            <a:off x="2656278" y="4786806"/>
            <a:ext cx="5811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3gg3ggg3 means  3</a:t>
            </a:r>
            <a:r>
              <a:rPr lang="en-GB" sz="28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GB" sz="2800" b="1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sz="2800" b="1" baseline="30000" dirty="0">
                <a:solidFill>
                  <a:srgbClr val="00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4725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3" grpId="0"/>
      <p:bldP spid="25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D9B2-38BC-4328-90BD-6D0A68103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Task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59284-F8E6-42A9-9DFD-78AC8FA35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000" dirty="0"/>
              <a:t>Use your notes to complete Exercises 1.2, 1.3 and 1.4 in the Dwyer Year 8 Textbook, page 3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45544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57</TotalTime>
  <Words>552</Words>
  <Application>Microsoft Office PowerPoint</Application>
  <PresentationFormat>Widescreen</PresentationFormat>
  <Paragraphs>105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Cambria Math</vt:lpstr>
      <vt:lpstr>Tw Cen MT</vt:lpstr>
      <vt:lpstr>Tw Cen MT Condensed</vt:lpstr>
      <vt:lpstr>Wingdings 3</vt:lpstr>
      <vt:lpstr>Integral</vt:lpstr>
      <vt:lpstr>Index Notation Lesson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 Notation Lesson 1</dc:title>
  <dc:creator>Magdeline Lum</dc:creator>
  <cp:lastModifiedBy>Magdeline Lum</cp:lastModifiedBy>
  <cp:revision>7</cp:revision>
  <dcterms:created xsi:type="dcterms:W3CDTF">2019-02-17T15:31:01Z</dcterms:created>
  <dcterms:modified xsi:type="dcterms:W3CDTF">2019-02-17T16:28:29Z</dcterms:modified>
</cp:coreProperties>
</file>
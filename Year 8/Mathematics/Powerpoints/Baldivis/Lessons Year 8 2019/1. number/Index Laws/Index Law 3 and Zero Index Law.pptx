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2" autoAdjust="0"/>
    <p:restoredTop sz="94660"/>
  </p:normalViewPr>
  <p:slideViewPr>
    <p:cSldViewPr snapToGrid="0">
      <p:cViewPr>
        <p:scale>
          <a:sx n="71" d="100"/>
          <a:sy n="71" d="100"/>
        </p:scale>
        <p:origin x="519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93690-B4EC-4225-A491-3D1F79027452}" type="datetimeFigureOut">
              <a:rPr lang="en-GB" smtClean="0"/>
              <a:t>18/02/2019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DA879-1190-4594-957C-076A715D5E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6401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students don’t know where to begin, give them a clue that they need to use Order of Operations to link the numbers on the vertices to the number inside the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797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students don’t know where to begin, give them a clue that they need to use Order of Operations to link the numbers on the vertices to the number inside the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7952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students don’t know where to begin, give them a clue that they need to use Order of Operations to link the numbers on the vertices to the number inside the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387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If students don’t know where to begin, give them a clue that they need to use Order of Operations to link the numbers on the vertices to the number inside the triangle.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8644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2/18/2019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EAF5-BF2F-4DEB-9C05-1F524ED5FA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Index Notation: Index Law 3 and Zero Index Law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9A2D67-2E4A-4464-BF88-5F7E0C066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8 Mathematics</a:t>
            </a:r>
          </a:p>
          <a:p>
            <a:r>
              <a:rPr lang="en-AU" dirty="0"/>
              <a:t>Mrs Parlevliet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914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8" y="786953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Index Law 3 and the Zero Index Law?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F211DF2-57A5-4BA4-B3F6-8FD95BC589D7}"/>
              </a:ext>
            </a:extLst>
          </p:cNvPr>
          <p:cNvSpPr/>
          <p:nvPr/>
        </p:nvSpPr>
        <p:spPr>
          <a:xfrm>
            <a:off x="2672462" y="2645197"/>
            <a:ext cx="8568952" cy="4104456"/>
          </a:xfrm>
          <a:prstGeom prst="roundRect">
            <a:avLst>
              <a:gd name="adj" fmla="val 716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CustomShape 1">
            <a:extLst>
              <a:ext uri="{FF2B5EF4-FFF2-40B4-BE49-F238E27FC236}">
                <a16:creationId xmlns:a16="http://schemas.microsoft.com/office/drawing/2014/main" id="{B5F78E4E-EEAE-4AE9-AD6D-C133FCD48EC9}"/>
              </a:ext>
            </a:extLst>
          </p:cNvPr>
          <p:cNvSpPr/>
          <p:nvPr/>
        </p:nvSpPr>
        <p:spPr>
          <a:xfrm>
            <a:off x="2572619" y="1555593"/>
            <a:ext cx="8568952" cy="492032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6240" rIns="90000" bIns="45000"/>
          <a:lstStyle/>
          <a:p>
            <a:pPr>
              <a:lnSpc>
                <a:spcPct val="93000"/>
              </a:lnSpc>
            </a:pPr>
            <a:r>
              <a:rPr lang="en-AU" sz="28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Left Hand Side: Starter Activity </a:t>
            </a:r>
            <a:endParaRPr lang="en-AU" sz="2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3000"/>
              </a:lnSpc>
            </a:pPr>
            <a:endParaRPr lang="en-AU" sz="3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ea typeface="DejaVu Sans"/>
              <a:cs typeface="Calibri" panose="020F0502020204030204" pitchFamily="34" charset="0"/>
            </a:endParaRPr>
          </a:p>
          <a:p>
            <a:pPr>
              <a:lnSpc>
                <a:spcPct val="93000"/>
              </a:lnSpc>
            </a:pP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1.  2</a:t>
            </a:r>
            <a:r>
              <a:rPr lang="en-AU" sz="32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2</a:t>
            </a: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 x 2</a:t>
            </a:r>
            <a:r>
              <a:rPr lang="en-AU" sz="32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3</a:t>
            </a: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 =					2.   a</a:t>
            </a:r>
            <a:r>
              <a:rPr lang="en-AU" sz="32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3  </a:t>
            </a: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x a</a:t>
            </a:r>
            <a:r>
              <a:rPr lang="en-AU" sz="32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2</a:t>
            </a: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 =					</a:t>
            </a:r>
            <a:endParaRPr lang="en-AU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3000"/>
              </a:lnSpc>
            </a:pP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 </a:t>
            </a:r>
            <a:endParaRPr lang="en-AU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3000"/>
              </a:lnSpc>
            </a:pP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 	</a:t>
            </a:r>
            <a:endParaRPr lang="en-AU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3000"/>
              </a:lnSpc>
            </a:pP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3. 2</a:t>
            </a:r>
            <a:r>
              <a:rPr lang="en-AU" sz="32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4</a:t>
            </a: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 x  2</a:t>
            </a:r>
            <a:r>
              <a:rPr lang="en-AU" sz="32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6</a:t>
            </a: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  =  			     </a:t>
            </a:r>
            <a:r>
              <a:rPr lang="en-AU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     </a:t>
            </a: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4.  17</a:t>
            </a:r>
            <a:r>
              <a:rPr lang="en-AU" sz="32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6 </a:t>
            </a: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÷ 17</a:t>
            </a:r>
            <a:r>
              <a:rPr lang="en-AU" sz="32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4  </a:t>
            </a: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=				</a:t>
            </a:r>
            <a:endParaRPr lang="en-AU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3000"/>
              </a:lnSpc>
            </a:pP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</a:t>
            </a:r>
            <a:endParaRPr lang="en-AU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3000"/>
              </a:lnSpc>
            </a:pP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	</a:t>
            </a:r>
            <a:endParaRPr lang="en-AU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93000"/>
              </a:lnSpc>
            </a:pP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5. y</a:t>
            </a:r>
            <a:r>
              <a:rPr lang="en-AU" sz="32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6</a:t>
            </a: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÷ y</a:t>
            </a:r>
            <a:r>
              <a:rPr lang="en-AU" sz="32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3</a:t>
            </a: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= 						6.  r</a:t>
            </a:r>
            <a:r>
              <a:rPr lang="en-AU" sz="32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9</a:t>
            </a: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x r</a:t>
            </a:r>
            <a:r>
              <a:rPr lang="en-AU" sz="32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3</a:t>
            </a: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 ÷ r</a:t>
            </a:r>
            <a:r>
              <a:rPr lang="en-AU" sz="3200" strike="noStrike" spc="-1" baseline="33000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6 </a:t>
            </a:r>
            <a:r>
              <a:rPr lang="en-AU" sz="32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 panose="020F0502020204030204" pitchFamily="34" charset="0"/>
                <a:ea typeface="Arial"/>
                <a:cs typeface="Calibri" panose="020F0502020204030204" pitchFamily="34" charset="0"/>
              </a:rPr>
              <a:t>=</a:t>
            </a:r>
            <a:endParaRPr lang="en-AU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8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8" y="786953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Index Law 3 and the Zero Index Law?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0003A0-229A-45A3-A21D-10D4DEB16D15}"/>
              </a:ext>
            </a:extLst>
          </p:cNvPr>
          <p:cNvSpPr txBox="1"/>
          <p:nvPr/>
        </p:nvSpPr>
        <p:spPr>
          <a:xfrm>
            <a:off x="74644" y="1408981"/>
            <a:ext cx="21969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How do I use Index Law 3?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318702-70C6-4E5F-80EC-4BD6C0748F99}"/>
              </a:ext>
            </a:extLst>
          </p:cNvPr>
          <p:cNvSpPr txBox="1"/>
          <p:nvPr/>
        </p:nvSpPr>
        <p:spPr>
          <a:xfrm>
            <a:off x="2493303" y="1257774"/>
            <a:ext cx="86193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 Law 3</a:t>
            </a:r>
            <a:endParaRPr lang="en-GB" sz="2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When a number written in index notation is raised to another power. The base remains the same and the two indices are multiplied.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B8B01BE-2DC4-4357-9680-3E1BCD405EE5}"/>
                  </a:ext>
                </a:extLst>
              </p:cNvPr>
              <p:cNvSpPr/>
              <p:nvPr/>
            </p:nvSpPr>
            <p:spPr>
              <a:xfrm>
                <a:off x="5095337" y="2999527"/>
                <a:ext cx="320295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AU" sz="36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B8B01BE-2DC4-4357-9680-3E1BCD405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337" y="2999527"/>
                <a:ext cx="320295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8A0002FA-E1DF-4E10-B55D-CB72E8841B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063" b="10390"/>
          <a:stretch/>
        </p:blipFill>
        <p:spPr>
          <a:xfrm>
            <a:off x="2493302" y="4301706"/>
            <a:ext cx="9395171" cy="13837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E94B21-5475-4A81-A638-06E24DD4E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025" y="4297418"/>
            <a:ext cx="6931954" cy="42404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283B776-CF73-4CB8-96F9-D500A429C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025" y="4748132"/>
            <a:ext cx="6931954" cy="4240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4783455-F9D0-4510-BEEA-D74E22ABC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025" y="5175588"/>
            <a:ext cx="8202911" cy="5098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0FEB34-6B21-494C-AEAC-E4F618CF1500}"/>
              </a:ext>
            </a:extLst>
          </p:cNvPr>
          <p:cNvSpPr txBox="1"/>
          <p:nvPr/>
        </p:nvSpPr>
        <p:spPr>
          <a:xfrm>
            <a:off x="2432649" y="3685928"/>
            <a:ext cx="3979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39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97377-0169-4F87-A28F-3B95F1615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Task: We Do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62E8C5E6-4329-45C4-A38E-10F0C8437D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4963"/>
          <a:stretch/>
        </p:blipFill>
        <p:spPr>
          <a:xfrm>
            <a:off x="5760032" y="2518128"/>
            <a:ext cx="6129896" cy="71760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ontent Placeholder 21">
                <a:extLst>
                  <a:ext uri="{FF2B5EF4-FFF2-40B4-BE49-F238E27FC236}">
                    <a16:creationId xmlns:a16="http://schemas.microsoft.com/office/drawing/2014/main" id="{43552D22-DDDA-4CFE-8C43-519F482585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005" y="2581465"/>
                <a:ext cx="3792537" cy="5909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AU" sz="3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A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en-A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AU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AU" sz="36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2" name="Content Placeholder 21">
                <a:extLst>
                  <a:ext uri="{FF2B5EF4-FFF2-40B4-BE49-F238E27FC236}">
                    <a16:creationId xmlns:a16="http://schemas.microsoft.com/office/drawing/2014/main" id="{43552D22-DDDA-4CFE-8C43-519F482585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005" y="2581465"/>
                <a:ext cx="3792537" cy="5909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161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D3831-2285-45E7-8B38-3A5163485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AU"/>
              <a:t>Task: You Do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5A4C72-5BD1-4271-861D-4956B5277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8693"/>
          <a:stretch/>
        </p:blipFill>
        <p:spPr>
          <a:xfrm>
            <a:off x="874579" y="2511474"/>
            <a:ext cx="10442842" cy="19650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A1B5E1D-754D-4787-9871-370CC35EA45C}"/>
                  </a:ext>
                </a:extLst>
              </p:cNvPr>
              <p:cNvSpPr/>
              <p:nvPr/>
            </p:nvSpPr>
            <p:spPr>
              <a:xfrm>
                <a:off x="4282685" y="1761666"/>
                <a:ext cx="320295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AU" sz="36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A1B5E1D-754D-4787-9871-370CC35EA4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685" y="1761666"/>
                <a:ext cx="320295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787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9823D-7577-48DE-8D98-3987605B5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875671" cy="1778422"/>
          </a:xfrm>
        </p:spPr>
        <p:txBody>
          <a:bodyPr>
            <a:normAutofit fontScale="90000"/>
          </a:bodyPr>
          <a:lstStyle/>
          <a:p>
            <a:r>
              <a:rPr lang="en-AU" sz="4600" dirty="0">
                <a:solidFill>
                  <a:srgbClr val="FFFFFF"/>
                </a:solidFill>
              </a:rPr>
              <a:t>How Well Do You Understand Index Law 3?</a:t>
            </a:r>
            <a:endParaRPr lang="en-GB" sz="4600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1FDFE1-D0C6-4E4A-A294-773265A83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2024" y="2285682"/>
            <a:ext cx="3124348" cy="3932238"/>
          </a:xfrm>
          <a:prstGeom prst="rect">
            <a:avLst/>
          </a:prstGeom>
        </p:spPr>
      </p:pic>
      <p:pic>
        <p:nvPicPr>
          <p:cNvPr id="7" name="Content Placeholder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5B30DB89-0EE3-4E99-A761-0DE727606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520" y="640080"/>
            <a:ext cx="4308881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078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8" y="786953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Index Law 3 and the Zero Index Law?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0003A0-229A-45A3-A21D-10D4DEB16D15}"/>
              </a:ext>
            </a:extLst>
          </p:cNvPr>
          <p:cNvSpPr txBox="1"/>
          <p:nvPr/>
        </p:nvSpPr>
        <p:spPr>
          <a:xfrm>
            <a:off x="74644" y="1408981"/>
            <a:ext cx="21969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How do I use the Zero Index Law?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318702-70C6-4E5F-80EC-4BD6C0748F99}"/>
              </a:ext>
            </a:extLst>
          </p:cNvPr>
          <p:cNvSpPr txBox="1"/>
          <p:nvPr/>
        </p:nvSpPr>
        <p:spPr>
          <a:xfrm>
            <a:off x="2493303" y="1257774"/>
            <a:ext cx="86193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Zero Index Law</a:t>
            </a:r>
            <a:endParaRPr lang="en-GB" sz="2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Any value raised to the power of zero equals 1.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B8B01BE-2DC4-4357-9680-3E1BCD405EE5}"/>
                  </a:ext>
                </a:extLst>
              </p:cNvPr>
              <p:cNvSpPr/>
              <p:nvPr/>
            </p:nvSpPr>
            <p:spPr>
              <a:xfrm>
                <a:off x="5101088" y="2221037"/>
                <a:ext cx="320295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AU" sz="36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6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B8B01BE-2DC4-4357-9680-3E1BCD405E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088" y="2221037"/>
                <a:ext cx="3202958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C0FEB34-6B21-494C-AEAC-E4F618CF1500}"/>
              </a:ext>
            </a:extLst>
          </p:cNvPr>
          <p:cNvSpPr txBox="1"/>
          <p:nvPr/>
        </p:nvSpPr>
        <p:spPr>
          <a:xfrm>
            <a:off x="2485649" y="2739289"/>
            <a:ext cx="39796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9C06CEC-6DD6-4E19-A3C1-6F348C72A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5649" y="3262509"/>
            <a:ext cx="9388140" cy="24966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BEA48CA-FDC1-43DD-A495-EDA12107CEAC}"/>
              </a:ext>
            </a:extLst>
          </p:cNvPr>
          <p:cNvSpPr/>
          <p:nvPr/>
        </p:nvSpPr>
        <p:spPr>
          <a:xfrm>
            <a:off x="2616684" y="4129327"/>
            <a:ext cx="666351" cy="4648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07E857-5395-4BEE-A212-81B63B39AA15}"/>
              </a:ext>
            </a:extLst>
          </p:cNvPr>
          <p:cNvSpPr/>
          <p:nvPr/>
        </p:nvSpPr>
        <p:spPr>
          <a:xfrm>
            <a:off x="3343484" y="4129327"/>
            <a:ext cx="1170206" cy="591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9FB0CE8-C09F-4FAA-9828-3B1F87D534B8}"/>
              </a:ext>
            </a:extLst>
          </p:cNvPr>
          <p:cNvSpPr/>
          <p:nvPr/>
        </p:nvSpPr>
        <p:spPr>
          <a:xfrm>
            <a:off x="3234859" y="4790650"/>
            <a:ext cx="932896" cy="591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7A416D-F5CB-400D-A303-5AF505E06D92}"/>
              </a:ext>
            </a:extLst>
          </p:cNvPr>
          <p:cNvSpPr/>
          <p:nvPr/>
        </p:nvSpPr>
        <p:spPr>
          <a:xfrm>
            <a:off x="3234859" y="5451973"/>
            <a:ext cx="932896" cy="4957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2D42883-B16E-455D-B971-66EF4E0444F3}"/>
              </a:ext>
            </a:extLst>
          </p:cNvPr>
          <p:cNvSpPr/>
          <p:nvPr/>
        </p:nvSpPr>
        <p:spPr>
          <a:xfrm>
            <a:off x="6922891" y="4199052"/>
            <a:ext cx="932896" cy="591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935DAF-AEE9-4F44-B662-8225A50D44F3}"/>
              </a:ext>
            </a:extLst>
          </p:cNvPr>
          <p:cNvSpPr/>
          <p:nvPr/>
        </p:nvSpPr>
        <p:spPr>
          <a:xfrm>
            <a:off x="7855787" y="4030024"/>
            <a:ext cx="932896" cy="7606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A028E8-7067-4CEF-BB8A-9F1F46FDD18F}"/>
              </a:ext>
            </a:extLst>
          </p:cNvPr>
          <p:cNvSpPr/>
          <p:nvPr/>
        </p:nvSpPr>
        <p:spPr>
          <a:xfrm>
            <a:off x="7927949" y="5171846"/>
            <a:ext cx="932896" cy="3633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4565119-100F-488F-A4F7-292706858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3950" y="6105880"/>
            <a:ext cx="8141652" cy="436337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CDAA8666-690A-4E20-8923-EFB53D41384F}"/>
              </a:ext>
            </a:extLst>
          </p:cNvPr>
          <p:cNvSpPr/>
          <p:nvPr/>
        </p:nvSpPr>
        <p:spPr>
          <a:xfrm>
            <a:off x="6922891" y="4797845"/>
            <a:ext cx="5161725" cy="477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395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" grpId="0"/>
      <p:bldP spid="5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6732A-3FF2-4581-B023-0CCB419F4C17}"/>
              </a:ext>
            </a:extLst>
          </p:cNvPr>
          <p:cNvSpPr txBox="1"/>
          <p:nvPr/>
        </p:nvSpPr>
        <p:spPr>
          <a:xfrm>
            <a:off x="10384272" y="258042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Index Notation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85288A-4CE0-4CC8-A16B-D6C8F38EAA17}"/>
              </a:ext>
            </a:extLst>
          </p:cNvPr>
          <p:cNvSpPr txBox="1"/>
          <p:nvPr/>
        </p:nvSpPr>
        <p:spPr>
          <a:xfrm>
            <a:off x="178608" y="786953"/>
            <a:ext cx="10449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 – What is Index Law 3 and the Zero Index Law?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0003A0-229A-45A3-A21D-10D4DEB16D15}"/>
              </a:ext>
            </a:extLst>
          </p:cNvPr>
          <p:cNvSpPr txBox="1"/>
          <p:nvPr/>
        </p:nvSpPr>
        <p:spPr>
          <a:xfrm>
            <a:off x="123048" y="1388919"/>
            <a:ext cx="21368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How do I use the Zero Index Law?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38052D4-F11A-4C70-930D-39AC4666B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163" y="1345558"/>
            <a:ext cx="9373308" cy="3691138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7FF81AE2-BD03-411D-A223-58A6D7DED9F3}"/>
              </a:ext>
            </a:extLst>
          </p:cNvPr>
          <p:cNvSpPr/>
          <p:nvPr/>
        </p:nvSpPr>
        <p:spPr>
          <a:xfrm>
            <a:off x="3018701" y="3181296"/>
            <a:ext cx="8852864" cy="389210"/>
          </a:xfrm>
          <a:prstGeom prst="rect">
            <a:avLst/>
          </a:prstGeom>
          <a:solidFill>
            <a:srgbClr val="E4EBEE"/>
          </a:solidFill>
          <a:ln>
            <a:solidFill>
              <a:srgbClr val="E4EB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4B332C-C54D-45D9-A8AC-8FD6DC2026A6}"/>
              </a:ext>
            </a:extLst>
          </p:cNvPr>
          <p:cNvSpPr/>
          <p:nvPr/>
        </p:nvSpPr>
        <p:spPr>
          <a:xfrm>
            <a:off x="3018701" y="3629531"/>
            <a:ext cx="8852864" cy="674069"/>
          </a:xfrm>
          <a:prstGeom prst="rect">
            <a:avLst/>
          </a:prstGeom>
          <a:solidFill>
            <a:srgbClr val="E4EBEE"/>
          </a:solidFill>
          <a:ln>
            <a:solidFill>
              <a:srgbClr val="E4EB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2D3EEE-A5D8-461D-9250-9E19D2485AC5}"/>
              </a:ext>
            </a:extLst>
          </p:cNvPr>
          <p:cNvSpPr/>
          <p:nvPr/>
        </p:nvSpPr>
        <p:spPr>
          <a:xfrm>
            <a:off x="3018701" y="4353598"/>
            <a:ext cx="8852864" cy="633099"/>
          </a:xfrm>
          <a:prstGeom prst="rect">
            <a:avLst/>
          </a:prstGeom>
          <a:solidFill>
            <a:srgbClr val="E4EBEE"/>
          </a:solidFill>
          <a:ln>
            <a:solidFill>
              <a:srgbClr val="E4EB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031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97377-0169-4F87-A28F-3B95F1615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Task: You Do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159B03-13BC-46AD-8A39-F8A54163D1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9" y="2286000"/>
                <a:ext cx="3791711" cy="3931920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AU" sz="3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AU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GB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159B03-13BC-46AD-8A39-F8A54163D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9" y="2286000"/>
                <a:ext cx="3791711" cy="39319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3AA7F3D-D977-4FBE-8867-0CC6C88E18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4" r="48432" b="29663"/>
          <a:stretch/>
        </p:blipFill>
        <p:spPr>
          <a:xfrm>
            <a:off x="5839969" y="2658292"/>
            <a:ext cx="6113727" cy="126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21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9823D-7577-48DE-8D98-3987605B5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875671" cy="1778422"/>
          </a:xfrm>
        </p:spPr>
        <p:txBody>
          <a:bodyPr>
            <a:normAutofit fontScale="90000"/>
          </a:bodyPr>
          <a:lstStyle/>
          <a:p>
            <a:r>
              <a:rPr lang="en-AU" sz="4600" dirty="0">
                <a:solidFill>
                  <a:srgbClr val="FFFFFF"/>
                </a:solidFill>
              </a:rPr>
              <a:t>How Well Do You Understand The Zero Index Law?</a:t>
            </a:r>
            <a:endParaRPr lang="en-GB" sz="4600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5B30DB89-0EE3-4E99-A761-0DE727606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520" y="640080"/>
            <a:ext cx="4308881" cy="557784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5F8A9D-E13A-48E0-95A1-74D2E6EB5D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22772" y="2363638"/>
            <a:ext cx="3020100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23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7CF75-8ACD-47C6-B8B3-6378BAD5C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33C72-17E0-4140-9461-EB20EDC0D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AU" sz="4000" dirty="0">
                <a:latin typeface="Calibri" panose="020F0502020204030204" pitchFamily="34" charset="0"/>
                <a:cs typeface="Calibri" panose="020F0502020204030204" pitchFamily="34" charset="0"/>
              </a:rPr>
              <a:t> Complete worksheet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4000" dirty="0">
                <a:latin typeface="Calibri" panose="020F0502020204030204" pitchFamily="34" charset="0"/>
                <a:cs typeface="Calibri" panose="020F0502020204030204" pitchFamily="34" charset="0"/>
              </a:rPr>
              <a:t> Complete summary</a:t>
            </a:r>
            <a:endParaRPr lang="en-GB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0477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372</Words>
  <Application>Microsoft Office PowerPoint</Application>
  <PresentationFormat>Widescreen</PresentationFormat>
  <Paragraphs>66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Tw Cen MT</vt:lpstr>
      <vt:lpstr>Tw Cen MT Condensed</vt:lpstr>
      <vt:lpstr>Wingdings 3</vt:lpstr>
      <vt:lpstr>Integral</vt:lpstr>
      <vt:lpstr>Index Notation: Index Law 3 and Zero Index Law</vt:lpstr>
      <vt:lpstr>PowerPoint Presentation</vt:lpstr>
      <vt:lpstr>PowerPoint Presentation</vt:lpstr>
      <vt:lpstr>Task: We Do</vt:lpstr>
      <vt:lpstr>Task: You Do</vt:lpstr>
      <vt:lpstr>How Well Do You Understand Index Law 3?</vt:lpstr>
      <vt:lpstr>PowerPoint Presentation</vt:lpstr>
      <vt:lpstr>PowerPoint Presentation</vt:lpstr>
      <vt:lpstr>Task: You Do</vt:lpstr>
      <vt:lpstr>How Well Do You Understand The Zero Index Law?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 Notation: Index Law 3 and Zero Index Law</dc:title>
  <dc:creator>Magdeline Lum</dc:creator>
  <cp:lastModifiedBy>Magdeline Lum</cp:lastModifiedBy>
  <cp:revision>2</cp:revision>
  <dcterms:created xsi:type="dcterms:W3CDTF">2019-02-18T16:15:22Z</dcterms:created>
  <dcterms:modified xsi:type="dcterms:W3CDTF">2019-02-18T16:23:10Z</dcterms:modified>
</cp:coreProperties>
</file>
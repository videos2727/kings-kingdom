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74" r:id="rId4"/>
    <p:sldId id="267" r:id="rId5"/>
    <p:sldId id="275" r:id="rId6"/>
    <p:sldId id="276" r:id="rId7"/>
    <p:sldId id="278" r:id="rId8"/>
    <p:sldId id="268" r:id="rId9"/>
    <p:sldId id="27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2" autoAdjust="0"/>
    <p:restoredTop sz="73419" autoAdjust="0"/>
  </p:normalViewPr>
  <p:slideViewPr>
    <p:cSldViewPr snapToGrid="0">
      <p:cViewPr>
        <p:scale>
          <a:sx n="67" d="100"/>
          <a:sy n="67" d="100"/>
        </p:scale>
        <p:origin x="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C9242-63F0-4B78-A48D-4B68FBD1F34B}" type="datetimeFigureOut">
              <a:rPr lang="en-GB" smtClean="0"/>
              <a:t>18/02/2019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4F062-FF18-43A8-8447-516786B9B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50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7516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may need to explain that the variables, a, m, and n represent integer values, particularly if you are teaching a general class of students with mixed abilities.</a:t>
            </a:r>
          </a:p>
          <a:p>
            <a:endParaRPr lang="en-AU" dirty="0"/>
          </a:p>
          <a:p>
            <a:r>
              <a:rPr lang="en-AU" dirty="0"/>
              <a:t>Terms in red indicate that they should be added to the glossary or formula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666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may need to explain that the variables, a, m, and n represent integer values, particularly if you are teaching a general class of students with mixed abilities.</a:t>
            </a:r>
          </a:p>
          <a:p>
            <a:endParaRPr lang="en-AU" dirty="0"/>
          </a:p>
          <a:p>
            <a:r>
              <a:rPr lang="en-AU" dirty="0"/>
              <a:t>Terms in red indicate that they should be added to the glossary or formula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022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586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C519-C024-4A2A-81B7-09C6D6C96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Index Notation: Index Law 1 and Index Law 2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86BC2-EBAA-4160-A423-FC9ABA819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8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852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Law 1 and Index Law 2?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F211DF2-57A5-4BA4-B3F6-8FD95BC589D7}"/>
              </a:ext>
            </a:extLst>
          </p:cNvPr>
          <p:cNvSpPr/>
          <p:nvPr/>
        </p:nvSpPr>
        <p:spPr>
          <a:xfrm>
            <a:off x="2672462" y="2645197"/>
            <a:ext cx="8568952" cy="410445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E26C9361-FCE9-4B83-A2EC-AEA535DCE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908" y="1352908"/>
            <a:ext cx="5505091" cy="550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Law 1 and Index Law 2?</a:t>
            </a: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01589AB3-C2A4-478E-961B-8AD217108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661" y="1303330"/>
            <a:ext cx="5499340" cy="549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3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How do I use Index Law 1 and Index Law 2?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745018" y="1494196"/>
            <a:ext cx="85689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Law 1</a:t>
            </a:r>
            <a:endParaRPr lang="en-GB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When multiplying numbers written using powers, if the base number is the same, add the indices.</a:t>
            </a:r>
          </a:p>
          <a:p>
            <a:endParaRPr lang="en-GB" sz="3600" b="1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663AC-29E1-4922-9E3F-C09C59D90BD5}"/>
              </a:ext>
            </a:extLst>
          </p:cNvPr>
          <p:cNvSpPr/>
          <p:nvPr/>
        </p:nvSpPr>
        <p:spPr>
          <a:xfrm>
            <a:off x="5636323" y="2844225"/>
            <a:ext cx="27863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GB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  </a:t>
            </a:r>
            <a:r>
              <a:rPr lang="en-GB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n-GB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m+n</a:t>
            </a:r>
            <a:endParaRPr lang="en-GB" sz="3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A0CA5-45EA-4F0C-9B15-80F780BBCDC2}"/>
              </a:ext>
            </a:extLst>
          </p:cNvPr>
          <p:cNvSpPr txBox="1"/>
          <p:nvPr/>
        </p:nvSpPr>
        <p:spPr>
          <a:xfrm>
            <a:off x="2672460" y="3581927"/>
            <a:ext cx="8568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Example 1: Write 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GB" sz="28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 x 7</a:t>
            </a:r>
            <a:r>
              <a:rPr lang="en-GB" sz="28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as a single power of seven</a:t>
            </a:r>
            <a:r>
              <a:rPr lang="en-GB" sz="2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2C9EB-6BDE-412F-91D7-B6F4CDF53131}"/>
              </a:ext>
            </a:extLst>
          </p:cNvPr>
          <p:cNvSpPr txBox="1"/>
          <p:nvPr/>
        </p:nvSpPr>
        <p:spPr>
          <a:xfrm>
            <a:off x="2745018" y="4166643"/>
            <a:ext cx="856895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GB" sz="32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GB" sz="32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n-GB" sz="32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GB" sz="32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 </a:t>
            </a:r>
            <a:r>
              <a:rPr lang="en-GB" sz="32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means  (7 x 7 x 7 x 7 x 7) x (7 x 7 x 7)</a:t>
            </a:r>
          </a:p>
          <a:p>
            <a:endParaRPr lang="en-GB" sz="3200" b="1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800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3200" b="1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C12300-9192-4CCC-B444-3F9F9AD2C4BA}"/>
              </a:ext>
            </a:extLst>
          </p:cNvPr>
          <p:cNvCxnSpPr/>
          <p:nvPr/>
        </p:nvCxnSpPr>
        <p:spPr>
          <a:xfrm>
            <a:off x="2672461" y="4773204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F129754-C9AA-40E8-A2B7-DE617C537AF9}"/>
              </a:ext>
            </a:extLst>
          </p:cNvPr>
          <p:cNvSpPr/>
          <p:nvPr/>
        </p:nvSpPr>
        <p:spPr>
          <a:xfrm>
            <a:off x="2745018" y="5089972"/>
            <a:ext cx="8568937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5 + 3 = 8 factors of 7 in the product, so the product is 7</a:t>
            </a:r>
            <a:r>
              <a:rPr lang="en-GB" sz="2400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GB" sz="24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GB" sz="2400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800" b="1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37709F-5DFD-40B8-8B17-6449EEAE6467}"/>
              </a:ext>
            </a:extLst>
          </p:cNvPr>
          <p:cNvSpPr/>
          <p:nvPr/>
        </p:nvSpPr>
        <p:spPr>
          <a:xfrm>
            <a:off x="2745004" y="5748318"/>
            <a:ext cx="6612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add the two indices to get the answer: </a:t>
            </a:r>
            <a:r>
              <a:rPr lang="en-GB" sz="24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GB" sz="24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GB" sz="24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×7</a:t>
            </a:r>
            <a:r>
              <a:rPr lang="en-GB" sz="24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=7</a:t>
            </a:r>
            <a:r>
              <a:rPr lang="en-GB" sz="24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C7503-BA09-4EA7-A838-633DB5066E27}"/>
              </a:ext>
            </a:extLst>
          </p:cNvPr>
          <p:cNvSpPr txBox="1"/>
          <p:nvPr/>
        </p:nvSpPr>
        <p:spPr>
          <a:xfrm>
            <a:off x="74645" y="1494196"/>
            <a:ext cx="2197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How do I use Index Law 1?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D3DB1E-8403-4AF2-9AE4-F018DDB0A66D}"/>
              </a:ext>
            </a:extLst>
          </p:cNvPr>
          <p:cNvSpPr txBox="1"/>
          <p:nvPr/>
        </p:nvSpPr>
        <p:spPr>
          <a:xfrm>
            <a:off x="9484158" y="237424"/>
            <a:ext cx="2529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4451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9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F391-F3B1-4AD5-9DA0-040E1240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 (Left Hand Side)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9859C-513C-445C-A03D-CCCBC69ED4F7}"/>
              </a:ext>
            </a:extLst>
          </p:cNvPr>
          <p:cNvSpPr txBox="1"/>
          <p:nvPr/>
        </p:nvSpPr>
        <p:spPr>
          <a:xfrm>
            <a:off x="694761" y="2061710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itchFamily="34" charset="0"/>
                <a:cs typeface="Arial" pitchFamily="34" charset="0"/>
              </a:rPr>
              <a:t>Question 1:      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Write 5</a:t>
            </a:r>
            <a:r>
              <a:rPr lang="en-GB" sz="2400" b="1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 x 5</a:t>
            </a:r>
            <a:r>
              <a:rPr lang="en-GB" sz="2400" b="1" baseline="30000" dirty="0">
                <a:latin typeface="Arial" pitchFamily="34" charset="0"/>
                <a:cs typeface="Arial" pitchFamily="34" charset="0"/>
              </a:rPr>
              <a:t>3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 as a single power of 5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6362D-0434-4924-80BA-E400ACAC8F12}"/>
              </a:ext>
            </a:extLst>
          </p:cNvPr>
          <p:cNvSpPr txBox="1"/>
          <p:nvPr/>
        </p:nvSpPr>
        <p:spPr>
          <a:xfrm>
            <a:off x="2881869" y="2512259"/>
            <a:ext cx="1282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 </a:t>
            </a: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2+3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CE185-4C2E-4DA7-83DB-D47D99DF7DBF}"/>
              </a:ext>
            </a:extLst>
          </p:cNvPr>
          <p:cNvSpPr txBox="1"/>
          <p:nvPr/>
        </p:nvSpPr>
        <p:spPr>
          <a:xfrm>
            <a:off x="694761" y="3780839"/>
            <a:ext cx="8442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itchFamily="34" charset="0"/>
                <a:cs typeface="Arial" pitchFamily="34" charset="0"/>
              </a:rPr>
              <a:t>Question 2:      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Write b</a:t>
            </a:r>
            <a:r>
              <a:rPr lang="en-GB" sz="2400" b="1" baseline="30000" dirty="0"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 x b</a:t>
            </a:r>
            <a:r>
              <a:rPr lang="en-GB" sz="2400" b="1" baseline="30000" dirty="0">
                <a:latin typeface="Arial" pitchFamily="34" charset="0"/>
                <a:cs typeface="Arial" pitchFamily="34" charset="0"/>
              </a:rPr>
              <a:t>4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 as a single power of 5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4B983-2F0F-4051-BB07-8014311ABA98}"/>
              </a:ext>
            </a:extLst>
          </p:cNvPr>
          <p:cNvSpPr txBox="1"/>
          <p:nvPr/>
        </p:nvSpPr>
        <p:spPr>
          <a:xfrm>
            <a:off x="2881869" y="5152078"/>
            <a:ext cx="8568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3+4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5AF857-2924-47D5-974D-6A47FB5A11EE}"/>
              </a:ext>
            </a:extLst>
          </p:cNvPr>
          <p:cNvCxnSpPr/>
          <p:nvPr/>
        </p:nvCxnSpPr>
        <p:spPr>
          <a:xfrm>
            <a:off x="694761" y="3712588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575E7D-A2C7-4015-9475-D6207BD5413F}"/>
              </a:ext>
            </a:extLst>
          </p:cNvPr>
          <p:cNvSpPr txBox="1"/>
          <p:nvPr/>
        </p:nvSpPr>
        <p:spPr>
          <a:xfrm>
            <a:off x="2881869" y="4283220"/>
            <a:ext cx="8568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(b x b x b) x (b x b x b x b)</a:t>
            </a:r>
          </a:p>
        </p:txBody>
      </p:sp>
    </p:spTree>
    <p:extLst>
      <p:ext uri="{BB962C8B-B14F-4D97-AF65-F5344CB8AC3E}">
        <p14:creationId xmlns:p14="http://schemas.microsoft.com/office/powerpoint/2010/main" val="97238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C9C85-8052-43B5-8F99-A269F52E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Task: Dwyer 8 Text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50D21C76-5497-4081-918D-36B3C8B1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711" y="548301"/>
            <a:ext cx="6369040" cy="3073061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CD5804F-1C83-48B9-B5D1-BBCD8629D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2286000"/>
            <a:ext cx="3792537" cy="1781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Index Law 1</a:t>
            </a:r>
          </a:p>
          <a:p>
            <a:pPr marL="0" indent="0">
              <a:buNone/>
            </a:pPr>
            <a:endParaRPr lang="en-GB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GB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GB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  </a:t>
            </a:r>
            <a:r>
              <a:rPr lang="en-GB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n-GB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m+n</a:t>
            </a:r>
            <a:endParaRPr lang="en-GB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683CD-FDA9-4F3D-BB95-0DFC62F66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711" y="4384535"/>
            <a:ext cx="6369040" cy="141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7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How do I use Index Law 1 and Index Law 2?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745018" y="1494196"/>
            <a:ext cx="85689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Law 2</a:t>
            </a:r>
            <a:endParaRPr lang="en-GB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When multiplying numbers written using powers, if the base number is the same, add the indices.</a:t>
            </a:r>
          </a:p>
          <a:p>
            <a:endParaRPr lang="en-GB" sz="3600" b="1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B7663AC-29E1-4922-9E3F-C09C59D90BD5}"/>
                  </a:ext>
                </a:extLst>
              </p:cNvPr>
              <p:cNvSpPr/>
              <p:nvPr/>
            </p:nvSpPr>
            <p:spPr>
              <a:xfrm>
                <a:off x="5557839" y="2844225"/>
                <a:ext cx="286482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32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  <a:r>
                  <a:rPr lang="en-GB" sz="3200" b="1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m</a:t>
                </a:r>
                <a:r>
                  <a:rPr lang="en-GB" sz="32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  <a:r>
                  <a:rPr lang="en-GB" sz="3200" b="1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n  </a:t>
                </a:r>
                <a:r>
                  <a:rPr lang="en-GB" sz="32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= a</a:t>
                </a:r>
                <a:r>
                  <a:rPr lang="en-GB" sz="3200" b="1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m-n</a:t>
                </a:r>
                <a:endPara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B7663AC-29E1-4922-9E3F-C09C59D90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839" y="2844225"/>
                <a:ext cx="2864824" cy="584775"/>
              </a:xfrm>
              <a:prstGeom prst="rect">
                <a:avLst/>
              </a:prstGeom>
              <a:blipFill>
                <a:blip r:embed="rId3"/>
                <a:stretch>
                  <a:fillRect l="-5532" t="-13542" r="-213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4C7503-BA09-4EA7-A838-633DB5066E27}"/>
              </a:ext>
            </a:extLst>
          </p:cNvPr>
          <p:cNvSpPr txBox="1"/>
          <p:nvPr/>
        </p:nvSpPr>
        <p:spPr>
          <a:xfrm>
            <a:off x="74645" y="1494196"/>
            <a:ext cx="2197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How do I use Index Law 2?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D3DB1E-8403-4AF2-9AE4-F018DDB0A66D}"/>
              </a:ext>
            </a:extLst>
          </p:cNvPr>
          <p:cNvSpPr txBox="1"/>
          <p:nvPr/>
        </p:nvSpPr>
        <p:spPr>
          <a:xfrm>
            <a:off x="9484158" y="237424"/>
            <a:ext cx="2529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0784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807244" y="221456"/>
            <a:ext cx="3643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Law 1 and Index Law 2?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672460" y="1303330"/>
            <a:ext cx="453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itchFamily="34" charset="0"/>
                <a:cs typeface="Arial" pitchFamily="34" charset="0"/>
              </a:rPr>
              <a:t>Example 4:      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Simplify 6</a:t>
            </a:r>
            <a:r>
              <a:rPr lang="en-GB" sz="2400" b="1" baseline="30000" dirty="0">
                <a:latin typeface="Arial" pitchFamily="34" charset="0"/>
                <a:cs typeface="Arial" pitchFamily="34" charset="0"/>
              </a:rPr>
              <a:t>7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÷ 6</a:t>
            </a:r>
            <a:r>
              <a:rPr lang="en-GB" sz="2400" b="1" baseline="30000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718021" y="1775919"/>
            <a:ext cx="8568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÷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 </a:t>
            </a:r>
            <a:r>
              <a:rPr lang="en-GB" sz="2400" b="1" u="sng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(6 x 6 x 6 x 6 x 6 x 6 x 6)</a:t>
            </a: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            (6 x 6 x 6 x 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8C9C6D-12E5-4CED-AD28-1A67AB1C5E40}"/>
              </a:ext>
            </a:extLst>
          </p:cNvPr>
          <p:cNvSpPr txBox="1"/>
          <p:nvPr/>
        </p:nvSpPr>
        <p:spPr>
          <a:xfrm>
            <a:off x="74645" y="1494196"/>
            <a:ext cx="2197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How do I use Index Law 2?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F30EF-D3CC-4A87-93DF-F738DEE42592}"/>
              </a:ext>
            </a:extLst>
          </p:cNvPr>
          <p:cNvSpPr txBox="1"/>
          <p:nvPr/>
        </p:nvSpPr>
        <p:spPr>
          <a:xfrm>
            <a:off x="9484158" y="237424"/>
            <a:ext cx="2529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695A65-E15C-4C77-8132-755D16BF224E}"/>
              </a:ext>
            </a:extLst>
          </p:cNvPr>
          <p:cNvSpPr txBox="1"/>
          <p:nvPr/>
        </p:nvSpPr>
        <p:spPr>
          <a:xfrm>
            <a:off x="2672462" y="2598003"/>
            <a:ext cx="9223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÷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 </a:t>
            </a:r>
            <a:r>
              <a:rPr lang="en-GB" sz="2400" b="1" u="sng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(6 x 6 x 6 x </a:t>
            </a:r>
            <a:r>
              <a:rPr lang="en-GB" sz="2400" b="1" u="sng" strike="sngStrike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 x 6 x 6 x 6</a:t>
            </a:r>
            <a:r>
              <a:rPr lang="en-GB" sz="2400" b="1" u="sng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GB" sz="16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(Four factors cancel out)</a:t>
            </a:r>
            <a:endParaRPr lang="en-GB" sz="1600" b="1" u="sng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            (</a:t>
            </a:r>
            <a:r>
              <a:rPr lang="en-GB" sz="2400" b="1" strike="sngStrike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 x 6 x 6 x 6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265B1A-9612-48B4-8DAC-34C3D4BB9BC5}"/>
              </a:ext>
            </a:extLst>
          </p:cNvPr>
          <p:cNvSpPr txBox="1"/>
          <p:nvPr/>
        </p:nvSpPr>
        <p:spPr>
          <a:xfrm>
            <a:off x="2672461" y="3429000"/>
            <a:ext cx="9223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=  (6 x 6 x 6)		        </a:t>
            </a:r>
            <a:r>
              <a:rPr lang="en-GB" sz="16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(This leaves 7 – 4 = 3  factors left)</a:t>
            </a:r>
            <a:endParaRPr lang="en-GB" sz="1600" b="1" u="sng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                     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277715-9E5C-4A61-A0DA-D480DDBAC7A1}"/>
              </a:ext>
            </a:extLst>
          </p:cNvPr>
          <p:cNvSpPr txBox="1"/>
          <p:nvPr/>
        </p:nvSpPr>
        <p:spPr>
          <a:xfrm>
            <a:off x="2672460" y="3922599"/>
            <a:ext cx="922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=  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7-4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FA8AC4-2185-48C9-BB21-73BB317B2DD9}"/>
              </a:ext>
            </a:extLst>
          </p:cNvPr>
          <p:cNvSpPr txBox="1"/>
          <p:nvPr/>
        </p:nvSpPr>
        <p:spPr>
          <a:xfrm>
            <a:off x="2672460" y="4352263"/>
            <a:ext cx="922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=  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3975D-84FC-428C-A537-4CC4A9F7FB96}"/>
              </a:ext>
            </a:extLst>
          </p:cNvPr>
          <p:cNvSpPr txBox="1"/>
          <p:nvPr/>
        </p:nvSpPr>
        <p:spPr>
          <a:xfrm>
            <a:off x="2672460" y="4802380"/>
            <a:ext cx="7828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itchFamily="34" charset="0"/>
                <a:cs typeface="Arial" pitchFamily="34" charset="0"/>
              </a:rPr>
              <a:t>Example 5:      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Write 5</a:t>
            </a:r>
            <a:r>
              <a:rPr lang="en-GB" sz="2400" b="1" baseline="30000" dirty="0">
                <a:latin typeface="Arial" pitchFamily="34" charset="0"/>
                <a:cs typeface="Arial" pitchFamily="34" charset="0"/>
              </a:rPr>
              <a:t>6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÷ 5</a:t>
            </a:r>
            <a:r>
              <a:rPr lang="en-GB" sz="2400" b="1" baseline="30000" dirty="0">
                <a:latin typeface="Arial" pitchFamily="34" charset="0"/>
                <a:cs typeface="Arial" pitchFamily="34" charset="0"/>
              </a:rPr>
              <a:t>4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 as a single power of 5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297CE-1767-4C99-8572-BE867A366041}"/>
              </a:ext>
            </a:extLst>
          </p:cNvPr>
          <p:cNvSpPr txBox="1"/>
          <p:nvPr/>
        </p:nvSpPr>
        <p:spPr>
          <a:xfrm>
            <a:off x="4772025" y="5258438"/>
            <a:ext cx="667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÷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 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6-4</a:t>
            </a:r>
            <a:endParaRPr lang="en-GB" sz="16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11C76-D03D-4696-B0B8-59E8DCDA526A}"/>
              </a:ext>
            </a:extLst>
          </p:cNvPr>
          <p:cNvSpPr txBox="1"/>
          <p:nvPr/>
        </p:nvSpPr>
        <p:spPr>
          <a:xfrm>
            <a:off x="4772025" y="5682161"/>
            <a:ext cx="5202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=  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GB" sz="16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C9C85-8052-43B5-8F99-A269F52E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Task: Dwyer 8 Text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7CD5804F-1C83-48B9-B5D1-BBCD8629D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3938" y="2286000"/>
                <a:ext cx="3792537" cy="1781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Index Law 2</a:t>
                </a:r>
              </a:p>
              <a:p>
                <a:endParaRPr lang="en-GB" sz="3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  <a:p>
                <a:r>
                  <a:rPr lang="en-GB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  <a:r>
                  <a:rPr lang="en-GB" sz="3200" b="1" baseline="300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m</a:t>
                </a:r>
                <a:r>
                  <a:rPr lang="en-GB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GB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  <a:r>
                  <a:rPr lang="en-GB" sz="3200" b="1" baseline="300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n  </a:t>
                </a:r>
                <a:r>
                  <a:rPr lang="en-GB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= a</a:t>
                </a:r>
                <a:r>
                  <a:rPr lang="en-GB" sz="3200" b="1" baseline="300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m-n</a:t>
                </a:r>
                <a:endParaRPr lang="en-GB" sz="3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7CD5804F-1C83-48B9-B5D1-BBCD8629D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3938" y="2286000"/>
                <a:ext cx="3792537" cy="1781000"/>
              </a:xfrm>
              <a:prstGeom prst="rect">
                <a:avLst/>
              </a:prstGeom>
              <a:blipFill>
                <a:blip r:embed="rId2"/>
                <a:stretch>
                  <a:fillRect l="-2412" t="-7192" b="-10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13B87B5-5BF0-4ECE-B241-0A92412A34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45" r="1026"/>
          <a:stretch/>
        </p:blipFill>
        <p:spPr>
          <a:xfrm>
            <a:off x="5553536" y="409334"/>
            <a:ext cx="6374424" cy="28934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1734E5-8C32-4E89-9531-4383927AC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536" y="3664744"/>
            <a:ext cx="6374424" cy="273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5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593</Words>
  <Application>Microsoft Office PowerPoint</Application>
  <PresentationFormat>Widescreen</PresentationFormat>
  <Paragraphs>89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Index Notation: Index Law 1 and Index Law 2</vt:lpstr>
      <vt:lpstr>PowerPoint Presentation</vt:lpstr>
      <vt:lpstr>PowerPoint Presentation</vt:lpstr>
      <vt:lpstr>PowerPoint Presentation</vt:lpstr>
      <vt:lpstr>You Do (Left Hand Side)</vt:lpstr>
      <vt:lpstr>Task: Dwyer 8 Text</vt:lpstr>
      <vt:lpstr>PowerPoint Presentation</vt:lpstr>
      <vt:lpstr>PowerPoint Presentation</vt:lpstr>
      <vt:lpstr>Task: Dwyer 8 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Notation: Index Law 1 and Index Law 2</dc:title>
  <dc:creator>Magdeline Lum</dc:creator>
  <cp:lastModifiedBy>Magdeline Lum</cp:lastModifiedBy>
  <cp:revision>5</cp:revision>
  <dcterms:created xsi:type="dcterms:W3CDTF">2019-02-18T14:34:55Z</dcterms:created>
  <dcterms:modified xsi:type="dcterms:W3CDTF">2019-02-18T15:04:51Z</dcterms:modified>
</cp:coreProperties>
</file>
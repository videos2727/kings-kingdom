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40" r:id="rId2"/>
    <p:sldId id="341" r:id="rId3"/>
    <p:sldId id="321" r:id="rId4"/>
    <p:sldId id="337" r:id="rId5"/>
    <p:sldId id="338" r:id="rId6"/>
    <p:sldId id="339" r:id="rId7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03" autoAdjust="0"/>
  </p:normalViewPr>
  <p:slideViewPr>
    <p:cSldViewPr>
      <p:cViewPr varScale="1">
        <p:scale>
          <a:sx n="77" d="100"/>
          <a:sy n="77" d="100"/>
        </p:scale>
        <p:origin x="1122" y="90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23/06/2019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2E7345-AF9A-4AEA-BC1A-E3F49E788DF8}"/>
              </a:ext>
            </a:extLst>
          </p:cNvPr>
          <p:cNvSpPr txBox="1"/>
          <p:nvPr/>
        </p:nvSpPr>
        <p:spPr>
          <a:xfrm>
            <a:off x="395536" y="195232"/>
            <a:ext cx="835292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5 questions</a:t>
            </a:r>
          </a:p>
          <a:p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Complete a summary for last lesson (to be written into the summary section under last lessons notes).</a:t>
            </a:r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6a (5 – 4b) = </a:t>
            </a:r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3ab  - </a:t>
            </a:r>
            <a:r>
              <a:rPr lang="en-AU" sz="2000" dirty="0" err="1"/>
              <a:t>ba</a:t>
            </a:r>
            <a:r>
              <a:rPr lang="en-AU" sz="2000" dirty="0"/>
              <a:t> + 12bc  =</a:t>
            </a:r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I have a circle with a diameter of 3m.  What is the area of the circle</a:t>
            </a:r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endParaRPr lang="en-AU" sz="2000" dirty="0"/>
          </a:p>
          <a:p>
            <a:pPr marL="342900" indent="-342900">
              <a:buAutoNum type="arabicPeriod"/>
            </a:pPr>
            <a:r>
              <a:rPr lang="en-AU" sz="2000" dirty="0"/>
              <a:t>In a basket of fruit, there are 5 apples and 4 bananas.  Write an algebraic expression the will allow you to calculate the number of fruit in 3 baskets.</a:t>
            </a:r>
          </a:p>
          <a:p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26720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1D84AD-2291-4AE0-AC59-C1843429FFC2}"/>
              </a:ext>
            </a:extLst>
          </p:cNvPr>
          <p:cNvSpPr txBox="1"/>
          <p:nvPr/>
        </p:nvSpPr>
        <p:spPr>
          <a:xfrm>
            <a:off x="300983" y="46861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Can you remember how to find a Highest Common Factor (HCF)?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82FEB-4969-4F21-BCF9-0AEE47BC8B1E}"/>
              </a:ext>
            </a:extLst>
          </p:cNvPr>
          <p:cNvSpPr txBox="1"/>
          <p:nvPr/>
        </p:nvSpPr>
        <p:spPr>
          <a:xfrm>
            <a:off x="574848" y="416193"/>
            <a:ext cx="74888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HCF of;</a:t>
            </a:r>
          </a:p>
          <a:p>
            <a:pPr marL="342900" indent="-342900">
              <a:buAutoNum type="alphaLcParenR"/>
            </a:pPr>
            <a:r>
              <a:rPr lang="en-AU" dirty="0"/>
              <a:t>12 and 16		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r>
              <a:rPr lang="en-AU" dirty="0"/>
              <a:t>48 and 36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r>
              <a:rPr lang="en-AU" dirty="0"/>
              <a:t>18 and 27</a:t>
            </a:r>
          </a:p>
          <a:p>
            <a:pPr marL="342900" indent="-342900">
              <a:buAutoNum type="alphaLcParenR"/>
            </a:pP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E10A5-71B9-43FD-B64C-BF5BD62F4248}"/>
              </a:ext>
            </a:extLst>
          </p:cNvPr>
          <p:cNvSpPr txBox="1"/>
          <p:nvPr/>
        </p:nvSpPr>
        <p:spPr>
          <a:xfrm>
            <a:off x="574848" y="3001516"/>
            <a:ext cx="74888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now?</a:t>
            </a:r>
          </a:p>
          <a:p>
            <a:pPr marL="342900" indent="-342900">
              <a:buAutoNum type="alphaLcParenR"/>
            </a:pPr>
            <a:r>
              <a:rPr lang="en-AU" dirty="0"/>
              <a:t>12a and 16		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r>
              <a:rPr lang="en-AU" dirty="0"/>
              <a:t>48ab and 36a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r>
              <a:rPr lang="en-AU" dirty="0"/>
              <a:t>18a</a:t>
            </a:r>
            <a:r>
              <a:rPr lang="en-AU" baseline="30000" dirty="0"/>
              <a:t>2</a:t>
            </a:r>
            <a:r>
              <a:rPr lang="en-AU" dirty="0"/>
              <a:t> and 27a</a:t>
            </a:r>
          </a:p>
          <a:p>
            <a:pPr marL="342900" indent="-342900">
              <a:buAutoNum type="alphaLcParenR"/>
            </a:pPr>
            <a:endParaRPr lang="en-AU" dirty="0"/>
          </a:p>
          <a:p>
            <a:pPr marL="342900" indent="-342900">
              <a:buAutoNum type="alphaL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557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490875"/>
          </a:xfrm>
        </p:spPr>
        <p:txBody>
          <a:bodyPr>
            <a:normAutofit fontScale="90000"/>
          </a:bodyPr>
          <a:lstStyle/>
          <a:p>
            <a:r>
              <a:rPr lang="en-AU" dirty="0"/>
              <a:t>Your turn - LHS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719740"/>
            <a:ext cx="7643192" cy="1050131"/>
          </a:xfrm>
        </p:spPr>
        <p:txBody>
          <a:bodyPr>
            <a:normAutofit fontScale="92500" lnSpcReduction="20000"/>
          </a:bodyPr>
          <a:lstStyle/>
          <a:p>
            <a:r>
              <a:rPr lang="en-AU" b="0" dirty="0"/>
              <a:t>Find the Highest Common Factor of the following?</a:t>
            </a:r>
          </a:p>
          <a:p>
            <a:r>
              <a:rPr lang="en-AU" dirty="0"/>
              <a:t>Think</a:t>
            </a:r>
            <a:r>
              <a:rPr lang="en-AU" b="0" dirty="0"/>
              <a:t>: Which times tables are both terms in?</a:t>
            </a:r>
          </a:p>
          <a:p>
            <a:r>
              <a:rPr lang="en-AU" dirty="0"/>
              <a:t>Remember</a:t>
            </a:r>
            <a:r>
              <a:rPr lang="en-AU" b="0" dirty="0"/>
              <a:t>: Letters can go out the front if they are in both terms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57200" y="2569468"/>
            <a:ext cx="4040188" cy="395128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/>
              <a:t>4 and 6	    HCF: 2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10 and 15	    HCF: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2</a:t>
            </a:r>
            <a:r>
              <a:rPr lang="en-AU" i="1" dirty="0"/>
              <a:t>a</a:t>
            </a:r>
            <a:r>
              <a:rPr lang="en-AU" dirty="0"/>
              <a:t> and 6	    HCF: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/>
              <a:t>21</a:t>
            </a:r>
            <a:r>
              <a:rPr lang="en-AU" i="1" dirty="0"/>
              <a:t>a</a:t>
            </a:r>
            <a:r>
              <a:rPr lang="en-AU" dirty="0"/>
              <a:t> and 28</a:t>
            </a:r>
            <a:r>
              <a:rPr lang="en-AU" i="1" dirty="0"/>
              <a:t>b  </a:t>
            </a:r>
            <a:r>
              <a:rPr lang="en-AU" dirty="0"/>
              <a:t>HCF:</a:t>
            </a:r>
            <a:endParaRPr lang="en-AU" i="1" dirty="0"/>
          </a:p>
          <a:p>
            <a:pPr marL="0" indent="0">
              <a:buNone/>
            </a:pPr>
            <a:r>
              <a:rPr lang="en-US" dirty="0"/>
              <a:t>5.   3k and 6k	    HCF: 3k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/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4646614" y="2569468"/>
                <a:ext cx="4041775" cy="3951288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8</a:t>
                </a:r>
                <a:r>
                  <a:rPr lang="en-AU" i="1" dirty="0"/>
                  <a:t>e</a:t>
                </a:r>
                <a:r>
                  <a:rPr lang="en-AU" dirty="0"/>
                  <a:t> and 12</a:t>
                </a:r>
                <a:r>
                  <a:rPr lang="en-AU" i="1" dirty="0"/>
                  <a:t>e	</a:t>
                </a:r>
                <a:r>
                  <a:rPr lang="en-AU" dirty="0"/>
                  <a:t> HCF:</a:t>
                </a:r>
                <a:endParaRPr lang="en-AU" i="1" dirty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6</m:t>
                    </m:r>
                    <m:r>
                      <a:rPr lang="en-AU" b="0" i="1" smtClean="0">
                        <a:latin typeface="Cambria Math"/>
                      </a:rPr>
                      <m:t>𝑓</m:t>
                    </m:r>
                  </m:oMath>
                </a14:m>
                <a:r>
                  <a:rPr lang="en-AU" dirty="0"/>
                  <a:t>		 HCF: f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  <m:r>
                          <a:rPr lang="en-AU" b="0" i="1" smtClean="0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and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AU" b="0" dirty="0"/>
                  <a:t>	</a:t>
                </a:r>
                <a:r>
                  <a:rPr lang="en-AU" dirty="0"/>
                  <a:t> HCF:</a:t>
                </a:r>
                <a:endParaRPr lang="en-AU" b="0" dirty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𝑝𝑤</m:t>
                    </m:r>
                  </m:oMath>
                </a14:m>
                <a:r>
                  <a:rPr lang="en-AU" dirty="0"/>
                  <a:t>and 24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AU" b="0" dirty="0"/>
                  <a:t>	</a:t>
                </a:r>
                <a:r>
                  <a:rPr lang="en-AU" dirty="0"/>
                  <a:t> HCF:</a:t>
                </a:r>
                <a:endParaRPr lang="en-AU" b="0" dirty="0"/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1</m:t>
                    </m:r>
                    <m:r>
                      <a:rPr lang="en-AU" b="0" i="1" dirty="0" smtClean="0">
                        <a:latin typeface="Cambria Math"/>
                      </a:rPr>
                      <m:t>0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</m:oMath>
                </a14:m>
                <a:r>
                  <a:rPr lang="en-AU" dirty="0"/>
                  <a:t>and 15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/>
                  <a:t>	 HCF: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4646614" y="2569468"/>
                <a:ext cx="4041775" cy="3951288"/>
              </a:xfrm>
              <a:blipFill>
                <a:blip r:embed="rId2"/>
                <a:stretch>
                  <a:fillRect l="-2413" t="-15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88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-5192" y="38534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51198" y="8637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198" y="-56086"/>
            <a:ext cx="57606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36744" y="837075"/>
            <a:ext cx="0" cy="597711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66935" y="-7631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1950" y="-106910"/>
            <a:ext cx="36212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Factorising Expressions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02106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factorise expressions?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473" y="774910"/>
            <a:ext cx="1912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factorising?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0534" y="837075"/>
            <a:ext cx="6974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expanding brackets is turning 2(a + 3) into 2a + 6, then </a:t>
            </a:r>
            <a:r>
              <a:rPr lang="en-US" dirty="0" err="1"/>
              <a:t>factorising</a:t>
            </a:r>
            <a:r>
              <a:rPr lang="en-US" dirty="0"/>
              <a:t> is turning 2a + 6 back into 2(a + 3)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177268" y="1611876"/>
            <a:ext cx="68935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AU" dirty="0"/>
              <a:t>Highest Common Factor </a:t>
            </a:r>
            <a:r>
              <a:rPr lang="en-US" dirty="0"/>
              <a:t>(HCF) of both terms is placed outside the front of the brackets.</a:t>
            </a:r>
          </a:p>
          <a:p>
            <a:r>
              <a:rPr lang="en-US" i="1" dirty="0"/>
              <a:t>If both terms have the same letter, that letter can be placed out</a:t>
            </a:r>
          </a:p>
          <a:p>
            <a:r>
              <a:rPr lang="en-US" i="1" dirty="0"/>
              <a:t> the front too.</a:t>
            </a:r>
          </a:p>
          <a:p>
            <a:endParaRPr lang="en-US" i="1" dirty="0"/>
          </a:p>
          <a:p>
            <a:r>
              <a:rPr lang="en-US" dirty="0"/>
              <a:t>Example: The HCF for 2a + 6 is ‘2’ so that is put out the front of</a:t>
            </a:r>
          </a:p>
          <a:p>
            <a:r>
              <a:rPr lang="en-US" dirty="0"/>
              <a:t>	brackets like so…</a:t>
            </a:r>
          </a:p>
          <a:p>
            <a:r>
              <a:rPr lang="en-US" dirty="0"/>
              <a:t>		2 ( ____ + _____ )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96" y="1868701"/>
            <a:ext cx="2174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we use the HCF to help factorise?</a:t>
            </a:r>
          </a:p>
        </p:txBody>
      </p:sp>
      <p:sp>
        <p:nvSpPr>
          <p:cNvPr id="2" name="Rectangle 1"/>
          <p:cNvSpPr/>
          <p:nvPr/>
        </p:nvSpPr>
        <p:spPr>
          <a:xfrm>
            <a:off x="53327" y="4121943"/>
            <a:ext cx="18859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goes inside the brackets?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763307" y="3979677"/>
            <a:ext cx="57492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From our knowledge of the Distributive Law, we know </a:t>
            </a:r>
          </a:p>
          <a:p>
            <a:r>
              <a:rPr lang="en-US" sz="1600" dirty="0"/>
              <a:t> 2 ( ____ + _____ ) = 2a + 6</a:t>
            </a:r>
          </a:p>
          <a:p>
            <a:endParaRPr lang="en-US" sz="1600" dirty="0"/>
          </a:p>
          <a:p>
            <a:r>
              <a:rPr lang="en-US" sz="1600" dirty="0"/>
              <a:t>This means 2 x ______ = 2a and 2 x ______ = 6</a:t>
            </a:r>
            <a:endParaRPr lang="en-AU" sz="1600" dirty="0"/>
          </a:p>
          <a:p>
            <a:r>
              <a:rPr lang="en-US" sz="1600" dirty="0"/>
              <a:t>So 2a + 6 is </a:t>
            </a:r>
            <a:r>
              <a:rPr lang="en-US" sz="1600" dirty="0" err="1"/>
              <a:t>factorisied</a:t>
            </a:r>
            <a:r>
              <a:rPr lang="en-US" sz="1600" dirty="0"/>
              <a:t> to produce </a:t>
            </a:r>
          </a:p>
          <a:p>
            <a:r>
              <a:rPr lang="en-US" sz="1600" dirty="0"/>
              <a:t>2 (__</a:t>
            </a:r>
            <a:r>
              <a:rPr lang="en-US" sz="1600" u="sng" dirty="0"/>
              <a:t>a</a:t>
            </a:r>
            <a:r>
              <a:rPr lang="en-US" sz="1600" dirty="0"/>
              <a:t>__ + __</a:t>
            </a:r>
            <a:r>
              <a:rPr lang="en-US" sz="1600" u="sng" dirty="0"/>
              <a:t>3</a:t>
            </a:r>
            <a:r>
              <a:rPr lang="en-US" sz="1600" dirty="0"/>
              <a:t>__)</a:t>
            </a:r>
            <a:endParaRPr lang="en-AU" sz="1600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382663" y="4580914"/>
            <a:ext cx="1795798" cy="3125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599069" y="4592838"/>
            <a:ext cx="792231" cy="30488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289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563" y="-35613"/>
            <a:ext cx="8229600" cy="952500"/>
          </a:xfrm>
        </p:spPr>
        <p:txBody>
          <a:bodyPr>
            <a:normAutofit/>
          </a:bodyPr>
          <a:lstStyle/>
          <a:p>
            <a:r>
              <a:rPr lang="en-US" sz="3600" dirty="0"/>
              <a:t>Dwyer </a:t>
            </a:r>
            <a:r>
              <a:rPr lang="en-US" sz="3600" dirty="0" err="1"/>
              <a:t>Pg</a:t>
            </a:r>
            <a:r>
              <a:rPr lang="en-US" sz="3600" dirty="0"/>
              <a:t> 41- 3.11 (All the odd questions)</a:t>
            </a:r>
            <a:endParaRPr lang="en-A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0122"/>
            <a:ext cx="3826768" cy="5419746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2x + 6		</a:t>
            </a:r>
          </a:p>
          <a:p>
            <a:pPr marL="0" indent="0">
              <a:buNone/>
            </a:pPr>
            <a:r>
              <a:rPr lang="en-US" dirty="0"/>
              <a:t>HCF: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  <a:endParaRPr lang="en-AU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/>
              <a:t>3.  2c + 4</a:t>
            </a:r>
          </a:p>
          <a:p>
            <a:pPr marL="0" indent="0">
              <a:buNone/>
            </a:pPr>
            <a:r>
              <a:rPr lang="en-US" dirty="0"/>
              <a:t>HCF: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dirty="0"/>
              <a:t>5.  3a – 6</a:t>
            </a:r>
          </a:p>
          <a:p>
            <a:pPr marL="0" indent="0">
              <a:buNone/>
            </a:pPr>
            <a:r>
              <a:rPr lang="en-US" dirty="0"/>
              <a:t>HCF: ______</a:t>
            </a:r>
          </a:p>
          <a:p>
            <a:pPr marL="0" indent="0">
              <a:buNone/>
            </a:pPr>
            <a:r>
              <a:rPr lang="en-US" dirty="0"/>
              <a:t> ___ ( ____ + ____ )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899593" y="1776682"/>
            <a:ext cx="792087" cy="23288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0" y="750123"/>
                <a:ext cx="3528392" cy="57691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7. 5a + 15b		</a:t>
                </a:r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)</a:t>
                </a:r>
              </a:p>
              <a:p>
                <a:endParaRPr lang="en-US" sz="2000" dirty="0"/>
              </a:p>
              <a:p>
                <a:r>
                  <a:rPr lang="en-US" sz="3200" dirty="0"/>
                  <a:t>9.  2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+ 3</a:t>
                </a:r>
                <a:r>
                  <a:rPr lang="en-US" sz="3200" i="1" dirty="0"/>
                  <a:t>a</a:t>
                </a:r>
                <a:endParaRPr lang="en-US" sz="3200" dirty="0"/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)</a:t>
                </a:r>
              </a:p>
              <a:p>
                <a:endParaRPr lang="en-US" sz="2400" dirty="0"/>
              </a:p>
              <a:p>
                <a:r>
                  <a:rPr lang="en-US" sz="3200" dirty="0"/>
                  <a:t>11.  7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200" dirty="0"/>
                          <m:t>t</m:t>
                        </m:r>
                      </m:e>
                      <m:sup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– 5t</a:t>
                </a:r>
              </a:p>
              <a:p>
                <a:r>
                  <a:rPr lang="en-US" sz="3200" dirty="0"/>
                  <a:t>HCF: ______</a:t>
                </a:r>
              </a:p>
              <a:p>
                <a:r>
                  <a:rPr lang="en-US" sz="3200" dirty="0"/>
                  <a:t> ___ ( ____ + ____ )</a:t>
                </a:r>
                <a:endParaRPr lang="en-AU" sz="3200" dirty="0"/>
              </a:p>
              <a:p>
                <a:endParaRPr lang="en-AU" sz="32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750123"/>
                <a:ext cx="3528392" cy="5769143"/>
              </a:xfrm>
              <a:prstGeom prst="rect">
                <a:avLst/>
              </a:prstGeom>
              <a:blipFill>
                <a:blip r:embed="rId2"/>
                <a:stretch>
                  <a:fillRect l="-4318" t="-1374" r="-120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040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588" y="-95356"/>
            <a:ext cx="8229600" cy="952500"/>
          </a:xfrm>
        </p:spPr>
        <p:txBody>
          <a:bodyPr/>
          <a:lstStyle/>
          <a:p>
            <a:r>
              <a:rPr lang="en-US" dirty="0"/>
              <a:t>Task- Fill in the blanks</a:t>
            </a:r>
            <a:endParaRPr lang="en-AU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9388" y="3491580"/>
            <a:ext cx="4572000" cy="2434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" y="3534968"/>
            <a:ext cx="4330824" cy="23472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7827" y="740491"/>
            <a:ext cx="82786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Expanding</a:t>
            </a:r>
            <a:r>
              <a:rPr lang="en-US" sz="2800" dirty="0"/>
              <a:t>			  </a:t>
            </a:r>
            <a:r>
              <a:rPr lang="en-US" sz="2800" u="sng" dirty="0"/>
              <a:t> </a:t>
            </a:r>
            <a:r>
              <a:rPr lang="en-US" sz="2800" u="sng" dirty="0" err="1"/>
              <a:t>Factorising</a:t>
            </a:r>
            <a:endParaRPr lang="en-US" sz="2800" u="sng" dirty="0"/>
          </a:p>
          <a:p>
            <a:r>
              <a:rPr lang="en-US" sz="2800" dirty="0"/>
              <a:t>      6 (a + 8)			    6a + 48</a:t>
            </a:r>
          </a:p>
          <a:p>
            <a:r>
              <a:rPr lang="en-US" sz="2800" dirty="0"/>
              <a:t>=   6 x a +  6 x 8		    HCF: 6</a:t>
            </a:r>
          </a:p>
          <a:p>
            <a:r>
              <a:rPr lang="en-US" sz="2800" dirty="0"/>
              <a:t>=    6a	   +   48	               6 x ___ = 6a  &amp;  6 x ___ = 48</a:t>
            </a:r>
          </a:p>
          <a:p>
            <a:r>
              <a:rPr lang="en-US" sz="2800" dirty="0"/>
              <a:t>				    = 	6 ( a + 8 )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16216" y="4729708"/>
            <a:ext cx="432048" cy="360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/>
        </p:nvSpPr>
        <p:spPr>
          <a:xfrm>
            <a:off x="2771800" y="3560083"/>
            <a:ext cx="576064" cy="4838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81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2298</TotalTime>
  <Words>352</Words>
  <Application>Microsoft Office PowerPoint</Application>
  <PresentationFormat>On-screen Show (16:10)</PresentationFormat>
  <Paragraphs>97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Your turn - LHS</vt:lpstr>
      <vt:lpstr>PowerPoint Presentation</vt:lpstr>
      <vt:lpstr>Dwyer Pg 41- 3.11 (All the odd questions)</vt:lpstr>
      <vt:lpstr>Task- Fill in the blanks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WILSON James [Baldivis Secondary College]</cp:lastModifiedBy>
  <cp:revision>89</cp:revision>
  <dcterms:created xsi:type="dcterms:W3CDTF">2014-05-14T02:58:57Z</dcterms:created>
  <dcterms:modified xsi:type="dcterms:W3CDTF">2019-06-23T09:43:39Z</dcterms:modified>
</cp:coreProperties>
</file>
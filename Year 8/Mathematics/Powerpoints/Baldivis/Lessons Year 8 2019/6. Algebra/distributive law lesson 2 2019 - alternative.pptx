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7" r:id="rId2"/>
    <p:sldId id="274" r:id="rId3"/>
    <p:sldId id="269" r:id="rId4"/>
    <p:sldId id="270" r:id="rId5"/>
    <p:sldId id="271" r:id="rId6"/>
    <p:sldId id="27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9198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9041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7444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638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356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B99BCC-848C-4EF3-8FBF-A4515691ABE1}"/>
                  </a:ext>
                </a:extLst>
              </p:cNvPr>
              <p:cNvSpPr txBox="1"/>
              <p:nvPr/>
            </p:nvSpPr>
            <p:spPr>
              <a:xfrm>
                <a:off x="107504" y="188640"/>
                <a:ext cx="8280920" cy="6947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5 questions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1.  Complete the summary from your last lesson (in the summary section of your last set of notes).</a:t>
                </a:r>
              </a:p>
              <a:p>
                <a:endParaRPr lang="en-AU" sz="2400" dirty="0"/>
              </a:p>
              <a:p>
                <a:pPr marL="342900" indent="-342900">
                  <a:buAutoNum type="arabicPeriod" startAt="2"/>
                </a:pPr>
                <a:r>
                  <a:rPr lang="en-AU" sz="2400" dirty="0"/>
                  <a:t>2a x 3a x a x 6a x a</a:t>
                </a:r>
                <a:r>
                  <a:rPr lang="en-AU" sz="2400" baseline="30000" dirty="0"/>
                  <a:t>2</a:t>
                </a:r>
                <a:r>
                  <a:rPr lang="en-AU" sz="2400" dirty="0"/>
                  <a:t> x b= </a:t>
                </a:r>
              </a:p>
              <a:p>
                <a:pPr marL="342900" indent="-342900">
                  <a:buAutoNum type="arabicPeriod" startAt="2"/>
                </a:pPr>
                <a:endParaRPr lang="en-AU" sz="2400" dirty="0"/>
              </a:p>
              <a:p>
                <a:pPr marL="342900" indent="-342900">
                  <a:buFontTx/>
                  <a:buAutoNum type="arabicPeriod" startAt="2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 × </m:t>
                        </m:r>
                        <m:sSup>
                          <m:sSupPr>
                            <m:ctrlPr>
                              <a:rPr lang="en-AU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AU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nor/>
                      </m:rPr>
                      <a:rPr lang="en-AU" sz="2400" b="0" i="0" dirty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endParaRPr lang="en-AU" sz="2400" b="0" dirty="0"/>
              </a:p>
              <a:p>
                <a:pPr marL="342900" indent="-342900">
                  <a:buFontTx/>
                  <a:buAutoNum type="arabicPeriod" startAt="2"/>
                </a:pPr>
                <a:endParaRPr lang="en-AU" sz="2400" dirty="0"/>
              </a:p>
              <a:p>
                <a:pPr marL="342900" indent="-342900">
                  <a:buFontTx/>
                  <a:buAutoNum type="arabicPeriod" startAt="2"/>
                </a:pPr>
                <a:r>
                  <a:rPr lang="en-AU" sz="2400" dirty="0"/>
                  <a:t>9 ( d + 3f) = </a:t>
                </a:r>
              </a:p>
              <a:p>
                <a:pPr marL="342900" indent="-342900">
                  <a:buFontTx/>
                  <a:buAutoNum type="arabicPeriod" startAt="2"/>
                </a:pPr>
                <a:endParaRPr lang="en-AU" sz="2400" dirty="0"/>
              </a:p>
              <a:p>
                <a:pPr marL="342900" indent="-342900">
                  <a:buFontTx/>
                  <a:buAutoNum type="arabicPeriod" startAt="2"/>
                </a:pPr>
                <a:endParaRPr lang="en-AU" sz="2400" dirty="0"/>
              </a:p>
              <a:p>
                <a:pPr marL="342900" indent="-342900">
                  <a:buFontTx/>
                  <a:buAutoNum type="arabicPeriod" startAt="2"/>
                </a:pPr>
                <a:r>
                  <a:rPr lang="en-AU" sz="2400" dirty="0"/>
                  <a:t>Beryl and Angus both went shopping.  Beryl bought 7 apples, 3 mushrooms, 19 snow peas and  a pumpkin.  Angus bought a mushroom, 4 apples and 6 bread rolls.</a:t>
                </a:r>
              </a:p>
              <a:p>
                <a:r>
                  <a:rPr lang="en-AU" sz="2400" dirty="0"/>
                  <a:t>	a. Write this as an algebraic expression</a:t>
                </a:r>
              </a:p>
              <a:p>
                <a:r>
                  <a:rPr lang="en-AU" sz="2400" dirty="0"/>
                  <a:t>	b. Simplify the expression.</a:t>
                </a:r>
              </a:p>
              <a:p>
                <a:pPr marL="342900" indent="-342900">
                  <a:buAutoNum type="arabicPeriod" startAt="2"/>
                </a:pPr>
                <a:endParaRPr lang="en-AU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B99BCC-848C-4EF3-8FBF-A4515691A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88640"/>
                <a:ext cx="8280920" cy="6947543"/>
              </a:xfrm>
              <a:prstGeom prst="rect">
                <a:avLst/>
              </a:prstGeom>
              <a:blipFill>
                <a:blip r:embed="rId3"/>
                <a:stretch>
                  <a:fillRect l="-1178" t="-702" r="-16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0564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FBB97F-C65F-4E8C-BDBF-AA416FCFE047}"/>
              </a:ext>
            </a:extLst>
          </p:cNvPr>
          <p:cNvSpPr txBox="1"/>
          <p:nvPr/>
        </p:nvSpPr>
        <p:spPr>
          <a:xfrm>
            <a:off x="107504" y="12680"/>
            <a:ext cx="86409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How well do you remember multiplying and divide positive and negative numbers?</a:t>
            </a:r>
          </a:p>
          <a:p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12 x -3 = 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-5 x -4 = 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-3 x 6 = </a:t>
            </a:r>
          </a:p>
          <a:p>
            <a:endParaRPr lang="en-AU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81BAB2-D17E-4560-9216-87DCEF6498B3}"/>
              </a:ext>
            </a:extLst>
          </p:cNvPr>
          <p:cNvSpPr/>
          <p:nvPr/>
        </p:nvSpPr>
        <p:spPr>
          <a:xfrm>
            <a:off x="4716016" y="1196752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AU" sz="2400" dirty="0"/>
              <a:t>15 ÷ -3 = </a:t>
            </a:r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r>
              <a:rPr lang="en-AU" sz="2400" dirty="0"/>
              <a:t>-36 ÷ -4 = </a:t>
            </a:r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r>
              <a:rPr lang="en-AU" sz="2400" dirty="0"/>
              <a:t>-42 ÷ 6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C25AC4-C0F5-4FFF-B5ED-9E0C5B3EE20C}"/>
              </a:ext>
            </a:extLst>
          </p:cNvPr>
          <p:cNvSpPr txBox="1"/>
          <p:nvPr/>
        </p:nvSpPr>
        <p:spPr>
          <a:xfrm>
            <a:off x="107504" y="3573016"/>
            <a:ext cx="86409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do you think will happen now?</a:t>
            </a:r>
          </a:p>
          <a:p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12a x -3 = 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-5b x -b = 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-3g x 6k = </a:t>
            </a:r>
          </a:p>
          <a:p>
            <a:endParaRPr lang="en-AU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ADD342-8030-43DA-8F88-4232F51FBD4E}"/>
              </a:ext>
            </a:extLst>
          </p:cNvPr>
          <p:cNvSpPr/>
          <p:nvPr/>
        </p:nvSpPr>
        <p:spPr>
          <a:xfrm>
            <a:off x="4716017" y="4319816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AU" sz="2400" dirty="0"/>
              <a:t>15f ÷ -3 = </a:t>
            </a:r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r>
              <a:rPr lang="en-AU" sz="2400" dirty="0"/>
              <a:t>-36q</a:t>
            </a:r>
            <a:r>
              <a:rPr lang="en-AU" sz="2400" baseline="30000" dirty="0"/>
              <a:t>2</a:t>
            </a:r>
            <a:r>
              <a:rPr lang="en-AU" sz="2400" dirty="0"/>
              <a:t> ÷ -4q = </a:t>
            </a:r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r>
              <a:rPr lang="en-AU" sz="2400" dirty="0"/>
              <a:t>-42r ÷ 6s = </a:t>
            </a:r>
          </a:p>
        </p:txBody>
      </p:sp>
    </p:spTree>
    <p:extLst>
      <p:ext uri="{BB962C8B-B14F-4D97-AF65-F5344CB8AC3E}">
        <p14:creationId xmlns:p14="http://schemas.microsoft.com/office/powerpoint/2010/main" val="270820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57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Distributive 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expand brackets when negatives are involved?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428396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15616" y="2348880"/>
                <a:ext cx="195258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Expand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br>
                  <a:rPr lang="en-AU" b="0" dirty="0"/>
                </a:br>
                <a:endParaRPr lang="en-AU" b="0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2348880"/>
                <a:ext cx="1952586" cy="1200329"/>
              </a:xfrm>
              <a:prstGeom prst="rect">
                <a:avLst/>
              </a:prstGeom>
              <a:blipFill>
                <a:blip r:embed="rId3"/>
                <a:stretch>
                  <a:fillRect l="-2500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1267771" y="3381509"/>
            <a:ext cx="79208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-3x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1492" y="3381509"/>
            <a:ext cx="79208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930" y="3514151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55372" y="3029135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X             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867863" y="4306188"/>
                <a:ext cx="1267398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Therefore </a:t>
                </a:r>
              </a:p>
              <a:p>
                <a:pPr/>
                <a:r>
                  <a:rPr lang="en-AU" dirty="0"/>
                  <a:t>-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br>
                  <a:rPr lang="en-AU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−6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863" y="4306188"/>
                <a:ext cx="1267398" cy="923330"/>
              </a:xfrm>
              <a:prstGeom prst="rect">
                <a:avLst/>
              </a:prstGeom>
              <a:blipFill>
                <a:blip r:embed="rId4"/>
                <a:stretch>
                  <a:fillRect l="-3846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49116" y="2091872"/>
            <a:ext cx="1170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Method 1: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4008" y="2091872"/>
            <a:ext cx="743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Steps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3815" y="5660033"/>
            <a:ext cx="2409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Notice the sign changes</a:t>
            </a:r>
          </a:p>
        </p:txBody>
      </p:sp>
      <p:cxnSp>
        <p:nvCxnSpPr>
          <p:cNvPr id="14" name="Straight Arrow Connector 13"/>
          <p:cNvCxnSpPr>
            <a:stCxn id="8" idx="0"/>
          </p:cNvCxnSpPr>
          <p:nvPr/>
        </p:nvCxnSpPr>
        <p:spPr>
          <a:xfrm flipH="1" flipV="1">
            <a:off x="1763688" y="5157192"/>
            <a:ext cx="1104784" cy="502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56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18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951" y="449889"/>
            <a:ext cx="2457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Distributive law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42" y="115241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     – How can we expand brackets when negatives are involved?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28396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115616" y="2348880"/>
                <a:ext cx="184999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Expand -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br>
                  <a:rPr lang="en-AU" b="0" dirty="0"/>
                </a:br>
                <a:endParaRPr lang="en-AU" b="0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2348880"/>
                <a:ext cx="1849994" cy="1200329"/>
              </a:xfrm>
              <a:prstGeom prst="rect">
                <a:avLst/>
              </a:prstGeom>
              <a:blipFill>
                <a:blip r:embed="rId3"/>
                <a:stretch>
                  <a:fillRect l="-2640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49116" y="2091872"/>
            <a:ext cx="1170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Method 2:</a:t>
            </a:r>
          </a:p>
        </p:txBody>
      </p:sp>
      <p:sp>
        <p:nvSpPr>
          <p:cNvPr id="3" name="Rectangle 2"/>
          <p:cNvSpPr/>
          <p:nvPr/>
        </p:nvSpPr>
        <p:spPr>
          <a:xfrm>
            <a:off x="4781941" y="2123898"/>
            <a:ext cx="690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Steps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1339405" y="3681282"/>
                <a:ext cx="1974708" cy="17543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-5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en-AU" dirty="0"/>
              </a:p>
              <a:p>
                <a:pPr marL="342900" indent="-342900">
                  <a:buAutoNum type="arabicPlain" startAt="5"/>
                </a:pPr>
                <a:endParaRPr lang="en-AU" dirty="0"/>
              </a:p>
              <a:p>
                <a:pPr marL="342900" indent="-342900">
                  <a:buAutoNum type="arabicPlain" startAt="5"/>
                </a:pPr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−      −10</m:t>
                      </m:r>
                    </m:oMath>
                  </m:oMathPara>
                </a14:m>
                <a:endParaRPr lang="en-AU" b="0" dirty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405" y="3681282"/>
                <a:ext cx="1974708" cy="1754326"/>
              </a:xfrm>
              <a:prstGeom prst="rect">
                <a:avLst/>
              </a:prstGeom>
              <a:blipFill>
                <a:blip r:embed="rId4"/>
                <a:stretch>
                  <a:fillRect l="-2778" t="-20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c 22"/>
          <p:cNvSpPr/>
          <p:nvPr/>
        </p:nvSpPr>
        <p:spPr>
          <a:xfrm rot="20652606">
            <a:off x="1258051" y="3625904"/>
            <a:ext cx="788147" cy="341368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Arc 23"/>
          <p:cNvSpPr/>
          <p:nvPr/>
        </p:nvSpPr>
        <p:spPr>
          <a:xfrm rot="21062286">
            <a:off x="705565" y="3634029"/>
            <a:ext cx="1800200" cy="504056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2188633" y="3981256"/>
            <a:ext cx="79111" cy="491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298271" y="5855007"/>
            <a:ext cx="2806281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AU" dirty="0"/>
              <a:t>Be careful the sign changes!</a:t>
            </a:r>
          </a:p>
        </p:txBody>
      </p:sp>
      <p:cxnSp>
        <p:nvCxnSpPr>
          <p:cNvPr id="28" name="Straight Arrow Connector 27"/>
          <p:cNvCxnSpPr>
            <a:stCxn id="26" idx="0"/>
          </p:cNvCxnSpPr>
          <p:nvPr/>
        </p:nvCxnSpPr>
        <p:spPr>
          <a:xfrm flipH="1" flipV="1">
            <a:off x="2398151" y="5352167"/>
            <a:ext cx="1303261" cy="502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06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Try these</a:t>
            </a:r>
          </a:p>
        </p:txBody>
      </p:sp>
      <p:sp>
        <p:nvSpPr>
          <p:cNvPr id="3" name="Rectangle 2"/>
          <p:cNvSpPr/>
          <p:nvPr/>
        </p:nvSpPr>
        <p:spPr>
          <a:xfrm>
            <a:off x="1403648" y="1412776"/>
            <a:ext cx="4572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AU" sz="2400" dirty="0"/>
              <a:t>Expand the following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sz="2400" dirty="0"/>
              <a:t>-4(d+2)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sz="2400" dirty="0"/>
              <a:t>-10(4 - s)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sz="2400" dirty="0"/>
              <a:t>-3(2x+7)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3501008"/>
            <a:ext cx="3739784" cy="291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017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Pg</a:t>
            </a:r>
            <a:r>
              <a:rPr lang="en-AU" dirty="0"/>
              <a:t> 40 Dwyer 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Complete exercise 3.9 and 3.10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2996952"/>
            <a:ext cx="2984037" cy="339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994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311</Words>
  <Application>Microsoft Office PowerPoint</Application>
  <PresentationFormat>On-screen Show (4:3)</PresentationFormat>
  <Paragraphs>95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Pg 40 Dwyer book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WILSON James [Baldivis Secondary College]</cp:lastModifiedBy>
  <cp:revision>16</cp:revision>
  <dcterms:created xsi:type="dcterms:W3CDTF">2016-10-20T03:14:06Z</dcterms:created>
  <dcterms:modified xsi:type="dcterms:W3CDTF">2019-06-23T09:06:33Z</dcterms:modified>
</cp:coreProperties>
</file>
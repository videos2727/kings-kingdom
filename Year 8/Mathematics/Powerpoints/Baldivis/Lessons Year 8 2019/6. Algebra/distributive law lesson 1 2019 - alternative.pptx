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3" r:id="rId2"/>
    <p:sldId id="257" r:id="rId3"/>
    <p:sldId id="274" r:id="rId4"/>
    <p:sldId id="264" r:id="rId5"/>
    <p:sldId id="260" r:id="rId6"/>
    <p:sldId id="266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452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23/06/2019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Check</a:t>
            </a:r>
            <a:r>
              <a:rPr lang="en-AU" baseline="0" dirty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23/06/2019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23/06/2019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23/06/2019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23/06/2019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23/06/2019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23/06/2019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23/06/2019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23/06/2019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23/06/2019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23/06/2019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23/06/2019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23/06/2019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3F763C6-4997-40BF-BAD6-D7A732F75E13}"/>
                  </a:ext>
                </a:extLst>
              </p:cNvPr>
              <p:cNvSpPr txBox="1"/>
              <p:nvPr/>
            </p:nvSpPr>
            <p:spPr>
              <a:xfrm>
                <a:off x="254071" y="270573"/>
                <a:ext cx="8640960" cy="5826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/>
                  <a:t>5 Questions</a:t>
                </a:r>
              </a:p>
              <a:p>
                <a:pPr marL="342900" indent="-342900">
                  <a:buAutoNum type="arabicPeriod"/>
                </a:pPr>
                <a:r>
                  <a:rPr lang="en-AU" sz="2000" dirty="0"/>
                  <a:t>Write a summary for you last lesson (in the summary section of your note book). “To divide algebraic terms we …….”</a:t>
                </a:r>
              </a:p>
              <a:p>
                <a:pPr marL="342900" indent="-342900">
                  <a:buAutoNum type="arabicPeriod"/>
                </a:pPr>
                <a:endParaRPr lang="en-AU" sz="2000" dirty="0"/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4=  </m:t>
                    </m:r>
                  </m:oMath>
                </a14:m>
                <a:endParaRPr lang="en-AU" sz="2400" dirty="0"/>
              </a:p>
              <a:p>
                <a:pPr marL="342900" indent="-342900">
                  <a:buAutoNum type="arabicPeriod"/>
                </a:pPr>
                <a:endParaRPr lang="en-AU" sz="2400" dirty="0"/>
              </a:p>
              <a:p>
                <a:pPr marL="342900" indent="-342900">
                  <a:buFontTx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𝑎𝑏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=  </m:t>
                    </m:r>
                  </m:oMath>
                </a14:m>
                <a:endParaRPr lang="en-AU" sz="2400" dirty="0"/>
              </a:p>
              <a:p>
                <a:pPr marL="342900" indent="-342900">
                  <a:buFontTx/>
                  <a:buAutoNum type="arabicPeriod"/>
                </a:pPr>
                <a:endParaRPr lang="en-AU" sz="2000" dirty="0"/>
              </a:p>
              <a:p>
                <a:pPr marL="342900" indent="-342900">
                  <a:buFontTx/>
                  <a:buAutoNum type="arabicPeriod"/>
                </a:pPr>
                <a:r>
                  <a:rPr lang="en-AU" sz="2000" dirty="0"/>
                  <a:t>12a – 4b + 7a + 3b</a:t>
                </a:r>
                <a:r>
                  <a:rPr lang="en-AU" sz="2000" baseline="30000" dirty="0"/>
                  <a:t>2 </a:t>
                </a:r>
                <a:r>
                  <a:rPr lang="en-AU" sz="2000" dirty="0"/>
                  <a:t> + 9</a:t>
                </a:r>
              </a:p>
              <a:p>
                <a:r>
                  <a:rPr lang="en-AU" sz="2000" dirty="0"/>
                  <a:t>	a. how many terms in this expression (list the different terms)</a:t>
                </a:r>
              </a:p>
              <a:p>
                <a:pPr lvl="1"/>
                <a:r>
                  <a:rPr lang="en-AU" sz="2000" dirty="0"/>
                  <a:t>	b. Simplify the terms</a:t>
                </a:r>
              </a:p>
              <a:p>
                <a:endParaRPr lang="en-AU" sz="2000" dirty="0"/>
              </a:p>
              <a:p>
                <a:pPr marL="342900" indent="-342900">
                  <a:buAutoNum type="arabicPeriod" startAt="5"/>
                </a:pPr>
                <a:r>
                  <a:rPr lang="en-AU" sz="2000" dirty="0"/>
                  <a:t>Mr Wilson was making pancakes yesterday.  He made them by adding 0.5 cup of eggs, 1 cup of flour and 1 cup of milk.</a:t>
                </a:r>
              </a:p>
              <a:p>
                <a:pPr lvl="1"/>
                <a:r>
                  <a:rPr lang="en-AU" sz="2000" dirty="0"/>
                  <a:t>	a. Write this as an algebraic expression.</a:t>
                </a:r>
              </a:p>
              <a:p>
                <a:pPr lvl="1"/>
                <a:r>
                  <a:rPr lang="en-AU" sz="2000" dirty="0"/>
                  <a:t>	b. How would you double the recipe?</a:t>
                </a:r>
              </a:p>
              <a:p>
                <a:pPr lvl="1"/>
                <a:r>
                  <a:rPr lang="en-AU" sz="2000" dirty="0"/>
                  <a:t>	c.  How would you half the recipe?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3F763C6-4997-40BF-BAD6-D7A732F75E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71" y="270573"/>
                <a:ext cx="8640960" cy="5826275"/>
              </a:xfrm>
              <a:prstGeom prst="rect">
                <a:avLst/>
              </a:prstGeom>
              <a:blipFill>
                <a:blip r:embed="rId3"/>
                <a:stretch>
                  <a:fillRect l="-776" t="-523" b="-9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to;</a:t>
            </a:r>
          </a:p>
          <a:p>
            <a:pPr marL="0" indent="0">
              <a:buNone/>
            </a:pPr>
            <a:r>
              <a:rPr lang="en-AU" dirty="0"/>
              <a:t>- Expand brackets using a model</a:t>
            </a:r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6A4079E-11AC-4196-8196-2FFE55C4E800}"/>
              </a:ext>
            </a:extLst>
          </p:cNvPr>
          <p:cNvSpPr/>
          <p:nvPr/>
        </p:nvSpPr>
        <p:spPr>
          <a:xfrm>
            <a:off x="4211960" y="3988632"/>
            <a:ext cx="4464496" cy="27363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4967BC-CA76-410A-893B-FCE6D5C46443}"/>
              </a:ext>
            </a:extLst>
          </p:cNvPr>
          <p:cNvSpPr txBox="1"/>
          <p:nvPr/>
        </p:nvSpPr>
        <p:spPr>
          <a:xfrm>
            <a:off x="323528" y="332656"/>
            <a:ext cx="3528392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Solve the following?</a:t>
            </a:r>
          </a:p>
          <a:p>
            <a:endParaRPr lang="en-AU" sz="2400" dirty="0"/>
          </a:p>
          <a:p>
            <a:pPr marL="342900" indent="-342900">
              <a:buAutoNum type="arabicPeriod"/>
            </a:pPr>
            <a:r>
              <a:rPr lang="en-AU" sz="2400" dirty="0"/>
              <a:t>3 x 14  = </a:t>
            </a:r>
          </a:p>
          <a:p>
            <a:pPr marL="342900" indent="-342900">
              <a:buAutoNum type="arabicPeriod"/>
            </a:pPr>
            <a:endParaRPr lang="en-AU" sz="2400" dirty="0"/>
          </a:p>
          <a:p>
            <a:pPr marL="342900" indent="-342900">
              <a:buAutoNum type="arabicPeriod"/>
            </a:pPr>
            <a:endParaRPr lang="en-AU" sz="2400" dirty="0"/>
          </a:p>
          <a:p>
            <a:pPr marL="342900" indent="-342900">
              <a:buAutoNum type="arabicPeriod"/>
            </a:pPr>
            <a:r>
              <a:rPr lang="en-AU" sz="2400" dirty="0"/>
              <a:t>3 x ( 10  +  4 )  = </a:t>
            </a:r>
          </a:p>
          <a:p>
            <a:pPr marL="342900" indent="-342900">
              <a:buAutoNum type="arabicPeriod"/>
            </a:pPr>
            <a:endParaRPr lang="en-AU" sz="2400" dirty="0"/>
          </a:p>
          <a:p>
            <a:pPr marL="342900" indent="-342900">
              <a:buAutoNum type="arabicPeriod"/>
            </a:pPr>
            <a:endParaRPr lang="en-AU" sz="2400" dirty="0"/>
          </a:p>
          <a:p>
            <a:pPr marL="342900" indent="-342900">
              <a:buFontTx/>
              <a:buAutoNum type="arabicPeriod"/>
            </a:pPr>
            <a:r>
              <a:rPr lang="en-AU" sz="2400" dirty="0"/>
              <a:t>3 x 10  + 3 x 4 = </a:t>
            </a:r>
          </a:p>
          <a:p>
            <a:pPr marL="342900" indent="-342900">
              <a:buAutoNum type="arabicPeriod"/>
            </a:pPr>
            <a:endParaRPr lang="en-AU" sz="2400" dirty="0"/>
          </a:p>
          <a:p>
            <a:endParaRPr lang="en-AU" sz="2400" dirty="0"/>
          </a:p>
          <a:p>
            <a:pPr marL="342900" indent="-342900">
              <a:buFont typeface="+mj-lt"/>
              <a:buAutoNum type="arabicPeriod" startAt="4"/>
            </a:pPr>
            <a:r>
              <a:rPr lang="en-AU" sz="2400" dirty="0"/>
              <a:t>3 x ( 7 +  7 ) = </a:t>
            </a:r>
          </a:p>
          <a:p>
            <a:pPr marL="342900" indent="-342900">
              <a:buAutoNum type="arabicPeriod" startAt="4"/>
            </a:pPr>
            <a:endParaRPr lang="en-AU" sz="2400" dirty="0"/>
          </a:p>
          <a:p>
            <a:pPr marL="342900" indent="-342900">
              <a:buAutoNum type="arabicPeriod" startAt="4"/>
            </a:pPr>
            <a:endParaRPr lang="en-AU" sz="2400" dirty="0"/>
          </a:p>
          <a:p>
            <a:pPr marL="342900" indent="-342900">
              <a:buAutoNum type="arabicPeriod" startAt="4"/>
            </a:pPr>
            <a:r>
              <a:rPr lang="en-AU" sz="2400" dirty="0"/>
              <a:t>3 x 7  + 3 x 7 = </a:t>
            </a:r>
          </a:p>
          <a:p>
            <a:pPr marL="342900" indent="-342900">
              <a:buAutoNum type="arabicPeriod" startAt="4"/>
            </a:pPr>
            <a:endParaRPr lang="en-AU" sz="2400" dirty="0"/>
          </a:p>
          <a:p>
            <a:pPr marL="342900" indent="-342900">
              <a:buAutoNum type="arabicPeriod" startAt="4"/>
            </a:pPr>
            <a:endParaRPr lang="en-A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A5C788-E5F4-4C41-A86C-1C1029956DD5}"/>
              </a:ext>
            </a:extLst>
          </p:cNvPr>
          <p:cNvSpPr txBox="1"/>
          <p:nvPr/>
        </p:nvSpPr>
        <p:spPr>
          <a:xfrm>
            <a:off x="5076056" y="332656"/>
            <a:ext cx="3744416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So what is happening now?</a:t>
            </a:r>
          </a:p>
          <a:p>
            <a:endParaRPr lang="en-AU" sz="2400" dirty="0"/>
          </a:p>
          <a:p>
            <a:pPr marL="342900" indent="-342900">
              <a:buAutoNum type="arabicPeriod"/>
            </a:pPr>
            <a:r>
              <a:rPr lang="en-AU" sz="2400" dirty="0"/>
              <a:t>3a x 14  = </a:t>
            </a:r>
          </a:p>
          <a:p>
            <a:endParaRPr lang="en-AU" sz="2400" dirty="0"/>
          </a:p>
          <a:p>
            <a:pPr marL="342900" indent="-342900">
              <a:buAutoNum type="arabicPeriod"/>
            </a:pPr>
            <a:endParaRPr lang="en-AU" sz="2400" dirty="0"/>
          </a:p>
          <a:p>
            <a:pPr marL="342900" indent="-342900">
              <a:buAutoNum type="arabicPeriod"/>
            </a:pPr>
            <a:r>
              <a:rPr lang="en-AU" sz="2400" dirty="0"/>
              <a:t>3a x ( 10  +  4 )  = </a:t>
            </a:r>
          </a:p>
          <a:p>
            <a:pPr marL="342900" indent="-342900">
              <a:buAutoNum type="arabicPeriod"/>
            </a:pPr>
            <a:endParaRPr lang="en-AU" sz="2400" dirty="0"/>
          </a:p>
          <a:p>
            <a:pPr marL="342900" indent="-342900">
              <a:buAutoNum type="arabicPeriod"/>
            </a:pPr>
            <a:endParaRPr lang="en-AU" sz="2400" dirty="0"/>
          </a:p>
          <a:p>
            <a:pPr marL="342900" indent="-342900">
              <a:buFontTx/>
              <a:buAutoNum type="arabicPeriod"/>
            </a:pPr>
            <a:r>
              <a:rPr lang="en-AU" sz="2400" dirty="0"/>
              <a:t>3a x 10  + 3a x 4 = </a:t>
            </a:r>
          </a:p>
          <a:p>
            <a:pPr marL="342900" indent="-342900">
              <a:buAutoNum type="arabicPeriod"/>
            </a:pPr>
            <a:endParaRPr lang="en-AU" sz="2400" dirty="0"/>
          </a:p>
          <a:p>
            <a:endParaRPr lang="en-AU" sz="2400" dirty="0"/>
          </a:p>
          <a:p>
            <a:pPr marL="342900" indent="-342900">
              <a:buFont typeface="+mj-lt"/>
              <a:buAutoNum type="arabicPeriod" startAt="4"/>
            </a:pPr>
            <a:r>
              <a:rPr lang="en-AU" sz="2400" dirty="0"/>
              <a:t>3 x (7a +  7 ) = </a:t>
            </a:r>
          </a:p>
          <a:p>
            <a:pPr marL="342900" indent="-342900">
              <a:buAutoNum type="arabicPeriod" startAt="4"/>
            </a:pPr>
            <a:endParaRPr lang="en-AU" sz="2400" dirty="0"/>
          </a:p>
          <a:p>
            <a:pPr marL="342900" indent="-342900">
              <a:buAutoNum type="arabicPeriod" startAt="4"/>
            </a:pPr>
            <a:endParaRPr lang="en-AU" sz="2400" dirty="0"/>
          </a:p>
          <a:p>
            <a:pPr marL="342900" indent="-342900">
              <a:buAutoNum type="arabicPeriod" startAt="4"/>
            </a:pPr>
            <a:r>
              <a:rPr lang="en-AU" sz="2400" dirty="0"/>
              <a:t>3 x 7a  + 3 x 7 = </a:t>
            </a:r>
          </a:p>
          <a:p>
            <a:pPr marL="342900" indent="-342900">
              <a:buAutoNum type="arabicPeriod" startAt="4"/>
            </a:pPr>
            <a:endParaRPr lang="en-AU" sz="2400" dirty="0"/>
          </a:p>
          <a:p>
            <a:pPr marL="342900" indent="-342900">
              <a:buAutoNum type="arabicPeriod" startAt="4"/>
            </a:pPr>
            <a:endParaRPr lang="en-AU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29BEEC-AC8A-4917-8840-7822E0D7CD78}"/>
              </a:ext>
            </a:extLst>
          </p:cNvPr>
          <p:cNvSpPr txBox="1"/>
          <p:nvPr/>
        </p:nvSpPr>
        <p:spPr>
          <a:xfrm>
            <a:off x="4716016" y="6078605"/>
            <a:ext cx="3528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Be careful – remember the rules for adding like terms for these 2.</a:t>
            </a:r>
          </a:p>
        </p:txBody>
      </p:sp>
    </p:spTree>
    <p:extLst>
      <p:ext uri="{BB962C8B-B14F-4D97-AF65-F5344CB8AC3E}">
        <p14:creationId xmlns:p14="http://schemas.microsoft.com/office/powerpoint/2010/main" val="1981346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4573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Distributive law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we expand brackets?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4283968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15616" y="2348880"/>
                <a:ext cx="1779461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Expand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</m:oMath>
                </a14:m>
                <a:br>
                  <a:rPr lang="en-AU" b="0" dirty="0"/>
                </a:br>
                <a:endParaRPr lang="en-AU" b="0" dirty="0"/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2348880"/>
                <a:ext cx="1779461" cy="1200329"/>
              </a:xfrm>
              <a:prstGeom prst="rect">
                <a:avLst/>
              </a:prstGeom>
              <a:blipFill>
                <a:blip r:embed="rId3"/>
                <a:stretch>
                  <a:fillRect l="-2740" t="-25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1267771" y="3381509"/>
            <a:ext cx="792088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3x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51492" y="3381509"/>
            <a:ext cx="792088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930" y="35141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55372" y="3029135"/>
            <a:ext cx="1162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X             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867863" y="4306188"/>
                <a:ext cx="1379993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/>
                  <a:t>Therefore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3</m:t>
                      </m:r>
                      <m:d>
                        <m:d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+6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863" y="4306188"/>
                <a:ext cx="1379993" cy="923330"/>
              </a:xfrm>
              <a:prstGeom prst="rect">
                <a:avLst/>
              </a:prstGeom>
              <a:blipFill>
                <a:blip r:embed="rId4"/>
                <a:stretch>
                  <a:fillRect l="-3524" t="-32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349116" y="2091872"/>
            <a:ext cx="1170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Method 1: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9725" y="2066317"/>
            <a:ext cx="4393510" cy="35548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Steps</a:t>
            </a:r>
          </a:p>
          <a:p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dirty="0"/>
              <a:t>Draw the boxes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dirty="0"/>
              <a:t>Write the terms from the brackets on top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dirty="0"/>
              <a:t>Write the term outside next to the boxes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dirty="0"/>
              <a:t>Multiply the ___ with the ____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dirty="0"/>
              <a:t>Multiply the ____ with the ____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dirty="0"/>
              <a:t>Write your answer nicely</a:t>
            </a:r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951" y="449889"/>
            <a:ext cx="24573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Distributive law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42" y="115241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         How can we expand brackets?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283968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1115616" y="2348880"/>
                <a:ext cx="1779461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Expand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</m:oMath>
                </a14:m>
                <a:br>
                  <a:rPr lang="en-AU" b="0" dirty="0"/>
                </a:br>
                <a:endParaRPr lang="en-AU" b="0" dirty="0"/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2348880"/>
                <a:ext cx="1779461" cy="1200329"/>
              </a:xfrm>
              <a:prstGeom prst="rect">
                <a:avLst/>
              </a:prstGeom>
              <a:blipFill>
                <a:blip r:embed="rId3"/>
                <a:stretch>
                  <a:fillRect l="-2740" t="-25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349116" y="2091872"/>
            <a:ext cx="1170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Method 2: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4008" y="2091872"/>
            <a:ext cx="308449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Steps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dirty="0"/>
              <a:t>Multiply the 5 with the x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dirty="0"/>
              <a:t>Multiply the 5 with the ___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dirty="0"/>
              <a:t>Bring the sign down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dirty="0"/>
              <a:t>Write your answer nicely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403648" y="3611924"/>
                <a:ext cx="1837619" cy="17543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42900" indent="-342900">
                  <a:buAutoNum type="arabicPlain" startAt="5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</m:oMath>
                </a14:m>
                <a:endParaRPr lang="en-AU" dirty="0"/>
              </a:p>
              <a:p>
                <a:pPr marL="342900" indent="-342900">
                  <a:buAutoNum type="arabicPlain" startAt="5"/>
                </a:pPr>
                <a:endParaRPr lang="en-AU" dirty="0"/>
              </a:p>
              <a:p>
                <a:pPr marL="342900" indent="-342900">
                  <a:buAutoNum type="arabicPlain" startAt="5"/>
                </a:pPr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 −      10</m:t>
                      </m:r>
                    </m:oMath>
                  </m:oMathPara>
                </a14:m>
                <a:endParaRPr lang="en-AU" b="0" dirty="0"/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−10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648" y="3611924"/>
                <a:ext cx="1837619" cy="1754326"/>
              </a:xfrm>
              <a:prstGeom prst="rect">
                <a:avLst/>
              </a:prstGeom>
              <a:blipFill>
                <a:blip r:embed="rId4"/>
                <a:stretch>
                  <a:fillRect l="-2318" t="-174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Arc 28"/>
          <p:cNvSpPr/>
          <p:nvPr/>
        </p:nvSpPr>
        <p:spPr>
          <a:xfrm rot="20652606">
            <a:off x="1258051" y="3625904"/>
            <a:ext cx="788147" cy="341368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Arc 29"/>
          <p:cNvSpPr/>
          <p:nvPr/>
        </p:nvSpPr>
        <p:spPr>
          <a:xfrm rot="21062286">
            <a:off x="705565" y="3634029"/>
            <a:ext cx="1800200" cy="504056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2188633" y="3981256"/>
            <a:ext cx="79111" cy="491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404664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/>
              <a:t>Try these (LHS)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616" y="1412776"/>
            <a:ext cx="403244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AU" sz="2800" dirty="0"/>
              <a:t>Expand the following</a:t>
            </a:r>
          </a:p>
          <a:p>
            <a:pPr marL="342900" indent="-342900">
              <a:lnSpc>
                <a:spcPct val="200000"/>
              </a:lnSpc>
              <a:buAutoNum type="alphaLcParenR"/>
            </a:pPr>
            <a:r>
              <a:rPr lang="en-AU" sz="2800" dirty="0"/>
              <a:t>4(d+2)</a:t>
            </a:r>
          </a:p>
          <a:p>
            <a:pPr marL="342900" indent="-342900">
              <a:lnSpc>
                <a:spcPct val="200000"/>
              </a:lnSpc>
              <a:buAutoNum type="alphaLcParenR"/>
            </a:pPr>
            <a:r>
              <a:rPr lang="en-AU" sz="2800" dirty="0"/>
              <a:t>10(4 - s)</a:t>
            </a:r>
          </a:p>
          <a:p>
            <a:pPr marL="342900" indent="-342900">
              <a:lnSpc>
                <a:spcPct val="200000"/>
              </a:lnSpc>
              <a:buAutoNum type="alphaLcParenR"/>
            </a:pPr>
            <a:r>
              <a:rPr lang="en-AU" sz="2800" dirty="0"/>
              <a:t>3(2x+7)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104" y="2348880"/>
            <a:ext cx="2984037" cy="339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Pg</a:t>
            </a:r>
            <a:r>
              <a:rPr lang="en-AU" dirty="0"/>
              <a:t> 39 Dwyer 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Complete exercise 3.7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808" y="3573016"/>
            <a:ext cx="3739784" cy="29108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912230" y="3112403"/>
            <a:ext cx="1602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If you get stuck</a:t>
            </a:r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338</Words>
  <Application>Microsoft Office PowerPoint</Application>
  <PresentationFormat>On-screen Show (4:3)</PresentationFormat>
  <Paragraphs>124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 Math</vt:lpstr>
      <vt:lpstr>Office Theme</vt:lpstr>
      <vt:lpstr>PowerPoint Presentation</vt:lpstr>
      <vt:lpstr>Lesson objective</vt:lpstr>
      <vt:lpstr>PowerPoint Presentation</vt:lpstr>
      <vt:lpstr>PowerPoint Presentation</vt:lpstr>
      <vt:lpstr>PowerPoint Presentation</vt:lpstr>
      <vt:lpstr>PowerPoint Presentation</vt:lpstr>
      <vt:lpstr>Pg 39 Dwyer book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WILSON James [Baldivis Secondary College]</cp:lastModifiedBy>
  <cp:revision>16</cp:revision>
  <dcterms:created xsi:type="dcterms:W3CDTF">2016-10-20T03:14:06Z</dcterms:created>
  <dcterms:modified xsi:type="dcterms:W3CDTF">2019-06-23T04:06:26Z</dcterms:modified>
</cp:coreProperties>
</file>
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64" r:id="rId4"/>
    <p:sldId id="272" r:id="rId5"/>
    <p:sldId id="293" r:id="rId6"/>
    <p:sldId id="257" r:id="rId7"/>
    <p:sldId id="258" r:id="rId8"/>
    <p:sldId id="259" r:id="rId9"/>
    <p:sldId id="291" r:id="rId10"/>
    <p:sldId id="290" r:id="rId11"/>
    <p:sldId id="296" r:id="rId12"/>
    <p:sldId id="297" r:id="rId13"/>
    <p:sldId id="295" r:id="rId14"/>
    <p:sldId id="269" r:id="rId15"/>
    <p:sldId id="298" r:id="rId16"/>
    <p:sldId id="29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66" autoAdjust="0"/>
    <p:restoredTop sz="88085" autoAdjust="0"/>
  </p:normalViewPr>
  <p:slideViewPr>
    <p:cSldViewPr snapToGrid="0">
      <p:cViewPr>
        <p:scale>
          <a:sx n="83" d="100"/>
          <a:sy n="83" d="100"/>
        </p:scale>
        <p:origin x="18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2481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42CF4-EAC4-4BED-A5E3-2DD0EA1D7B25}" type="datetimeFigureOut">
              <a:rPr lang="en-GB" smtClean="0"/>
              <a:t>29/08/2019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AB8D5-9DE5-40AC-BDE2-BCAED798ED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8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AB8D5-9DE5-40AC-BDE2-BCAED798ED7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783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Emphasise</a:t>
            </a:r>
            <a:r>
              <a:rPr lang="en-AU" baseline="0" dirty="0"/>
              <a:t> the key point of </a:t>
            </a:r>
            <a:r>
              <a:rPr lang="en-US" altLang="x-none" sz="1200" dirty="0"/>
              <a:t>always performing the </a:t>
            </a:r>
            <a:r>
              <a:rPr lang="en-US" altLang="x-none" sz="1200" dirty="0">
                <a:solidFill>
                  <a:schemeClr val="accent5"/>
                </a:solidFill>
                <a:latin typeface="Impact" panose="020B0806030902050204" pitchFamily="34" charset="0"/>
              </a:rPr>
              <a:t>same operation </a:t>
            </a:r>
            <a:r>
              <a:rPr lang="en-US" altLang="x-none" sz="1200" dirty="0"/>
              <a:t>to </a:t>
            </a:r>
            <a:r>
              <a:rPr lang="en-US" altLang="x-none" sz="1200" dirty="0">
                <a:solidFill>
                  <a:schemeClr val="accent5"/>
                </a:solidFill>
                <a:latin typeface="Impact" panose="020B0806030902050204" pitchFamily="34" charset="0"/>
              </a:rPr>
              <a:t>both sides</a:t>
            </a:r>
            <a:r>
              <a:rPr lang="en-US" altLang="x-none" sz="1200" dirty="0"/>
              <a:t> of an equation</a:t>
            </a:r>
            <a:r>
              <a:rPr lang="en-US" altLang="x-none" sz="1200" baseline="0" dirty="0"/>
              <a:t> when solving for an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AB8D5-9DE5-40AC-BDE2-BCAED798ED7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11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AB8D5-9DE5-40AC-BDE2-BCAED798ED7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956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97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8/29/2019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0353-CB6D-4A91-9161-5AC31D1D4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Algebra</a:t>
            </a:r>
            <a:br>
              <a:rPr lang="en-AU" dirty="0"/>
            </a:br>
            <a:r>
              <a:rPr lang="en-AU" dirty="0"/>
              <a:t>EQ: How do we solve Equations when there are unknowns on both sides?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52324-331E-4314-87F8-3524D6070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491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4435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97463" y="-77978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331" y="306895"/>
            <a:ext cx="172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529" y="20651"/>
            <a:ext cx="283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7944315" y="642608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5143606" y="3399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562946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4643275" y="282134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5158041" y="290991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7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5667472" y="297522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30</a:t>
            </a:r>
            <a:endParaRPr lang="en-GB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4703659" y="4923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6209428" y="339977"/>
            <a:ext cx="1594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8724038" y="355478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49" y="1196753"/>
            <a:ext cx="118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1367" y="1641896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6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+3=21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what is the value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what would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equal to?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Simplify the expression,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+5(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−2)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another way of writing the equation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+8=7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+12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1367" y="1641896"/>
                <a:ext cx="9720073" cy="4023360"/>
              </a:xfrm>
              <a:blipFill>
                <a:blip r:embed="rId3"/>
                <a:stretch>
                  <a:fillRect l="-1317" t="-1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673954" y="289610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Topic: Algebra</a:t>
            </a:r>
            <a:endParaRPr lang="en-AU" sz="28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1317" y="723785"/>
            <a:ext cx="5963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EQ – </a:t>
            </a:r>
            <a:r>
              <a:rPr lang="en-US" sz="2400" dirty="0">
                <a:solidFill>
                  <a:schemeClr val="tx2"/>
                </a:solidFill>
              </a:rPr>
              <a:t>How do we solve equations when there are unknowns on both sides?</a:t>
            </a:r>
            <a:endParaRPr lang="en-AU" sz="24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E16093-2824-47D8-AB19-FAE2D2140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283" y="3518714"/>
            <a:ext cx="5774369" cy="327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3D4F-5669-4120-99D2-88FA291C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Collaborative Study Group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54E27-FEA7-42F3-963C-1D372092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You will be working with the people sitting next to you</a:t>
            </a:r>
            <a:r>
              <a:rPr lang="en-GB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You will be working together to solve an equation.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Your group must commit to an answer and agree with how you got to your answer.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On your mini-whiteboards, write your group’s answer and the steps taken to get to your answer.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A </a:t>
            </a:r>
            <a:r>
              <a:rPr lang="en-AU" b="1" dirty="0">
                <a:solidFill>
                  <a:schemeClr val="accent1"/>
                </a:solidFill>
              </a:rPr>
              <a:t>Gallery Walk </a:t>
            </a:r>
            <a:r>
              <a:rPr lang="en-AU" dirty="0"/>
              <a:t>will take place after followed by a whole class discussion</a:t>
            </a:r>
            <a:endParaRPr lang="en-AU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3BC97-210F-4DE0-84B4-F516EC1EA65D}"/>
              </a:ext>
            </a:extLst>
          </p:cNvPr>
          <p:cNvSpPr txBox="1"/>
          <p:nvPr/>
        </p:nvSpPr>
        <p:spPr>
          <a:xfrm>
            <a:off x="4255699" y="60882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W</a:t>
            </a:r>
            <a:r>
              <a:rPr lang="en-AU" sz="3600" b="1" dirty="0">
                <a:solidFill>
                  <a:srgbClr val="FF0000"/>
                </a:solidFill>
              </a:rPr>
              <a:t>I</a:t>
            </a:r>
            <a:r>
              <a:rPr lang="en-AU" sz="3600" b="1" dirty="0">
                <a:solidFill>
                  <a:srgbClr val="00B050"/>
                </a:solidFill>
              </a:rPr>
              <a:t>C</a:t>
            </a:r>
            <a:r>
              <a:rPr lang="en-AU" sz="3600" b="1" dirty="0"/>
              <a:t>OR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27491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0" dirty="0"/>
                  <a:t>Solve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5760" b="4517"/>
          <a:stretch/>
        </p:blipFill>
        <p:spPr>
          <a:xfrm>
            <a:off x="3330220" y="1690688"/>
            <a:ext cx="5531560" cy="456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3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0" dirty="0"/>
                  <a:t>Solve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75555" y="1690688"/>
            <a:ext cx="5040890" cy="46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98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0" dirty="0"/>
                  <a:t>Solve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+5=4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b="8451"/>
          <a:stretch/>
        </p:blipFill>
        <p:spPr>
          <a:xfrm>
            <a:off x="3579235" y="1690688"/>
            <a:ext cx="5033530" cy="439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7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58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Algebra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we solve equations when there are unknowns on both sides?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A69054-C4DD-4D50-9A01-F509A40C6C8A}"/>
              </a:ext>
            </a:extLst>
          </p:cNvPr>
          <p:cNvSpPr txBox="1"/>
          <p:nvPr/>
        </p:nvSpPr>
        <p:spPr>
          <a:xfrm>
            <a:off x="2382459" y="4486521"/>
            <a:ext cx="8072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4491487" y="80513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chemeClr val="accent1"/>
                </a:solidFill>
              </a:rPr>
              <a:t>W</a:t>
            </a:r>
            <a:r>
              <a:rPr lang="en-AU" sz="3600" b="1" dirty="0"/>
              <a:t>IC</a:t>
            </a:r>
            <a:r>
              <a:rPr lang="en-AU" sz="3600" b="1" dirty="0">
                <a:solidFill>
                  <a:srgbClr val="FF0000"/>
                </a:solidFill>
              </a:rPr>
              <a:t>O</a:t>
            </a:r>
            <a:r>
              <a:rPr lang="en-AU" sz="3600" b="1" dirty="0"/>
              <a:t>R</a:t>
            </a:r>
            <a:endParaRPr lang="en-GB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8F885-0A7C-40FF-8F93-799D02BCCCD0}"/>
              </a:ext>
            </a:extLst>
          </p:cNvPr>
          <p:cNvSpPr txBox="1"/>
          <p:nvPr/>
        </p:nvSpPr>
        <p:spPr>
          <a:xfrm>
            <a:off x="178608" y="1362974"/>
            <a:ext cx="19262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are the steps that I need to take to solve for a variable that is on both sides of the equal sign?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862C9-72B2-41C4-9E48-B68C3A92132B}"/>
              </a:ext>
            </a:extLst>
          </p:cNvPr>
          <p:cNvSpPr txBox="1"/>
          <p:nvPr/>
        </p:nvSpPr>
        <p:spPr>
          <a:xfrm>
            <a:off x="2660076" y="1362974"/>
            <a:ext cx="8626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 aim is to have the variable on one side of the equal sign by itself with a number on the other side.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DCA07-249C-42F6-B7C3-65C2C7D90E32}"/>
              </a:ext>
            </a:extLst>
          </p:cNvPr>
          <p:cNvSpPr txBox="1"/>
          <p:nvPr/>
        </p:nvSpPr>
        <p:spPr>
          <a:xfrm>
            <a:off x="2696409" y="2193971"/>
            <a:ext cx="8626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You always need to perform the </a:t>
            </a: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operation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both sides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of an equation.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To “undo” an operation you need to perform the </a:t>
            </a: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inverse operation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on both sides of the equation.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You need to “undo” the inverse operations in </a:t>
            </a: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reverse order of BIMDAS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7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4B71-09AA-402C-87BA-45D002C9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Solve for the Unknown Variable </a:t>
            </a:r>
            <a:br>
              <a:rPr lang="en-AU" dirty="0"/>
            </a:br>
            <a:r>
              <a:rPr lang="en-AU" b="1" dirty="0">
                <a:solidFill>
                  <a:srgbClr val="FF0000"/>
                </a:solidFill>
              </a:rPr>
              <a:t>(I Do: You Listen and watch me)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B84F6F-303E-45AB-A6A2-DF484F6E3CC5}"/>
                  </a:ext>
                </a:extLst>
              </p:cNvPr>
              <p:cNvSpPr txBox="1"/>
              <p:nvPr/>
            </p:nvSpPr>
            <p:spPr>
              <a:xfrm>
                <a:off x="4195313" y="2024577"/>
                <a:ext cx="327705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+2=6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B84F6F-303E-45AB-A6A2-DF484F6E3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313" y="2024577"/>
                <a:ext cx="327705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64FBC87-B344-4F54-9273-0693089261A7}"/>
              </a:ext>
            </a:extLst>
          </p:cNvPr>
          <p:cNvSpPr txBox="1"/>
          <p:nvPr/>
        </p:nvSpPr>
        <p:spPr>
          <a:xfrm>
            <a:off x="3544470" y="0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WI</a:t>
            </a:r>
            <a:r>
              <a:rPr lang="en-AU" sz="3600" b="1" dirty="0">
                <a:solidFill>
                  <a:srgbClr val="00B050"/>
                </a:solidFill>
              </a:rPr>
              <a:t>C</a:t>
            </a:r>
            <a:r>
              <a:rPr lang="en-AU" sz="3600" b="1" dirty="0"/>
              <a:t>OR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223568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4B71-09AA-402C-87BA-45D002C9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Solve for the Unknown Variable </a:t>
            </a:r>
            <a:br>
              <a:rPr lang="en-AU" dirty="0"/>
            </a:br>
            <a:r>
              <a:rPr lang="en-AU" b="1" dirty="0">
                <a:solidFill>
                  <a:srgbClr val="FFC000"/>
                </a:solidFill>
              </a:rPr>
              <a:t>(WE Do: You Listen and write)</a:t>
            </a:r>
            <a:endParaRPr lang="en-GB" b="1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B84F6F-303E-45AB-A6A2-DF484F6E3CC5}"/>
                  </a:ext>
                </a:extLst>
              </p:cNvPr>
              <p:cNvSpPr txBox="1"/>
              <p:nvPr/>
            </p:nvSpPr>
            <p:spPr>
              <a:xfrm>
                <a:off x="4195313" y="2024577"/>
                <a:ext cx="359656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+1=2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en-GB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B84F6F-303E-45AB-A6A2-DF484F6E3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313" y="2024577"/>
                <a:ext cx="3596562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066568F-2A36-4015-9FB9-32A9E1D595FB}"/>
              </a:ext>
            </a:extLst>
          </p:cNvPr>
          <p:cNvSpPr txBox="1"/>
          <p:nvPr/>
        </p:nvSpPr>
        <p:spPr>
          <a:xfrm>
            <a:off x="3544470" y="0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chemeClr val="accent2"/>
                </a:solidFill>
              </a:rPr>
              <a:t>W</a:t>
            </a:r>
            <a:r>
              <a:rPr lang="en-AU" sz="3600" b="1" dirty="0"/>
              <a:t>I</a:t>
            </a:r>
            <a:r>
              <a:rPr lang="en-AU" sz="3600" b="1" dirty="0">
                <a:solidFill>
                  <a:srgbClr val="00B050"/>
                </a:solidFill>
              </a:rPr>
              <a:t>C</a:t>
            </a:r>
            <a:r>
              <a:rPr lang="en-AU" sz="3600" b="1" dirty="0"/>
              <a:t>OR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4053408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4B71-09AA-402C-87BA-45D002C9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Solve for the Unknown Variable </a:t>
            </a:r>
            <a:br>
              <a:rPr lang="en-AU" dirty="0"/>
            </a:br>
            <a:r>
              <a:rPr lang="en-AU" sz="4000" b="1" dirty="0">
                <a:solidFill>
                  <a:srgbClr val="00B050"/>
                </a:solidFill>
              </a:rPr>
              <a:t>(YOU DO: Your Turn, ask for help if you need to)</a:t>
            </a:r>
            <a:endParaRPr lang="en-GB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B84F6F-303E-45AB-A6A2-DF484F6E3CC5}"/>
                  </a:ext>
                </a:extLst>
              </p:cNvPr>
              <p:cNvSpPr txBox="1"/>
              <p:nvPr/>
            </p:nvSpPr>
            <p:spPr>
              <a:xfrm>
                <a:off x="4178060" y="2030328"/>
                <a:ext cx="310514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−5=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</m:oMathPara>
                </a14:m>
                <a:endParaRPr lang="en-GB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B84F6F-303E-45AB-A6A2-DF484F6E3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060" y="2030328"/>
                <a:ext cx="3105145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DC7E899-6027-4E93-82F5-AAE32E303BCD}"/>
              </a:ext>
            </a:extLst>
          </p:cNvPr>
          <p:cNvSpPr txBox="1"/>
          <p:nvPr/>
        </p:nvSpPr>
        <p:spPr>
          <a:xfrm>
            <a:off x="3544470" y="0"/>
            <a:ext cx="392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chemeClr val="accent2"/>
                </a:solidFill>
              </a:rPr>
              <a:t>W</a:t>
            </a:r>
            <a:r>
              <a:rPr lang="en-AU" sz="3600" b="1" dirty="0"/>
              <a:t>ICOR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958315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4B71-09AA-402C-87BA-45D002C9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1: Solve for the unknown variable</a:t>
            </a:r>
            <a:endParaRPr lang="en-GB" dirty="0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CBA38032-9715-4E02-890D-168F3E15A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58" t="64426" r="3454"/>
          <a:stretch/>
        </p:blipFill>
        <p:spPr>
          <a:xfrm>
            <a:off x="404467" y="2084832"/>
            <a:ext cx="12156377" cy="64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5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2: Complete these Questions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4F1217-9DCD-4593-B4BB-D4B08DE22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899" y="2084832"/>
            <a:ext cx="9833301" cy="164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7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2: Complete these Questions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C3A189-8707-4C46-A7F8-000DBDAD0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1981155"/>
            <a:ext cx="10214040" cy="1909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B8C077-75C3-41D3-A8D5-ADC2735EB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756" y="3959873"/>
            <a:ext cx="9881898" cy="146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42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2: Complete these Questions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2992D0-8ABB-4C5A-858B-45ADA4EDD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645" y="1906553"/>
            <a:ext cx="10323227" cy="186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30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163</TotalTime>
  <Words>442</Words>
  <Application>Microsoft Office PowerPoint</Application>
  <PresentationFormat>Widescreen</PresentationFormat>
  <Paragraphs>75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Cambria Math</vt:lpstr>
      <vt:lpstr>Impact</vt:lpstr>
      <vt:lpstr>Tw Cen MT</vt:lpstr>
      <vt:lpstr>Tw Cen MT Condensed</vt:lpstr>
      <vt:lpstr>Wingdings 3</vt:lpstr>
      <vt:lpstr>Integral</vt:lpstr>
      <vt:lpstr>Topic: Algebra EQ: How do we solve Equations when there are unknowns on both sides?</vt:lpstr>
      <vt:lpstr>PowerPoint Presentation</vt:lpstr>
      <vt:lpstr>PowerPoint Presentation</vt:lpstr>
      <vt:lpstr>Five Questions (LHS)</vt:lpstr>
      <vt:lpstr>Collaborative Study Group</vt:lpstr>
      <vt:lpstr>Solve 5x+5=4x+8</vt:lpstr>
      <vt:lpstr>Solve 5x+5=4x+8</vt:lpstr>
      <vt:lpstr>Solve 5x+5=4x+8</vt:lpstr>
      <vt:lpstr>PowerPoint Presentation</vt:lpstr>
      <vt:lpstr>Solve for the Unknown Variable  (I Do: You Listen and watch me)</vt:lpstr>
      <vt:lpstr>Solve for the Unknown Variable  (WE Do: You Listen and write)</vt:lpstr>
      <vt:lpstr>Solve for the Unknown Variable  (YOU DO: Your Turn, ask for help if you need to)</vt:lpstr>
      <vt:lpstr>Task 1: Solve for the unknown variable</vt:lpstr>
      <vt:lpstr>Task 2: Complete these Questions</vt:lpstr>
      <vt:lpstr>Task 2: Complete these Questions</vt:lpstr>
      <vt:lpstr>Task 2: Complete these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How do we solve Two Step Equations?</dc:title>
  <dc:creator>PARLEVLIET Magdeline [Baldivis Secondary College]</dc:creator>
  <cp:lastModifiedBy>PARLEVLIET Magdeline [Baldivis Secondary College]</cp:lastModifiedBy>
  <cp:revision>13</cp:revision>
  <dcterms:created xsi:type="dcterms:W3CDTF">2019-08-21T16:02:27Z</dcterms:created>
  <dcterms:modified xsi:type="dcterms:W3CDTF">2019-08-28T18:41:06Z</dcterms:modified>
</cp:coreProperties>
</file>
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63" r:id="rId3"/>
    <p:sldId id="264" r:id="rId4"/>
    <p:sldId id="272" r:id="rId5"/>
    <p:sldId id="291" r:id="rId6"/>
    <p:sldId id="261" r:id="rId7"/>
    <p:sldId id="281" r:id="rId8"/>
    <p:sldId id="297" r:id="rId9"/>
    <p:sldId id="296" r:id="rId10"/>
    <p:sldId id="287" r:id="rId11"/>
    <p:sldId id="29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3" y="2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942CF4-EAC4-4BED-A5E3-2DD0EA1D7B25}" type="datetimeFigureOut">
              <a:rPr lang="en-GB" smtClean="0"/>
              <a:t>01/09/2019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FAB8D5-9DE5-40AC-BDE2-BCAED798ED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187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3970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If students don’t know where to begin, give them a clue that they need to use Order of Operations to link the numbers on the vertices to the number inside the triangle.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3797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If students don’t know where to begin, give them a clue that they need to use Order of Operations to link the numbers on the vertices to the number inside the triangle.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8012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9/1/2019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9/1/2019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9/1/2019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9/1/2019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9/1/2019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9/1/2019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9/1/2019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9/1/2019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9/1/2019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9/1/2019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9/1/2019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9/1/2019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1.png"/><Relationship Id="rId3" Type="http://schemas.openxmlformats.org/officeDocument/2006/relationships/image" Target="../media/image46.png"/><Relationship Id="rId7" Type="http://schemas.openxmlformats.org/officeDocument/2006/relationships/image" Target="../media/image80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5" Type="http://schemas.openxmlformats.org/officeDocument/2006/relationships/image" Target="../media/image13.png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image" Target="../media/image6.png"/><Relationship Id="rId1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1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5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1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20353-CB6D-4A91-9161-5AC31D1D4C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Topic: Algebra</a:t>
            </a:r>
            <a:br>
              <a:rPr lang="en-AU" dirty="0"/>
            </a:br>
            <a:r>
              <a:rPr lang="en-AU" dirty="0"/>
              <a:t>EQ: How do we solve Equations When There’s Brackets?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552324-331E-4314-87F8-3524D60709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8 Mathematics</a:t>
            </a:r>
          </a:p>
          <a:p>
            <a:r>
              <a:rPr lang="en-AU" dirty="0"/>
              <a:t>Mrs Parlevliet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4917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cxnSpLocks/>
          </p:cNvCxnSpPr>
          <p:nvPr/>
        </p:nvCxnSpPr>
        <p:spPr>
          <a:xfrm>
            <a:off x="6024081" y="0"/>
            <a:ext cx="14435" cy="6858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0" y="606829"/>
            <a:ext cx="6024082" cy="1385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766994" y="325976"/>
            <a:ext cx="0" cy="65180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997463" y="-77978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040" y="275204"/>
            <a:ext cx="5565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>
            <a:cxnSpLocks/>
          </p:cNvCxnSpPr>
          <p:nvPr/>
        </p:nvCxnSpPr>
        <p:spPr>
          <a:xfrm>
            <a:off x="1897199" y="325976"/>
            <a:ext cx="0" cy="65180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06312" y="282134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42331" y="306895"/>
            <a:ext cx="17238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Essential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1529" y="20651"/>
            <a:ext cx="2833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Glossary or Formula Page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6024081" y="628749"/>
            <a:ext cx="6024082" cy="1385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99E3AC1-1E77-4710-9BC0-DFB1F88244CA}"/>
              </a:ext>
            </a:extLst>
          </p:cNvPr>
          <p:cNvCxnSpPr>
            <a:cxnSpLocks/>
          </p:cNvCxnSpPr>
          <p:nvPr/>
        </p:nvCxnSpPr>
        <p:spPr>
          <a:xfrm>
            <a:off x="7944315" y="642608"/>
            <a:ext cx="0" cy="65180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24F7D26-2225-40DE-95E8-82C9E31AF559}"/>
              </a:ext>
            </a:extLst>
          </p:cNvPr>
          <p:cNvCxnSpPr>
            <a:cxnSpLocks/>
          </p:cNvCxnSpPr>
          <p:nvPr/>
        </p:nvCxnSpPr>
        <p:spPr>
          <a:xfrm>
            <a:off x="5143606" y="339977"/>
            <a:ext cx="0" cy="65180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6280076-6BD0-4CE8-8378-8CDB7ED81C35}"/>
              </a:ext>
            </a:extLst>
          </p:cNvPr>
          <p:cNvCxnSpPr>
            <a:cxnSpLocks/>
          </p:cNvCxnSpPr>
          <p:nvPr/>
        </p:nvCxnSpPr>
        <p:spPr>
          <a:xfrm>
            <a:off x="5629469" y="325976"/>
            <a:ext cx="0" cy="65180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4D18CDD-8FC0-4BF8-A2BD-51188B343F59}"/>
              </a:ext>
            </a:extLst>
          </p:cNvPr>
          <p:cNvSpPr txBox="1"/>
          <p:nvPr/>
        </p:nvSpPr>
        <p:spPr>
          <a:xfrm>
            <a:off x="4643275" y="282134"/>
            <a:ext cx="4233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24</a:t>
            </a:r>
            <a:endParaRPr lang="en-GB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E4DBC0-DF48-437A-8D31-681D0EB65B05}"/>
              </a:ext>
            </a:extLst>
          </p:cNvPr>
          <p:cNvSpPr txBox="1"/>
          <p:nvPr/>
        </p:nvSpPr>
        <p:spPr>
          <a:xfrm>
            <a:off x="5158041" y="290991"/>
            <a:ext cx="4233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/>
              <a:t>7</a:t>
            </a:r>
            <a:endParaRPr lang="en-GB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37B4A3-3DD6-4CE8-92D3-38B8736F8134}"/>
              </a:ext>
            </a:extLst>
          </p:cNvPr>
          <p:cNvSpPr txBox="1"/>
          <p:nvPr/>
        </p:nvSpPr>
        <p:spPr>
          <a:xfrm>
            <a:off x="5667472" y="297522"/>
            <a:ext cx="4233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30</a:t>
            </a:r>
            <a:endParaRPr lang="en-GB" sz="14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69E8EEF-EB99-4808-BA30-3C2CE48BA253}"/>
              </a:ext>
            </a:extLst>
          </p:cNvPr>
          <p:cNvCxnSpPr>
            <a:cxnSpLocks/>
          </p:cNvCxnSpPr>
          <p:nvPr/>
        </p:nvCxnSpPr>
        <p:spPr>
          <a:xfrm>
            <a:off x="4703659" y="492377"/>
            <a:ext cx="0" cy="65180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2E36C9B-3AE2-4453-AF72-8509F3DE2C72}"/>
              </a:ext>
            </a:extLst>
          </p:cNvPr>
          <p:cNvSpPr txBox="1"/>
          <p:nvPr/>
        </p:nvSpPr>
        <p:spPr>
          <a:xfrm>
            <a:off x="6209428" y="339977"/>
            <a:ext cx="15947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Word or Formula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AA26F2-9378-4BAE-ABC7-B71F270EE045}"/>
              </a:ext>
            </a:extLst>
          </p:cNvPr>
          <p:cNvSpPr txBox="1"/>
          <p:nvPr/>
        </p:nvSpPr>
        <p:spPr>
          <a:xfrm>
            <a:off x="8724038" y="355478"/>
            <a:ext cx="19399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Definition or Example</a:t>
            </a:r>
          </a:p>
        </p:txBody>
      </p:sp>
    </p:spTree>
    <p:extLst>
      <p:ext uri="{BB962C8B-B14F-4D97-AF65-F5344CB8AC3E}">
        <p14:creationId xmlns:p14="http://schemas.microsoft.com/office/powerpoint/2010/main" val="3614595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4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V="1">
            <a:off x="6024081" y="615122"/>
            <a:ext cx="6167919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/>
        </p:nvCxnSpPr>
        <p:spPr>
          <a:xfrm>
            <a:off x="6024082" y="1196752"/>
            <a:ext cx="616791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6096089" y="5373216"/>
            <a:ext cx="609591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91751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57262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0338" y="601549"/>
            <a:ext cx="23535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751" y="1196752"/>
            <a:ext cx="7665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5849" y="1196753"/>
            <a:ext cx="11800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89" y="5373217"/>
            <a:ext cx="11224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5246" y="142494"/>
            <a:ext cx="909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Tasks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A3DEE0-B061-4B2A-86FB-FAA1342E38A6}"/>
              </a:ext>
            </a:extLst>
          </p:cNvPr>
          <p:cNvSpPr txBox="1"/>
          <p:nvPr/>
        </p:nvSpPr>
        <p:spPr>
          <a:xfrm>
            <a:off x="6340505" y="103287"/>
            <a:ext cx="8044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544530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A86B6-DDD6-4B8D-B8A6-049546644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406928"/>
            <a:ext cx="9720072" cy="1499616"/>
          </a:xfrm>
        </p:spPr>
        <p:txBody>
          <a:bodyPr/>
          <a:lstStyle/>
          <a:p>
            <a:r>
              <a:rPr lang="en-AU" dirty="0"/>
              <a:t>Five Questions (LHS)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D41197AA-9D7A-4E8A-AEC7-12421559DC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91367" y="1641896"/>
                <a:ext cx="9720073" cy="4023360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Solve the unknown in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+4=13</m:t>
                    </m:r>
                  </m:oMath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Give an example of collecting continuous numerical data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𝑐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=4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what is the value of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4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𝑐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−2</m:t>
                    </m:r>
                  </m:oMath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Simplify the expression,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+5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−7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+8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</m:oMath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AU" dirty="0"/>
                  <a:t> </a:t>
                </a:r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D41197AA-9D7A-4E8A-AEC7-12421559DC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91367" y="1641896"/>
                <a:ext cx="9720073" cy="4023360"/>
              </a:xfrm>
              <a:blipFill>
                <a:blip r:embed="rId2"/>
                <a:stretch>
                  <a:fillRect l="-1317" t="-19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5751404" y="749809"/>
            <a:ext cx="22588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Topic: Algebra</a:t>
            </a:r>
            <a:endParaRPr lang="en-AU" sz="2800" dirty="0">
              <a:solidFill>
                <a:schemeClr val="tx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751404" y="1218731"/>
            <a:ext cx="5963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chemeClr val="tx2"/>
                </a:solidFill>
              </a:rPr>
              <a:t>EQ – </a:t>
            </a:r>
            <a:r>
              <a:rPr lang="en-US" sz="2400" dirty="0">
                <a:solidFill>
                  <a:schemeClr val="tx2"/>
                </a:solidFill>
              </a:rPr>
              <a:t>How do we solve equations with brackets?</a:t>
            </a:r>
            <a:endParaRPr lang="en-AU" sz="2400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9A9926-E018-4164-9A1E-4354E18B3E2A}"/>
              </a:ext>
            </a:extLst>
          </p:cNvPr>
          <p:cNvSpPr txBox="1"/>
          <p:nvPr/>
        </p:nvSpPr>
        <p:spPr>
          <a:xfrm>
            <a:off x="9344025" y="258042"/>
            <a:ext cx="262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XX/XX/2019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B20BB08-96D9-4F66-9B59-E531D69F7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788" y="3482414"/>
            <a:ext cx="7649177" cy="313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011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9344025" y="258042"/>
            <a:ext cx="262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XX/XX/2019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2588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Topic: Algebra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How do we solve equations when there are brackets?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4491487" y="80513"/>
            <a:ext cx="3927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solidFill>
                  <a:schemeClr val="accent1"/>
                </a:solidFill>
              </a:rPr>
              <a:t>W</a:t>
            </a:r>
            <a:r>
              <a:rPr lang="en-AU" sz="3600" b="1" dirty="0"/>
              <a:t>IC</a:t>
            </a:r>
            <a:r>
              <a:rPr lang="en-AU" sz="3600" b="1" dirty="0">
                <a:solidFill>
                  <a:srgbClr val="FF0000"/>
                </a:solidFill>
              </a:rPr>
              <a:t>O</a:t>
            </a:r>
            <a:r>
              <a:rPr lang="en-AU" sz="3600" b="1" dirty="0"/>
              <a:t>R</a:t>
            </a:r>
            <a:endParaRPr lang="en-GB" sz="3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88F885-0A7C-40FF-8F93-799D02BCCCD0}"/>
              </a:ext>
            </a:extLst>
          </p:cNvPr>
          <p:cNvSpPr txBox="1"/>
          <p:nvPr/>
        </p:nvSpPr>
        <p:spPr>
          <a:xfrm>
            <a:off x="178608" y="1362974"/>
            <a:ext cx="192623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What are the steps that I need to take to solve an equation with brackets?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6862C9-72B2-41C4-9E48-B68C3A92132B}"/>
              </a:ext>
            </a:extLst>
          </p:cNvPr>
          <p:cNvSpPr txBox="1"/>
          <p:nvPr/>
        </p:nvSpPr>
        <p:spPr>
          <a:xfrm>
            <a:off x="2660076" y="1362974"/>
            <a:ext cx="8626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Steps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6DCA07-249C-42F6-B7C3-65C2C7D90E32}"/>
              </a:ext>
            </a:extLst>
          </p:cNvPr>
          <p:cNvSpPr txBox="1"/>
          <p:nvPr/>
        </p:nvSpPr>
        <p:spPr>
          <a:xfrm>
            <a:off x="2615895" y="1871919"/>
            <a:ext cx="86264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Expand the brackets and collect any like terms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Use either backtracking or balancing method to solve for the variable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7974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9344025" y="258042"/>
            <a:ext cx="262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XX/XX/2019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2588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Topic: Algebra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05D9033-283C-42DA-A6BB-8DFEFED6C2A3}"/>
              </a:ext>
            </a:extLst>
          </p:cNvPr>
          <p:cNvSpPr/>
          <p:nvPr/>
        </p:nvSpPr>
        <p:spPr>
          <a:xfrm>
            <a:off x="9581102" y="4522215"/>
            <a:ext cx="880364" cy="932508"/>
          </a:xfrm>
          <a:prstGeom prst="ellipse">
            <a:avLst/>
          </a:prstGeom>
          <a:solidFill>
            <a:srgbClr val="00CC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A7F7348-CF9F-4CBC-BBFA-7CC300BFBA0D}"/>
                  </a:ext>
                </a:extLst>
              </p:cNvPr>
              <p:cNvSpPr/>
              <p:nvPr/>
            </p:nvSpPr>
            <p:spPr>
              <a:xfrm>
                <a:off x="11152464" y="4486521"/>
                <a:ext cx="880364" cy="971674"/>
              </a:xfrm>
              <a:prstGeom prst="ellipse">
                <a:avLst/>
              </a:prstGeom>
              <a:solidFill>
                <a:srgbClr val="00CC6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6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AU" sz="6000" dirty="0"/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A7F7348-CF9F-4CBC-BBFA-7CC300BFBA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2464" y="4486521"/>
                <a:ext cx="880364" cy="971674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val 22">
            <a:extLst>
              <a:ext uri="{FF2B5EF4-FFF2-40B4-BE49-F238E27FC236}">
                <a16:creationId xmlns:a16="http://schemas.microsoft.com/office/drawing/2014/main" id="{9A13F091-0095-472D-A69E-66651705C9EC}"/>
              </a:ext>
            </a:extLst>
          </p:cNvPr>
          <p:cNvSpPr/>
          <p:nvPr/>
        </p:nvSpPr>
        <p:spPr>
          <a:xfrm>
            <a:off x="9608942" y="5769678"/>
            <a:ext cx="880364" cy="971674"/>
          </a:xfrm>
          <a:prstGeom prst="ellipse">
            <a:avLst/>
          </a:prstGeom>
          <a:solidFill>
            <a:srgbClr val="996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×</a:t>
            </a:r>
            <a:endParaRPr lang="en-AU" sz="600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F7D3BC8-3B52-4544-842E-E63D620FD9F5}"/>
              </a:ext>
            </a:extLst>
          </p:cNvPr>
          <p:cNvSpPr/>
          <p:nvPr/>
        </p:nvSpPr>
        <p:spPr>
          <a:xfrm>
            <a:off x="11152464" y="5769678"/>
            <a:ext cx="880364" cy="971674"/>
          </a:xfrm>
          <a:prstGeom prst="ellipse">
            <a:avLst/>
          </a:prstGeom>
          <a:solidFill>
            <a:srgbClr val="996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÷</a:t>
            </a:r>
            <a:endParaRPr lang="en-AU" sz="6000" dirty="0"/>
          </a:p>
        </p:txBody>
      </p:sp>
      <p:sp>
        <p:nvSpPr>
          <p:cNvPr id="25" name="Left-Right Arrow 9">
            <a:extLst>
              <a:ext uri="{FF2B5EF4-FFF2-40B4-BE49-F238E27FC236}">
                <a16:creationId xmlns:a16="http://schemas.microsoft.com/office/drawing/2014/main" id="{871E15C7-523E-4B43-8C72-97B9D773F4B9}"/>
              </a:ext>
            </a:extLst>
          </p:cNvPr>
          <p:cNvSpPr/>
          <p:nvPr/>
        </p:nvSpPr>
        <p:spPr>
          <a:xfrm>
            <a:off x="10407838" y="4811960"/>
            <a:ext cx="826094" cy="392183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Left-Right Arrow 42">
            <a:extLst>
              <a:ext uri="{FF2B5EF4-FFF2-40B4-BE49-F238E27FC236}">
                <a16:creationId xmlns:a16="http://schemas.microsoft.com/office/drawing/2014/main" id="{267C8801-352D-43B0-9299-FAEAE6AD37B6}"/>
              </a:ext>
            </a:extLst>
          </p:cNvPr>
          <p:cNvSpPr/>
          <p:nvPr/>
        </p:nvSpPr>
        <p:spPr>
          <a:xfrm>
            <a:off x="10407838" y="6034214"/>
            <a:ext cx="826094" cy="392183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DF318E-5360-4A46-9E47-3CA9847EFAF0}"/>
              </a:ext>
            </a:extLst>
          </p:cNvPr>
          <p:cNvSpPr txBox="1"/>
          <p:nvPr/>
        </p:nvSpPr>
        <p:spPr>
          <a:xfrm>
            <a:off x="2433353" y="1262672"/>
            <a:ext cx="50615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OPTION 1</a:t>
            </a:r>
            <a:r>
              <a:rPr lang="en-US" sz="2400" dirty="0"/>
              <a:t>: Backtracking</a:t>
            </a:r>
          </a:p>
          <a:p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01830744-FAE6-4079-ABE8-006BAE644BFF}"/>
                  </a:ext>
                </a:extLst>
              </p:cNvPr>
              <p:cNvSpPr/>
              <p:nvPr/>
            </p:nvSpPr>
            <p:spPr>
              <a:xfrm>
                <a:off x="5986584" y="1264710"/>
                <a:ext cx="2389745" cy="5232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4)</m:t>
                      </m:r>
                      <m:r>
                        <a:rPr lang="en-AU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26</m:t>
                      </m:r>
                    </m:oMath>
                  </m:oMathPara>
                </a14:m>
                <a:endParaRPr lang="en-AU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01830744-FAE6-4079-ABE8-006BAE644B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584" y="1264710"/>
                <a:ext cx="238974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94E168E6-BCCC-4A29-A8AA-61AA5E3DD4BD}"/>
              </a:ext>
            </a:extLst>
          </p:cNvPr>
          <p:cNvSpPr/>
          <p:nvPr/>
        </p:nvSpPr>
        <p:spPr>
          <a:xfrm>
            <a:off x="2988934" y="3386213"/>
            <a:ext cx="950611" cy="81922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120A8E2-D92F-4113-9E50-3B7D2D6257C7}"/>
              </a:ext>
            </a:extLst>
          </p:cNvPr>
          <p:cNvSpPr/>
          <p:nvPr/>
        </p:nvSpPr>
        <p:spPr>
          <a:xfrm>
            <a:off x="4682476" y="3386215"/>
            <a:ext cx="1573928" cy="81922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C7F0327-E13E-44AF-8A59-B1091AE570C8}"/>
              </a:ext>
            </a:extLst>
          </p:cNvPr>
          <p:cNvSpPr/>
          <p:nvPr/>
        </p:nvSpPr>
        <p:spPr>
          <a:xfrm>
            <a:off x="2988934" y="4202956"/>
            <a:ext cx="950611" cy="81922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23CBA76-9542-4A85-A1D4-2AAABD55D97B}"/>
              </a:ext>
            </a:extLst>
          </p:cNvPr>
          <p:cNvSpPr/>
          <p:nvPr/>
        </p:nvSpPr>
        <p:spPr>
          <a:xfrm>
            <a:off x="4682476" y="4202958"/>
            <a:ext cx="1573928" cy="81922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5" name="Arrow: Curved Down 40">
            <a:extLst>
              <a:ext uri="{FF2B5EF4-FFF2-40B4-BE49-F238E27FC236}">
                <a16:creationId xmlns:a16="http://schemas.microsoft.com/office/drawing/2014/main" id="{5765E217-7A8D-4FFB-B41E-5932F91FD7C1}"/>
              </a:ext>
            </a:extLst>
          </p:cNvPr>
          <p:cNvSpPr/>
          <p:nvPr/>
        </p:nvSpPr>
        <p:spPr>
          <a:xfrm>
            <a:off x="3573669" y="2806200"/>
            <a:ext cx="1947435" cy="46363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>
              <a:solidFill>
                <a:schemeClr val="tx1"/>
              </a:solidFill>
            </a:endParaRPr>
          </a:p>
        </p:txBody>
      </p:sp>
      <p:sp>
        <p:nvSpPr>
          <p:cNvPr id="36" name="Arrow: Curved Down 43">
            <a:extLst>
              <a:ext uri="{FF2B5EF4-FFF2-40B4-BE49-F238E27FC236}">
                <a16:creationId xmlns:a16="http://schemas.microsoft.com/office/drawing/2014/main" id="{27A7F173-8729-490E-8890-8F683FD30BE6}"/>
              </a:ext>
            </a:extLst>
          </p:cNvPr>
          <p:cNvSpPr/>
          <p:nvPr/>
        </p:nvSpPr>
        <p:spPr>
          <a:xfrm rot="10800000">
            <a:off x="3297496" y="5084273"/>
            <a:ext cx="1947435" cy="463639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6E76B62-C9D0-4E43-A17F-805AFDCE0A03}"/>
                  </a:ext>
                </a:extLst>
              </p:cNvPr>
              <p:cNvSpPr/>
              <p:nvPr/>
            </p:nvSpPr>
            <p:spPr>
              <a:xfrm>
                <a:off x="3214537" y="3485638"/>
                <a:ext cx="51488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6E76B62-C9D0-4E43-A17F-805AFDCE0A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537" y="3485638"/>
                <a:ext cx="514885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1E216AA9-553B-403D-B49C-EFE869029880}"/>
                  </a:ext>
                </a:extLst>
              </p:cNvPr>
              <p:cNvSpPr/>
              <p:nvPr/>
            </p:nvSpPr>
            <p:spPr>
              <a:xfrm>
                <a:off x="4860292" y="3501806"/>
                <a:ext cx="124867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1E216AA9-553B-403D-B49C-EFE8690298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292" y="3501806"/>
                <a:ext cx="1248675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48FAC52C-EF0B-4DBC-B3C9-F9EB0E6D5D77}"/>
                  </a:ext>
                </a:extLst>
              </p:cNvPr>
              <p:cNvSpPr/>
              <p:nvPr/>
            </p:nvSpPr>
            <p:spPr>
              <a:xfrm>
                <a:off x="3961018" y="2159332"/>
                <a:ext cx="907428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48FAC52C-EF0B-4DBC-B3C9-F9EB0E6D5D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1018" y="2159332"/>
                <a:ext cx="907428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B7D385BF-34F7-434F-B040-5CED23F6E0F1}"/>
                  </a:ext>
                </a:extLst>
              </p:cNvPr>
              <p:cNvSpPr/>
              <p:nvPr/>
            </p:nvSpPr>
            <p:spPr>
              <a:xfrm>
                <a:off x="3729422" y="5551705"/>
                <a:ext cx="1082767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US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B7D385BF-34F7-434F-B040-5CED23F6E0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9422" y="5551705"/>
                <a:ext cx="1082767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FBD4E23E-6EBB-4A62-B9AE-0ABBF75C72B6}"/>
                  </a:ext>
                </a:extLst>
              </p:cNvPr>
              <p:cNvSpPr/>
              <p:nvPr/>
            </p:nvSpPr>
            <p:spPr>
              <a:xfrm>
                <a:off x="4852510" y="4353164"/>
                <a:ext cx="124867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AU" sz="32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FBD4E23E-6EBB-4A62-B9AE-0ABBF75C72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2510" y="4353164"/>
                <a:ext cx="1248675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0F0C0275-8C05-44F5-88FC-CB39BDC3D846}"/>
                  </a:ext>
                </a:extLst>
              </p:cNvPr>
              <p:cNvSpPr/>
              <p:nvPr/>
            </p:nvSpPr>
            <p:spPr>
              <a:xfrm>
                <a:off x="2847641" y="4317346"/>
                <a:ext cx="124867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n-AU" sz="32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0F0C0275-8C05-44F5-88FC-CB39BDC3D8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7641" y="4317346"/>
                <a:ext cx="1248675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ectangle 42">
            <a:extLst>
              <a:ext uri="{FF2B5EF4-FFF2-40B4-BE49-F238E27FC236}">
                <a16:creationId xmlns:a16="http://schemas.microsoft.com/office/drawing/2014/main" id="{38A8D2B3-3FD0-4AA0-8193-72932EC0FAD1}"/>
              </a:ext>
            </a:extLst>
          </p:cNvPr>
          <p:cNvSpPr/>
          <p:nvPr/>
        </p:nvSpPr>
        <p:spPr>
          <a:xfrm>
            <a:off x="7305511" y="3439523"/>
            <a:ext cx="1573928" cy="81922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F8A1A71-C96B-44B3-855E-B63EC2EAE373}"/>
              </a:ext>
            </a:extLst>
          </p:cNvPr>
          <p:cNvSpPr/>
          <p:nvPr/>
        </p:nvSpPr>
        <p:spPr>
          <a:xfrm>
            <a:off x="7305511" y="4256266"/>
            <a:ext cx="1573928" cy="81922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45" name="Arrow: Curved Down 44">
            <a:extLst>
              <a:ext uri="{FF2B5EF4-FFF2-40B4-BE49-F238E27FC236}">
                <a16:creationId xmlns:a16="http://schemas.microsoft.com/office/drawing/2014/main" id="{859869DA-375F-4D41-87E5-6622636EB7B3}"/>
              </a:ext>
            </a:extLst>
          </p:cNvPr>
          <p:cNvSpPr/>
          <p:nvPr/>
        </p:nvSpPr>
        <p:spPr>
          <a:xfrm>
            <a:off x="6196704" y="2859508"/>
            <a:ext cx="1947435" cy="46363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>
              <a:solidFill>
                <a:schemeClr val="tx1"/>
              </a:solidFill>
            </a:endParaRPr>
          </a:p>
        </p:txBody>
      </p:sp>
      <p:sp>
        <p:nvSpPr>
          <p:cNvPr id="46" name="Arrow: Curved Down 43">
            <a:extLst>
              <a:ext uri="{FF2B5EF4-FFF2-40B4-BE49-F238E27FC236}">
                <a16:creationId xmlns:a16="http://schemas.microsoft.com/office/drawing/2014/main" id="{05ABA7B7-3973-45EA-8777-6FDE1DFBAE38}"/>
              </a:ext>
            </a:extLst>
          </p:cNvPr>
          <p:cNvSpPr/>
          <p:nvPr/>
        </p:nvSpPr>
        <p:spPr>
          <a:xfrm rot="10800000">
            <a:off x="5920531" y="5137581"/>
            <a:ext cx="1947435" cy="463639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41634D08-E3A8-4C3D-A0C5-953ACD0C5CA2}"/>
                  </a:ext>
                </a:extLst>
              </p:cNvPr>
              <p:cNvSpPr/>
              <p:nvPr/>
            </p:nvSpPr>
            <p:spPr>
              <a:xfrm>
                <a:off x="7367189" y="3526727"/>
                <a:ext cx="1553899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41634D08-E3A8-4C3D-A0C5-953ACD0C5C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7189" y="3526727"/>
                <a:ext cx="1553899" cy="5847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C2FC3346-E9D5-43F3-8275-0B5C537E84A4}"/>
                  </a:ext>
                </a:extLst>
              </p:cNvPr>
              <p:cNvSpPr/>
              <p:nvPr/>
            </p:nvSpPr>
            <p:spPr>
              <a:xfrm>
                <a:off x="6584053" y="2212640"/>
                <a:ext cx="934871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C2FC3346-E9D5-43F3-8275-0B5C537E84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4053" y="2212640"/>
                <a:ext cx="934871" cy="5847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F1F969BB-8496-48D6-A7EE-270EAF8E92C6}"/>
                  </a:ext>
                </a:extLst>
              </p:cNvPr>
              <p:cNvSpPr/>
              <p:nvPr/>
            </p:nvSpPr>
            <p:spPr>
              <a:xfrm>
                <a:off x="7475545" y="4406472"/>
                <a:ext cx="124867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𝟐𝟔</m:t>
                      </m:r>
                    </m:oMath>
                  </m:oMathPara>
                </a14:m>
                <a:endParaRPr lang="en-AU" sz="32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F1F969BB-8496-48D6-A7EE-270EAF8E92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5545" y="4406472"/>
                <a:ext cx="1248675" cy="5847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C11C5426-D11F-425F-A99B-08F864FD4132}"/>
                  </a:ext>
                </a:extLst>
              </p:cNvPr>
              <p:cNvSpPr/>
              <p:nvPr/>
            </p:nvSpPr>
            <p:spPr>
              <a:xfrm>
                <a:off x="6564718" y="5599843"/>
                <a:ext cx="934871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 </m:t>
                      </m:r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C11C5426-D11F-425F-A99B-08F864FD41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4718" y="5599843"/>
                <a:ext cx="934871" cy="58477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0E74EA1A-CFAE-4F79-8356-9D9C8BB038B6}"/>
                  </a:ext>
                </a:extLst>
              </p:cNvPr>
              <p:cNvSpPr/>
              <p:nvPr/>
            </p:nvSpPr>
            <p:spPr>
              <a:xfrm>
                <a:off x="6134981" y="1824497"/>
                <a:ext cx="2157642" cy="5232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AU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26</m:t>
                      </m:r>
                    </m:oMath>
                  </m:oMathPara>
                </a14:m>
                <a:endParaRPr lang="en-AU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0E74EA1A-CFAE-4F79-8356-9D9C8BB038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4981" y="1824497"/>
                <a:ext cx="2157642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Box 51">
            <a:extLst>
              <a:ext uri="{FF2B5EF4-FFF2-40B4-BE49-F238E27FC236}">
                <a16:creationId xmlns:a16="http://schemas.microsoft.com/office/drawing/2014/main" id="{79318371-1F54-4547-8595-D4F81A2E0B92}"/>
              </a:ext>
            </a:extLst>
          </p:cNvPr>
          <p:cNvSpPr txBox="1"/>
          <p:nvPr/>
        </p:nvSpPr>
        <p:spPr>
          <a:xfrm>
            <a:off x="4491487" y="80513"/>
            <a:ext cx="3927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solidFill>
                  <a:schemeClr val="accent1"/>
                </a:solidFill>
              </a:rPr>
              <a:t>W</a:t>
            </a:r>
            <a:r>
              <a:rPr lang="en-AU" sz="3600" b="1" dirty="0"/>
              <a:t>IC</a:t>
            </a:r>
            <a:r>
              <a:rPr lang="en-AU" sz="3600" b="1" dirty="0">
                <a:solidFill>
                  <a:srgbClr val="FF0000"/>
                </a:solidFill>
              </a:rPr>
              <a:t>O</a:t>
            </a:r>
            <a:r>
              <a:rPr lang="en-AU" sz="3600" b="1" dirty="0"/>
              <a:t>R</a:t>
            </a:r>
            <a:endParaRPr lang="en-GB" sz="36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F5C04EC-C02A-478F-82F7-00EBD5EF3F1D}"/>
              </a:ext>
            </a:extLst>
          </p:cNvPr>
          <p:cNvSpPr txBox="1"/>
          <p:nvPr/>
        </p:nvSpPr>
        <p:spPr>
          <a:xfrm>
            <a:off x="296985" y="756649"/>
            <a:ext cx="10618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How do we solve equations when there are brackets?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089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/>
      <p:bldP spid="38" grpId="0"/>
      <p:bldP spid="39" grpId="0"/>
      <p:bldP spid="40" grpId="0"/>
      <p:bldP spid="41" grpId="0"/>
      <p:bldP spid="42" grpId="0"/>
      <p:bldP spid="43" grpId="0" animBg="1"/>
      <p:bldP spid="44" grpId="0" animBg="1"/>
      <p:bldP spid="45" grpId="0" animBg="1"/>
      <p:bldP spid="46" grpId="0" animBg="1"/>
      <p:bldP spid="47" grpId="0"/>
      <p:bldP spid="48" grpId="0"/>
      <p:bldP spid="49" grpId="0"/>
      <p:bldP spid="50" grpId="0"/>
      <p:bldP spid="5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9344025" y="258042"/>
            <a:ext cx="262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XX/XX/2019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2588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Topic: Algebra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A69054-C4DD-4D50-9A01-F509A40C6C8A}"/>
              </a:ext>
            </a:extLst>
          </p:cNvPr>
          <p:cNvSpPr txBox="1"/>
          <p:nvPr/>
        </p:nvSpPr>
        <p:spPr>
          <a:xfrm>
            <a:off x="2382459" y="4486521"/>
            <a:ext cx="80724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4B0B6C9-1568-4D78-A2EA-16ABDF6F008F}"/>
                  </a:ext>
                </a:extLst>
              </p:cNvPr>
              <p:cNvSpPr/>
              <p:nvPr/>
            </p:nvSpPr>
            <p:spPr>
              <a:xfrm>
                <a:off x="4219409" y="2628317"/>
                <a:ext cx="2115964" cy="5232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−6 </m:t>
                      </m:r>
                      <m:r>
                        <a:rPr lang="en-AU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AU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4B0B6C9-1568-4D78-A2EA-16ABDF6F00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9409" y="2628317"/>
                <a:ext cx="211596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urved Right Arrow 2">
            <a:extLst>
              <a:ext uri="{FF2B5EF4-FFF2-40B4-BE49-F238E27FC236}">
                <a16:creationId xmlns:a16="http://schemas.microsoft.com/office/drawing/2014/main" id="{25C91C84-8D1A-4CFB-BAF6-1F36984FDFD1}"/>
              </a:ext>
            </a:extLst>
          </p:cNvPr>
          <p:cNvSpPr/>
          <p:nvPr/>
        </p:nvSpPr>
        <p:spPr>
          <a:xfrm>
            <a:off x="3746385" y="2799119"/>
            <a:ext cx="473024" cy="1203158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8" name="Curved Right Arrow 34">
            <a:extLst>
              <a:ext uri="{FF2B5EF4-FFF2-40B4-BE49-F238E27FC236}">
                <a16:creationId xmlns:a16="http://schemas.microsoft.com/office/drawing/2014/main" id="{3D1802D5-FDB7-4585-AB92-FEEE73A4614D}"/>
              </a:ext>
            </a:extLst>
          </p:cNvPr>
          <p:cNvSpPr/>
          <p:nvPr/>
        </p:nvSpPr>
        <p:spPr>
          <a:xfrm flipH="1">
            <a:off x="6335373" y="2808020"/>
            <a:ext cx="473024" cy="1203158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42BC29A-56E1-4ACB-8A3B-172F43A60D9A}"/>
                  </a:ext>
                </a:extLst>
              </p:cNvPr>
              <p:cNvSpPr txBox="1"/>
              <p:nvPr/>
            </p:nvSpPr>
            <p:spPr>
              <a:xfrm>
                <a:off x="3065856" y="3089489"/>
                <a:ext cx="61715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6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42BC29A-56E1-4ACB-8A3B-172F43A60D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5856" y="3089489"/>
                <a:ext cx="617157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E711AD8-69BC-4206-A103-0D3DAAB2E1DC}"/>
                  </a:ext>
                </a:extLst>
              </p:cNvPr>
              <p:cNvSpPr txBox="1"/>
              <p:nvPr/>
            </p:nvSpPr>
            <p:spPr>
              <a:xfrm>
                <a:off x="6908547" y="3090523"/>
                <a:ext cx="61715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6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E711AD8-69BC-4206-A103-0D3DAAB2E1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8547" y="3090523"/>
                <a:ext cx="617157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>
            <a:extLst>
              <a:ext uri="{FF2B5EF4-FFF2-40B4-BE49-F238E27FC236}">
                <a16:creationId xmlns:a16="http://schemas.microsoft.com/office/drawing/2014/main" id="{B6B67FBF-1746-4B58-A5DF-059D3DCB547E}"/>
              </a:ext>
            </a:extLst>
          </p:cNvPr>
          <p:cNvSpPr/>
          <p:nvPr/>
        </p:nvSpPr>
        <p:spPr>
          <a:xfrm>
            <a:off x="4806935" y="2623346"/>
            <a:ext cx="798899" cy="54793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DF3862E-4B01-4207-BA92-59A1905B0627}"/>
              </a:ext>
            </a:extLst>
          </p:cNvPr>
          <p:cNvSpPr/>
          <p:nvPr/>
        </p:nvSpPr>
        <p:spPr>
          <a:xfrm>
            <a:off x="8313013" y="4303319"/>
            <a:ext cx="880364" cy="932508"/>
          </a:xfrm>
          <a:prstGeom prst="ellipse">
            <a:avLst/>
          </a:prstGeom>
          <a:solidFill>
            <a:srgbClr val="00CC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9AD8733C-2095-4FBE-935C-939F5B48C3C9}"/>
                  </a:ext>
                </a:extLst>
              </p:cNvPr>
              <p:cNvSpPr/>
              <p:nvPr/>
            </p:nvSpPr>
            <p:spPr>
              <a:xfrm>
                <a:off x="9884375" y="4267625"/>
                <a:ext cx="880364" cy="971674"/>
              </a:xfrm>
              <a:prstGeom prst="ellipse">
                <a:avLst/>
              </a:prstGeom>
              <a:solidFill>
                <a:srgbClr val="00CC6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6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AU" sz="6000" dirty="0"/>
              </a:p>
            </p:txBody>
          </p:sp>
        </mc:Choice>
        <mc:Fallback xmlns="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9AD8733C-2095-4FBE-935C-939F5B48C3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4375" y="4267625"/>
                <a:ext cx="880364" cy="971674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Oval 24">
            <a:extLst>
              <a:ext uri="{FF2B5EF4-FFF2-40B4-BE49-F238E27FC236}">
                <a16:creationId xmlns:a16="http://schemas.microsoft.com/office/drawing/2014/main" id="{01AEB776-25BD-41A9-ABAE-2CC182287A9B}"/>
              </a:ext>
            </a:extLst>
          </p:cNvPr>
          <p:cNvSpPr/>
          <p:nvPr/>
        </p:nvSpPr>
        <p:spPr>
          <a:xfrm>
            <a:off x="8340853" y="5550782"/>
            <a:ext cx="880364" cy="971674"/>
          </a:xfrm>
          <a:prstGeom prst="ellipse">
            <a:avLst/>
          </a:prstGeom>
          <a:solidFill>
            <a:srgbClr val="996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×</a:t>
            </a:r>
            <a:endParaRPr lang="en-AU" sz="600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3DA6F1C-A578-47FD-AFEF-97D9AC27A438}"/>
              </a:ext>
            </a:extLst>
          </p:cNvPr>
          <p:cNvSpPr/>
          <p:nvPr/>
        </p:nvSpPr>
        <p:spPr>
          <a:xfrm>
            <a:off x="9884375" y="5550782"/>
            <a:ext cx="880364" cy="971674"/>
          </a:xfrm>
          <a:prstGeom prst="ellipse">
            <a:avLst/>
          </a:prstGeom>
          <a:solidFill>
            <a:srgbClr val="996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÷</a:t>
            </a:r>
            <a:endParaRPr lang="en-AU" sz="6000" dirty="0"/>
          </a:p>
        </p:txBody>
      </p:sp>
      <p:sp>
        <p:nvSpPr>
          <p:cNvPr id="27" name="Left-Right Arrow 9">
            <a:extLst>
              <a:ext uri="{FF2B5EF4-FFF2-40B4-BE49-F238E27FC236}">
                <a16:creationId xmlns:a16="http://schemas.microsoft.com/office/drawing/2014/main" id="{BE553CA8-EE96-4E99-9CC7-93DC1BA1A160}"/>
              </a:ext>
            </a:extLst>
          </p:cNvPr>
          <p:cNvSpPr/>
          <p:nvPr/>
        </p:nvSpPr>
        <p:spPr>
          <a:xfrm>
            <a:off x="9139749" y="4593064"/>
            <a:ext cx="826094" cy="392183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Left-Right Arrow 42">
            <a:extLst>
              <a:ext uri="{FF2B5EF4-FFF2-40B4-BE49-F238E27FC236}">
                <a16:creationId xmlns:a16="http://schemas.microsoft.com/office/drawing/2014/main" id="{A441F646-91B8-409A-85F7-3721AC8F7E4F}"/>
              </a:ext>
            </a:extLst>
          </p:cNvPr>
          <p:cNvSpPr/>
          <p:nvPr/>
        </p:nvSpPr>
        <p:spPr>
          <a:xfrm>
            <a:off x="9139749" y="5815318"/>
            <a:ext cx="826094" cy="392183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EBDBECBE-6031-4920-96E7-DD5D9733057D}"/>
                  </a:ext>
                </a:extLst>
              </p:cNvPr>
              <p:cNvSpPr/>
              <p:nvPr/>
            </p:nvSpPr>
            <p:spPr>
              <a:xfrm>
                <a:off x="4679677" y="3749568"/>
                <a:ext cx="1610184" cy="5232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AU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EBDBECBE-6031-4920-96E7-DD5D973305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9677" y="3749568"/>
                <a:ext cx="1610184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BB89E165-411E-4C2B-9401-D334E53A19DC}"/>
              </a:ext>
            </a:extLst>
          </p:cNvPr>
          <p:cNvSpPr txBox="1"/>
          <p:nvPr/>
        </p:nvSpPr>
        <p:spPr>
          <a:xfrm>
            <a:off x="2533011" y="1340427"/>
            <a:ext cx="50615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OPTION 2: </a:t>
            </a:r>
            <a:r>
              <a:rPr lang="en-US" sz="2400" dirty="0"/>
              <a:t>Balancing both sides</a:t>
            </a:r>
            <a:endParaRPr lang="en-AU" sz="2400" dirty="0"/>
          </a:p>
        </p:txBody>
      </p:sp>
      <p:sp>
        <p:nvSpPr>
          <p:cNvPr id="31" name="Curved Right Arrow 21">
            <a:extLst>
              <a:ext uri="{FF2B5EF4-FFF2-40B4-BE49-F238E27FC236}">
                <a16:creationId xmlns:a16="http://schemas.microsoft.com/office/drawing/2014/main" id="{D8B85093-D510-4E8A-BC97-951803D0E57C}"/>
              </a:ext>
            </a:extLst>
          </p:cNvPr>
          <p:cNvSpPr/>
          <p:nvPr/>
        </p:nvSpPr>
        <p:spPr>
          <a:xfrm>
            <a:off x="3846535" y="4110410"/>
            <a:ext cx="473024" cy="1203158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32" name="Curved Right Arrow 22">
            <a:extLst>
              <a:ext uri="{FF2B5EF4-FFF2-40B4-BE49-F238E27FC236}">
                <a16:creationId xmlns:a16="http://schemas.microsoft.com/office/drawing/2014/main" id="{E1EFE517-9C94-4DB0-98D1-B8A70B51770D}"/>
              </a:ext>
            </a:extLst>
          </p:cNvPr>
          <p:cNvSpPr/>
          <p:nvPr/>
        </p:nvSpPr>
        <p:spPr>
          <a:xfrm flipH="1">
            <a:off x="6435523" y="4119311"/>
            <a:ext cx="473024" cy="1203158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5AB9B94-7F1E-4994-99E1-2BE30E2BEAC1}"/>
                  </a:ext>
                </a:extLst>
              </p:cNvPr>
              <p:cNvSpPr txBox="1"/>
              <p:nvPr/>
            </p:nvSpPr>
            <p:spPr>
              <a:xfrm>
                <a:off x="3166006" y="4400780"/>
                <a:ext cx="61837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5AB9B94-7F1E-4994-99E1-2BE30E2BE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6006" y="4400780"/>
                <a:ext cx="61837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D90D6C3-D57B-4AD7-AC1D-18D9953E3012}"/>
                  </a:ext>
                </a:extLst>
              </p:cNvPr>
              <p:cNvSpPr txBox="1"/>
              <p:nvPr/>
            </p:nvSpPr>
            <p:spPr>
              <a:xfrm>
                <a:off x="6908547" y="4402209"/>
                <a:ext cx="61837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D90D6C3-D57B-4AD7-AC1D-18D9953E3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8547" y="4402209"/>
                <a:ext cx="618374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B6DF93E-63C5-4505-9EBD-2C6F3A64B0F4}"/>
                  </a:ext>
                </a:extLst>
              </p:cNvPr>
              <p:cNvSpPr/>
              <p:nvPr/>
            </p:nvSpPr>
            <p:spPr>
              <a:xfrm>
                <a:off x="4779827" y="5060859"/>
                <a:ext cx="1212640" cy="5232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AU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B6DF93E-63C5-4505-9EBD-2C6F3A64B0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9827" y="5060859"/>
                <a:ext cx="1212640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Oval 35">
            <a:extLst>
              <a:ext uri="{FF2B5EF4-FFF2-40B4-BE49-F238E27FC236}">
                <a16:creationId xmlns:a16="http://schemas.microsoft.com/office/drawing/2014/main" id="{3953C810-A54F-421D-A1EB-490E9DB238A1}"/>
              </a:ext>
            </a:extLst>
          </p:cNvPr>
          <p:cNvSpPr/>
          <p:nvPr/>
        </p:nvSpPr>
        <p:spPr>
          <a:xfrm>
            <a:off x="4725777" y="3769130"/>
            <a:ext cx="323321" cy="49849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2DFA1CE-7C94-4586-97BD-6DC847203503}"/>
              </a:ext>
            </a:extLst>
          </p:cNvPr>
          <p:cNvSpPr txBox="1"/>
          <p:nvPr/>
        </p:nvSpPr>
        <p:spPr>
          <a:xfrm>
            <a:off x="296985" y="756649"/>
            <a:ext cx="10618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How do we solve equations when there are brackets?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34F002F-0FF0-465C-87CB-16B8226C8D0A}"/>
              </a:ext>
            </a:extLst>
          </p:cNvPr>
          <p:cNvSpPr txBox="1"/>
          <p:nvPr/>
        </p:nvSpPr>
        <p:spPr>
          <a:xfrm>
            <a:off x="4491487" y="80513"/>
            <a:ext cx="3927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solidFill>
                  <a:schemeClr val="accent1"/>
                </a:solidFill>
              </a:rPr>
              <a:t>W</a:t>
            </a:r>
            <a:r>
              <a:rPr lang="en-AU" sz="3600" b="1" dirty="0"/>
              <a:t>IC</a:t>
            </a:r>
            <a:r>
              <a:rPr lang="en-AU" sz="3600" b="1" dirty="0">
                <a:solidFill>
                  <a:srgbClr val="FF0000"/>
                </a:solidFill>
              </a:rPr>
              <a:t>O</a:t>
            </a:r>
            <a:r>
              <a:rPr lang="en-AU" sz="3600" b="1" dirty="0"/>
              <a:t>R</a:t>
            </a:r>
            <a:endParaRPr lang="en-GB" sz="36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F643194A-9810-4C31-864C-3BF41E2C1B87}"/>
                  </a:ext>
                </a:extLst>
              </p:cNvPr>
              <p:cNvSpPr/>
              <p:nvPr/>
            </p:nvSpPr>
            <p:spPr>
              <a:xfrm>
                <a:off x="4083047" y="1795646"/>
                <a:ext cx="2414122" cy="5232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AU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2)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AU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F643194A-9810-4C31-864C-3BF41E2C1B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3047" y="1795646"/>
                <a:ext cx="2414122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9067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1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7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8" grpId="0" animBg="1"/>
      <p:bldP spid="19" grpId="0"/>
      <p:bldP spid="20" grpId="0"/>
      <p:bldP spid="21" grpId="0" animBg="1"/>
      <p:bldP spid="28" grpId="0" animBg="1"/>
      <p:bldP spid="31" grpId="0" animBg="1"/>
      <p:bldP spid="32" grpId="0" animBg="1"/>
      <p:bldP spid="33" grpId="0"/>
      <p:bldP spid="34" grpId="0"/>
      <p:bldP spid="3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377D1-33EA-470A-9236-A44500533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 1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75EC36B-EEB7-45F5-8256-1DD3985C8A8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37" t="34153" r="73826" b="35316"/>
          <a:stretch/>
        </p:blipFill>
        <p:spPr>
          <a:xfrm>
            <a:off x="4382152" y="667155"/>
            <a:ext cx="3053751" cy="6280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B31068-9BC2-4733-83DC-A1DF4E0E6EB9}"/>
              </a:ext>
            </a:extLst>
          </p:cNvPr>
          <p:cNvSpPr txBox="1"/>
          <p:nvPr/>
        </p:nvSpPr>
        <p:spPr>
          <a:xfrm>
            <a:off x="1736785" y="2023531"/>
            <a:ext cx="3525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Backtracking Method</a:t>
            </a:r>
            <a:endParaRPr lang="en-GB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DBBA3A7-0319-4D73-8AC4-37348C5C498D}"/>
              </a:ext>
            </a:extLst>
          </p:cNvPr>
          <p:cNvSpPr/>
          <p:nvPr/>
        </p:nvSpPr>
        <p:spPr>
          <a:xfrm>
            <a:off x="2977432" y="3926801"/>
            <a:ext cx="950611" cy="81922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BA0EAC1-66BC-4FB9-9E74-ABAC9984A769}"/>
              </a:ext>
            </a:extLst>
          </p:cNvPr>
          <p:cNvSpPr/>
          <p:nvPr/>
        </p:nvSpPr>
        <p:spPr>
          <a:xfrm>
            <a:off x="4670974" y="3926803"/>
            <a:ext cx="1573928" cy="81922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BF726E0-BE78-4F8F-93C8-6B9AFF26068A}"/>
              </a:ext>
            </a:extLst>
          </p:cNvPr>
          <p:cNvSpPr/>
          <p:nvPr/>
        </p:nvSpPr>
        <p:spPr>
          <a:xfrm>
            <a:off x="2977432" y="4743544"/>
            <a:ext cx="950611" cy="81922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3AEF493-5AAD-4C02-803D-A9B5A4A6AF2E}"/>
              </a:ext>
            </a:extLst>
          </p:cNvPr>
          <p:cNvSpPr/>
          <p:nvPr/>
        </p:nvSpPr>
        <p:spPr>
          <a:xfrm>
            <a:off x="4670974" y="4743546"/>
            <a:ext cx="1573928" cy="81922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2" name="Arrow: Curved Down 40">
            <a:extLst>
              <a:ext uri="{FF2B5EF4-FFF2-40B4-BE49-F238E27FC236}">
                <a16:creationId xmlns:a16="http://schemas.microsoft.com/office/drawing/2014/main" id="{7F21B44F-D13C-478C-BAE9-E7EFEF496407}"/>
              </a:ext>
            </a:extLst>
          </p:cNvPr>
          <p:cNvSpPr/>
          <p:nvPr/>
        </p:nvSpPr>
        <p:spPr>
          <a:xfrm>
            <a:off x="3562167" y="3346788"/>
            <a:ext cx="1947435" cy="46363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>
              <a:solidFill>
                <a:schemeClr val="tx1"/>
              </a:solidFill>
            </a:endParaRPr>
          </a:p>
        </p:txBody>
      </p:sp>
      <p:sp>
        <p:nvSpPr>
          <p:cNvPr id="33" name="Arrow: Curved Down 43">
            <a:extLst>
              <a:ext uri="{FF2B5EF4-FFF2-40B4-BE49-F238E27FC236}">
                <a16:creationId xmlns:a16="http://schemas.microsoft.com/office/drawing/2014/main" id="{203B352F-7778-4118-B761-970EAE568505}"/>
              </a:ext>
            </a:extLst>
          </p:cNvPr>
          <p:cNvSpPr/>
          <p:nvPr/>
        </p:nvSpPr>
        <p:spPr>
          <a:xfrm rot="10800000">
            <a:off x="3285994" y="5624861"/>
            <a:ext cx="1947435" cy="463639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3F510440-6B2C-40B1-9A37-BC997E892582}"/>
                  </a:ext>
                </a:extLst>
              </p:cNvPr>
              <p:cNvSpPr/>
              <p:nvPr/>
            </p:nvSpPr>
            <p:spPr>
              <a:xfrm>
                <a:off x="3203035" y="4026226"/>
                <a:ext cx="51488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3F510440-6B2C-40B1-9A37-BC997E8925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035" y="4026226"/>
                <a:ext cx="514885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5224688B-64EA-4602-ABD7-48007F993CA1}"/>
                  </a:ext>
                </a:extLst>
              </p:cNvPr>
              <p:cNvSpPr/>
              <p:nvPr/>
            </p:nvSpPr>
            <p:spPr>
              <a:xfrm>
                <a:off x="4848790" y="4042394"/>
                <a:ext cx="124867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5224688B-64EA-4602-ABD7-48007F993C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8790" y="4042394"/>
                <a:ext cx="1248675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C7A188C6-E9E0-441F-BEAE-6275FBD29D88}"/>
                  </a:ext>
                </a:extLst>
              </p:cNvPr>
              <p:cNvSpPr/>
              <p:nvPr/>
            </p:nvSpPr>
            <p:spPr>
              <a:xfrm>
                <a:off x="3949516" y="2699920"/>
                <a:ext cx="923458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C7A188C6-E9E0-441F-BEAE-6275FBD29D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9516" y="2699920"/>
                <a:ext cx="923458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98EE4510-3CFF-473A-B2A2-6E8AEC04012D}"/>
                  </a:ext>
                </a:extLst>
              </p:cNvPr>
              <p:cNvSpPr/>
              <p:nvPr/>
            </p:nvSpPr>
            <p:spPr>
              <a:xfrm>
                <a:off x="3717920" y="6092293"/>
                <a:ext cx="1082767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98EE4510-3CFF-473A-B2A2-6E8AEC0401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920" y="6092293"/>
                <a:ext cx="1082767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B6EA1633-3CEB-4466-BB76-77CF1156D3D9}"/>
                  </a:ext>
                </a:extLst>
              </p:cNvPr>
              <p:cNvSpPr/>
              <p:nvPr/>
            </p:nvSpPr>
            <p:spPr>
              <a:xfrm>
                <a:off x="4841008" y="4893752"/>
                <a:ext cx="124867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AU" sz="32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B6EA1633-3CEB-4466-BB76-77CF1156D3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1008" y="4893752"/>
                <a:ext cx="1248675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E9F298DD-C82A-47A6-8714-63F73DB87A36}"/>
                  </a:ext>
                </a:extLst>
              </p:cNvPr>
              <p:cNvSpPr/>
              <p:nvPr/>
            </p:nvSpPr>
            <p:spPr>
              <a:xfrm>
                <a:off x="2836139" y="4857934"/>
                <a:ext cx="124867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32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E9F298DD-C82A-47A6-8714-63F73DB87A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6139" y="4857934"/>
                <a:ext cx="1248675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ctangle 39">
            <a:extLst>
              <a:ext uri="{FF2B5EF4-FFF2-40B4-BE49-F238E27FC236}">
                <a16:creationId xmlns:a16="http://schemas.microsoft.com/office/drawing/2014/main" id="{3F6DCA75-FAEF-451A-968D-E1AD5FD2C457}"/>
              </a:ext>
            </a:extLst>
          </p:cNvPr>
          <p:cNvSpPr/>
          <p:nvPr/>
        </p:nvSpPr>
        <p:spPr>
          <a:xfrm>
            <a:off x="7294009" y="3980111"/>
            <a:ext cx="1573928" cy="81922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367B96A-1BDC-44DA-9530-710ABAC66FE2}"/>
              </a:ext>
            </a:extLst>
          </p:cNvPr>
          <p:cNvSpPr/>
          <p:nvPr/>
        </p:nvSpPr>
        <p:spPr>
          <a:xfrm>
            <a:off x="7294009" y="4796854"/>
            <a:ext cx="1573928" cy="81922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42" name="Arrow: Curved Down 41">
            <a:extLst>
              <a:ext uri="{FF2B5EF4-FFF2-40B4-BE49-F238E27FC236}">
                <a16:creationId xmlns:a16="http://schemas.microsoft.com/office/drawing/2014/main" id="{5DEB54AC-91CA-4253-BB2E-1D51FE87D8F9}"/>
              </a:ext>
            </a:extLst>
          </p:cNvPr>
          <p:cNvSpPr/>
          <p:nvPr/>
        </p:nvSpPr>
        <p:spPr>
          <a:xfrm>
            <a:off x="6185202" y="3400096"/>
            <a:ext cx="1947435" cy="46363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>
              <a:solidFill>
                <a:schemeClr val="tx1"/>
              </a:solidFill>
            </a:endParaRPr>
          </a:p>
        </p:txBody>
      </p:sp>
      <p:sp>
        <p:nvSpPr>
          <p:cNvPr id="43" name="Arrow: Curved Down 43">
            <a:extLst>
              <a:ext uri="{FF2B5EF4-FFF2-40B4-BE49-F238E27FC236}">
                <a16:creationId xmlns:a16="http://schemas.microsoft.com/office/drawing/2014/main" id="{93F43870-CF21-4975-901C-7FD7FB0646F9}"/>
              </a:ext>
            </a:extLst>
          </p:cNvPr>
          <p:cNvSpPr/>
          <p:nvPr/>
        </p:nvSpPr>
        <p:spPr>
          <a:xfrm rot="10800000">
            <a:off x="5909029" y="5678169"/>
            <a:ext cx="1947435" cy="463639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92F72618-856B-4353-9264-72A26ED6035F}"/>
                  </a:ext>
                </a:extLst>
              </p:cNvPr>
              <p:cNvSpPr/>
              <p:nvPr/>
            </p:nvSpPr>
            <p:spPr>
              <a:xfrm>
                <a:off x="7355687" y="4067315"/>
                <a:ext cx="155389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92F72618-856B-4353-9264-72A26ED603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5687" y="4067315"/>
                <a:ext cx="1553899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C773AB57-C8C0-477B-94C9-22A1D645FAE0}"/>
                  </a:ext>
                </a:extLst>
              </p:cNvPr>
              <p:cNvSpPr/>
              <p:nvPr/>
            </p:nvSpPr>
            <p:spPr>
              <a:xfrm>
                <a:off x="6572551" y="2753228"/>
                <a:ext cx="1180131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C773AB57-C8C0-477B-94C9-22A1D645FA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551" y="2753228"/>
                <a:ext cx="1180131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8BE0914E-72FB-4A35-99FE-F88E8773FB4D}"/>
                  </a:ext>
                </a:extLst>
              </p:cNvPr>
              <p:cNvSpPr/>
              <p:nvPr/>
            </p:nvSpPr>
            <p:spPr>
              <a:xfrm>
                <a:off x="7464043" y="4947060"/>
                <a:ext cx="124867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𝟏𝟖</m:t>
                      </m:r>
                    </m:oMath>
                  </m:oMathPara>
                </a14:m>
                <a:endParaRPr lang="en-AU" sz="32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8BE0914E-72FB-4A35-99FE-F88E8773FB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4043" y="4947060"/>
                <a:ext cx="1248675" cy="5847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02819948-A6EC-4F10-A0DF-48EB2DFD1D11}"/>
                  </a:ext>
                </a:extLst>
              </p:cNvPr>
              <p:cNvSpPr/>
              <p:nvPr/>
            </p:nvSpPr>
            <p:spPr>
              <a:xfrm>
                <a:off x="6553216" y="6140431"/>
                <a:ext cx="1180131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 </m:t>
                      </m:r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02819948-A6EC-4F10-A0DF-48EB2DFD1D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16" y="6140431"/>
                <a:ext cx="1180131" cy="5847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4158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/>
      <p:bldP spid="35" grpId="0"/>
      <p:bldP spid="36" grpId="0"/>
      <p:bldP spid="37" grpId="0"/>
      <p:bldP spid="38" grpId="0"/>
      <p:bldP spid="39" grpId="0"/>
      <p:bldP spid="40" grpId="0" animBg="1"/>
      <p:bldP spid="41" grpId="0" animBg="1"/>
      <p:bldP spid="42" grpId="0" animBg="1"/>
      <p:bldP spid="43" grpId="0" animBg="1"/>
      <p:bldP spid="44" grpId="0"/>
      <p:bldP spid="45" grpId="0"/>
      <p:bldP spid="46" grpId="0"/>
      <p:bldP spid="4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377D1-33EA-470A-9236-A44500533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75EC36B-EEB7-45F5-8256-1DD3985C8A8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37" t="34153" r="73826" b="35316"/>
          <a:stretch/>
        </p:blipFill>
        <p:spPr>
          <a:xfrm>
            <a:off x="4267572" y="1116850"/>
            <a:ext cx="3053751" cy="628077"/>
          </a:xfrm>
          <a:prstGeom prst="rect">
            <a:avLst/>
          </a:prstGeom>
        </p:spPr>
      </p:pic>
      <p:pic>
        <p:nvPicPr>
          <p:cNvPr id="5" name="Content Placeholder 2">
            <a:extLst>
              <a:ext uri="{FF2B5EF4-FFF2-40B4-BE49-F238E27FC236}">
                <a16:creationId xmlns:a16="http://schemas.microsoft.com/office/drawing/2014/main" id="{A7F4386B-7083-4E6D-AE90-A95652D963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3753" r="64627" b="80206"/>
          <a:stretch/>
        </p:blipFill>
        <p:spPr>
          <a:xfrm>
            <a:off x="3576495" y="2720333"/>
            <a:ext cx="4947005" cy="25294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B31068-9BC2-4733-83DC-A1DF4E0E6EB9}"/>
              </a:ext>
            </a:extLst>
          </p:cNvPr>
          <p:cNvSpPr txBox="1"/>
          <p:nvPr/>
        </p:nvSpPr>
        <p:spPr>
          <a:xfrm>
            <a:off x="1736785" y="2023531"/>
            <a:ext cx="3525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Balancing Method</a:t>
            </a:r>
            <a:endParaRPr lang="en-GB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225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94348-D35E-410A-86BA-7F6659B01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WE DO (LHS) 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DB83B44-DA96-4664-8989-31F94A359F68}"/>
                  </a:ext>
                </a:extLst>
              </p:cNvPr>
              <p:cNvSpPr/>
              <p:nvPr/>
            </p:nvSpPr>
            <p:spPr>
              <a:xfrm>
                <a:off x="4961807" y="1507008"/>
                <a:ext cx="2356414" cy="5232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+10</m:t>
                      </m:r>
                      <m:r>
                        <a:rPr lang="en-AU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en-AU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DB83B44-DA96-4664-8989-31F94A359F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1807" y="1507008"/>
                <a:ext cx="2356414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val 25">
            <a:extLst>
              <a:ext uri="{FF2B5EF4-FFF2-40B4-BE49-F238E27FC236}">
                <a16:creationId xmlns:a16="http://schemas.microsoft.com/office/drawing/2014/main" id="{FECC5138-6879-475C-BFD4-9C84A36B2B82}"/>
              </a:ext>
            </a:extLst>
          </p:cNvPr>
          <p:cNvSpPr/>
          <p:nvPr/>
        </p:nvSpPr>
        <p:spPr>
          <a:xfrm>
            <a:off x="9650540" y="4537178"/>
            <a:ext cx="880364" cy="932508"/>
          </a:xfrm>
          <a:prstGeom prst="ellipse">
            <a:avLst/>
          </a:prstGeom>
          <a:solidFill>
            <a:srgbClr val="00CC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EE158526-4765-47BB-97AF-1E168D8D1600}"/>
                  </a:ext>
                </a:extLst>
              </p:cNvPr>
              <p:cNvSpPr/>
              <p:nvPr/>
            </p:nvSpPr>
            <p:spPr>
              <a:xfrm>
                <a:off x="11221902" y="4501484"/>
                <a:ext cx="880364" cy="971674"/>
              </a:xfrm>
              <a:prstGeom prst="ellipse">
                <a:avLst/>
              </a:prstGeom>
              <a:solidFill>
                <a:srgbClr val="00CC6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6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AU" sz="6000" dirty="0"/>
              </a:p>
            </p:txBody>
          </p:sp>
        </mc:Choice>
        <mc:Fallback xmlns="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EE158526-4765-47BB-97AF-1E168D8D16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1902" y="4501484"/>
                <a:ext cx="880364" cy="971674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Oval 27">
            <a:extLst>
              <a:ext uri="{FF2B5EF4-FFF2-40B4-BE49-F238E27FC236}">
                <a16:creationId xmlns:a16="http://schemas.microsoft.com/office/drawing/2014/main" id="{D7115CAA-BD9A-45D6-BC3D-57AD96AE2AEB}"/>
              </a:ext>
            </a:extLst>
          </p:cNvPr>
          <p:cNvSpPr/>
          <p:nvPr/>
        </p:nvSpPr>
        <p:spPr>
          <a:xfrm>
            <a:off x="9678380" y="5784641"/>
            <a:ext cx="880364" cy="971674"/>
          </a:xfrm>
          <a:prstGeom prst="ellipse">
            <a:avLst/>
          </a:prstGeom>
          <a:solidFill>
            <a:srgbClr val="996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×</a:t>
            </a:r>
            <a:endParaRPr lang="en-AU" sz="600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B4FD7BD-400C-41AC-890F-DF0BEE3231D4}"/>
              </a:ext>
            </a:extLst>
          </p:cNvPr>
          <p:cNvSpPr/>
          <p:nvPr/>
        </p:nvSpPr>
        <p:spPr>
          <a:xfrm>
            <a:off x="11221902" y="5784641"/>
            <a:ext cx="880364" cy="971674"/>
          </a:xfrm>
          <a:prstGeom prst="ellipse">
            <a:avLst/>
          </a:prstGeom>
          <a:solidFill>
            <a:srgbClr val="996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÷</a:t>
            </a:r>
            <a:endParaRPr lang="en-AU" sz="6000" dirty="0"/>
          </a:p>
        </p:txBody>
      </p:sp>
      <p:sp>
        <p:nvSpPr>
          <p:cNvPr id="30" name="Left-Right Arrow 48">
            <a:extLst>
              <a:ext uri="{FF2B5EF4-FFF2-40B4-BE49-F238E27FC236}">
                <a16:creationId xmlns:a16="http://schemas.microsoft.com/office/drawing/2014/main" id="{2AE4CC93-081C-40F2-A048-E71EF7AE0891}"/>
              </a:ext>
            </a:extLst>
          </p:cNvPr>
          <p:cNvSpPr/>
          <p:nvPr/>
        </p:nvSpPr>
        <p:spPr>
          <a:xfrm>
            <a:off x="10477276" y="4826923"/>
            <a:ext cx="826094" cy="392183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Left-Right Arrow 49">
            <a:extLst>
              <a:ext uri="{FF2B5EF4-FFF2-40B4-BE49-F238E27FC236}">
                <a16:creationId xmlns:a16="http://schemas.microsoft.com/office/drawing/2014/main" id="{13950DA8-7E3F-4548-BD0D-32996DF40CD2}"/>
              </a:ext>
            </a:extLst>
          </p:cNvPr>
          <p:cNvSpPr/>
          <p:nvPr/>
        </p:nvSpPr>
        <p:spPr>
          <a:xfrm>
            <a:off x="10477276" y="6049177"/>
            <a:ext cx="826094" cy="392183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E677981-C9B8-483B-91B4-3733B054C7CF}"/>
                  </a:ext>
                </a:extLst>
              </p:cNvPr>
              <p:cNvSpPr/>
              <p:nvPr/>
            </p:nvSpPr>
            <p:spPr>
              <a:xfrm>
                <a:off x="4784437" y="803538"/>
                <a:ext cx="2654573" cy="5232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(2</m:t>
                      </m:r>
                      <m:r>
                        <a:rPr lang="en-AU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5)</m:t>
                      </m:r>
                      <m:r>
                        <a:rPr lang="en-AU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en-AU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E677981-C9B8-483B-91B4-3733B054C7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4437" y="803538"/>
                <a:ext cx="2654573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109AFB54-213E-4B3B-A6CC-7F48A4EBB2FD}"/>
              </a:ext>
            </a:extLst>
          </p:cNvPr>
          <p:cNvSpPr/>
          <p:nvPr/>
        </p:nvSpPr>
        <p:spPr>
          <a:xfrm>
            <a:off x="2988934" y="3386213"/>
            <a:ext cx="950611" cy="81922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1C55CED-E752-449D-98C8-D1D4D61B3181}"/>
              </a:ext>
            </a:extLst>
          </p:cNvPr>
          <p:cNvSpPr/>
          <p:nvPr/>
        </p:nvSpPr>
        <p:spPr>
          <a:xfrm>
            <a:off x="4682476" y="3386215"/>
            <a:ext cx="1573928" cy="81922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8AB9604-70F0-4DD8-935A-327DEAAF8486}"/>
              </a:ext>
            </a:extLst>
          </p:cNvPr>
          <p:cNvSpPr/>
          <p:nvPr/>
        </p:nvSpPr>
        <p:spPr>
          <a:xfrm>
            <a:off x="2988934" y="4202956"/>
            <a:ext cx="950611" cy="81922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155AB51-C1D0-4913-A466-2F52B1B741D3}"/>
              </a:ext>
            </a:extLst>
          </p:cNvPr>
          <p:cNvSpPr/>
          <p:nvPr/>
        </p:nvSpPr>
        <p:spPr>
          <a:xfrm>
            <a:off x="4682476" y="4202958"/>
            <a:ext cx="1573928" cy="81922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7" name="Arrow: Curved Down 40">
            <a:extLst>
              <a:ext uri="{FF2B5EF4-FFF2-40B4-BE49-F238E27FC236}">
                <a16:creationId xmlns:a16="http://schemas.microsoft.com/office/drawing/2014/main" id="{CCF1F735-5B9F-4EEC-850E-2948634EAAAC}"/>
              </a:ext>
            </a:extLst>
          </p:cNvPr>
          <p:cNvSpPr/>
          <p:nvPr/>
        </p:nvSpPr>
        <p:spPr>
          <a:xfrm>
            <a:off x="3573669" y="2806200"/>
            <a:ext cx="1947435" cy="46363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>
              <a:solidFill>
                <a:schemeClr val="tx1"/>
              </a:solidFill>
            </a:endParaRPr>
          </a:p>
        </p:txBody>
      </p:sp>
      <p:sp>
        <p:nvSpPr>
          <p:cNvPr id="38" name="Arrow: Curved Down 43">
            <a:extLst>
              <a:ext uri="{FF2B5EF4-FFF2-40B4-BE49-F238E27FC236}">
                <a16:creationId xmlns:a16="http://schemas.microsoft.com/office/drawing/2014/main" id="{4CEB88D8-0086-4844-9D23-DCC77C49BC32}"/>
              </a:ext>
            </a:extLst>
          </p:cNvPr>
          <p:cNvSpPr/>
          <p:nvPr/>
        </p:nvSpPr>
        <p:spPr>
          <a:xfrm rot="10800000">
            <a:off x="3297496" y="5084273"/>
            <a:ext cx="1947435" cy="463639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60C59D1-E9C2-48E3-919E-FB7DFB461C99}"/>
              </a:ext>
            </a:extLst>
          </p:cNvPr>
          <p:cNvSpPr/>
          <p:nvPr/>
        </p:nvSpPr>
        <p:spPr>
          <a:xfrm>
            <a:off x="7305511" y="3439523"/>
            <a:ext cx="1573928" cy="81922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1188220-1A67-4729-8E9D-FDAE2105AA3C}"/>
              </a:ext>
            </a:extLst>
          </p:cNvPr>
          <p:cNvSpPr/>
          <p:nvPr/>
        </p:nvSpPr>
        <p:spPr>
          <a:xfrm>
            <a:off x="7305511" y="4256266"/>
            <a:ext cx="1573928" cy="81922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47" name="Arrow: Curved Down 46">
            <a:extLst>
              <a:ext uri="{FF2B5EF4-FFF2-40B4-BE49-F238E27FC236}">
                <a16:creationId xmlns:a16="http://schemas.microsoft.com/office/drawing/2014/main" id="{2309BEC9-E11C-4BC7-80B2-DE6D0766235B}"/>
              </a:ext>
            </a:extLst>
          </p:cNvPr>
          <p:cNvSpPr/>
          <p:nvPr/>
        </p:nvSpPr>
        <p:spPr>
          <a:xfrm>
            <a:off x="6196704" y="2859508"/>
            <a:ext cx="1947435" cy="46363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>
              <a:solidFill>
                <a:schemeClr val="tx1"/>
              </a:solidFill>
            </a:endParaRPr>
          </a:p>
        </p:txBody>
      </p:sp>
      <p:sp>
        <p:nvSpPr>
          <p:cNvPr id="48" name="Arrow: Curved Down 43">
            <a:extLst>
              <a:ext uri="{FF2B5EF4-FFF2-40B4-BE49-F238E27FC236}">
                <a16:creationId xmlns:a16="http://schemas.microsoft.com/office/drawing/2014/main" id="{EBCF1CE2-4A8B-40C1-B647-39E79B36FE34}"/>
              </a:ext>
            </a:extLst>
          </p:cNvPr>
          <p:cNvSpPr/>
          <p:nvPr/>
        </p:nvSpPr>
        <p:spPr>
          <a:xfrm rot="10800000">
            <a:off x="5920531" y="5137581"/>
            <a:ext cx="1947435" cy="463639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3871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C4B71-09AA-402C-87BA-45D002C97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Task: Complete the Questions (LHS)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40F4BA-5938-44BD-8250-9D3B6003A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737" y="1781298"/>
            <a:ext cx="10487684" cy="4594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6801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145</TotalTime>
  <Words>427</Words>
  <Application>Microsoft Office PowerPoint</Application>
  <PresentationFormat>Widescreen</PresentationFormat>
  <Paragraphs>116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Cambria Math</vt:lpstr>
      <vt:lpstr>Tw Cen MT</vt:lpstr>
      <vt:lpstr>Tw Cen MT Condensed</vt:lpstr>
      <vt:lpstr>Wingdings 3</vt:lpstr>
      <vt:lpstr>Integral</vt:lpstr>
      <vt:lpstr>Topic: Algebra EQ: How do we solve Equations When There’s Brackets?</vt:lpstr>
      <vt:lpstr>PowerPoint Presentation</vt:lpstr>
      <vt:lpstr>PowerPoint Presentation</vt:lpstr>
      <vt:lpstr>Five Questions (LHS)</vt:lpstr>
      <vt:lpstr>PowerPoint Presentation</vt:lpstr>
      <vt:lpstr>PowerPoint Presentation</vt:lpstr>
      <vt:lpstr>PowerPoint Presentation</vt:lpstr>
      <vt:lpstr>Example 1</vt:lpstr>
      <vt:lpstr>Example</vt:lpstr>
      <vt:lpstr>WE DO (LHS) </vt:lpstr>
      <vt:lpstr>Task: Complete the Questions (LHS)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Algebra EQ: How do we solve Two Step Equations?</dc:title>
  <dc:creator>PARLEVLIET Magdeline [Baldivis Secondary College]</dc:creator>
  <cp:lastModifiedBy>PARLEVLIET Magdeline [Baldivis Secondary College]</cp:lastModifiedBy>
  <cp:revision>11</cp:revision>
  <dcterms:created xsi:type="dcterms:W3CDTF">2019-08-21T16:02:27Z</dcterms:created>
  <dcterms:modified xsi:type="dcterms:W3CDTF">2019-09-01T16:31:38Z</dcterms:modified>
</cp:coreProperties>
</file>
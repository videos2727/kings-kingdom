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8" r:id="rId3"/>
    <p:sldId id="257" r:id="rId4"/>
    <p:sldId id="263" r:id="rId5"/>
    <p:sldId id="262" r:id="rId6"/>
    <p:sldId id="264" r:id="rId7"/>
    <p:sldId id="265" r:id="rId8"/>
    <p:sldId id="267" r:id="rId9"/>
    <p:sldId id="268" r:id="rId10"/>
    <p:sldId id="26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948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8/19/2019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ctrTitle"/>
              </p:nvPr>
            </p:nvSpPr>
            <p:spPr>
              <a:xfrm>
                <a:off x="147281" y="1260530"/>
                <a:ext cx="8924785" cy="936752"/>
              </a:xfrm>
            </p:spPr>
            <p:txBody>
              <a:bodyPr>
                <a:noAutofit/>
              </a:bodyPr>
              <a:lstStyle/>
              <a:p>
                <a:r>
                  <a:rPr lang="en-US" sz="3200" dirty="0" smtClean="0"/>
                  <a:t>ALGEBRA</a:t>
                </a:r>
                <a:br>
                  <a:rPr lang="en-US" sz="3200" dirty="0" smtClean="0"/>
                </a:br>
                <a:r>
                  <a:rPr lang="en-US" sz="3200" dirty="0" smtClean="0"/>
                  <a:t>EQ: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</a:rPr>
                      <m:t>𝐻𝑜𝑤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𝑑𝑜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𝑤𝑒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𝑠𝑜𝑙𝑣𝑒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𝑒𝑞𝑢𝑎𝑡𝑖𝑜𝑛𝑠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𝑢𝑠𝑖𝑛𝑔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𝑜𝑛𝑒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𝑠𝑡𝑒𝑝</m:t>
                    </m:r>
                    <m:r>
                      <a:rPr lang="en-US" sz="3200" i="1">
                        <a:latin typeface="Cambria Math" panose="02040503050406030204" pitchFamily="18" charset="0"/>
                      </a:rPr>
                      <m:t>? </m:t>
                    </m:r>
                  </m:oMath>
                </a14:m>
                <a:r>
                  <a:rPr lang="en-AU" sz="3200" dirty="0"/>
                  <a:t/>
                </a:r>
                <a:br>
                  <a:rPr lang="en-AU" sz="3200" dirty="0"/>
                </a:br>
                <a:r>
                  <a:rPr lang="en-US" sz="3200" dirty="0" smtClean="0"/>
                  <a:t> </a:t>
                </a:r>
                <a:endParaRPr lang="en-AU" sz="32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147281" y="1260530"/>
                <a:ext cx="8924785" cy="936752"/>
              </a:xfrm>
              <a:blipFill>
                <a:blip r:embed="rId2"/>
                <a:stretch>
                  <a:fillRect l="-1708" t="-6470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74197" y="5695482"/>
            <a:ext cx="7315200" cy="914400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Miss D’souza</a:t>
            </a:r>
          </a:p>
          <a:p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6824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528561" y="326880"/>
                <a:ext cx="10319111" cy="47397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3200" dirty="0" smtClean="0">
                    <a:solidFill>
                      <a:srgbClr val="FF0000"/>
                    </a:solidFill>
                  </a:rPr>
                  <a:t>5 questions:</a:t>
                </a:r>
              </a:p>
              <a:p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Find the mean, mode, range	(</a:t>
                </a: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45, 20, 41, 38, 42, 42, 48, </a:t>
                </a: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55)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Name one advantage and disadvantage of a Census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𝑎𝑏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 ×12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=</m:t>
                    </m:r>
                  </m:oMath>
                </a14:m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;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+5=20</m:t>
                    </m:r>
                  </m:oMath>
                </a14:m>
                <a:endParaRPr lang="en-US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r>
                  <a:rPr lang="en-US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US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>
                  <a:buFont typeface="+mj-lt"/>
                  <a:buAutoNum type="arabicPeriod"/>
                </a:pPr>
                <a:endParaRPr lang="en-AU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561" y="326880"/>
                <a:ext cx="10319111" cy="4739759"/>
              </a:xfrm>
              <a:prstGeom prst="rect">
                <a:avLst/>
              </a:prstGeom>
              <a:blipFill>
                <a:blip r:embed="rId2"/>
                <a:stretch>
                  <a:fillRect l="-532" t="-16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4861" t="30741" r="35555" b="23086"/>
          <a:stretch/>
        </p:blipFill>
        <p:spPr>
          <a:xfrm>
            <a:off x="829656" y="3300991"/>
            <a:ext cx="6244912" cy="3271145"/>
          </a:xfrm>
          <a:prstGeom prst="rect">
            <a:avLst/>
          </a:prstGeom>
        </p:spPr>
      </p:pic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153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748146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88473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53320" y="1293091"/>
            <a:ext cx="0" cy="5643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𝑇𝑂𝑃𝐼𝐶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𝐴𝑙𝑔𝑒𝑏𝑟𝑎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400576" y="1597967"/>
            <a:ext cx="3057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/>
              <a:t>What is an equation?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564525" y="1588167"/>
                <a:ext cx="8072418" cy="27227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smtClean="0"/>
                  <a:t>A mathematical statement that two things are equal</a:t>
                </a:r>
              </a:p>
              <a:p>
                <a:endParaRPr lang="en-US" sz="2400" dirty="0" smtClean="0"/>
              </a:p>
              <a:p>
                <a:r>
                  <a:rPr lang="en-US" sz="2400" dirty="0" smtClean="0"/>
                  <a:t>Classify the equations as TRUE or FALSE</a:t>
                </a:r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2 + 2 = 4		</m:t>
                    </m:r>
                  </m:oMath>
                </a14:m>
                <a:r>
                  <a:rPr lang="en-US" sz="2400" dirty="0" smtClean="0"/>
                  <a:t>		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7</m:t>
                    </m:r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5=30+6              7+10=20−3</m:t>
                    </m:r>
                  </m:oMath>
                </a14:m>
                <a:endParaRPr lang="en-US" sz="2400" b="0" i="1" dirty="0" smtClean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r>
                  <a:rPr lang="en-US" sz="2400" i="1" dirty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</a:t>
                </a:r>
                <a:r>
                  <a:rPr lang="en-US" sz="2400" i="1" dirty="0" smtClean="0"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          </a:t>
                </a:r>
                <a:r>
                  <a:rPr lang="en-US" sz="2400" i="1" dirty="0" smtClean="0">
                    <a:solidFill>
                      <a:srgbClr val="FF0000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rPr>
                  <a:t>4  = 4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 smtClean="0">
                    <a:latin typeface="Calibri" panose="020F0502020204030204" pitchFamily="34" charset="0"/>
                    <a:cs typeface="Calibri" panose="020F0502020204030204" pitchFamily="34" charset="0"/>
                  </a:rPr>
                  <a:t>                     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35 = 36                               17  = 17</a:t>
                </a:r>
              </a:p>
              <a:p>
                <a:r>
                  <a:rPr lang="en-US" sz="2400" dirty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n-US" sz="2400" dirty="0" smtClean="0">
                    <a:solidFill>
                      <a:srgbClr val="FF000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          TRUE                       FALSE                                   TRUE</a:t>
                </a:r>
                <a:endParaRPr lang="en-US" sz="2400" dirty="0" smtClean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4525" y="1588167"/>
                <a:ext cx="8072418" cy="2722733"/>
              </a:xfrm>
              <a:prstGeom prst="rect">
                <a:avLst/>
              </a:prstGeom>
              <a:blipFill>
                <a:blip r:embed="rId4"/>
                <a:stretch>
                  <a:fillRect l="-1208" t="-179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3564525" y="4680232"/>
            <a:ext cx="80724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 smtClean="0"/>
          </a:p>
          <a:p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269129" y="4957231"/>
            <a:ext cx="305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/>
              <a:t>How do we find  equivalent equations?</a:t>
            </a:r>
            <a:endParaRPr lang="en-AU" sz="2400" dirty="0"/>
          </a:p>
        </p:txBody>
      </p:sp>
      <p:sp>
        <p:nvSpPr>
          <p:cNvPr id="2" name="TextBox 1"/>
          <p:cNvSpPr txBox="1"/>
          <p:nvPr/>
        </p:nvSpPr>
        <p:spPr>
          <a:xfrm>
            <a:off x="3580470" y="4957231"/>
            <a:ext cx="50615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OPTION 1</a:t>
            </a:r>
            <a:r>
              <a:rPr lang="en-US" sz="2000" dirty="0" smtClean="0"/>
              <a:t>: Backtracking</a:t>
            </a:r>
          </a:p>
          <a:p>
            <a:endParaRPr lang="en-US" sz="2000" dirty="0" smtClean="0"/>
          </a:p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OPTION 2: </a:t>
            </a:r>
            <a:r>
              <a:rPr lang="en-US" sz="2000" dirty="0"/>
              <a:t>B</a:t>
            </a:r>
            <a:r>
              <a:rPr lang="en-US" sz="2000" dirty="0" smtClean="0"/>
              <a:t>alancing both sides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772966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748146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88473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53320" y="1293091"/>
            <a:ext cx="0" cy="5643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𝑇𝑂𝑃𝐼𝐶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𝐴𝑙𝑔𝑒𝑏𝑟𝑎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5074" y="1413301"/>
            <a:ext cx="305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/>
              <a:t>How do we find  equivalent equations?</a:t>
            </a:r>
            <a:endParaRPr lang="en-AU" sz="2400" dirty="0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68530" y="4413868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39892" y="4378174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9892" y="4378174"/>
                <a:ext cx="880364" cy="971674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96370" y="566133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39892" y="566133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10" name="Left-Right Arrow 9"/>
          <p:cNvSpPr/>
          <p:nvPr/>
        </p:nvSpPr>
        <p:spPr>
          <a:xfrm>
            <a:off x="10295266" y="4703613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Left-Right Arrow 42"/>
          <p:cNvSpPr/>
          <p:nvPr/>
        </p:nvSpPr>
        <p:spPr>
          <a:xfrm>
            <a:off x="10295266" y="5925867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3818957" y="1449288"/>
            <a:ext cx="506152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OPTION 1</a:t>
            </a:r>
            <a:r>
              <a:rPr lang="en-US" sz="2000" dirty="0" smtClean="0"/>
              <a:t>: Backtracking</a:t>
            </a:r>
          </a:p>
          <a:p>
            <a:endParaRPr lang="en-US" sz="2000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Rectangle 21"/>
              <p:cNvSpPr/>
              <p:nvPr/>
            </p:nvSpPr>
            <p:spPr>
              <a:xfrm>
                <a:off x="6906641" y="1511557"/>
                <a:ext cx="1531638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24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6641" y="1511557"/>
                <a:ext cx="1531638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4265644" y="3446324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5959186" y="3446326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4265644" y="4263067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5959186" y="4263069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27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850379" y="2866311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28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574206" y="5144384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491247" y="3545749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1247" y="3545749"/>
                <a:ext cx="514885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6137002" y="3561917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7002" y="3561917"/>
                <a:ext cx="124867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5237728" y="2219443"/>
                <a:ext cx="907428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7728" y="2219443"/>
                <a:ext cx="907428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5006132" y="5611816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𝟐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6132" y="5611816"/>
                <a:ext cx="108276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6129220" y="4413275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𝟐𝟒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9220" y="4413275"/>
                <a:ext cx="1248675" cy="5847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4124351" y="4377457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𝟏𝟐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4351" y="4377457"/>
                <a:ext cx="1248675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4863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/>
      <p:bldP spid="30" grpId="0"/>
      <p:bldP spid="31" grpId="0"/>
      <p:bldP spid="32" grpId="0"/>
      <p:bldP spid="33" grpId="0"/>
      <p:bldP spid="3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0" y="748146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288473"/>
            <a:ext cx="12192000" cy="1847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3453320" y="1293091"/>
            <a:ext cx="0" cy="5643418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𝑇𝑂𝑃𝐼𝐶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𝐴𝑙𝑔𝑒𝑏𝑟𝑎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45" y="169033"/>
                <a:ext cx="2820709" cy="4308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EQ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𝑑𝑜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𝑤𝑒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𝑠𝑜𝑙𝑣𝑒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𝑒𝑞𝑢𝑎𝑡𝑖𝑜𝑛𝑠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𝑢𝑠𝑖𝑛𝑔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𝑜𝑛𝑒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𝑠𝑡𝑒𝑝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?  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11" y="797106"/>
                <a:ext cx="775648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285074" y="1413301"/>
            <a:ext cx="30570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400" dirty="0" smtClean="0"/>
              <a:t>How do we find  equivalent equations?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/>
              <p:cNvSpPr/>
              <p:nvPr/>
            </p:nvSpPr>
            <p:spPr>
              <a:xfrm>
                <a:off x="5374926" y="2738866"/>
                <a:ext cx="168873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24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4926" y="2738866"/>
                <a:ext cx="168873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rved Right Arrow 2"/>
          <p:cNvSpPr/>
          <p:nvPr/>
        </p:nvSpPr>
        <p:spPr>
          <a:xfrm>
            <a:off x="4901902" y="2909668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35" name="Curved Right Arrow 34"/>
          <p:cNvSpPr/>
          <p:nvPr/>
        </p:nvSpPr>
        <p:spPr>
          <a:xfrm flipH="1">
            <a:off x="7063658" y="2909668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/>
              <p:cNvSpPr txBox="1"/>
              <p:nvPr/>
            </p:nvSpPr>
            <p:spPr>
              <a:xfrm>
                <a:off x="4221373" y="3200038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373" y="3200038"/>
                <a:ext cx="618374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/>
              <p:cNvSpPr txBox="1"/>
              <p:nvPr/>
            </p:nvSpPr>
            <p:spPr>
              <a:xfrm>
                <a:off x="7586481" y="3200037"/>
                <a:ext cx="61837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481" y="3200037"/>
                <a:ext cx="618374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Oval 7"/>
          <p:cNvSpPr/>
          <p:nvPr/>
        </p:nvSpPr>
        <p:spPr>
          <a:xfrm>
            <a:off x="5437081" y="2714153"/>
            <a:ext cx="306622" cy="54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7954CC4E-47DE-4102-9D29-0A531FFE6791}"/>
              </a:ext>
            </a:extLst>
          </p:cNvPr>
          <p:cNvSpPr/>
          <p:nvPr/>
        </p:nvSpPr>
        <p:spPr>
          <a:xfrm>
            <a:off x="9468530" y="4413868"/>
            <a:ext cx="880364" cy="932508"/>
          </a:xfrm>
          <a:prstGeom prst="ellipse">
            <a:avLst/>
          </a:prstGeom>
          <a:solidFill>
            <a:srgbClr val="00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/>
              <a:t>+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/>
              <p:nvPr/>
            </p:nvSpPr>
            <p:spPr>
              <a:xfrm>
                <a:off x="11039892" y="4378174"/>
                <a:ext cx="880364" cy="971674"/>
              </a:xfrm>
              <a:prstGeom prst="ellipse">
                <a:avLst/>
              </a:prstGeom>
              <a:solidFill>
                <a:srgbClr val="00CC6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60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AU" sz="600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AU" sz="6000" dirty="0"/>
              </a:p>
            </p:txBody>
          </p:sp>
        </mc:Choice>
        <mc:Fallback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8643FF9F-207F-4995-A951-EFF0586B25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39892" y="4378174"/>
                <a:ext cx="880364" cy="971674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Oval 38">
            <a:extLst>
              <a:ext uri="{FF2B5EF4-FFF2-40B4-BE49-F238E27FC236}">
                <a16:creationId xmlns:a16="http://schemas.microsoft.com/office/drawing/2014/main" id="{E8958336-C1F7-4505-8660-1B4654089C17}"/>
              </a:ext>
            </a:extLst>
          </p:cNvPr>
          <p:cNvSpPr/>
          <p:nvPr/>
        </p:nvSpPr>
        <p:spPr>
          <a:xfrm>
            <a:off x="9496370" y="566133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×</a:t>
            </a:r>
            <a:endParaRPr lang="en-AU" sz="6000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DE6EBCCB-025B-4887-92E0-5142E1657694}"/>
              </a:ext>
            </a:extLst>
          </p:cNvPr>
          <p:cNvSpPr/>
          <p:nvPr/>
        </p:nvSpPr>
        <p:spPr>
          <a:xfrm>
            <a:off x="11039892" y="5661331"/>
            <a:ext cx="880364" cy="971674"/>
          </a:xfrm>
          <a:prstGeom prst="ellipse">
            <a:avLst/>
          </a:prstGeom>
          <a:solidFill>
            <a:srgbClr val="9966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6000" dirty="0">
                <a:latin typeface="Arial" panose="020B0604020202020204" pitchFamily="34" charset="0"/>
                <a:cs typeface="Arial" panose="020B0604020202020204" pitchFamily="34" charset="0"/>
              </a:rPr>
              <a:t>÷</a:t>
            </a:r>
            <a:endParaRPr lang="en-AU" sz="6000" dirty="0"/>
          </a:p>
        </p:txBody>
      </p:sp>
      <p:sp>
        <p:nvSpPr>
          <p:cNvPr id="10" name="Left-Right Arrow 9"/>
          <p:cNvSpPr/>
          <p:nvPr/>
        </p:nvSpPr>
        <p:spPr>
          <a:xfrm>
            <a:off x="10295266" y="4703613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Left-Right Arrow 42"/>
          <p:cNvSpPr/>
          <p:nvPr/>
        </p:nvSpPr>
        <p:spPr>
          <a:xfrm>
            <a:off x="10295266" y="5925867"/>
            <a:ext cx="826094" cy="392183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Rectangle 43"/>
              <p:cNvSpPr/>
              <p:nvPr/>
            </p:nvSpPr>
            <p:spPr>
              <a:xfrm>
                <a:off x="5605369" y="3752310"/>
                <a:ext cx="141141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12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5369" y="3752310"/>
                <a:ext cx="141141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3688528" y="1450976"/>
            <a:ext cx="5061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OPTION 2: </a:t>
            </a:r>
            <a:r>
              <a:rPr lang="en-US" sz="2000" dirty="0"/>
              <a:t>B</a:t>
            </a:r>
            <a:r>
              <a:rPr lang="en-US" sz="2000" dirty="0" smtClean="0"/>
              <a:t>alancing both sides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3437375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" dur="1500" tmFilter="0, 0; .2, .5; .8, .5; 1, 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" dur="750" autoRev="1" fill="hold"/>
                                        <p:tgtEl>
                                          <p:spTgt spid="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5" grpId="0" animBg="1"/>
      <p:bldP spid="4" grpId="0"/>
      <p:bldP spid="36" grpId="0"/>
      <p:bldP spid="8" grpId="0" animBg="1"/>
      <p:bldP spid="4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DO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761049" y="600617"/>
                <a:ext cx="1958870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49" y="600617"/>
                <a:ext cx="1958870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3922744" y="3351665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5616286" y="3351667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3922744" y="4168408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5616286" y="4168410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9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507479" y="277165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10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231306" y="5049725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148347" y="3451090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347" y="3451090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/>
              <p:nvPr/>
            </p:nvSpPr>
            <p:spPr>
              <a:xfrm>
                <a:off x="5794102" y="3467258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1" i="1" smtClean="0">
                          <a:latin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90FF380-70D6-495E-B01F-1641F20A923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4102" y="3467258"/>
                <a:ext cx="1248675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/>
              <p:nvPr/>
            </p:nvSpPr>
            <p:spPr>
              <a:xfrm>
                <a:off x="4894828" y="2124784"/>
                <a:ext cx="910827" cy="5847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 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261059A2-1BA7-4F68-8F0B-00F2DB8D67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828" y="2124784"/>
                <a:ext cx="91082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/>
              <p:nvPr/>
            </p:nvSpPr>
            <p:spPr>
              <a:xfrm>
                <a:off x="4663232" y="5517157"/>
                <a:ext cx="1082767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3200" b="1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𝟗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60D00EB-DF92-403A-9995-AF245387D3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3232" y="5517157"/>
                <a:ext cx="108276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/>
              <p:nvPr/>
            </p:nvSpPr>
            <p:spPr>
              <a:xfrm>
                <a:off x="5786320" y="4318616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𝟐𝟓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9C3BADB-1EA9-4FF4-B3F5-52EB1F9C97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6320" y="4318616"/>
                <a:ext cx="1248675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/>
              <p:nvPr/>
            </p:nvSpPr>
            <p:spPr>
              <a:xfrm>
                <a:off x="3781451" y="4282798"/>
                <a:ext cx="124867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𝟏𝟔</m:t>
                      </m:r>
                    </m:oMath>
                  </m:oMathPara>
                </a14:m>
                <a:endParaRPr lang="en-AU" sz="3200" b="1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D6CA937-30A9-4FCF-95ED-612BD71755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1451" y="4282798"/>
                <a:ext cx="1248675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727726" y="3410936"/>
                <a:ext cx="2115964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+9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2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26" y="3410936"/>
                <a:ext cx="2115964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rved Right Arrow 17"/>
          <p:cNvSpPr/>
          <p:nvPr/>
        </p:nvSpPr>
        <p:spPr>
          <a:xfrm>
            <a:off x="8254702" y="3581738"/>
            <a:ext cx="473023" cy="107598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Curved Right Arrow 18"/>
          <p:cNvSpPr/>
          <p:nvPr/>
        </p:nvSpPr>
        <p:spPr>
          <a:xfrm flipH="1">
            <a:off x="10837621" y="3626869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11310645" y="4027249"/>
                <a:ext cx="5386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10645" y="4027249"/>
                <a:ext cx="538609" cy="43088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Oval 21"/>
          <p:cNvSpPr/>
          <p:nvPr/>
        </p:nvSpPr>
        <p:spPr>
          <a:xfrm>
            <a:off x="9113360" y="3393235"/>
            <a:ext cx="678853" cy="5479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9355534" y="4427577"/>
                <a:ext cx="141141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16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55534" y="4427577"/>
                <a:ext cx="1411412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/>
              <p:cNvSpPr txBox="1"/>
              <p:nvPr/>
            </p:nvSpPr>
            <p:spPr>
              <a:xfrm>
                <a:off x="7689665" y="3941168"/>
                <a:ext cx="538609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9</m:t>
                      </m:r>
                    </m:oMath>
                  </m:oMathPara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89665" y="3941168"/>
                <a:ext cx="538609" cy="43088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4825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/>
      <p:bldP spid="15" grpId="0"/>
      <p:bldP spid="16" grpId="0"/>
      <p:bldP spid="18" grpId="0" animBg="1"/>
      <p:bldP spid="19" grpId="0" animBg="1"/>
      <p:bldP spid="21" grpId="0"/>
      <p:bldP spid="22" grpId="0" animBg="1"/>
      <p:bldP spid="2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 DO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761049" y="600617"/>
                <a:ext cx="2157642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49" y="600617"/>
                <a:ext cx="2157642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3922744" y="3351665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5616286" y="3351667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3922744" y="4168408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5616286" y="4168410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9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507479" y="277165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10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231306" y="5049725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148347" y="3451090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347" y="3451090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8727726" y="3410936"/>
                <a:ext cx="2236190" cy="52322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AU" sz="280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−10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21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7726" y="3410936"/>
                <a:ext cx="2236190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rved Right Arrow 17"/>
          <p:cNvSpPr/>
          <p:nvPr/>
        </p:nvSpPr>
        <p:spPr>
          <a:xfrm>
            <a:off x="8254702" y="3581738"/>
            <a:ext cx="473023" cy="107598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Curved Right Arrow 18"/>
          <p:cNvSpPr/>
          <p:nvPr/>
        </p:nvSpPr>
        <p:spPr>
          <a:xfrm flipH="1">
            <a:off x="10963916" y="3581738"/>
            <a:ext cx="473024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9014029" y="4408526"/>
                <a:ext cx="1663584" cy="5132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defTabSz="914126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AU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1600" dirty="0" smtClean="0">
                    <a:solidFill>
                      <a:prstClr val="black"/>
                    </a:solidFill>
                    <a:latin typeface="Calibri" panose="020F0502020204030204"/>
                  </a:rPr>
                  <a:t>              </a:t>
                </a:r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029" y="4408526"/>
                <a:ext cx="1663584" cy="513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41760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YOU DO</a:t>
            </a:r>
            <a:br>
              <a:rPr lang="en-US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/>
              <a:t>(LHS)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9268" y="864108"/>
            <a:ext cx="7315200" cy="2107692"/>
          </a:xfrm>
        </p:spPr>
        <p:txBody>
          <a:bodyPr/>
          <a:lstStyle/>
          <a:p>
            <a:endParaRPr lang="en-AU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3AF3DD-C23A-4133-A9FE-1863F1443ED8}"/>
              </a:ext>
            </a:extLst>
          </p:cNvPr>
          <p:cNvSpPr/>
          <p:nvPr/>
        </p:nvSpPr>
        <p:spPr>
          <a:xfrm>
            <a:off x="3922744" y="3351665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angle 3"/>
              <p:cNvSpPr/>
              <p:nvPr/>
            </p:nvSpPr>
            <p:spPr>
              <a:xfrm>
                <a:off x="6761049" y="600617"/>
                <a:ext cx="1332865" cy="8302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1049" y="600617"/>
                <a:ext cx="1332865" cy="83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9E14EA5C-58F6-48E4-9CF5-A9B18A37A3D1}"/>
              </a:ext>
            </a:extLst>
          </p:cNvPr>
          <p:cNvSpPr/>
          <p:nvPr/>
        </p:nvSpPr>
        <p:spPr>
          <a:xfrm>
            <a:off x="5616286" y="3351667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FC5D6D-B616-4FED-845D-E07B295DAF27}"/>
              </a:ext>
            </a:extLst>
          </p:cNvPr>
          <p:cNvSpPr/>
          <p:nvPr/>
        </p:nvSpPr>
        <p:spPr>
          <a:xfrm>
            <a:off x="3922744" y="4168408"/>
            <a:ext cx="950611" cy="81922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C54D47-73D6-4DE4-A643-06733B5088A1}"/>
              </a:ext>
            </a:extLst>
          </p:cNvPr>
          <p:cNvSpPr/>
          <p:nvPr/>
        </p:nvSpPr>
        <p:spPr>
          <a:xfrm>
            <a:off x="5616286" y="4168410"/>
            <a:ext cx="1573928" cy="819222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/>
          </a:p>
        </p:txBody>
      </p:sp>
      <p:sp>
        <p:nvSpPr>
          <p:cNvPr id="9" name="Arrow: Curved Down 40">
            <a:extLst>
              <a:ext uri="{FF2B5EF4-FFF2-40B4-BE49-F238E27FC236}">
                <a16:creationId xmlns:a16="http://schemas.microsoft.com/office/drawing/2014/main" id="{1823048F-50A8-484D-B679-E054F90F023D}"/>
              </a:ext>
            </a:extLst>
          </p:cNvPr>
          <p:cNvSpPr/>
          <p:nvPr/>
        </p:nvSpPr>
        <p:spPr>
          <a:xfrm>
            <a:off x="4507479" y="2771652"/>
            <a:ext cx="1947435" cy="463639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>
              <a:solidFill>
                <a:schemeClr val="tx1"/>
              </a:solidFill>
            </a:endParaRPr>
          </a:p>
        </p:txBody>
      </p:sp>
      <p:sp>
        <p:nvSpPr>
          <p:cNvPr id="10" name="Arrow: Curved Down 43">
            <a:extLst>
              <a:ext uri="{FF2B5EF4-FFF2-40B4-BE49-F238E27FC236}">
                <a16:creationId xmlns:a16="http://schemas.microsoft.com/office/drawing/2014/main" id="{890B2459-CF68-4EBB-B834-F21FE15F5DC3}"/>
              </a:ext>
            </a:extLst>
          </p:cNvPr>
          <p:cNvSpPr/>
          <p:nvPr/>
        </p:nvSpPr>
        <p:spPr>
          <a:xfrm rot="10800000">
            <a:off x="4231306" y="5049725"/>
            <a:ext cx="1947435" cy="463639"/>
          </a:xfrm>
          <a:prstGeom prst="curved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/>
              <p:nvPr/>
            </p:nvSpPr>
            <p:spPr>
              <a:xfrm>
                <a:off x="4148347" y="3451090"/>
                <a:ext cx="514885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1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</m:oMath>
                  </m:oMathPara>
                </a14:m>
                <a:endParaRPr lang="en-AU" sz="3200" b="1" dirty="0"/>
              </a:p>
            </p:txBody>
          </p:sp>
        </mc:Choice>
        <mc:Fallback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C8384717-7CDE-492C-A043-D20B46179B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8347" y="3451090"/>
                <a:ext cx="514885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9251601" y="3166592"/>
                <a:ext cx="1332865" cy="83029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>
                <a:spAutoFit/>
              </a:bodyPr>
              <a:lstStyle/>
              <a:p>
                <a:pPr defTabSz="914126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80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AU" sz="280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20</m:t>
                      </m:r>
                    </m:oMath>
                  </m:oMathPara>
                </a14:m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1601" y="3166592"/>
                <a:ext cx="1332865" cy="83029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urved Right Arrow 17"/>
          <p:cNvSpPr/>
          <p:nvPr/>
        </p:nvSpPr>
        <p:spPr>
          <a:xfrm>
            <a:off x="8453885" y="3518152"/>
            <a:ext cx="473023" cy="107598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9" name="Curved Right Arrow 18"/>
          <p:cNvSpPr/>
          <p:nvPr/>
        </p:nvSpPr>
        <p:spPr>
          <a:xfrm flipH="1">
            <a:off x="10770744" y="3518152"/>
            <a:ext cx="512385" cy="1203158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Rectangle 22"/>
              <p:cNvSpPr/>
              <p:nvPr/>
            </p:nvSpPr>
            <p:spPr>
              <a:xfrm>
                <a:off x="9014029" y="4408526"/>
                <a:ext cx="1663584" cy="51328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defTabSz="914126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          </m:t>
                    </m:r>
                    <m:r>
                      <a:rPr lang="en-AU" sz="2800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AU" sz="1600" dirty="0" smtClean="0">
                    <a:solidFill>
                      <a:prstClr val="black"/>
                    </a:solidFill>
                    <a:latin typeface="Calibri" panose="020F0502020204030204"/>
                  </a:rPr>
                  <a:t>              </a:t>
                </a:r>
                <a:endParaRPr lang="en-AU" sz="16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4029" y="4408526"/>
                <a:ext cx="1663584" cy="51328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360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7" grpId="0" animBg="1"/>
      <p:bldP spid="18" grpId="0" animBg="1"/>
      <p:bldP spid="19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396213"/>
            <a:ext cx="3595660" cy="1046708"/>
          </a:xfrm>
        </p:spPr>
        <p:txBody>
          <a:bodyPr>
            <a:noAutofit/>
          </a:bodyPr>
          <a:lstStyle/>
          <a:p>
            <a:r>
              <a:rPr lang="en-US" sz="4000" dirty="0" smtClean="0"/>
              <a:t>Answer the questions (only choose ONE option)</a:t>
            </a:r>
            <a:endParaRPr lang="en-AU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2411" t="31796" r="25354" b="15437"/>
          <a:stretch/>
        </p:blipFill>
        <p:spPr>
          <a:xfrm>
            <a:off x="3560322" y="864108"/>
            <a:ext cx="9066179" cy="515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24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 smtClean="0"/>
              <a:t>1) Complete the worksheet</a:t>
            </a:r>
          </a:p>
          <a:p>
            <a:endParaRPr lang="en-US" sz="3200" dirty="0"/>
          </a:p>
          <a:p>
            <a:pPr marL="0" indent="0">
              <a:buNone/>
            </a:pPr>
            <a:r>
              <a:rPr lang="en-US" sz="3200" dirty="0" smtClean="0"/>
              <a:t>2) Complete your SUMMARY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4067176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61</TotalTime>
  <Words>222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 Math</vt:lpstr>
      <vt:lpstr>Corbel</vt:lpstr>
      <vt:lpstr>Wingdings 2</vt:lpstr>
      <vt:lpstr>Frame</vt:lpstr>
      <vt:lpstr>ALGEBRA EQ: How do we solve equations using one step?   </vt:lpstr>
      <vt:lpstr>PowerPoint Presentation</vt:lpstr>
      <vt:lpstr>PowerPoint Presentation</vt:lpstr>
      <vt:lpstr>PowerPoint Presentation</vt:lpstr>
      <vt:lpstr>PowerPoint Presentation</vt:lpstr>
      <vt:lpstr>I DO   (LHS)</vt:lpstr>
      <vt:lpstr>WE DO   (LHS)</vt:lpstr>
      <vt:lpstr>YOU DO   (LHS)</vt:lpstr>
      <vt:lpstr>Answer the questions (only choose ONE option)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Solving Equations</dc:title>
  <dc:creator>D'SOUZA Jillian [Baldivis Secondary College]</dc:creator>
  <cp:lastModifiedBy>D'SOUZA Jillian [Baldivis Secondary College]</cp:lastModifiedBy>
  <cp:revision>14</cp:revision>
  <dcterms:created xsi:type="dcterms:W3CDTF">2019-08-19T03:32:40Z</dcterms:created>
  <dcterms:modified xsi:type="dcterms:W3CDTF">2019-08-19T07:11:53Z</dcterms:modified>
</cp:coreProperties>
</file>
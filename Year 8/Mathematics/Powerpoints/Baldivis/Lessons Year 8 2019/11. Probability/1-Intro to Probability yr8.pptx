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48" r:id="rId2"/>
    <p:sldId id="350" r:id="rId3"/>
    <p:sldId id="351" r:id="rId4"/>
    <p:sldId id="346" r:id="rId5"/>
    <p:sldId id="352" r:id="rId6"/>
    <p:sldId id="317" r:id="rId7"/>
    <p:sldId id="341" r:id="rId8"/>
    <p:sldId id="342" r:id="rId9"/>
    <p:sldId id="340" r:id="rId10"/>
    <p:sldId id="323" r:id="rId11"/>
    <p:sldId id="334" r:id="rId12"/>
    <p:sldId id="333" r:id="rId13"/>
    <p:sldId id="324" r:id="rId14"/>
    <p:sldId id="325" r:id="rId15"/>
    <p:sldId id="326" r:id="rId16"/>
    <p:sldId id="327" r:id="rId17"/>
    <p:sldId id="329" r:id="rId18"/>
    <p:sldId id="328" r:id="rId19"/>
    <p:sldId id="316" r:id="rId20"/>
    <p:sldId id="343" r:id="rId21"/>
    <p:sldId id="344" r:id="rId22"/>
    <p:sldId id="345" r:id="rId23"/>
    <p:sldId id="330" r:id="rId24"/>
    <p:sldId id="331" r:id="rId25"/>
    <p:sldId id="353" r:id="rId26"/>
    <p:sldId id="347" r:id="rId27"/>
    <p:sldId id="332" r:id="rId28"/>
    <p:sldId id="335" r:id="rId29"/>
    <p:sldId id="336" r:id="rId30"/>
    <p:sldId id="337" r:id="rId31"/>
    <p:sldId id="339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5" autoAdjust="0"/>
    <p:restoredTop sz="89727" autoAdjust="0"/>
  </p:normalViewPr>
  <p:slideViewPr>
    <p:cSldViewPr>
      <p:cViewPr varScale="1">
        <p:scale>
          <a:sx n="83" d="100"/>
          <a:sy n="83" d="100"/>
        </p:scale>
        <p:origin x="10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EB80B-3BD5-1D4B-BCC4-58E6C6891D44}" type="datetimeFigureOut">
              <a:rPr lang="en-US" smtClean="0"/>
              <a:t>10/24/18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863DB-D6CF-B846-BDA4-E5D59C01E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9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360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EFA930-4247-4269-962D-5B8BAFBDDD1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470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405BFC-5D53-409E-800C-79065E6A198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2899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EEEE24-60F3-4FDE-B378-9B85D06C778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8323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08F564-D363-48A2-B70F-34AB9BE6260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322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3254CD-1BAB-4F8F-9AA1-727D9860A04E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7215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89BB69-71BC-4223-8486-19F6F50CCF9E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7872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40F8B-590D-429C-9665-FD3D9BF83527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59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CD28B-2A4E-420A-96C4-DC79920A71C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36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A5A97A-B792-4732-BF16-E182907779F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147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A615A2-1B78-49A3-817A-DABF37AE85F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679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1E3114-F6DE-47ED-A960-198371B004E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9465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7183E6-28CB-46A9-B5EE-F7A16AF1564D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447800"/>
            <a:ext cx="5501486" cy="34108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400" dirty="0"/>
              <a:t>DO NOT RULE UP YOUR PAGE YET!</a:t>
            </a:r>
          </a:p>
          <a:p>
            <a:pPr marL="0" indent="0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Put your thinking cap on!</a:t>
            </a:r>
          </a:p>
        </p:txBody>
      </p:sp>
      <p:pic>
        <p:nvPicPr>
          <p:cNvPr id="4" name="Picture 3" descr="Clipart - &lt;strong&gt;thinking&lt;/strong&gt;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585" y="2667000"/>
            <a:ext cx="5783916" cy="289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23536" y="3124200"/>
            <a:ext cx="2106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probability?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4454193"/>
            <a:ext cx="3635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THINK – PAIR - SHARE</a:t>
            </a:r>
          </a:p>
        </p:txBody>
      </p:sp>
    </p:spTree>
    <p:extLst>
      <p:ext uri="{BB962C8B-B14F-4D97-AF65-F5344CB8AC3E}">
        <p14:creationId xmlns:p14="http://schemas.microsoft.com/office/powerpoint/2010/main" val="115853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21268761">
            <a:off x="1334338" y="1108626"/>
            <a:ext cx="6477000" cy="4854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We are setting up a NEW section of your interactive notebooks for the next section!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From your last page of the measurement notebook skip one page and we will set up the new notebook.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You will have the page numbers start over again!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3438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3864"/>
            <a:ext cx="7772400" cy="1470025"/>
          </a:xfrm>
        </p:spPr>
        <p:txBody>
          <a:bodyPr/>
          <a:lstStyle/>
          <a:p>
            <a:r>
              <a:rPr lang="en-AU" dirty="0"/>
              <a:t>My Probability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467670"/>
            <a:ext cx="5381972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</a:t>
            </a:r>
            <a:r>
              <a:rPr lang="en-AU" dirty="0" smtClean="0"/>
              <a:t>4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8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809893"/>
            <a:ext cx="2873554" cy="244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14600"/>
            <a:ext cx="1751112" cy="175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96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1371600"/>
            <a:ext cx="61722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 smtClean="0">
                <a:latin typeface="Geneva"/>
                <a:cs typeface="Geneva"/>
              </a:rPr>
              <a:t>Refresh </a:t>
            </a:r>
          </a:p>
          <a:p>
            <a:pPr algn="ctr"/>
            <a:r>
              <a:rPr lang="en-AU" sz="6000" b="1" dirty="0" smtClean="0">
                <a:latin typeface="Geneva"/>
                <a:cs typeface="Geneva"/>
              </a:rPr>
              <a:t>Probability</a:t>
            </a:r>
          </a:p>
          <a:p>
            <a:pPr algn="ctr"/>
            <a:r>
              <a:rPr lang="en-AU" sz="6000" b="1" dirty="0" smtClean="0">
                <a:latin typeface="Geneva"/>
                <a:cs typeface="Geneva"/>
              </a:rPr>
              <a:t>Language</a:t>
            </a:r>
          </a:p>
          <a:p>
            <a:pPr algn="ctr"/>
            <a:endParaRPr lang="en-AU" sz="6000" dirty="0" smtClean="0">
              <a:latin typeface="Franklin Gothic Book"/>
              <a:cs typeface="Franklin Gothic Book"/>
            </a:endParaRPr>
          </a:p>
          <a:p>
            <a:pPr algn="ctr"/>
            <a:r>
              <a:rPr lang="en-AU" dirty="0" smtClean="0"/>
              <a:t>Year 8</a:t>
            </a:r>
          </a:p>
          <a:p>
            <a:pPr algn="ctr"/>
            <a:r>
              <a:rPr lang="en-AU" dirty="0" smtClean="0"/>
              <a:t>Mathematics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116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21238563">
            <a:off x="1085660" y="953891"/>
            <a:ext cx="6885371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Break class into 5-6 groups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Each group has an A3 sheet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Each group has a different </a:t>
            </a:r>
            <a:r>
              <a:rPr lang="en-US" dirty="0" err="1" smtClean="0"/>
              <a:t>coloured</a:t>
            </a:r>
            <a:r>
              <a:rPr lang="en-US" dirty="0" smtClean="0"/>
              <a:t> marker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Have the students write the word Probability in the middle of the page.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Set a timer for 5 minutes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Have students in their group write as many words (with their definition) related to probability as they can think of as a mind map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Once the 5 minutes are up students move to another group and spend a set time adding to the other groups poster any words and definitions they can see missing or they can add.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Continue this until all groups have viewed and edited all of the posters.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Students return to their groups and then run through the power-point and make sure all of the words are included on their poster if not they should add them too the poster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Hang posters around the room.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2679"/>
            <a:ext cx="3397469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Graffiti </a:t>
            </a:r>
            <a:r>
              <a:rPr lang="en-US" sz="4000" dirty="0" smtClean="0"/>
              <a:t>activity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0211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152400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6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Probability</a:t>
            </a:r>
          </a:p>
          <a:p>
            <a:pPr algn="ctr">
              <a:defRPr/>
            </a:pPr>
            <a:r>
              <a:rPr lang="en-US" sz="6000" dirty="0">
                <a:latin typeface="Happy Sans" pitchFamily="2" charset="0"/>
              </a:rPr>
              <a:t>Tells the chance that something will happen.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21252690">
            <a:off x="1305367" y="1309878"/>
            <a:ext cx="63230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We use the words probability and chance to mean the same thing.</a:t>
            </a:r>
          </a:p>
          <a:p>
            <a:endParaRPr lang="en-AU" sz="3200" dirty="0"/>
          </a:p>
          <a:p>
            <a:r>
              <a:rPr lang="en-AU" sz="3200" dirty="0"/>
              <a:t>We hear and make statements that involve probability all the time.</a:t>
            </a:r>
          </a:p>
        </p:txBody>
      </p:sp>
    </p:spTree>
    <p:extLst>
      <p:ext uri="{BB962C8B-B14F-4D97-AF65-F5344CB8AC3E}">
        <p14:creationId xmlns:p14="http://schemas.microsoft.com/office/powerpoint/2010/main" val="374670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" b="11420"/>
          <a:stretch/>
        </p:blipFill>
        <p:spPr>
          <a:xfrm>
            <a:off x="990600" y="0"/>
            <a:ext cx="7391400" cy="661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9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0" y="1524000"/>
            <a:ext cx="6019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800" baseline="30000" dirty="0"/>
              <a:t>So many things involve probability.</a:t>
            </a:r>
          </a:p>
          <a:p>
            <a:r>
              <a:rPr lang="en-AU" sz="4800" baseline="30000" dirty="0"/>
              <a:t>• Insurance is about probability.</a:t>
            </a:r>
          </a:p>
          <a:p>
            <a:r>
              <a:rPr lang="en-AU" sz="4800" baseline="30000" dirty="0"/>
              <a:t>• Weather prediction is about probability. • Gambling is about probability.</a:t>
            </a:r>
          </a:p>
          <a:p>
            <a:r>
              <a:rPr lang="en-AU" sz="4800" baseline="30000" dirty="0"/>
              <a:t>• Even atomic theory is about probability. • etc., etc., etc.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344635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838200"/>
            <a:ext cx="6248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Event</a:t>
            </a:r>
          </a:p>
          <a:p>
            <a:pPr algn="ctr">
              <a:defRPr/>
            </a:pPr>
            <a:r>
              <a:rPr lang="en-US" sz="6000" dirty="0">
                <a:latin typeface="Happy Sans" pitchFamily="2" charset="0"/>
              </a:rPr>
              <a:t>Something that may or may not happen</a:t>
            </a:r>
            <a:r>
              <a:rPr lang="en-US" sz="8000" dirty="0">
                <a:latin typeface="Happy Sans" pitchFamily="2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1524000"/>
            <a:ext cx="6705600" cy="2657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sz="5400" dirty="0" smtClean="0">
              <a:latin typeface="Happy Sans" panose="02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endParaRPr lang="en-US" sz="5400" dirty="0">
              <a:latin typeface="Happy Sans" panose="02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 smtClean="0"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Possible </a:t>
            </a:r>
            <a:r>
              <a:rPr lang="en-US" sz="5400" dirty="0"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 of a probability experiment </a:t>
            </a:r>
            <a:endParaRPr lang="en-US" sz="2800" dirty="0">
              <a:effectLst/>
              <a:latin typeface="Happy Sans" panose="02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14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828800"/>
            <a:ext cx="609599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Chance</a:t>
            </a:r>
            <a:r>
              <a:rPr lang="en-US" sz="6000" dirty="0" smtClean="0"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— </a:t>
            </a:r>
          </a:p>
          <a:p>
            <a:pPr algn="ctr"/>
            <a:r>
              <a:rPr lang="en-US" sz="6000" dirty="0" smtClean="0"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6000" dirty="0"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possibility or likelihood.</a:t>
            </a:r>
            <a:endParaRPr lang="en-US" sz="6000" dirty="0">
              <a:latin typeface="Happy Sans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10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0200" y="1143000"/>
            <a:ext cx="609600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800"/>
              </a:lnSpc>
              <a:defRPr/>
            </a:pPr>
            <a:r>
              <a:rPr lang="en-US" sz="6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Predictions</a:t>
            </a:r>
          </a:p>
          <a:p>
            <a:pPr algn="ctr">
              <a:lnSpc>
                <a:spcPts val="6800"/>
              </a:lnSpc>
              <a:defRPr/>
            </a:pPr>
            <a:r>
              <a:rPr lang="en-US" sz="5400" dirty="0">
                <a:latin typeface="Happy Sans" pitchFamily="2" charset="0"/>
              </a:rPr>
              <a:t>When you use the probability of an event to make an educated guess</a:t>
            </a:r>
            <a:r>
              <a:rPr lang="en-US" sz="6600" dirty="0">
                <a:latin typeface="Happy Sans" pitchFamily="2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1219200"/>
            <a:ext cx="6248400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/>
            </a:pPr>
            <a:r>
              <a:rPr lang="en-US" sz="5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Certain</a:t>
            </a:r>
          </a:p>
          <a:p>
            <a:pPr algn="ctr">
              <a:lnSpc>
                <a:spcPts val="5000"/>
              </a:lnSpc>
              <a:defRPr/>
            </a:pPr>
            <a:r>
              <a:rPr lang="en-US" sz="4400" dirty="0">
                <a:latin typeface="Happy Sans" pitchFamily="2" charset="0"/>
              </a:rPr>
              <a:t>Some events are certain and  know that they must happen. </a:t>
            </a:r>
          </a:p>
          <a:p>
            <a:pPr algn="ctr">
              <a:lnSpc>
                <a:spcPts val="5000"/>
              </a:lnSpc>
              <a:defRPr/>
            </a:pPr>
            <a:r>
              <a:rPr lang="en-US" sz="4400" dirty="0">
                <a:latin typeface="Happy Sans" pitchFamily="2" charset="0"/>
              </a:rPr>
              <a:t>Ex. It is certain that the sun will rise in the morning.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143000"/>
            <a:ext cx="6172200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/>
            </a:pPr>
            <a:r>
              <a:rPr lang="en-US" sz="5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Impossible</a:t>
            </a:r>
          </a:p>
          <a:p>
            <a:pPr algn="ctr">
              <a:lnSpc>
                <a:spcPts val="5000"/>
              </a:lnSpc>
              <a:defRPr/>
            </a:pPr>
            <a:r>
              <a:rPr lang="en-US" sz="4400" dirty="0">
                <a:latin typeface="Happy Sans" pitchFamily="2" charset="0"/>
              </a:rPr>
              <a:t>Some events are impossible and  you know that they can never happen. </a:t>
            </a:r>
          </a:p>
          <a:p>
            <a:pPr algn="ctr">
              <a:lnSpc>
                <a:spcPts val="5000"/>
              </a:lnSpc>
              <a:defRPr/>
            </a:pPr>
            <a:r>
              <a:rPr lang="en-US" sz="4400" dirty="0">
                <a:latin typeface="Happy Sans" pitchFamily="2" charset="0"/>
              </a:rPr>
              <a:t>Ex. It is impossible that  a pig will fly like a bird.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295400"/>
            <a:ext cx="6248400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7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Equally Likely</a:t>
            </a:r>
          </a:p>
          <a:p>
            <a:pPr algn="ctr">
              <a:lnSpc>
                <a:spcPts val="7000"/>
              </a:lnSpc>
              <a:defRPr/>
            </a:pPr>
            <a:r>
              <a:rPr lang="en-US" sz="4800" dirty="0">
                <a:latin typeface="Happy Sans" pitchFamily="2" charset="0"/>
              </a:rPr>
              <a:t>Outcomes that have the same chance of occurring.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1066800"/>
            <a:ext cx="6629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7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More Likely</a:t>
            </a:r>
          </a:p>
          <a:p>
            <a:pPr algn="ctr">
              <a:defRPr/>
            </a:pPr>
            <a:endParaRPr lang="en-US" sz="4800" dirty="0" smtClean="0">
              <a:latin typeface="Happy Sans" pitchFamily="2" charset="0"/>
            </a:endParaRPr>
          </a:p>
          <a:p>
            <a:pPr algn="ctr">
              <a:defRPr/>
            </a:pPr>
            <a:r>
              <a:rPr lang="en-US" sz="4800" dirty="0" smtClean="0">
                <a:latin typeface="Happy Sans" pitchFamily="2" charset="0"/>
              </a:rPr>
              <a:t>Greater </a:t>
            </a:r>
            <a:r>
              <a:rPr lang="en-US" sz="4800" dirty="0">
                <a:latin typeface="Happy Sans" pitchFamily="2" charset="0"/>
              </a:rPr>
              <a:t>chance that an</a:t>
            </a:r>
          </a:p>
          <a:p>
            <a:pPr algn="ctr">
              <a:defRPr/>
            </a:pPr>
            <a:r>
              <a:rPr lang="en-US" sz="4800" dirty="0">
                <a:latin typeface="Happy Sans" pitchFamily="2" charset="0"/>
              </a:rPr>
              <a:t>event will happen.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066800"/>
            <a:ext cx="640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7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Less Likely</a:t>
            </a:r>
          </a:p>
          <a:p>
            <a:pPr algn="ctr">
              <a:defRPr/>
            </a:pPr>
            <a:endParaRPr lang="en-US" sz="4800" dirty="0" smtClean="0">
              <a:latin typeface="Happy Sans" pitchFamily="2" charset="0"/>
            </a:endParaRPr>
          </a:p>
          <a:p>
            <a:pPr algn="ctr">
              <a:defRPr/>
            </a:pPr>
            <a:r>
              <a:rPr lang="en-US" sz="4800" dirty="0" smtClean="0">
                <a:latin typeface="Happy Sans" pitchFamily="2" charset="0"/>
              </a:rPr>
              <a:t>Smaller </a:t>
            </a:r>
            <a:r>
              <a:rPr lang="en-US" sz="4800" dirty="0">
                <a:latin typeface="Happy Sans" pitchFamily="2" charset="0"/>
              </a:rPr>
              <a:t>chance that an event will happen.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152400"/>
            <a:ext cx="8001000" cy="65351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b="1" baseline="30000" dirty="0" smtClean="0"/>
          </a:p>
          <a:p>
            <a:endParaRPr lang="en-AU" b="1" baseline="30000" dirty="0"/>
          </a:p>
          <a:p>
            <a:endParaRPr lang="en-AU" b="1" baseline="30000" dirty="0" smtClean="0"/>
          </a:p>
          <a:p>
            <a:endParaRPr lang="en-AU" b="1" baseline="30000" dirty="0"/>
          </a:p>
          <a:p>
            <a:endParaRPr lang="en-AU" b="1" baseline="30000" dirty="0" smtClean="0"/>
          </a:p>
          <a:p>
            <a:endParaRPr lang="en-AU" b="1" baseline="30000" dirty="0"/>
          </a:p>
          <a:p>
            <a:endParaRPr lang="en-AU" b="1" baseline="30000" dirty="0" smtClean="0"/>
          </a:p>
          <a:p>
            <a:endParaRPr lang="en-AU" b="1" baseline="30000" dirty="0"/>
          </a:p>
          <a:p>
            <a:endParaRPr lang="en-AU" b="1" baseline="30000" dirty="0" smtClean="0"/>
          </a:p>
          <a:p>
            <a:endParaRPr lang="en-AU" b="1" baseline="30000" dirty="0"/>
          </a:p>
          <a:p>
            <a:r>
              <a:rPr lang="en-AU" sz="2800" dirty="0" smtClean="0"/>
              <a:t>Where would the following fit on the </a:t>
            </a:r>
            <a:r>
              <a:rPr lang="en-AU" sz="2800" dirty="0"/>
              <a:t>above </a:t>
            </a:r>
            <a:r>
              <a:rPr lang="en-AU" sz="2800" dirty="0" smtClean="0"/>
              <a:t>probability</a:t>
            </a:r>
            <a:endParaRPr lang="en-AU" sz="2800" b="1" baseline="30000" dirty="0" smtClean="0"/>
          </a:p>
          <a:p>
            <a:endParaRPr lang="en-AU" sz="1400" b="1" baseline="30000" dirty="0"/>
          </a:p>
          <a:p>
            <a:r>
              <a:rPr lang="en-AU" sz="2800" b="1" baseline="30000" dirty="0" smtClean="0"/>
              <a:t>a</a:t>
            </a:r>
            <a:r>
              <a:rPr lang="en-AU" sz="2800" b="1" baseline="30000" dirty="0"/>
              <a:t>) </a:t>
            </a:r>
            <a:r>
              <a:rPr lang="en-AU" sz="2800" baseline="30000" dirty="0"/>
              <a:t>The day after Monday will be Tuesday.</a:t>
            </a:r>
          </a:p>
          <a:p>
            <a:r>
              <a:rPr lang="en-AU" sz="2800" b="1" baseline="30000" dirty="0"/>
              <a:t>b) </a:t>
            </a:r>
            <a:r>
              <a:rPr lang="en-AU" sz="2800" baseline="30000" dirty="0"/>
              <a:t>Next year will have 390 days.</a:t>
            </a:r>
          </a:p>
          <a:p>
            <a:r>
              <a:rPr lang="en-AU" sz="2800" b="1" baseline="30000" dirty="0"/>
              <a:t>c) </a:t>
            </a:r>
            <a:r>
              <a:rPr lang="en-AU" sz="2800" baseline="30000" dirty="0"/>
              <a:t>We will have a new Maths teacher next week.</a:t>
            </a:r>
          </a:p>
          <a:p>
            <a:r>
              <a:rPr lang="en-AU" sz="2800" b="1" baseline="30000" dirty="0"/>
              <a:t>d) </a:t>
            </a:r>
            <a:r>
              <a:rPr lang="en-AU" sz="2800" baseline="30000" dirty="0"/>
              <a:t>I will watch TV tonight.</a:t>
            </a:r>
          </a:p>
          <a:p>
            <a:r>
              <a:rPr lang="en-AU" sz="2800" b="1" baseline="30000" dirty="0"/>
              <a:t>e) </a:t>
            </a:r>
            <a:r>
              <a:rPr lang="en-AU" sz="2800" baseline="30000" dirty="0"/>
              <a:t>I will become the Prime Minister.</a:t>
            </a:r>
          </a:p>
          <a:p>
            <a:r>
              <a:rPr lang="en-AU" sz="2800" b="1" baseline="30000" dirty="0"/>
              <a:t>f) </a:t>
            </a:r>
            <a:r>
              <a:rPr lang="en-AU" sz="2800" baseline="30000" dirty="0"/>
              <a:t>I will drink some milk today.</a:t>
            </a:r>
          </a:p>
          <a:p>
            <a:r>
              <a:rPr lang="en-AU" sz="2800" b="1" baseline="30000" dirty="0"/>
              <a:t>g) </a:t>
            </a:r>
            <a:r>
              <a:rPr lang="en-AU" sz="2800" baseline="30000" dirty="0"/>
              <a:t>It will rain tomorrow.</a:t>
            </a:r>
          </a:p>
          <a:p>
            <a:r>
              <a:rPr lang="en-AU" sz="2800" b="1" baseline="30000" dirty="0"/>
              <a:t>h) </a:t>
            </a:r>
            <a:r>
              <a:rPr lang="en-AU" sz="2800" baseline="30000" dirty="0"/>
              <a:t>I will get my driver's licence before I am 21.</a:t>
            </a:r>
          </a:p>
          <a:p>
            <a:r>
              <a:rPr lang="en-AU" sz="2800" b="1" baseline="30000" dirty="0" err="1"/>
              <a:t>i</a:t>
            </a:r>
            <a:r>
              <a:rPr lang="en-AU" sz="2800" b="1" baseline="30000" dirty="0"/>
              <a:t>) </a:t>
            </a:r>
            <a:r>
              <a:rPr lang="en-AU" sz="2800" baseline="30000" dirty="0"/>
              <a:t>When a coin is thrown it will land tails up.</a:t>
            </a:r>
          </a:p>
          <a:p>
            <a:r>
              <a:rPr lang="en-AU" sz="2800" b="1" baseline="30000" dirty="0"/>
              <a:t>j) </a:t>
            </a:r>
            <a:r>
              <a:rPr lang="en-AU" sz="2800" baseline="30000" dirty="0"/>
              <a:t>I will send a text message today.</a:t>
            </a:r>
          </a:p>
          <a:p>
            <a:r>
              <a:rPr lang="en-AU" sz="2800" b="1" baseline="30000" dirty="0"/>
              <a:t>k) </a:t>
            </a:r>
            <a:r>
              <a:rPr lang="en-AU" sz="2800" baseline="30000" dirty="0"/>
              <a:t>The next movie I watch will be an action movie.</a:t>
            </a:r>
          </a:p>
          <a:p>
            <a:r>
              <a:rPr lang="en-AU" sz="2800" b="1" baseline="30000" dirty="0"/>
              <a:t>l) </a:t>
            </a:r>
            <a:r>
              <a:rPr lang="en-AU" sz="2800" baseline="30000" dirty="0"/>
              <a:t>The next person to walk through the door will be a girl.</a:t>
            </a:r>
            <a:endParaRPr lang="en-AU" sz="2800" dirty="0"/>
          </a:p>
        </p:txBody>
      </p:sp>
      <p:pic>
        <p:nvPicPr>
          <p:cNvPr id="6" name="Picture 5" descr="Screen Shot 2016-02-02 at 7.40.1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57200"/>
            <a:ext cx="6985000" cy="165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21250740">
            <a:off x="1456566" y="1007951"/>
            <a:ext cx="6607816" cy="501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baseline="30000" dirty="0"/>
              <a:t>a) </a:t>
            </a:r>
            <a:r>
              <a:rPr lang="en-AU" sz="3200" baseline="30000" dirty="0"/>
              <a:t>List 3 events in your everyday life that will be certain.</a:t>
            </a:r>
          </a:p>
          <a:p>
            <a:r>
              <a:rPr lang="en-AU" sz="3200" b="1" baseline="30000" dirty="0"/>
              <a:t>b) </a:t>
            </a:r>
            <a:r>
              <a:rPr lang="en-AU" sz="3200" baseline="30000" dirty="0"/>
              <a:t>List 3 events in your everyday life that will be impossible.</a:t>
            </a:r>
          </a:p>
          <a:p>
            <a:r>
              <a:rPr lang="en-AU" sz="3200" b="1" baseline="30000" dirty="0"/>
              <a:t>c) </a:t>
            </a:r>
            <a:r>
              <a:rPr lang="en-AU" sz="3200" baseline="30000" dirty="0"/>
              <a:t>List 3 events in your everyday life that will be approximately fifty-fifty.</a:t>
            </a:r>
          </a:p>
          <a:p>
            <a:r>
              <a:rPr lang="en-AU" sz="3200" b="1" baseline="30000" dirty="0"/>
              <a:t>d) </a:t>
            </a:r>
            <a:r>
              <a:rPr lang="en-AU" sz="3200" baseline="30000" dirty="0"/>
              <a:t>The probability of tossing a coin and getting a head is fifty-fifty, or 0.5 or 1⁄2. If a coin is tossed 100 times, will the number of heads be 50?</a:t>
            </a:r>
          </a:p>
          <a:p>
            <a:r>
              <a:rPr lang="en-AU" sz="3200" b="1" baseline="30000" dirty="0"/>
              <a:t>e) </a:t>
            </a:r>
            <a:r>
              <a:rPr lang="en-AU" sz="3200" baseline="30000" dirty="0"/>
              <a:t>The probability of rolling a die and getting a 6 is one-sixth, or 0.17, or 1/6. If a die is rolled 60 times, will the number of 6s be 10?</a:t>
            </a:r>
          </a:p>
          <a:p>
            <a:r>
              <a:rPr lang="en-AU" sz="3200" b="1" baseline="30000" dirty="0"/>
              <a:t>f) </a:t>
            </a:r>
            <a:r>
              <a:rPr lang="en-AU" sz="3200" baseline="30000" dirty="0"/>
              <a:t>Almost every gambling game involving money is unfair.</a:t>
            </a:r>
          </a:p>
          <a:p>
            <a:r>
              <a:rPr lang="en-AU" sz="3200" b="1" baseline="30000" dirty="0"/>
              <a:t>g) </a:t>
            </a:r>
            <a:r>
              <a:rPr lang="en-AU" sz="3200" baseline="30000" dirty="0"/>
              <a:t>We have Buckley's chance of winning the match.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6535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0200" y="1371600"/>
            <a:ext cx="62484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b="1" u="sng" dirty="0" smtClean="0"/>
              <a:t>Sample Space</a:t>
            </a:r>
          </a:p>
          <a:p>
            <a:r>
              <a:rPr lang="en-AU" sz="3600" dirty="0"/>
              <a:t>A Sample Space is a complete list of all possible outcomes</a:t>
            </a:r>
            <a:r>
              <a:rPr lang="en-AU" sz="3600" dirty="0" smtClean="0"/>
              <a:t>.</a:t>
            </a:r>
          </a:p>
          <a:p>
            <a:r>
              <a:rPr lang="en-AU" sz="3600" dirty="0" smtClean="0"/>
              <a:t> </a:t>
            </a:r>
          </a:p>
          <a:p>
            <a:r>
              <a:rPr lang="en-AU" sz="2800" dirty="0" smtClean="0"/>
              <a:t>For example: Tossing </a:t>
            </a:r>
            <a:r>
              <a:rPr lang="en-AU" sz="2800" dirty="0"/>
              <a:t>a coin:</a:t>
            </a:r>
            <a:br>
              <a:rPr lang="en-AU" sz="2800" dirty="0"/>
            </a:br>
            <a:r>
              <a:rPr lang="en-AU" sz="2800" dirty="0"/>
              <a:t>There are two possibilities: head or Tail. The Sample Space is: S = {H, T} </a:t>
            </a:r>
          </a:p>
          <a:p>
            <a:endParaRPr lang="en-AU" sz="3600" dirty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494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278281">
            <a:off x="1418139" y="1281997"/>
            <a:ext cx="4815643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400" baseline="30000" dirty="0"/>
              <a:t>T</a:t>
            </a:r>
            <a:r>
              <a:rPr lang="en-AU" sz="4400" baseline="30000" dirty="0" smtClean="0"/>
              <a:t>he </a:t>
            </a:r>
            <a:r>
              <a:rPr lang="en-AU" sz="4400" baseline="30000" dirty="0"/>
              <a:t>Sample Space for spinning the spinner</a:t>
            </a:r>
            <a:r>
              <a:rPr lang="en-AU" sz="4400" baseline="30000" dirty="0" smtClean="0"/>
              <a:t>.</a:t>
            </a:r>
          </a:p>
          <a:p>
            <a:r>
              <a:rPr lang="en-AU" sz="4400" baseline="30000" dirty="0" smtClean="0"/>
              <a:t>S </a:t>
            </a:r>
            <a:r>
              <a:rPr lang="en-AU" sz="4400" baseline="30000" dirty="0"/>
              <a:t>= {Green, Blue, Red, Yellow</a:t>
            </a:r>
            <a:r>
              <a:rPr lang="en-AU" sz="4400" baseline="30000" dirty="0" smtClean="0"/>
              <a:t>}</a:t>
            </a:r>
          </a:p>
          <a:p>
            <a:r>
              <a:rPr lang="en-AU" sz="2800" dirty="0" smtClean="0"/>
              <a:t>The </a:t>
            </a:r>
            <a:r>
              <a:rPr lang="en-AU" sz="2800" dirty="0"/>
              <a:t>Sample Space for throwing a die. </a:t>
            </a:r>
            <a:endParaRPr lang="en-AU" sz="2800" dirty="0" smtClean="0"/>
          </a:p>
          <a:p>
            <a:r>
              <a:rPr lang="en-AU" sz="2800" dirty="0" smtClean="0"/>
              <a:t>S = {1,2,3,4,5,6}</a:t>
            </a:r>
          </a:p>
          <a:p>
            <a:r>
              <a:rPr lang="en-AU" sz="2800" dirty="0" smtClean="0"/>
              <a:t>The </a:t>
            </a:r>
            <a:r>
              <a:rPr lang="en-AU" sz="2800" dirty="0"/>
              <a:t>Sample Space for tossing a coin. </a:t>
            </a:r>
            <a:endParaRPr lang="en-AU" sz="2800" dirty="0" smtClean="0"/>
          </a:p>
          <a:p>
            <a:r>
              <a:rPr lang="en-AU" sz="2800" dirty="0" smtClean="0"/>
              <a:t>S = {H,T}</a:t>
            </a:r>
            <a:endParaRPr lang="en-AU" sz="2800" dirty="0"/>
          </a:p>
        </p:txBody>
      </p:sp>
      <p:pic>
        <p:nvPicPr>
          <p:cNvPr id="3" name="Picture 2" descr="Screen Shot 2016-02-02 at 8.11.48 pm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CBEBFB"/>
              </a:clrFrom>
              <a:clrTo>
                <a:srgbClr val="CBE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43151">
            <a:off x="5806522" y="956922"/>
            <a:ext cx="1574800" cy="1262812"/>
          </a:xfrm>
          <a:prstGeom prst="rect">
            <a:avLst/>
          </a:prstGeom>
        </p:spPr>
      </p:pic>
      <p:pic>
        <p:nvPicPr>
          <p:cNvPr id="4" name="Picture 3" descr="Screen Shot 2016-02-02 at 8.17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67000"/>
            <a:ext cx="1206500" cy="1143000"/>
          </a:xfrm>
          <a:prstGeom prst="rect">
            <a:avLst/>
          </a:prstGeom>
        </p:spPr>
      </p:pic>
      <p:pic>
        <p:nvPicPr>
          <p:cNvPr id="6" name="Picture 5" descr="Screen Shot 2016-02-02 at 8.21.47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267200"/>
            <a:ext cx="990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6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990600"/>
            <a:ext cx="6400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Theoretical Probability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—</a:t>
            </a:r>
          </a:p>
          <a:p>
            <a:pPr algn="ctr"/>
            <a:r>
              <a:rPr lang="en-US" sz="4000" dirty="0"/>
              <a:t>The probability of an event</a:t>
            </a:r>
            <a:br>
              <a:rPr lang="en-US" sz="4000" dirty="0"/>
            </a:br>
            <a:r>
              <a:rPr lang="en-US" sz="4000" dirty="0"/>
              <a:t>is the number of </a:t>
            </a:r>
            <a:r>
              <a:rPr lang="en-US" sz="4000" dirty="0" err="1" smtClean="0"/>
              <a:t>favourable</a:t>
            </a:r>
            <a:r>
              <a:rPr lang="en-US" sz="4000" dirty="0" smtClean="0"/>
              <a:t> </a:t>
            </a:r>
            <a:r>
              <a:rPr lang="en-US" sz="4000" dirty="0"/>
              <a:t>outcomes divided by the number of possible outcomes. </a:t>
            </a:r>
            <a:endParaRPr lang="en-US" sz="4000" dirty="0" smtClean="0"/>
          </a:p>
          <a:p>
            <a:pPr algn="ctr"/>
            <a:endParaRPr lang="en-US" sz="2400" dirty="0"/>
          </a:p>
          <a:p>
            <a:pPr algn="ctr"/>
            <a:endParaRPr lang="en-US" sz="2400" dirty="0">
              <a:latin typeface="Happy Sans" panose="02000500000000000000" pitchFamily="2" charset="0"/>
            </a:endParaRPr>
          </a:p>
        </p:txBody>
      </p:sp>
      <p:pic>
        <p:nvPicPr>
          <p:cNvPr id="3" name="Picture 2" descr="Screen Shot 2016-02-02 at 8.33.2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15814">
            <a:off x="1480510" y="4770822"/>
            <a:ext cx="6705600" cy="106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1295400"/>
            <a:ext cx="6553200" cy="4192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Experimental</a:t>
            </a:r>
            <a:r>
              <a:rPr lang="en-US" sz="3600" b="1" dirty="0" smtClean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Probability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— </a:t>
            </a:r>
            <a:r>
              <a:rPr lang="en-US" sz="3200" dirty="0" smtClean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probability </a:t>
            </a:r>
            <a:r>
              <a:rPr lang="en-US" sz="3200" dirty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based on the results of repeated trials of an experiment</a:t>
            </a:r>
            <a:r>
              <a:rPr lang="en-US" sz="3200" dirty="0" smtClean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/>
              <a:t>If the experiment is fair then with a large number of trials, the experimental probability and the theoretical probability should be similar. </a:t>
            </a:r>
          </a:p>
          <a:p>
            <a:pPr marL="0" marR="0"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endParaRPr lang="en-US" sz="3200" dirty="0">
              <a:latin typeface="Happy Sans" panose="02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creen Shot 2016-02-02 at 8.45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9254">
            <a:off x="1400529" y="4926372"/>
            <a:ext cx="6812860" cy="93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2800" y="3048000"/>
            <a:ext cx="2672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Review quiz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7834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95400" y="685800"/>
            <a:ext cx="6096000" cy="6397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Fractions </a:t>
            </a:r>
            <a:endParaRPr lang="en-US" sz="48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ppy Sans" panose="02000500000000000000" pitchFamily="2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295400" y="1676400"/>
            <a:ext cx="4131203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Remember when writing a fraction.  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The denominator is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_______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And the numerator      is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828800" y="3962400"/>
            <a:ext cx="3677626" cy="1430338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lang="en-US" sz="3200" b="1" dirty="0">
              <a:solidFill>
                <a:srgbClr val="FF0000"/>
              </a:solidFill>
              <a:latin typeface="Happy Sans" panose="02000500000000000000" pitchFamily="2" charset="0"/>
            </a:endParaRPr>
          </a:p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Bottom Number</a:t>
            </a:r>
          </a:p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lang="en-US" sz="3200" b="1" dirty="0">
              <a:solidFill>
                <a:srgbClr val="FF0000"/>
              </a:solidFill>
              <a:latin typeface="Happy Sans" panose="02000500000000000000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371600" y="3276600"/>
            <a:ext cx="3352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Top Number. </a:t>
            </a:r>
            <a:endParaRPr lang="en-US" sz="3600" b="1" dirty="0">
              <a:solidFill>
                <a:srgbClr val="FF0000"/>
              </a:solidFill>
              <a:latin typeface="Happy Sans" panose="020005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447800"/>
            <a:ext cx="2494065" cy="42910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977072" y="3962400"/>
            <a:ext cx="760077" cy="739534"/>
          </a:xfrm>
          <a:prstGeom prst="ellipse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1" t="11335" r="11670" b="49746"/>
          <a:stretch/>
        </p:blipFill>
        <p:spPr>
          <a:xfrm flipV="1">
            <a:off x="6522728" y="3553134"/>
            <a:ext cx="739535" cy="719547"/>
          </a:xfrm>
          <a:prstGeom prst="ellipse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831697" y="3351071"/>
            <a:ext cx="739535" cy="719547"/>
          </a:xfrm>
          <a:prstGeom prst="ellipse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00" r="62500" b="50000"/>
          <a:stretch/>
        </p:blipFill>
        <p:spPr>
          <a:xfrm flipV="1">
            <a:off x="6338339" y="2885329"/>
            <a:ext cx="760077" cy="739534"/>
          </a:xfrm>
          <a:prstGeom prst="ellipse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5325312" y="3743859"/>
            <a:ext cx="760077" cy="739534"/>
          </a:xfrm>
          <a:prstGeom prst="ellipse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346681" y="2895600"/>
            <a:ext cx="738964" cy="718992"/>
          </a:xfrm>
          <a:prstGeom prst="ellipse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668103" y="4035053"/>
            <a:ext cx="760077" cy="739534"/>
          </a:xfrm>
          <a:prstGeom prst="ellipse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810572" y="3191620"/>
            <a:ext cx="760077" cy="739534"/>
          </a:xfrm>
          <a:prstGeom prst="ellipse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514547" y="4310890"/>
            <a:ext cx="739535" cy="719547"/>
          </a:xfrm>
          <a:prstGeom prst="ellipse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886201" y="4922084"/>
            <a:ext cx="738964" cy="718992"/>
          </a:xfrm>
          <a:prstGeom prst="ellipse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248400" y="4495800"/>
            <a:ext cx="738964" cy="718992"/>
          </a:xfrm>
          <a:prstGeom prst="ellipse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296307" y="4798187"/>
            <a:ext cx="738964" cy="718992"/>
          </a:xfrm>
          <a:prstGeom prst="ellipse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6768500" y="4777645"/>
            <a:ext cx="760077" cy="7395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759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962400" y="762000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  <a:endParaRPr lang="en-US" sz="48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ppy Sans" panose="02000500000000000000" pitchFamily="2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219200" y="1295400"/>
            <a:ext cx="4131203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Remember when writing a fraction.  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The denominator is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_______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And the numerator      is  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_______________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None/>
            </a:pPr>
            <a:r>
              <a:rPr lang="en-US" sz="3600" kern="0" dirty="0" smtClean="0">
                <a:latin typeface="Happy Sans" panose="02000500000000000000" pitchFamily="2" charset="0"/>
              </a:rPr>
              <a:t>_______</a:t>
            </a:r>
            <a:endParaRPr lang="en-US" sz="3600" kern="0" dirty="0">
              <a:latin typeface="Happy Sans" panose="02000500000000000000" pitchFamily="2" charset="0"/>
            </a:endParaRP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3600" kern="0" dirty="0" smtClean="0">
              <a:latin typeface="Happy Sans" panose="02000500000000000000" pitchFamily="2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828800" y="3581400"/>
            <a:ext cx="3677626" cy="1430338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lang="en-US" sz="3200" b="1" dirty="0">
              <a:solidFill>
                <a:srgbClr val="FF0000"/>
              </a:solidFill>
              <a:latin typeface="Happy Sans" panose="02000500000000000000" pitchFamily="2" charset="0"/>
            </a:endParaRPr>
          </a:p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the part you are talking </a:t>
            </a:r>
          </a:p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about.(Sample Space)</a:t>
            </a:r>
          </a:p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lang="en-US" sz="3200" b="1" dirty="0">
              <a:solidFill>
                <a:srgbClr val="FF0000"/>
              </a:solidFill>
              <a:latin typeface="Happy Sans" panose="02000500000000000000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676400" y="2895600"/>
            <a:ext cx="2286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en-US" sz="3600" b="1" dirty="0">
                <a:solidFill>
                  <a:srgbClr val="FF0000"/>
                </a:solidFill>
                <a:latin typeface="Happy Sans" panose="02000500000000000000" pitchFamily="2" charset="0"/>
              </a:rPr>
              <a:t>total.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447800"/>
            <a:ext cx="2494065" cy="42910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977072" y="3962400"/>
            <a:ext cx="760077" cy="739534"/>
          </a:xfrm>
          <a:prstGeom prst="ellipse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1" t="11335" r="11670" b="49746"/>
          <a:stretch/>
        </p:blipFill>
        <p:spPr>
          <a:xfrm flipV="1">
            <a:off x="6522728" y="3553134"/>
            <a:ext cx="739535" cy="719547"/>
          </a:xfrm>
          <a:prstGeom prst="ellipse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831697" y="3351071"/>
            <a:ext cx="739535" cy="719547"/>
          </a:xfrm>
          <a:prstGeom prst="ellipse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00" r="62500" b="50000"/>
          <a:stretch/>
        </p:blipFill>
        <p:spPr>
          <a:xfrm flipV="1">
            <a:off x="6338339" y="2885329"/>
            <a:ext cx="760077" cy="739534"/>
          </a:xfrm>
          <a:prstGeom prst="ellipse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5325312" y="3743859"/>
            <a:ext cx="760077" cy="739534"/>
          </a:xfrm>
          <a:prstGeom prst="ellipse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346681" y="2895600"/>
            <a:ext cx="738964" cy="718992"/>
          </a:xfrm>
          <a:prstGeom prst="ellipse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668103" y="4035053"/>
            <a:ext cx="760077" cy="739534"/>
          </a:xfrm>
          <a:prstGeom prst="ellipse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810572" y="3191620"/>
            <a:ext cx="760077" cy="739534"/>
          </a:xfrm>
          <a:prstGeom prst="ellipse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514547" y="4310890"/>
            <a:ext cx="739535" cy="719547"/>
          </a:xfrm>
          <a:prstGeom prst="ellipse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886201" y="4922084"/>
            <a:ext cx="738964" cy="718992"/>
          </a:xfrm>
          <a:prstGeom prst="ellipse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248400" y="4495800"/>
            <a:ext cx="738964" cy="718992"/>
          </a:xfrm>
          <a:prstGeom prst="ellipse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296307" y="4798187"/>
            <a:ext cx="738964" cy="718992"/>
          </a:xfrm>
          <a:prstGeom prst="ellipse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6768500" y="4777645"/>
            <a:ext cx="760077" cy="7395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7963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 smtClean="0">
                <a:latin typeface="Happy Sans" panose="02000500000000000000" pitchFamily="2" charset="0"/>
              </a:rPr>
              <a:t>What is the probability of choosing a red marble?</a:t>
            </a:r>
          </a:p>
        </p:txBody>
      </p:sp>
      <p:sp>
        <p:nvSpPr>
          <p:cNvPr id="15366" name="TextBox 5"/>
          <p:cNvSpPr txBox="1">
            <a:spLocks noChangeArrowheads="1"/>
          </p:cNvSpPr>
          <p:nvPr/>
        </p:nvSpPr>
        <p:spPr bwMode="auto">
          <a:xfrm>
            <a:off x="1080054" y="4953000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  <a:endParaRPr lang="en-US" sz="2800" b="1" dirty="0" smtClean="0">
              <a:solidFill>
                <a:srgbClr val="FF0000"/>
              </a:solidFill>
              <a:latin typeface="Happy Sans" panose="02000500000000000000" pitchFamily="2" charset="0"/>
            </a:endParaRPr>
          </a:p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  <a:endParaRPr lang="en-US" sz="2800" b="1" dirty="0">
              <a:solidFill>
                <a:srgbClr val="FF0000"/>
              </a:solidFill>
              <a:latin typeface="Happy Sans" panose="02000500000000000000" pitchFamily="2" charset="0"/>
            </a:endParaRPr>
          </a:p>
        </p:txBody>
      </p:sp>
      <p:sp>
        <p:nvSpPr>
          <p:cNvPr id="40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  <a:endParaRPr lang="en-US" sz="48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ppy Sans" panose="02000500000000000000" pitchFamily="2" charset="0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498" y="1421815"/>
            <a:ext cx="2494065" cy="429101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55258" y="2943030"/>
            <a:ext cx="760077" cy="739534"/>
          </a:xfrm>
          <a:prstGeom prst="ellipse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1" t="11335" r="11670" b="49746"/>
          <a:stretch/>
        </p:blipFill>
        <p:spPr>
          <a:xfrm flipV="1">
            <a:off x="5782670" y="3696376"/>
            <a:ext cx="739535" cy="719547"/>
          </a:xfrm>
          <a:prstGeom prst="ellipse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2922069"/>
            <a:ext cx="739535" cy="719547"/>
          </a:xfrm>
          <a:prstGeom prst="ellipse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00" r="62500" b="50000"/>
          <a:stretch/>
        </p:blipFill>
        <p:spPr>
          <a:xfrm flipV="1">
            <a:off x="5122359" y="3532714"/>
            <a:ext cx="760077" cy="739534"/>
          </a:xfrm>
          <a:prstGeom prst="ellipse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5003972" y="4798362"/>
            <a:ext cx="760077" cy="739534"/>
          </a:xfrm>
          <a:prstGeom prst="ellipse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73950" y="4426113"/>
            <a:ext cx="760077" cy="739534"/>
          </a:xfrm>
          <a:prstGeom prst="ellipse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452062" y="2900117"/>
            <a:ext cx="760077" cy="739534"/>
          </a:xfrm>
          <a:prstGeom prst="ellipse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4169975"/>
            <a:ext cx="739535" cy="719547"/>
          </a:xfrm>
          <a:prstGeom prst="ellipse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574099" y="4896099"/>
            <a:ext cx="738964" cy="718992"/>
          </a:xfrm>
          <a:prstGeom prst="ellipse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452062" y="4170530"/>
            <a:ext cx="738964" cy="718992"/>
          </a:xfrm>
          <a:prstGeom prst="ellipse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393930" y="3548624"/>
            <a:ext cx="738964" cy="718992"/>
          </a:xfrm>
          <a:prstGeom prst="ellipse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6456398" y="4751660"/>
            <a:ext cx="760077" cy="7395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3441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869498" y="1421815"/>
            <a:ext cx="2494065" cy="4291013"/>
            <a:chOff x="4869498" y="1421815"/>
            <a:chExt cx="2494065" cy="4291013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9498" y="1421815"/>
              <a:ext cx="2494065" cy="4291013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804318" y="2930012"/>
              <a:ext cx="760077" cy="739534"/>
            </a:xfrm>
            <a:prstGeom prst="ellipse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31" t="11335" r="11670" b="49746"/>
            <a:stretch/>
          </p:blipFill>
          <p:spPr>
            <a:xfrm flipV="1">
              <a:off x="5782670" y="3696376"/>
              <a:ext cx="739535" cy="719547"/>
            </a:xfrm>
            <a:prstGeom prst="ellipse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66" t="53557" r="43335" b="7524"/>
            <a:stretch/>
          </p:blipFill>
          <p:spPr>
            <a:xfrm flipV="1">
              <a:off x="5153051" y="2922069"/>
              <a:ext cx="739535" cy="719547"/>
            </a:xfrm>
            <a:prstGeom prst="ellipse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6" t="10000" r="62500" b="50000"/>
            <a:stretch/>
          </p:blipFill>
          <p:spPr>
            <a:xfrm flipV="1">
              <a:off x="5122359" y="3532714"/>
              <a:ext cx="760077" cy="739534"/>
            </a:xfrm>
            <a:prstGeom prst="ellipse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003972" y="4798362"/>
              <a:ext cx="760077" cy="739534"/>
            </a:xfrm>
            <a:prstGeom prst="ellipse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773950" y="4426113"/>
              <a:ext cx="760077" cy="739534"/>
            </a:xfrm>
            <a:prstGeom prst="ellipse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6452062" y="2900117"/>
              <a:ext cx="760077" cy="739534"/>
            </a:xfrm>
            <a:prstGeom prst="ellipse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66" t="53557" r="43335" b="7524"/>
            <a:stretch/>
          </p:blipFill>
          <p:spPr>
            <a:xfrm flipV="1">
              <a:off x="5153051" y="4169975"/>
              <a:ext cx="739535" cy="719547"/>
            </a:xfrm>
            <a:prstGeom prst="ellipse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452062" y="4170530"/>
              <a:ext cx="738964" cy="718992"/>
            </a:xfrm>
            <a:prstGeom prst="ellipse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393930" y="3548624"/>
              <a:ext cx="738964" cy="718992"/>
            </a:xfrm>
            <a:prstGeom prst="ellipse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6456398" y="4751660"/>
              <a:ext cx="760077" cy="739534"/>
            </a:xfrm>
            <a:prstGeom prst="ellipse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582756" y="4882893"/>
              <a:ext cx="760077" cy="739534"/>
            </a:xfrm>
            <a:prstGeom prst="ellipse">
              <a:avLst/>
            </a:prstGeom>
          </p:spPr>
        </p:pic>
      </p:grpSp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 smtClean="0">
                <a:latin typeface="Happy Sans" panose="02000500000000000000" pitchFamily="2" charset="0"/>
              </a:rPr>
              <a:t>What is the probability of choosing a blue marble?</a:t>
            </a:r>
          </a:p>
        </p:txBody>
      </p:sp>
      <p:sp>
        <p:nvSpPr>
          <p:cNvPr id="46" name="TextBox 5"/>
          <p:cNvSpPr txBox="1">
            <a:spLocks noChangeArrowheads="1"/>
          </p:cNvSpPr>
          <p:nvPr/>
        </p:nvSpPr>
        <p:spPr bwMode="auto">
          <a:xfrm>
            <a:off x="1109994" y="4857553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  <a:endParaRPr lang="en-US" sz="2800" b="1" dirty="0" smtClean="0">
              <a:solidFill>
                <a:srgbClr val="FF0000"/>
              </a:solidFill>
              <a:latin typeface="Happy Sans" panose="02000500000000000000" pitchFamily="2" charset="0"/>
            </a:endParaRPr>
          </a:p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  <a:endParaRPr lang="en-US" sz="2800" b="1" dirty="0">
              <a:solidFill>
                <a:srgbClr val="FF0000"/>
              </a:solidFill>
              <a:latin typeface="Happy Sans" panose="02000500000000000000" pitchFamily="2" charset="0"/>
            </a:endParaRPr>
          </a:p>
        </p:txBody>
      </p:sp>
      <p:sp>
        <p:nvSpPr>
          <p:cNvPr id="53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  <a:endParaRPr lang="en-US" sz="48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ppy Sans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 smtClean="0">
                <a:latin typeface="Happy Sans" panose="02000500000000000000" pitchFamily="2" charset="0"/>
              </a:rPr>
              <a:t>What is the probability of choosing a orange marble?</a:t>
            </a: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109994" y="4857553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  <a:endParaRPr lang="en-US" sz="2800" b="1" dirty="0" smtClean="0">
              <a:solidFill>
                <a:srgbClr val="FF0000"/>
              </a:solidFill>
              <a:latin typeface="Happy Sans" panose="02000500000000000000" pitchFamily="2" charset="0"/>
            </a:endParaRPr>
          </a:p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  <a:endParaRPr lang="en-US" sz="2800" b="1" dirty="0">
              <a:solidFill>
                <a:srgbClr val="FF0000"/>
              </a:solidFill>
              <a:latin typeface="Happy Sans" panose="02000500000000000000" pitchFamily="2" charset="0"/>
            </a:endParaRPr>
          </a:p>
        </p:txBody>
      </p:sp>
      <p:sp>
        <p:nvSpPr>
          <p:cNvPr id="60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  <a:endParaRPr lang="en-US" sz="48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ppy Sans" panose="02000500000000000000" pitchFamily="2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869498" y="1421815"/>
            <a:ext cx="2494065" cy="4291013"/>
            <a:chOff x="4869498" y="1421815"/>
            <a:chExt cx="2494065" cy="4291013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9498" y="1421815"/>
              <a:ext cx="2494065" cy="4291013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6" t="10000" r="62500" b="50000"/>
            <a:stretch/>
          </p:blipFill>
          <p:spPr>
            <a:xfrm flipV="1">
              <a:off x="5035590" y="3529486"/>
              <a:ext cx="760077" cy="739534"/>
            </a:xfrm>
            <a:prstGeom prst="ellipse">
              <a:avLst/>
            </a:prstGeom>
          </p:spPr>
        </p:pic>
        <p:pic>
          <p:nvPicPr>
            <p:cNvPr id="68" name="Pictur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003972" y="4798362"/>
              <a:ext cx="760077" cy="739534"/>
            </a:xfrm>
            <a:prstGeom prst="ellipse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773950" y="4426113"/>
              <a:ext cx="760077" cy="739534"/>
            </a:xfrm>
            <a:prstGeom prst="ellipse">
              <a:avLst/>
            </a:prstGeom>
          </p:spPr>
        </p:pic>
        <p:pic>
          <p:nvPicPr>
            <p:cNvPr id="70" name="Picture 6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521197" y="3987805"/>
              <a:ext cx="738964" cy="718992"/>
            </a:xfrm>
            <a:prstGeom prst="ellipse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477511" y="3445798"/>
              <a:ext cx="738964" cy="718992"/>
            </a:xfrm>
            <a:prstGeom prst="ellipse">
              <a:avLst/>
            </a:prstGeom>
          </p:spPr>
        </p:pic>
        <p:pic>
          <p:nvPicPr>
            <p:cNvPr id="72" name="Picture 7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6511646" y="4567241"/>
              <a:ext cx="760077" cy="739534"/>
            </a:xfrm>
            <a:prstGeom prst="ellipse">
              <a:avLst/>
            </a:prstGeom>
          </p:spPr>
        </p:pic>
        <p:pic>
          <p:nvPicPr>
            <p:cNvPr id="73" name="Picture 7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887416" y="4872784"/>
              <a:ext cx="760077" cy="739534"/>
            </a:xfrm>
            <a:prstGeom prst="ellipse">
              <a:avLst/>
            </a:prstGeom>
          </p:spPr>
        </p:pic>
        <p:pic>
          <p:nvPicPr>
            <p:cNvPr id="74" name="Picture 7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164161" y="4100566"/>
              <a:ext cx="760077" cy="739534"/>
            </a:xfrm>
            <a:prstGeom prst="ellipse">
              <a:avLst/>
            </a:prstGeom>
          </p:spPr>
        </p:pic>
        <p:pic>
          <p:nvPicPr>
            <p:cNvPr id="75" name="Picture 7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817801" y="3721159"/>
              <a:ext cx="760077" cy="739534"/>
            </a:xfrm>
            <a:prstGeom prst="ellipse">
              <a:avLst/>
            </a:prstGeom>
          </p:spPr>
        </p:pic>
        <p:pic>
          <p:nvPicPr>
            <p:cNvPr id="76" name="Picture 7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6242209" y="2824532"/>
              <a:ext cx="760077" cy="739534"/>
            </a:xfrm>
            <a:prstGeom prst="ellipse">
              <a:avLst/>
            </a:prstGeom>
          </p:spPr>
        </p:pic>
        <p:pic>
          <p:nvPicPr>
            <p:cNvPr id="77" name="Picture 7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4998068" y="2920708"/>
              <a:ext cx="760077" cy="739534"/>
            </a:xfrm>
            <a:prstGeom prst="ellipse">
              <a:avLst/>
            </a:prstGeom>
          </p:spPr>
        </p:pic>
        <p:pic>
          <p:nvPicPr>
            <p:cNvPr id="78" name="Picture 7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584897" y="3083482"/>
              <a:ext cx="760077" cy="739534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92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 smtClean="0">
                <a:latin typeface="Happy Sans" panose="02000500000000000000" pitchFamily="2" charset="0"/>
              </a:rPr>
              <a:t>What is the probability of choosing a black marble?</a:t>
            </a:r>
          </a:p>
        </p:txBody>
      </p:sp>
      <p:sp>
        <p:nvSpPr>
          <p:cNvPr id="15366" name="TextBox 5"/>
          <p:cNvSpPr txBox="1">
            <a:spLocks noChangeArrowheads="1"/>
          </p:cNvSpPr>
          <p:nvPr/>
        </p:nvSpPr>
        <p:spPr bwMode="auto">
          <a:xfrm>
            <a:off x="1080054" y="4953000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  <a:endParaRPr lang="en-US" sz="2800" b="1" dirty="0" smtClean="0">
              <a:solidFill>
                <a:srgbClr val="FF0000"/>
              </a:solidFill>
              <a:latin typeface="Happy Sans" panose="02000500000000000000" pitchFamily="2" charset="0"/>
            </a:endParaRPr>
          </a:p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  <a:endParaRPr lang="en-US" sz="2800" b="1" dirty="0">
              <a:solidFill>
                <a:srgbClr val="FF0000"/>
              </a:solidFill>
              <a:latin typeface="Happy Sans" panose="02000500000000000000" pitchFamily="2" charset="0"/>
            </a:endParaRPr>
          </a:p>
        </p:txBody>
      </p:sp>
      <p:sp>
        <p:nvSpPr>
          <p:cNvPr id="40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  <a:endParaRPr lang="en-US" sz="48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ppy Sans" panose="02000500000000000000" pitchFamily="2" charset="0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498" y="1421815"/>
            <a:ext cx="2494065" cy="429101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55258" y="2943030"/>
            <a:ext cx="760077" cy="739534"/>
          </a:xfrm>
          <a:prstGeom prst="ellipse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1" t="11335" r="11670" b="49746"/>
          <a:stretch/>
        </p:blipFill>
        <p:spPr>
          <a:xfrm flipV="1">
            <a:off x="5782670" y="3696376"/>
            <a:ext cx="739535" cy="719547"/>
          </a:xfrm>
          <a:prstGeom prst="ellipse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2922069"/>
            <a:ext cx="739535" cy="719547"/>
          </a:xfrm>
          <a:prstGeom prst="ellipse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00" r="62500" b="50000"/>
          <a:stretch/>
        </p:blipFill>
        <p:spPr>
          <a:xfrm flipV="1">
            <a:off x="5122359" y="3532714"/>
            <a:ext cx="760077" cy="739534"/>
          </a:xfrm>
          <a:prstGeom prst="ellipse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5003972" y="4798362"/>
            <a:ext cx="760077" cy="739534"/>
          </a:xfrm>
          <a:prstGeom prst="ellipse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73950" y="4426113"/>
            <a:ext cx="760077" cy="739534"/>
          </a:xfrm>
          <a:prstGeom prst="ellipse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452062" y="2900117"/>
            <a:ext cx="760077" cy="739534"/>
          </a:xfrm>
          <a:prstGeom prst="ellipse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4169975"/>
            <a:ext cx="739535" cy="719547"/>
          </a:xfrm>
          <a:prstGeom prst="ellipse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574099" y="4896099"/>
            <a:ext cx="738964" cy="718992"/>
          </a:xfrm>
          <a:prstGeom prst="ellipse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452062" y="4170530"/>
            <a:ext cx="738964" cy="718992"/>
          </a:xfrm>
          <a:prstGeom prst="ellipse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393930" y="3548624"/>
            <a:ext cx="738964" cy="718992"/>
          </a:xfrm>
          <a:prstGeom prst="ellipse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6456398" y="4751660"/>
            <a:ext cx="760077" cy="7395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536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</TotalTime>
  <Words>941</Words>
  <Application>Microsoft Macintosh PowerPoint</Application>
  <PresentationFormat>On-screen Show (4:3)</PresentationFormat>
  <Paragraphs>150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Calibri</vt:lpstr>
      <vt:lpstr>Franklin Gothic Book</vt:lpstr>
      <vt:lpstr>Geneva</vt:lpstr>
      <vt:lpstr>Happy Sans</vt:lpstr>
      <vt:lpstr>Times New Roman</vt:lpstr>
      <vt:lpstr>Wingdings</vt:lpstr>
      <vt:lpstr>Arial</vt:lpstr>
      <vt:lpstr>Default Design</vt:lpstr>
      <vt:lpstr>PowerPoint Presentation</vt:lpstr>
      <vt:lpstr>PowerPoint Presentation</vt:lpstr>
      <vt:lpstr>My 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Amy Mailloux; 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Amy Mailloux</dc:creator>
  <cp:lastModifiedBy>Kath Farmer</cp:lastModifiedBy>
  <cp:revision>42</cp:revision>
  <dcterms:created xsi:type="dcterms:W3CDTF">2013-01-13T22:01:10Z</dcterms:created>
  <dcterms:modified xsi:type="dcterms:W3CDTF">2018-10-24T05:44:35Z</dcterms:modified>
</cp:coreProperties>
</file>
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3" r:id="rId2"/>
    <p:sldId id="334" r:id="rId3"/>
    <p:sldId id="332" r:id="rId4"/>
    <p:sldId id="303" r:id="rId5"/>
    <p:sldId id="328" r:id="rId6"/>
    <p:sldId id="32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>
    <p:extLst>
      <p:ext uri="{19B8F6BF-5375-455C-9EA6-DF929625EA0E}">
        <p15:presenceInfo xmlns:p15="http://schemas.microsoft.com/office/powerpoint/2012/main" userId="" providerId="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8" autoAdjust="0"/>
    <p:restoredTop sz="92896" autoAdjust="0"/>
  </p:normalViewPr>
  <p:slideViewPr>
    <p:cSldViewPr>
      <p:cViewPr varScale="1">
        <p:scale>
          <a:sx n="65" d="100"/>
          <a:sy n="65" d="100"/>
        </p:scale>
        <p:origin x="192" y="6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4T14:48:27.84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24/10/18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24/10/18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8673"/>
            <a:ext cx="8712968" cy="651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6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8712968" cy="6516298"/>
          </a:xfrm>
        </p:spPr>
      </p:pic>
    </p:spTree>
    <p:extLst>
      <p:ext uri="{BB962C8B-B14F-4D97-AF65-F5344CB8AC3E}">
        <p14:creationId xmlns:p14="http://schemas.microsoft.com/office/powerpoint/2010/main" val="799453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442" y="46898"/>
            <a:ext cx="8229600" cy="778098"/>
          </a:xfrm>
        </p:spPr>
        <p:txBody>
          <a:bodyPr>
            <a:normAutofit/>
          </a:bodyPr>
          <a:lstStyle/>
          <a:p>
            <a:r>
              <a:rPr lang="en-US" sz="4000" dirty="0"/>
              <a:t>Consider the following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83" y="731785"/>
            <a:ext cx="8229600" cy="140107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Have a think about the following questions.</a:t>
            </a:r>
          </a:p>
          <a:p>
            <a:r>
              <a:rPr lang="en-US" sz="2400" dirty="0"/>
              <a:t>Do you like football?</a:t>
            </a:r>
          </a:p>
          <a:p>
            <a:r>
              <a:rPr lang="en-US" sz="2400" dirty="0"/>
              <a:t>Do you like music?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030235"/>
              </p:ext>
            </p:extLst>
          </p:nvPr>
        </p:nvGraphicFramePr>
        <p:xfrm>
          <a:off x="586199" y="3123015"/>
          <a:ext cx="5760640" cy="208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  <a:gridCol w="1968219"/>
                <a:gridCol w="1872208"/>
              </a:tblGrid>
              <a:tr h="696077"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Like M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Dislike M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Like F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Dislike F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29231"/>
              </p:ext>
            </p:extLst>
          </p:nvPr>
        </p:nvGraphicFramePr>
        <p:xfrm>
          <a:off x="586199" y="5211246"/>
          <a:ext cx="5760640" cy="69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  <a:gridCol w="1968219"/>
                <a:gridCol w="1872208"/>
              </a:tblGrid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597485"/>
              </p:ext>
            </p:extLst>
          </p:nvPr>
        </p:nvGraphicFramePr>
        <p:xfrm>
          <a:off x="6346841" y="3123015"/>
          <a:ext cx="1920213" cy="208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</a:tblGrid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008733"/>
              </p:ext>
            </p:extLst>
          </p:nvPr>
        </p:nvGraphicFramePr>
        <p:xfrm>
          <a:off x="6346840" y="5211245"/>
          <a:ext cx="1920213" cy="69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</a:tblGrid>
              <a:tr h="696077"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86924" y="6021290"/>
            <a:ext cx="576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This is a two-way table!!!</a:t>
            </a:r>
            <a:endParaRPr lang="en-AU" sz="3200" dirty="0"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326" y="2079100"/>
            <a:ext cx="8265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might be interested to find out if people liked both (or neither).</a:t>
            </a:r>
          </a:p>
          <a:p>
            <a:r>
              <a:rPr lang="en-US" sz="2400" dirty="0"/>
              <a:t>So let’s set it up like this…</a:t>
            </a:r>
          </a:p>
        </p:txBody>
      </p:sp>
    </p:spTree>
    <p:extLst>
      <p:ext uri="{BB962C8B-B14F-4D97-AF65-F5344CB8AC3E}">
        <p14:creationId xmlns:p14="http://schemas.microsoft.com/office/powerpoint/2010/main" val="175772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95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7587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351" y="1850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97530" y="1508656"/>
            <a:ext cx="24209" cy="53493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1415" y="195900"/>
            <a:ext cx="2520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Two-Way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1" y="94824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can obtain probabilities from a two-way table?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07300" y="1550115"/>
            <a:ext cx="740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Two-way tables </a:t>
            </a:r>
            <a:r>
              <a:rPr lang="en-US" sz="2400" dirty="0" smtClean="0"/>
              <a:t>lists </a:t>
            </a:r>
            <a:r>
              <a:rPr lang="en-US" sz="2400" dirty="0"/>
              <a:t>the number of outcomes (or people) in different categories, with totals at the bottom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We display them like this.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5351" y="1541843"/>
            <a:ext cx="1396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What is a two-way table?</a:t>
            </a:r>
            <a:endParaRPr lang="en-AU" sz="22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20345"/>
              </p:ext>
            </p:extLst>
          </p:nvPr>
        </p:nvGraphicFramePr>
        <p:xfrm>
          <a:off x="2005582" y="2799935"/>
          <a:ext cx="4942682" cy="2946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27"/>
                <a:gridCol w="827047"/>
                <a:gridCol w="988536"/>
                <a:gridCol w="988536"/>
                <a:gridCol w="988536"/>
              </a:tblGrid>
              <a:tr h="589314">
                <a:tc rowSpan="2" gridSpan="2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Event 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gridSpan="2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A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A’</a:t>
                      </a:r>
                      <a:endParaRPr lang="en-AU" sz="2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Total</a:t>
                      </a:r>
                      <a:endParaRPr lang="en-AU" sz="2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rowSpan="3">
                  <a:txBody>
                    <a:bodyPr/>
                    <a:lstStyle/>
                    <a:p>
                      <a:pPr algn="ctr"/>
                      <a:endParaRPr lang="en-US" sz="24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B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B’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Total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584260" y="5960477"/>
                <a:ext cx="1900216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𝐻𝑜𝑤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𝑚𝑎𝑛𝑦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260" y="5960477"/>
                <a:ext cx="1900216" cy="614848"/>
              </a:xfrm>
              <a:prstGeom prst="rect">
                <a:avLst/>
              </a:prstGeom>
              <a:blipFill rotWithShape="0">
                <a:blip r:embed="rId2"/>
                <a:stretch>
                  <a:fillRect l="-2564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152887" y="405957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13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4152887" y="461960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27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5184802" y="404238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17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6166679" y="458664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  <a:r>
              <a:rPr lang="en-US" sz="2400" dirty="0" smtClean="0"/>
              <a:t>0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 rot="2118287">
            <a:off x="7288003" y="2527883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Not A</a:t>
            </a:r>
            <a:endParaRPr lang="en-AU" sz="2400" b="1" dirty="0"/>
          </a:p>
        </p:txBody>
      </p:sp>
      <p:sp>
        <p:nvSpPr>
          <p:cNvPr id="17" name="Left Arrow 16"/>
          <p:cNvSpPr/>
          <p:nvPr/>
        </p:nvSpPr>
        <p:spPr>
          <a:xfrm rot="20271546">
            <a:off x="5643173" y="2944686"/>
            <a:ext cx="1795968" cy="4793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-21410" y="5630563"/>
            <a:ext cx="19443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How do we find probabilities?</a:t>
            </a:r>
            <a:endParaRPr lang="en-AU" sz="2200" dirty="0"/>
          </a:p>
        </p:txBody>
      </p:sp>
      <p:sp>
        <p:nvSpPr>
          <p:cNvPr id="31" name="TextBox 30"/>
          <p:cNvSpPr txBox="1"/>
          <p:nvPr/>
        </p:nvSpPr>
        <p:spPr>
          <a:xfrm>
            <a:off x="4202427" y="517963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40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378864" y="5903032"/>
                <a:ext cx="1818043" cy="617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(A)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864" y="5903032"/>
                <a:ext cx="1818043" cy="617157"/>
              </a:xfrm>
              <a:prstGeom prst="rect">
                <a:avLst/>
              </a:prstGeom>
              <a:blipFill rotWithShape="0">
                <a:blip r:embed="rId3"/>
                <a:stretch>
                  <a:fillRect l="-4682"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170035" y="404238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30</a:t>
            </a:r>
            <a:endParaRPr lang="en-AU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5196907" y="4619599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23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5196907" y="519681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40</a:t>
            </a:r>
            <a:endParaRPr lang="en-A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6115880" y="519681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  <a:r>
              <a:rPr lang="en-US" sz="2400" dirty="0" smtClean="0"/>
              <a:t>0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035550" y="5904969"/>
                <a:ext cx="2472800" cy="616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(A and B)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550" y="5904969"/>
                <a:ext cx="2472800" cy="616387"/>
              </a:xfrm>
              <a:prstGeom prst="rect">
                <a:avLst/>
              </a:prstGeom>
              <a:blipFill rotWithShape="0"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070723" y="5871511"/>
                <a:ext cx="2321080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(B’)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723" y="5871511"/>
                <a:ext cx="2321080" cy="622414"/>
              </a:xfrm>
              <a:prstGeom prst="rect">
                <a:avLst/>
              </a:prstGeom>
              <a:blipFill rotWithShape="0">
                <a:blip r:embed="rId5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17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Let’s try this together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9" y="980728"/>
            <a:ext cx="8730582" cy="39387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27" y="4919495"/>
            <a:ext cx="2323787" cy="141447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73" y="4901685"/>
            <a:ext cx="2886075" cy="1447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948" y="4892160"/>
            <a:ext cx="3086100" cy="1457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05" y="5123887"/>
            <a:ext cx="868531" cy="12100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087" y="4892160"/>
            <a:ext cx="2857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854968"/>
          </a:xfrm>
        </p:spPr>
        <p:txBody>
          <a:bodyPr/>
          <a:lstStyle/>
          <a:p>
            <a:pPr algn="ctr"/>
            <a:r>
              <a:rPr lang="en-US" dirty="0" smtClean="0"/>
              <a:t>Your Turn (LHS)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8" y="766002"/>
            <a:ext cx="8856984" cy="28083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5" y="3598877"/>
            <a:ext cx="8810970" cy="6883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92" y="4572000"/>
            <a:ext cx="7414375" cy="20555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929" y="3859080"/>
            <a:ext cx="4238647" cy="140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9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202</Words>
  <Application>Microsoft Macintosh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Black</vt:lpstr>
      <vt:lpstr>Calibri</vt:lpstr>
      <vt:lpstr>Cambria Math</vt:lpstr>
      <vt:lpstr>Arial</vt:lpstr>
      <vt:lpstr>Office Theme</vt:lpstr>
      <vt:lpstr>PowerPoint Presentation</vt:lpstr>
      <vt:lpstr>PowerPoint Presentation</vt:lpstr>
      <vt:lpstr>Consider the following</vt:lpstr>
      <vt:lpstr>PowerPoint Presentation</vt:lpstr>
      <vt:lpstr>Let’s try this together</vt:lpstr>
      <vt:lpstr>Your Turn (LHS)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106</cp:revision>
  <dcterms:created xsi:type="dcterms:W3CDTF">2014-05-14T02:58:57Z</dcterms:created>
  <dcterms:modified xsi:type="dcterms:W3CDTF">2018-10-24T06:49:52Z</dcterms:modified>
</cp:coreProperties>
</file>
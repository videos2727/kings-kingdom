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87" d="100"/>
          <a:sy n="87" d="100"/>
        </p:scale>
        <p:origin x="9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545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2335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11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7477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850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225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4336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4438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5922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599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772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22F35-CB05-4522-8085-A260264B0E3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AC4E0E-D957-4F22-840F-30D4C9F46D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53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21A2E-A2EE-4DB8-9E7F-11743DDEC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3"/>
            <a:ext cx="6858000" cy="811436"/>
          </a:xfrm>
        </p:spPr>
        <p:txBody>
          <a:bodyPr>
            <a:normAutofit fontScale="90000"/>
          </a:bodyPr>
          <a:lstStyle/>
          <a:p>
            <a:r>
              <a:rPr lang="en-AU" dirty="0"/>
              <a:t>Topic:</a:t>
            </a:r>
            <a:br>
              <a:rPr lang="en-AU" dirty="0"/>
            </a:br>
            <a:r>
              <a:rPr lang="en-AU" dirty="0"/>
              <a:t>Review of rates and ratios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C11DDD-FF70-4020-AEA7-C5E2269A9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899729"/>
            <a:ext cx="6858000" cy="1379802"/>
          </a:xfrm>
        </p:spPr>
        <p:txBody>
          <a:bodyPr/>
          <a:lstStyle/>
          <a:p>
            <a:r>
              <a:rPr lang="en-AU" dirty="0"/>
              <a:t>EQ: What do we know about rates and ratios.</a:t>
            </a:r>
          </a:p>
        </p:txBody>
      </p:sp>
    </p:spTree>
    <p:extLst>
      <p:ext uri="{BB962C8B-B14F-4D97-AF65-F5344CB8AC3E}">
        <p14:creationId xmlns:p14="http://schemas.microsoft.com/office/powerpoint/2010/main" val="2923195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A7BAA6E-AF1F-4D3C-8660-9CA6D378B2E8}"/>
              </a:ext>
            </a:extLst>
          </p:cNvPr>
          <p:cNvSpPr txBox="1"/>
          <p:nvPr/>
        </p:nvSpPr>
        <p:spPr>
          <a:xfrm>
            <a:off x="923730" y="1804498"/>
            <a:ext cx="82202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arenR"/>
            </a:pPr>
            <a:r>
              <a:rPr lang="en-AU" dirty="0"/>
              <a:t>If there are 15 green cars, 3 red cars and 4  blue cars</a:t>
            </a:r>
          </a:p>
          <a:p>
            <a:r>
              <a:rPr lang="en-AU" dirty="0"/>
              <a:t>	a) what is the ratio of blue cars to green cars?</a:t>
            </a:r>
          </a:p>
          <a:p>
            <a:pPr lvl="2"/>
            <a:r>
              <a:rPr lang="en-AU" dirty="0"/>
              <a:t>b) What is the ratio of red cars to green cars?</a:t>
            </a:r>
          </a:p>
          <a:p>
            <a:pPr lvl="2"/>
            <a:r>
              <a:rPr lang="en-AU" dirty="0"/>
              <a:t>c) What is the ratio of blue cars to total cars?</a:t>
            </a:r>
          </a:p>
          <a:p>
            <a:pPr lvl="2"/>
            <a:endParaRPr lang="en-AU" dirty="0"/>
          </a:p>
          <a:p>
            <a:pPr lvl="2"/>
            <a:endParaRPr lang="en-AU" dirty="0"/>
          </a:p>
          <a:p>
            <a:pPr marL="342900" indent="-342900">
              <a:buAutoNum type="arabicParenR" startAt="2"/>
            </a:pPr>
            <a:r>
              <a:rPr lang="en-AU" dirty="0"/>
              <a:t>A  toy company makes 6 rubber ducks and 5 dolls to every 2 toy drill. 	</a:t>
            </a:r>
          </a:p>
          <a:p>
            <a:pPr lvl="2"/>
            <a:r>
              <a:rPr lang="en-AU" dirty="0"/>
              <a:t>a) Write this in a ratio of drills to ducks</a:t>
            </a:r>
          </a:p>
          <a:p>
            <a:pPr lvl="2"/>
            <a:r>
              <a:rPr lang="en-AU" dirty="0"/>
              <a:t>B) drills to ducks to dolls</a:t>
            </a:r>
          </a:p>
          <a:p>
            <a:pPr lvl="2"/>
            <a:r>
              <a:rPr lang="en-AU" dirty="0"/>
              <a:t>C) dolls to total</a:t>
            </a:r>
          </a:p>
          <a:p>
            <a:pPr lvl="2"/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6B595-8A7C-4CE4-B43B-FE71D6AE976D}"/>
              </a:ext>
            </a:extLst>
          </p:cNvPr>
          <p:cNvSpPr/>
          <p:nvPr/>
        </p:nvSpPr>
        <p:spPr>
          <a:xfrm>
            <a:off x="1341374" y="520539"/>
            <a:ext cx="617806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AU" dirty="0"/>
              <a:t>Ratios are used to compare quantities with the same units.</a:t>
            </a:r>
          </a:p>
          <a:p>
            <a:pPr algn="ctr"/>
            <a:r>
              <a:rPr lang="en-AU" dirty="0"/>
              <a:t>The ratio of 2 to 5 is written as </a:t>
            </a:r>
            <a:r>
              <a:rPr lang="en-AU" dirty="0">
                <a:solidFill>
                  <a:srgbClr val="0070C0"/>
                </a:solidFill>
              </a:rPr>
              <a:t>2 : 5</a:t>
            </a:r>
          </a:p>
        </p:txBody>
      </p:sp>
    </p:spTree>
    <p:extLst>
      <p:ext uri="{BB962C8B-B14F-4D97-AF65-F5344CB8AC3E}">
        <p14:creationId xmlns:p14="http://schemas.microsoft.com/office/powerpoint/2010/main" val="2104880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1D3DD1-0942-4316-B0D4-18A418BD376A}"/>
              </a:ext>
            </a:extLst>
          </p:cNvPr>
          <p:cNvSpPr/>
          <p:nvPr/>
        </p:nvSpPr>
        <p:spPr>
          <a:xfrm>
            <a:off x="1257901" y="152772"/>
            <a:ext cx="643596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dirty="0"/>
              <a:t>The trick with simplifying ratios is to always multiply or divide the numbers by the </a:t>
            </a:r>
            <a:r>
              <a:rPr lang="en-AU" b="1" dirty="0"/>
              <a:t>same</a:t>
            </a:r>
            <a:r>
              <a:rPr lang="en-AU" dirty="0"/>
              <a:t> </a:t>
            </a:r>
            <a:r>
              <a:rPr lang="en-AU" b="1" dirty="0"/>
              <a:t>number</a:t>
            </a:r>
            <a:r>
              <a:rPr lang="en-AU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728660-D60E-4C5F-A299-D124B5E1573F}"/>
              </a:ext>
            </a:extLst>
          </p:cNvPr>
          <p:cNvSpPr/>
          <p:nvPr/>
        </p:nvSpPr>
        <p:spPr>
          <a:xfrm>
            <a:off x="439615" y="1744682"/>
            <a:ext cx="826476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endParaRPr lang="en-AU" dirty="0"/>
          </a:p>
          <a:p>
            <a:pPr marL="342900" indent="-342900">
              <a:buAutoNum type="arabicParenR" startAt="3"/>
            </a:pPr>
            <a:r>
              <a:rPr lang="en-AU" dirty="0"/>
              <a:t>Simplify   a) 12:24			b)  36:18			c)  8:102</a:t>
            </a:r>
          </a:p>
          <a:p>
            <a:pPr marL="342900" indent="-342900">
              <a:buAutoNum type="arabicParenR" startAt="3"/>
            </a:pPr>
            <a:endParaRPr lang="en-AU" dirty="0"/>
          </a:p>
          <a:p>
            <a:pPr marL="342900" indent="-342900">
              <a:buAutoNum type="arabicParenR" startAt="3"/>
            </a:pPr>
            <a:endParaRPr lang="en-AU" dirty="0"/>
          </a:p>
          <a:p>
            <a:endParaRPr lang="en-AU" dirty="0"/>
          </a:p>
          <a:p>
            <a:r>
              <a:rPr lang="en-AU" dirty="0"/>
              <a:t>5)	The ratio at a conference is 2 girls to every 3 boys, how many girls are there if there are 120 boys?</a:t>
            </a:r>
          </a:p>
          <a:p>
            <a:pPr marL="342900" indent="-342900">
              <a:buAutoNum type="arabicParenR" startAt="4"/>
            </a:pPr>
            <a:endParaRPr lang="en-AU" dirty="0"/>
          </a:p>
          <a:p>
            <a:pPr marL="342900" indent="-342900">
              <a:buAutoNum type="arabicParenR" startAt="4"/>
            </a:pPr>
            <a:endParaRPr lang="en-AU" dirty="0"/>
          </a:p>
          <a:p>
            <a:r>
              <a:rPr lang="en-AU" dirty="0"/>
              <a:t>6) 	If a blend of coffee requires 3g of arabica beans to 4g of </a:t>
            </a:r>
            <a:r>
              <a:rPr lang="en-AU" dirty="0" err="1"/>
              <a:t>robusta</a:t>
            </a:r>
            <a:r>
              <a:rPr lang="en-AU" dirty="0"/>
              <a:t>, How many grams of arabica do I need if I use 48g of </a:t>
            </a:r>
            <a:r>
              <a:rPr lang="en-AU" dirty="0" err="1"/>
              <a:t>robusta</a:t>
            </a:r>
            <a:r>
              <a:rPr lang="en-AU" dirty="0"/>
              <a:t> and what is the total weight?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D480D-B2E0-4948-9266-F48B4472BEAE}"/>
              </a:ext>
            </a:extLst>
          </p:cNvPr>
          <p:cNvSpPr txBox="1"/>
          <p:nvPr/>
        </p:nvSpPr>
        <p:spPr>
          <a:xfrm>
            <a:off x="771180" y="961520"/>
            <a:ext cx="7326217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 err="1"/>
              <a:t>Eg</a:t>
            </a:r>
            <a:r>
              <a:rPr lang="en-AU" dirty="0"/>
              <a:t> 				1)	25:15				2)     0.6:0.7</a:t>
            </a:r>
          </a:p>
          <a:p>
            <a:r>
              <a:rPr lang="en-AU" dirty="0"/>
              <a:t>			</a:t>
            </a:r>
          </a:p>
          <a:p>
            <a:r>
              <a:rPr lang="en-AU" dirty="0"/>
              <a:t>					   5:3						    6:7</a:t>
            </a:r>
          </a:p>
        </p:txBody>
      </p:sp>
      <p:sp>
        <p:nvSpPr>
          <p:cNvPr id="5" name="Arrow: Curved Right 4">
            <a:extLst>
              <a:ext uri="{FF2B5EF4-FFF2-40B4-BE49-F238E27FC236}">
                <a16:creationId xmlns:a16="http://schemas.microsoft.com/office/drawing/2014/main" id="{465600CD-D29D-458D-B595-E5F68F4C196D}"/>
              </a:ext>
            </a:extLst>
          </p:cNvPr>
          <p:cNvSpPr/>
          <p:nvPr/>
        </p:nvSpPr>
        <p:spPr>
          <a:xfrm rot="20815725">
            <a:off x="3112331" y="1304289"/>
            <a:ext cx="99152" cy="35253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6" name="Arrow: Curved Right 5">
            <a:extLst>
              <a:ext uri="{FF2B5EF4-FFF2-40B4-BE49-F238E27FC236}">
                <a16:creationId xmlns:a16="http://schemas.microsoft.com/office/drawing/2014/main" id="{1A268AE1-437C-4AD0-9CF3-A945F8161154}"/>
              </a:ext>
            </a:extLst>
          </p:cNvPr>
          <p:cNvSpPr/>
          <p:nvPr/>
        </p:nvSpPr>
        <p:spPr>
          <a:xfrm rot="469878" flipH="1">
            <a:off x="3690367" y="1303160"/>
            <a:ext cx="105113" cy="35253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ADE22C61-5980-4394-825E-9CB647348781}"/>
              </a:ext>
            </a:extLst>
          </p:cNvPr>
          <p:cNvSpPr/>
          <p:nvPr/>
        </p:nvSpPr>
        <p:spPr>
          <a:xfrm rot="20815725">
            <a:off x="5844362" y="1264548"/>
            <a:ext cx="99152" cy="35253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8" name="Arrow: Curved Right 7">
            <a:extLst>
              <a:ext uri="{FF2B5EF4-FFF2-40B4-BE49-F238E27FC236}">
                <a16:creationId xmlns:a16="http://schemas.microsoft.com/office/drawing/2014/main" id="{C9066398-ABC3-48B2-9101-E6FD6693DD27}"/>
              </a:ext>
            </a:extLst>
          </p:cNvPr>
          <p:cNvSpPr/>
          <p:nvPr/>
        </p:nvSpPr>
        <p:spPr>
          <a:xfrm rot="469878" flipH="1">
            <a:off x="6422398" y="1263419"/>
            <a:ext cx="105113" cy="35253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CCDE87-AF84-4242-A97F-53C771A176A6}"/>
              </a:ext>
            </a:extLst>
          </p:cNvPr>
          <p:cNvSpPr txBox="1"/>
          <p:nvPr/>
        </p:nvSpPr>
        <p:spPr>
          <a:xfrm>
            <a:off x="2792865" y="129414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÷5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47E10C-3588-420A-BF68-56E2A508E11A}"/>
              </a:ext>
            </a:extLst>
          </p:cNvPr>
          <p:cNvSpPr txBox="1"/>
          <p:nvPr/>
        </p:nvSpPr>
        <p:spPr>
          <a:xfrm>
            <a:off x="3726411" y="125991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÷5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E82021-34E0-4E2C-8D6F-2E6CE1B86B3C}"/>
              </a:ext>
            </a:extLst>
          </p:cNvPr>
          <p:cNvSpPr txBox="1"/>
          <p:nvPr/>
        </p:nvSpPr>
        <p:spPr>
          <a:xfrm>
            <a:off x="5389259" y="125790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X10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750646-C78A-4FC8-8D88-F6FA269C6A64}"/>
              </a:ext>
            </a:extLst>
          </p:cNvPr>
          <p:cNvSpPr txBox="1"/>
          <p:nvPr/>
        </p:nvSpPr>
        <p:spPr>
          <a:xfrm>
            <a:off x="6489020" y="123851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X10</a:t>
            </a:r>
          </a:p>
        </p:txBody>
      </p:sp>
    </p:spTree>
    <p:extLst>
      <p:ext uri="{BB962C8B-B14F-4D97-AF65-F5344CB8AC3E}">
        <p14:creationId xmlns:p14="http://schemas.microsoft.com/office/powerpoint/2010/main" val="3500121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F261CB-3909-4D35-B517-CC5301D402C4}"/>
              </a:ext>
            </a:extLst>
          </p:cNvPr>
          <p:cNvSpPr/>
          <p:nvPr/>
        </p:nvSpPr>
        <p:spPr>
          <a:xfrm>
            <a:off x="440957" y="144817"/>
            <a:ext cx="6670432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AU" dirty="0"/>
              <a:t>Think of a ratio in terms of parts. A ratio of 2 : 3 has a total of 5 parts.</a:t>
            </a:r>
          </a:p>
          <a:p>
            <a:r>
              <a:rPr lang="en-AU" dirty="0"/>
              <a:t>To split a number by a ratio use the following procedure: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Find the total number of parts in the ratio.</a:t>
            </a:r>
          </a:p>
          <a:p>
            <a:pPr marL="342900" indent="-342900">
              <a:buAutoNum type="arabicPeriod"/>
            </a:pPr>
            <a:r>
              <a:rPr lang="en-AU" dirty="0"/>
              <a:t>Find the value of one part.</a:t>
            </a:r>
          </a:p>
          <a:p>
            <a:pPr marL="342900" indent="-342900">
              <a:buAutoNum type="arabicPeriod"/>
            </a:pPr>
            <a:r>
              <a:rPr lang="en-AU" dirty="0"/>
              <a:t>Find the valve of the number of parts.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B244D4-D171-4107-B4A1-AD45582E4191}"/>
              </a:ext>
            </a:extLst>
          </p:cNvPr>
          <p:cNvSpPr txBox="1"/>
          <p:nvPr/>
        </p:nvSpPr>
        <p:spPr>
          <a:xfrm>
            <a:off x="269629" y="2192215"/>
            <a:ext cx="873369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7) Split $100 in the ratio of 4:6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8) A class has 32 students in a ratio of 7 boys : 9 girls.  How many boys are there?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9) Marco owns 30% of a company, Julia owns 60% and Julio owns 10%.</a:t>
            </a:r>
          </a:p>
          <a:p>
            <a:r>
              <a:rPr lang="en-AU" dirty="0"/>
              <a:t>	a) write this as a ratio</a:t>
            </a:r>
          </a:p>
          <a:p>
            <a:r>
              <a:rPr lang="en-AU" dirty="0"/>
              <a:t>	b) the company earns $10,000 profit on a contract.  How much does each person get?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1393B2-478D-47B0-AD47-DBB5DD1CF5E7}"/>
              </a:ext>
            </a:extLst>
          </p:cNvPr>
          <p:cNvSpPr txBox="1"/>
          <p:nvPr/>
        </p:nvSpPr>
        <p:spPr>
          <a:xfrm>
            <a:off x="5177928" y="799184"/>
            <a:ext cx="3966072" cy="107721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1600" b="1" u="sng" dirty="0" err="1"/>
              <a:t>Eg.</a:t>
            </a:r>
            <a:r>
              <a:rPr lang="en-AU" sz="1600" b="1" u="sng" dirty="0"/>
              <a:t> Spilt 200 apples in a ratio of 3:5:12</a:t>
            </a:r>
          </a:p>
          <a:p>
            <a:r>
              <a:rPr lang="en-AU" sz="1600" dirty="0"/>
              <a:t>3:5:12  has  3+5+12 = 20 parts</a:t>
            </a:r>
          </a:p>
          <a:p>
            <a:r>
              <a:rPr lang="en-AU" sz="1600" dirty="0"/>
              <a:t>200 apples ÷ 20 parts = 10 apples per part</a:t>
            </a:r>
          </a:p>
          <a:p>
            <a:r>
              <a:rPr lang="en-AU" sz="1600" dirty="0"/>
              <a:t>	30:50:120   (check this adds to give 200)</a:t>
            </a:r>
          </a:p>
        </p:txBody>
      </p:sp>
    </p:spTree>
    <p:extLst>
      <p:ext uri="{BB962C8B-B14F-4D97-AF65-F5344CB8AC3E}">
        <p14:creationId xmlns:p14="http://schemas.microsoft.com/office/powerpoint/2010/main" val="1580681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D32E4C-E074-4104-80FA-71498F73B59B}"/>
              </a:ext>
            </a:extLst>
          </p:cNvPr>
          <p:cNvSpPr/>
          <p:nvPr/>
        </p:nvSpPr>
        <p:spPr>
          <a:xfrm>
            <a:off x="339970" y="161082"/>
            <a:ext cx="8475784" cy="92333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AU" dirty="0"/>
              <a:t>A rate compares items with different units. </a:t>
            </a:r>
          </a:p>
          <a:p>
            <a:endParaRPr lang="en-AU" dirty="0"/>
          </a:p>
          <a:p>
            <a:r>
              <a:rPr lang="en-AU" dirty="0"/>
              <a:t>km/hr		$/hr			$/kg			L/min		beats/min	    goals/game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C2BDD4-8888-42AF-9D7B-4085C7CE41AA}"/>
              </a:ext>
            </a:extLst>
          </p:cNvPr>
          <p:cNvSpPr txBox="1"/>
          <p:nvPr/>
        </p:nvSpPr>
        <p:spPr>
          <a:xfrm>
            <a:off x="955783" y="1580355"/>
            <a:ext cx="74910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Write the following as rates</a:t>
            </a:r>
          </a:p>
          <a:p>
            <a:pPr lvl="1"/>
            <a:r>
              <a:rPr lang="en-AU" dirty="0"/>
              <a:t>a) driving 450km over 9 hours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b) getting paid $150 for 6 hours work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c) Filling a 9 litre bucket in 30 seconds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d) Scoring 90 pts over 5 games of basketball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e) Writing 1200 words over 60 minutes</a:t>
            </a:r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90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1A64F1-4035-4C06-9CBA-3DBA9F67C30C}"/>
              </a:ext>
            </a:extLst>
          </p:cNvPr>
          <p:cNvSpPr/>
          <p:nvPr/>
        </p:nvSpPr>
        <p:spPr>
          <a:xfrm>
            <a:off x="855785" y="0"/>
            <a:ext cx="6972101" cy="210041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9F5BF1-C3B5-437D-A521-B3C2A87361D2}"/>
              </a:ext>
            </a:extLst>
          </p:cNvPr>
          <p:cNvSpPr/>
          <p:nvPr/>
        </p:nvSpPr>
        <p:spPr>
          <a:xfrm>
            <a:off x="1160585" y="49275"/>
            <a:ext cx="64359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find the rate we need to work out what </a:t>
            </a:r>
            <a:r>
              <a:rPr lang="en-US" b="1" u="sng" dirty="0"/>
              <a:t>one of that unit </a:t>
            </a:r>
            <a:r>
              <a:rPr lang="en-US" dirty="0"/>
              <a:t>will be. </a:t>
            </a:r>
          </a:p>
          <a:p>
            <a:endParaRPr lang="en-US" dirty="0"/>
          </a:p>
          <a:p>
            <a:r>
              <a:rPr lang="en-US" dirty="0"/>
              <a:t>To do this we need to </a:t>
            </a:r>
            <a:r>
              <a:rPr lang="en-US" b="1" u="sng" dirty="0"/>
              <a:t>divide both numbers by the second number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CF7033-A811-4F22-93EB-3C63F3DE38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8535" b="67958"/>
          <a:stretch/>
        </p:blipFill>
        <p:spPr>
          <a:xfrm>
            <a:off x="1221103" y="972605"/>
            <a:ext cx="3564645" cy="3236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3F3212-3B2E-4D0F-8AB7-B568BF11F2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794" t="-476" b="67958"/>
          <a:stretch/>
        </p:blipFill>
        <p:spPr>
          <a:xfrm>
            <a:off x="5159313" y="985121"/>
            <a:ext cx="2273748" cy="3284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45BF28-8294-404F-8AD0-AE5F1FC569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t="26831" r="558" b="-4010"/>
          <a:stretch/>
        </p:blipFill>
        <p:spPr>
          <a:xfrm>
            <a:off x="4729186" y="1320838"/>
            <a:ext cx="2867368" cy="7795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FF0CB9-0FA4-476B-9248-BCB49014BF1D}"/>
              </a:ext>
            </a:extLst>
          </p:cNvPr>
          <p:cNvSpPr txBox="1"/>
          <p:nvPr/>
        </p:nvSpPr>
        <p:spPr>
          <a:xfrm>
            <a:off x="336840" y="2100411"/>
            <a:ext cx="749104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Now simplify the following as rates with the units in the brackets</a:t>
            </a:r>
          </a:p>
          <a:p>
            <a:pPr lvl="1"/>
            <a:r>
              <a:rPr lang="en-AU" dirty="0"/>
              <a:t>a) driving 450km over 5 hours (km/hr)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b) getting paid $150 for 5 hours work ($/hr)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c) Filling a 9 litre bucket in 2 minutes (l/min)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d) Scoring 110 pts over 5 games of basketball (pts/game)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e) Writing 1800 words over 2hours (words/min)</a:t>
            </a:r>
          </a:p>
          <a:p>
            <a:pPr lvl="1"/>
            <a:endParaRPr lang="en-AU" dirty="0"/>
          </a:p>
          <a:p>
            <a:pPr lvl="1"/>
            <a:r>
              <a:rPr lang="en-AU" dirty="0"/>
              <a:t>f) 3kg of apples for $15 ($/kg)</a:t>
            </a:r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985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3B7EBD-D472-45E7-973F-9FBA69E763F9}"/>
              </a:ext>
            </a:extLst>
          </p:cNvPr>
          <p:cNvSpPr/>
          <p:nvPr/>
        </p:nvSpPr>
        <p:spPr>
          <a:xfrm>
            <a:off x="187570" y="99320"/>
            <a:ext cx="8088922" cy="210041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32893A25-C2FB-477C-881C-794DA36AEC4A}"/>
              </a:ext>
            </a:extLst>
          </p:cNvPr>
          <p:cNvSpPr txBox="1"/>
          <p:nvPr/>
        </p:nvSpPr>
        <p:spPr>
          <a:xfrm>
            <a:off x="284978" y="99320"/>
            <a:ext cx="8520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Comparing Unit Prices can be a good way of finding which is the "best buy"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F6E6C-6216-4E15-8AF9-460AE36A14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355" t="37692" r="55387" b="48728"/>
          <a:stretch/>
        </p:blipFill>
        <p:spPr>
          <a:xfrm>
            <a:off x="832329" y="538371"/>
            <a:ext cx="3554323" cy="13402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4">
                <a:extLst>
                  <a:ext uri="{FF2B5EF4-FFF2-40B4-BE49-F238E27FC236}">
                    <a16:creationId xmlns:a16="http://schemas.microsoft.com/office/drawing/2014/main" id="{57A317F5-E587-43FC-9846-05A59589D2A2}"/>
                  </a:ext>
                </a:extLst>
              </p:cNvPr>
              <p:cNvSpPr txBox="1"/>
              <p:nvPr/>
            </p:nvSpPr>
            <p:spPr>
              <a:xfrm>
                <a:off x="4386652" y="997688"/>
                <a:ext cx="2128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𝑳𝒊𝒕𝒓𝒆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6" name="TextBox 24">
                <a:extLst>
                  <a:ext uri="{FF2B5EF4-FFF2-40B4-BE49-F238E27FC236}">
                    <a16:creationId xmlns:a16="http://schemas.microsoft.com/office/drawing/2014/main" id="{57A317F5-E587-43FC-9846-05A59589D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652" y="997688"/>
                <a:ext cx="2128849" cy="400110"/>
              </a:xfrm>
              <a:prstGeom prst="rect">
                <a:avLst/>
              </a:prstGeom>
              <a:blipFill>
                <a:blip r:embed="rId3"/>
                <a:stretch>
                  <a:fillRect r="-8023" b="-92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25">
                <a:extLst>
                  <a:ext uri="{FF2B5EF4-FFF2-40B4-BE49-F238E27FC236}">
                    <a16:creationId xmlns:a16="http://schemas.microsoft.com/office/drawing/2014/main" id="{3435E055-4FA8-46A9-9FAD-09A48E5785CC}"/>
                  </a:ext>
                </a:extLst>
              </p:cNvPr>
              <p:cNvSpPr txBox="1"/>
              <p:nvPr/>
            </p:nvSpPr>
            <p:spPr>
              <a:xfrm>
                <a:off x="4386651" y="1485634"/>
                <a:ext cx="21288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=$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𝟖𝟎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𝒑𝒆𝒓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𝑳𝒊𝒕𝒓𝒆</m:t>
                      </m:r>
                    </m:oMath>
                  </m:oMathPara>
                </a14:m>
                <a:endParaRPr lang="en-AU" sz="2000" b="1" dirty="0"/>
              </a:p>
            </p:txBody>
          </p:sp>
        </mc:Choice>
        <mc:Fallback xmlns="">
          <p:sp>
            <p:nvSpPr>
              <p:cNvPr id="7" name="TextBox 25">
                <a:extLst>
                  <a:ext uri="{FF2B5EF4-FFF2-40B4-BE49-F238E27FC236}">
                    <a16:creationId xmlns:a16="http://schemas.microsoft.com/office/drawing/2014/main" id="{3435E055-4FA8-46A9-9FAD-09A48E578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6651" y="1485634"/>
                <a:ext cx="2128849" cy="400110"/>
              </a:xfrm>
              <a:prstGeom prst="rect">
                <a:avLst/>
              </a:prstGeom>
              <a:blipFill>
                <a:blip r:embed="rId4"/>
                <a:stretch>
                  <a:fillRect r="-8023" b="-923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97489433-73D2-4A25-9713-81928C6DFDD5}"/>
              </a:ext>
            </a:extLst>
          </p:cNvPr>
          <p:cNvSpPr/>
          <p:nvPr/>
        </p:nvSpPr>
        <p:spPr>
          <a:xfrm>
            <a:off x="1113942" y="1397798"/>
            <a:ext cx="3431356" cy="588861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2EFE2B-F966-43F7-8360-1DAD65E3D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675" y="2337397"/>
            <a:ext cx="7762875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015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132E44-6575-4F50-914B-B74EDBDE3AC3}"/>
              </a:ext>
            </a:extLst>
          </p:cNvPr>
          <p:cNvSpPr/>
          <p:nvPr/>
        </p:nvSpPr>
        <p:spPr>
          <a:xfrm>
            <a:off x="320866" y="309516"/>
            <a:ext cx="7941785" cy="2215991"/>
          </a:xfrm>
          <a:prstGeom prst="roundRect">
            <a:avLst>
              <a:gd name="adj" fmla="val 423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47FE97-B59F-46E5-855E-0D1F8932BD4C}"/>
              </a:ext>
            </a:extLst>
          </p:cNvPr>
          <p:cNvSpPr txBox="1"/>
          <p:nvPr/>
        </p:nvSpPr>
        <p:spPr>
          <a:xfrm>
            <a:off x="320866" y="309516"/>
            <a:ext cx="7722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Find a percentage of an amount.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C5E8A-AC34-4013-8F15-4BA93F4AC030}"/>
              </a:ext>
            </a:extLst>
          </p:cNvPr>
          <p:cNvSpPr txBox="1"/>
          <p:nvPr/>
        </p:nvSpPr>
        <p:spPr>
          <a:xfrm>
            <a:off x="628650" y="771181"/>
            <a:ext cx="74143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Divide the percentage by 100 and multiply by the amount.</a:t>
            </a:r>
          </a:p>
          <a:p>
            <a:endParaRPr lang="en-AU" dirty="0"/>
          </a:p>
          <a:p>
            <a:r>
              <a:rPr lang="en-AU" dirty="0" err="1"/>
              <a:t>Eg</a:t>
            </a:r>
            <a:r>
              <a:rPr lang="en-AU" dirty="0"/>
              <a:t>, to find the 20% of $250;</a:t>
            </a:r>
          </a:p>
          <a:p>
            <a:r>
              <a:rPr lang="en-AU" dirty="0"/>
              <a:t>	20% ÷ 100 x 250</a:t>
            </a:r>
          </a:p>
          <a:p>
            <a:r>
              <a:rPr lang="en-AU" dirty="0"/>
              <a:t>	= 0.2 x 250</a:t>
            </a:r>
          </a:p>
          <a:p>
            <a:r>
              <a:rPr lang="en-AU" dirty="0"/>
              <a:t>	= $50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6928C5-AEEA-4FF5-AC98-55523408127B}"/>
              </a:ext>
            </a:extLst>
          </p:cNvPr>
          <p:cNvSpPr/>
          <p:nvPr/>
        </p:nvSpPr>
        <p:spPr>
          <a:xfrm>
            <a:off x="4572000" y="1325178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err="1"/>
              <a:t>Eg</a:t>
            </a:r>
            <a:r>
              <a:rPr lang="en-AU" dirty="0"/>
              <a:t>, to find the 90% of 330 apples;</a:t>
            </a:r>
          </a:p>
          <a:p>
            <a:r>
              <a:rPr lang="en-AU" dirty="0"/>
              <a:t>	20% ÷ 100 x 330</a:t>
            </a:r>
          </a:p>
          <a:p>
            <a:r>
              <a:rPr lang="en-AU" dirty="0"/>
              <a:t>	= 0.9 x 330</a:t>
            </a:r>
          </a:p>
          <a:p>
            <a:r>
              <a:rPr lang="en-AU" dirty="0"/>
              <a:t>	= $297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2591CA-FFDB-48C1-9108-4BABABBF2D6B}"/>
              </a:ext>
            </a:extLst>
          </p:cNvPr>
          <p:cNvSpPr txBox="1"/>
          <p:nvPr/>
        </p:nvSpPr>
        <p:spPr>
          <a:xfrm>
            <a:off x="320866" y="2890550"/>
            <a:ext cx="84265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and answer these on your LHS.</a:t>
            </a:r>
          </a:p>
          <a:p>
            <a:r>
              <a:rPr lang="en-AU" dirty="0"/>
              <a:t>Find</a:t>
            </a:r>
          </a:p>
          <a:p>
            <a:r>
              <a:rPr lang="en-AU" dirty="0"/>
              <a:t>	a) 30% of 90		b) 5% of 220		c) 9% of 189		d) 108% of 220</a:t>
            </a:r>
          </a:p>
          <a:p>
            <a:endParaRPr lang="en-AU" dirty="0"/>
          </a:p>
          <a:p>
            <a:r>
              <a:rPr lang="en-AU" dirty="0"/>
              <a:t>If 15% of a batch of 450 apples are rotten, how many apples are rotten?</a:t>
            </a:r>
          </a:p>
          <a:p>
            <a:endParaRPr lang="en-AU" dirty="0"/>
          </a:p>
          <a:p>
            <a:r>
              <a:rPr lang="en-AU" dirty="0"/>
              <a:t>If 21% of people have blue eyes, how many would you expect out of 1,500 students?</a:t>
            </a:r>
          </a:p>
        </p:txBody>
      </p:sp>
    </p:spTree>
    <p:extLst>
      <p:ext uri="{BB962C8B-B14F-4D97-AF65-F5344CB8AC3E}">
        <p14:creationId xmlns:p14="http://schemas.microsoft.com/office/powerpoint/2010/main" val="131313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0095A4-A3AD-4CC1-AE24-19367590559D}"/>
              </a:ext>
            </a:extLst>
          </p:cNvPr>
          <p:cNvSpPr/>
          <p:nvPr/>
        </p:nvSpPr>
        <p:spPr>
          <a:xfrm>
            <a:off x="320866" y="309516"/>
            <a:ext cx="8471971" cy="4062651"/>
          </a:xfrm>
          <a:prstGeom prst="roundRect">
            <a:avLst>
              <a:gd name="adj" fmla="val 423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243F8-3BCE-4493-912F-72BDB9F2466E}"/>
              </a:ext>
            </a:extLst>
          </p:cNvPr>
          <p:cNvSpPr txBox="1"/>
          <p:nvPr/>
        </p:nvSpPr>
        <p:spPr>
          <a:xfrm>
            <a:off x="539827" y="264404"/>
            <a:ext cx="847197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To increase an amount by a percentage…</a:t>
            </a:r>
          </a:p>
          <a:p>
            <a:pPr marL="342900" indent="-342900">
              <a:buAutoNum type="arabicPeriod"/>
            </a:pPr>
            <a:r>
              <a:rPr lang="en-AU" dirty="0"/>
              <a:t>find the percentage of the amount</a:t>
            </a:r>
          </a:p>
          <a:p>
            <a:pPr marL="342900" indent="-342900">
              <a:buAutoNum type="arabicPeriod"/>
            </a:pPr>
            <a:r>
              <a:rPr lang="en-AU" dirty="0"/>
              <a:t>Add it to the original amount.</a:t>
            </a:r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b="1" dirty="0" err="1"/>
              <a:t>Eg</a:t>
            </a:r>
            <a:r>
              <a:rPr lang="en-AU" b="1" dirty="0"/>
              <a:t> increase $210 by 10%</a:t>
            </a:r>
          </a:p>
          <a:p>
            <a:pPr lvl="1"/>
            <a:r>
              <a:rPr lang="en-AU" dirty="0"/>
              <a:t>10% of $210  = 10 ÷ 100 x 210</a:t>
            </a:r>
          </a:p>
          <a:p>
            <a:pPr lvl="1"/>
            <a:r>
              <a:rPr lang="en-AU" dirty="0"/>
              <a:t>			= $21</a:t>
            </a:r>
          </a:p>
          <a:p>
            <a:pPr lvl="1"/>
            <a:r>
              <a:rPr lang="en-AU" dirty="0"/>
              <a:t>Increasing $210 by 10% is therefore $210 + $21 = $231</a:t>
            </a:r>
          </a:p>
          <a:p>
            <a:pPr lvl="1"/>
            <a:endParaRPr lang="en-AU" dirty="0"/>
          </a:p>
          <a:p>
            <a:endParaRPr lang="en-AU" dirty="0"/>
          </a:p>
          <a:p>
            <a:r>
              <a:rPr lang="en-AU" b="1" dirty="0" err="1"/>
              <a:t>Eg</a:t>
            </a:r>
            <a:r>
              <a:rPr lang="en-AU" b="1" dirty="0"/>
              <a:t> This years crop of apples is 22% bigger than last years 3000kg</a:t>
            </a:r>
            <a:r>
              <a:rPr lang="en-AU" dirty="0"/>
              <a:t>.</a:t>
            </a:r>
          </a:p>
          <a:p>
            <a:r>
              <a:rPr lang="en-AU" dirty="0"/>
              <a:t>	22% of 3000 =  22 ÷ 100 x 3000</a:t>
            </a:r>
          </a:p>
          <a:p>
            <a:r>
              <a:rPr lang="en-AU" dirty="0"/>
              <a:t>			 	= 660kg</a:t>
            </a:r>
          </a:p>
          <a:p>
            <a:r>
              <a:rPr lang="en-AU" dirty="0"/>
              <a:t>	increasing 3000kg  by 22% is therefore 3000kg + 660kg  = 3660kg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8E216-56AC-43CB-9A00-031EA6EEF2DD}"/>
              </a:ext>
            </a:extLst>
          </p:cNvPr>
          <p:cNvSpPr txBox="1"/>
          <p:nvPr/>
        </p:nvSpPr>
        <p:spPr>
          <a:xfrm>
            <a:off x="749148" y="4527266"/>
            <a:ext cx="6830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LHS – try the following</a:t>
            </a:r>
          </a:p>
          <a:p>
            <a:r>
              <a:rPr lang="en-AU" dirty="0"/>
              <a:t>	increase the following by the percentage</a:t>
            </a:r>
          </a:p>
          <a:p>
            <a:r>
              <a:rPr lang="en-AU" dirty="0"/>
              <a:t>a) $150 by 50%		b) 110g by 20%	c) 20km by 80%</a:t>
            </a:r>
          </a:p>
        </p:txBody>
      </p:sp>
    </p:spTree>
    <p:extLst>
      <p:ext uri="{BB962C8B-B14F-4D97-AF65-F5344CB8AC3E}">
        <p14:creationId xmlns:p14="http://schemas.microsoft.com/office/powerpoint/2010/main" val="840052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5E23D5-6F56-4DB9-8AE0-49C84B78D2A9}"/>
              </a:ext>
            </a:extLst>
          </p:cNvPr>
          <p:cNvSpPr/>
          <p:nvPr/>
        </p:nvSpPr>
        <p:spPr>
          <a:xfrm>
            <a:off x="320866" y="309516"/>
            <a:ext cx="8471971" cy="3909944"/>
          </a:xfrm>
          <a:prstGeom prst="roundRect">
            <a:avLst>
              <a:gd name="adj" fmla="val 423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243F8-3BCE-4493-912F-72BDB9F2466E}"/>
              </a:ext>
            </a:extLst>
          </p:cNvPr>
          <p:cNvSpPr txBox="1"/>
          <p:nvPr/>
        </p:nvSpPr>
        <p:spPr>
          <a:xfrm>
            <a:off x="539827" y="264404"/>
            <a:ext cx="847197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To Decrease an amount by a percentage…</a:t>
            </a:r>
          </a:p>
          <a:p>
            <a:pPr marL="342900" indent="-342900">
              <a:buAutoNum type="arabicPeriod"/>
            </a:pPr>
            <a:r>
              <a:rPr lang="en-AU" dirty="0"/>
              <a:t>find the percentage of the amount</a:t>
            </a:r>
          </a:p>
          <a:p>
            <a:pPr marL="342900" indent="-342900">
              <a:buAutoNum type="arabicPeriod"/>
            </a:pPr>
            <a:r>
              <a:rPr lang="en-AU" dirty="0"/>
              <a:t>Take it away to the original amount.</a:t>
            </a:r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b="1" dirty="0" err="1"/>
              <a:t>Eg</a:t>
            </a:r>
            <a:r>
              <a:rPr lang="en-AU" b="1" dirty="0"/>
              <a:t> decrease $45 by 10%</a:t>
            </a:r>
          </a:p>
          <a:p>
            <a:pPr lvl="1"/>
            <a:r>
              <a:rPr lang="en-AU" dirty="0"/>
              <a:t>10% of $45  = 10 ÷ 100 x 45</a:t>
            </a:r>
          </a:p>
          <a:p>
            <a:pPr lvl="1"/>
            <a:r>
              <a:rPr lang="en-AU" dirty="0"/>
              <a:t>			= $4.50</a:t>
            </a:r>
          </a:p>
          <a:p>
            <a:pPr lvl="1"/>
            <a:r>
              <a:rPr lang="en-AU" dirty="0"/>
              <a:t>decreasing $45 by 10% is therefore $45 - $4.50 = $40.50</a:t>
            </a:r>
          </a:p>
          <a:p>
            <a:endParaRPr lang="en-AU" dirty="0"/>
          </a:p>
          <a:p>
            <a:r>
              <a:rPr lang="en-AU" b="1" dirty="0" err="1"/>
              <a:t>Eg</a:t>
            </a:r>
            <a:r>
              <a:rPr lang="en-AU" b="1" dirty="0"/>
              <a:t>	A $90 pair of jeans are discounted by 25%</a:t>
            </a:r>
            <a:r>
              <a:rPr lang="en-AU" dirty="0"/>
              <a:t>.</a:t>
            </a:r>
          </a:p>
          <a:p>
            <a:r>
              <a:rPr lang="en-AU" dirty="0"/>
              <a:t>	25% of 90 =  25 ÷ 100 x 90</a:t>
            </a:r>
          </a:p>
          <a:p>
            <a:r>
              <a:rPr lang="en-AU" dirty="0"/>
              <a:t>			 	= $22.5</a:t>
            </a:r>
          </a:p>
          <a:p>
            <a:r>
              <a:rPr lang="en-AU" dirty="0"/>
              <a:t>	decreasing $90 by 25% is therefore $90 + -$22.50  = $67.50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18E216-56AC-43CB-9A00-031EA6EEF2DD}"/>
              </a:ext>
            </a:extLst>
          </p:cNvPr>
          <p:cNvSpPr txBox="1"/>
          <p:nvPr/>
        </p:nvSpPr>
        <p:spPr>
          <a:xfrm>
            <a:off x="760165" y="4384046"/>
            <a:ext cx="6830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LHS – Now try to decrease the following.</a:t>
            </a:r>
          </a:p>
          <a:p>
            <a:r>
              <a:rPr lang="en-AU" dirty="0"/>
              <a:t>	Decrease the following by the percentage</a:t>
            </a:r>
          </a:p>
          <a:p>
            <a:r>
              <a:rPr lang="en-AU" dirty="0"/>
              <a:t>a) $150 by 50%		b) 110g by 20%	c) 20km by 80%</a:t>
            </a:r>
          </a:p>
        </p:txBody>
      </p:sp>
    </p:spTree>
    <p:extLst>
      <p:ext uri="{BB962C8B-B14F-4D97-AF65-F5344CB8AC3E}">
        <p14:creationId xmlns:p14="http://schemas.microsoft.com/office/powerpoint/2010/main" val="2654611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D3A9C9-2E00-4025-9F46-02A264E23E09}"/>
              </a:ext>
            </a:extLst>
          </p:cNvPr>
          <p:cNvSpPr/>
          <p:nvPr/>
        </p:nvSpPr>
        <p:spPr>
          <a:xfrm>
            <a:off x="320866" y="309516"/>
            <a:ext cx="8481611" cy="2676055"/>
          </a:xfrm>
          <a:prstGeom prst="roundRect">
            <a:avLst>
              <a:gd name="adj" fmla="val 423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6EBB8-AD0A-477E-99BA-71739DA6B37A}"/>
              </a:ext>
            </a:extLst>
          </p:cNvPr>
          <p:cNvSpPr txBox="1"/>
          <p:nvPr/>
        </p:nvSpPr>
        <p:spPr>
          <a:xfrm>
            <a:off x="468217" y="297456"/>
            <a:ext cx="820756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Profit and Loss</a:t>
            </a:r>
          </a:p>
          <a:p>
            <a:endParaRPr lang="en-AU" dirty="0"/>
          </a:p>
          <a:p>
            <a:r>
              <a:rPr lang="en-AU" b="1" dirty="0"/>
              <a:t>1. First find your profit or loss.	</a:t>
            </a:r>
          </a:p>
          <a:p>
            <a:r>
              <a:rPr lang="en-AU" dirty="0"/>
              <a:t>	</a:t>
            </a:r>
            <a:r>
              <a:rPr lang="en-AU" i="1" dirty="0"/>
              <a:t>sell price – cost price = profit or loss (negative means loss, positive means profit)</a:t>
            </a:r>
          </a:p>
          <a:p>
            <a:endParaRPr lang="en-AU" i="1" dirty="0"/>
          </a:p>
          <a:p>
            <a:r>
              <a:rPr lang="en-AU" b="1" dirty="0"/>
              <a:t>2. Then find the percentage profit or loss</a:t>
            </a:r>
          </a:p>
          <a:p>
            <a:r>
              <a:rPr lang="en-AU" dirty="0"/>
              <a:t>	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8C4741-4DBD-4160-A54C-014893162062}"/>
                  </a:ext>
                </a:extLst>
              </p:cNvPr>
              <p:cNvSpPr txBox="1"/>
              <p:nvPr/>
            </p:nvSpPr>
            <p:spPr>
              <a:xfrm>
                <a:off x="2088719" y="2186080"/>
                <a:ext cx="4554580" cy="5742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𝑃𝑟𝑜𝑓𝑖𝑡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𝑙𝑜𝑠𝑠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)= 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𝑃𝑟𝑜𝑓𝑖𝑡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𝑙𝑜𝑠𝑠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𝑐𝑜𝑠𝑡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𝑝𝑟𝑖𝑐𝑒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8C4741-4DBD-4160-A54C-014893162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719" y="2186080"/>
                <a:ext cx="4554580" cy="5742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78395F7-CEBF-4B6D-96DB-9FCDB152B4F4}"/>
              </a:ext>
            </a:extLst>
          </p:cNvPr>
          <p:cNvSpPr txBox="1"/>
          <p:nvPr/>
        </p:nvSpPr>
        <p:spPr>
          <a:xfrm>
            <a:off x="308472" y="3238959"/>
            <a:ext cx="8637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Find the percentage profit or loss for the following.</a:t>
            </a:r>
          </a:p>
          <a:p>
            <a:endParaRPr lang="en-AU" dirty="0"/>
          </a:p>
          <a:p>
            <a:pPr marL="342900" indent="-342900">
              <a:buAutoNum type="alphaUcParenR"/>
            </a:pPr>
            <a:r>
              <a:rPr lang="en-AU" dirty="0"/>
              <a:t>Basketballs cost $2.75 to make and are sold for $27.50</a:t>
            </a:r>
          </a:p>
          <a:p>
            <a:pPr marL="342900" indent="-342900">
              <a:buAutoNum type="alphaUcParenR"/>
            </a:pPr>
            <a:endParaRPr lang="en-AU" dirty="0"/>
          </a:p>
          <a:p>
            <a:pPr marL="342900" indent="-342900">
              <a:buAutoNum type="alphaUcParenR"/>
            </a:pPr>
            <a:r>
              <a:rPr lang="en-AU" dirty="0"/>
              <a:t>A house is sold for $510,000  5 years after being bought for $550,000</a:t>
            </a:r>
          </a:p>
          <a:p>
            <a:pPr marL="342900" indent="-342900">
              <a:buAutoNum type="alphaUcParenR"/>
            </a:pPr>
            <a:endParaRPr lang="en-AU" dirty="0"/>
          </a:p>
          <a:p>
            <a:pPr marL="342900" indent="-342900">
              <a:buAutoNum type="alphaUcParenR"/>
            </a:pPr>
            <a:r>
              <a:rPr lang="en-AU" dirty="0"/>
              <a:t>A socks are bought at $5 per pair are on-sold at $5.75.</a:t>
            </a:r>
          </a:p>
          <a:p>
            <a:pPr marL="342900" indent="-342900">
              <a:buAutoNum type="alphaUcParenR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24334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04FDB5-6034-462F-8C46-BC4C010A94EB}"/>
              </a:ext>
            </a:extLst>
          </p:cNvPr>
          <p:cNvSpPr/>
          <p:nvPr/>
        </p:nvSpPr>
        <p:spPr>
          <a:xfrm>
            <a:off x="286439" y="187288"/>
            <a:ext cx="8506398" cy="3711184"/>
          </a:xfrm>
          <a:prstGeom prst="roundRect">
            <a:avLst>
              <a:gd name="adj" fmla="val 423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83EF7-3CE5-4F29-B6ED-F365A7A56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632" y="711894"/>
            <a:ext cx="8328063" cy="1104636"/>
          </a:xfrm>
        </p:spPr>
        <p:txBody>
          <a:bodyPr>
            <a:noAutofit/>
          </a:bodyPr>
          <a:lstStyle/>
          <a:p>
            <a:r>
              <a:rPr lang="en-AU" sz="2400" dirty="0"/>
              <a:t>Some decimal numbers are recurring and some are recurring (repeating endlessly).</a:t>
            </a:r>
            <a:br>
              <a:rPr lang="en-AU" sz="2400" dirty="0"/>
            </a:br>
            <a:br>
              <a:rPr lang="en-AU" sz="2400" dirty="0"/>
            </a:br>
            <a:r>
              <a:rPr lang="en-AU" sz="2400" dirty="0"/>
              <a:t>When we have recurring decimals we can use “Exact” form.</a:t>
            </a:r>
            <a:br>
              <a:rPr lang="en-AU" sz="2400" dirty="0"/>
            </a:br>
            <a:br>
              <a:rPr lang="en-AU" sz="2400" dirty="0"/>
            </a:br>
            <a:endParaRPr lang="en-AU" sz="2400" dirty="0"/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E741084B-F818-4E36-AD10-927ACDB1D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662" y="1816530"/>
            <a:ext cx="6998676" cy="18785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BD6331-E6E6-45ED-A16E-4BCFDF6FD2A1}"/>
              </a:ext>
            </a:extLst>
          </p:cNvPr>
          <p:cNvSpPr txBox="1"/>
          <p:nvPr/>
        </p:nvSpPr>
        <p:spPr>
          <a:xfrm>
            <a:off x="518479" y="3898471"/>
            <a:ext cx="8228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Are the following recurring or terminating?  Use exact form where necessary.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641983-2DAB-46A9-A216-A8E1D64531B1}"/>
                  </a:ext>
                </a:extLst>
              </p:cNvPr>
              <p:cNvSpPr txBox="1"/>
              <p:nvPr/>
            </p:nvSpPr>
            <p:spPr>
              <a:xfrm>
                <a:off x="897874" y="4332264"/>
                <a:ext cx="789512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 </m:t>
                      </m:r>
                      <m:f>
                        <m:f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641983-2DAB-46A9-A216-A8E1D645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74" y="4332264"/>
                <a:ext cx="789512" cy="5204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1E0641-73D2-4BFC-BD84-BFC0ACC7AEB1}"/>
                  </a:ext>
                </a:extLst>
              </p:cNvPr>
              <p:cNvSpPr txBox="1"/>
              <p:nvPr/>
            </p:nvSpPr>
            <p:spPr>
              <a:xfrm>
                <a:off x="5306809" y="4411132"/>
                <a:ext cx="789512" cy="44159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2000" dirty="0"/>
                  <a:t>c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 </m:t>
                    </m:r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01E0641-73D2-4BFC-BD84-BFC0ACC7A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809" y="4411132"/>
                <a:ext cx="789512" cy="441595"/>
              </a:xfrm>
              <a:prstGeom prst="rect">
                <a:avLst/>
              </a:prstGeom>
              <a:blipFill>
                <a:blip r:embed="rId4"/>
                <a:stretch>
                  <a:fillRect l="-20155" t="-2778" b="-1944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4E6596-FBE8-4BC7-9DC4-2D01414844FA}"/>
                  </a:ext>
                </a:extLst>
              </p:cNvPr>
              <p:cNvSpPr txBox="1"/>
              <p:nvPr/>
            </p:nvSpPr>
            <p:spPr>
              <a:xfrm>
                <a:off x="6975513" y="4341767"/>
                <a:ext cx="877035" cy="4368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000" dirty="0"/>
                  <a:t>d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 </m:t>
                    </m:r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4E6596-FBE8-4BC7-9DC4-2D0141484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5513" y="4341767"/>
                <a:ext cx="877035" cy="436851"/>
              </a:xfrm>
              <a:prstGeom prst="rect">
                <a:avLst/>
              </a:prstGeom>
              <a:blipFill>
                <a:blip r:embed="rId5"/>
                <a:stretch>
                  <a:fillRect l="-17361" t="-2778" b="-208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959E7D-1566-4977-B7E1-C5A4369C3E73}"/>
                  </a:ext>
                </a:extLst>
              </p:cNvPr>
              <p:cNvSpPr txBox="1"/>
              <p:nvPr/>
            </p:nvSpPr>
            <p:spPr>
              <a:xfrm>
                <a:off x="3156844" y="4415491"/>
                <a:ext cx="768031" cy="4415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AU" sz="2000" dirty="0"/>
                  <a:t>b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) </m:t>
                    </m:r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959E7D-1566-4977-B7E1-C5A4369C3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844" y="4415491"/>
                <a:ext cx="768031" cy="441596"/>
              </a:xfrm>
              <a:prstGeom prst="rect">
                <a:avLst/>
              </a:prstGeom>
              <a:blipFill>
                <a:blip r:embed="rId6"/>
                <a:stretch>
                  <a:fillRect l="-20635" t="-2740" b="-191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46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2401</TotalTime>
  <Words>684</Words>
  <Application>Microsoft Office PowerPoint</Application>
  <PresentationFormat>On-screen Show (16:10)</PresentationFormat>
  <Paragraphs>153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Topic: Review of rates and ratios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decimal numbers are recurring and some are recurring (repeating endlessly).  When we have recurring decimals we can use “Exact” form.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Review of rates and ratios</dc:title>
  <dc:creator>WILSON James [Baldivis Secondary College]</dc:creator>
  <cp:lastModifiedBy>WILSON James [Baldivis Secondary College]</cp:lastModifiedBy>
  <cp:revision>23</cp:revision>
  <dcterms:created xsi:type="dcterms:W3CDTF">2018-05-17T13:52:28Z</dcterms:created>
  <dcterms:modified xsi:type="dcterms:W3CDTF">2019-05-19T09:29:51Z</dcterms:modified>
</cp:coreProperties>
</file>
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" r:id="rId2"/>
    <p:sldId id="260" r:id="rId3"/>
    <p:sldId id="272" r:id="rId4"/>
    <p:sldId id="273" r:id="rId5"/>
    <p:sldId id="274" r:id="rId6"/>
    <p:sldId id="277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5/2/2019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5/2/2019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5/2/2019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5/2/2019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Rates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EQ </a:t>
            </a:r>
            <a:r>
              <a:rPr lang="en-US" dirty="0" smtClean="0"/>
              <a:t>– How do I find the rate?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 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Understand what a rate is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Writing a comparison as a rate.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Task: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280160" y="2743194"/>
                <a:ext cx="7863840" cy="3433769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Divide $30 in a ratio of 2 : 1</a:t>
                </a:r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Simplify the ratios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AU" dirty="0" smtClean="0"/>
                  <a:t>10 : 4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AU" dirty="0" smtClean="0"/>
                  <a:t>100 : 500</a:t>
                </a:r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:3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Find the area of a rectangle with side lengths 5cm and 4cm</a:t>
                </a:r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If a car travels at 60km/hour. How far will it travel in 2 hours?</a:t>
                </a:r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280160" y="2743194"/>
                <a:ext cx="7863840" cy="3433769"/>
              </a:xfrm>
              <a:blipFill>
                <a:blip r:embed="rId2"/>
                <a:stretch>
                  <a:fillRect l="-1008" t="-14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8617524" y="2971681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10m</a:t>
            </a:r>
            <a:endParaRPr lang="en-AU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7215443" y="3706809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13m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180660" y="408223"/>
            <a:ext cx="3268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/>
                </a:solidFill>
              </a:rPr>
              <a:t>Introduction to Rates</a:t>
            </a:r>
            <a:endParaRPr lang="en-AU" sz="2800" dirty="0">
              <a:solidFill>
                <a:schemeClr val="bg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8397" y="103546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2"/>
                </a:solidFill>
              </a:rPr>
              <a:t>EQ – </a:t>
            </a:r>
            <a:r>
              <a:rPr lang="en-US" sz="2400" dirty="0">
                <a:solidFill>
                  <a:schemeClr val="bg2"/>
                </a:solidFill>
              </a:rPr>
              <a:t>How do I find the rate? </a:t>
            </a:r>
            <a:r>
              <a:rPr lang="en-AU" sz="2400" dirty="0" smtClean="0">
                <a:solidFill>
                  <a:schemeClr val="bg2"/>
                </a:solidFill>
              </a:rPr>
              <a:t>?</a:t>
            </a:r>
            <a:endParaRPr lang="en-AU" sz="2400" dirty="0">
              <a:solidFill>
                <a:schemeClr val="bg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39840" y="2659151"/>
            <a:ext cx="2307771" cy="963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70" y="73373"/>
            <a:ext cx="1500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24   7   30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41347" y="1811724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0660" y="408223"/>
            <a:ext cx="3268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/>
                </a:solidFill>
              </a:rPr>
              <a:t>Introduction to Rates</a:t>
            </a:r>
            <a:endParaRPr lang="en-AU" sz="2800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8397" y="103546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2"/>
                </a:solidFill>
              </a:rPr>
              <a:t>EQ – </a:t>
            </a:r>
            <a:r>
              <a:rPr lang="en-US" sz="2400" dirty="0">
                <a:solidFill>
                  <a:schemeClr val="bg2"/>
                </a:solidFill>
              </a:rPr>
              <a:t>How do I find the rate? </a:t>
            </a:r>
            <a:r>
              <a:rPr lang="en-AU" sz="2400" dirty="0" smtClean="0">
                <a:solidFill>
                  <a:schemeClr val="bg2"/>
                </a:solidFill>
              </a:rPr>
              <a:t>?</a:t>
            </a:r>
            <a:endParaRPr lang="en-AU" sz="2400" dirty="0">
              <a:solidFill>
                <a:schemeClr val="bg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8970" y="1798074"/>
            <a:ext cx="2581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are rates</a:t>
            </a:r>
            <a:r>
              <a:rPr lang="en-AU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0572" y="1911638"/>
            <a:ext cx="59766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rate compares </a:t>
            </a:r>
            <a:r>
              <a:rPr lang="en-US" b="1" dirty="0"/>
              <a:t>related</a:t>
            </a:r>
            <a:r>
              <a:rPr lang="en-US" dirty="0"/>
              <a:t> quantities with </a:t>
            </a:r>
            <a:r>
              <a:rPr lang="en-US" b="1" dirty="0"/>
              <a:t>different</a:t>
            </a:r>
            <a:r>
              <a:rPr lang="en-US" dirty="0"/>
              <a:t> units. </a:t>
            </a:r>
          </a:p>
          <a:p>
            <a:endParaRPr lang="en-US" dirty="0"/>
          </a:p>
          <a:p>
            <a:r>
              <a:rPr lang="en-US" dirty="0"/>
              <a:t>Rates are usually written with one quantity compared to a </a:t>
            </a:r>
            <a:r>
              <a:rPr lang="en-US" b="1" dirty="0"/>
              <a:t>single</a:t>
            </a:r>
            <a:r>
              <a:rPr lang="en-US" dirty="0"/>
              <a:t> unit of the other.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For example </a:t>
            </a:r>
          </a:p>
          <a:p>
            <a:r>
              <a:rPr lang="en-US" dirty="0"/>
              <a:t>50km </a:t>
            </a:r>
            <a:r>
              <a:rPr lang="en-US" b="1" dirty="0"/>
              <a:t>per</a:t>
            </a:r>
            <a:r>
              <a:rPr lang="en-US" dirty="0"/>
              <a:t> 1 hour </a:t>
            </a:r>
          </a:p>
          <a:p>
            <a:r>
              <a:rPr lang="en-US" dirty="0"/>
              <a:t>(written like 50km/h)</a:t>
            </a:r>
          </a:p>
        </p:txBody>
      </p:sp>
    </p:spTree>
    <p:extLst>
      <p:ext uri="{BB962C8B-B14F-4D97-AF65-F5344CB8AC3E}">
        <p14:creationId xmlns:p14="http://schemas.microsoft.com/office/powerpoint/2010/main" val="364704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some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491" y="2322497"/>
            <a:ext cx="7671771" cy="12961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91" y="4392663"/>
            <a:ext cx="7807578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88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70" y="73373"/>
            <a:ext cx="1500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24   7   30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41347" y="1811724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970" y="520136"/>
            <a:ext cx="3268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/>
                </a:solidFill>
              </a:rPr>
              <a:t>Introduction to Rates</a:t>
            </a:r>
            <a:endParaRPr lang="en-AU" sz="2800" dirty="0">
              <a:solidFill>
                <a:schemeClr val="bg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228" y="108749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2"/>
                </a:solidFill>
              </a:rPr>
              <a:t>EQ – </a:t>
            </a:r>
            <a:r>
              <a:rPr lang="en-US" sz="2400" dirty="0">
                <a:solidFill>
                  <a:schemeClr val="bg2"/>
                </a:solidFill>
              </a:rPr>
              <a:t>How do I find the rate? </a:t>
            </a:r>
            <a:r>
              <a:rPr lang="en-AU" sz="2400" dirty="0" smtClean="0">
                <a:solidFill>
                  <a:schemeClr val="bg2"/>
                </a:solidFill>
              </a:rPr>
              <a:t>?</a:t>
            </a:r>
            <a:endParaRPr lang="en-AU" sz="2400" dirty="0">
              <a:solidFill>
                <a:schemeClr val="bg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8970" y="1798074"/>
            <a:ext cx="2581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are rates</a:t>
            </a:r>
            <a:r>
              <a:rPr lang="en-AU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0572" y="1911638"/>
            <a:ext cx="59766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rate compares </a:t>
            </a:r>
            <a:r>
              <a:rPr lang="en-US" b="1" dirty="0"/>
              <a:t>related</a:t>
            </a:r>
            <a:r>
              <a:rPr lang="en-US" dirty="0"/>
              <a:t> quantities with </a:t>
            </a:r>
            <a:r>
              <a:rPr lang="en-US" b="1" dirty="0"/>
              <a:t>different</a:t>
            </a:r>
            <a:r>
              <a:rPr lang="en-US" dirty="0"/>
              <a:t> units. </a:t>
            </a:r>
          </a:p>
          <a:p>
            <a:endParaRPr lang="en-US" dirty="0"/>
          </a:p>
          <a:p>
            <a:r>
              <a:rPr lang="en-US" dirty="0"/>
              <a:t>Rates are usually written with one quantity compared to a </a:t>
            </a:r>
            <a:r>
              <a:rPr lang="en-US" b="1" dirty="0"/>
              <a:t>single</a:t>
            </a:r>
            <a:r>
              <a:rPr lang="en-US" dirty="0"/>
              <a:t> unit of the other.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For example </a:t>
            </a:r>
          </a:p>
          <a:p>
            <a:r>
              <a:rPr lang="en-US" dirty="0"/>
              <a:t>50km </a:t>
            </a:r>
            <a:r>
              <a:rPr lang="en-US" b="1" dirty="0"/>
              <a:t>per</a:t>
            </a:r>
            <a:r>
              <a:rPr lang="en-US" dirty="0"/>
              <a:t> 1 hour </a:t>
            </a:r>
          </a:p>
          <a:p>
            <a:r>
              <a:rPr lang="en-US" dirty="0"/>
              <a:t>(written like 50km/h)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7437" y="6568682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159" y="4290257"/>
            <a:ext cx="1619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find the rate?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3751" y="4290257"/>
            <a:ext cx="703728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find the rate we need to work out what </a:t>
            </a:r>
            <a:r>
              <a:rPr lang="en-US" b="1" u="sng" dirty="0"/>
              <a:t>one of that unit </a:t>
            </a:r>
            <a:r>
              <a:rPr lang="en-US" dirty="0"/>
              <a:t>will be. </a:t>
            </a:r>
          </a:p>
          <a:p>
            <a:endParaRPr lang="en-US" dirty="0"/>
          </a:p>
          <a:p>
            <a:r>
              <a:rPr lang="en-US" dirty="0"/>
              <a:t>To do this we need to </a:t>
            </a:r>
            <a:r>
              <a:rPr lang="en-US" b="1" u="sng" dirty="0"/>
              <a:t>divide both numbers by the </a:t>
            </a:r>
            <a:r>
              <a:rPr lang="en-US" b="1" u="sng" dirty="0"/>
              <a:t>second </a:t>
            </a:r>
            <a:r>
              <a:rPr lang="en-US" b="1" u="sng" dirty="0"/>
              <a:t>number</a:t>
            </a:r>
          </a:p>
          <a:p>
            <a:endParaRPr lang="en-US" b="1" u="sng" dirty="0"/>
          </a:p>
          <a:p>
            <a:endParaRPr lang="en-US" b="1" u="sng" dirty="0"/>
          </a:p>
          <a:p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/>
          <a:srcRect r="38535" b="67958"/>
          <a:stretch/>
        </p:blipFill>
        <p:spPr>
          <a:xfrm>
            <a:off x="2603752" y="5347942"/>
            <a:ext cx="3564645" cy="3236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3F3212-3B2E-4D0F-8AB7-B568BF11F2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94" t="-476" b="67958"/>
          <a:stretch/>
        </p:blipFill>
        <p:spPr>
          <a:xfrm>
            <a:off x="6767840" y="5368812"/>
            <a:ext cx="2273748" cy="3284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845BF28-8294-404F-8AD0-AE5F1FC569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26831" r="558" b="-4010"/>
          <a:stretch/>
        </p:blipFill>
        <p:spPr>
          <a:xfrm>
            <a:off x="6335903" y="5697271"/>
            <a:ext cx="2867368" cy="7795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25312" y="6446416"/>
            <a:ext cx="3458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So the rate is $15 per hour = $15/h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58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your turn!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074" y="1939835"/>
            <a:ext cx="8363272" cy="4525963"/>
          </a:xfrm>
        </p:spPr>
        <p:txBody>
          <a:bodyPr/>
          <a:lstStyle/>
          <a:p>
            <a:r>
              <a:rPr lang="en-US" dirty="0" smtClean="0"/>
              <a:t>Complete the worksheet</a:t>
            </a:r>
          </a:p>
          <a:p>
            <a:r>
              <a:rPr lang="en-US" dirty="0" smtClean="0"/>
              <a:t>Pag</a:t>
            </a:r>
            <a:r>
              <a:rPr lang="en-US" dirty="0" smtClean="0"/>
              <a:t>e 360 Cambridge Textbook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5331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al subjects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7.potx" id="{6B18C398-4F76-4BDC-B8A4-D02A96E0AA82}" vid="{FBF1AC64-E511-41D2-AA23-0E693E79CD77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Educational subjects presentation, chalkboard illustrations design (widescreen)</Template>
  <TotalTime>1150</TotalTime>
  <Words>234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Cambria Math</vt:lpstr>
      <vt:lpstr>Wingdings</vt:lpstr>
      <vt:lpstr>Educational subjects 16x9</vt:lpstr>
      <vt:lpstr>Introduction to Rates </vt:lpstr>
      <vt:lpstr>Learning Objectives </vt:lpstr>
      <vt:lpstr>PowerPoint Presentation</vt:lpstr>
      <vt:lpstr>PowerPoint Presentation</vt:lpstr>
      <vt:lpstr>Let’s try some together</vt:lpstr>
      <vt:lpstr>PowerPoint Presentation</vt:lpstr>
      <vt:lpstr>Now your turn!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RUST Joanne [Baldivis Secondary College]</cp:lastModifiedBy>
  <cp:revision>25</cp:revision>
  <dcterms:created xsi:type="dcterms:W3CDTF">2019-03-18T23:45:29Z</dcterms:created>
  <dcterms:modified xsi:type="dcterms:W3CDTF">2019-05-02T12:47:29Z</dcterms:modified>
</cp:coreProperties>
</file>
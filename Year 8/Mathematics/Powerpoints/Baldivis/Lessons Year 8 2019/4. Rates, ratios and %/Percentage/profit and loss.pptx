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1" r:id="rId3"/>
    <p:sldId id="313" r:id="rId4"/>
    <p:sldId id="315" r:id="rId5"/>
    <p:sldId id="30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0" autoAdjust="0"/>
    <p:restoredTop sz="92197" autoAdjust="0"/>
  </p:normalViewPr>
  <p:slideViewPr>
    <p:cSldViewPr>
      <p:cViewPr varScale="1">
        <p:scale>
          <a:sx n="80" d="100"/>
          <a:sy n="80" d="100"/>
        </p:scale>
        <p:origin x="1699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commons.wikimedia.org/wiki/File:Canada_contour-flag.pn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63683-FD37-48B5-97AF-EF1318E02E18}"/>
              </a:ext>
            </a:extLst>
          </p:cNvPr>
          <p:cNvSpPr txBox="1"/>
          <p:nvPr/>
        </p:nvSpPr>
        <p:spPr>
          <a:xfrm>
            <a:off x="683568" y="1930949"/>
            <a:ext cx="76328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Review from last lesson </a:t>
            </a:r>
          </a:p>
          <a:p>
            <a:endParaRPr lang="en-AU" dirty="0"/>
          </a:p>
          <a:p>
            <a:r>
              <a:rPr lang="en-AU" dirty="0"/>
              <a:t>A furniture shop was having a 20% off sale on all chairs. Ms. Latham picked out a chair that was originally worth $40, how much did she pay for the chair?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Mr. Summers was visiting Canada and had dinner at a restaurant that cost him $30 and he needed to add an 18% tip, how much did he have to pay altogether?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DF45F-A095-4257-A7F1-B06987F85FFC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Profit and Loss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B133C-661B-4AB4-B89B-D1DFB91546DA}"/>
              </a:ext>
            </a:extLst>
          </p:cNvPr>
          <p:cNvSpPr txBox="1"/>
          <p:nvPr/>
        </p:nvSpPr>
        <p:spPr>
          <a:xfrm>
            <a:off x="703205" y="90133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can we express Profit &amp; Loss as a %?</a:t>
            </a:r>
          </a:p>
        </p:txBody>
      </p:sp>
      <p:pic>
        <p:nvPicPr>
          <p:cNvPr id="6" name="Picture 5" descr="A close up of a red chair&#10;&#10;Description generated with very high confidence">
            <a:extLst>
              <a:ext uri="{FF2B5EF4-FFF2-40B4-BE49-F238E27FC236}">
                <a16:creationId xmlns:a16="http://schemas.microsoft.com/office/drawing/2014/main" id="{3F299885-F961-4BF9-9463-B00C73BEC6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320" y="1086278"/>
            <a:ext cx="1370192" cy="1409542"/>
          </a:xfrm>
          <a:prstGeom prst="rect">
            <a:avLst/>
          </a:prstGeom>
        </p:spPr>
      </p:pic>
      <p:pic>
        <p:nvPicPr>
          <p:cNvPr id="8" name="Picture 7" descr="A close up of a flag&#10;&#10;Description generated with very high confidence">
            <a:extLst>
              <a:ext uri="{FF2B5EF4-FFF2-40B4-BE49-F238E27FC236}">
                <a16:creationId xmlns:a16="http://schemas.microsoft.com/office/drawing/2014/main" id="{38DE72C2-B65E-4586-9883-9EE5D1B20B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9512" y="5032582"/>
            <a:ext cx="1788062" cy="14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4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65FB2-3E64-4E47-94A3-CC8EBB005787}"/>
              </a:ext>
            </a:extLst>
          </p:cNvPr>
          <p:cNvSpPr/>
          <p:nvPr/>
        </p:nvSpPr>
        <p:spPr>
          <a:xfrm>
            <a:off x="280452" y="3358914"/>
            <a:ext cx="1598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are we comparing to?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AE372-67E0-4023-88A2-1B59E88259C1}"/>
              </a:ext>
            </a:extLst>
          </p:cNvPr>
          <p:cNvSpPr txBox="1"/>
          <p:nvPr/>
        </p:nvSpPr>
        <p:spPr>
          <a:xfrm>
            <a:off x="2029787" y="1844824"/>
            <a:ext cx="6574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 make money by selling an item for more than you bought it for than you make a </a:t>
            </a:r>
            <a:r>
              <a:rPr lang="en-AU" b="1" dirty="0"/>
              <a:t>Profit</a:t>
            </a:r>
            <a:r>
              <a:rPr lang="en-AU" dirty="0"/>
              <a:t>, if you loose money by selling an item for less than you bought it for it is a </a:t>
            </a:r>
            <a:r>
              <a:rPr lang="en-AU" b="1" dirty="0"/>
              <a:t>Loss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1DD2-0C33-484C-B98F-1F371DB0FAF2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profit &amp; loss?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E1257-BF57-4619-B68B-866BE973F140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Profit and Loss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4DEF7-52E3-4311-8133-A88C47955C05}"/>
              </a:ext>
            </a:extLst>
          </p:cNvPr>
          <p:cNvSpPr txBox="1"/>
          <p:nvPr/>
        </p:nvSpPr>
        <p:spPr>
          <a:xfrm>
            <a:off x="261789" y="102622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can we express Profit &amp; Loss as a %?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E3048-FFFD-4557-B22D-9D90C59CD2B7}"/>
              </a:ext>
            </a:extLst>
          </p:cNvPr>
          <p:cNvSpPr txBox="1"/>
          <p:nvPr/>
        </p:nvSpPr>
        <p:spPr>
          <a:xfrm>
            <a:off x="2051932" y="3215158"/>
            <a:ext cx="52565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can express the Profit or Loss to the SP or the CP</a:t>
            </a:r>
          </a:p>
          <a:p>
            <a:endParaRPr lang="en-AU" dirty="0"/>
          </a:p>
          <a:p>
            <a:r>
              <a:rPr lang="en-AU" dirty="0"/>
              <a:t>Selling price – how much the item is sold for</a:t>
            </a:r>
          </a:p>
          <a:p>
            <a:endParaRPr lang="en-AU" dirty="0"/>
          </a:p>
          <a:p>
            <a:r>
              <a:rPr lang="en-AU" dirty="0"/>
              <a:t>Cost price – how much the item was originally bought for</a:t>
            </a:r>
          </a:p>
          <a:p>
            <a:endParaRPr lang="en-A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3BC263-61C9-418B-8AFE-FE3E3B49EAE9}"/>
              </a:ext>
            </a:extLst>
          </p:cNvPr>
          <p:cNvSpPr/>
          <p:nvPr/>
        </p:nvSpPr>
        <p:spPr>
          <a:xfrm>
            <a:off x="130433" y="5251346"/>
            <a:ext cx="174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calculate the % Profit 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6C311E-892E-42D6-BB53-1634EACC4F48}"/>
              </a:ext>
            </a:extLst>
          </p:cNvPr>
          <p:cNvSpPr/>
          <p:nvPr/>
        </p:nvSpPr>
        <p:spPr>
          <a:xfrm>
            <a:off x="2033775" y="5222523"/>
            <a:ext cx="3117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Profit = selling price - cost price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CDED-AAC5-4EEE-B0EF-3CB1274EA8AF}"/>
                  </a:ext>
                </a:extLst>
              </p:cNvPr>
              <p:cNvSpPr txBox="1"/>
              <p:nvPr/>
            </p:nvSpPr>
            <p:spPr>
              <a:xfrm>
                <a:off x="2551427" y="5744528"/>
                <a:ext cx="4887748" cy="575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𝑃𝑟𝑜𝑓𝑖𝑡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𝑃𝑟𝑜𝑓𝑖𝑡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𝑦𝑜𝑢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𝑐𝑜𝑚𝑝𝑎𝑟𝑖𝑛𝑔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CDED-AAC5-4EEE-B0EF-3CB1274EA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427" y="5744528"/>
                <a:ext cx="4887748" cy="575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901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19" grpId="0"/>
      <p:bldP spid="20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E1257-BF57-4619-B68B-866BE973F140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Profit and Loss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4DEF7-52E3-4311-8133-A88C47955C05}"/>
              </a:ext>
            </a:extLst>
          </p:cNvPr>
          <p:cNvSpPr txBox="1"/>
          <p:nvPr/>
        </p:nvSpPr>
        <p:spPr>
          <a:xfrm>
            <a:off x="261789" y="102622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can we express Profit &amp; Loss as a %?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3BC263-61C9-418B-8AFE-FE3E3B49EAE9}"/>
              </a:ext>
            </a:extLst>
          </p:cNvPr>
          <p:cNvSpPr/>
          <p:nvPr/>
        </p:nvSpPr>
        <p:spPr>
          <a:xfrm>
            <a:off x="98673" y="1841301"/>
            <a:ext cx="174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calculate the % Profit 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6C311E-892E-42D6-BB53-1634EACC4F48}"/>
              </a:ext>
            </a:extLst>
          </p:cNvPr>
          <p:cNvSpPr/>
          <p:nvPr/>
        </p:nvSpPr>
        <p:spPr>
          <a:xfrm>
            <a:off x="2256424" y="1763524"/>
            <a:ext cx="3117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Profit = selling price - cost price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CDED-AAC5-4EEE-B0EF-3CB1274EA8AF}"/>
                  </a:ext>
                </a:extLst>
              </p:cNvPr>
              <p:cNvSpPr txBox="1"/>
              <p:nvPr/>
            </p:nvSpPr>
            <p:spPr>
              <a:xfrm>
                <a:off x="2250817" y="2201015"/>
                <a:ext cx="4836452" cy="575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𝑃𝑟𝑜𝑓𝑖𝑡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𝑃𝑟𝑜𝑓𝑖𝑡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𝑦𝑜𝑢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𝑐𝑜𝑚𝑝𝑎𝑟𝑖𝑛𝑔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CDED-AAC5-4EEE-B0EF-3CB1274EA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817" y="2201015"/>
                <a:ext cx="4836452" cy="575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A34EFF20-D544-4897-A944-B673B70A857E}"/>
              </a:ext>
            </a:extLst>
          </p:cNvPr>
          <p:cNvSpPr/>
          <p:nvPr/>
        </p:nvSpPr>
        <p:spPr>
          <a:xfrm>
            <a:off x="98673" y="3248038"/>
            <a:ext cx="174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calculate the % Loss?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3D3AEC-85CD-4220-A233-46D0510C938C}"/>
              </a:ext>
            </a:extLst>
          </p:cNvPr>
          <p:cNvSpPr/>
          <p:nvPr/>
        </p:nvSpPr>
        <p:spPr>
          <a:xfrm>
            <a:off x="2205772" y="3201872"/>
            <a:ext cx="3097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Loss = cost price – selling price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AAF31F-FFB9-4792-BACC-98051527743F}"/>
                  </a:ext>
                </a:extLst>
              </p:cNvPr>
              <p:cNvSpPr txBox="1"/>
              <p:nvPr/>
            </p:nvSpPr>
            <p:spPr>
              <a:xfrm>
                <a:off x="2205772" y="3801161"/>
                <a:ext cx="4630370" cy="567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𝐿𝑜𝑠𝑠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𝑦𝑜𝑢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𝑐𝑜𝑚𝑝𝑎𝑟𝑖𝑛𝑔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AAF31F-FFB9-4792-BACC-98051527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772" y="3801161"/>
                <a:ext cx="4630370" cy="567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506C36F-031E-4566-AAFC-9233B31356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775" t="20601" r="29525" b="50021"/>
          <a:stretch/>
        </p:blipFill>
        <p:spPr>
          <a:xfrm>
            <a:off x="752701" y="4497581"/>
            <a:ext cx="7995763" cy="233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8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FB6F01-D459-4777-90DA-063490CDB8A6}"/>
              </a:ext>
            </a:extLst>
          </p:cNvPr>
          <p:cNvSpPr txBox="1"/>
          <p:nvPr/>
        </p:nvSpPr>
        <p:spPr>
          <a:xfrm flipH="1">
            <a:off x="395536" y="620688"/>
            <a:ext cx="62646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Ella bought a 2 bedroom unit 12 years ago for $95 000, and recently sold it for $280 000 (after deducting costs). </a:t>
            </a:r>
          </a:p>
          <a:p>
            <a:endParaRPr lang="en-US" dirty="0"/>
          </a:p>
          <a:p>
            <a:r>
              <a:rPr lang="en-US" dirty="0"/>
              <a:t>1. Did She make  a PROFIT or a LOSS?</a:t>
            </a:r>
          </a:p>
          <a:p>
            <a:r>
              <a:rPr lang="en-US" dirty="0"/>
              <a:t> A profit. </a:t>
            </a:r>
          </a:p>
          <a:p>
            <a:r>
              <a:rPr lang="en-US" dirty="0"/>
              <a:t> $280 000 is more than $95 000.</a:t>
            </a:r>
          </a:p>
          <a:p>
            <a:r>
              <a:rPr lang="en-US" dirty="0"/>
              <a:t> $280 000 - $95 000 = $185 000 PROFIT</a:t>
            </a:r>
          </a:p>
          <a:p>
            <a:endParaRPr lang="en-US" dirty="0"/>
          </a:p>
          <a:p>
            <a:r>
              <a:rPr lang="en-US" dirty="0"/>
              <a:t>2. Find the % Profit compared to the Cost Price. </a:t>
            </a:r>
          </a:p>
          <a:p>
            <a:endParaRPr lang="en-US" dirty="0"/>
          </a:p>
          <a:p>
            <a:r>
              <a:rPr lang="en-US" dirty="0"/>
              <a:t>185 000/ 95 000  x 100 = 195 % (% of the CP)</a:t>
            </a:r>
          </a:p>
          <a:p>
            <a:endParaRPr lang="en-US" dirty="0"/>
          </a:p>
          <a:p>
            <a:r>
              <a:rPr lang="en-US" dirty="0"/>
              <a:t>3. Find the % Profit compared to the Selling Price. </a:t>
            </a:r>
          </a:p>
          <a:p>
            <a:endParaRPr lang="en-US" dirty="0"/>
          </a:p>
          <a:p>
            <a:r>
              <a:rPr lang="en-US" dirty="0"/>
              <a:t>$95 000/ 280 000 x 100 = 33.9% (% of SP)</a:t>
            </a:r>
          </a:p>
          <a:p>
            <a:endParaRPr lang="en-US" dirty="0"/>
          </a:p>
          <a:p>
            <a:r>
              <a:rPr lang="en-US" dirty="0"/>
              <a:t>4. Which % profit sounds better for Ella? </a:t>
            </a:r>
          </a:p>
          <a:p>
            <a:r>
              <a:rPr lang="en-US" dirty="0"/>
              <a:t>(195 % of the BP)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242A54F7-1101-4925-B86E-7FA0E687EC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182473"/>
            <a:ext cx="2523182" cy="266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8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Try 11.6, p.150</a:t>
            </a:r>
          </a:p>
          <a:p>
            <a:r>
              <a:rPr lang="en-US" dirty="0"/>
              <a:t>Choose 5 </a:t>
            </a:r>
            <a:r>
              <a:rPr lang="en-US" dirty="0" err="1"/>
              <a:t>qns</a:t>
            </a:r>
            <a:r>
              <a:rPr lang="en-US" dirty="0"/>
              <a:t> to solve with a partner</a:t>
            </a:r>
          </a:p>
        </p:txBody>
      </p:sp>
    </p:spTree>
    <p:extLst>
      <p:ext uri="{BB962C8B-B14F-4D97-AF65-F5344CB8AC3E}">
        <p14:creationId xmlns:p14="http://schemas.microsoft.com/office/powerpoint/2010/main" val="2034104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231</TotalTime>
  <Words>438</Words>
  <Application>Microsoft Office PowerPoint</Application>
  <PresentationFormat>On-screen Show (4:3)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LHS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    Percentages      % Interactive Notebook</dc:title>
  <dc:creator>PATERSON Anne</dc:creator>
  <cp:lastModifiedBy>E4092707</cp:lastModifiedBy>
  <cp:revision>20</cp:revision>
  <dcterms:created xsi:type="dcterms:W3CDTF">2017-06-03T02:49:04Z</dcterms:created>
  <dcterms:modified xsi:type="dcterms:W3CDTF">2018-05-20T07:10:49Z</dcterms:modified>
</cp:coreProperties>
</file>
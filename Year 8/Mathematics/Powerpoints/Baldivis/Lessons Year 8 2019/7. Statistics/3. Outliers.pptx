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1"/>
  </p:notesMasterIdLst>
  <p:handoutMasterIdLst>
    <p:handoutMasterId r:id="rId12"/>
  </p:handoutMasterIdLst>
  <p:sldIdLst>
    <p:sldId id="258" r:id="rId2"/>
    <p:sldId id="260" r:id="rId3"/>
    <p:sldId id="272" r:id="rId4"/>
    <p:sldId id="305" r:id="rId5"/>
    <p:sldId id="273" r:id="rId6"/>
    <p:sldId id="306" r:id="rId7"/>
    <p:sldId id="307" r:id="rId8"/>
    <p:sldId id="308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7/28/2019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7/28/2019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733709"/>
            <a:ext cx="8519656" cy="1373070"/>
          </a:xfrm>
        </p:spPr>
        <p:txBody>
          <a:bodyPr/>
          <a:lstStyle/>
          <a:p>
            <a:r>
              <a:rPr lang="en-US" sz="4400" dirty="0" smtClean="0"/>
              <a:t>Outliers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</a:t>
            </a:r>
            <a:r>
              <a:rPr lang="en-US" dirty="0" smtClean="0"/>
              <a:t>How does an outlier effect the measures of </a:t>
            </a:r>
            <a:r>
              <a:rPr lang="en-US" dirty="0" err="1" smtClean="0"/>
              <a:t>centre</a:t>
            </a:r>
            <a:r>
              <a:rPr lang="en-US" dirty="0" smtClean="0"/>
              <a:t> and spread?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80321" y="2220686"/>
            <a:ext cx="935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Understand what an outlier is.</a:t>
            </a:r>
            <a:endParaRPr lang="en-A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To be able to </a:t>
            </a:r>
            <a:r>
              <a:rPr lang="en-AU" dirty="0" smtClean="0"/>
              <a:t>describe the effect an outlier has on the measures of centre and spread.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spread?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65463" y="1508870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047858" y="2016199"/>
            <a:ext cx="9707227" cy="484180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 smtClean="0"/>
              <a:t>Write a summary for last lesson </a:t>
            </a:r>
          </a:p>
          <a:p>
            <a:pPr marL="457200" indent="-457200">
              <a:buAutoNum type="arabicPeriod"/>
            </a:pPr>
            <a:r>
              <a:rPr lang="en-AU" dirty="0" smtClean="0"/>
              <a:t>Describe how to find the median of a data set. </a:t>
            </a:r>
          </a:p>
          <a:p>
            <a:pPr marL="457200" indent="-457200">
              <a:buAutoNum type="arabicPeriod"/>
            </a:pPr>
            <a:r>
              <a:rPr lang="en-AU" dirty="0" smtClean="0"/>
              <a:t>If a data set has 4 numbers with a mean of 5 and a mode of 5. What could the 4 </a:t>
            </a:r>
            <a:r>
              <a:rPr lang="en-AU" dirty="0"/>
              <a:t>n</a:t>
            </a:r>
            <a:r>
              <a:rPr lang="en-AU" dirty="0" smtClean="0"/>
              <a:t>umbers be? </a:t>
            </a:r>
          </a:p>
          <a:p>
            <a:pPr marL="457200" indent="-457200">
              <a:buAutoNum type="arabicPeriod"/>
            </a:pPr>
            <a:r>
              <a:rPr lang="en-AU" dirty="0" smtClean="0"/>
              <a:t>What do you think an outlier for a data set may be? </a:t>
            </a:r>
          </a:p>
          <a:p>
            <a:pPr marL="457200" indent="-457200">
              <a:buAutoNum type="arabicPeriod"/>
            </a:pPr>
            <a:r>
              <a:rPr lang="en-AU" dirty="0" smtClean="0"/>
              <a:t>Five students do a standing long jump at their </a:t>
            </a:r>
            <a:r>
              <a:rPr lang="en-AU" dirty="0" err="1" smtClean="0"/>
              <a:t>athletcics</a:t>
            </a:r>
            <a:r>
              <a:rPr lang="en-AU" dirty="0" smtClean="0"/>
              <a:t> carnival and the length of their jumps in cm are </a:t>
            </a:r>
            <a:r>
              <a:rPr lang="en-AU" dirty="0" err="1" smtClean="0"/>
              <a:t>recoreded</a:t>
            </a:r>
            <a:r>
              <a:rPr lang="en-AU" dirty="0" smtClean="0"/>
              <a:t> in the table</a:t>
            </a:r>
          </a:p>
          <a:p>
            <a:pPr marL="457200" indent="-457200">
              <a:buAutoNum type="arabicPeriod"/>
            </a:pPr>
            <a:endParaRPr lang="en-AU" dirty="0"/>
          </a:p>
          <a:p>
            <a:pPr marL="457200" indent="-457200">
              <a:buAutoNum type="arabicPeriod"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If Kath’s distance is removed from the data, what happens to the          mean distance that is jumped from this group?</a:t>
            </a:r>
          </a:p>
          <a:p>
            <a:pPr marL="0" indent="0">
              <a:buNone/>
            </a:pPr>
            <a:endParaRPr lang="en-AU" dirty="0" smtClean="0"/>
          </a:p>
          <a:p>
            <a:pPr marL="457200" indent="-457200">
              <a:buFont typeface="+mj-lt"/>
              <a:buAutoNum type="arabicPeriod" startAt="2"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0971040" y="13062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 I </a:t>
            </a:r>
            <a:r>
              <a:rPr lang="en-AU" dirty="0" smtClean="0"/>
              <a:t>C O </a:t>
            </a:r>
            <a:r>
              <a:rPr lang="en-AU" u="sng" dirty="0" smtClean="0">
                <a:solidFill>
                  <a:srgbClr val="FFFF00"/>
                </a:solidFill>
              </a:rPr>
              <a:t>R</a:t>
            </a:r>
            <a:endParaRPr lang="en-AU" u="sng" dirty="0">
              <a:solidFill>
                <a:srgbClr val="FFFF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15599" b="62398"/>
          <a:stretch/>
        </p:blipFill>
        <p:spPr>
          <a:xfrm>
            <a:off x="1690278" y="4934394"/>
            <a:ext cx="6579001" cy="8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853646" y="1982834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1040" y="13062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 </a:t>
            </a:r>
            <a:r>
              <a:rPr lang="en-AU" dirty="0" smtClean="0"/>
              <a:t>I C </a:t>
            </a:r>
            <a:r>
              <a:rPr lang="en-AU" u="sng" dirty="0" smtClean="0">
                <a:solidFill>
                  <a:srgbClr val="FFFF00"/>
                </a:solidFill>
              </a:rPr>
              <a:t>O</a:t>
            </a:r>
            <a:r>
              <a:rPr lang="en-AU" dirty="0" smtClean="0"/>
              <a:t> </a:t>
            </a:r>
            <a:r>
              <a:rPr lang="en-AU" u="sng" dirty="0" smtClean="0"/>
              <a:t>R</a:t>
            </a:r>
            <a:endParaRPr lang="en-AU" u="sng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2012" y="1255935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spread?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2012" y="2152207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outlier?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777680" y="2129057"/>
            <a:ext cx="3944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piece of data that is extremely different from the rest of the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312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853646" y="1982834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1040" y="13062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 </a:t>
            </a:r>
            <a:r>
              <a:rPr lang="en-AU" dirty="0" smtClean="0"/>
              <a:t>I C </a:t>
            </a:r>
            <a:r>
              <a:rPr lang="en-AU" u="sng" dirty="0" smtClean="0">
                <a:solidFill>
                  <a:srgbClr val="FFFF00"/>
                </a:solidFill>
              </a:rPr>
              <a:t>O</a:t>
            </a:r>
            <a:r>
              <a:rPr lang="en-AU" dirty="0" smtClean="0"/>
              <a:t> </a:t>
            </a:r>
            <a:r>
              <a:rPr lang="en-AU" u="sng" dirty="0" smtClean="0"/>
              <a:t>R</a:t>
            </a:r>
            <a:endParaRPr lang="en-AU" u="sng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62012" y="1255935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spread?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2012" y="2152207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outlier?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777680" y="2129057"/>
            <a:ext cx="3944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piece of data that is extremely different from the rest of the data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7010754" y="2186798"/>
            <a:ext cx="28857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Data set – 3, 3, 5, 6, 8, 35</a:t>
            </a:r>
          </a:p>
          <a:p>
            <a:endParaRPr lang="en-AU" dirty="0"/>
          </a:p>
          <a:p>
            <a:r>
              <a:rPr lang="en-AU" dirty="0" smtClean="0"/>
              <a:t>35 would be the outlier.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971040" y="13062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 I </a:t>
            </a:r>
            <a:r>
              <a:rPr lang="en-AU" u="sng" dirty="0" smtClean="0">
                <a:solidFill>
                  <a:srgbClr val="FFFF00"/>
                </a:solidFill>
              </a:rPr>
              <a:t>C</a:t>
            </a:r>
            <a:r>
              <a:rPr lang="en-AU" dirty="0" smtClean="0"/>
              <a:t> O R</a:t>
            </a:r>
            <a:endParaRPr lang="en-AU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8250" y="1453794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spread?</a:t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AU" sz="2800" dirty="0"/>
              <a:t>Task – In pairs  - person A and person B </a:t>
            </a:r>
            <a:br>
              <a:rPr lang="en-AU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48250" y="2664271"/>
            <a:ext cx="53205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Data </a:t>
            </a:r>
            <a:r>
              <a:rPr lang="en-AU" dirty="0"/>
              <a:t>set – 3, 3, 5, 6, 8, </a:t>
            </a:r>
            <a:r>
              <a:rPr lang="en-AU" dirty="0" smtClean="0"/>
              <a:t>35</a:t>
            </a:r>
            <a:endParaRPr lang="en-AU" dirty="0"/>
          </a:p>
          <a:p>
            <a:endParaRPr lang="en-AU" dirty="0"/>
          </a:p>
          <a:p>
            <a:r>
              <a:rPr lang="en-AU" dirty="0" smtClean="0"/>
              <a:t>Person A – Calculate the following for the data set</a:t>
            </a:r>
          </a:p>
          <a:p>
            <a:endParaRPr lang="en-AU" dirty="0"/>
          </a:p>
          <a:p>
            <a:r>
              <a:rPr lang="en-AU" dirty="0" smtClean="0"/>
              <a:t>Mean – </a:t>
            </a:r>
          </a:p>
          <a:p>
            <a:endParaRPr lang="en-AU" dirty="0"/>
          </a:p>
          <a:p>
            <a:r>
              <a:rPr lang="en-AU" dirty="0" smtClean="0"/>
              <a:t>Median – </a:t>
            </a:r>
          </a:p>
          <a:p>
            <a:endParaRPr lang="en-AU" dirty="0"/>
          </a:p>
          <a:p>
            <a:r>
              <a:rPr lang="en-AU" dirty="0" smtClean="0"/>
              <a:t>Mode – </a:t>
            </a:r>
          </a:p>
          <a:p>
            <a:endParaRPr lang="en-AU" dirty="0"/>
          </a:p>
          <a:p>
            <a:r>
              <a:rPr lang="en-AU" dirty="0" smtClean="0"/>
              <a:t>Range - 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5473338" y="2664271"/>
            <a:ext cx="62353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Data </a:t>
            </a:r>
            <a:r>
              <a:rPr lang="en-AU" dirty="0"/>
              <a:t>set – 3, 3, 5, 6, </a:t>
            </a:r>
            <a:r>
              <a:rPr lang="en-AU" dirty="0" smtClean="0"/>
              <a:t>8</a:t>
            </a:r>
          </a:p>
          <a:p>
            <a:r>
              <a:rPr lang="en-AU" dirty="0" smtClean="0"/>
              <a:t>Person B – Calculate the following for the data set with the outlier removed</a:t>
            </a:r>
          </a:p>
          <a:p>
            <a:endParaRPr lang="en-AU" dirty="0"/>
          </a:p>
          <a:p>
            <a:r>
              <a:rPr lang="en-AU" dirty="0" smtClean="0"/>
              <a:t>Mean – </a:t>
            </a:r>
          </a:p>
          <a:p>
            <a:endParaRPr lang="en-AU" dirty="0"/>
          </a:p>
          <a:p>
            <a:r>
              <a:rPr lang="en-AU" dirty="0" smtClean="0"/>
              <a:t>Median – </a:t>
            </a:r>
          </a:p>
          <a:p>
            <a:endParaRPr lang="en-AU" dirty="0"/>
          </a:p>
          <a:p>
            <a:r>
              <a:rPr lang="en-AU" dirty="0" smtClean="0"/>
              <a:t>Mode – </a:t>
            </a:r>
          </a:p>
          <a:p>
            <a:endParaRPr lang="en-AU" dirty="0"/>
          </a:p>
          <a:p>
            <a:r>
              <a:rPr lang="en-AU" dirty="0" smtClean="0"/>
              <a:t>Range - </a:t>
            </a:r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5408023" y="2664271"/>
            <a:ext cx="65315" cy="3693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" y="6357590"/>
            <a:ext cx="761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Then in your pairs discuss the effect that the outlier has on the data set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7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971040" y="13062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>
                <a:solidFill>
                  <a:srgbClr val="FFFF00"/>
                </a:solidFill>
              </a:rPr>
              <a:t>W</a:t>
            </a:r>
            <a:r>
              <a:rPr lang="en-AU" dirty="0" smtClean="0"/>
              <a:t> I </a:t>
            </a:r>
            <a:r>
              <a:rPr lang="en-AU" u="sng" dirty="0" smtClean="0">
                <a:solidFill>
                  <a:srgbClr val="FFFF00"/>
                </a:solidFill>
              </a:rPr>
              <a:t>C</a:t>
            </a:r>
            <a:r>
              <a:rPr lang="en-AU" dirty="0" smtClean="0"/>
              <a:t> O R</a:t>
            </a:r>
            <a:endParaRPr lang="en-AU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8250" y="1453794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spread?</a:t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AU" sz="2800" dirty="0"/>
              <a:t>Task – In pairs  - person A and person B </a:t>
            </a:r>
            <a:br>
              <a:rPr lang="en-AU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48250" y="2664271"/>
            <a:ext cx="53205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Data </a:t>
            </a:r>
            <a:r>
              <a:rPr lang="en-AU" dirty="0"/>
              <a:t>set – 3, 3, 5, 6, 8, </a:t>
            </a:r>
            <a:r>
              <a:rPr lang="en-AU" dirty="0" smtClean="0"/>
              <a:t>35</a:t>
            </a:r>
            <a:endParaRPr lang="en-AU" dirty="0"/>
          </a:p>
          <a:p>
            <a:endParaRPr lang="en-AU" dirty="0"/>
          </a:p>
          <a:p>
            <a:r>
              <a:rPr lang="en-AU" dirty="0" smtClean="0"/>
              <a:t>Person A – Calculate the following for the data set</a:t>
            </a:r>
          </a:p>
          <a:p>
            <a:endParaRPr lang="en-AU" dirty="0"/>
          </a:p>
          <a:p>
            <a:r>
              <a:rPr lang="en-AU" dirty="0" smtClean="0"/>
              <a:t>Mean – 10</a:t>
            </a:r>
          </a:p>
          <a:p>
            <a:endParaRPr lang="en-AU" dirty="0"/>
          </a:p>
          <a:p>
            <a:r>
              <a:rPr lang="en-AU" dirty="0" smtClean="0"/>
              <a:t>Median – 5.5</a:t>
            </a:r>
          </a:p>
          <a:p>
            <a:endParaRPr lang="en-AU" dirty="0"/>
          </a:p>
          <a:p>
            <a:r>
              <a:rPr lang="en-AU" dirty="0" smtClean="0"/>
              <a:t>Mode – 3</a:t>
            </a:r>
          </a:p>
          <a:p>
            <a:endParaRPr lang="en-AU" dirty="0"/>
          </a:p>
          <a:p>
            <a:r>
              <a:rPr lang="en-AU" dirty="0" smtClean="0"/>
              <a:t>Range - 37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5473338" y="2664271"/>
            <a:ext cx="62353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Data </a:t>
            </a:r>
            <a:r>
              <a:rPr lang="en-AU" dirty="0"/>
              <a:t>set – 3, 3, 5, 6, </a:t>
            </a:r>
            <a:r>
              <a:rPr lang="en-AU" dirty="0" smtClean="0"/>
              <a:t>8</a:t>
            </a:r>
          </a:p>
          <a:p>
            <a:r>
              <a:rPr lang="en-AU" dirty="0" smtClean="0"/>
              <a:t>Person B – Calculate the following for the data set with the outlier removed</a:t>
            </a:r>
          </a:p>
          <a:p>
            <a:endParaRPr lang="en-AU" dirty="0" smtClean="0"/>
          </a:p>
          <a:p>
            <a:r>
              <a:rPr lang="en-AU" dirty="0" smtClean="0"/>
              <a:t>Mean – 5</a:t>
            </a:r>
          </a:p>
          <a:p>
            <a:endParaRPr lang="en-AU" dirty="0"/>
          </a:p>
          <a:p>
            <a:r>
              <a:rPr lang="en-AU" dirty="0" smtClean="0"/>
              <a:t>Median – 5</a:t>
            </a:r>
          </a:p>
          <a:p>
            <a:endParaRPr lang="en-AU" dirty="0"/>
          </a:p>
          <a:p>
            <a:r>
              <a:rPr lang="en-AU" dirty="0" smtClean="0"/>
              <a:t>Mode – 3</a:t>
            </a:r>
          </a:p>
          <a:p>
            <a:endParaRPr lang="en-AU" dirty="0"/>
          </a:p>
          <a:p>
            <a:r>
              <a:rPr lang="en-AU" dirty="0" smtClean="0"/>
              <a:t>Range - 5</a:t>
            </a:r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5408023" y="2664271"/>
            <a:ext cx="65315" cy="3693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" y="6357590"/>
            <a:ext cx="695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a few sentences describing the effect that the outlier has.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122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5816274" cy="3599316"/>
          </a:xfrm>
        </p:spPr>
        <p:txBody>
          <a:bodyPr/>
          <a:lstStyle/>
          <a:p>
            <a:r>
              <a:rPr lang="en-AU" dirty="0" smtClean="0"/>
              <a:t>Complete worksheet on outliers</a:t>
            </a:r>
            <a:endParaRPr lang="en-AU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023194"/>
            <a:ext cx="9613861" cy="1080938"/>
          </a:xfrm>
        </p:spPr>
        <p:txBody>
          <a:bodyPr>
            <a:noAutofit/>
          </a:bodyPr>
          <a:lstStyle/>
          <a:p>
            <a:r>
              <a:rPr lang="en-AU" sz="2800" dirty="0" smtClean="0"/>
              <a:t>Outliers</a:t>
            </a:r>
            <a:r>
              <a:rPr lang="en-AU" sz="2800" dirty="0" smtClean="0"/>
              <a:t/>
            </a:r>
            <a:br>
              <a:rPr lang="en-AU" sz="2800" dirty="0" smtClean="0"/>
            </a:br>
            <a:r>
              <a:rPr lang="en-US" sz="2800" dirty="0"/>
              <a:t>EQ –  </a:t>
            </a:r>
            <a:r>
              <a:rPr lang="en-US" sz="2800" dirty="0"/>
              <a:t>How does an outlier effect the measures of </a:t>
            </a:r>
            <a:r>
              <a:rPr lang="en-US" sz="2800" dirty="0" err="1"/>
              <a:t>centre</a:t>
            </a:r>
            <a:r>
              <a:rPr lang="en-US" sz="2800" dirty="0"/>
              <a:t> and spread</a:t>
            </a:r>
            <a:r>
              <a:rPr lang="en-US" sz="2800" dirty="0" smtClean="0"/>
              <a:t>?</a:t>
            </a:r>
            <a:r>
              <a:rPr lang="en-AU" sz="2800" dirty="0"/>
              <a:t/>
            </a:r>
            <a:br>
              <a:rPr lang="en-AU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6319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23566" y="2249787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Think, pair, share</a:t>
            </a:r>
          </a:p>
          <a:p>
            <a:pPr>
              <a:buFontTx/>
              <a:buChar char="-"/>
            </a:pPr>
            <a:r>
              <a:rPr lang="en-AU" dirty="0" smtClean="0"/>
              <a:t>Give the definition of an outlier</a:t>
            </a:r>
          </a:p>
          <a:p>
            <a:pPr>
              <a:buFontTx/>
              <a:buChar char="-"/>
            </a:pPr>
            <a:r>
              <a:rPr lang="en-AU" dirty="0" smtClean="0"/>
              <a:t>What effect does the outlier have on </a:t>
            </a:r>
          </a:p>
          <a:p>
            <a:pPr lvl="1">
              <a:buFontTx/>
              <a:buChar char="-"/>
            </a:pPr>
            <a:r>
              <a:rPr lang="en-AU" dirty="0" smtClean="0"/>
              <a:t>Mean</a:t>
            </a:r>
          </a:p>
          <a:p>
            <a:pPr lvl="1">
              <a:buFontTx/>
              <a:buChar char="-"/>
            </a:pPr>
            <a:r>
              <a:rPr lang="en-AU" dirty="0" smtClean="0"/>
              <a:t>Median</a:t>
            </a:r>
          </a:p>
          <a:p>
            <a:pPr lvl="1">
              <a:buFontTx/>
              <a:buChar char="-"/>
            </a:pPr>
            <a:r>
              <a:rPr lang="en-AU" dirty="0" smtClean="0"/>
              <a:t>Mode </a:t>
            </a:r>
          </a:p>
          <a:p>
            <a:pPr lvl="1">
              <a:buFontTx/>
              <a:buChar char="-"/>
            </a:pPr>
            <a:r>
              <a:rPr lang="en-AU" dirty="0" smtClean="0"/>
              <a:t>Range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0294182" y="8708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 I </a:t>
            </a:r>
            <a:r>
              <a:rPr lang="en-AU" u="sng" dirty="0" smtClean="0">
                <a:solidFill>
                  <a:srgbClr val="FFFF00"/>
                </a:solidFill>
              </a:rPr>
              <a:t>C</a:t>
            </a:r>
            <a:r>
              <a:rPr lang="en-AU" dirty="0" smtClean="0"/>
              <a:t> O 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117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1595</TotalTime>
  <Words>432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Berlin</vt:lpstr>
      <vt:lpstr>Outliers</vt:lpstr>
      <vt:lpstr>Learning Objectives </vt:lpstr>
      <vt:lpstr>Outliers EQ –  How does an outlier effect the measures of centre and spread?   </vt:lpstr>
      <vt:lpstr>Outliers EQ –  How does an outlier effect the measures of centre and spread?   </vt:lpstr>
      <vt:lpstr>Outliers EQ –  How does an outlier effect the measures of centre and spread?   </vt:lpstr>
      <vt:lpstr>Outliers EQ –  How does an outlier effect the measures of centre and spread?  Task – In pairs  - person A and person B   </vt:lpstr>
      <vt:lpstr>Outliers EQ –  How does an outlier effect the measures of centre and spread?  Task – In pairs  - person A and person B   </vt:lpstr>
      <vt:lpstr>Outliers EQ –  How does an outlier effect the measures of centre and spread?  </vt:lpstr>
      <vt:lpstr>Plenary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72</cp:revision>
  <dcterms:created xsi:type="dcterms:W3CDTF">2019-03-18T23:45:29Z</dcterms:created>
  <dcterms:modified xsi:type="dcterms:W3CDTF">2019-07-28T12:45:55Z</dcterms:modified>
</cp:coreProperties>
</file>
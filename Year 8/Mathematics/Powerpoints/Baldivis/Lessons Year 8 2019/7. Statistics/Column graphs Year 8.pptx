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31" r:id="rId2"/>
    <p:sldId id="337" r:id="rId3"/>
    <p:sldId id="344" r:id="rId4"/>
    <p:sldId id="348" r:id="rId5"/>
    <p:sldId id="347" r:id="rId6"/>
    <p:sldId id="346" r:id="rId7"/>
  </p:sldIdLst>
  <p:sldSz cx="9144000" cy="5715000" type="screen16x1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89850" autoAdjust="0"/>
  </p:normalViewPr>
  <p:slideViewPr>
    <p:cSldViewPr>
      <p:cViewPr varScale="1">
        <p:scale>
          <a:sx n="90" d="100"/>
          <a:sy n="90" d="100"/>
        </p:scale>
        <p:origin x="576" y="62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668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Record data from the class using a hands up survey</a:t>
            </a:r>
          </a:p>
          <a:p>
            <a:r>
              <a:rPr lang="en-AU" dirty="0" smtClean="0"/>
              <a:t>Then use the data to draw a column graph</a:t>
            </a:r>
            <a:r>
              <a:rPr lang="en-AU" baseline="0" dirty="0" smtClean="0"/>
              <a:t> on the board using the axis provide (you’re welcome) make sure you include title </a:t>
            </a:r>
            <a:r>
              <a:rPr lang="en-AU" baseline="0" dirty="0" err="1" smtClean="0"/>
              <a:t>etc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0412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Histograms display </a:t>
            </a:r>
            <a:r>
              <a:rPr lang="en-AU" b="1" dirty="0"/>
              <a:t>continuous numerical </a:t>
            </a:r>
            <a:r>
              <a:rPr lang="en-AU" dirty="0"/>
              <a:t>data without any </a:t>
            </a:r>
            <a:r>
              <a:rPr lang="en-AU" b="1" dirty="0"/>
              <a:t>gaps</a:t>
            </a:r>
            <a:r>
              <a:rPr lang="en-AU" dirty="0"/>
              <a:t>. To create histograms we need to decide on appropriate </a:t>
            </a:r>
            <a:r>
              <a:rPr lang="en-AU" b="1" dirty="0"/>
              <a:t>class width sizes </a:t>
            </a:r>
            <a:r>
              <a:rPr lang="en-AU" dirty="0"/>
              <a:t>and then create a </a:t>
            </a:r>
            <a:r>
              <a:rPr lang="en-AU" b="1" dirty="0"/>
              <a:t>frequency</a:t>
            </a:r>
            <a:r>
              <a:rPr lang="en-AU" dirty="0"/>
              <a:t> table.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1998AB-7CBF-4657-BBB5-55646DC36955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0670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809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619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42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23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04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66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47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</p:spPr>
        <p:txBody>
          <a:bodyPr anchor="t"/>
          <a:lstStyle>
            <a:lvl1pPr algn="l">
              <a:defRPr sz="3333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1pPr>
            <a:lvl2pPr marL="38098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6197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3pPr>
            <a:lvl4pPr marL="114295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4pPr>
            <a:lvl5pPr marL="152393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5pPr>
            <a:lvl6pPr marL="190492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6pPr>
            <a:lvl7pPr marL="228590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7pPr>
            <a:lvl8pPr marL="2666893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8pPr>
            <a:lvl9pPr marL="3047878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333"/>
            </a:lvl1pPr>
            <a:lvl2pPr>
              <a:defRPr sz="2000"/>
            </a:lvl2pPr>
            <a:lvl3pPr>
              <a:defRPr sz="1667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333"/>
            </a:lvl1pPr>
            <a:lvl2pPr>
              <a:defRPr sz="2000"/>
            </a:lvl2pPr>
            <a:lvl3pPr>
              <a:defRPr sz="1667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000"/>
            </a:lvl1pPr>
            <a:lvl2pPr>
              <a:defRPr sz="1667"/>
            </a:lvl2pPr>
            <a:lvl3pPr>
              <a:defRPr sz="15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000"/>
            </a:lvl1pPr>
            <a:lvl2pPr>
              <a:defRPr sz="1667"/>
            </a:lvl2pPr>
            <a:lvl3pPr>
              <a:defRPr sz="15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2/08/2019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2/08/2019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2/08/2019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1667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2667"/>
            </a:lvl1pPr>
            <a:lvl2pPr>
              <a:defRPr sz="2333"/>
            </a:lvl2pPr>
            <a:lvl3pPr>
              <a:defRPr sz="2000"/>
            </a:lvl3pPr>
            <a:lvl4pPr>
              <a:defRPr sz="1667"/>
            </a:lvl4pPr>
            <a:lvl5pPr>
              <a:defRPr sz="1667"/>
            </a:lvl5pPr>
            <a:lvl6pPr>
              <a:defRPr sz="1667"/>
            </a:lvl6pPr>
            <a:lvl7pPr>
              <a:defRPr sz="1667"/>
            </a:lvl7pPr>
            <a:lvl8pPr>
              <a:defRPr sz="1667"/>
            </a:lvl8pPr>
            <a:lvl9pPr>
              <a:defRPr sz="1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167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1667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2667"/>
            </a:lvl1pPr>
            <a:lvl2pPr marL="380985" indent="0">
              <a:buNone/>
              <a:defRPr sz="2333"/>
            </a:lvl2pPr>
            <a:lvl3pPr marL="761970" indent="0">
              <a:buNone/>
              <a:defRPr sz="2000"/>
            </a:lvl3pPr>
            <a:lvl4pPr marL="1142954" indent="0">
              <a:buNone/>
              <a:defRPr sz="1667"/>
            </a:lvl4pPr>
            <a:lvl5pPr marL="1523939" indent="0">
              <a:buNone/>
              <a:defRPr sz="1667"/>
            </a:lvl5pPr>
            <a:lvl6pPr marL="1904924" indent="0">
              <a:buNone/>
              <a:defRPr sz="1667"/>
            </a:lvl6pPr>
            <a:lvl7pPr marL="2285909" indent="0">
              <a:buNone/>
              <a:defRPr sz="1667"/>
            </a:lvl7pPr>
            <a:lvl8pPr marL="2666893" indent="0">
              <a:buNone/>
              <a:defRPr sz="1667"/>
            </a:lvl8pPr>
            <a:lvl9pPr marL="3047878" indent="0">
              <a:buNone/>
              <a:defRPr sz="1667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167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5"/>
            <a:ext cx="2057400" cy="48762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5"/>
            <a:ext cx="6019800" cy="48762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2/08/2019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61970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7619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761970" rtl="0" eaLnBrk="1" latinLnBrk="0" hangingPunct="1">
        <a:spcBef>
          <a:spcPct val="20000"/>
        </a:spcBef>
        <a:buFont typeface="Arial" pitchFamily="34" charset="0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spcBef>
          <a:spcPct val="20000"/>
        </a:spcBef>
        <a:buFont typeface="Arial" pitchFamily="34" charset="0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spcBef>
          <a:spcPct val="20000"/>
        </a:spcBef>
        <a:buFont typeface="Arial" pitchFamily="34" charset="0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052E964-2C96-4483-A97C-D2C618037D09}"/>
              </a:ext>
            </a:extLst>
          </p:cNvPr>
          <p:cNvSpPr/>
          <p:nvPr/>
        </p:nvSpPr>
        <p:spPr>
          <a:xfrm>
            <a:off x="251520" y="337220"/>
            <a:ext cx="8496944" cy="2446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 smtClean="0"/>
              <a:t>FIRST </a:t>
            </a:r>
            <a:r>
              <a:rPr lang="en-AU" b="1" dirty="0" smtClean="0"/>
              <a:t>5</a:t>
            </a:r>
            <a:endParaRPr lang="en-AU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dirty="0" smtClean="0"/>
              <a:t>Write your summary for your last lesson</a:t>
            </a:r>
            <a:endParaRPr lang="en-AU" dirty="0" smtClean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dirty="0" smtClean="0"/>
              <a:t>What is an outlier?</a:t>
            </a:r>
            <a:endParaRPr lang="en-AU" dirty="0" smtClean="0"/>
          </a:p>
          <a:p>
            <a:pPr>
              <a:lnSpc>
                <a:spcPct val="150000"/>
              </a:lnSpc>
            </a:pPr>
            <a:r>
              <a:rPr lang="en-AU" dirty="0" smtClean="0"/>
              <a:t>3. What is the outlier for : 3, 4, 4, 7, 51, 6, 2, 9, 9</a:t>
            </a:r>
          </a:p>
          <a:p>
            <a:pPr>
              <a:lnSpc>
                <a:spcPct val="150000"/>
              </a:lnSpc>
            </a:pPr>
            <a:r>
              <a:rPr lang="en-AU" dirty="0" smtClean="0"/>
              <a:t>4. </a:t>
            </a:r>
            <a:r>
              <a:rPr lang="en-AU" dirty="0" smtClean="0"/>
              <a:t>What type of data can be represented in column graphs?</a:t>
            </a:r>
          </a:p>
          <a:p>
            <a:pPr>
              <a:lnSpc>
                <a:spcPct val="150000"/>
              </a:lnSpc>
            </a:pPr>
            <a:r>
              <a:rPr lang="en-AU" dirty="0" smtClean="0"/>
              <a:t>5. What gets wetter as it dries?</a:t>
            </a:r>
            <a:endParaRPr lang="en-AU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2713484"/>
            <a:ext cx="1783085" cy="237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902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A4DFAF-EE34-4E1D-8CDC-6A592D2B9812}"/>
              </a:ext>
            </a:extLst>
          </p:cNvPr>
          <p:cNvSpPr txBox="1"/>
          <p:nvPr/>
        </p:nvSpPr>
        <p:spPr>
          <a:xfrm>
            <a:off x="827584" y="193204"/>
            <a:ext cx="72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u="sng" dirty="0"/>
              <a:t>Today’s lesson is about </a:t>
            </a:r>
            <a:r>
              <a:rPr lang="en-AU" sz="2000" u="sng" dirty="0" smtClean="0"/>
              <a:t>Column graphs</a:t>
            </a:r>
            <a:r>
              <a:rPr lang="en-AU" sz="2000" u="sng" dirty="0" smtClean="0"/>
              <a:t>. </a:t>
            </a:r>
            <a:endParaRPr lang="en-AU" sz="2000" u="sng" dirty="0"/>
          </a:p>
          <a:p>
            <a:endParaRPr lang="en-AU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72DB47-FDB8-4991-9DB1-FCD6AEC5EF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860766"/>
            <a:ext cx="5715000" cy="25050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196950-21A1-4981-B121-593AF8F184D6}"/>
              </a:ext>
            </a:extLst>
          </p:cNvPr>
          <p:cNvSpPr txBox="1"/>
          <p:nvPr/>
        </p:nvSpPr>
        <p:spPr>
          <a:xfrm>
            <a:off x="2490960" y="1367555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Gaps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96C9F9D-4778-4F15-BFF3-018F0B6C98B5}"/>
              </a:ext>
            </a:extLst>
          </p:cNvPr>
          <p:cNvCxnSpPr>
            <a:cxnSpLocks/>
          </p:cNvCxnSpPr>
          <p:nvPr/>
        </p:nvCxnSpPr>
        <p:spPr>
          <a:xfrm flipH="1">
            <a:off x="2267744" y="1705372"/>
            <a:ext cx="432048" cy="1407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5E4782A-1ECE-433F-9EAD-F782B4F19E9A}"/>
              </a:ext>
            </a:extLst>
          </p:cNvPr>
          <p:cNvCxnSpPr>
            <a:cxnSpLocks/>
          </p:cNvCxnSpPr>
          <p:nvPr/>
        </p:nvCxnSpPr>
        <p:spPr>
          <a:xfrm flipH="1">
            <a:off x="2627784" y="1705372"/>
            <a:ext cx="144016" cy="1407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33173A9-9740-4309-8291-929D4C3E141D}"/>
              </a:ext>
            </a:extLst>
          </p:cNvPr>
          <p:cNvCxnSpPr>
            <a:cxnSpLocks/>
          </p:cNvCxnSpPr>
          <p:nvPr/>
        </p:nvCxnSpPr>
        <p:spPr>
          <a:xfrm>
            <a:off x="2915816" y="1705372"/>
            <a:ext cx="72008" cy="1557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B2E56C-C26A-4E45-AA7C-9B606C8E1D02}"/>
              </a:ext>
            </a:extLst>
          </p:cNvPr>
          <p:cNvCxnSpPr>
            <a:cxnSpLocks/>
          </p:cNvCxnSpPr>
          <p:nvPr/>
        </p:nvCxnSpPr>
        <p:spPr>
          <a:xfrm>
            <a:off x="3026210" y="1729930"/>
            <a:ext cx="297653" cy="1533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17F285C-32AC-4C8D-A5B8-EB29BF242B55}"/>
              </a:ext>
            </a:extLst>
          </p:cNvPr>
          <p:cNvSpPr txBox="1"/>
          <p:nvPr/>
        </p:nvSpPr>
        <p:spPr>
          <a:xfrm>
            <a:off x="5606480" y="1372518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No Gaps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D8DD201-1894-44CC-99A0-DC2485EAA718}"/>
              </a:ext>
            </a:extLst>
          </p:cNvPr>
          <p:cNvSpPr txBox="1"/>
          <p:nvPr/>
        </p:nvSpPr>
        <p:spPr>
          <a:xfrm>
            <a:off x="1598257" y="4365841"/>
            <a:ext cx="2855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Data is categorical and bars can be swapped around 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95F3A5B-1E5E-43F7-9E28-723C67031D0A}"/>
              </a:ext>
            </a:extLst>
          </p:cNvPr>
          <p:cNvCxnSpPr/>
          <p:nvPr/>
        </p:nvCxnSpPr>
        <p:spPr>
          <a:xfrm flipV="1">
            <a:off x="1979712" y="3904346"/>
            <a:ext cx="288032" cy="461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3060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1" grpId="0"/>
      <p:bldP spid="4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6038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896918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5761" y="6383"/>
            <a:ext cx="4800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23728" y="903516"/>
            <a:ext cx="0" cy="41657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5576" y="49806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048" y="503406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037" y="1006950"/>
            <a:ext cx="211372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What is a </a:t>
            </a:r>
            <a:r>
              <a:rPr lang="en-AU" sz="1500" dirty="0" smtClean="0"/>
              <a:t>column graph</a:t>
            </a:r>
            <a:r>
              <a:rPr lang="en-AU" sz="1500" dirty="0" smtClean="0"/>
              <a:t>?</a:t>
            </a:r>
            <a:endParaRPr lang="en-AU" sz="1500" dirty="0"/>
          </a:p>
        </p:txBody>
      </p:sp>
      <p:sp>
        <p:nvSpPr>
          <p:cNvPr id="5" name="TextBox 4"/>
          <p:cNvSpPr txBox="1"/>
          <p:nvPr/>
        </p:nvSpPr>
        <p:spPr>
          <a:xfrm>
            <a:off x="2313162" y="1025811"/>
            <a:ext cx="657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</a:t>
            </a:r>
            <a:r>
              <a:rPr lang="en-AU" dirty="0" smtClean="0"/>
              <a:t>Column graph</a:t>
            </a:r>
            <a:r>
              <a:rPr lang="en-AU" dirty="0" smtClean="0"/>
              <a:t> </a:t>
            </a:r>
            <a:r>
              <a:rPr lang="en-AU" dirty="0"/>
              <a:t>shows the </a:t>
            </a:r>
            <a:r>
              <a:rPr lang="en-AU" b="1" u="sng" dirty="0"/>
              <a:t>frequency</a:t>
            </a:r>
            <a:r>
              <a:rPr lang="en-AU" dirty="0"/>
              <a:t> </a:t>
            </a:r>
            <a:r>
              <a:rPr lang="en-AU" dirty="0" smtClean="0"/>
              <a:t>of </a:t>
            </a:r>
            <a:r>
              <a:rPr lang="en-AU" b="1" dirty="0" smtClean="0"/>
              <a:t>categorical</a:t>
            </a:r>
            <a:r>
              <a:rPr lang="en-AU" dirty="0" smtClean="0"/>
              <a:t> </a:t>
            </a:r>
            <a:r>
              <a:rPr lang="en-AU" dirty="0"/>
              <a:t>data.  </a:t>
            </a:r>
            <a:endParaRPr lang="en-AU" b="1" u="sng" dirty="0"/>
          </a:p>
        </p:txBody>
      </p:sp>
      <p:sp>
        <p:nvSpPr>
          <p:cNvPr id="8" name="TextBox 7"/>
          <p:cNvSpPr txBox="1"/>
          <p:nvPr/>
        </p:nvSpPr>
        <p:spPr>
          <a:xfrm>
            <a:off x="2627784" y="1921396"/>
            <a:ext cx="32117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Step 1: Decide on the categories</a:t>
            </a:r>
          </a:p>
          <a:p>
            <a:r>
              <a:rPr lang="en-AU" dirty="0" smtClean="0"/>
              <a:t>Step 2: Create table</a:t>
            </a:r>
          </a:p>
          <a:p>
            <a:r>
              <a:rPr lang="en-AU" dirty="0" smtClean="0"/>
              <a:t>Step 3: Draw column graph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4414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409228"/>
            <a:ext cx="82766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Example: What is your favourite school subject out of Math, English, HASS and Science.</a:t>
            </a:r>
          </a:p>
          <a:p>
            <a:endParaRPr lang="en-AU" dirty="0"/>
          </a:p>
          <a:p>
            <a:endParaRPr lang="en-AU" dirty="0" smtClean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928962"/>
              </p:ext>
            </p:extLst>
          </p:nvPr>
        </p:nvGraphicFramePr>
        <p:xfrm>
          <a:off x="539553" y="1561356"/>
          <a:ext cx="3312369" cy="23042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123">
                  <a:extLst>
                    <a:ext uri="{9D8B030D-6E8A-4147-A177-3AD203B41FA5}">
                      <a16:colId xmlns:a16="http://schemas.microsoft.com/office/drawing/2014/main" val="647095025"/>
                    </a:ext>
                  </a:extLst>
                </a:gridCol>
                <a:gridCol w="1104123">
                  <a:extLst>
                    <a:ext uri="{9D8B030D-6E8A-4147-A177-3AD203B41FA5}">
                      <a16:colId xmlns:a16="http://schemas.microsoft.com/office/drawing/2014/main" val="2319333449"/>
                    </a:ext>
                  </a:extLst>
                </a:gridCol>
                <a:gridCol w="1104123">
                  <a:extLst>
                    <a:ext uri="{9D8B030D-6E8A-4147-A177-3AD203B41FA5}">
                      <a16:colId xmlns:a16="http://schemas.microsoft.com/office/drawing/2014/main" val="2567831866"/>
                    </a:ext>
                  </a:extLst>
                </a:gridCol>
              </a:tblGrid>
              <a:tr h="460851">
                <a:tc>
                  <a:txBody>
                    <a:bodyPr/>
                    <a:lstStyle/>
                    <a:p>
                      <a:r>
                        <a:rPr lang="en-AU" dirty="0" smtClean="0"/>
                        <a:t>Subject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Tally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Frequency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0450240"/>
                  </a:ext>
                </a:extLst>
              </a:tr>
              <a:tr h="460851">
                <a:tc>
                  <a:txBody>
                    <a:bodyPr/>
                    <a:lstStyle/>
                    <a:p>
                      <a:r>
                        <a:rPr lang="en-AU" dirty="0" smtClean="0"/>
                        <a:t>Math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593710"/>
                  </a:ext>
                </a:extLst>
              </a:tr>
              <a:tr h="460851">
                <a:tc>
                  <a:txBody>
                    <a:bodyPr/>
                    <a:lstStyle/>
                    <a:p>
                      <a:r>
                        <a:rPr lang="en-AU" dirty="0" smtClean="0"/>
                        <a:t>Science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654841"/>
                  </a:ext>
                </a:extLst>
              </a:tr>
              <a:tr h="460851">
                <a:tc>
                  <a:txBody>
                    <a:bodyPr/>
                    <a:lstStyle/>
                    <a:p>
                      <a:r>
                        <a:rPr lang="en-AU" dirty="0" smtClean="0"/>
                        <a:t>HASS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7739889"/>
                  </a:ext>
                </a:extLst>
              </a:tr>
              <a:tr h="460851">
                <a:tc>
                  <a:txBody>
                    <a:bodyPr/>
                    <a:lstStyle/>
                    <a:p>
                      <a:r>
                        <a:rPr lang="en-AU" dirty="0" smtClean="0"/>
                        <a:t>English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448061"/>
                  </a:ext>
                </a:extLst>
              </a:tr>
            </a:tbl>
          </a:graphicData>
        </a:graphic>
      </p:graphicFrame>
      <p:pic>
        <p:nvPicPr>
          <p:cNvPr id="1026" name="Picture 2" descr="Image result for blank axis column grap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920965"/>
            <a:ext cx="337185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0304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1600" y="193204"/>
            <a:ext cx="70457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 smtClean="0"/>
              <a:t>Activity</a:t>
            </a:r>
          </a:p>
          <a:p>
            <a:endParaRPr lang="en-AU" dirty="0"/>
          </a:p>
          <a:p>
            <a:r>
              <a:rPr lang="en-AU" dirty="0" smtClean="0"/>
              <a:t>We are going to conduct a mini experiment for collecting categorical data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827584" y="1633364"/>
            <a:ext cx="652839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Step 1: Pick a topic or make your own ( it has to be categorical data)</a:t>
            </a:r>
          </a:p>
          <a:p>
            <a:endParaRPr lang="en-AU" dirty="0"/>
          </a:p>
          <a:p>
            <a:r>
              <a:rPr lang="en-AU" dirty="0" smtClean="0"/>
              <a:t>Potential topics:</a:t>
            </a:r>
          </a:p>
          <a:p>
            <a:pPr marL="285750" indent="-285750">
              <a:buFontTx/>
              <a:buChar char="-"/>
            </a:pPr>
            <a:r>
              <a:rPr lang="en-AU" dirty="0" smtClean="0"/>
              <a:t>Favourite brand of shoes</a:t>
            </a:r>
          </a:p>
          <a:p>
            <a:pPr marL="285750" indent="-285750">
              <a:buFontTx/>
              <a:buChar char="-"/>
            </a:pPr>
            <a:r>
              <a:rPr lang="en-AU" dirty="0" smtClean="0"/>
              <a:t>Favourite chocolate in a favourites box</a:t>
            </a:r>
          </a:p>
          <a:p>
            <a:pPr marL="285750" indent="-285750">
              <a:buFontTx/>
              <a:buChar char="-"/>
            </a:pPr>
            <a:r>
              <a:rPr lang="en-AU" dirty="0" smtClean="0"/>
              <a:t>Favourite sports team</a:t>
            </a:r>
          </a:p>
          <a:p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1006664" y="3793604"/>
            <a:ext cx="53411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Step 2: Draw up a table to collect your data</a:t>
            </a:r>
          </a:p>
          <a:p>
            <a:r>
              <a:rPr lang="en-AU" dirty="0" smtClean="0"/>
              <a:t>Step 3: Collect the data from the class</a:t>
            </a:r>
          </a:p>
          <a:p>
            <a:r>
              <a:rPr lang="en-AU" dirty="0" smtClean="0"/>
              <a:t>Step 4: Draw a column graph for the data you collected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62979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2F2C01-060F-43EC-9303-7B4905DE55C0}"/>
              </a:ext>
            </a:extLst>
          </p:cNvPr>
          <p:cNvSpPr txBox="1"/>
          <p:nvPr/>
        </p:nvSpPr>
        <p:spPr>
          <a:xfrm>
            <a:off x="1475656" y="1705372"/>
            <a:ext cx="5512444" cy="2793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50" b="1" dirty="0" smtClean="0"/>
              <a:t>Summary: </a:t>
            </a:r>
            <a:endParaRPr lang="en-AU" sz="1350" b="1" dirty="0"/>
          </a:p>
          <a:p>
            <a:pPr>
              <a:lnSpc>
                <a:spcPct val="150000"/>
              </a:lnSpc>
            </a:pPr>
            <a:endParaRPr lang="en-AU" sz="1350" dirty="0"/>
          </a:p>
          <a:p>
            <a:pPr>
              <a:lnSpc>
                <a:spcPct val="150000"/>
              </a:lnSpc>
            </a:pPr>
            <a:r>
              <a:rPr lang="en-AU" sz="1350" dirty="0" smtClean="0"/>
              <a:t>Column graphs</a:t>
            </a:r>
            <a:r>
              <a:rPr lang="en-AU" sz="1350" dirty="0" smtClean="0"/>
              <a:t> </a:t>
            </a:r>
            <a:r>
              <a:rPr lang="en-AU" sz="1350" dirty="0"/>
              <a:t>display______________________________ </a:t>
            </a:r>
            <a:r>
              <a:rPr lang="en-AU" sz="1350" dirty="0" smtClean="0"/>
              <a:t>data.</a:t>
            </a:r>
            <a:endParaRPr lang="en-AU" sz="1350" dirty="0"/>
          </a:p>
          <a:p>
            <a:pPr>
              <a:lnSpc>
                <a:spcPct val="150000"/>
              </a:lnSpc>
            </a:pPr>
            <a:r>
              <a:rPr lang="en-AU" sz="1350" dirty="0"/>
              <a:t>To create </a:t>
            </a:r>
            <a:r>
              <a:rPr lang="en-AU" sz="1350" dirty="0" smtClean="0"/>
              <a:t>column graphs</a:t>
            </a:r>
            <a:r>
              <a:rPr lang="en-AU" sz="1350" dirty="0" smtClean="0"/>
              <a:t> </a:t>
            </a:r>
            <a:r>
              <a:rPr lang="en-AU" sz="1350" dirty="0"/>
              <a:t>we need to decide on appropriate _________________ and then create a ______________ table. </a:t>
            </a:r>
            <a:endParaRPr lang="en-AU" sz="1350" dirty="0" smtClean="0"/>
          </a:p>
          <a:p>
            <a:pPr>
              <a:lnSpc>
                <a:spcPct val="150000"/>
              </a:lnSpc>
            </a:pPr>
            <a:endParaRPr lang="en-AU" sz="1350" dirty="0"/>
          </a:p>
          <a:p>
            <a:pPr>
              <a:lnSpc>
                <a:spcPct val="150000"/>
              </a:lnSpc>
            </a:pPr>
            <a:endParaRPr lang="en-AU" sz="1350" dirty="0" smtClean="0"/>
          </a:p>
          <a:p>
            <a:pPr>
              <a:lnSpc>
                <a:spcPct val="150000"/>
              </a:lnSpc>
            </a:pPr>
            <a:endParaRPr lang="en-AU" sz="1350" dirty="0"/>
          </a:p>
          <a:p>
            <a:pPr>
              <a:lnSpc>
                <a:spcPct val="150000"/>
              </a:lnSpc>
            </a:pPr>
            <a:r>
              <a:rPr lang="en-AU" sz="1350" dirty="0" smtClean="0"/>
              <a:t>EXIT PASS, completed summary allows you to leave the class.</a:t>
            </a:r>
            <a:endParaRPr lang="en-AU" sz="1350" dirty="0"/>
          </a:p>
        </p:txBody>
      </p:sp>
      <p:sp>
        <p:nvSpPr>
          <p:cNvPr id="3" name="Rectangle 2"/>
          <p:cNvSpPr/>
          <p:nvPr/>
        </p:nvSpPr>
        <p:spPr>
          <a:xfrm>
            <a:off x="323528" y="193204"/>
            <a:ext cx="274164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Sentence Frame</a:t>
            </a:r>
            <a:r>
              <a:rPr lang="en-US" sz="2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</a:t>
            </a:r>
            <a:r>
              <a:rPr lang="en-US" sz="20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W</a:t>
            </a:r>
            <a:r>
              <a:rPr lang="en-US" sz="2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ICOR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3637" y="193204"/>
            <a:ext cx="2828925" cy="16192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371904" y="503012"/>
            <a:ext cx="1232389" cy="89255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AVID</a:t>
            </a:r>
          </a:p>
          <a:p>
            <a:pPr algn="ctr"/>
            <a:r>
              <a:rPr lang="en-US" sz="12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strategy</a:t>
            </a:r>
            <a:endParaRPr lang="en-US" sz="12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66094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12871</TotalTime>
  <Words>347</Words>
  <Application>Microsoft Office PowerPoint</Application>
  <PresentationFormat>On-screen Show (16:10)</PresentationFormat>
  <Paragraphs>60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MORGAN Adam [Baldivis Secondary College]</cp:lastModifiedBy>
  <cp:revision>108</cp:revision>
  <dcterms:created xsi:type="dcterms:W3CDTF">2014-05-14T02:58:57Z</dcterms:created>
  <dcterms:modified xsi:type="dcterms:W3CDTF">2019-08-02T07:47:33Z</dcterms:modified>
</cp:coreProperties>
</file>
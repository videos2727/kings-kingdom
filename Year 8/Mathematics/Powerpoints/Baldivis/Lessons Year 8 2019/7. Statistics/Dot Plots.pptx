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6"/>
  </p:notesMasterIdLst>
  <p:handoutMasterIdLst>
    <p:handoutMasterId r:id="rId17"/>
  </p:handoutMasterIdLst>
  <p:sldIdLst>
    <p:sldId id="344" r:id="rId5"/>
    <p:sldId id="343" r:id="rId6"/>
    <p:sldId id="268" r:id="rId7"/>
    <p:sldId id="317" r:id="rId8"/>
    <p:sldId id="341" r:id="rId9"/>
    <p:sldId id="338" r:id="rId10"/>
    <p:sldId id="333" r:id="rId11"/>
    <p:sldId id="340" r:id="rId12"/>
    <p:sldId id="329" r:id="rId13"/>
    <p:sldId id="280" r:id="rId14"/>
    <p:sldId id="31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8" autoAdjust="0"/>
    <p:restoredTop sz="89973"/>
  </p:normalViewPr>
  <p:slideViewPr>
    <p:cSldViewPr snapToGrid="0">
      <p:cViewPr varScale="1">
        <p:scale>
          <a:sx n="61" d="100"/>
          <a:sy n="61" d="100"/>
        </p:scale>
        <p:origin x="1392" y="4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8/12/2019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8/12/2019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Students are creating a human dot plot with the numbers</a:t>
            </a:r>
            <a:r>
              <a:rPr lang="en-US" baseline="0" dirty="0"/>
              <a:t> 1-12 representing the months of the year. A little practical pre-activity that introduces them to what they’re about to create on paper.</a:t>
            </a:r>
          </a:p>
          <a:p>
            <a:endParaRPr lang="en-US" baseline="0" dirty="0"/>
          </a:p>
          <a:p>
            <a:r>
              <a:rPr lang="en-US" baseline="0" dirty="0"/>
              <a:t>You can do this survey with anything else you might want (</a:t>
            </a:r>
            <a:r>
              <a:rPr lang="en-US" baseline="0" dirty="0" err="1"/>
              <a:t>instagram</a:t>
            </a:r>
            <a:r>
              <a:rPr lang="en-US" baseline="0" dirty="0"/>
              <a:t> followers, </a:t>
            </a:r>
            <a:r>
              <a:rPr lang="en-US" baseline="0" dirty="0" err="1"/>
              <a:t>favourite</a:t>
            </a:r>
            <a:r>
              <a:rPr lang="en-US" baseline="0" dirty="0"/>
              <a:t> </a:t>
            </a:r>
            <a:r>
              <a:rPr lang="en-US" baseline="0" dirty="0" err="1"/>
              <a:t>colours</a:t>
            </a:r>
            <a:r>
              <a:rPr lang="en-US" baseline="0" dirty="0"/>
              <a:t>, etc...)</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2</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 students through the question.</a:t>
            </a:r>
          </a:p>
          <a:p>
            <a:r>
              <a:rPr lang="en-AU" dirty="0"/>
              <a:t>Option</a:t>
            </a:r>
            <a:r>
              <a:rPr lang="en-AU" baseline="0" dirty="0"/>
              <a:t> 2: Dot plots handout (Scaffolded for kids who may need </a:t>
            </a:r>
            <a:r>
              <a:rPr lang="en-AU" baseline="0"/>
              <a:t>extra help)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998417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Statistics Foldable</a:t>
            </a:r>
            <a:r>
              <a:rPr lang="en-US" baseline="0" dirty="0"/>
              <a:t> works with both dot plots and histograms, so may be good to start now and add on to once we get to histograms. Or just wait until histograms, your call, Teach.</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8</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8/12/2019</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8/12/2019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8/12/2019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415368" y="2194560"/>
            <a:ext cx="449342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2CCFE9AC-F15C-4FA0-A6F1-298829FA691D}" type="datetimeFigureOut">
              <a:rPr lang="en-US"/>
              <a:t>8/12/2019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2CCFE9AC-F15C-4FA0-A6F1-298829FA691D}" type="datetimeFigureOut">
              <a:rPr lang="en-US"/>
              <a:t>8/12/2019</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8/12/2019</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8/12/2019</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8/12/2019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8/12/2019</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8/12/2019</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8/12/2019</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a:t>
            </a:r>
          </a:p>
          <a:p>
            <a:pPr lvl="6"/>
            <a:r>
              <a:t>Seventh</a:t>
            </a:r>
          </a:p>
          <a:p>
            <a:pPr lvl="7"/>
            <a:r>
              <a:t>Eighth</a:t>
            </a:r>
          </a:p>
          <a:p>
            <a:pPr lvl="8"/>
            <a: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8/12/2019</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66D2-BFCF-43B6-B555-55F8502556B8}"/>
              </a:ext>
            </a:extLst>
          </p:cNvPr>
          <p:cNvSpPr>
            <a:spLocks noGrp="1"/>
          </p:cNvSpPr>
          <p:nvPr>
            <p:ph type="title"/>
          </p:nvPr>
        </p:nvSpPr>
        <p:spPr/>
        <p:txBody>
          <a:bodyPr/>
          <a:lstStyle/>
          <a:p>
            <a:r>
              <a:rPr lang="en-AU" dirty="0"/>
              <a:t>5 Questions</a:t>
            </a:r>
          </a:p>
        </p:txBody>
      </p:sp>
      <p:sp>
        <p:nvSpPr>
          <p:cNvPr id="3" name="TextBox 2">
            <a:extLst>
              <a:ext uri="{FF2B5EF4-FFF2-40B4-BE49-F238E27FC236}">
                <a16:creationId xmlns:a16="http://schemas.microsoft.com/office/drawing/2014/main" id="{8FA9C710-D925-4EA1-9584-A3ED1B349FB7}"/>
              </a:ext>
            </a:extLst>
          </p:cNvPr>
          <p:cNvSpPr txBox="1"/>
          <p:nvPr/>
        </p:nvSpPr>
        <p:spPr>
          <a:xfrm>
            <a:off x="504497" y="1591973"/>
            <a:ext cx="10878206" cy="5632311"/>
          </a:xfrm>
          <a:prstGeom prst="rect">
            <a:avLst/>
          </a:prstGeom>
          <a:noFill/>
        </p:spPr>
        <p:txBody>
          <a:bodyPr wrap="square" rtlCol="0">
            <a:spAutoFit/>
          </a:bodyPr>
          <a:lstStyle/>
          <a:p>
            <a:endParaRPr lang="en-AU" sz="2000" dirty="0"/>
          </a:p>
          <a:p>
            <a:r>
              <a:rPr lang="en-AU" sz="2000" dirty="0"/>
              <a:t>		12, 34, 35, 36, 36, 37, 37, 38, 38, 39, 40</a:t>
            </a:r>
          </a:p>
          <a:p>
            <a:endParaRPr lang="en-AU" sz="2000" dirty="0"/>
          </a:p>
          <a:p>
            <a:r>
              <a:rPr lang="en-AU" sz="2000" dirty="0"/>
              <a:t>1. Using the data above,</a:t>
            </a:r>
          </a:p>
          <a:p>
            <a:r>
              <a:rPr lang="en-AU" sz="2000" dirty="0"/>
              <a:t>	a) What is the mean,</a:t>
            </a:r>
          </a:p>
          <a:p>
            <a:r>
              <a:rPr lang="en-AU" sz="2000" dirty="0"/>
              <a:t>	b) what is the mode</a:t>
            </a:r>
          </a:p>
          <a:p>
            <a:r>
              <a:rPr lang="en-AU" sz="2000" dirty="0"/>
              <a:t>	c) what is the median.</a:t>
            </a:r>
          </a:p>
          <a:p>
            <a:endParaRPr lang="en-AU" sz="2000" dirty="0"/>
          </a:p>
          <a:p>
            <a:r>
              <a:rPr lang="en-AU" sz="2000" dirty="0"/>
              <a:t>2. Which number is the outlier?</a:t>
            </a:r>
          </a:p>
          <a:p>
            <a:endParaRPr lang="en-AU" sz="2000" dirty="0"/>
          </a:p>
          <a:p>
            <a:r>
              <a:rPr lang="en-AU" sz="2000" dirty="0"/>
              <a:t>3. What would happen to the mean, the mode and the median if the outlier were removed?</a:t>
            </a:r>
          </a:p>
          <a:p>
            <a:endParaRPr lang="en-AU" sz="2000" dirty="0"/>
          </a:p>
          <a:p>
            <a:r>
              <a:rPr lang="en-AU" sz="2000" dirty="0"/>
              <a:t>4. Simplify the following.</a:t>
            </a:r>
          </a:p>
          <a:p>
            <a:r>
              <a:rPr lang="en-AU" sz="2000" dirty="0"/>
              <a:t>	4ab + 6a – 3ab  + 2b – a =</a:t>
            </a:r>
          </a:p>
          <a:p>
            <a:endParaRPr lang="en-AU" sz="2000" dirty="0"/>
          </a:p>
          <a:p>
            <a:r>
              <a:rPr lang="en-AU" sz="2000" dirty="0"/>
              <a:t>5. Complete your summary from yesterday.</a:t>
            </a:r>
          </a:p>
          <a:p>
            <a:endParaRPr lang="en-AU" sz="2000" dirty="0"/>
          </a:p>
          <a:p>
            <a:endParaRPr lang="en-AU" sz="2000" dirty="0"/>
          </a:p>
        </p:txBody>
      </p:sp>
    </p:spTree>
    <p:extLst>
      <p:ext uri="{BB962C8B-B14F-4D97-AF65-F5344CB8AC3E}">
        <p14:creationId xmlns:p14="http://schemas.microsoft.com/office/powerpoint/2010/main" val="709723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Starter Activity </a:t>
            </a:r>
            <a:r>
              <a:rPr lang="mr-IN" dirty="0"/>
              <a:t>–</a:t>
            </a:r>
            <a:r>
              <a:rPr lang="en-US" dirty="0"/>
              <a:t> To be done in the classroom if space permits, or in the hallway/outside with chalk</a:t>
            </a:r>
          </a:p>
        </p:txBody>
      </p:sp>
      <p:sp>
        <p:nvSpPr>
          <p:cNvPr id="3" name="TextBox 2"/>
          <p:cNvSpPr txBox="1"/>
          <p:nvPr/>
        </p:nvSpPr>
        <p:spPr>
          <a:xfrm>
            <a:off x="367990" y="2230244"/>
            <a:ext cx="10738625" cy="3416320"/>
          </a:xfrm>
          <a:prstGeom prst="rect">
            <a:avLst/>
          </a:prstGeom>
          <a:noFill/>
        </p:spPr>
        <p:txBody>
          <a:bodyPr wrap="square" rtlCol="0">
            <a:spAutoFit/>
          </a:bodyPr>
          <a:lstStyle/>
          <a:p>
            <a:pPr marL="285750" indent="-285750">
              <a:buFont typeface="Arial" charset="0"/>
              <a:buChar char="•"/>
            </a:pPr>
            <a:r>
              <a:rPr lang="en-US" sz="2400" dirty="0"/>
              <a:t>Wherever you are, mark a number line out (with tape, chalk, etc...), close to or on the ground, over a significant distance (ex </a:t>
            </a:r>
            <a:r>
              <a:rPr lang="mr-IN" sz="2400" dirty="0"/>
              <a:t>–</a:t>
            </a:r>
            <a:r>
              <a:rPr lang="en-US" sz="2400" dirty="0"/>
              <a:t> half the width of a classroom)</a:t>
            </a:r>
          </a:p>
          <a:p>
            <a:pPr marL="285750" indent="-285750">
              <a:buFont typeface="Arial" charset="0"/>
              <a:buChar char="•"/>
            </a:pPr>
            <a:endParaRPr lang="en-US" sz="2400" dirty="0"/>
          </a:p>
          <a:p>
            <a:pPr marL="285750" indent="-285750">
              <a:buFont typeface="Arial" charset="0"/>
              <a:buChar char="•"/>
            </a:pPr>
            <a:r>
              <a:rPr lang="en-US" sz="2400" dirty="0"/>
              <a:t>Number the intervals 1-12</a:t>
            </a:r>
          </a:p>
          <a:p>
            <a:pPr marL="285750" indent="-285750">
              <a:buFont typeface="Arial" charset="0"/>
              <a:buChar char="•"/>
            </a:pPr>
            <a:endParaRPr lang="en-US" sz="2400" dirty="0"/>
          </a:p>
          <a:p>
            <a:pPr marL="285750" indent="-285750">
              <a:buFont typeface="Arial" charset="0"/>
              <a:buChar char="•"/>
            </a:pPr>
            <a:r>
              <a:rPr lang="en-US" sz="2400" dirty="0"/>
              <a:t>Have students arrange themselves in the number that corresponds with their birth month ( 1- Jan, 2 </a:t>
            </a:r>
            <a:r>
              <a:rPr lang="mr-IN" sz="2400" dirty="0"/>
              <a:t>–</a:t>
            </a:r>
            <a:r>
              <a:rPr lang="en-US" sz="2400" dirty="0"/>
              <a:t> Feb, 3 </a:t>
            </a:r>
            <a:r>
              <a:rPr lang="mr-IN" sz="2400" dirty="0"/>
              <a:t>–</a:t>
            </a:r>
            <a:r>
              <a:rPr lang="en-US" sz="2400" dirty="0"/>
              <a:t> Mar, etc...)</a:t>
            </a:r>
          </a:p>
          <a:p>
            <a:pPr marL="285750" indent="-285750">
              <a:buFont typeface="Arial" charset="0"/>
              <a:buChar char="•"/>
            </a:pPr>
            <a:endParaRPr lang="en-US" sz="2400" dirty="0"/>
          </a:p>
          <a:p>
            <a:pPr marL="285750" indent="-285750">
              <a:buFont typeface="Arial" charset="0"/>
              <a:buChar char="•"/>
            </a:pPr>
            <a:r>
              <a:rPr lang="en-US" sz="2400" dirty="0"/>
              <a:t>What type of graph might this be? </a:t>
            </a:r>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a:t>Summary:</a:t>
            </a:r>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Dot Plots</a:t>
            </a:r>
            <a:br>
              <a:rPr lang="en-US" dirty="0"/>
            </a:br>
            <a:r>
              <a:rPr lang="en-US" dirty="0"/>
              <a:t>EQ: </a:t>
            </a:r>
            <a:r>
              <a:rPr lang="en-US" sz="2900" dirty="0"/>
              <a:t>What are dot plots and why do we use them to display data? </a:t>
            </a:r>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Dot Plots</a:t>
            </a:r>
            <a:br>
              <a:rPr lang="en-US" dirty="0"/>
            </a:br>
            <a:r>
              <a:rPr lang="en-US" dirty="0"/>
              <a:t>EQ: </a:t>
            </a:r>
            <a:r>
              <a:rPr lang="en-US" sz="2900" dirty="0"/>
              <a:t>What are dot plots and why do we use them to display data? </a:t>
            </a:r>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cxnSp>
        <p:nvCxnSpPr>
          <p:cNvPr id="63" name="Straight Connector 62"/>
          <p:cNvCxnSpPr/>
          <p:nvPr/>
        </p:nvCxnSpPr>
        <p:spPr>
          <a:xfrm flipH="1">
            <a:off x="1497159" y="1790700"/>
            <a:ext cx="19407" cy="5067300"/>
          </a:xfrm>
          <a:prstGeom prst="line">
            <a:avLst/>
          </a:prstGeom>
        </p:spPr>
        <p:style>
          <a:lnRef idx="1">
            <a:schemeClr val="accent2"/>
          </a:lnRef>
          <a:fillRef idx="0">
            <a:schemeClr val="accent2"/>
          </a:fillRef>
          <a:effectRef idx="0">
            <a:schemeClr val="accent2"/>
          </a:effectRef>
          <a:fontRef idx="minor">
            <a:schemeClr val="tx1"/>
          </a:fontRef>
        </p:style>
      </p:cxnSp>
      <p:sp>
        <p:nvSpPr>
          <p:cNvPr id="64" name="TextBox 63"/>
          <p:cNvSpPr txBox="1"/>
          <p:nvPr/>
        </p:nvSpPr>
        <p:spPr>
          <a:xfrm>
            <a:off x="17935" y="2850502"/>
            <a:ext cx="1720003" cy="830740"/>
          </a:xfrm>
          <a:prstGeom prst="rect">
            <a:avLst/>
          </a:prstGeom>
          <a:noFill/>
        </p:spPr>
        <p:txBody>
          <a:bodyPr wrap="square" rtlCol="0">
            <a:spAutoFit/>
          </a:bodyPr>
          <a:lstStyle/>
          <a:p>
            <a:pPr defTabSz="914126"/>
            <a:r>
              <a:rPr lang="en-US" sz="2399" dirty="0">
                <a:solidFill>
                  <a:prstClr val="black"/>
                </a:solidFill>
                <a:latin typeface="Calibri" panose="020F0502020204030204"/>
              </a:rPr>
              <a:t>What are dot plots?</a:t>
            </a:r>
          </a:p>
        </p:txBody>
      </p:sp>
      <p:sp>
        <p:nvSpPr>
          <p:cNvPr id="65" name="TextBox 64"/>
          <p:cNvSpPr txBox="1"/>
          <p:nvPr/>
        </p:nvSpPr>
        <p:spPr>
          <a:xfrm>
            <a:off x="1757456" y="2846402"/>
            <a:ext cx="9544926"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Dot plots are constructed by putting a dot for each data item above a scale. </a:t>
            </a:r>
            <a:endParaRPr lang="en-US" sz="2399" dirty="0">
              <a:solidFill>
                <a:prstClr val="black"/>
              </a:solidFill>
              <a:latin typeface="Calibri" panose="020F0502020204030204"/>
            </a:endParaRPr>
          </a:p>
        </p:txBody>
      </p:sp>
      <p:sp>
        <p:nvSpPr>
          <p:cNvPr id="66" name="TextBox 65"/>
          <p:cNvSpPr txBox="1"/>
          <p:nvPr/>
        </p:nvSpPr>
        <p:spPr>
          <a:xfrm>
            <a:off x="1757456" y="1947099"/>
            <a:ext cx="9544926"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Displaying a data allows reader easily see the patterns in the data. Data can be displayed in dot plots, column plots, picture graphs etc. </a:t>
            </a:r>
            <a:endParaRPr lang="en-US" sz="2399" dirty="0">
              <a:solidFill>
                <a:prstClr val="black"/>
              </a:solidFill>
              <a:latin typeface="Calibri" panose="020F0502020204030204"/>
            </a:endParaRPr>
          </a:p>
        </p:txBody>
      </p:sp>
      <p:sp>
        <p:nvSpPr>
          <p:cNvPr id="67" name="TextBox 66"/>
          <p:cNvSpPr txBox="1"/>
          <p:nvPr/>
        </p:nvSpPr>
        <p:spPr>
          <a:xfrm>
            <a:off x="1757456" y="3477782"/>
            <a:ext cx="5667471"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Each dot represents one data value. </a:t>
            </a:r>
          </a:p>
          <a:p>
            <a:pPr defTabSz="914126"/>
            <a:endParaRPr lang="en-AU" sz="2399" dirty="0">
              <a:solidFill>
                <a:prstClr val="black"/>
              </a:solidFill>
              <a:latin typeface="Calibri" panose="020F0502020204030204"/>
            </a:endParaRPr>
          </a:p>
        </p:txBody>
      </p:sp>
      <p:pic>
        <p:nvPicPr>
          <p:cNvPr id="68" name="Picture 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4060" y="3671276"/>
            <a:ext cx="3301628" cy="3121153"/>
          </a:xfrm>
          <a:prstGeom prst="rect">
            <a:avLst/>
          </a:prstGeom>
        </p:spPr>
      </p:pic>
      <p:sp>
        <p:nvSpPr>
          <p:cNvPr id="69" name="TextBox 68"/>
          <p:cNvSpPr txBox="1"/>
          <p:nvPr/>
        </p:nvSpPr>
        <p:spPr>
          <a:xfrm>
            <a:off x="1757456" y="4308522"/>
            <a:ext cx="6179536" cy="2215991"/>
          </a:xfrm>
          <a:prstGeom prst="rect">
            <a:avLst/>
          </a:prstGeom>
          <a:noFill/>
        </p:spPr>
        <p:txBody>
          <a:bodyPr wrap="square" rtlCol="0">
            <a:spAutoFit/>
          </a:bodyPr>
          <a:lstStyle/>
          <a:p>
            <a:pPr defTabSz="914126"/>
            <a:r>
              <a:rPr lang="en-AU" sz="2400" dirty="0">
                <a:solidFill>
                  <a:prstClr val="black"/>
                </a:solidFill>
              </a:rPr>
              <a:t>How many families have 2 children?</a:t>
            </a:r>
          </a:p>
          <a:p>
            <a:pPr defTabSz="914126"/>
            <a:endParaRPr lang="en-AU" sz="2400" dirty="0">
              <a:solidFill>
                <a:prstClr val="black"/>
              </a:solidFill>
            </a:endParaRPr>
          </a:p>
          <a:p>
            <a:pPr defTabSz="914126"/>
            <a:r>
              <a:rPr lang="en-AU" sz="2400" dirty="0">
                <a:solidFill>
                  <a:prstClr val="black"/>
                </a:solidFill>
              </a:rPr>
              <a:t>What is the most common number of children in a family?</a:t>
            </a:r>
            <a:endParaRPr lang="en-US" sz="2400" dirty="0">
              <a:solidFill>
                <a:prstClr val="black"/>
              </a:solidFill>
            </a:endParaRPr>
          </a:p>
          <a:p>
            <a:endParaRPr lang="en-US" dirty="0"/>
          </a:p>
          <a:p>
            <a:r>
              <a:rPr lang="en-US" sz="2400" dirty="0">
                <a:solidFill>
                  <a:schemeClr val="tx2"/>
                </a:solidFill>
              </a:rPr>
              <a:t>How many people were surveyed?	</a:t>
            </a:r>
          </a:p>
        </p:txBody>
      </p:sp>
      <p:sp>
        <p:nvSpPr>
          <p:cNvPr id="70" name="TextBox 69"/>
          <p:cNvSpPr txBox="1"/>
          <p:nvPr/>
        </p:nvSpPr>
        <p:spPr>
          <a:xfrm>
            <a:off x="6379076" y="4311885"/>
            <a:ext cx="340158" cy="461665"/>
          </a:xfrm>
          <a:prstGeom prst="rect">
            <a:avLst/>
          </a:prstGeom>
          <a:noFill/>
        </p:spPr>
        <p:txBody>
          <a:bodyPr wrap="none" rtlCol="0">
            <a:spAutoFit/>
          </a:bodyPr>
          <a:lstStyle/>
          <a:p>
            <a:r>
              <a:rPr lang="en-US" sz="2400" dirty="0">
                <a:solidFill>
                  <a:srgbClr val="002060"/>
                </a:solidFill>
              </a:rPr>
              <a:t>8</a:t>
            </a:r>
          </a:p>
        </p:txBody>
      </p:sp>
      <p:sp>
        <p:nvSpPr>
          <p:cNvPr id="71" name="TextBox 70"/>
          <p:cNvSpPr txBox="1"/>
          <p:nvPr/>
        </p:nvSpPr>
        <p:spPr>
          <a:xfrm>
            <a:off x="4603946" y="5423245"/>
            <a:ext cx="340158" cy="461665"/>
          </a:xfrm>
          <a:prstGeom prst="rect">
            <a:avLst/>
          </a:prstGeom>
          <a:noFill/>
        </p:spPr>
        <p:txBody>
          <a:bodyPr wrap="none" rtlCol="0">
            <a:spAutoFit/>
          </a:bodyPr>
          <a:lstStyle/>
          <a:p>
            <a:r>
              <a:rPr lang="en-US" sz="2400" dirty="0">
                <a:solidFill>
                  <a:srgbClr val="002060"/>
                </a:solidFill>
              </a:rPr>
              <a:t>3</a:t>
            </a:r>
          </a:p>
        </p:txBody>
      </p:sp>
      <p:sp>
        <p:nvSpPr>
          <p:cNvPr id="72" name="TextBox 71"/>
          <p:cNvSpPr txBox="1"/>
          <p:nvPr/>
        </p:nvSpPr>
        <p:spPr>
          <a:xfrm>
            <a:off x="6379076" y="6038155"/>
            <a:ext cx="495649" cy="461665"/>
          </a:xfrm>
          <a:prstGeom prst="rect">
            <a:avLst/>
          </a:prstGeom>
          <a:noFill/>
        </p:spPr>
        <p:txBody>
          <a:bodyPr wrap="none" rtlCol="0">
            <a:spAutoFit/>
          </a:bodyPr>
          <a:lstStyle/>
          <a:p>
            <a:r>
              <a:rPr lang="en-US" sz="2400" dirty="0">
                <a:solidFill>
                  <a:srgbClr val="002060"/>
                </a:solidFill>
              </a:rPr>
              <a:t>28</a:t>
            </a:r>
          </a:p>
        </p:txBody>
      </p:sp>
    </p:spTree>
    <p:extLst>
      <p:ext uri="{BB962C8B-B14F-4D97-AF65-F5344CB8AC3E}">
        <p14:creationId xmlns:p14="http://schemas.microsoft.com/office/powerpoint/2010/main" val="112130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ppt_x"/>
                                          </p:val>
                                        </p:tav>
                                        <p:tav tm="100000">
                                          <p:val>
                                            <p:strVal val="#ppt_x"/>
                                          </p:val>
                                        </p:tav>
                                      </p:tavLst>
                                    </p:anim>
                                    <p:anim calcmode="lin" valueType="num">
                                      <p:cBhvr additive="base">
                                        <p:cTn id="3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0"/>
                                        </p:tgtEl>
                                        <p:attrNameLst>
                                          <p:attrName>style.visibility</p:attrName>
                                        </p:attrNameLst>
                                      </p:cBhvr>
                                      <p:to>
                                        <p:strVal val="visible"/>
                                      </p:to>
                                    </p:set>
                                    <p:anim calcmode="lin" valueType="num">
                                      <p:cBhvr additive="base">
                                        <p:cTn id="38" dur="500" fill="hold"/>
                                        <p:tgtEl>
                                          <p:spTgt spid="70"/>
                                        </p:tgtEl>
                                        <p:attrNameLst>
                                          <p:attrName>ppt_x</p:attrName>
                                        </p:attrNameLst>
                                      </p:cBhvr>
                                      <p:tavLst>
                                        <p:tav tm="0">
                                          <p:val>
                                            <p:strVal val="#ppt_x"/>
                                          </p:val>
                                        </p:tav>
                                        <p:tav tm="100000">
                                          <p:val>
                                            <p:strVal val="#ppt_x"/>
                                          </p:val>
                                        </p:tav>
                                      </p:tavLst>
                                    </p:anim>
                                    <p:anim calcmode="lin" valueType="num">
                                      <p:cBhvr additive="base">
                                        <p:cTn id="3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1"/>
                                        </p:tgtEl>
                                        <p:attrNameLst>
                                          <p:attrName>style.visibility</p:attrName>
                                        </p:attrNameLst>
                                      </p:cBhvr>
                                      <p:to>
                                        <p:strVal val="visible"/>
                                      </p:to>
                                    </p:set>
                                    <p:anim calcmode="lin" valueType="num">
                                      <p:cBhvr additive="base">
                                        <p:cTn id="44" dur="500" fill="hold"/>
                                        <p:tgtEl>
                                          <p:spTgt spid="71"/>
                                        </p:tgtEl>
                                        <p:attrNameLst>
                                          <p:attrName>ppt_x</p:attrName>
                                        </p:attrNameLst>
                                      </p:cBhvr>
                                      <p:tavLst>
                                        <p:tav tm="0">
                                          <p:val>
                                            <p:strVal val="#ppt_x"/>
                                          </p:val>
                                        </p:tav>
                                        <p:tav tm="100000">
                                          <p:val>
                                            <p:strVal val="#ppt_x"/>
                                          </p:val>
                                        </p:tav>
                                      </p:tavLst>
                                    </p:anim>
                                    <p:anim calcmode="lin" valueType="num">
                                      <p:cBhvr additive="base">
                                        <p:cTn id="4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2"/>
                                        </p:tgtEl>
                                        <p:attrNameLst>
                                          <p:attrName>style.visibility</p:attrName>
                                        </p:attrNameLst>
                                      </p:cBhvr>
                                      <p:to>
                                        <p:strVal val="visible"/>
                                      </p:to>
                                    </p:set>
                                    <p:anim calcmode="lin" valueType="num">
                                      <p:cBhvr additive="base">
                                        <p:cTn id="50" dur="500" fill="hold"/>
                                        <p:tgtEl>
                                          <p:spTgt spid="72"/>
                                        </p:tgtEl>
                                        <p:attrNameLst>
                                          <p:attrName>ppt_x</p:attrName>
                                        </p:attrNameLst>
                                      </p:cBhvr>
                                      <p:tavLst>
                                        <p:tav tm="0">
                                          <p:val>
                                            <p:strVal val="#ppt_x"/>
                                          </p:val>
                                        </p:tav>
                                        <p:tav tm="100000">
                                          <p:val>
                                            <p:strVal val="#ppt_x"/>
                                          </p:val>
                                        </p:tav>
                                      </p:tavLst>
                                    </p:anim>
                                    <p:anim calcmode="lin" valueType="num">
                                      <p:cBhvr additive="base">
                                        <p:cTn id="51"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9" grpId="0"/>
      <p:bldP spid="70" grpId="0"/>
      <p:bldP spid="71" grpId="0"/>
      <p:bldP spid="7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Dot Plots</a:t>
            </a:r>
            <a:br>
              <a:rPr lang="en-US" dirty="0"/>
            </a:br>
            <a:r>
              <a:rPr lang="en-US" dirty="0"/>
              <a:t>EQ: </a:t>
            </a:r>
            <a:r>
              <a:rPr lang="en-US" sz="2900" dirty="0"/>
              <a:t>What are dot plots and why do we use them to display data? </a:t>
            </a:r>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26198" y="2076378"/>
            <a:ext cx="1720003" cy="1199944"/>
          </a:xfrm>
          <a:prstGeom prst="rect">
            <a:avLst/>
          </a:prstGeom>
          <a:noFill/>
        </p:spPr>
        <p:txBody>
          <a:bodyPr wrap="square" rtlCol="0">
            <a:spAutoFit/>
          </a:bodyPr>
          <a:lstStyle/>
          <a:p>
            <a:pPr defTabSz="914126">
              <a:defRPr/>
            </a:pPr>
            <a:r>
              <a:rPr lang="en-US" sz="2399" dirty="0">
                <a:solidFill>
                  <a:prstClr val="black"/>
                </a:solidFill>
                <a:latin typeface="Calibri" panose="020F0502020204030204"/>
              </a:rPr>
              <a:t>How do I create a dot plot?</a:t>
            </a:r>
          </a:p>
        </p:txBody>
      </p:sp>
      <p:sp>
        <p:nvSpPr>
          <p:cNvPr id="5" name="TextBox 4"/>
          <p:cNvSpPr txBox="1"/>
          <p:nvPr/>
        </p:nvSpPr>
        <p:spPr>
          <a:xfrm>
            <a:off x="1870899" y="2080605"/>
            <a:ext cx="9544926" cy="1199944"/>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Example 1:</a:t>
            </a:r>
          </a:p>
          <a:p>
            <a:pPr defTabSz="914126">
              <a:defRPr/>
            </a:pPr>
            <a:r>
              <a:rPr lang="en-AU" sz="2399" dirty="0">
                <a:solidFill>
                  <a:prstClr val="black"/>
                </a:solidFill>
                <a:latin typeface="Calibri" panose="020F0502020204030204"/>
              </a:rPr>
              <a:t>The following list shows ages of the students in the group:</a:t>
            </a:r>
          </a:p>
          <a:p>
            <a:pPr defTabSz="914126">
              <a:defRPr/>
            </a:pPr>
            <a:r>
              <a:rPr lang="en-AU" sz="2399" dirty="0">
                <a:solidFill>
                  <a:prstClr val="black"/>
                </a:solidFill>
                <a:latin typeface="Calibri" panose="020F0502020204030204"/>
              </a:rPr>
              <a:t>12, 12, 13, 12, 12, 11, 12, 11, 12, 12, 11, 11, 12, 13, 12 </a:t>
            </a:r>
          </a:p>
        </p:txBody>
      </p:sp>
      <p:cxnSp>
        <p:nvCxnSpPr>
          <p:cNvPr id="6" name="Straight Connector 5"/>
          <p:cNvCxnSpPr/>
          <p:nvPr/>
        </p:nvCxnSpPr>
        <p:spPr>
          <a:xfrm>
            <a:off x="8131889" y="5936336"/>
            <a:ext cx="3456000" cy="0"/>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779577"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31705"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083833" y="5864328"/>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63553" y="6031054"/>
            <a:ext cx="648072" cy="369332"/>
          </a:xfrm>
          <a:prstGeom prst="rect">
            <a:avLst/>
          </a:prstGeom>
          <a:noFill/>
        </p:spPr>
        <p:txBody>
          <a:bodyPr wrap="square" rtlCol="0">
            <a:spAutoFit/>
          </a:bodyPr>
          <a:lstStyle/>
          <a:p>
            <a:r>
              <a:rPr lang="en-AU" dirty="0"/>
              <a:t>11</a:t>
            </a:r>
            <a:endParaRPr lang="en-US" dirty="0"/>
          </a:p>
        </p:txBody>
      </p:sp>
      <p:sp>
        <p:nvSpPr>
          <p:cNvPr id="11" name="TextBox 10"/>
          <p:cNvSpPr txBox="1"/>
          <p:nvPr/>
        </p:nvSpPr>
        <p:spPr>
          <a:xfrm>
            <a:off x="9607670" y="6044328"/>
            <a:ext cx="648072" cy="369332"/>
          </a:xfrm>
          <a:prstGeom prst="rect">
            <a:avLst/>
          </a:prstGeom>
          <a:noFill/>
        </p:spPr>
        <p:txBody>
          <a:bodyPr wrap="square" rtlCol="0">
            <a:spAutoFit/>
          </a:bodyPr>
          <a:lstStyle/>
          <a:p>
            <a:pPr algn="ctr"/>
            <a:r>
              <a:rPr lang="en-AU" dirty="0"/>
              <a:t>12</a:t>
            </a:r>
            <a:endParaRPr lang="en-US" dirty="0"/>
          </a:p>
        </p:txBody>
      </p:sp>
      <p:sp>
        <p:nvSpPr>
          <p:cNvPr id="12" name="TextBox 11"/>
          <p:cNvSpPr txBox="1"/>
          <p:nvPr/>
        </p:nvSpPr>
        <p:spPr>
          <a:xfrm>
            <a:off x="10759797" y="6034918"/>
            <a:ext cx="648072" cy="369332"/>
          </a:xfrm>
          <a:prstGeom prst="rect">
            <a:avLst/>
          </a:prstGeom>
          <a:noFill/>
        </p:spPr>
        <p:txBody>
          <a:bodyPr wrap="square" rtlCol="0">
            <a:spAutoFit/>
          </a:bodyPr>
          <a:lstStyle/>
          <a:p>
            <a:pPr algn="ctr"/>
            <a:r>
              <a:rPr lang="en-AU" dirty="0"/>
              <a:t>13</a:t>
            </a:r>
            <a:endParaRPr lang="en-US" dirty="0"/>
          </a:p>
        </p:txBody>
      </p:sp>
      <p:sp>
        <p:nvSpPr>
          <p:cNvPr id="13" name="Oval 12"/>
          <p:cNvSpPr/>
          <p:nvPr/>
        </p:nvSpPr>
        <p:spPr>
          <a:xfrm>
            <a:off x="9877705" y="570476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Straight Connector 13"/>
          <p:cNvCxnSpPr/>
          <p:nvPr/>
        </p:nvCxnSpPr>
        <p:spPr>
          <a:xfrm flipV="1">
            <a:off x="1962225"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9877705"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6" name="Straight Connector 15"/>
          <p:cNvCxnSpPr/>
          <p:nvPr/>
        </p:nvCxnSpPr>
        <p:spPr>
          <a:xfrm flipV="1">
            <a:off x="2442873" y="293764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029833" y="572031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8" name="Straight Connector 17"/>
          <p:cNvCxnSpPr/>
          <p:nvPr/>
        </p:nvCxnSpPr>
        <p:spPr>
          <a:xfrm flipV="1">
            <a:off x="289832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9877705" y="542733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Straight Connector 19"/>
          <p:cNvCxnSpPr/>
          <p:nvPr/>
        </p:nvCxnSpPr>
        <p:spPr>
          <a:xfrm flipV="1">
            <a:off x="3304569"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9877705" y="5280764"/>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p:cNvCxnSpPr/>
          <p:nvPr/>
        </p:nvCxnSpPr>
        <p:spPr>
          <a:xfrm flipV="1">
            <a:off x="3760954" y="291784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725577" y="571140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p:cNvCxnSpPr/>
          <p:nvPr/>
        </p:nvCxnSpPr>
        <p:spPr>
          <a:xfrm flipV="1">
            <a:off x="4267856"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9877705" y="51449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6" name="Straight Connector 25"/>
          <p:cNvCxnSpPr/>
          <p:nvPr/>
        </p:nvCxnSpPr>
        <p:spPr>
          <a:xfrm flipV="1">
            <a:off x="4698721"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728677"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8" name="Straight Connector 27"/>
          <p:cNvCxnSpPr/>
          <p:nvPr/>
        </p:nvCxnSpPr>
        <p:spPr>
          <a:xfrm flipV="1">
            <a:off x="5184336" y="293790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610302"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090950"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6471998"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952646"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7421156" y="291871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901804" y="294435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34440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725577" y="541979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p:cNvSpPr/>
          <p:nvPr/>
        </p:nvSpPr>
        <p:spPr>
          <a:xfrm>
            <a:off x="8725577" y="527322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p:cNvSpPr/>
          <p:nvPr/>
        </p:nvSpPr>
        <p:spPr>
          <a:xfrm>
            <a:off x="9877705" y="499238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p:cNvSpPr/>
          <p:nvPr/>
        </p:nvSpPr>
        <p:spPr>
          <a:xfrm>
            <a:off x="9877705" y="4853969"/>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p:cNvSpPr/>
          <p:nvPr/>
        </p:nvSpPr>
        <p:spPr>
          <a:xfrm>
            <a:off x="9877705" y="4718173"/>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Oval 40"/>
          <p:cNvSpPr/>
          <p:nvPr/>
        </p:nvSpPr>
        <p:spPr>
          <a:xfrm>
            <a:off x="9877705" y="456559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Oval 42"/>
          <p:cNvSpPr/>
          <p:nvPr/>
        </p:nvSpPr>
        <p:spPr>
          <a:xfrm>
            <a:off x="11029833" y="557629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p:cNvSpPr txBox="1"/>
          <p:nvPr/>
        </p:nvSpPr>
        <p:spPr>
          <a:xfrm>
            <a:off x="11515880" y="5975544"/>
            <a:ext cx="676120" cy="369332"/>
          </a:xfrm>
          <a:prstGeom prst="rect">
            <a:avLst/>
          </a:prstGeom>
          <a:noFill/>
        </p:spPr>
        <p:txBody>
          <a:bodyPr wrap="square" rtlCol="0">
            <a:spAutoFit/>
          </a:bodyPr>
          <a:lstStyle/>
          <a:p>
            <a:r>
              <a:rPr lang="en-AU" dirty="0"/>
              <a:t>Age</a:t>
            </a:r>
            <a:endParaRPr lang="en-US" dirty="0"/>
          </a:p>
        </p:txBody>
      </p:sp>
      <p:sp>
        <p:nvSpPr>
          <p:cNvPr id="45" name="TextBox 44"/>
          <p:cNvSpPr txBox="1"/>
          <p:nvPr/>
        </p:nvSpPr>
        <p:spPr>
          <a:xfrm>
            <a:off x="1870898" y="3322984"/>
            <a:ext cx="5702551" cy="3407000"/>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Process:</a:t>
            </a:r>
          </a:p>
          <a:p>
            <a:pPr defTabSz="914126">
              <a:defRPr/>
            </a:pPr>
            <a:r>
              <a:rPr lang="en-AU" sz="2400" dirty="0">
                <a:solidFill>
                  <a:prstClr val="black"/>
                </a:solidFill>
                <a:latin typeface="Calibri" panose="020F0502020204030204"/>
              </a:rPr>
              <a:t>Step 1 : Draw a number line from the lowest value to highest value. Leave room able the scale for the dots.</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2: Put dots for each number on the scale.</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3 : Label the number line</a:t>
            </a:r>
          </a:p>
        </p:txBody>
      </p:sp>
      <p:cxnSp>
        <p:nvCxnSpPr>
          <p:cNvPr id="46" name="Straight Connector 45"/>
          <p:cNvCxnSpPr/>
          <p:nvPr/>
        </p:nvCxnSpPr>
        <p:spPr>
          <a:xfrm flipH="1">
            <a:off x="1692918" y="1790700"/>
            <a:ext cx="11740" cy="50673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0329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transition="in" filter="fade">
                                      <p:cBhvr>
                                        <p:cTn id="12" dur="500"/>
                                        <p:tgtEl>
                                          <p:spTgt spid="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fade">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
                                            <p:txEl>
                                              <p:pRg st="3" end="3"/>
                                            </p:txEl>
                                          </p:spTgt>
                                        </p:tgtEl>
                                        <p:attrNameLst>
                                          <p:attrName>style.visibility</p:attrName>
                                        </p:attrNameLst>
                                      </p:cBhvr>
                                      <p:to>
                                        <p:strVal val="visible"/>
                                      </p:to>
                                    </p:set>
                                    <p:animEffect transition="in" filter="fade">
                                      <p:cBhvr>
                                        <p:cTn id="22" dur="500"/>
                                        <p:tgtEl>
                                          <p:spTgt spid="4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
                                            <p:txEl>
                                              <p:pRg st="5" end="5"/>
                                            </p:txEl>
                                          </p:spTgt>
                                        </p:tgtEl>
                                        <p:attrNameLst>
                                          <p:attrName>style.visibility</p:attrName>
                                        </p:attrNameLst>
                                      </p:cBhvr>
                                      <p:to>
                                        <p:strVal val="visible"/>
                                      </p:to>
                                    </p:set>
                                    <p:animEffect transition="in" filter="fade">
                                      <p:cBhvr>
                                        <p:cTn id="27" dur="500"/>
                                        <p:tgtEl>
                                          <p:spTgt spid="4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par>
                          <p:cTn id="46" fill="hold">
                            <p:stCondLst>
                              <p:cond delay="1000"/>
                            </p:stCondLst>
                            <p:childTnLst>
                              <p:par>
                                <p:cTn id="47" presetID="10"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childTnLst>
                          </p:cTn>
                        </p:par>
                        <p:par>
                          <p:cTn id="50" fill="hold">
                            <p:stCondLst>
                              <p:cond delay="1500"/>
                            </p:stCondLst>
                            <p:childTnLst>
                              <p:par>
                                <p:cTn id="51" presetID="10"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circle(in)">
                                      <p:cBhvr>
                                        <p:cTn id="58" dur="1000"/>
                                        <p:tgtEl>
                                          <p:spTgt spid="13"/>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down)">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circle(in)">
                                      <p:cBhvr>
                                        <p:cTn id="67" dur="1000"/>
                                        <p:tgtEl>
                                          <p:spTgt spid="15"/>
                                        </p:tgtEl>
                                      </p:cBhvr>
                                    </p:animEffect>
                                  </p:childTnLst>
                                </p:cTn>
                              </p:par>
                            </p:childTnLst>
                          </p:cTn>
                        </p:par>
                        <p:par>
                          <p:cTn id="68" fill="hold">
                            <p:stCondLst>
                              <p:cond delay="1000"/>
                            </p:stCondLst>
                            <p:childTnLst>
                              <p:par>
                                <p:cTn id="69" presetID="22" presetClass="entr" presetSubtype="4"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circle(in)">
                                      <p:cBhvr>
                                        <p:cTn id="76" dur="1000"/>
                                        <p:tgtEl>
                                          <p:spTgt spid="17"/>
                                        </p:tgtEl>
                                      </p:cBhvr>
                                    </p:animEffect>
                                  </p:childTnLst>
                                </p:cTn>
                              </p:par>
                            </p:childTnLst>
                          </p:cTn>
                        </p:par>
                        <p:par>
                          <p:cTn id="77" fill="hold">
                            <p:stCondLst>
                              <p:cond delay="1000"/>
                            </p:stCondLst>
                            <p:childTnLst>
                              <p:par>
                                <p:cTn id="78" presetID="22" presetClass="entr" presetSubtype="4" fill="hold"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down)">
                                      <p:cBhvr>
                                        <p:cTn id="80" dur="500"/>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6" presetClass="entr" presetSubtype="16"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circle(in)">
                                      <p:cBhvr>
                                        <p:cTn id="85" dur="1000"/>
                                        <p:tgtEl>
                                          <p:spTgt spid="19"/>
                                        </p:tgtEl>
                                      </p:cBhvr>
                                    </p:animEffect>
                                  </p:childTnLst>
                                </p:cTn>
                              </p:par>
                            </p:childTnLst>
                          </p:cTn>
                        </p:par>
                        <p:par>
                          <p:cTn id="86" fill="hold">
                            <p:stCondLst>
                              <p:cond delay="1000"/>
                            </p:stCondLst>
                            <p:childTnLst>
                              <p:par>
                                <p:cTn id="87" presetID="22" presetClass="entr" presetSubtype="4" fill="hold"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down)">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6" presetClass="entr" presetSubtype="16"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circle(in)">
                                      <p:cBhvr>
                                        <p:cTn id="94" dur="1000"/>
                                        <p:tgtEl>
                                          <p:spTgt spid="21"/>
                                        </p:tgtEl>
                                      </p:cBhvr>
                                    </p:animEffect>
                                  </p:childTnLst>
                                </p:cTn>
                              </p:par>
                            </p:childTnLst>
                          </p:cTn>
                        </p:par>
                        <p:par>
                          <p:cTn id="95" fill="hold">
                            <p:stCondLst>
                              <p:cond delay="1000"/>
                            </p:stCondLst>
                            <p:childTnLst>
                              <p:par>
                                <p:cTn id="96" presetID="22" presetClass="entr" presetSubtype="4" fill="hold" nodeType="after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wipe(down)">
                                      <p:cBhvr>
                                        <p:cTn id="98" dur="500"/>
                                        <p:tgtEl>
                                          <p:spTgt spid="22"/>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circle(in)">
                                      <p:cBhvr>
                                        <p:cTn id="103" dur="1000"/>
                                        <p:tgtEl>
                                          <p:spTgt spid="23"/>
                                        </p:tgtEl>
                                      </p:cBhvr>
                                    </p:animEffect>
                                  </p:childTnLst>
                                </p:cTn>
                              </p:par>
                            </p:childTnLst>
                          </p:cTn>
                        </p:par>
                        <p:par>
                          <p:cTn id="104" fill="hold">
                            <p:stCondLst>
                              <p:cond delay="1000"/>
                            </p:stCondLst>
                            <p:childTnLst>
                              <p:par>
                                <p:cTn id="105" presetID="22" presetClass="entr" presetSubtype="4" fill="hold" nodeType="after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down)">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circle(in)">
                                      <p:cBhvr>
                                        <p:cTn id="112" dur="1000"/>
                                        <p:tgtEl>
                                          <p:spTgt spid="25"/>
                                        </p:tgtEl>
                                      </p:cBhvr>
                                    </p:animEffect>
                                  </p:childTnLst>
                                </p:cTn>
                              </p:par>
                            </p:childTnLst>
                          </p:cTn>
                        </p:par>
                        <p:par>
                          <p:cTn id="113" fill="hold">
                            <p:stCondLst>
                              <p:cond delay="1000"/>
                            </p:stCondLst>
                            <p:childTnLst>
                              <p:par>
                                <p:cTn id="114" presetID="22" presetClass="entr" presetSubtype="4" fill="hold" nodeType="after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wipe(down)">
                                      <p:cBhvr>
                                        <p:cTn id="116" dur="500"/>
                                        <p:tgtEl>
                                          <p:spTgt spid="26"/>
                                        </p:tgtEl>
                                      </p:cBhvr>
                                    </p:animEffect>
                                  </p:childTnLst>
                                </p:cTn>
                              </p:par>
                            </p:childTnLst>
                          </p:cTn>
                        </p:par>
                      </p:childTnLst>
                    </p:cTn>
                  </p:par>
                  <p:par>
                    <p:cTn id="117" fill="hold">
                      <p:stCondLst>
                        <p:cond delay="indefinite"/>
                      </p:stCondLst>
                      <p:childTnLst>
                        <p:par>
                          <p:cTn id="118" fill="hold">
                            <p:stCondLst>
                              <p:cond delay="0"/>
                            </p:stCondLst>
                            <p:childTnLst>
                              <p:par>
                                <p:cTn id="119" presetID="6" presetClass="entr" presetSubtype="16"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circle(in)">
                                      <p:cBhvr>
                                        <p:cTn id="121" dur="1000"/>
                                        <p:tgtEl>
                                          <p:spTgt spid="27"/>
                                        </p:tgtEl>
                                      </p:cBhvr>
                                    </p:animEffect>
                                  </p:childTnLst>
                                </p:cTn>
                              </p:par>
                            </p:childTnLst>
                          </p:cTn>
                        </p:par>
                        <p:par>
                          <p:cTn id="122" fill="hold">
                            <p:stCondLst>
                              <p:cond delay="1000"/>
                            </p:stCondLst>
                            <p:childTnLst>
                              <p:par>
                                <p:cTn id="123" presetID="22" presetClass="entr" presetSubtype="4" fill="hold" nodeType="after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wipe(down)">
                                      <p:cBhvr>
                                        <p:cTn id="125" dur="500"/>
                                        <p:tgtEl>
                                          <p:spTgt spid="28"/>
                                        </p:tgtEl>
                                      </p:cBhvr>
                                    </p:animEffect>
                                  </p:childTnLst>
                                </p:cTn>
                              </p:par>
                            </p:childTnLst>
                          </p:cTn>
                        </p:par>
                      </p:childTnLst>
                    </p:cTn>
                  </p:par>
                  <p:par>
                    <p:cTn id="126" fill="hold">
                      <p:stCondLst>
                        <p:cond delay="indefinite"/>
                      </p:stCondLst>
                      <p:childTnLst>
                        <p:par>
                          <p:cTn id="127" fill="hold">
                            <p:stCondLst>
                              <p:cond delay="0"/>
                            </p:stCondLst>
                            <p:childTnLst>
                              <p:par>
                                <p:cTn id="128" presetID="6" presetClass="entr" presetSubtype="16" fill="hold" grpId="0" nodeType="clickEffect">
                                  <p:stCondLst>
                                    <p:cond delay="0"/>
                                  </p:stCondLst>
                                  <p:childTnLst>
                                    <p:set>
                                      <p:cBhvr>
                                        <p:cTn id="129" dur="1" fill="hold">
                                          <p:stCondLst>
                                            <p:cond delay="0"/>
                                          </p:stCondLst>
                                        </p:cTn>
                                        <p:tgtEl>
                                          <p:spTgt spid="38"/>
                                        </p:tgtEl>
                                        <p:attrNameLst>
                                          <p:attrName>style.visibility</p:attrName>
                                        </p:attrNameLst>
                                      </p:cBhvr>
                                      <p:to>
                                        <p:strVal val="visible"/>
                                      </p:to>
                                    </p:set>
                                    <p:animEffect transition="in" filter="circle(in)">
                                      <p:cBhvr>
                                        <p:cTn id="130" dur="1000"/>
                                        <p:tgtEl>
                                          <p:spTgt spid="38"/>
                                        </p:tgtEl>
                                      </p:cBhvr>
                                    </p:animEffect>
                                  </p:childTnLst>
                                </p:cTn>
                              </p:par>
                            </p:childTnLst>
                          </p:cTn>
                        </p:par>
                        <p:par>
                          <p:cTn id="131" fill="hold">
                            <p:stCondLst>
                              <p:cond delay="1000"/>
                            </p:stCondLst>
                            <p:childTnLst>
                              <p:par>
                                <p:cTn id="132" presetID="22" presetClass="entr" presetSubtype="4" fill="hold"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down)">
                                      <p:cBhvr>
                                        <p:cTn id="134" dur="500"/>
                                        <p:tgtEl>
                                          <p:spTgt spid="29"/>
                                        </p:tgtEl>
                                      </p:cBhvr>
                                    </p:animEffect>
                                  </p:childTnLst>
                                </p:cTn>
                              </p:par>
                            </p:childTnLst>
                          </p:cTn>
                        </p:par>
                      </p:childTnLst>
                    </p:cTn>
                  </p:par>
                  <p:par>
                    <p:cTn id="135" fill="hold">
                      <p:stCondLst>
                        <p:cond delay="indefinite"/>
                      </p:stCondLst>
                      <p:childTnLst>
                        <p:par>
                          <p:cTn id="136" fill="hold">
                            <p:stCondLst>
                              <p:cond delay="0"/>
                            </p:stCondLst>
                            <p:childTnLst>
                              <p:par>
                                <p:cTn id="137" presetID="6" presetClass="entr" presetSubtype="16" fill="hold" grpId="0" nodeType="click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circle(in)">
                                      <p:cBhvr>
                                        <p:cTn id="139" dur="1000"/>
                                        <p:tgtEl>
                                          <p:spTgt spid="39"/>
                                        </p:tgtEl>
                                      </p:cBhvr>
                                    </p:animEffect>
                                  </p:childTnLst>
                                </p:cTn>
                              </p:par>
                            </p:childTnLst>
                          </p:cTn>
                        </p:par>
                        <p:par>
                          <p:cTn id="140" fill="hold">
                            <p:stCondLst>
                              <p:cond delay="1000"/>
                            </p:stCondLst>
                            <p:childTnLst>
                              <p:par>
                                <p:cTn id="141" presetID="22" presetClass="entr" presetSubtype="4" fill="hold" nodeType="afterEffect">
                                  <p:stCondLst>
                                    <p:cond delay="0"/>
                                  </p:stCondLst>
                                  <p:childTnLst>
                                    <p:set>
                                      <p:cBhvr>
                                        <p:cTn id="142" dur="1" fill="hold">
                                          <p:stCondLst>
                                            <p:cond delay="0"/>
                                          </p:stCondLst>
                                        </p:cTn>
                                        <p:tgtEl>
                                          <p:spTgt spid="30"/>
                                        </p:tgtEl>
                                        <p:attrNameLst>
                                          <p:attrName>style.visibility</p:attrName>
                                        </p:attrNameLst>
                                      </p:cBhvr>
                                      <p:to>
                                        <p:strVal val="visible"/>
                                      </p:to>
                                    </p:set>
                                    <p:animEffect transition="in" filter="wipe(down)">
                                      <p:cBhvr>
                                        <p:cTn id="143"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46" presetID="6" presetClass="entr" presetSubtype="16" fill="hold" grpId="0" nodeType="click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circle(in)">
                                      <p:cBhvr>
                                        <p:cTn id="148" dur="1000"/>
                                        <p:tgtEl>
                                          <p:spTgt spid="36"/>
                                        </p:tgtEl>
                                      </p:cBhvr>
                                    </p:animEffect>
                                  </p:childTnLst>
                                </p:cTn>
                              </p:par>
                            </p:childTnLst>
                          </p:cTn>
                        </p:par>
                        <p:par>
                          <p:cTn id="149" fill="hold">
                            <p:stCondLst>
                              <p:cond delay="1000"/>
                            </p:stCondLst>
                            <p:childTnLst>
                              <p:par>
                                <p:cTn id="150" presetID="22" presetClass="entr" presetSubtype="4" fill="hold" nodeType="after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wipe(down)">
                                      <p:cBhvr>
                                        <p:cTn id="152" dur="5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6" presetClass="entr" presetSubtype="16" fill="hold" grpId="0" nodeType="clickEffect">
                                  <p:stCondLst>
                                    <p:cond delay="0"/>
                                  </p:stCondLst>
                                  <p:childTnLst>
                                    <p:set>
                                      <p:cBhvr>
                                        <p:cTn id="156" dur="1" fill="hold">
                                          <p:stCondLst>
                                            <p:cond delay="0"/>
                                          </p:stCondLst>
                                        </p:cTn>
                                        <p:tgtEl>
                                          <p:spTgt spid="37"/>
                                        </p:tgtEl>
                                        <p:attrNameLst>
                                          <p:attrName>style.visibility</p:attrName>
                                        </p:attrNameLst>
                                      </p:cBhvr>
                                      <p:to>
                                        <p:strVal val="visible"/>
                                      </p:to>
                                    </p:set>
                                    <p:animEffect transition="in" filter="circle(in)">
                                      <p:cBhvr>
                                        <p:cTn id="157" dur="1000"/>
                                        <p:tgtEl>
                                          <p:spTgt spid="37"/>
                                        </p:tgtEl>
                                      </p:cBhvr>
                                    </p:animEffect>
                                  </p:childTnLst>
                                </p:cTn>
                              </p:par>
                            </p:childTnLst>
                          </p:cTn>
                        </p:par>
                        <p:par>
                          <p:cTn id="158" fill="hold">
                            <p:stCondLst>
                              <p:cond delay="1000"/>
                            </p:stCondLst>
                            <p:childTnLst>
                              <p:par>
                                <p:cTn id="159" presetID="22" presetClass="entr" presetSubtype="4" fill="hold" nodeType="after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wipe(down)">
                                      <p:cBhvr>
                                        <p:cTn id="161" dur="500"/>
                                        <p:tgtEl>
                                          <p:spTgt spid="32"/>
                                        </p:tgtEl>
                                      </p:cBhvr>
                                    </p:animEffect>
                                  </p:childTnLst>
                                </p:cTn>
                              </p:par>
                            </p:childTnLst>
                          </p:cTn>
                        </p:par>
                      </p:childTnLst>
                    </p:cTn>
                  </p:par>
                  <p:par>
                    <p:cTn id="162" fill="hold">
                      <p:stCondLst>
                        <p:cond delay="indefinite"/>
                      </p:stCondLst>
                      <p:childTnLst>
                        <p:par>
                          <p:cTn id="163" fill="hold">
                            <p:stCondLst>
                              <p:cond delay="0"/>
                            </p:stCondLst>
                            <p:childTnLst>
                              <p:par>
                                <p:cTn id="164" presetID="6" presetClass="entr" presetSubtype="16" fill="hold" grpId="0" nodeType="clickEffect">
                                  <p:stCondLst>
                                    <p:cond delay="0"/>
                                  </p:stCondLst>
                                  <p:childTnLst>
                                    <p:set>
                                      <p:cBhvr>
                                        <p:cTn id="165" dur="1" fill="hold">
                                          <p:stCondLst>
                                            <p:cond delay="0"/>
                                          </p:stCondLst>
                                        </p:cTn>
                                        <p:tgtEl>
                                          <p:spTgt spid="40"/>
                                        </p:tgtEl>
                                        <p:attrNameLst>
                                          <p:attrName>style.visibility</p:attrName>
                                        </p:attrNameLst>
                                      </p:cBhvr>
                                      <p:to>
                                        <p:strVal val="visible"/>
                                      </p:to>
                                    </p:set>
                                    <p:animEffect transition="in" filter="circle(in)">
                                      <p:cBhvr>
                                        <p:cTn id="166" dur="1000"/>
                                        <p:tgtEl>
                                          <p:spTgt spid="40"/>
                                        </p:tgtEl>
                                      </p:cBhvr>
                                    </p:animEffect>
                                  </p:childTnLst>
                                </p:cTn>
                              </p:par>
                            </p:childTnLst>
                          </p:cTn>
                        </p:par>
                        <p:par>
                          <p:cTn id="167" fill="hold">
                            <p:stCondLst>
                              <p:cond delay="1000"/>
                            </p:stCondLst>
                            <p:childTnLst>
                              <p:par>
                                <p:cTn id="168" presetID="22" presetClass="entr" presetSubtype="4" fill="hold" nodeType="afterEffect">
                                  <p:stCondLst>
                                    <p:cond delay="0"/>
                                  </p:stCondLst>
                                  <p:childTnLst>
                                    <p:set>
                                      <p:cBhvr>
                                        <p:cTn id="169" dur="1" fill="hold">
                                          <p:stCondLst>
                                            <p:cond delay="0"/>
                                          </p:stCondLst>
                                        </p:cTn>
                                        <p:tgtEl>
                                          <p:spTgt spid="33"/>
                                        </p:tgtEl>
                                        <p:attrNameLst>
                                          <p:attrName>style.visibility</p:attrName>
                                        </p:attrNameLst>
                                      </p:cBhvr>
                                      <p:to>
                                        <p:strVal val="visible"/>
                                      </p:to>
                                    </p:set>
                                    <p:animEffect transition="in" filter="wipe(down)">
                                      <p:cBhvr>
                                        <p:cTn id="170" dur="500"/>
                                        <p:tgtEl>
                                          <p:spTgt spid="33"/>
                                        </p:tgtEl>
                                      </p:cBhvr>
                                    </p:animEffect>
                                  </p:childTnLst>
                                </p:cTn>
                              </p:par>
                            </p:childTnLst>
                          </p:cTn>
                        </p:par>
                      </p:childTnLst>
                    </p:cTn>
                  </p:par>
                  <p:par>
                    <p:cTn id="171" fill="hold">
                      <p:stCondLst>
                        <p:cond delay="indefinite"/>
                      </p:stCondLst>
                      <p:childTnLst>
                        <p:par>
                          <p:cTn id="172" fill="hold">
                            <p:stCondLst>
                              <p:cond delay="0"/>
                            </p:stCondLst>
                            <p:childTnLst>
                              <p:par>
                                <p:cTn id="173" presetID="6" presetClass="entr" presetSubtype="16" fill="hold" grpId="0" nodeType="clickEffect">
                                  <p:stCondLst>
                                    <p:cond delay="0"/>
                                  </p:stCondLst>
                                  <p:childTnLst>
                                    <p:set>
                                      <p:cBhvr>
                                        <p:cTn id="174" dur="1" fill="hold">
                                          <p:stCondLst>
                                            <p:cond delay="0"/>
                                          </p:stCondLst>
                                        </p:cTn>
                                        <p:tgtEl>
                                          <p:spTgt spid="43"/>
                                        </p:tgtEl>
                                        <p:attrNameLst>
                                          <p:attrName>style.visibility</p:attrName>
                                        </p:attrNameLst>
                                      </p:cBhvr>
                                      <p:to>
                                        <p:strVal val="visible"/>
                                      </p:to>
                                    </p:set>
                                    <p:animEffect transition="in" filter="circle(in)">
                                      <p:cBhvr>
                                        <p:cTn id="175" dur="1000"/>
                                        <p:tgtEl>
                                          <p:spTgt spid="43"/>
                                        </p:tgtEl>
                                      </p:cBhvr>
                                    </p:animEffect>
                                  </p:childTnLst>
                                </p:cTn>
                              </p:par>
                            </p:childTnLst>
                          </p:cTn>
                        </p:par>
                        <p:par>
                          <p:cTn id="176" fill="hold">
                            <p:stCondLst>
                              <p:cond delay="1000"/>
                            </p:stCondLst>
                            <p:childTnLst>
                              <p:par>
                                <p:cTn id="177" presetID="22" presetClass="entr" presetSubtype="4" fill="hold" nodeType="afterEffect">
                                  <p:stCondLst>
                                    <p:cond delay="0"/>
                                  </p:stCondLst>
                                  <p:childTnLst>
                                    <p:set>
                                      <p:cBhvr>
                                        <p:cTn id="178" dur="1" fill="hold">
                                          <p:stCondLst>
                                            <p:cond delay="0"/>
                                          </p:stCondLst>
                                        </p:cTn>
                                        <p:tgtEl>
                                          <p:spTgt spid="34"/>
                                        </p:tgtEl>
                                        <p:attrNameLst>
                                          <p:attrName>style.visibility</p:attrName>
                                        </p:attrNameLst>
                                      </p:cBhvr>
                                      <p:to>
                                        <p:strVal val="visible"/>
                                      </p:to>
                                    </p:set>
                                    <p:animEffect transition="in" filter="wipe(down)">
                                      <p:cBhvr>
                                        <p:cTn id="179" dur="500"/>
                                        <p:tgtEl>
                                          <p:spTgt spid="34"/>
                                        </p:tgtEl>
                                      </p:cBhvr>
                                    </p:animEffect>
                                  </p:childTnLst>
                                </p:cTn>
                              </p:par>
                            </p:childTnLst>
                          </p:cTn>
                        </p:par>
                      </p:childTnLst>
                    </p:cTn>
                  </p:par>
                  <p:par>
                    <p:cTn id="180" fill="hold">
                      <p:stCondLst>
                        <p:cond delay="indefinite"/>
                      </p:stCondLst>
                      <p:childTnLst>
                        <p:par>
                          <p:cTn id="181" fill="hold">
                            <p:stCondLst>
                              <p:cond delay="0"/>
                            </p:stCondLst>
                            <p:childTnLst>
                              <p:par>
                                <p:cTn id="182" presetID="6" presetClass="entr" presetSubtype="16" fill="hold" grpId="0" nodeType="clickEffect">
                                  <p:stCondLst>
                                    <p:cond delay="0"/>
                                  </p:stCondLst>
                                  <p:childTnLst>
                                    <p:set>
                                      <p:cBhvr>
                                        <p:cTn id="183" dur="1" fill="hold">
                                          <p:stCondLst>
                                            <p:cond delay="0"/>
                                          </p:stCondLst>
                                        </p:cTn>
                                        <p:tgtEl>
                                          <p:spTgt spid="41"/>
                                        </p:tgtEl>
                                        <p:attrNameLst>
                                          <p:attrName>style.visibility</p:attrName>
                                        </p:attrNameLst>
                                      </p:cBhvr>
                                      <p:to>
                                        <p:strVal val="visible"/>
                                      </p:to>
                                    </p:set>
                                    <p:animEffect transition="in" filter="circle(in)">
                                      <p:cBhvr>
                                        <p:cTn id="184" dur="1000"/>
                                        <p:tgtEl>
                                          <p:spTgt spid="41"/>
                                        </p:tgtEl>
                                      </p:cBhvr>
                                    </p:animEffect>
                                  </p:childTnLst>
                                </p:cTn>
                              </p:par>
                            </p:childTnLst>
                          </p:cTn>
                        </p:par>
                        <p:par>
                          <p:cTn id="185" fill="hold">
                            <p:stCondLst>
                              <p:cond delay="1000"/>
                            </p:stCondLst>
                            <p:childTnLst>
                              <p:par>
                                <p:cTn id="186" presetID="22" presetClass="entr" presetSubtype="4" fill="hold" nodeType="afterEffect">
                                  <p:stCondLst>
                                    <p:cond delay="0"/>
                                  </p:stCondLst>
                                  <p:childTnLst>
                                    <p:set>
                                      <p:cBhvr>
                                        <p:cTn id="187" dur="1" fill="hold">
                                          <p:stCondLst>
                                            <p:cond delay="0"/>
                                          </p:stCondLst>
                                        </p:cTn>
                                        <p:tgtEl>
                                          <p:spTgt spid="35"/>
                                        </p:tgtEl>
                                        <p:attrNameLst>
                                          <p:attrName>style.visibility</p:attrName>
                                        </p:attrNameLst>
                                      </p:cBhvr>
                                      <p:to>
                                        <p:strVal val="visible"/>
                                      </p:to>
                                    </p:set>
                                    <p:animEffect transition="in" filter="wipe(down)">
                                      <p:cBhvr>
                                        <p:cTn id="188" dur="500"/>
                                        <p:tgtEl>
                                          <p:spTgt spid="35"/>
                                        </p:tgtEl>
                                      </p:cBhvr>
                                    </p:animEffect>
                                  </p:childTnLst>
                                </p:cTn>
                              </p:par>
                            </p:childTnLst>
                          </p:cTn>
                        </p:par>
                        <p:par>
                          <p:cTn id="189" fill="hold">
                            <p:stCondLst>
                              <p:cond delay="1500"/>
                            </p:stCondLst>
                            <p:childTnLst>
                              <p:par>
                                <p:cTn id="190" presetID="10" presetClass="entr" presetSubtype="0" fill="hold" grpId="0" nodeType="afterEffect">
                                  <p:stCondLst>
                                    <p:cond delay="0"/>
                                  </p:stCondLst>
                                  <p:childTnLst>
                                    <p:set>
                                      <p:cBhvr>
                                        <p:cTn id="191" dur="1" fill="hold">
                                          <p:stCondLst>
                                            <p:cond delay="0"/>
                                          </p:stCondLst>
                                        </p:cTn>
                                        <p:tgtEl>
                                          <p:spTgt spid="44"/>
                                        </p:tgtEl>
                                        <p:attrNameLst>
                                          <p:attrName>style.visibility</p:attrName>
                                        </p:attrNameLst>
                                      </p:cBhvr>
                                      <p:to>
                                        <p:strVal val="visible"/>
                                      </p:to>
                                    </p:set>
                                    <p:animEffect transition="in" filter="fade">
                                      <p:cBhvr>
                                        <p:cTn id="19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animBg="1"/>
      <p:bldP spid="15" grpId="0" animBg="1"/>
      <p:bldP spid="17" grpId="0" animBg="1"/>
      <p:bldP spid="19" grpId="0" animBg="1"/>
      <p:bldP spid="21" grpId="0" animBg="1"/>
      <p:bldP spid="23" grpId="0" animBg="1"/>
      <p:bldP spid="25" grpId="0" animBg="1"/>
      <p:bldP spid="27" grpId="0" animBg="1"/>
      <p:bldP spid="36" grpId="0" animBg="1"/>
      <p:bldP spid="37" grpId="0" animBg="1"/>
      <p:bldP spid="38" grpId="0" animBg="1"/>
      <p:bldP spid="39" grpId="0" animBg="1"/>
      <p:bldP spid="40" grpId="0" animBg="1"/>
      <p:bldP spid="41" grpId="0" animBg="1"/>
      <p:bldP spid="43" grpId="0" animBg="1"/>
      <p:bldP spid="44" grpId="0"/>
      <p:bldP spid="4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121" y="455191"/>
            <a:ext cx="9628632" cy="1362113"/>
          </a:xfrm>
        </p:spPr>
        <p:txBody>
          <a:bodyPr/>
          <a:lstStyle/>
          <a:p>
            <a:r>
              <a:rPr lang="en-AU" dirty="0"/>
              <a:t>Example 2 </a:t>
            </a:r>
            <a:r>
              <a:rPr lang="mr-IN" dirty="0"/>
              <a:t>–</a:t>
            </a:r>
            <a:r>
              <a:rPr lang="en-AU" dirty="0"/>
              <a:t> Interpreting Dot plots</a:t>
            </a:r>
            <a:endParaRPr lang="en-US" dirty="0"/>
          </a:p>
        </p:txBody>
      </p:sp>
      <p:sp>
        <p:nvSpPr>
          <p:cNvPr id="3" name="TextBox 2"/>
          <p:cNvSpPr txBox="1"/>
          <p:nvPr/>
        </p:nvSpPr>
        <p:spPr>
          <a:xfrm>
            <a:off x="120433" y="1929162"/>
            <a:ext cx="11911733" cy="830997"/>
          </a:xfrm>
          <a:prstGeom prst="rect">
            <a:avLst/>
          </a:prstGeom>
          <a:noFill/>
        </p:spPr>
        <p:txBody>
          <a:bodyPr wrap="square" rtlCol="0">
            <a:spAutoFit/>
          </a:bodyPr>
          <a:lstStyle/>
          <a:p>
            <a:r>
              <a:rPr lang="en-US" sz="2400" dirty="0"/>
              <a:t>The following dot plot shows the results of a survey that asked students how many pets the have at home: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33" y="2760159"/>
            <a:ext cx="3336445" cy="3999241"/>
          </a:xfrm>
          <a:prstGeom prst="rect">
            <a:avLst/>
          </a:prstGeom>
        </p:spPr>
      </p:pic>
      <p:sp>
        <p:nvSpPr>
          <p:cNvPr id="5" name="TextBox 4"/>
          <p:cNvSpPr txBox="1"/>
          <p:nvPr/>
        </p:nvSpPr>
        <p:spPr>
          <a:xfrm>
            <a:off x="4382430" y="2435392"/>
            <a:ext cx="5602111" cy="3970318"/>
          </a:xfrm>
          <a:prstGeom prst="rect">
            <a:avLst/>
          </a:prstGeom>
          <a:noFill/>
        </p:spPr>
        <p:txBody>
          <a:bodyPr wrap="none" rtlCol="0">
            <a:spAutoFit/>
          </a:bodyPr>
          <a:lstStyle/>
          <a:p>
            <a:pPr marL="342900" indent="-342900">
              <a:buAutoNum type="alphaLcParenR"/>
            </a:pPr>
            <a:r>
              <a:rPr lang="en-US" dirty="0"/>
              <a:t>Use this graph to state how many children have 2 pets</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How many students participated in this survey?</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range of values?</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median number of pets?</a:t>
            </a:r>
          </a:p>
          <a:p>
            <a:pPr marL="342900" indent="-342900">
              <a:buAutoNum type="alphaLcParenR"/>
            </a:pPr>
            <a:endParaRPr lang="en-US" dirty="0"/>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a:t>What is the mode?</a:t>
            </a:r>
          </a:p>
        </p:txBody>
      </p:sp>
      <p:sp>
        <p:nvSpPr>
          <p:cNvPr id="10" name="TextBox 9"/>
          <p:cNvSpPr txBox="1"/>
          <p:nvPr/>
        </p:nvSpPr>
        <p:spPr>
          <a:xfrm>
            <a:off x="4824146" y="2802885"/>
            <a:ext cx="6500306" cy="369332"/>
          </a:xfrm>
          <a:prstGeom prst="rect">
            <a:avLst/>
          </a:prstGeom>
          <a:noFill/>
        </p:spPr>
        <p:txBody>
          <a:bodyPr wrap="none" rtlCol="0">
            <a:spAutoFit/>
          </a:bodyPr>
          <a:lstStyle/>
          <a:p>
            <a:r>
              <a:rPr lang="en-US" dirty="0">
                <a:solidFill>
                  <a:srgbClr val="C00000"/>
                </a:solidFill>
              </a:rPr>
              <a:t>- There are 4 dots in the ‘2 pets’ category, so 4 students have 2 pets</a:t>
            </a:r>
          </a:p>
        </p:txBody>
      </p:sp>
      <p:sp>
        <p:nvSpPr>
          <p:cNvPr id="11" name="TextBox 10"/>
          <p:cNvSpPr txBox="1"/>
          <p:nvPr/>
        </p:nvSpPr>
        <p:spPr>
          <a:xfrm>
            <a:off x="4824146" y="3646654"/>
            <a:ext cx="3191899" cy="369332"/>
          </a:xfrm>
          <a:prstGeom prst="rect">
            <a:avLst/>
          </a:prstGeom>
          <a:noFill/>
        </p:spPr>
        <p:txBody>
          <a:bodyPr wrap="none" rtlCol="0">
            <a:spAutoFit/>
          </a:bodyPr>
          <a:lstStyle/>
          <a:p>
            <a:r>
              <a:rPr lang="en-US" dirty="0">
                <a:solidFill>
                  <a:srgbClr val="C00000"/>
                </a:solidFill>
              </a:rPr>
              <a:t>- The total number of dots is 22.</a:t>
            </a:r>
          </a:p>
        </p:txBody>
      </p:sp>
      <p:sp>
        <p:nvSpPr>
          <p:cNvPr id="12" name="TextBox 11"/>
          <p:cNvSpPr txBox="1"/>
          <p:nvPr/>
        </p:nvSpPr>
        <p:spPr>
          <a:xfrm>
            <a:off x="4824146" y="4440755"/>
            <a:ext cx="6734664" cy="369332"/>
          </a:xfrm>
          <a:prstGeom prst="rect">
            <a:avLst/>
          </a:prstGeom>
          <a:noFill/>
        </p:spPr>
        <p:txBody>
          <a:bodyPr wrap="none" rtlCol="0">
            <a:spAutoFit/>
          </a:bodyPr>
          <a:lstStyle/>
          <a:p>
            <a:r>
              <a:rPr lang="en-US" dirty="0">
                <a:solidFill>
                  <a:srgbClr val="C00000"/>
                </a:solidFill>
              </a:rPr>
              <a:t>- Range = highest </a:t>
            </a:r>
            <a:r>
              <a:rPr lang="mr-IN" dirty="0">
                <a:solidFill>
                  <a:srgbClr val="C00000"/>
                </a:solidFill>
              </a:rPr>
              <a:t>–</a:t>
            </a:r>
            <a:r>
              <a:rPr lang="en-US" dirty="0">
                <a:solidFill>
                  <a:srgbClr val="C00000"/>
                </a:solidFill>
              </a:rPr>
              <a:t> lowest. In this case, highest = 8, lowest = 0. 8-0 = 8</a:t>
            </a:r>
          </a:p>
        </p:txBody>
      </p:sp>
      <p:sp>
        <p:nvSpPr>
          <p:cNvPr id="13" name="TextBox 12"/>
          <p:cNvSpPr txBox="1"/>
          <p:nvPr/>
        </p:nvSpPr>
        <p:spPr>
          <a:xfrm>
            <a:off x="4824146" y="5304809"/>
            <a:ext cx="7367854" cy="646331"/>
          </a:xfrm>
          <a:prstGeom prst="rect">
            <a:avLst/>
          </a:prstGeom>
          <a:noFill/>
        </p:spPr>
        <p:txBody>
          <a:bodyPr wrap="square" rtlCol="0">
            <a:spAutoFit/>
          </a:bodyPr>
          <a:lstStyle/>
          <a:p>
            <a:pPr marL="285750" indent="-285750">
              <a:buFontTx/>
              <a:buChar char="-"/>
            </a:pPr>
            <a:r>
              <a:rPr lang="en-US" dirty="0">
                <a:solidFill>
                  <a:srgbClr val="C00000"/>
                </a:solidFill>
              </a:rPr>
              <a:t>As there are 22 children, there are 2 median values, the 11</a:t>
            </a:r>
            <a:r>
              <a:rPr lang="en-US" baseline="30000" dirty="0">
                <a:solidFill>
                  <a:srgbClr val="C00000"/>
                </a:solidFill>
              </a:rPr>
              <a:t>th</a:t>
            </a:r>
            <a:r>
              <a:rPr lang="en-US" dirty="0">
                <a:solidFill>
                  <a:srgbClr val="C00000"/>
                </a:solidFill>
              </a:rPr>
              <a:t> and 12</a:t>
            </a:r>
            <a:r>
              <a:rPr lang="en-US" baseline="30000" dirty="0">
                <a:solidFill>
                  <a:srgbClr val="C00000"/>
                </a:solidFill>
              </a:rPr>
              <a:t>th</a:t>
            </a:r>
            <a:r>
              <a:rPr lang="en-US" dirty="0">
                <a:solidFill>
                  <a:srgbClr val="C00000"/>
                </a:solidFill>
              </a:rPr>
              <a:t> values. In this case, the 11</a:t>
            </a:r>
            <a:r>
              <a:rPr lang="en-US" baseline="30000" dirty="0">
                <a:solidFill>
                  <a:srgbClr val="C00000"/>
                </a:solidFill>
              </a:rPr>
              <a:t>th</a:t>
            </a:r>
            <a:r>
              <a:rPr lang="en-US" dirty="0">
                <a:solidFill>
                  <a:srgbClr val="C00000"/>
                </a:solidFill>
              </a:rPr>
              <a:t> and 12</a:t>
            </a:r>
            <a:r>
              <a:rPr lang="en-US" baseline="30000" dirty="0">
                <a:solidFill>
                  <a:srgbClr val="C00000"/>
                </a:solidFill>
              </a:rPr>
              <a:t>th</a:t>
            </a:r>
            <a:r>
              <a:rPr lang="en-US" dirty="0">
                <a:solidFill>
                  <a:srgbClr val="C00000"/>
                </a:solidFill>
              </a:rPr>
              <a:t> values are both 1, so the median is 1.</a:t>
            </a:r>
          </a:p>
        </p:txBody>
      </p:sp>
      <p:sp>
        <p:nvSpPr>
          <p:cNvPr id="14" name="TextBox 13"/>
          <p:cNvSpPr txBox="1"/>
          <p:nvPr/>
        </p:nvSpPr>
        <p:spPr>
          <a:xfrm>
            <a:off x="4824146" y="6385682"/>
            <a:ext cx="2926122" cy="369332"/>
          </a:xfrm>
          <a:prstGeom prst="rect">
            <a:avLst/>
          </a:prstGeom>
          <a:noFill/>
        </p:spPr>
        <p:txBody>
          <a:bodyPr wrap="none" rtlCol="0">
            <a:spAutoFit/>
          </a:bodyPr>
          <a:lstStyle/>
          <a:p>
            <a:r>
              <a:rPr lang="en-US" dirty="0">
                <a:solidFill>
                  <a:srgbClr val="C00000"/>
                </a:solidFill>
              </a:rPr>
              <a:t>- </a:t>
            </a:r>
            <a:r>
              <a:rPr lang="en-CA" dirty="0">
                <a:solidFill>
                  <a:srgbClr val="C00000"/>
                </a:solidFill>
              </a:rPr>
              <a:t>1. Most children have 1 pet.</a:t>
            </a:r>
            <a:endParaRPr lang="en-US" dirty="0">
              <a:solidFill>
                <a:srgbClr val="C00000"/>
              </a:solidFill>
            </a:endParaRPr>
          </a:p>
        </p:txBody>
      </p:sp>
    </p:spTree>
    <p:extLst>
      <p:ext uri="{BB962C8B-B14F-4D97-AF65-F5344CB8AC3E}">
        <p14:creationId xmlns:p14="http://schemas.microsoft.com/office/powerpoint/2010/main" val="74906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additive="base">
                                        <p:cTn id="3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E197F-33CC-4642-97AD-718C6BD5BD22}"/>
              </a:ext>
            </a:extLst>
          </p:cNvPr>
          <p:cNvSpPr>
            <a:spLocks noGrp="1"/>
          </p:cNvSpPr>
          <p:nvPr>
            <p:ph type="title"/>
          </p:nvPr>
        </p:nvSpPr>
        <p:spPr>
          <a:xfrm>
            <a:off x="304894" y="672539"/>
            <a:ext cx="10058400" cy="734183"/>
          </a:xfrm>
        </p:spPr>
        <p:txBody>
          <a:bodyPr/>
          <a:lstStyle/>
          <a:p>
            <a:r>
              <a:rPr lang="en-AU" dirty="0"/>
              <a:t>Independent Practice</a:t>
            </a:r>
          </a:p>
        </p:txBody>
      </p:sp>
      <p:sp>
        <p:nvSpPr>
          <p:cNvPr id="4" name="TextBox 3"/>
          <p:cNvSpPr txBox="1"/>
          <p:nvPr/>
        </p:nvSpPr>
        <p:spPr>
          <a:xfrm>
            <a:off x="680224" y="2397512"/>
            <a:ext cx="5786071" cy="461665"/>
          </a:xfrm>
          <a:prstGeom prst="rect">
            <a:avLst/>
          </a:prstGeom>
          <a:noFill/>
        </p:spPr>
        <p:txBody>
          <a:bodyPr wrap="none" rtlCol="0">
            <a:spAutoFit/>
          </a:bodyPr>
          <a:lstStyle/>
          <a:p>
            <a:pPr marL="285750" indent="-285750">
              <a:buFont typeface="Arial" charset="0"/>
              <a:buChar char="•"/>
            </a:pPr>
            <a:r>
              <a:rPr lang="en-US" sz="2400" dirty="0"/>
              <a:t>Roll the dice Dot Plot game in pairs/groups</a:t>
            </a:r>
          </a:p>
        </p:txBody>
      </p:sp>
      <p:sp>
        <p:nvSpPr>
          <p:cNvPr id="5" name="TextBox 4"/>
          <p:cNvSpPr txBox="1"/>
          <p:nvPr/>
        </p:nvSpPr>
        <p:spPr>
          <a:xfrm>
            <a:off x="680224" y="3157061"/>
            <a:ext cx="11426432" cy="1938992"/>
          </a:xfrm>
          <a:prstGeom prst="rect">
            <a:avLst/>
          </a:prstGeom>
          <a:noFill/>
        </p:spPr>
        <p:txBody>
          <a:bodyPr wrap="square" rtlCol="0">
            <a:spAutoFit/>
          </a:bodyPr>
          <a:lstStyle/>
          <a:p>
            <a:r>
              <a:rPr lang="en-US" sz="2400" b="1" u="sng" dirty="0"/>
              <a:t>Application</a:t>
            </a:r>
            <a:r>
              <a:rPr lang="en-US" sz="2400" dirty="0"/>
              <a:t>: Once you’ve completed your frequency table and Dot plot, calculate </a:t>
            </a:r>
            <a:r>
              <a:rPr lang="en-US" sz="2400"/>
              <a:t>the following for your sample space: </a:t>
            </a:r>
            <a:endParaRPr lang="en-US" sz="2400" dirty="0"/>
          </a:p>
          <a:p>
            <a:pPr marL="342900" indent="-342900">
              <a:buFont typeface="Arial" charset="0"/>
              <a:buChar char="•"/>
            </a:pPr>
            <a:r>
              <a:rPr lang="en-US" sz="2400" dirty="0"/>
              <a:t>The Median</a:t>
            </a:r>
          </a:p>
          <a:p>
            <a:pPr marL="342900" indent="-342900">
              <a:buFont typeface="Arial" charset="0"/>
              <a:buChar char="•"/>
            </a:pPr>
            <a:r>
              <a:rPr lang="en-US" sz="2400" dirty="0"/>
              <a:t>The Mode</a:t>
            </a:r>
          </a:p>
          <a:p>
            <a:pPr marL="342900" indent="-342900">
              <a:buFont typeface="Arial" charset="0"/>
              <a:buChar char="•"/>
            </a:pPr>
            <a:r>
              <a:rPr lang="en-US" sz="2400" dirty="0"/>
              <a:t>The Range</a:t>
            </a:r>
          </a:p>
        </p:txBody>
      </p:sp>
      <p:sp>
        <p:nvSpPr>
          <p:cNvPr id="6" name="TextBox 5"/>
          <p:cNvSpPr txBox="1"/>
          <p:nvPr/>
        </p:nvSpPr>
        <p:spPr>
          <a:xfrm>
            <a:off x="680224" y="5393937"/>
            <a:ext cx="11426432" cy="1200329"/>
          </a:xfrm>
          <a:prstGeom prst="rect">
            <a:avLst/>
          </a:prstGeom>
          <a:noFill/>
        </p:spPr>
        <p:txBody>
          <a:bodyPr wrap="square" rtlCol="0">
            <a:spAutoFit/>
          </a:bodyPr>
          <a:lstStyle/>
          <a:p>
            <a:r>
              <a:rPr lang="en-US" sz="2400" b="1" u="sng" dirty="0"/>
              <a:t>Extension</a:t>
            </a:r>
            <a:r>
              <a:rPr lang="en-US" sz="2400" dirty="0"/>
              <a:t>: </a:t>
            </a:r>
          </a:p>
          <a:p>
            <a:pPr marL="342900" indent="-342900">
              <a:buFont typeface="Arial" charset="0"/>
              <a:buChar char="•"/>
            </a:pPr>
            <a:r>
              <a:rPr lang="en-US" sz="2400" dirty="0"/>
              <a:t>How many times did you roll a multiple of 2?</a:t>
            </a:r>
          </a:p>
          <a:p>
            <a:pPr marL="342900" indent="-342900">
              <a:buFont typeface="Arial" charset="0"/>
              <a:buChar char="•"/>
            </a:pPr>
            <a:r>
              <a:rPr lang="en-US" sz="2400" dirty="0"/>
              <a:t>What is the mean number you rolled?</a:t>
            </a:r>
          </a:p>
        </p:txBody>
      </p:sp>
    </p:spTree>
    <p:extLst>
      <p:ext uri="{BB962C8B-B14F-4D97-AF65-F5344CB8AC3E}">
        <p14:creationId xmlns:p14="http://schemas.microsoft.com/office/powerpoint/2010/main" val="26974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a:t>Class/Homework</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853441" y="2462784"/>
            <a:ext cx="11026648" cy="1200329"/>
          </a:xfrm>
          <a:prstGeom prst="rect">
            <a:avLst/>
          </a:prstGeom>
          <a:noFill/>
        </p:spPr>
        <p:txBody>
          <a:bodyPr wrap="square" rtlCol="0">
            <a:spAutoFit/>
          </a:bodyPr>
          <a:lstStyle/>
          <a:p>
            <a:pPr marL="285750" indent="-285750">
              <a:buFont typeface="Arial" charset="0"/>
              <a:buChar char="•"/>
            </a:pPr>
            <a:r>
              <a:rPr lang="en-US" sz="3600" dirty="0"/>
              <a:t>Dot Plot Worksheet or Statistics Foldable</a:t>
            </a:r>
          </a:p>
          <a:p>
            <a:pPr marL="285750" indent="-285750">
              <a:buFont typeface="Arial" charset="0"/>
              <a:buChar char="•"/>
            </a:pPr>
            <a:endParaRPr lang="en-US" sz="3600" dirty="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600" dirty="0"/>
              <a:t>  Exit Pass</a:t>
            </a:r>
          </a:p>
        </p:txBody>
      </p:sp>
      <p:sp>
        <p:nvSpPr>
          <p:cNvPr id="3" name="TextBox 2"/>
          <p:cNvSpPr txBox="1"/>
          <p:nvPr/>
        </p:nvSpPr>
        <p:spPr>
          <a:xfrm>
            <a:off x="2909610" y="2118731"/>
            <a:ext cx="4501553" cy="646331"/>
          </a:xfrm>
          <a:prstGeom prst="rect">
            <a:avLst/>
          </a:prstGeom>
          <a:noFill/>
        </p:spPr>
        <p:txBody>
          <a:bodyPr wrap="none" rtlCol="0">
            <a:spAutoFit/>
          </a:bodyPr>
          <a:lstStyle/>
          <a:p>
            <a:r>
              <a:rPr lang="en-US" sz="3600" dirty="0"/>
              <a:t>6, 6, 2, 5, 7, 3, 2, 2, 1, 4</a:t>
            </a:r>
          </a:p>
        </p:txBody>
      </p:sp>
      <p:sp>
        <p:nvSpPr>
          <p:cNvPr id="6" name="TextBox 5"/>
          <p:cNvSpPr txBox="1"/>
          <p:nvPr/>
        </p:nvSpPr>
        <p:spPr>
          <a:xfrm>
            <a:off x="345687" y="3479179"/>
            <a:ext cx="9835377" cy="2677656"/>
          </a:xfrm>
          <a:prstGeom prst="rect">
            <a:avLst/>
          </a:prstGeom>
          <a:noFill/>
        </p:spPr>
        <p:txBody>
          <a:bodyPr wrap="square" rtlCol="0">
            <a:spAutoFit/>
          </a:bodyPr>
          <a:lstStyle/>
          <a:p>
            <a:pPr marL="457200" indent="-457200">
              <a:buFont typeface="Arial" charset="0"/>
              <a:buChar char="•"/>
            </a:pPr>
            <a:r>
              <a:rPr lang="en-US" sz="2800" dirty="0"/>
              <a:t>On a piece of paper, create a dot plot for above set of numbers.</a:t>
            </a:r>
          </a:p>
          <a:p>
            <a:pPr marL="457200" indent="-457200">
              <a:buFont typeface="Arial" charset="0"/>
              <a:buChar char="•"/>
            </a:pPr>
            <a:endParaRPr lang="en-US" sz="2800" dirty="0"/>
          </a:p>
          <a:p>
            <a:pPr marL="457200" indent="-457200">
              <a:buFont typeface="Arial" charset="0"/>
              <a:buChar char="•"/>
            </a:pPr>
            <a:r>
              <a:rPr lang="en-US" sz="2800" dirty="0"/>
              <a:t>Calculate the mean, median, mode and range for the above set of numbers</a:t>
            </a:r>
          </a:p>
          <a:p>
            <a:pPr marL="457200" indent="-457200">
              <a:buFont typeface="Arial" charset="0"/>
              <a:buChar char="•"/>
            </a:pPr>
            <a:endParaRPr lang="en-US" sz="2800" dirty="0"/>
          </a:p>
          <a:p>
            <a:pPr marL="457200" indent="-457200">
              <a:buFont typeface="Arial" charset="0"/>
              <a:buChar char="•"/>
            </a:pPr>
            <a:r>
              <a:rPr lang="en-US" sz="2800" dirty="0"/>
              <a:t>Hand in to me when done and complete summary</a:t>
            </a:r>
          </a:p>
        </p:txBody>
      </p:sp>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977900"/>
            <a:ext cx="1455463" cy="461665"/>
          </a:xfrm>
          <a:prstGeom prst="rect">
            <a:avLst/>
          </a:prstGeom>
          <a:noFill/>
        </p:spPr>
        <p:txBody>
          <a:bodyPr wrap="none" rtlCol="0">
            <a:spAutoFit/>
          </a:bodyPr>
          <a:lstStyle/>
          <a:p>
            <a:r>
              <a:rPr lang="en-US" sz="2400" dirty="0"/>
              <a:t>Summary:</a:t>
            </a:r>
          </a:p>
        </p:txBody>
      </p:sp>
      <p:cxnSp>
        <p:nvCxnSpPr>
          <p:cNvPr id="6" name="Straight Connector 5"/>
          <p:cNvCxnSpPr/>
          <p:nvPr/>
        </p:nvCxnSpPr>
        <p:spPr>
          <a:xfrm>
            <a:off x="0" y="5977900"/>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7" name="Right Arrow 6"/>
          <p:cNvSpPr/>
          <p:nvPr/>
        </p:nvSpPr>
        <p:spPr>
          <a:xfrm rot="8845994">
            <a:off x="1520211" y="5114600"/>
            <a:ext cx="981068" cy="5271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474976" y="4547616"/>
            <a:ext cx="5897512" cy="461665"/>
          </a:xfrm>
          <a:prstGeom prst="rect">
            <a:avLst/>
          </a:prstGeom>
          <a:noFill/>
        </p:spPr>
        <p:txBody>
          <a:bodyPr wrap="none" rtlCol="0">
            <a:spAutoFit/>
          </a:bodyPr>
          <a:lstStyle/>
          <a:p>
            <a:r>
              <a:rPr lang="en-US" sz="2400" dirty="0"/>
              <a:t>Complete your summary by answering the EQ</a:t>
            </a:r>
          </a:p>
        </p:txBody>
      </p:sp>
      <p:sp>
        <p:nvSpPr>
          <p:cNvPr id="13"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a:t>Measures of Center and Spread</a:t>
            </a:r>
            <a:br>
              <a:rPr lang="en-US"/>
            </a:br>
            <a:r>
              <a:rPr lang="en-US"/>
              <a:t>EQ: </a:t>
            </a:r>
            <a:r>
              <a:rPr lang="en-US" sz="2900"/>
              <a:t>What are mode and range and what do they tell us about a data set? </a:t>
            </a:r>
            <a:endParaRPr lang="en-US" sz="2900" dirty="0"/>
          </a:p>
        </p:txBody>
      </p:sp>
    </p:spTree>
    <p:extLst>
      <p:ext uri="{BB962C8B-B14F-4D97-AF65-F5344CB8AC3E}">
        <p14:creationId xmlns:p14="http://schemas.microsoft.com/office/powerpoint/2010/main" val="134811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Homework</a:t>
            </a:r>
          </a:p>
        </p:txBody>
      </p:sp>
      <p:sp>
        <p:nvSpPr>
          <p:cNvPr id="3" name="TextBox 2"/>
          <p:cNvSpPr txBox="1"/>
          <p:nvPr/>
        </p:nvSpPr>
        <p:spPr>
          <a:xfrm>
            <a:off x="682753" y="2353056"/>
            <a:ext cx="11026648" cy="3416320"/>
          </a:xfrm>
          <a:prstGeom prst="rect">
            <a:avLst/>
          </a:prstGeom>
          <a:noFill/>
        </p:spPr>
        <p:txBody>
          <a:bodyPr wrap="square" rtlCol="0">
            <a:spAutoFit/>
          </a:bodyPr>
          <a:lstStyle/>
          <a:p>
            <a:pPr marL="285750" indent="-285750">
              <a:buFont typeface="Arial" charset="0"/>
              <a:buChar char="•"/>
            </a:pPr>
            <a:r>
              <a:rPr lang="en-US" sz="3600" dirty="0"/>
              <a:t>Review Notes</a:t>
            </a:r>
          </a:p>
          <a:p>
            <a:pPr marL="285750" indent="-285750">
              <a:buFont typeface="Arial" charset="0"/>
              <a:buChar char="•"/>
            </a:pPr>
            <a:endParaRPr lang="en-US" sz="3600" dirty="0"/>
          </a:p>
          <a:p>
            <a:pPr marL="285750" indent="-285750">
              <a:buFont typeface="Arial" charset="0"/>
              <a:buChar char="•"/>
            </a:pPr>
            <a:r>
              <a:rPr lang="en-US" sz="3600" dirty="0"/>
              <a:t>List all new terms in glossary</a:t>
            </a:r>
          </a:p>
          <a:p>
            <a:pPr marL="285750" indent="-285750">
              <a:buFont typeface="Arial" charset="0"/>
              <a:buChar char="•"/>
            </a:pPr>
            <a:endParaRPr lang="en-US" sz="3600" dirty="0"/>
          </a:p>
          <a:p>
            <a:pPr marL="285750" indent="-285750">
              <a:buFont typeface="Arial" charset="0"/>
              <a:buChar char="•"/>
            </a:pPr>
            <a:r>
              <a:rPr lang="en-US" sz="3600" dirty="0"/>
              <a:t>Finish Dot Plot worksheet or Statistics Foldable</a:t>
            </a:r>
          </a:p>
          <a:p>
            <a:pPr marL="285750" indent="-285750">
              <a:buFont typeface="Arial" charset="0"/>
              <a:buChar char="•"/>
            </a:pPr>
            <a:endParaRPr lang="en-US" sz="3600" dirty="0"/>
          </a:p>
        </p:txBody>
      </p:sp>
    </p:spTree>
    <p:extLst>
      <p:ext uri="{BB962C8B-B14F-4D97-AF65-F5344CB8AC3E}">
        <p14:creationId xmlns:p14="http://schemas.microsoft.com/office/powerpoint/2010/main" val="153789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F7A874A-6E55-415B-9061-8B2D43DC2F48}">
  <ds:schemaRefs>
    <ds:schemaRef ds:uri="http://schemas.microsoft.com/sharepoint/v3/contenttype/forms"/>
  </ds:schemaRefs>
</ds:datastoreItem>
</file>

<file path=customXml/itemProps3.xml><?xml version="1.0" encoding="utf-8"?>
<ds:datastoreItem xmlns:ds="http://schemas.openxmlformats.org/officeDocument/2006/customXml" ds:itemID="{91BC99BC-3A63-4255-9D4F-38C5B80A319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739</Words>
  <Application>Microsoft Office PowerPoint</Application>
  <PresentationFormat>Widescreen</PresentationFormat>
  <Paragraphs>115</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Wingdings</vt:lpstr>
      <vt:lpstr>Education 16x9</vt:lpstr>
      <vt:lpstr>5 Questions</vt:lpstr>
      <vt:lpstr>Starter Activity – To be done in the classroom if space permits, or in the hallway/outside with chalk</vt:lpstr>
      <vt:lpstr>PowerPoint Presentation</vt:lpstr>
      <vt:lpstr>Dot Plots EQ: What are dot plots and why do we use them to display data? </vt:lpstr>
      <vt:lpstr>Dot Plots EQ: What are dot plots and why do we use them to display data? </vt:lpstr>
      <vt:lpstr>Example 2 – Interpreting Dot plots</vt:lpstr>
      <vt:lpstr>Independent Practice</vt:lpstr>
      <vt:lpstr>Class/Homework</vt:lpstr>
      <vt:lpstr>PowerPoint Presentation</vt:lpstr>
      <vt:lpstr>PowerPoint Presentation</vt:lpstr>
      <vt:lpstr>Homework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2019-08-12T14:24:44Z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
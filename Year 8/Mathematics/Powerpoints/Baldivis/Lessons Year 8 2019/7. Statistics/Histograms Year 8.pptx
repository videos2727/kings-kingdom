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31" r:id="rId2"/>
    <p:sldId id="337" r:id="rId3"/>
    <p:sldId id="344" r:id="rId4"/>
    <p:sldId id="334" r:id="rId5"/>
    <p:sldId id="336" r:id="rId6"/>
    <p:sldId id="339" r:id="rId7"/>
    <p:sldId id="338" r:id="rId8"/>
    <p:sldId id="329" r:id="rId9"/>
    <p:sldId id="341" r:id="rId10"/>
    <p:sldId id="343" r:id="rId11"/>
    <p:sldId id="345" r:id="rId12"/>
    <p:sldId id="346" r:id="rId13"/>
  </p:sldIdLst>
  <p:sldSz cx="9144000" cy="5715000" type="screen16x1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35" autoAdjust="0"/>
    <p:restoredTop sz="89850" autoAdjust="0"/>
  </p:normalViewPr>
  <p:slideViewPr>
    <p:cSldViewPr>
      <p:cViewPr varScale="1">
        <p:scale>
          <a:sx n="100" d="100"/>
          <a:sy n="100" d="100"/>
        </p:scale>
        <p:origin x="288" y="86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4007446\Desktop\yr%20%209%20histogram%20lesson%20data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 w="19050">
              <a:solidFill>
                <a:schemeClr val="tx1"/>
              </a:solidFill>
            </a:ln>
            <a:effectLst/>
          </c:spPr>
          <c:invertIfNegative val="0"/>
          <c:cat>
            <c:strRef>
              <c:f>Sheet2!$A$1:$A$6</c:f>
              <c:strCache>
                <c:ptCount val="6"/>
                <c:pt idx="0">
                  <c:v>1-3</c:v>
                </c:pt>
                <c:pt idx="1">
                  <c:v>4-6</c:v>
                </c:pt>
                <c:pt idx="2">
                  <c:v>7-9</c:v>
                </c:pt>
                <c:pt idx="3">
                  <c:v>10-12</c:v>
                </c:pt>
                <c:pt idx="4">
                  <c:v>13-15</c:v>
                </c:pt>
                <c:pt idx="5">
                  <c:v>16-18</c:v>
                </c:pt>
              </c:strCache>
            </c:strRef>
          </c:cat>
          <c:val>
            <c:numRef>
              <c:f>Sheet2!$B$1:$B$6</c:f>
              <c:numCache>
                <c:formatCode>General</c:formatCode>
                <c:ptCount val="6"/>
                <c:pt idx="0">
                  <c:v>10</c:v>
                </c:pt>
                <c:pt idx="1">
                  <c:v>14</c:v>
                </c:pt>
                <c:pt idx="2">
                  <c:v>10</c:v>
                </c:pt>
                <c:pt idx="3">
                  <c:v>6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56-4273-8B86-6D8ED1D23B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-27"/>
        <c:axId val="359970872"/>
        <c:axId val="359972512"/>
      </c:barChart>
      <c:catAx>
        <c:axId val="359970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9972512"/>
        <c:crosses val="autoZero"/>
        <c:auto val="1"/>
        <c:lblAlgn val="ctr"/>
        <c:lblOffset val="100"/>
        <c:noMultiLvlLbl val="0"/>
      </c:catAx>
      <c:valAx>
        <c:axId val="3599725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99708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0.063</cdr:x>
      <cdr:y>0</cdr:y>
    </cdr:from>
    <cdr:to>
      <cdr:x>0.97649</cdr:x>
      <cdr:y>0.92438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BC849119-E7B9-48A8-A12F-5BFCFD990AA5}"/>
            </a:ext>
          </a:extLst>
        </cdr:cNvPr>
        <cdr:cNvSpPr/>
      </cdr:nvSpPr>
      <cdr:spPr>
        <a:xfrm xmlns:a="http://schemas.openxmlformats.org/drawingml/2006/main">
          <a:off x="288032" y="0"/>
          <a:ext cx="4176464" cy="2535766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chemeClr val="bg1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2/08/2019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668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1820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0845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7178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6372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8355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Histograms display </a:t>
            </a:r>
            <a:r>
              <a:rPr lang="en-AU" b="1" dirty="0"/>
              <a:t>continuous numerical </a:t>
            </a:r>
            <a:r>
              <a:rPr lang="en-AU" dirty="0"/>
              <a:t>data without any </a:t>
            </a:r>
            <a:r>
              <a:rPr lang="en-AU" b="1" dirty="0"/>
              <a:t>gaps</a:t>
            </a:r>
            <a:r>
              <a:rPr lang="en-AU" dirty="0"/>
              <a:t>. To create histograms we need to decide on appropriate </a:t>
            </a:r>
            <a:r>
              <a:rPr lang="en-AU" b="1" dirty="0"/>
              <a:t>class width sizes </a:t>
            </a:r>
            <a:r>
              <a:rPr lang="en-AU" dirty="0"/>
              <a:t>and then create a </a:t>
            </a:r>
            <a:r>
              <a:rPr lang="en-AU" b="1" dirty="0"/>
              <a:t>frequency</a:t>
            </a:r>
            <a:r>
              <a:rPr lang="en-AU" dirty="0"/>
              <a:t> table.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1998AB-7CBF-4657-BBB5-55646DC36955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0670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809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619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42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23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04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66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47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</p:spPr>
        <p:txBody>
          <a:bodyPr anchor="t"/>
          <a:lstStyle>
            <a:lvl1pPr algn="l">
              <a:defRPr sz="3333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1pPr>
            <a:lvl2pPr marL="38098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6197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3pPr>
            <a:lvl4pPr marL="114295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4pPr>
            <a:lvl5pPr marL="152393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5pPr>
            <a:lvl6pPr marL="190492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6pPr>
            <a:lvl7pPr marL="228590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7pPr>
            <a:lvl8pPr marL="2666893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8pPr>
            <a:lvl9pPr marL="3047878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333"/>
            </a:lvl1pPr>
            <a:lvl2pPr>
              <a:defRPr sz="2000"/>
            </a:lvl2pPr>
            <a:lvl3pPr>
              <a:defRPr sz="1667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333"/>
            </a:lvl1pPr>
            <a:lvl2pPr>
              <a:defRPr sz="2000"/>
            </a:lvl2pPr>
            <a:lvl3pPr>
              <a:defRPr sz="1667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000"/>
            </a:lvl1pPr>
            <a:lvl2pPr>
              <a:defRPr sz="1667"/>
            </a:lvl2pPr>
            <a:lvl3pPr>
              <a:defRPr sz="15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000"/>
            </a:lvl1pPr>
            <a:lvl2pPr>
              <a:defRPr sz="1667"/>
            </a:lvl2pPr>
            <a:lvl3pPr>
              <a:defRPr sz="15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2/08/2019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2/08/2019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2/08/2019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1667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2667"/>
            </a:lvl1pPr>
            <a:lvl2pPr>
              <a:defRPr sz="2333"/>
            </a:lvl2pPr>
            <a:lvl3pPr>
              <a:defRPr sz="2000"/>
            </a:lvl3pPr>
            <a:lvl4pPr>
              <a:defRPr sz="1667"/>
            </a:lvl4pPr>
            <a:lvl5pPr>
              <a:defRPr sz="1667"/>
            </a:lvl5pPr>
            <a:lvl6pPr>
              <a:defRPr sz="1667"/>
            </a:lvl6pPr>
            <a:lvl7pPr>
              <a:defRPr sz="1667"/>
            </a:lvl7pPr>
            <a:lvl8pPr>
              <a:defRPr sz="1667"/>
            </a:lvl8pPr>
            <a:lvl9pPr>
              <a:defRPr sz="1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167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1667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2667"/>
            </a:lvl1pPr>
            <a:lvl2pPr marL="380985" indent="0">
              <a:buNone/>
              <a:defRPr sz="2333"/>
            </a:lvl2pPr>
            <a:lvl3pPr marL="761970" indent="0">
              <a:buNone/>
              <a:defRPr sz="2000"/>
            </a:lvl3pPr>
            <a:lvl4pPr marL="1142954" indent="0">
              <a:buNone/>
              <a:defRPr sz="1667"/>
            </a:lvl4pPr>
            <a:lvl5pPr marL="1523939" indent="0">
              <a:buNone/>
              <a:defRPr sz="1667"/>
            </a:lvl5pPr>
            <a:lvl6pPr marL="1904924" indent="0">
              <a:buNone/>
              <a:defRPr sz="1667"/>
            </a:lvl6pPr>
            <a:lvl7pPr marL="2285909" indent="0">
              <a:buNone/>
              <a:defRPr sz="1667"/>
            </a:lvl7pPr>
            <a:lvl8pPr marL="2666893" indent="0">
              <a:buNone/>
              <a:defRPr sz="1667"/>
            </a:lvl8pPr>
            <a:lvl9pPr marL="3047878" indent="0">
              <a:buNone/>
              <a:defRPr sz="1667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167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5"/>
            <a:ext cx="2057400" cy="48762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5"/>
            <a:ext cx="6019800" cy="48762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2/08/2019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61970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7619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761970" rtl="0" eaLnBrk="1" latinLnBrk="0" hangingPunct="1">
        <a:spcBef>
          <a:spcPct val="20000"/>
        </a:spcBef>
        <a:buFont typeface="Arial" pitchFamily="34" charset="0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spcBef>
          <a:spcPct val="20000"/>
        </a:spcBef>
        <a:buFont typeface="Arial" pitchFamily="34" charset="0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spcBef>
          <a:spcPct val="20000"/>
        </a:spcBef>
        <a:buFont typeface="Arial" pitchFamily="34" charset="0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052E964-2C96-4483-A97C-D2C618037D09}"/>
              </a:ext>
            </a:extLst>
          </p:cNvPr>
          <p:cNvSpPr/>
          <p:nvPr/>
        </p:nvSpPr>
        <p:spPr>
          <a:xfrm>
            <a:off x="251520" y="337220"/>
            <a:ext cx="849694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 smtClean="0"/>
              <a:t>FIRST 5</a:t>
            </a:r>
          </a:p>
          <a:p>
            <a:r>
              <a:rPr lang="en-AU" b="1" dirty="0" smtClean="0"/>
              <a:t>A </a:t>
            </a:r>
            <a:r>
              <a:rPr lang="en-AU" b="1" dirty="0"/>
              <a:t>class of students has measured their heights.</a:t>
            </a:r>
          </a:p>
          <a:p>
            <a:endParaRPr lang="en-AU" dirty="0"/>
          </a:p>
          <a:p>
            <a:r>
              <a:rPr lang="en-AU" dirty="0"/>
              <a:t>146, 148, 151, 153, 153, 154, 155, 156, 156, 156, 157, 157, 159, 162, 162, 162, 163, 164, 164, 165, 165, 168, 168, 173, 174, 177, 181. 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 smtClean="0"/>
              <a:t>Find the mean</a:t>
            </a:r>
          </a:p>
          <a:p>
            <a:pPr marL="342900" indent="-342900">
              <a:buAutoNum type="arabicPeriod"/>
            </a:pPr>
            <a:r>
              <a:rPr lang="en-AU" dirty="0" smtClean="0"/>
              <a:t>Find the Mode</a:t>
            </a:r>
          </a:p>
          <a:p>
            <a:pPr marL="342900" indent="-342900">
              <a:buAutoNum type="arabicPeriod"/>
            </a:pPr>
            <a:r>
              <a:rPr lang="en-AU" dirty="0" smtClean="0"/>
              <a:t>Find the median</a:t>
            </a:r>
          </a:p>
          <a:p>
            <a:pPr marL="342900" indent="-342900">
              <a:buAutoNum type="arabicPeriod"/>
            </a:pPr>
            <a:r>
              <a:rPr lang="en-AU" dirty="0" smtClean="0"/>
              <a:t>Find the range</a:t>
            </a:r>
          </a:p>
          <a:p>
            <a:pPr marL="342900" indent="-342900">
              <a:buAutoNum type="arabicPeriod"/>
            </a:pPr>
            <a:r>
              <a:rPr lang="en-AU" dirty="0" smtClean="0"/>
              <a:t>Is there an </a:t>
            </a:r>
            <a:r>
              <a:rPr lang="en-AU" dirty="0" err="1" smtClean="0"/>
              <a:t>outlier?Yes</a:t>
            </a:r>
            <a:r>
              <a:rPr lang="en-AU" dirty="0" smtClean="0"/>
              <a:t>/No</a:t>
            </a:r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0FEB2E-C178-42C5-9E82-7D30E90DA214}"/>
              </a:ext>
            </a:extLst>
          </p:cNvPr>
          <p:cNvSpPr/>
          <p:nvPr/>
        </p:nvSpPr>
        <p:spPr>
          <a:xfrm>
            <a:off x="3226414" y="2813258"/>
            <a:ext cx="254715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Mean = 	  161.0740741</a:t>
            </a:r>
          </a:p>
          <a:p>
            <a:r>
              <a:rPr lang="en-AU" dirty="0"/>
              <a:t>Mode =	  156</a:t>
            </a:r>
          </a:p>
          <a:p>
            <a:r>
              <a:rPr lang="en-AU" dirty="0"/>
              <a:t>Median =   162</a:t>
            </a:r>
          </a:p>
          <a:p>
            <a:r>
              <a:rPr lang="en-AU" dirty="0"/>
              <a:t>Range = 	  </a:t>
            </a:r>
            <a:r>
              <a:rPr lang="en-AU" dirty="0" smtClean="0"/>
              <a:t>35</a:t>
            </a:r>
          </a:p>
          <a:p>
            <a:r>
              <a:rPr lang="en-AU" dirty="0" smtClean="0"/>
              <a:t>Outlier No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C2D2F6-35C6-4344-A97D-CBCD24DB7D96}"/>
              </a:ext>
            </a:extLst>
          </p:cNvPr>
          <p:cNvSpPr txBox="1"/>
          <p:nvPr/>
        </p:nvSpPr>
        <p:spPr>
          <a:xfrm>
            <a:off x="323528" y="4301654"/>
            <a:ext cx="8352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could we present this information diagrammatically?</a:t>
            </a:r>
          </a:p>
        </p:txBody>
      </p:sp>
    </p:spTree>
    <p:extLst>
      <p:ext uri="{BB962C8B-B14F-4D97-AF65-F5344CB8AC3E}">
        <p14:creationId xmlns:p14="http://schemas.microsoft.com/office/powerpoint/2010/main" val="3218902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A4DFAF-EE34-4E1D-8CDC-6A592D2B9812}"/>
              </a:ext>
            </a:extLst>
          </p:cNvPr>
          <p:cNvSpPr txBox="1"/>
          <p:nvPr/>
        </p:nvSpPr>
        <p:spPr>
          <a:xfrm>
            <a:off x="827584" y="193204"/>
            <a:ext cx="7200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u="sng" dirty="0"/>
              <a:t>Today’s lesson is about histograms. </a:t>
            </a:r>
          </a:p>
          <a:p>
            <a:r>
              <a:rPr lang="en-AU" sz="2000" dirty="0"/>
              <a:t>A histogram looks a lot like a column graph but there are a couple of key differences.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72DB47-FDB8-4991-9DB1-FCD6AEC5EF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860766"/>
            <a:ext cx="5715000" cy="25050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196950-21A1-4981-B121-593AF8F184D6}"/>
              </a:ext>
            </a:extLst>
          </p:cNvPr>
          <p:cNvSpPr txBox="1"/>
          <p:nvPr/>
        </p:nvSpPr>
        <p:spPr>
          <a:xfrm>
            <a:off x="2490960" y="1367555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Gaps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96C9F9D-4778-4F15-BFF3-018F0B6C98B5}"/>
              </a:ext>
            </a:extLst>
          </p:cNvPr>
          <p:cNvCxnSpPr>
            <a:cxnSpLocks/>
          </p:cNvCxnSpPr>
          <p:nvPr/>
        </p:nvCxnSpPr>
        <p:spPr>
          <a:xfrm flipH="1">
            <a:off x="2267744" y="1705372"/>
            <a:ext cx="432048" cy="1407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5E4782A-1ECE-433F-9EAD-F782B4F19E9A}"/>
              </a:ext>
            </a:extLst>
          </p:cNvPr>
          <p:cNvCxnSpPr>
            <a:cxnSpLocks/>
          </p:cNvCxnSpPr>
          <p:nvPr/>
        </p:nvCxnSpPr>
        <p:spPr>
          <a:xfrm flipH="1">
            <a:off x="2627784" y="1705372"/>
            <a:ext cx="144016" cy="1407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33173A9-9740-4309-8291-929D4C3E141D}"/>
              </a:ext>
            </a:extLst>
          </p:cNvPr>
          <p:cNvCxnSpPr>
            <a:cxnSpLocks/>
          </p:cNvCxnSpPr>
          <p:nvPr/>
        </p:nvCxnSpPr>
        <p:spPr>
          <a:xfrm>
            <a:off x="2915816" y="1705372"/>
            <a:ext cx="72008" cy="1557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B2E56C-C26A-4E45-AA7C-9B606C8E1D02}"/>
              </a:ext>
            </a:extLst>
          </p:cNvPr>
          <p:cNvCxnSpPr>
            <a:cxnSpLocks/>
          </p:cNvCxnSpPr>
          <p:nvPr/>
        </p:nvCxnSpPr>
        <p:spPr>
          <a:xfrm>
            <a:off x="3026210" y="1729930"/>
            <a:ext cx="297653" cy="1533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17F285C-32AC-4C8D-A5B8-EB29BF242B55}"/>
              </a:ext>
            </a:extLst>
          </p:cNvPr>
          <p:cNvSpPr txBox="1"/>
          <p:nvPr/>
        </p:nvSpPr>
        <p:spPr>
          <a:xfrm>
            <a:off x="5606480" y="1372518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No Gaps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74435E1-E549-44F4-804F-720ED0B5807D}"/>
              </a:ext>
            </a:extLst>
          </p:cNvPr>
          <p:cNvCxnSpPr>
            <a:cxnSpLocks/>
          </p:cNvCxnSpPr>
          <p:nvPr/>
        </p:nvCxnSpPr>
        <p:spPr>
          <a:xfrm flipH="1">
            <a:off x="5146158" y="1604469"/>
            <a:ext cx="610348" cy="1904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638B4E3-F41E-469B-9491-1A375A0C8C02}"/>
              </a:ext>
            </a:extLst>
          </p:cNvPr>
          <p:cNvCxnSpPr>
            <a:cxnSpLocks/>
          </p:cNvCxnSpPr>
          <p:nvPr/>
        </p:nvCxnSpPr>
        <p:spPr>
          <a:xfrm flipH="1">
            <a:off x="5515296" y="1604469"/>
            <a:ext cx="313216" cy="1757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6453929-9E9B-4D8E-A0BE-E7E09773BD5D}"/>
              </a:ext>
            </a:extLst>
          </p:cNvPr>
          <p:cNvCxnSpPr>
            <a:cxnSpLocks/>
          </p:cNvCxnSpPr>
          <p:nvPr/>
        </p:nvCxnSpPr>
        <p:spPr>
          <a:xfrm flipH="1">
            <a:off x="5868144" y="1604469"/>
            <a:ext cx="104384" cy="16587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EDC82D8-FE53-473E-9505-1A33000A5EBE}"/>
              </a:ext>
            </a:extLst>
          </p:cNvPr>
          <p:cNvCxnSpPr>
            <a:cxnSpLocks/>
          </p:cNvCxnSpPr>
          <p:nvPr/>
        </p:nvCxnSpPr>
        <p:spPr>
          <a:xfrm>
            <a:off x="6082922" y="1629027"/>
            <a:ext cx="158390" cy="1709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D8DD201-1894-44CC-99A0-DC2485EAA718}"/>
              </a:ext>
            </a:extLst>
          </p:cNvPr>
          <p:cNvSpPr txBox="1"/>
          <p:nvPr/>
        </p:nvSpPr>
        <p:spPr>
          <a:xfrm>
            <a:off x="1598257" y="4365841"/>
            <a:ext cx="2855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Data is categorical and bars can be swapped around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B965DE4-BCFF-4D00-A813-EBCA57861DE2}"/>
              </a:ext>
            </a:extLst>
          </p:cNvPr>
          <p:cNvSpPr txBox="1"/>
          <p:nvPr/>
        </p:nvSpPr>
        <p:spPr>
          <a:xfrm>
            <a:off x="4772624" y="4365839"/>
            <a:ext cx="3897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Data is continuous numerical and columns cannot be swapped around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95F3A5B-1E5E-43F7-9E28-723C67031D0A}"/>
              </a:ext>
            </a:extLst>
          </p:cNvPr>
          <p:cNvCxnSpPr/>
          <p:nvPr/>
        </p:nvCxnSpPr>
        <p:spPr>
          <a:xfrm flipV="1">
            <a:off x="1979712" y="3904346"/>
            <a:ext cx="288032" cy="461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62EAE95-B781-4B46-B723-3309BF460727}"/>
              </a:ext>
            </a:extLst>
          </p:cNvPr>
          <p:cNvCxnSpPr>
            <a:cxnSpLocks/>
          </p:cNvCxnSpPr>
          <p:nvPr/>
        </p:nvCxnSpPr>
        <p:spPr>
          <a:xfrm flipH="1" flipV="1">
            <a:off x="6286088" y="3904346"/>
            <a:ext cx="518160" cy="461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3060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1" grpId="0"/>
      <p:bldP spid="46" grpId="0"/>
      <p:bldP spid="4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6038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896918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5761" y="6383"/>
            <a:ext cx="4800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23728" y="903516"/>
            <a:ext cx="0" cy="41657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5576" y="49806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048" y="503406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037" y="1006950"/>
            <a:ext cx="18227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What is a histogram?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3162" y="1025811"/>
            <a:ext cx="657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histograms shows the </a:t>
            </a:r>
            <a:r>
              <a:rPr lang="en-AU" b="1" u="sng" dirty="0"/>
              <a:t>frequency</a:t>
            </a:r>
            <a:r>
              <a:rPr lang="en-AU" dirty="0"/>
              <a:t> of continuous </a:t>
            </a:r>
            <a:r>
              <a:rPr lang="en-AU" b="1" dirty="0"/>
              <a:t>numerical</a:t>
            </a:r>
            <a:r>
              <a:rPr lang="en-AU" dirty="0"/>
              <a:t> data.  </a:t>
            </a:r>
            <a:endParaRPr lang="en-AU" b="1" u="sng" dirty="0"/>
          </a:p>
        </p:txBody>
      </p:sp>
    </p:spTree>
    <p:extLst>
      <p:ext uri="{BB962C8B-B14F-4D97-AF65-F5344CB8AC3E}">
        <p14:creationId xmlns:p14="http://schemas.microsoft.com/office/powerpoint/2010/main" val="334414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6038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896918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5761" y="6383"/>
            <a:ext cx="4800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23728" y="903516"/>
            <a:ext cx="0" cy="41657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5576" y="49806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048" y="503406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037" y="1006950"/>
            <a:ext cx="18227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What is a histogram?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3162" y="1025811"/>
            <a:ext cx="657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histograms shows the </a:t>
            </a:r>
            <a:r>
              <a:rPr lang="en-AU" b="1" u="sng" dirty="0"/>
              <a:t>frequency</a:t>
            </a:r>
            <a:r>
              <a:rPr lang="en-AU" dirty="0"/>
              <a:t> of continuous </a:t>
            </a:r>
            <a:r>
              <a:rPr lang="en-AU" b="1" dirty="0"/>
              <a:t>numerical</a:t>
            </a:r>
            <a:r>
              <a:rPr lang="en-AU" dirty="0"/>
              <a:t> data.  </a:t>
            </a:r>
            <a:endParaRPr lang="en-AU" b="1" u="sng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6F8B14-17CB-497B-942D-52DB2B10D827}"/>
              </a:ext>
            </a:extLst>
          </p:cNvPr>
          <p:cNvSpPr/>
          <p:nvPr/>
        </p:nvSpPr>
        <p:spPr>
          <a:xfrm>
            <a:off x="2204863" y="1531095"/>
            <a:ext cx="6858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Look at the range of the data to help decide on a “class width”.</a:t>
            </a:r>
          </a:p>
          <a:p>
            <a:r>
              <a:rPr lang="en-AU" dirty="0"/>
              <a:t>	</a:t>
            </a:r>
          </a:p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7B5480-5116-445F-9BF6-E3FD6FF71CED}"/>
              </a:ext>
            </a:extLst>
          </p:cNvPr>
          <p:cNvSpPr txBox="1"/>
          <p:nvPr/>
        </p:nvSpPr>
        <p:spPr>
          <a:xfrm>
            <a:off x="183605" y="2309447"/>
            <a:ext cx="8910735" cy="286232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Lets look at the data we used for the warm up.  </a:t>
            </a:r>
          </a:p>
          <a:p>
            <a:r>
              <a:rPr lang="en-AU" dirty="0"/>
              <a:t>146, 148, 151, 153, 153, 154, 155, 156, 156, 156, 157, 159, 162, 162, 162, 163, 164, 164, 165, 165, 168, 168, 173, 174, 177, 181. </a:t>
            </a:r>
          </a:p>
          <a:p>
            <a:endParaRPr lang="en-AU" dirty="0"/>
          </a:p>
          <a:p>
            <a:r>
              <a:rPr lang="en-AU" dirty="0"/>
              <a:t>The range was found to be 35.</a:t>
            </a:r>
          </a:p>
          <a:p>
            <a:endParaRPr lang="en-AU" dirty="0"/>
          </a:p>
          <a:p>
            <a:r>
              <a:rPr lang="en-AU" dirty="0"/>
              <a:t>I want to create a histogram with between 5 and 20 “classes” (or columns).  If you can choose a class width using a number that is easy to calculate with.  A class width of 10 creates only 4 classes, while a class width of 5 (starting at 145) creates 8 classes.  A class width of 2 is possible but will create 16 classes many of which will have only 1 or 2 results in them.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3DFF95-20AF-4A7A-8B0A-FB79EA312255}"/>
              </a:ext>
            </a:extLst>
          </p:cNvPr>
          <p:cNvSpPr txBox="1"/>
          <p:nvPr/>
        </p:nvSpPr>
        <p:spPr>
          <a:xfrm>
            <a:off x="183605" y="1521504"/>
            <a:ext cx="19806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List the steps to create a histogram?</a:t>
            </a:r>
          </a:p>
        </p:txBody>
      </p:sp>
    </p:spTree>
    <p:extLst>
      <p:ext uri="{BB962C8B-B14F-4D97-AF65-F5344CB8AC3E}">
        <p14:creationId xmlns:p14="http://schemas.microsoft.com/office/powerpoint/2010/main" val="3877258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6038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896918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5761" y="6383"/>
            <a:ext cx="4800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23728" y="903516"/>
            <a:ext cx="0" cy="41657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5576" y="49806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048" y="503406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037" y="1006950"/>
            <a:ext cx="18227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What is a histogram?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3162" y="1025811"/>
            <a:ext cx="657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histograms shows the </a:t>
            </a:r>
            <a:r>
              <a:rPr lang="en-AU" b="1" u="sng" dirty="0"/>
              <a:t>frequency</a:t>
            </a:r>
            <a:r>
              <a:rPr lang="en-AU" dirty="0"/>
              <a:t> for continuous </a:t>
            </a:r>
            <a:r>
              <a:rPr lang="en-AU" b="1" dirty="0"/>
              <a:t>numerical</a:t>
            </a:r>
            <a:r>
              <a:rPr lang="en-AU" dirty="0"/>
              <a:t> data.  </a:t>
            </a:r>
            <a:endParaRPr lang="en-AU" b="1" u="sng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6F8B14-17CB-497B-942D-52DB2B10D827}"/>
              </a:ext>
            </a:extLst>
          </p:cNvPr>
          <p:cNvSpPr/>
          <p:nvPr/>
        </p:nvSpPr>
        <p:spPr>
          <a:xfrm>
            <a:off x="2204863" y="1531095"/>
            <a:ext cx="6858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Look at the range of the data to help decide on a “class width”.</a:t>
            </a:r>
          </a:p>
          <a:p>
            <a:pPr marL="342900" indent="-342900">
              <a:buAutoNum type="arabicPeriod"/>
            </a:pPr>
            <a:r>
              <a:rPr lang="en-AU" dirty="0"/>
              <a:t>Use the class width to create a frequency table.</a:t>
            </a:r>
          </a:p>
          <a:p>
            <a:r>
              <a:rPr lang="en-AU" dirty="0"/>
              <a:t>	</a:t>
            </a:r>
          </a:p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7B5480-5116-445F-9BF6-E3FD6FF71CED}"/>
              </a:ext>
            </a:extLst>
          </p:cNvPr>
          <p:cNvSpPr txBox="1"/>
          <p:nvPr/>
        </p:nvSpPr>
        <p:spPr>
          <a:xfrm>
            <a:off x="198267" y="2201557"/>
            <a:ext cx="8694214" cy="34163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We have decided to use class widths of 5.  Lets create a frequency table from our data.</a:t>
            </a:r>
          </a:p>
          <a:p>
            <a:r>
              <a:rPr lang="en-AU" dirty="0"/>
              <a:t>146, 148, 151, 153, 153, 154, 155, 156, 156, 156, 157, 157, 159, 162, 162, 162, 163, 164, 164, 165, 165, 168, 168, 173, 174, 177, 181. </a:t>
            </a:r>
          </a:p>
          <a:p>
            <a:endParaRPr lang="en-AU" dirty="0"/>
          </a:p>
          <a:p>
            <a:r>
              <a:rPr lang="en-AU" dirty="0"/>
              <a:t>145 – 149</a:t>
            </a:r>
          </a:p>
          <a:p>
            <a:r>
              <a:rPr lang="en-AU" dirty="0"/>
              <a:t>150 – 154 </a:t>
            </a:r>
          </a:p>
          <a:p>
            <a:r>
              <a:rPr lang="en-AU" dirty="0"/>
              <a:t>155 – 159 </a:t>
            </a:r>
          </a:p>
          <a:p>
            <a:r>
              <a:rPr lang="en-AU" dirty="0"/>
              <a:t>160 – 164 </a:t>
            </a:r>
          </a:p>
          <a:p>
            <a:r>
              <a:rPr lang="en-AU" dirty="0"/>
              <a:t>165 – 169 </a:t>
            </a:r>
          </a:p>
          <a:p>
            <a:r>
              <a:rPr lang="en-AU" dirty="0"/>
              <a:t>170 – 174 </a:t>
            </a:r>
          </a:p>
          <a:p>
            <a:r>
              <a:rPr lang="en-AU" dirty="0"/>
              <a:t>175 – 179 </a:t>
            </a:r>
          </a:p>
          <a:p>
            <a:r>
              <a:rPr lang="en-AU" dirty="0"/>
              <a:t>180 – 184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49CA59-A2F8-4BD5-8E8D-DCC0402C14EE}"/>
              </a:ext>
            </a:extLst>
          </p:cNvPr>
          <p:cNvSpPr txBox="1"/>
          <p:nvPr/>
        </p:nvSpPr>
        <p:spPr>
          <a:xfrm>
            <a:off x="1252779" y="3309553"/>
            <a:ext cx="22322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||                   = 2</a:t>
            </a:r>
          </a:p>
          <a:p>
            <a:r>
              <a:rPr lang="en-AU" strike="sngStrike" dirty="0"/>
              <a:t>||||</a:t>
            </a:r>
            <a:r>
              <a:rPr lang="en-AU" dirty="0"/>
              <a:t>               = 5</a:t>
            </a:r>
          </a:p>
          <a:p>
            <a:r>
              <a:rPr lang="en-AU" strike="sngStrike" dirty="0"/>
              <a:t>||||</a:t>
            </a:r>
            <a:r>
              <a:rPr lang="en-AU" dirty="0"/>
              <a:t>|             = 6</a:t>
            </a:r>
          </a:p>
          <a:p>
            <a:r>
              <a:rPr lang="en-AU" strike="sngStrike" dirty="0"/>
              <a:t>||||</a:t>
            </a:r>
            <a:r>
              <a:rPr lang="en-AU" dirty="0"/>
              <a:t>|             = 6</a:t>
            </a:r>
          </a:p>
          <a:p>
            <a:r>
              <a:rPr lang="en-AU" dirty="0"/>
              <a:t>||||               = 4</a:t>
            </a:r>
          </a:p>
          <a:p>
            <a:r>
              <a:rPr lang="en-AU" dirty="0"/>
              <a:t>||                   = 2</a:t>
            </a:r>
          </a:p>
          <a:p>
            <a:r>
              <a:rPr lang="en-AU" dirty="0"/>
              <a:t>|                     = 1</a:t>
            </a:r>
          </a:p>
          <a:p>
            <a:r>
              <a:rPr lang="en-AU" dirty="0"/>
              <a:t>|                     =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D03373-8416-4C8A-BE42-97E7BB8B1415}"/>
              </a:ext>
            </a:extLst>
          </p:cNvPr>
          <p:cNvSpPr txBox="1"/>
          <p:nvPr/>
        </p:nvSpPr>
        <p:spPr>
          <a:xfrm>
            <a:off x="125761" y="1502840"/>
            <a:ext cx="19806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List the steps to create a histogram?</a:t>
            </a:r>
          </a:p>
        </p:txBody>
      </p:sp>
    </p:spTree>
    <p:extLst>
      <p:ext uri="{BB962C8B-B14F-4D97-AF65-F5344CB8AC3E}">
        <p14:creationId xmlns:p14="http://schemas.microsoft.com/office/powerpoint/2010/main" val="3986708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6038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896918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5761" y="6383"/>
            <a:ext cx="4800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23728" y="903516"/>
            <a:ext cx="0" cy="41657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5576" y="49806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048" y="503406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037" y="1006950"/>
            <a:ext cx="18227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What is a histogram?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3162" y="1025811"/>
            <a:ext cx="657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histograms shows the </a:t>
            </a:r>
            <a:r>
              <a:rPr lang="en-AU" b="1" u="sng" dirty="0"/>
              <a:t>frequency</a:t>
            </a:r>
            <a:r>
              <a:rPr lang="en-AU" dirty="0"/>
              <a:t> for continuous </a:t>
            </a:r>
            <a:r>
              <a:rPr lang="en-AU" b="1" dirty="0"/>
              <a:t>numerical</a:t>
            </a:r>
            <a:r>
              <a:rPr lang="en-AU" dirty="0"/>
              <a:t> data.  </a:t>
            </a:r>
            <a:endParaRPr lang="en-AU" b="1" u="sng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6F8B14-17CB-497B-942D-52DB2B10D827}"/>
              </a:ext>
            </a:extLst>
          </p:cNvPr>
          <p:cNvSpPr/>
          <p:nvPr/>
        </p:nvSpPr>
        <p:spPr>
          <a:xfrm>
            <a:off x="2204863" y="1531095"/>
            <a:ext cx="6858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Look at the range of the data to help decide on a “class width”.</a:t>
            </a:r>
          </a:p>
          <a:p>
            <a:pPr marL="342900" indent="-342900">
              <a:buAutoNum type="arabicPeriod"/>
            </a:pPr>
            <a:r>
              <a:rPr lang="en-AU" dirty="0"/>
              <a:t>Use the class width to create a frequency table.</a:t>
            </a:r>
          </a:p>
          <a:p>
            <a:pPr marL="342900" indent="-342900">
              <a:buAutoNum type="arabicPeriod"/>
            </a:pPr>
            <a:r>
              <a:rPr lang="en-AU" dirty="0"/>
              <a:t>Create a set of Axis that will accommodate all the data we wish to show.</a:t>
            </a:r>
          </a:p>
          <a:p>
            <a:endParaRPr lang="en-AU" dirty="0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F1EEE4CC-3B53-40D8-A6C7-5C10A8B2F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2986385"/>
            <a:ext cx="4536538" cy="1968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A8957B2-FECA-4832-8089-8B47FE9ECFF7}"/>
              </a:ext>
            </a:extLst>
          </p:cNvPr>
          <p:cNvSpPr txBox="1"/>
          <p:nvPr/>
        </p:nvSpPr>
        <p:spPr>
          <a:xfrm>
            <a:off x="4305072" y="4935439"/>
            <a:ext cx="718466" cy="2334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917" dirty="0"/>
              <a:t>Height(cm)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4694F-E6A5-418A-B324-C9DB5D4EAAAC}"/>
              </a:ext>
            </a:extLst>
          </p:cNvPr>
          <p:cNvSpPr txBox="1"/>
          <p:nvPr/>
        </p:nvSpPr>
        <p:spPr>
          <a:xfrm>
            <a:off x="2093987" y="3100091"/>
            <a:ext cx="1056152" cy="233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17" dirty="0"/>
              <a:t>Frequency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06A94B-4FDE-4101-A61B-EF7237735BDF}"/>
              </a:ext>
            </a:extLst>
          </p:cNvPr>
          <p:cNvSpPr/>
          <p:nvPr/>
        </p:nvSpPr>
        <p:spPr>
          <a:xfrm>
            <a:off x="2834284" y="2850433"/>
            <a:ext cx="4618036" cy="1871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48B6F2-1E81-49CE-9361-ABE9A90B1B3F}"/>
              </a:ext>
            </a:extLst>
          </p:cNvPr>
          <p:cNvSpPr txBox="1"/>
          <p:nvPr/>
        </p:nvSpPr>
        <p:spPr>
          <a:xfrm>
            <a:off x="3105984" y="3274160"/>
            <a:ext cx="31093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Our maximum frequency is 6 so our y axis must go to at least 6 and we use our class widths to determine the x axis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2404FC-85A5-48F5-80A1-A4F700EDCF7E}"/>
              </a:ext>
            </a:extLst>
          </p:cNvPr>
          <p:cNvSpPr txBox="1"/>
          <p:nvPr/>
        </p:nvSpPr>
        <p:spPr>
          <a:xfrm>
            <a:off x="183605" y="1521504"/>
            <a:ext cx="19806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List the steps to create a histogram?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436A00D-FBF6-4898-8952-79D2BAFFE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646" y="2926697"/>
            <a:ext cx="1930326" cy="16153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98991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13" grpId="0" animBg="1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6038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896918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5761" y="6383"/>
            <a:ext cx="4800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23728" y="903516"/>
            <a:ext cx="0" cy="41657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5576" y="49806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048" y="503406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037" y="1006950"/>
            <a:ext cx="18227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What is a histogram?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3162" y="1025811"/>
            <a:ext cx="657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histograms shows the </a:t>
            </a:r>
            <a:r>
              <a:rPr lang="en-AU" b="1" u="sng" dirty="0"/>
              <a:t>frequency</a:t>
            </a:r>
            <a:r>
              <a:rPr lang="en-AU" dirty="0"/>
              <a:t> for continuous </a:t>
            </a:r>
            <a:r>
              <a:rPr lang="en-AU" b="1" dirty="0"/>
              <a:t>numerical</a:t>
            </a:r>
            <a:r>
              <a:rPr lang="en-AU" dirty="0"/>
              <a:t> data.  </a:t>
            </a:r>
            <a:endParaRPr lang="en-AU" b="1" u="sng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8FE347-3C80-4E8D-96D9-03AE5DCF3CDC}"/>
              </a:ext>
            </a:extLst>
          </p:cNvPr>
          <p:cNvSpPr txBox="1"/>
          <p:nvPr/>
        </p:nvSpPr>
        <p:spPr>
          <a:xfrm>
            <a:off x="183605" y="1521504"/>
            <a:ext cx="19806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List the steps to create a histogram?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6F8B14-17CB-497B-942D-52DB2B10D827}"/>
              </a:ext>
            </a:extLst>
          </p:cNvPr>
          <p:cNvSpPr/>
          <p:nvPr/>
        </p:nvSpPr>
        <p:spPr>
          <a:xfrm>
            <a:off x="2204863" y="1531095"/>
            <a:ext cx="6858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Look at the range of the data to help decide on a “class width”.</a:t>
            </a:r>
          </a:p>
          <a:p>
            <a:pPr marL="342900" indent="-342900">
              <a:buAutoNum type="arabicPeriod"/>
            </a:pPr>
            <a:r>
              <a:rPr lang="en-AU" dirty="0"/>
              <a:t>Use the class width to create a frequency table.</a:t>
            </a:r>
          </a:p>
          <a:p>
            <a:pPr marL="342900" indent="-342900">
              <a:buAutoNum type="arabicPeriod"/>
            </a:pPr>
            <a:r>
              <a:rPr lang="en-AU" dirty="0"/>
              <a:t>Create a set of Axis that will accommodate all the data we wish to show.</a:t>
            </a:r>
          </a:p>
          <a:p>
            <a:pPr marL="342900" indent="-342900">
              <a:buAutoNum type="arabicPeriod"/>
            </a:pPr>
            <a:r>
              <a:rPr lang="en-AU" dirty="0"/>
              <a:t>Use the frequency data from the frequency table to complete the graph and add a title.</a:t>
            </a:r>
          </a:p>
          <a:p>
            <a:r>
              <a:rPr lang="en-AU" dirty="0"/>
              <a:t>	</a:t>
            </a:r>
          </a:p>
          <a:p>
            <a:endParaRPr lang="en-AU" dirty="0"/>
          </a:p>
        </p:txBody>
      </p:sp>
      <p:pic>
        <p:nvPicPr>
          <p:cNvPr id="37" name="Picture 2">
            <a:extLst>
              <a:ext uri="{FF2B5EF4-FFF2-40B4-BE49-F238E27FC236}">
                <a16:creationId xmlns:a16="http://schemas.microsoft.com/office/drawing/2014/main" id="{B6797062-D970-463E-A9A0-01134D541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094" y="3614301"/>
            <a:ext cx="3925483" cy="1703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FACF6A3-09C4-4BE7-B90A-D83868A07B24}"/>
              </a:ext>
            </a:extLst>
          </p:cNvPr>
          <p:cNvSpPr txBox="1"/>
          <p:nvPr/>
        </p:nvSpPr>
        <p:spPr>
          <a:xfrm>
            <a:off x="4462857" y="5299491"/>
            <a:ext cx="817697" cy="233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17" dirty="0"/>
              <a:t>Height(cm)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89F6EB-1312-4B73-A189-09CF4C7C4C39}"/>
              </a:ext>
            </a:extLst>
          </p:cNvPr>
          <p:cNvSpPr txBox="1"/>
          <p:nvPr/>
        </p:nvSpPr>
        <p:spPr>
          <a:xfrm>
            <a:off x="2811546" y="3719036"/>
            <a:ext cx="913892" cy="233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17" dirty="0"/>
              <a:t>Frequency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E2AEDB-5599-4C42-B4B2-279CB559AADA}"/>
              </a:ext>
            </a:extLst>
          </p:cNvPr>
          <p:cNvSpPr txBox="1"/>
          <p:nvPr/>
        </p:nvSpPr>
        <p:spPr>
          <a:xfrm>
            <a:off x="3896302" y="3281769"/>
            <a:ext cx="228072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u="sng" dirty="0"/>
              <a:t>Heights of students in 8-7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42DCC1A-FBE9-41A1-8957-601AE6E4B0AD}"/>
              </a:ext>
            </a:extLst>
          </p:cNvPr>
          <p:cNvSpPr txBox="1"/>
          <p:nvPr/>
        </p:nvSpPr>
        <p:spPr>
          <a:xfrm>
            <a:off x="6029850" y="3337302"/>
            <a:ext cx="95231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Title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AE78180-0117-4B80-B864-F2DE71D43093}"/>
              </a:ext>
            </a:extLst>
          </p:cNvPr>
          <p:cNvSpPr txBox="1"/>
          <p:nvPr/>
        </p:nvSpPr>
        <p:spPr>
          <a:xfrm>
            <a:off x="2408036" y="5308595"/>
            <a:ext cx="97922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Labels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59AD65F-1CCD-4704-9B79-87E736022E8A}"/>
              </a:ext>
            </a:extLst>
          </p:cNvPr>
          <p:cNvCxnSpPr>
            <a:cxnSpLocks/>
          </p:cNvCxnSpPr>
          <p:nvPr/>
        </p:nvCxnSpPr>
        <p:spPr>
          <a:xfrm flipV="1">
            <a:off x="2878812" y="3852239"/>
            <a:ext cx="336019" cy="143893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7B8019A-854D-4083-9754-FA38D6602FEB}"/>
              </a:ext>
            </a:extLst>
          </p:cNvPr>
          <p:cNvCxnSpPr>
            <a:cxnSpLocks/>
          </p:cNvCxnSpPr>
          <p:nvPr/>
        </p:nvCxnSpPr>
        <p:spPr>
          <a:xfrm flipV="1">
            <a:off x="3034772" y="5421245"/>
            <a:ext cx="1408281" cy="4532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A847EA3-3D54-4F54-A015-8FCEA326685D}"/>
              </a:ext>
            </a:extLst>
          </p:cNvPr>
          <p:cNvSpPr txBox="1"/>
          <p:nvPr/>
        </p:nvSpPr>
        <p:spPr>
          <a:xfrm>
            <a:off x="4332073" y="4212235"/>
            <a:ext cx="1166768" cy="7848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No Gaps between the columns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8316CA8-FC41-4E09-BDF6-35AACDFDA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735" y="3308750"/>
            <a:ext cx="1930326" cy="16153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0325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78856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286307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9512" y="80868"/>
            <a:ext cx="480053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33" dirty="0"/>
              <a:t>24</a:t>
            </a:r>
          </a:p>
          <a:p>
            <a:r>
              <a:rPr lang="en-AU" sz="1333" dirty="0"/>
              <a:t>7</a:t>
            </a:r>
          </a:p>
          <a:p>
            <a:r>
              <a:rPr lang="en-AU" sz="1333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96666" y="1293825"/>
            <a:ext cx="0" cy="45005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691681" y="337220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595" y="886197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1814327"/>
            <a:ext cx="4536538" cy="1968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013987" y="3783062"/>
            <a:ext cx="718466" cy="2334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917" dirty="0"/>
              <a:t>Height(cm)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2902" y="1947714"/>
            <a:ext cx="1056152" cy="233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17" dirty="0"/>
              <a:t>Frequency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43029" y="1506551"/>
            <a:ext cx="21826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u="sng" dirty="0"/>
              <a:t>Heights of students in 8-7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2825" y="1506551"/>
            <a:ext cx="52770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Title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3905" y="4001071"/>
            <a:ext cx="67358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Labels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 flipV="1">
            <a:off x="4033905" y="2294380"/>
            <a:ext cx="129037" cy="170669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6" idx="3"/>
            <a:endCxn id="8" idx="1"/>
          </p:cNvCxnSpPr>
          <p:nvPr/>
        </p:nvCxnSpPr>
        <p:spPr>
          <a:xfrm flipV="1">
            <a:off x="4707487" y="3899793"/>
            <a:ext cx="1306500" cy="26286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669169" y="4176154"/>
            <a:ext cx="66007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Scale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flipH="1" flipV="1">
            <a:off x="7572368" y="3668792"/>
            <a:ext cx="310988" cy="50736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12921" y="2549921"/>
            <a:ext cx="1348391" cy="7848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No Gaps between the columns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7C43B2-F342-4399-8086-AAB67A1957E8}"/>
              </a:ext>
            </a:extLst>
          </p:cNvPr>
          <p:cNvSpPr txBox="1"/>
          <p:nvPr/>
        </p:nvSpPr>
        <p:spPr>
          <a:xfrm>
            <a:off x="2362683" y="5012499"/>
            <a:ext cx="54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the data looks in a histogram is important and can be described in main ways </a:t>
            </a:r>
          </a:p>
        </p:txBody>
      </p:sp>
    </p:spTree>
    <p:extLst>
      <p:ext uri="{BB962C8B-B14F-4D97-AF65-F5344CB8AC3E}">
        <p14:creationId xmlns:p14="http://schemas.microsoft.com/office/powerpoint/2010/main" val="254552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505CE6-8D87-46C9-A2F0-51A4854C3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169" y="621767"/>
            <a:ext cx="7056784" cy="49565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9F1389-7E5C-41B2-A15D-E9385C0494B2}"/>
              </a:ext>
            </a:extLst>
          </p:cNvPr>
          <p:cNvSpPr txBox="1"/>
          <p:nvPr/>
        </p:nvSpPr>
        <p:spPr>
          <a:xfrm>
            <a:off x="1043608" y="265212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Let’s Try Together….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AD68B62-6FF2-477F-8A37-3A6C156A95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107825"/>
              </p:ext>
            </p:extLst>
          </p:nvPr>
        </p:nvGraphicFramePr>
        <p:xfrm>
          <a:off x="4211960" y="3742908"/>
          <a:ext cx="1741805" cy="170688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741805">
                  <a:extLst>
                    <a:ext uri="{9D8B030D-6E8A-4147-A177-3AD203B41FA5}">
                      <a16:colId xmlns:a16="http://schemas.microsoft.com/office/drawing/2014/main" val="3822010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10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4482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14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9107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10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03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6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6438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004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6564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50</a:t>
                      </a:r>
                      <a:endParaRPr lang="en-A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0734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1909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505CE6-8D87-46C9-A2F0-51A4854C3B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276"/>
          <a:stretch/>
        </p:blipFill>
        <p:spPr>
          <a:xfrm>
            <a:off x="1331640" y="553244"/>
            <a:ext cx="7056784" cy="22167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9F1389-7E5C-41B2-A15D-E9385C0494B2}"/>
              </a:ext>
            </a:extLst>
          </p:cNvPr>
          <p:cNvSpPr txBox="1"/>
          <p:nvPr/>
        </p:nvSpPr>
        <p:spPr>
          <a:xfrm>
            <a:off x="1043608" y="265212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Let’s Try Together….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AD68B62-6FF2-477F-8A37-3A6C156A95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220826"/>
              </p:ext>
            </p:extLst>
          </p:nvPr>
        </p:nvGraphicFramePr>
        <p:xfrm>
          <a:off x="4500431" y="934596"/>
          <a:ext cx="1741805" cy="170688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741805">
                  <a:extLst>
                    <a:ext uri="{9D8B030D-6E8A-4147-A177-3AD203B41FA5}">
                      <a16:colId xmlns:a16="http://schemas.microsoft.com/office/drawing/2014/main" val="3822010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10</a:t>
                      </a:r>
                      <a:endParaRPr lang="en-A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4482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14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9107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10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03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6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6438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004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6564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50</a:t>
                      </a:r>
                      <a:endParaRPr lang="en-A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0734654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B58C73D-2BF1-4890-846C-8902D4033F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22090925"/>
              </p:ext>
            </p:extLst>
          </p:nvPr>
        </p:nvGraphicFramePr>
        <p:xfrm>
          <a:off x="2051720" y="277000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040AD3A3-107C-4234-A895-A5FB01853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287" y="2806505"/>
            <a:ext cx="989072" cy="249926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DB89DB-7E3C-4C40-B987-EC729FCC50C6}"/>
              </a:ext>
            </a:extLst>
          </p:cNvPr>
          <p:cNvCxnSpPr/>
          <p:nvPr/>
        </p:nvCxnSpPr>
        <p:spPr>
          <a:xfrm>
            <a:off x="1763688" y="2721441"/>
            <a:ext cx="0" cy="24992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C9FAE58-4831-4B41-8C0A-3F1B03A542EA}"/>
              </a:ext>
            </a:extLst>
          </p:cNvPr>
          <p:cNvCxnSpPr>
            <a:cxnSpLocks/>
          </p:cNvCxnSpPr>
          <p:nvPr/>
        </p:nvCxnSpPr>
        <p:spPr>
          <a:xfrm flipH="1">
            <a:off x="1763688" y="5212498"/>
            <a:ext cx="471709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42689A9-3703-4137-BC7B-F0B0D570CD94}"/>
              </a:ext>
            </a:extLst>
          </p:cNvPr>
          <p:cNvSpPr/>
          <p:nvPr/>
        </p:nvSpPr>
        <p:spPr>
          <a:xfrm>
            <a:off x="2051720" y="2721440"/>
            <a:ext cx="4824536" cy="24828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470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87824" y="1705372"/>
            <a:ext cx="3121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Complete histogram worksheet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54086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2F2C01-060F-43EC-9303-7B4905DE55C0}"/>
              </a:ext>
            </a:extLst>
          </p:cNvPr>
          <p:cNvSpPr txBox="1"/>
          <p:nvPr/>
        </p:nvSpPr>
        <p:spPr>
          <a:xfrm>
            <a:off x="1475656" y="1705372"/>
            <a:ext cx="5512444" cy="3104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50" b="1" dirty="0" smtClean="0"/>
              <a:t>Summary: </a:t>
            </a:r>
            <a:endParaRPr lang="en-AU" sz="1350" b="1" dirty="0"/>
          </a:p>
          <a:p>
            <a:pPr>
              <a:lnSpc>
                <a:spcPct val="150000"/>
              </a:lnSpc>
            </a:pPr>
            <a:endParaRPr lang="en-AU" sz="1350" dirty="0"/>
          </a:p>
          <a:p>
            <a:pPr>
              <a:lnSpc>
                <a:spcPct val="150000"/>
              </a:lnSpc>
            </a:pPr>
            <a:r>
              <a:rPr lang="en-AU" sz="1350" dirty="0"/>
              <a:t>Histograms display______________________________ data without any _______________. </a:t>
            </a:r>
          </a:p>
          <a:p>
            <a:pPr>
              <a:lnSpc>
                <a:spcPct val="150000"/>
              </a:lnSpc>
            </a:pPr>
            <a:r>
              <a:rPr lang="en-AU" sz="1350" dirty="0"/>
              <a:t>To create histograms we need to decide on appropriate _________________ and then create a ______________ table. </a:t>
            </a:r>
            <a:endParaRPr lang="en-AU" sz="1350" dirty="0" smtClean="0"/>
          </a:p>
          <a:p>
            <a:pPr>
              <a:lnSpc>
                <a:spcPct val="150000"/>
              </a:lnSpc>
            </a:pPr>
            <a:endParaRPr lang="en-AU" sz="1350" dirty="0"/>
          </a:p>
          <a:p>
            <a:pPr>
              <a:lnSpc>
                <a:spcPct val="150000"/>
              </a:lnSpc>
            </a:pPr>
            <a:endParaRPr lang="en-AU" sz="1350" dirty="0" smtClean="0"/>
          </a:p>
          <a:p>
            <a:pPr>
              <a:lnSpc>
                <a:spcPct val="150000"/>
              </a:lnSpc>
            </a:pPr>
            <a:endParaRPr lang="en-AU" sz="1350" dirty="0"/>
          </a:p>
          <a:p>
            <a:pPr>
              <a:lnSpc>
                <a:spcPct val="150000"/>
              </a:lnSpc>
            </a:pPr>
            <a:r>
              <a:rPr lang="en-AU" sz="1350" dirty="0" smtClean="0"/>
              <a:t>EXIT PASS, completed summary allows you to leave the class.</a:t>
            </a:r>
            <a:endParaRPr lang="en-AU" sz="1350" dirty="0"/>
          </a:p>
        </p:txBody>
      </p:sp>
      <p:sp>
        <p:nvSpPr>
          <p:cNvPr id="3" name="Rectangle 2"/>
          <p:cNvSpPr/>
          <p:nvPr/>
        </p:nvSpPr>
        <p:spPr>
          <a:xfrm>
            <a:off x="323528" y="193204"/>
            <a:ext cx="274164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Sentence Frame</a:t>
            </a:r>
            <a:r>
              <a:rPr lang="en-US" sz="2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</a:t>
            </a:r>
            <a:r>
              <a:rPr lang="en-US" sz="20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W</a:t>
            </a:r>
            <a:r>
              <a:rPr lang="en-US" sz="2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ICOR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66094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12846</TotalTime>
  <Words>956</Words>
  <Application>Microsoft Office PowerPoint</Application>
  <PresentationFormat>On-screen Show (16:10)</PresentationFormat>
  <Paragraphs>173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Berlin Sans FB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MORGAN Adam [Baldivis Secondary College]</cp:lastModifiedBy>
  <cp:revision>104</cp:revision>
  <dcterms:created xsi:type="dcterms:W3CDTF">2014-05-14T02:58:57Z</dcterms:created>
  <dcterms:modified xsi:type="dcterms:W3CDTF">2019-08-02T06:19:02Z</dcterms:modified>
</cp:coreProperties>
</file>
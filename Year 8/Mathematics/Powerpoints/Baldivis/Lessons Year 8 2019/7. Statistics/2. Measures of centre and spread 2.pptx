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2" r:id="rId1"/>
  </p:sldMasterIdLst>
  <p:notesMasterIdLst>
    <p:notesMasterId r:id="rId17"/>
  </p:notesMasterIdLst>
  <p:handoutMasterIdLst>
    <p:handoutMasterId r:id="rId18"/>
  </p:handoutMasterIdLst>
  <p:sldIdLst>
    <p:sldId id="258" r:id="rId2"/>
    <p:sldId id="260" r:id="rId3"/>
    <p:sldId id="272" r:id="rId4"/>
    <p:sldId id="273" r:id="rId5"/>
    <p:sldId id="295" r:id="rId6"/>
    <p:sldId id="296" r:id="rId7"/>
    <p:sldId id="297" r:id="rId8"/>
    <p:sldId id="298" r:id="rId9"/>
    <p:sldId id="299" r:id="rId10"/>
    <p:sldId id="300" r:id="rId11"/>
    <p:sldId id="301" r:id="rId12"/>
    <p:sldId id="304" r:id="rId13"/>
    <p:sldId id="303" r:id="rId14"/>
    <p:sldId id="302" r:id="rId15"/>
    <p:sldId id="28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FF"/>
    <a:srgbClr val="66FF33"/>
    <a:srgbClr val="3333FF"/>
    <a:srgbClr val="FF0066"/>
    <a:srgbClr val="FCFCFC"/>
    <a:srgbClr val="1F7B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7/28/2019</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7/28/2019</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2CCFE9AC-F15C-4FA0-A6F1-298829FA691D}" type="datetimeFigureOut">
              <a:rPr lang="en-US" smtClean="0"/>
              <a:pPr/>
              <a:t>7/28/2019</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BD266BE7-899D-4075-917F-DBDE33B6B692}" type="slidenum">
              <a:rPr lang="en-US" smtClean="0"/>
              <a:pPr/>
              <a:t>‹#›</a:t>
            </a:fld>
            <a:endParaRPr lang="en-US"/>
          </a:p>
        </p:txBody>
      </p:sp>
    </p:spTree>
    <p:extLst>
      <p:ext uri="{BB962C8B-B14F-4D97-AF65-F5344CB8AC3E}">
        <p14:creationId xmlns:p14="http://schemas.microsoft.com/office/powerpoint/2010/main" val="2524813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CFE9AC-F15C-4FA0-A6F1-298829FA691D}" type="datetimeFigureOut">
              <a:rPr lang="en-US" smtClean="0"/>
              <a:t>7/28/2019</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570284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CFE9AC-F15C-4FA0-A6F1-298829FA691D}" type="datetimeFigureOut">
              <a:rPr lang="en-US" smtClean="0"/>
              <a:pPr/>
              <a:t>7/28/2019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BD266BE7-899D-4075-917F-DBDE33B6B692}" type="slidenum">
              <a:rPr lang="en-US" smtClean="0"/>
              <a:pPr/>
              <a:t>‹#›</a:t>
            </a:fld>
            <a:endParaRPr lang="en-US"/>
          </a:p>
        </p:txBody>
      </p:sp>
    </p:spTree>
    <p:extLst>
      <p:ext uri="{BB962C8B-B14F-4D97-AF65-F5344CB8AC3E}">
        <p14:creationId xmlns:p14="http://schemas.microsoft.com/office/powerpoint/2010/main" val="2183772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CCFE9AC-F15C-4FA0-A6F1-298829FA691D}" type="datetimeFigureOut">
              <a:rPr lang="en-US" smtClean="0"/>
              <a:t>7/28/2019</a:t>
            </a:fld>
            <a:endParaRPr lang="en-US"/>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132614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CCFE9AC-F15C-4FA0-A6F1-298829FA691D}" type="datetimeFigureOut">
              <a:rPr lang="en-US" smtClean="0"/>
              <a:t>7/28/2019</a:t>
            </a:fld>
            <a:endParaRPr lang="en-US"/>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73689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CCFE9AC-F15C-4FA0-A6F1-298829FA691D}" type="datetimeFigureOut">
              <a:rPr lang="en-US" smtClean="0"/>
              <a:t>7/28/2019</a:t>
            </a:fld>
            <a:endParaRPr lang="en-US"/>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371981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2CCFE9AC-F15C-4FA0-A6F1-298829FA691D}" type="datetimeFigureOut">
              <a:rPr lang="en-US" smtClean="0"/>
              <a:t>7/28/2019</a:t>
            </a:fld>
            <a:endParaRPr lang="en-US"/>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101603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CFE9AC-F15C-4FA0-A6F1-298829FA691D}" type="datetimeFigureOut">
              <a:rPr lang="en-US" smtClean="0"/>
              <a:t>7/28/2019</a:t>
            </a:fld>
            <a:endParaRPr lang="en-US"/>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1091258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CFE9AC-F15C-4FA0-A6F1-298829FA691D}" type="datetimeFigureOut">
              <a:rPr lang="en-US" smtClean="0"/>
              <a:t>7/28/2019</a:t>
            </a:fld>
            <a:endParaRPr lang="en-US"/>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1178030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CFE9AC-F15C-4FA0-A6F1-298829FA691D}" type="datetimeFigureOut">
              <a:rPr lang="en-US" smtClean="0"/>
              <a:pPr/>
              <a:t>7/28/2019</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BD266BE7-899D-4075-917F-DBDE33B6B692}" type="slidenum">
              <a:rPr lang="en-US" smtClean="0"/>
              <a:pPr/>
              <a:t>‹#›</a:t>
            </a:fld>
            <a:endParaRPr lang="en-US"/>
          </a:p>
        </p:txBody>
      </p:sp>
    </p:spTree>
    <p:extLst>
      <p:ext uri="{BB962C8B-B14F-4D97-AF65-F5344CB8AC3E}">
        <p14:creationId xmlns:p14="http://schemas.microsoft.com/office/powerpoint/2010/main" val="27938615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CFE9AC-F15C-4FA0-A6F1-298829FA691D}" type="datetimeFigureOut">
              <a:rPr lang="en-US" smtClean="0"/>
              <a:pPr/>
              <a:t>7/28/2019</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BD266BE7-899D-4075-917F-DBDE33B6B692}" type="slidenum">
              <a:rPr lang="en-US" smtClean="0"/>
              <a:pPr/>
              <a:t>‹#›</a:t>
            </a:fld>
            <a:endParaRPr lang="en-US"/>
          </a:p>
        </p:txBody>
      </p:sp>
    </p:spTree>
    <p:extLst>
      <p:ext uri="{BB962C8B-B14F-4D97-AF65-F5344CB8AC3E}">
        <p14:creationId xmlns:p14="http://schemas.microsoft.com/office/powerpoint/2010/main" val="1681319310"/>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CFE9AC-F15C-4FA0-A6F1-298829FA691D}" type="datetimeFigureOut">
              <a:rPr lang="en-US" smtClean="0"/>
              <a:pPr/>
              <a:t>7/28/2019</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D266BE7-899D-4075-917F-DBDE33B6B692}" type="slidenum">
              <a:rPr lang="en-US" smtClean="0"/>
              <a:pPr/>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63453449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CFE9AC-F15C-4FA0-A6F1-298829FA691D}" type="datetimeFigureOut">
              <a:rPr lang="en-US" smtClean="0"/>
              <a:pPr/>
              <a:t>7/28/2019</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BD266BE7-899D-4075-917F-DBDE33B6B692}" type="slidenum">
              <a:rPr lang="en-US" smtClean="0"/>
              <a:pPr/>
              <a:t>‹#›</a:t>
            </a:fld>
            <a:endParaRPr lang="en-US"/>
          </a:p>
        </p:txBody>
      </p:sp>
    </p:spTree>
    <p:extLst>
      <p:ext uri="{BB962C8B-B14F-4D97-AF65-F5344CB8AC3E}">
        <p14:creationId xmlns:p14="http://schemas.microsoft.com/office/powerpoint/2010/main" val="402328929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CCFE9AC-F15C-4FA0-A6F1-298829FA691D}" type="datetimeFigureOut">
              <a:rPr lang="en-US" smtClean="0"/>
              <a:pPr/>
              <a:t>7/28/2019</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266BE7-899D-4075-917F-DBDE33B6B692}" type="slidenum">
              <a:rPr lang="en-US" smtClean="0"/>
              <a:pPr/>
              <a:t>‹#›</a:t>
            </a:fld>
            <a:endParaRPr lang="en-US"/>
          </a:p>
        </p:txBody>
      </p:sp>
    </p:spTree>
    <p:extLst>
      <p:ext uri="{BB962C8B-B14F-4D97-AF65-F5344CB8AC3E}">
        <p14:creationId xmlns:p14="http://schemas.microsoft.com/office/powerpoint/2010/main" val="1077377304"/>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2CCFE9AC-F15C-4FA0-A6F1-298829FA691D}" type="datetimeFigureOut">
              <a:rPr lang="en-US" smtClean="0"/>
              <a:pPr/>
              <a:t>7/28/2019</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266BE7-899D-4075-917F-DBDE33B6B692}" type="slidenum">
              <a:rPr lang="en-US" smtClean="0"/>
              <a:pPr/>
              <a:t>‹#›</a:t>
            </a:fld>
            <a:endParaRPr lang="en-US"/>
          </a:p>
        </p:txBody>
      </p:sp>
    </p:spTree>
    <p:extLst>
      <p:ext uri="{BB962C8B-B14F-4D97-AF65-F5344CB8AC3E}">
        <p14:creationId xmlns:p14="http://schemas.microsoft.com/office/powerpoint/2010/main" val="1743850072"/>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CCFE9AC-F15C-4FA0-A6F1-298829FA691D}" type="datetimeFigureOut">
              <a:rPr lang="en-US" smtClean="0"/>
              <a:t>7/28/2019</a:t>
            </a:fld>
            <a:endParaRPr lang="en-US"/>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D266BE7-899D-4075-917F-DBDE33B6B692}" type="slidenum">
              <a:rPr lang="en-AU" smtClean="0"/>
              <a:t>‹#›</a:t>
            </a:fld>
            <a:endParaRPr lang="en-AU"/>
          </a:p>
        </p:txBody>
      </p:sp>
    </p:spTree>
    <p:extLst>
      <p:ext uri="{BB962C8B-B14F-4D97-AF65-F5344CB8AC3E}">
        <p14:creationId xmlns:p14="http://schemas.microsoft.com/office/powerpoint/2010/main" val="3489444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2CCFE9AC-F15C-4FA0-A6F1-298829FA691D}" type="datetimeFigureOut">
              <a:rPr lang="en-US" smtClean="0"/>
              <a:t>7/28/2019</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AU"/>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BD266BE7-899D-4075-917F-DBDE33B6B692}" type="slidenum">
              <a:rPr lang="en-AU" smtClean="0"/>
              <a:t>‹#›</a:t>
            </a:fld>
            <a:endParaRPr lang="en-AU"/>
          </a:p>
        </p:txBody>
      </p:sp>
    </p:spTree>
    <p:extLst>
      <p:ext uri="{BB962C8B-B14F-4D97-AF65-F5344CB8AC3E}">
        <p14:creationId xmlns:p14="http://schemas.microsoft.com/office/powerpoint/2010/main" val="860987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CCFE9AC-F15C-4FA0-A6F1-298829FA691D}" type="datetimeFigureOut">
              <a:rPr lang="en-US" smtClean="0"/>
              <a:pPr/>
              <a:t>7/28/2019</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BD266BE7-899D-4075-917F-DBDE33B6B692}" type="slidenum">
              <a:rPr lang="en-US" smtClean="0"/>
              <a:pPr/>
              <a:t>‹#›</a:t>
            </a:fld>
            <a:endParaRPr lang="en-US"/>
          </a:p>
        </p:txBody>
      </p:sp>
    </p:spTree>
    <p:extLst>
      <p:ext uri="{BB962C8B-B14F-4D97-AF65-F5344CB8AC3E}">
        <p14:creationId xmlns:p14="http://schemas.microsoft.com/office/powerpoint/2010/main" val="3547412449"/>
      </p:ext>
    </p:extLst>
  </p:cSld>
  <p:clrMap bg1="dk1" tx1="lt1" bg2="dk2" tx2="lt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 id="2147483836" r:id="rId14"/>
    <p:sldLayoutId id="2147483837" r:id="rId15"/>
    <p:sldLayoutId id="2147483838" r:id="rId16"/>
    <p:sldLayoutId id="2147483839"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733709"/>
            <a:ext cx="8519656" cy="1373070"/>
          </a:xfrm>
        </p:spPr>
        <p:txBody>
          <a:bodyPr/>
          <a:lstStyle/>
          <a:p>
            <a:r>
              <a:rPr lang="en-US" sz="4400" dirty="0" smtClean="0"/>
              <a:t>Measures of Centre and </a:t>
            </a:r>
            <a:r>
              <a:rPr lang="en-US" sz="4400" dirty="0" smtClean="0"/>
              <a:t>Spread 2</a:t>
            </a:r>
            <a:endParaRPr lang="en-US" sz="4400" dirty="0"/>
          </a:p>
        </p:txBody>
      </p:sp>
      <p:sp>
        <p:nvSpPr>
          <p:cNvPr id="3" name="Subtitle 2"/>
          <p:cNvSpPr>
            <a:spLocks noGrp="1"/>
          </p:cNvSpPr>
          <p:nvPr>
            <p:ph type="subTitle" idx="1"/>
          </p:nvPr>
        </p:nvSpPr>
        <p:spPr>
          <a:xfrm>
            <a:off x="113211" y="4394039"/>
            <a:ext cx="11930743" cy="1117687"/>
          </a:xfrm>
        </p:spPr>
        <p:txBody>
          <a:bodyPr/>
          <a:lstStyle/>
          <a:p>
            <a:pPr algn="l"/>
            <a:r>
              <a:rPr lang="en-US" dirty="0" smtClean="0"/>
              <a:t>EQ – </a:t>
            </a:r>
            <a:r>
              <a:rPr lang="en-US" dirty="0" smtClean="0"/>
              <a:t>Describe how to calculate measures of </a:t>
            </a:r>
            <a:r>
              <a:rPr lang="en-US" dirty="0" err="1" smtClean="0"/>
              <a:t>centre</a:t>
            </a:r>
            <a:r>
              <a:rPr lang="en-US" dirty="0" smtClean="0"/>
              <a:t> and spread for data given in a frequency table</a:t>
            </a:r>
            <a:r>
              <a:rPr lang="en-US" dirty="0" smtClean="0"/>
              <a:t>? </a:t>
            </a:r>
            <a:endParaRPr lang="en-US" dirty="0"/>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p:txBody>
          <a:bodyPr/>
          <a:lstStyle/>
          <a:p>
            <a:r>
              <a:rPr lang="en-US" dirty="0" smtClean="0"/>
              <a:t>Learning Objectives </a:t>
            </a:r>
            <a:endParaRPr lang="en-US" dirty="0"/>
          </a:p>
        </p:txBody>
      </p:sp>
      <p:sp>
        <p:nvSpPr>
          <p:cNvPr id="14" name="Content Placeholder 2"/>
          <p:cNvSpPr>
            <a:spLocks noGrp="1"/>
          </p:cNvSpPr>
          <p:nvPr>
            <p:ph idx="1"/>
          </p:nvPr>
        </p:nvSpPr>
        <p:spPr/>
        <p:txBody>
          <a:bodyPr/>
          <a:lstStyle/>
          <a:p>
            <a:endParaRPr lang="en-US" dirty="0"/>
          </a:p>
          <a:p>
            <a:pPr marL="0" indent="0">
              <a:buNone/>
            </a:pPr>
            <a:endParaRPr lang="en-US" dirty="0"/>
          </a:p>
        </p:txBody>
      </p:sp>
      <p:sp>
        <p:nvSpPr>
          <p:cNvPr id="2" name="TextBox 1"/>
          <p:cNvSpPr txBox="1"/>
          <p:nvPr/>
        </p:nvSpPr>
        <p:spPr>
          <a:xfrm>
            <a:off x="680321" y="2220686"/>
            <a:ext cx="9842887" cy="646331"/>
          </a:xfrm>
          <a:prstGeom prst="rect">
            <a:avLst/>
          </a:prstGeom>
          <a:noFill/>
        </p:spPr>
        <p:txBody>
          <a:bodyPr wrap="none" rtlCol="0">
            <a:spAutoFit/>
          </a:bodyPr>
          <a:lstStyle/>
          <a:p>
            <a:pPr marL="285750" indent="-285750">
              <a:buFont typeface="Arial" panose="020B0604020202020204" pitchFamily="34" charset="0"/>
              <a:buChar char="•"/>
            </a:pPr>
            <a:r>
              <a:rPr lang="en-AU" dirty="0" smtClean="0"/>
              <a:t>Understand </a:t>
            </a:r>
            <a:r>
              <a:rPr lang="en-AU" dirty="0" smtClean="0"/>
              <a:t>that </a:t>
            </a:r>
            <a:r>
              <a:rPr lang="en-AU" dirty="0" smtClean="0"/>
              <a:t>large data sets can be represented in a frequency table</a:t>
            </a:r>
            <a:endParaRPr lang="en-AU" dirty="0" smtClean="0"/>
          </a:p>
          <a:p>
            <a:pPr marL="285750" indent="-285750">
              <a:buFont typeface="Arial" panose="020B0604020202020204" pitchFamily="34" charset="0"/>
              <a:buChar char="•"/>
            </a:pPr>
            <a:r>
              <a:rPr lang="en-AU" dirty="0" smtClean="0"/>
              <a:t>To be able to calculate the mean, median, mode and </a:t>
            </a:r>
            <a:r>
              <a:rPr lang="en-AU" dirty="0" smtClean="0"/>
              <a:t>range for data in a frequency table. </a:t>
            </a:r>
            <a:endParaRPr lang="en-AU" dirty="0"/>
          </a:p>
        </p:txBody>
      </p:sp>
    </p:spTree>
    <p:extLst>
      <p:ext uri="{BB962C8B-B14F-4D97-AF65-F5344CB8AC3E}">
        <p14:creationId xmlns:p14="http://schemas.microsoft.com/office/powerpoint/2010/main" val="14403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463" y="970669"/>
            <a:ext cx="9628632" cy="1362113"/>
          </a:xfrm>
        </p:spPr>
        <p:txBody>
          <a:bodyPr>
            <a:noAutofit/>
          </a:bodyPr>
          <a:lstStyle/>
          <a:p>
            <a:r>
              <a:rPr lang="en-AU" sz="2800" dirty="0" smtClean="0"/>
              <a:t>Measures of Centre and </a:t>
            </a:r>
            <a:r>
              <a:rPr lang="en-AU" sz="2800" dirty="0" smtClean="0"/>
              <a:t>Spread 2</a:t>
            </a:r>
            <a:r>
              <a:rPr lang="en-AU" sz="2800" dirty="0" smtClean="0"/>
              <a:t/>
            </a:r>
            <a:br>
              <a:rPr lang="en-AU" sz="2800" dirty="0" smtClean="0"/>
            </a:br>
            <a:r>
              <a:rPr lang="en-US" sz="2800" dirty="0"/>
              <a:t>EQ –  </a:t>
            </a:r>
            <a:r>
              <a:rPr lang="en-US" sz="2800" dirty="0"/>
              <a:t>Describe how to calculate measures of </a:t>
            </a:r>
            <a:r>
              <a:rPr lang="en-US" sz="2800" dirty="0" err="1"/>
              <a:t>centre</a:t>
            </a:r>
            <a:r>
              <a:rPr lang="en-US" sz="2800" dirty="0"/>
              <a:t> and spread for data given in a frequency table? </a:t>
            </a:r>
            <a:r>
              <a:rPr lang="en-US" sz="2800" dirty="0"/>
              <a:t/>
            </a:r>
            <a:br>
              <a:rPr lang="en-US" sz="2800" dirty="0"/>
            </a:br>
            <a:r>
              <a:rPr lang="en-US" sz="2800" dirty="0"/>
              <a:t/>
            </a:r>
            <a:br>
              <a:rPr lang="en-US" sz="2800" dirty="0"/>
            </a:br>
            <a:endParaRPr lang="en-AU" sz="2800" dirty="0"/>
          </a:p>
        </p:txBody>
      </p:sp>
      <p:sp>
        <p:nvSpPr>
          <p:cNvPr id="4" name="Text Placeholder 3"/>
          <p:cNvSpPr>
            <a:spLocks noGrp="1"/>
          </p:cNvSpPr>
          <p:nvPr>
            <p:ph type="body" idx="1"/>
          </p:nvPr>
        </p:nvSpPr>
        <p:spPr>
          <a:xfrm>
            <a:off x="165463" y="1508870"/>
            <a:ext cx="5079991" cy="823912"/>
          </a:xfrm>
        </p:spPr>
        <p:txBody>
          <a:bodyPr/>
          <a:lstStyle/>
          <a:p>
            <a:r>
              <a:rPr lang="en-AU" dirty="0" smtClean="0"/>
              <a:t>Task: </a:t>
            </a:r>
            <a:endParaRPr lang="en-AU" dirty="0"/>
          </a:p>
        </p:txBody>
      </p:sp>
      <p:sp>
        <p:nvSpPr>
          <p:cNvPr id="6" name="Content Placeholder 5"/>
          <p:cNvSpPr>
            <a:spLocks noGrp="1"/>
          </p:cNvSpPr>
          <p:nvPr>
            <p:ph sz="half" idx="2"/>
          </p:nvPr>
        </p:nvSpPr>
        <p:spPr>
          <a:xfrm>
            <a:off x="1047858" y="2016199"/>
            <a:ext cx="9707227" cy="3433769"/>
          </a:xfrm>
        </p:spPr>
        <p:txBody>
          <a:bodyPr>
            <a:normAutofit/>
          </a:bodyPr>
          <a:lstStyle/>
          <a:p>
            <a:pPr marL="457200" indent="-457200">
              <a:buAutoNum type="arabicPeriod"/>
            </a:pPr>
            <a:r>
              <a:rPr lang="en-AU" dirty="0" smtClean="0"/>
              <a:t>Write a summary for last lesson </a:t>
            </a:r>
          </a:p>
          <a:p>
            <a:pPr marL="457200" indent="-457200">
              <a:buAutoNum type="arabicPeriod"/>
            </a:pPr>
            <a:r>
              <a:rPr lang="en-AU" dirty="0" smtClean="0"/>
              <a:t>What are the three measures of centre for a data set? </a:t>
            </a:r>
            <a:endParaRPr lang="en-AU" dirty="0" smtClean="0"/>
          </a:p>
          <a:p>
            <a:pPr marL="457200" indent="-457200">
              <a:buAutoNum type="arabicPeriod"/>
            </a:pPr>
            <a:r>
              <a:rPr lang="en-AU" dirty="0" smtClean="0"/>
              <a:t>What </a:t>
            </a:r>
            <a:r>
              <a:rPr lang="en-AU" dirty="0" smtClean="0"/>
              <a:t>an advantage of using a cen</a:t>
            </a:r>
            <a:r>
              <a:rPr lang="en-AU" dirty="0" smtClean="0"/>
              <a:t>sus? </a:t>
            </a:r>
            <a:endParaRPr lang="en-AU" dirty="0" smtClean="0"/>
          </a:p>
          <a:p>
            <a:pPr marL="457200" indent="-457200">
              <a:buAutoNum type="arabicPeriod"/>
            </a:pPr>
            <a:r>
              <a:rPr lang="en-AU" dirty="0" smtClean="0"/>
              <a:t>Why do you use a frequency table to represent a data set</a:t>
            </a:r>
            <a:r>
              <a:rPr lang="en-AU" dirty="0" smtClean="0"/>
              <a:t>?</a:t>
            </a:r>
            <a:endParaRPr lang="en-AU" dirty="0" smtClean="0"/>
          </a:p>
          <a:p>
            <a:pPr marL="457200" indent="-457200">
              <a:buAutoNum type="arabicPeriod"/>
            </a:pPr>
            <a:r>
              <a:rPr lang="en-AU" dirty="0" smtClean="0"/>
              <a:t> </a:t>
            </a:r>
            <a:r>
              <a:rPr lang="en-AU" dirty="0" smtClean="0"/>
              <a:t>A local soccer club is surveying its players. The survey aims to be representative of the genders in the club. There are three times as many boys as girls in the club. </a:t>
            </a:r>
            <a:r>
              <a:rPr lang="en-AU" dirty="0" smtClean="0"/>
              <a:t>Which of the following samples would get the most representative results? </a:t>
            </a:r>
            <a:endParaRPr lang="en-AU" dirty="0" smtClean="0"/>
          </a:p>
          <a:p>
            <a:pPr marL="0" indent="0">
              <a:buNone/>
            </a:pPr>
            <a:endParaRPr lang="en-AU" dirty="0" smtClean="0"/>
          </a:p>
          <a:p>
            <a:pPr marL="457200" indent="-457200">
              <a:buFont typeface="+mj-lt"/>
              <a:buAutoNum type="arabicPeriod" startAt="2"/>
            </a:pPr>
            <a:endParaRPr lang="en-AU" dirty="0" smtClean="0"/>
          </a:p>
          <a:p>
            <a:pPr marL="0" indent="0">
              <a:buNone/>
            </a:pPr>
            <a:endParaRPr lang="en-AU" dirty="0"/>
          </a:p>
        </p:txBody>
      </p:sp>
      <p:sp>
        <p:nvSpPr>
          <p:cNvPr id="7" name="TextBox 6"/>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I </a:t>
            </a:r>
            <a:r>
              <a:rPr lang="en-AU" dirty="0" smtClean="0"/>
              <a:t>C O </a:t>
            </a:r>
            <a:r>
              <a:rPr lang="en-AU" u="sng" dirty="0" smtClean="0">
                <a:solidFill>
                  <a:srgbClr val="FFFF00"/>
                </a:solidFill>
              </a:rPr>
              <a:t>R</a:t>
            </a:r>
            <a:endParaRPr lang="en-AU" u="sng" dirty="0">
              <a:solidFill>
                <a:srgbClr val="FFFF00"/>
              </a:solidFill>
            </a:endParaRPr>
          </a:p>
        </p:txBody>
      </p:sp>
      <p:pic>
        <p:nvPicPr>
          <p:cNvPr id="3" name="Picture 2"/>
          <p:cNvPicPr>
            <a:picLocks noChangeAspect="1"/>
          </p:cNvPicPr>
          <p:nvPr/>
        </p:nvPicPr>
        <p:blipFill rotWithShape="1">
          <a:blip r:embed="rId2"/>
          <a:srcRect t="48004" r="43074" b="25433"/>
          <a:stretch/>
        </p:blipFill>
        <p:spPr>
          <a:xfrm>
            <a:off x="1593275" y="5408023"/>
            <a:ext cx="4020147" cy="905691"/>
          </a:xfrm>
          <a:prstGeom prst="rect">
            <a:avLst/>
          </a:prstGeom>
        </p:spPr>
      </p:pic>
      <p:pic>
        <p:nvPicPr>
          <p:cNvPr id="8" name="Picture 7"/>
          <p:cNvPicPr>
            <a:picLocks noChangeAspect="1"/>
          </p:cNvPicPr>
          <p:nvPr/>
        </p:nvPicPr>
        <p:blipFill rotWithShape="1">
          <a:blip r:embed="rId2"/>
          <a:srcRect t="73350" r="44790"/>
          <a:stretch/>
        </p:blipFill>
        <p:spPr>
          <a:xfrm>
            <a:off x="4722876" y="5408023"/>
            <a:ext cx="3923438" cy="914400"/>
          </a:xfrm>
          <a:prstGeom prst="rect">
            <a:avLst/>
          </a:prstGeom>
        </p:spPr>
      </p:pic>
    </p:spTree>
    <p:extLst>
      <p:ext uri="{BB962C8B-B14F-4D97-AF65-F5344CB8AC3E}">
        <p14:creationId xmlns:p14="http://schemas.microsoft.com/office/powerpoint/2010/main" val="3344011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60960" y="1950720"/>
            <a:ext cx="2577737" cy="3985469"/>
          </a:xfrm>
        </p:spPr>
        <p:txBody>
          <a:bodyPr>
            <a:normAutofit/>
          </a:bodyPr>
          <a:lstStyle/>
          <a:p>
            <a:pPr marL="0" indent="0">
              <a:buNone/>
            </a:pPr>
            <a:r>
              <a:rPr lang="en-US" sz="1800" dirty="0" smtClean="0"/>
              <a:t>What is a frequency table? </a:t>
            </a:r>
          </a:p>
          <a:p>
            <a:pPr marL="0" indent="0">
              <a:buNone/>
            </a:pPr>
            <a:endParaRPr lang="en-US" sz="1800" dirty="0"/>
          </a:p>
          <a:p>
            <a:pPr marL="0" indent="0">
              <a:buNone/>
            </a:pPr>
            <a:endParaRPr lang="en-US" sz="1800" dirty="0" smtClean="0"/>
          </a:p>
        </p:txBody>
      </p:sp>
      <p:cxnSp>
        <p:nvCxnSpPr>
          <p:cNvPr id="12" name="Straight Connector 11"/>
          <p:cNvCxnSpPr/>
          <p:nvPr/>
        </p:nvCxnSpPr>
        <p:spPr>
          <a:xfrm>
            <a:off x="2638697" y="1982834"/>
            <a:ext cx="26126" cy="493340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2638698" y="2073199"/>
            <a:ext cx="9553302" cy="646331"/>
          </a:xfrm>
          <a:prstGeom prst="rect">
            <a:avLst/>
          </a:prstGeom>
          <a:noFill/>
        </p:spPr>
        <p:txBody>
          <a:bodyPr wrap="square" rtlCol="0">
            <a:spAutoFit/>
          </a:bodyPr>
          <a:lstStyle/>
          <a:p>
            <a:endParaRPr lang="en-AU" dirty="0"/>
          </a:p>
          <a:p>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cxnSp>
        <p:nvCxnSpPr>
          <p:cNvPr id="10" name="Straight Connector 9"/>
          <p:cNvCxnSpPr/>
          <p:nvPr/>
        </p:nvCxnSpPr>
        <p:spPr>
          <a:xfrm flipH="1">
            <a:off x="6853646" y="1982834"/>
            <a:ext cx="26125" cy="49072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165463" y="1002783"/>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AU" sz="2800" dirty="0" smtClean="0"/>
              <a:t>Measures of Centre and Spread 2</a:t>
            </a:r>
            <a:br>
              <a:rPr lang="en-AU" sz="2800" dirty="0" smtClean="0"/>
            </a:br>
            <a:r>
              <a:rPr lang="en-US" sz="2800" dirty="0" smtClean="0"/>
              <a:t>EQ –  Describe how to calculate measures of </a:t>
            </a:r>
            <a:r>
              <a:rPr lang="en-US" sz="2800" dirty="0" err="1" smtClean="0"/>
              <a:t>centre</a:t>
            </a:r>
            <a:r>
              <a:rPr lang="en-US" sz="2800" dirty="0" smtClean="0"/>
              <a:t> and spread for data given in a frequency table?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a:t>
            </a:r>
            <a:r>
              <a:rPr lang="en-AU" dirty="0" smtClean="0"/>
              <a:t>I C </a:t>
            </a:r>
            <a:r>
              <a:rPr lang="en-AU" u="sng" dirty="0" smtClean="0">
                <a:solidFill>
                  <a:srgbClr val="FFFF00"/>
                </a:solidFill>
              </a:rPr>
              <a:t>O</a:t>
            </a:r>
            <a:r>
              <a:rPr lang="en-AU" dirty="0" smtClean="0"/>
              <a:t> </a:t>
            </a:r>
            <a:r>
              <a:rPr lang="en-AU" u="sng" dirty="0" smtClean="0"/>
              <a:t>R</a:t>
            </a:r>
            <a:endParaRPr lang="en-AU" u="sng" dirty="0"/>
          </a:p>
        </p:txBody>
      </p:sp>
      <p:sp>
        <p:nvSpPr>
          <p:cNvPr id="6" name="TextBox 5"/>
          <p:cNvSpPr txBox="1"/>
          <p:nvPr/>
        </p:nvSpPr>
        <p:spPr>
          <a:xfrm>
            <a:off x="7003542" y="2090800"/>
            <a:ext cx="4092787" cy="369332"/>
          </a:xfrm>
          <a:prstGeom prst="rect">
            <a:avLst/>
          </a:prstGeom>
          <a:noFill/>
        </p:spPr>
        <p:txBody>
          <a:bodyPr wrap="none" rtlCol="0">
            <a:spAutoFit/>
          </a:bodyPr>
          <a:lstStyle/>
          <a:p>
            <a:r>
              <a:rPr lang="en-AU" dirty="0" smtClean="0"/>
              <a:t>Example: 1, 1, 1, 1, 2, 2, 2, 2, 3, 3, 4</a:t>
            </a:r>
            <a:endParaRPr lang="en-AU" dirty="0"/>
          </a:p>
        </p:txBody>
      </p:sp>
      <p:sp>
        <p:nvSpPr>
          <p:cNvPr id="7" name="TextBox 6"/>
          <p:cNvSpPr txBox="1"/>
          <p:nvPr/>
        </p:nvSpPr>
        <p:spPr>
          <a:xfrm>
            <a:off x="2774089" y="2018569"/>
            <a:ext cx="3441968" cy="369332"/>
          </a:xfrm>
          <a:prstGeom prst="rect">
            <a:avLst/>
          </a:prstGeom>
          <a:noFill/>
        </p:spPr>
        <p:txBody>
          <a:bodyPr wrap="none" rtlCol="0">
            <a:spAutoFit/>
          </a:bodyPr>
          <a:lstStyle/>
          <a:p>
            <a:r>
              <a:rPr lang="en-AU" dirty="0" smtClean="0"/>
              <a:t>Is used to summarise a data set</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255292021"/>
              </p:ext>
            </p:extLst>
          </p:nvPr>
        </p:nvGraphicFramePr>
        <p:xfrm>
          <a:off x="7310437" y="2517296"/>
          <a:ext cx="2689474" cy="2617295"/>
        </p:xfrm>
        <a:graphic>
          <a:graphicData uri="http://schemas.openxmlformats.org/drawingml/2006/table">
            <a:tbl>
              <a:tblPr firstRow="1" bandRow="1">
                <a:tableStyleId>{3B4B98B0-60AC-42C2-AFA5-B58CD77FA1E5}</a:tableStyleId>
              </a:tblPr>
              <a:tblGrid>
                <a:gridCol w="1344737">
                  <a:extLst>
                    <a:ext uri="{9D8B030D-6E8A-4147-A177-3AD203B41FA5}">
                      <a16:colId xmlns:a16="http://schemas.microsoft.com/office/drawing/2014/main" val="3853349929"/>
                    </a:ext>
                  </a:extLst>
                </a:gridCol>
                <a:gridCol w="1344737">
                  <a:extLst>
                    <a:ext uri="{9D8B030D-6E8A-4147-A177-3AD203B41FA5}">
                      <a16:colId xmlns:a16="http://schemas.microsoft.com/office/drawing/2014/main" val="3359492329"/>
                    </a:ext>
                  </a:extLst>
                </a:gridCol>
              </a:tblGrid>
              <a:tr h="364023">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7359542"/>
                  </a:ext>
                </a:extLst>
              </a:tr>
              <a:tr h="395443">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395443">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395443">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395443">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395443">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p:spTree>
    <p:extLst>
      <p:ext uri="{BB962C8B-B14F-4D97-AF65-F5344CB8AC3E}">
        <p14:creationId xmlns:p14="http://schemas.microsoft.com/office/powerpoint/2010/main" val="3590164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60960" y="1950720"/>
            <a:ext cx="2577737" cy="3985469"/>
          </a:xfrm>
        </p:spPr>
        <p:txBody>
          <a:bodyPr>
            <a:normAutofit/>
          </a:bodyPr>
          <a:lstStyle/>
          <a:p>
            <a:pPr marL="0" indent="0">
              <a:buNone/>
            </a:pPr>
            <a:r>
              <a:rPr lang="en-US" sz="1800" dirty="0" smtClean="0"/>
              <a:t>What is a frequency table? </a:t>
            </a:r>
          </a:p>
          <a:p>
            <a:pPr marL="0" indent="0">
              <a:buNone/>
            </a:pPr>
            <a:r>
              <a:rPr lang="en-US" sz="1800" dirty="0" smtClean="0"/>
              <a:t>How do I find the range? </a:t>
            </a:r>
            <a:endParaRPr lang="en-US" sz="1800" dirty="0" smtClean="0"/>
          </a:p>
          <a:p>
            <a:pPr marL="0" indent="0">
              <a:buNone/>
            </a:pPr>
            <a:endParaRPr lang="en-US" sz="1800" dirty="0"/>
          </a:p>
          <a:p>
            <a:pPr marL="0" indent="0">
              <a:buNone/>
            </a:pPr>
            <a:endParaRPr lang="en-US" sz="1800" dirty="0" smtClean="0"/>
          </a:p>
        </p:txBody>
      </p:sp>
      <p:cxnSp>
        <p:nvCxnSpPr>
          <p:cNvPr id="12" name="Straight Connector 11"/>
          <p:cNvCxnSpPr/>
          <p:nvPr/>
        </p:nvCxnSpPr>
        <p:spPr>
          <a:xfrm>
            <a:off x="2638697" y="1982834"/>
            <a:ext cx="26126" cy="493340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2638698" y="2073199"/>
            <a:ext cx="9553302" cy="646331"/>
          </a:xfrm>
          <a:prstGeom prst="rect">
            <a:avLst/>
          </a:prstGeom>
          <a:noFill/>
        </p:spPr>
        <p:txBody>
          <a:bodyPr wrap="square" rtlCol="0">
            <a:spAutoFit/>
          </a:bodyPr>
          <a:lstStyle/>
          <a:p>
            <a:endParaRPr lang="en-AU" dirty="0"/>
          </a:p>
          <a:p>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cxnSp>
        <p:nvCxnSpPr>
          <p:cNvPr id="10" name="Straight Connector 9"/>
          <p:cNvCxnSpPr/>
          <p:nvPr/>
        </p:nvCxnSpPr>
        <p:spPr>
          <a:xfrm flipH="1">
            <a:off x="6853646" y="1982834"/>
            <a:ext cx="26125" cy="49072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50388" y="888721"/>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AU" sz="2800" dirty="0" smtClean="0"/>
              <a:t>Measures of Centre and Spread 2</a:t>
            </a:r>
            <a:br>
              <a:rPr lang="en-AU" sz="2800" dirty="0" smtClean="0"/>
            </a:br>
            <a:r>
              <a:rPr lang="en-US" sz="2800" dirty="0" smtClean="0"/>
              <a:t>EQ –  Describe how to calculate measures of </a:t>
            </a:r>
            <a:r>
              <a:rPr lang="en-US" sz="2800" dirty="0" err="1" smtClean="0"/>
              <a:t>centre</a:t>
            </a:r>
            <a:r>
              <a:rPr lang="en-US" sz="2800" dirty="0" smtClean="0"/>
              <a:t> and spread for data given in a frequency table?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a:t>
            </a:r>
            <a:r>
              <a:rPr lang="en-AU" dirty="0" smtClean="0"/>
              <a:t>I C </a:t>
            </a:r>
            <a:r>
              <a:rPr lang="en-AU" u="sng" dirty="0" smtClean="0">
                <a:solidFill>
                  <a:srgbClr val="FFFF00"/>
                </a:solidFill>
              </a:rPr>
              <a:t>O</a:t>
            </a:r>
            <a:r>
              <a:rPr lang="en-AU" dirty="0" smtClean="0"/>
              <a:t> </a:t>
            </a:r>
            <a:r>
              <a:rPr lang="en-AU" u="sng" dirty="0" smtClean="0"/>
              <a:t>R</a:t>
            </a:r>
            <a:endParaRPr lang="en-AU" u="sng" dirty="0"/>
          </a:p>
        </p:txBody>
      </p:sp>
      <p:sp>
        <p:nvSpPr>
          <p:cNvPr id="6" name="TextBox 5"/>
          <p:cNvSpPr txBox="1"/>
          <p:nvPr/>
        </p:nvSpPr>
        <p:spPr>
          <a:xfrm>
            <a:off x="7003542" y="2090800"/>
            <a:ext cx="4092787" cy="369332"/>
          </a:xfrm>
          <a:prstGeom prst="rect">
            <a:avLst/>
          </a:prstGeom>
          <a:noFill/>
        </p:spPr>
        <p:txBody>
          <a:bodyPr wrap="none" rtlCol="0">
            <a:spAutoFit/>
          </a:bodyPr>
          <a:lstStyle/>
          <a:p>
            <a:r>
              <a:rPr lang="en-AU" dirty="0" smtClean="0"/>
              <a:t>Example: 1, 1, 1, 1, 2, 2, 2, 2, 3, 3, 4</a:t>
            </a:r>
            <a:endParaRPr lang="en-AU" dirty="0"/>
          </a:p>
        </p:txBody>
      </p:sp>
      <p:sp>
        <p:nvSpPr>
          <p:cNvPr id="7" name="TextBox 6"/>
          <p:cNvSpPr txBox="1"/>
          <p:nvPr/>
        </p:nvSpPr>
        <p:spPr>
          <a:xfrm>
            <a:off x="2774089" y="2018569"/>
            <a:ext cx="3441968" cy="369332"/>
          </a:xfrm>
          <a:prstGeom prst="rect">
            <a:avLst/>
          </a:prstGeom>
          <a:noFill/>
        </p:spPr>
        <p:txBody>
          <a:bodyPr wrap="none" rtlCol="0">
            <a:spAutoFit/>
          </a:bodyPr>
          <a:lstStyle/>
          <a:p>
            <a:r>
              <a:rPr lang="en-AU" dirty="0" smtClean="0"/>
              <a:t>Is used to summarise a data set</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255292021"/>
              </p:ext>
            </p:extLst>
          </p:nvPr>
        </p:nvGraphicFramePr>
        <p:xfrm>
          <a:off x="7310437" y="2517296"/>
          <a:ext cx="2689474" cy="2617295"/>
        </p:xfrm>
        <a:graphic>
          <a:graphicData uri="http://schemas.openxmlformats.org/drawingml/2006/table">
            <a:tbl>
              <a:tblPr firstRow="1" bandRow="1">
                <a:tableStyleId>{3B4B98B0-60AC-42C2-AFA5-B58CD77FA1E5}</a:tableStyleId>
              </a:tblPr>
              <a:tblGrid>
                <a:gridCol w="1344737">
                  <a:extLst>
                    <a:ext uri="{9D8B030D-6E8A-4147-A177-3AD203B41FA5}">
                      <a16:colId xmlns:a16="http://schemas.microsoft.com/office/drawing/2014/main" val="3853349929"/>
                    </a:ext>
                  </a:extLst>
                </a:gridCol>
                <a:gridCol w="1344737">
                  <a:extLst>
                    <a:ext uri="{9D8B030D-6E8A-4147-A177-3AD203B41FA5}">
                      <a16:colId xmlns:a16="http://schemas.microsoft.com/office/drawing/2014/main" val="3359492329"/>
                    </a:ext>
                  </a:extLst>
                </a:gridCol>
              </a:tblGrid>
              <a:tr h="364023">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7359542"/>
                  </a:ext>
                </a:extLst>
              </a:tr>
              <a:tr h="395443">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395443">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395443">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395443">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395443">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p:spTree>
    <p:extLst>
      <p:ext uri="{BB962C8B-B14F-4D97-AF65-F5344CB8AC3E}">
        <p14:creationId xmlns:p14="http://schemas.microsoft.com/office/powerpoint/2010/main" val="1035113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60960" y="1950720"/>
            <a:ext cx="2577737" cy="3985469"/>
          </a:xfrm>
        </p:spPr>
        <p:txBody>
          <a:bodyPr>
            <a:normAutofit/>
          </a:bodyPr>
          <a:lstStyle/>
          <a:p>
            <a:pPr marL="0" indent="0">
              <a:buNone/>
            </a:pPr>
            <a:r>
              <a:rPr lang="en-US" sz="1800" dirty="0" smtClean="0"/>
              <a:t>What is a frequency table? </a:t>
            </a:r>
          </a:p>
          <a:p>
            <a:pPr marL="0" indent="0">
              <a:buNone/>
            </a:pPr>
            <a:r>
              <a:rPr lang="en-US" sz="1800" dirty="0" smtClean="0"/>
              <a:t>How do I find the range? </a:t>
            </a:r>
            <a:endParaRPr lang="en-US" sz="1800" dirty="0" smtClean="0"/>
          </a:p>
          <a:p>
            <a:pPr marL="0" indent="0">
              <a:buNone/>
            </a:pPr>
            <a:endParaRPr lang="en-US" sz="1800" dirty="0"/>
          </a:p>
          <a:p>
            <a:pPr marL="0" indent="0">
              <a:buNone/>
            </a:pPr>
            <a:endParaRPr lang="en-US" sz="1800" dirty="0" smtClean="0"/>
          </a:p>
        </p:txBody>
      </p:sp>
      <p:cxnSp>
        <p:nvCxnSpPr>
          <p:cNvPr id="12" name="Straight Connector 11"/>
          <p:cNvCxnSpPr/>
          <p:nvPr/>
        </p:nvCxnSpPr>
        <p:spPr>
          <a:xfrm>
            <a:off x="2638697" y="1982834"/>
            <a:ext cx="26126" cy="493340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2638698" y="2073199"/>
            <a:ext cx="9553302" cy="646331"/>
          </a:xfrm>
          <a:prstGeom prst="rect">
            <a:avLst/>
          </a:prstGeom>
          <a:noFill/>
        </p:spPr>
        <p:txBody>
          <a:bodyPr wrap="square" rtlCol="0">
            <a:spAutoFit/>
          </a:bodyPr>
          <a:lstStyle/>
          <a:p>
            <a:endParaRPr lang="en-AU" dirty="0"/>
          </a:p>
          <a:p>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cxnSp>
        <p:nvCxnSpPr>
          <p:cNvPr id="10" name="Straight Connector 9"/>
          <p:cNvCxnSpPr/>
          <p:nvPr/>
        </p:nvCxnSpPr>
        <p:spPr>
          <a:xfrm flipH="1">
            <a:off x="6853646" y="1982834"/>
            <a:ext cx="26125" cy="49072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50388" y="888721"/>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AU" sz="2800" dirty="0" smtClean="0"/>
              <a:t>Measures of Centre and Spread 2</a:t>
            </a:r>
            <a:br>
              <a:rPr lang="en-AU" sz="2800" dirty="0" smtClean="0"/>
            </a:br>
            <a:r>
              <a:rPr lang="en-US" sz="2800" dirty="0" smtClean="0"/>
              <a:t>EQ –  Describe how to calculate measures of </a:t>
            </a:r>
            <a:r>
              <a:rPr lang="en-US" sz="2800" dirty="0" err="1" smtClean="0"/>
              <a:t>centre</a:t>
            </a:r>
            <a:r>
              <a:rPr lang="en-US" sz="2800" dirty="0" smtClean="0"/>
              <a:t> and spread for data given in a frequency table?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a:t>
            </a:r>
            <a:r>
              <a:rPr lang="en-AU" dirty="0" smtClean="0"/>
              <a:t>I C </a:t>
            </a:r>
            <a:r>
              <a:rPr lang="en-AU" u="sng" dirty="0" smtClean="0">
                <a:solidFill>
                  <a:srgbClr val="FFFF00"/>
                </a:solidFill>
              </a:rPr>
              <a:t>O</a:t>
            </a:r>
            <a:r>
              <a:rPr lang="en-AU" dirty="0" smtClean="0"/>
              <a:t> </a:t>
            </a:r>
            <a:r>
              <a:rPr lang="en-AU" u="sng" dirty="0" smtClean="0"/>
              <a:t>R</a:t>
            </a:r>
            <a:endParaRPr lang="en-AU" u="sng" dirty="0"/>
          </a:p>
        </p:txBody>
      </p:sp>
      <p:sp>
        <p:nvSpPr>
          <p:cNvPr id="6" name="TextBox 5"/>
          <p:cNvSpPr txBox="1"/>
          <p:nvPr/>
        </p:nvSpPr>
        <p:spPr>
          <a:xfrm>
            <a:off x="7003542" y="2090800"/>
            <a:ext cx="4092787" cy="369332"/>
          </a:xfrm>
          <a:prstGeom prst="rect">
            <a:avLst/>
          </a:prstGeom>
          <a:noFill/>
        </p:spPr>
        <p:txBody>
          <a:bodyPr wrap="none" rtlCol="0">
            <a:spAutoFit/>
          </a:bodyPr>
          <a:lstStyle/>
          <a:p>
            <a:r>
              <a:rPr lang="en-AU" dirty="0" smtClean="0"/>
              <a:t>Example: 1, 1, 1, 1, 2, 2, 2, 2, 3, 3, 4</a:t>
            </a:r>
            <a:endParaRPr lang="en-AU" dirty="0"/>
          </a:p>
        </p:txBody>
      </p:sp>
      <p:sp>
        <p:nvSpPr>
          <p:cNvPr id="7" name="TextBox 6"/>
          <p:cNvSpPr txBox="1"/>
          <p:nvPr/>
        </p:nvSpPr>
        <p:spPr>
          <a:xfrm>
            <a:off x="2774089" y="2018569"/>
            <a:ext cx="4053431" cy="1200329"/>
          </a:xfrm>
          <a:prstGeom prst="rect">
            <a:avLst/>
          </a:prstGeom>
          <a:noFill/>
        </p:spPr>
        <p:txBody>
          <a:bodyPr wrap="square" rtlCol="0">
            <a:spAutoFit/>
          </a:bodyPr>
          <a:lstStyle/>
          <a:p>
            <a:r>
              <a:rPr lang="en-AU" dirty="0" smtClean="0"/>
              <a:t>Is used to summarise a data set</a:t>
            </a:r>
          </a:p>
          <a:p>
            <a:endParaRPr lang="en-AU" dirty="0"/>
          </a:p>
          <a:p>
            <a:r>
              <a:rPr lang="en-AU" dirty="0" smtClean="0"/>
              <a:t>The difference between the smallest score ad the largest score</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756206304"/>
              </p:ext>
            </p:extLst>
          </p:nvPr>
        </p:nvGraphicFramePr>
        <p:xfrm>
          <a:off x="7310437" y="2517296"/>
          <a:ext cx="2689474" cy="2617295"/>
        </p:xfrm>
        <a:graphic>
          <a:graphicData uri="http://schemas.openxmlformats.org/drawingml/2006/table">
            <a:tbl>
              <a:tblPr firstRow="1" bandRow="1">
                <a:tableStyleId>{3B4B98B0-60AC-42C2-AFA5-B58CD77FA1E5}</a:tableStyleId>
              </a:tblPr>
              <a:tblGrid>
                <a:gridCol w="1344737">
                  <a:extLst>
                    <a:ext uri="{9D8B030D-6E8A-4147-A177-3AD203B41FA5}">
                      <a16:colId xmlns:a16="http://schemas.microsoft.com/office/drawing/2014/main" val="3853349929"/>
                    </a:ext>
                  </a:extLst>
                </a:gridCol>
                <a:gridCol w="1344737">
                  <a:extLst>
                    <a:ext uri="{9D8B030D-6E8A-4147-A177-3AD203B41FA5}">
                      <a16:colId xmlns:a16="http://schemas.microsoft.com/office/drawing/2014/main" val="3359492329"/>
                    </a:ext>
                  </a:extLst>
                </a:gridCol>
              </a:tblGrid>
              <a:tr h="364023">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7359542"/>
                  </a:ext>
                </a:extLst>
              </a:tr>
              <a:tr h="395443">
                <a:tc>
                  <a:txBody>
                    <a:bodyPr/>
                    <a:lstStyle/>
                    <a:p>
                      <a:pPr algn="ctr"/>
                      <a:r>
                        <a:rPr lang="en-AU" dirty="0" smtClean="0">
                          <a:solidFill>
                            <a:srgbClr val="FFFF00"/>
                          </a:solidFill>
                        </a:rPr>
                        <a:t>1</a:t>
                      </a:r>
                      <a:endParaRPr lang="en-AU" dirty="0">
                        <a:solidFill>
                          <a:srgbClr val="FFFF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395443">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395443">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395443">
                <a:tc>
                  <a:txBody>
                    <a:bodyPr/>
                    <a:lstStyle/>
                    <a:p>
                      <a:pPr algn="ctr"/>
                      <a:r>
                        <a:rPr lang="en-AU" dirty="0" smtClean="0">
                          <a:solidFill>
                            <a:srgbClr val="FFFF00"/>
                          </a:solidFill>
                        </a:rPr>
                        <a:t>4</a:t>
                      </a:r>
                      <a:endParaRPr lang="en-AU" dirty="0">
                        <a:solidFill>
                          <a:srgbClr val="FFFF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395443">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p:cxnSp>
        <p:nvCxnSpPr>
          <p:cNvPr id="15" name="Straight Arrow Connector 14"/>
          <p:cNvCxnSpPr/>
          <p:nvPr/>
        </p:nvCxnSpPr>
        <p:spPr>
          <a:xfrm flipH="1">
            <a:off x="8151223" y="3282665"/>
            <a:ext cx="2307771"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313148" y="3097999"/>
            <a:ext cx="1055097" cy="369332"/>
          </a:xfrm>
          <a:prstGeom prst="rect">
            <a:avLst/>
          </a:prstGeom>
          <a:noFill/>
        </p:spPr>
        <p:txBody>
          <a:bodyPr wrap="none" rtlCol="0">
            <a:spAutoFit/>
          </a:bodyPr>
          <a:lstStyle/>
          <a:p>
            <a:r>
              <a:rPr lang="en-AU" dirty="0" smtClean="0"/>
              <a:t>Smallest</a:t>
            </a:r>
            <a:endParaRPr lang="en-AU" dirty="0"/>
          </a:p>
        </p:txBody>
      </p:sp>
      <p:cxnSp>
        <p:nvCxnSpPr>
          <p:cNvPr id="18" name="Straight Arrow Connector 17"/>
          <p:cNvCxnSpPr/>
          <p:nvPr/>
        </p:nvCxnSpPr>
        <p:spPr>
          <a:xfrm flipH="1">
            <a:off x="8201591" y="4567179"/>
            <a:ext cx="2307771"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463757" y="4382513"/>
            <a:ext cx="1008609" cy="369332"/>
          </a:xfrm>
          <a:prstGeom prst="rect">
            <a:avLst/>
          </a:prstGeom>
          <a:noFill/>
        </p:spPr>
        <p:txBody>
          <a:bodyPr wrap="none" rtlCol="0">
            <a:spAutoFit/>
          </a:bodyPr>
          <a:lstStyle/>
          <a:p>
            <a:r>
              <a:rPr lang="en-AU" dirty="0" smtClean="0"/>
              <a:t>Largest </a:t>
            </a:r>
            <a:endParaRPr lang="en-AU" dirty="0"/>
          </a:p>
        </p:txBody>
      </p:sp>
      <mc:AlternateContent xmlns:mc="http://schemas.openxmlformats.org/markup-compatibility/2006">
        <mc:Choice xmlns:a14="http://schemas.microsoft.com/office/drawing/2010/main" Requires="a14">
          <p:sp>
            <p:nvSpPr>
              <p:cNvPr id="20" name="TextBox 19"/>
              <p:cNvSpPr txBox="1"/>
              <p:nvPr/>
            </p:nvSpPr>
            <p:spPr>
              <a:xfrm>
                <a:off x="7253141" y="5191755"/>
                <a:ext cx="2031325" cy="369332"/>
              </a:xfrm>
              <a:prstGeom prst="rect">
                <a:avLst/>
              </a:prstGeom>
              <a:noFill/>
            </p:spPr>
            <p:txBody>
              <a:bodyPr wrap="none" rtlCol="0">
                <a:spAutoFit/>
              </a:bodyPr>
              <a:lstStyle/>
              <a:p>
                <a:r>
                  <a:rPr lang="en-AU" dirty="0" smtClean="0"/>
                  <a:t>Range = </a:t>
                </a:r>
                <a14:m>
                  <m:oMath xmlns:m="http://schemas.openxmlformats.org/officeDocument/2006/math">
                    <m:r>
                      <a:rPr lang="en-AU" b="0" i="1" smtClean="0">
                        <a:latin typeface="Cambria Math" panose="02040503050406030204" pitchFamily="18" charset="0"/>
                      </a:rPr>
                      <m:t>4−1=3</m:t>
                    </m:r>
                  </m:oMath>
                </a14:m>
                <a:endParaRPr lang="en-AU" dirty="0"/>
              </a:p>
            </p:txBody>
          </p:sp>
        </mc:Choice>
        <mc:Fallback>
          <p:sp>
            <p:nvSpPr>
              <p:cNvPr id="20" name="TextBox 19"/>
              <p:cNvSpPr txBox="1">
                <a:spLocks noRot="1" noChangeAspect="1" noMove="1" noResize="1" noEditPoints="1" noAdjustHandles="1" noChangeArrowheads="1" noChangeShapeType="1" noTextEdit="1"/>
              </p:cNvSpPr>
              <p:nvPr/>
            </p:nvSpPr>
            <p:spPr>
              <a:xfrm>
                <a:off x="7253141" y="5191755"/>
                <a:ext cx="2031325" cy="369332"/>
              </a:xfrm>
              <a:prstGeom prst="rect">
                <a:avLst/>
              </a:prstGeom>
              <a:blipFill>
                <a:blip r:embed="rId2"/>
                <a:stretch>
                  <a:fillRect l="-2703" t="-11667" b="-25000"/>
                </a:stretch>
              </a:blipFill>
            </p:spPr>
            <p:txBody>
              <a:bodyPr/>
              <a:lstStyle/>
              <a:p>
                <a:r>
                  <a:rPr lang="en-AU">
                    <a:noFill/>
                  </a:rPr>
                  <a:t> </a:t>
                </a:r>
              </a:p>
            </p:txBody>
          </p:sp>
        </mc:Fallback>
      </mc:AlternateContent>
    </p:spTree>
    <p:extLst>
      <p:ext uri="{BB962C8B-B14F-4D97-AF65-F5344CB8AC3E}">
        <p14:creationId xmlns:p14="http://schemas.microsoft.com/office/powerpoint/2010/main" val="1926752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60960" y="1950720"/>
            <a:ext cx="2577737" cy="3985469"/>
          </a:xfrm>
        </p:spPr>
        <p:txBody>
          <a:bodyPr>
            <a:normAutofit fontScale="92500"/>
          </a:bodyPr>
          <a:lstStyle/>
          <a:p>
            <a:pPr marL="0" indent="0">
              <a:buNone/>
            </a:pPr>
            <a:r>
              <a:rPr lang="en-US" sz="1800" dirty="0" smtClean="0"/>
              <a:t>What is a frequency table? </a:t>
            </a:r>
          </a:p>
          <a:p>
            <a:pPr marL="0" indent="0">
              <a:buNone/>
            </a:pPr>
            <a:r>
              <a:rPr lang="en-US" sz="1800" dirty="0" smtClean="0"/>
              <a:t>How do I find the range? </a:t>
            </a:r>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smtClean="0"/>
          </a:p>
          <a:p>
            <a:pPr marL="0" indent="0">
              <a:buNone/>
            </a:pPr>
            <a:r>
              <a:rPr lang="en-US" sz="1800" dirty="0" smtClean="0"/>
              <a:t>How do I find the mode?</a:t>
            </a:r>
          </a:p>
          <a:p>
            <a:pPr marL="0" indent="0">
              <a:buNone/>
            </a:pPr>
            <a:endParaRPr lang="en-US" sz="1800" dirty="0"/>
          </a:p>
          <a:p>
            <a:pPr marL="0" indent="0">
              <a:buNone/>
            </a:pPr>
            <a:endParaRPr lang="en-US" sz="1800" dirty="0" smtClean="0"/>
          </a:p>
        </p:txBody>
      </p:sp>
      <p:cxnSp>
        <p:nvCxnSpPr>
          <p:cNvPr id="12" name="Straight Connector 11"/>
          <p:cNvCxnSpPr/>
          <p:nvPr/>
        </p:nvCxnSpPr>
        <p:spPr>
          <a:xfrm>
            <a:off x="2638697" y="1982834"/>
            <a:ext cx="26126" cy="493340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2638698" y="2073199"/>
            <a:ext cx="9553302" cy="646331"/>
          </a:xfrm>
          <a:prstGeom prst="rect">
            <a:avLst/>
          </a:prstGeom>
          <a:noFill/>
        </p:spPr>
        <p:txBody>
          <a:bodyPr wrap="square" rtlCol="0">
            <a:spAutoFit/>
          </a:bodyPr>
          <a:lstStyle/>
          <a:p>
            <a:endParaRPr lang="en-AU" dirty="0"/>
          </a:p>
          <a:p>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cxnSp>
        <p:nvCxnSpPr>
          <p:cNvPr id="10" name="Straight Connector 9"/>
          <p:cNvCxnSpPr/>
          <p:nvPr/>
        </p:nvCxnSpPr>
        <p:spPr>
          <a:xfrm flipH="1">
            <a:off x="6853646" y="1982834"/>
            <a:ext cx="26125" cy="49072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50388" y="888721"/>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AU" sz="2800" dirty="0" smtClean="0"/>
              <a:t>Measures of Centre and Spread 2</a:t>
            </a:r>
            <a:br>
              <a:rPr lang="en-AU" sz="2800" dirty="0" smtClean="0"/>
            </a:br>
            <a:r>
              <a:rPr lang="en-US" sz="2800" dirty="0" smtClean="0"/>
              <a:t>EQ –  Describe how to calculate measures of </a:t>
            </a:r>
            <a:r>
              <a:rPr lang="en-US" sz="2800" dirty="0" err="1" smtClean="0"/>
              <a:t>centre</a:t>
            </a:r>
            <a:r>
              <a:rPr lang="en-US" sz="2800" dirty="0" smtClean="0"/>
              <a:t> and spread for data given in a frequency table?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a:t>
            </a:r>
            <a:r>
              <a:rPr lang="en-AU" dirty="0" smtClean="0"/>
              <a:t>I C </a:t>
            </a:r>
            <a:r>
              <a:rPr lang="en-AU" u="sng" dirty="0" smtClean="0">
                <a:solidFill>
                  <a:srgbClr val="FFFF00"/>
                </a:solidFill>
              </a:rPr>
              <a:t>O</a:t>
            </a:r>
            <a:r>
              <a:rPr lang="en-AU" dirty="0" smtClean="0"/>
              <a:t> </a:t>
            </a:r>
            <a:r>
              <a:rPr lang="en-AU" u="sng" dirty="0" smtClean="0"/>
              <a:t>R</a:t>
            </a:r>
            <a:endParaRPr lang="en-AU" u="sng" dirty="0"/>
          </a:p>
        </p:txBody>
      </p:sp>
      <p:sp>
        <p:nvSpPr>
          <p:cNvPr id="6" name="TextBox 5"/>
          <p:cNvSpPr txBox="1"/>
          <p:nvPr/>
        </p:nvSpPr>
        <p:spPr>
          <a:xfrm>
            <a:off x="7003542" y="2090800"/>
            <a:ext cx="4092787" cy="369332"/>
          </a:xfrm>
          <a:prstGeom prst="rect">
            <a:avLst/>
          </a:prstGeom>
          <a:noFill/>
        </p:spPr>
        <p:txBody>
          <a:bodyPr wrap="none" rtlCol="0">
            <a:spAutoFit/>
          </a:bodyPr>
          <a:lstStyle/>
          <a:p>
            <a:r>
              <a:rPr lang="en-AU" dirty="0" smtClean="0"/>
              <a:t>Example: 1, 1, 1, 1, 2, 2, 2, 2, 3, 3, 4</a:t>
            </a:r>
            <a:endParaRPr lang="en-AU" dirty="0"/>
          </a:p>
        </p:txBody>
      </p:sp>
      <p:sp>
        <p:nvSpPr>
          <p:cNvPr id="7" name="TextBox 6"/>
          <p:cNvSpPr txBox="1"/>
          <p:nvPr/>
        </p:nvSpPr>
        <p:spPr>
          <a:xfrm>
            <a:off x="2774089" y="2018569"/>
            <a:ext cx="4053431" cy="3693319"/>
          </a:xfrm>
          <a:prstGeom prst="rect">
            <a:avLst/>
          </a:prstGeom>
          <a:noFill/>
        </p:spPr>
        <p:txBody>
          <a:bodyPr wrap="square" rtlCol="0">
            <a:spAutoFit/>
          </a:bodyPr>
          <a:lstStyle/>
          <a:p>
            <a:r>
              <a:rPr lang="en-AU" dirty="0" smtClean="0"/>
              <a:t>Is used to summarise a data set</a:t>
            </a:r>
          </a:p>
          <a:p>
            <a:endParaRPr lang="en-AU" dirty="0"/>
          </a:p>
          <a:p>
            <a:r>
              <a:rPr lang="en-AU" dirty="0" smtClean="0"/>
              <a:t>The difference between the smallest score ad the largest score</a:t>
            </a:r>
          </a:p>
          <a:p>
            <a:endParaRPr lang="en-AU" dirty="0"/>
          </a:p>
          <a:p>
            <a:endParaRPr lang="en-AU" dirty="0" smtClean="0"/>
          </a:p>
          <a:p>
            <a:endParaRPr lang="en-AU" dirty="0"/>
          </a:p>
          <a:p>
            <a:endParaRPr lang="en-AU" dirty="0" smtClean="0"/>
          </a:p>
          <a:p>
            <a:endParaRPr lang="en-AU" dirty="0"/>
          </a:p>
          <a:p>
            <a:endParaRPr lang="en-AU" dirty="0" smtClean="0"/>
          </a:p>
          <a:p>
            <a:endParaRPr lang="en-AU" dirty="0" smtClean="0"/>
          </a:p>
          <a:p>
            <a:endParaRPr lang="en-AU" dirty="0"/>
          </a:p>
          <a:p>
            <a:r>
              <a:rPr lang="en-AU" dirty="0" smtClean="0"/>
              <a:t>The score with the highest frequency</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2756206304"/>
              </p:ext>
            </p:extLst>
          </p:nvPr>
        </p:nvGraphicFramePr>
        <p:xfrm>
          <a:off x="7310437" y="2517296"/>
          <a:ext cx="2689474" cy="2617295"/>
        </p:xfrm>
        <a:graphic>
          <a:graphicData uri="http://schemas.openxmlformats.org/drawingml/2006/table">
            <a:tbl>
              <a:tblPr firstRow="1" bandRow="1">
                <a:tableStyleId>{3B4B98B0-60AC-42C2-AFA5-B58CD77FA1E5}</a:tableStyleId>
              </a:tblPr>
              <a:tblGrid>
                <a:gridCol w="1344737">
                  <a:extLst>
                    <a:ext uri="{9D8B030D-6E8A-4147-A177-3AD203B41FA5}">
                      <a16:colId xmlns:a16="http://schemas.microsoft.com/office/drawing/2014/main" val="3853349929"/>
                    </a:ext>
                  </a:extLst>
                </a:gridCol>
                <a:gridCol w="1344737">
                  <a:extLst>
                    <a:ext uri="{9D8B030D-6E8A-4147-A177-3AD203B41FA5}">
                      <a16:colId xmlns:a16="http://schemas.microsoft.com/office/drawing/2014/main" val="3359492329"/>
                    </a:ext>
                  </a:extLst>
                </a:gridCol>
              </a:tblGrid>
              <a:tr h="364023">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7359542"/>
                  </a:ext>
                </a:extLst>
              </a:tr>
              <a:tr h="395443">
                <a:tc>
                  <a:txBody>
                    <a:bodyPr/>
                    <a:lstStyle/>
                    <a:p>
                      <a:pPr algn="ctr"/>
                      <a:r>
                        <a:rPr lang="en-AU" dirty="0" smtClean="0">
                          <a:solidFill>
                            <a:srgbClr val="FFFF00"/>
                          </a:solidFill>
                        </a:rPr>
                        <a:t>1</a:t>
                      </a:r>
                      <a:endParaRPr lang="en-AU" dirty="0">
                        <a:solidFill>
                          <a:srgbClr val="FFFF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395443">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395443">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395443">
                <a:tc>
                  <a:txBody>
                    <a:bodyPr/>
                    <a:lstStyle/>
                    <a:p>
                      <a:pPr algn="ctr"/>
                      <a:r>
                        <a:rPr lang="en-AU" dirty="0" smtClean="0">
                          <a:solidFill>
                            <a:srgbClr val="FFFF00"/>
                          </a:solidFill>
                        </a:rPr>
                        <a:t>4</a:t>
                      </a:r>
                      <a:endParaRPr lang="en-AU" dirty="0">
                        <a:solidFill>
                          <a:srgbClr val="FFFF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395443">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p:cxnSp>
        <p:nvCxnSpPr>
          <p:cNvPr id="15" name="Straight Arrow Connector 14"/>
          <p:cNvCxnSpPr/>
          <p:nvPr/>
        </p:nvCxnSpPr>
        <p:spPr>
          <a:xfrm flipH="1">
            <a:off x="8151223" y="3282665"/>
            <a:ext cx="2307771"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313148" y="3097999"/>
            <a:ext cx="1055097" cy="369332"/>
          </a:xfrm>
          <a:prstGeom prst="rect">
            <a:avLst/>
          </a:prstGeom>
          <a:noFill/>
        </p:spPr>
        <p:txBody>
          <a:bodyPr wrap="none" rtlCol="0">
            <a:spAutoFit/>
          </a:bodyPr>
          <a:lstStyle/>
          <a:p>
            <a:r>
              <a:rPr lang="en-AU" dirty="0" smtClean="0"/>
              <a:t>Smallest</a:t>
            </a:r>
            <a:endParaRPr lang="en-AU" dirty="0"/>
          </a:p>
        </p:txBody>
      </p:sp>
      <p:cxnSp>
        <p:nvCxnSpPr>
          <p:cNvPr id="18" name="Straight Arrow Connector 17"/>
          <p:cNvCxnSpPr/>
          <p:nvPr/>
        </p:nvCxnSpPr>
        <p:spPr>
          <a:xfrm flipH="1">
            <a:off x="8201591" y="4567179"/>
            <a:ext cx="2307771"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0463757" y="4382513"/>
            <a:ext cx="1008609" cy="369332"/>
          </a:xfrm>
          <a:prstGeom prst="rect">
            <a:avLst/>
          </a:prstGeom>
          <a:noFill/>
        </p:spPr>
        <p:txBody>
          <a:bodyPr wrap="none" rtlCol="0">
            <a:spAutoFit/>
          </a:bodyPr>
          <a:lstStyle/>
          <a:p>
            <a:r>
              <a:rPr lang="en-AU" dirty="0" smtClean="0"/>
              <a:t>Largest </a:t>
            </a:r>
            <a:endParaRPr lang="en-AU" dirty="0"/>
          </a:p>
        </p:txBody>
      </p:sp>
      <mc:AlternateContent xmlns:mc="http://schemas.openxmlformats.org/markup-compatibility/2006">
        <mc:Choice xmlns:a14="http://schemas.microsoft.com/office/drawing/2010/main" Requires="a14">
          <p:sp>
            <p:nvSpPr>
              <p:cNvPr id="20" name="TextBox 19"/>
              <p:cNvSpPr txBox="1"/>
              <p:nvPr/>
            </p:nvSpPr>
            <p:spPr>
              <a:xfrm>
                <a:off x="7253141" y="5191755"/>
                <a:ext cx="2031325" cy="369332"/>
              </a:xfrm>
              <a:prstGeom prst="rect">
                <a:avLst/>
              </a:prstGeom>
              <a:noFill/>
            </p:spPr>
            <p:txBody>
              <a:bodyPr wrap="none" rtlCol="0">
                <a:spAutoFit/>
              </a:bodyPr>
              <a:lstStyle/>
              <a:p>
                <a:r>
                  <a:rPr lang="en-AU" dirty="0" smtClean="0"/>
                  <a:t>Range = </a:t>
                </a:r>
                <a14:m>
                  <m:oMath xmlns:m="http://schemas.openxmlformats.org/officeDocument/2006/math">
                    <m:r>
                      <a:rPr lang="en-AU" b="0" i="1" smtClean="0">
                        <a:latin typeface="Cambria Math" panose="02040503050406030204" pitchFamily="18" charset="0"/>
                      </a:rPr>
                      <m:t>4−1=3</m:t>
                    </m:r>
                  </m:oMath>
                </a14:m>
                <a:endParaRPr lang="en-AU" dirty="0"/>
              </a:p>
            </p:txBody>
          </p:sp>
        </mc:Choice>
        <mc:Fallback>
          <p:sp>
            <p:nvSpPr>
              <p:cNvPr id="20" name="TextBox 19"/>
              <p:cNvSpPr txBox="1">
                <a:spLocks noRot="1" noChangeAspect="1" noMove="1" noResize="1" noEditPoints="1" noAdjustHandles="1" noChangeArrowheads="1" noChangeShapeType="1" noTextEdit="1"/>
              </p:cNvSpPr>
              <p:nvPr/>
            </p:nvSpPr>
            <p:spPr>
              <a:xfrm>
                <a:off x="7253141" y="5191755"/>
                <a:ext cx="2031325" cy="369332"/>
              </a:xfrm>
              <a:prstGeom prst="rect">
                <a:avLst/>
              </a:prstGeom>
              <a:blipFill>
                <a:blip r:embed="rId2"/>
                <a:stretch>
                  <a:fillRect l="-2703" t="-11667" b="-25000"/>
                </a:stretch>
              </a:blipFill>
            </p:spPr>
            <p:txBody>
              <a:bodyPr/>
              <a:lstStyle/>
              <a:p>
                <a:r>
                  <a:rPr lang="en-AU">
                    <a:noFill/>
                  </a:rPr>
                  <a:t> </a:t>
                </a:r>
              </a:p>
            </p:txBody>
          </p:sp>
        </mc:Fallback>
      </mc:AlternateContent>
    </p:spTree>
    <p:extLst>
      <p:ext uri="{BB962C8B-B14F-4D97-AF65-F5344CB8AC3E}">
        <p14:creationId xmlns:p14="http://schemas.microsoft.com/office/powerpoint/2010/main" val="1401506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60960" y="1950720"/>
            <a:ext cx="2577737" cy="3985469"/>
          </a:xfrm>
        </p:spPr>
        <p:txBody>
          <a:bodyPr>
            <a:normAutofit fontScale="92500"/>
          </a:bodyPr>
          <a:lstStyle/>
          <a:p>
            <a:pPr marL="0" indent="0">
              <a:buNone/>
            </a:pPr>
            <a:r>
              <a:rPr lang="en-US" sz="1800" dirty="0" smtClean="0"/>
              <a:t>What is a frequency table? </a:t>
            </a:r>
          </a:p>
          <a:p>
            <a:pPr marL="0" indent="0">
              <a:buNone/>
            </a:pPr>
            <a:r>
              <a:rPr lang="en-US" sz="1800" dirty="0" smtClean="0"/>
              <a:t>How do I find the range? </a:t>
            </a:r>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smtClean="0"/>
          </a:p>
          <a:p>
            <a:pPr marL="0" indent="0">
              <a:buNone/>
            </a:pPr>
            <a:r>
              <a:rPr lang="en-US" sz="1800" dirty="0" smtClean="0"/>
              <a:t>How do I find the mode?</a:t>
            </a:r>
          </a:p>
          <a:p>
            <a:pPr marL="0" indent="0">
              <a:buNone/>
            </a:pPr>
            <a:endParaRPr lang="en-US" sz="1800" dirty="0"/>
          </a:p>
          <a:p>
            <a:pPr marL="0" indent="0">
              <a:buNone/>
            </a:pPr>
            <a:endParaRPr lang="en-US" sz="1800" dirty="0" smtClean="0"/>
          </a:p>
        </p:txBody>
      </p:sp>
      <p:cxnSp>
        <p:nvCxnSpPr>
          <p:cNvPr id="12" name="Straight Connector 11"/>
          <p:cNvCxnSpPr/>
          <p:nvPr/>
        </p:nvCxnSpPr>
        <p:spPr>
          <a:xfrm>
            <a:off x="2638697" y="1982834"/>
            <a:ext cx="26126" cy="493340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2638698" y="2073199"/>
            <a:ext cx="9553302" cy="646331"/>
          </a:xfrm>
          <a:prstGeom prst="rect">
            <a:avLst/>
          </a:prstGeom>
          <a:noFill/>
        </p:spPr>
        <p:txBody>
          <a:bodyPr wrap="square" rtlCol="0">
            <a:spAutoFit/>
          </a:bodyPr>
          <a:lstStyle/>
          <a:p>
            <a:endParaRPr lang="en-AU" dirty="0"/>
          </a:p>
          <a:p>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cxnSp>
        <p:nvCxnSpPr>
          <p:cNvPr id="10" name="Straight Connector 9"/>
          <p:cNvCxnSpPr/>
          <p:nvPr/>
        </p:nvCxnSpPr>
        <p:spPr>
          <a:xfrm flipH="1">
            <a:off x="6853646" y="1982834"/>
            <a:ext cx="26125" cy="49072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50388" y="888721"/>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AU" sz="2800" dirty="0" smtClean="0"/>
              <a:t>Measures of Centre and Spread 2</a:t>
            </a:r>
            <a:br>
              <a:rPr lang="en-AU" sz="2800" dirty="0" smtClean="0"/>
            </a:br>
            <a:r>
              <a:rPr lang="en-US" sz="2800" dirty="0" smtClean="0"/>
              <a:t>EQ –  Describe how to calculate measures of </a:t>
            </a:r>
            <a:r>
              <a:rPr lang="en-US" sz="2800" dirty="0" err="1" smtClean="0"/>
              <a:t>centre</a:t>
            </a:r>
            <a:r>
              <a:rPr lang="en-US" sz="2800" dirty="0" smtClean="0"/>
              <a:t> and spread for data given in a frequency table?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a:t>
            </a:r>
            <a:r>
              <a:rPr lang="en-AU" dirty="0" smtClean="0"/>
              <a:t>I C </a:t>
            </a:r>
            <a:r>
              <a:rPr lang="en-AU" u="sng" dirty="0" smtClean="0">
                <a:solidFill>
                  <a:srgbClr val="FFFF00"/>
                </a:solidFill>
              </a:rPr>
              <a:t>O</a:t>
            </a:r>
            <a:r>
              <a:rPr lang="en-AU" dirty="0" smtClean="0"/>
              <a:t> </a:t>
            </a:r>
            <a:r>
              <a:rPr lang="en-AU" u="sng" dirty="0" smtClean="0"/>
              <a:t>R</a:t>
            </a:r>
            <a:endParaRPr lang="en-AU" u="sng" dirty="0"/>
          </a:p>
        </p:txBody>
      </p:sp>
      <p:sp>
        <p:nvSpPr>
          <p:cNvPr id="6" name="TextBox 5"/>
          <p:cNvSpPr txBox="1"/>
          <p:nvPr/>
        </p:nvSpPr>
        <p:spPr>
          <a:xfrm>
            <a:off x="7003542" y="2090800"/>
            <a:ext cx="4092787" cy="369332"/>
          </a:xfrm>
          <a:prstGeom prst="rect">
            <a:avLst/>
          </a:prstGeom>
          <a:noFill/>
        </p:spPr>
        <p:txBody>
          <a:bodyPr wrap="none" rtlCol="0">
            <a:spAutoFit/>
          </a:bodyPr>
          <a:lstStyle/>
          <a:p>
            <a:r>
              <a:rPr lang="en-AU" dirty="0" smtClean="0"/>
              <a:t>Example: 1, 1, 1, 1, 2, 2, 2, 2, 3, 3, 4</a:t>
            </a:r>
            <a:endParaRPr lang="en-AU" dirty="0"/>
          </a:p>
        </p:txBody>
      </p:sp>
      <p:sp>
        <p:nvSpPr>
          <p:cNvPr id="7" name="TextBox 6"/>
          <p:cNvSpPr txBox="1"/>
          <p:nvPr/>
        </p:nvSpPr>
        <p:spPr>
          <a:xfrm>
            <a:off x="2774089" y="2018569"/>
            <a:ext cx="4053431" cy="3693319"/>
          </a:xfrm>
          <a:prstGeom prst="rect">
            <a:avLst/>
          </a:prstGeom>
          <a:noFill/>
        </p:spPr>
        <p:txBody>
          <a:bodyPr wrap="square" rtlCol="0">
            <a:spAutoFit/>
          </a:bodyPr>
          <a:lstStyle/>
          <a:p>
            <a:r>
              <a:rPr lang="en-AU" dirty="0" smtClean="0"/>
              <a:t>Is used to summarise a data set</a:t>
            </a:r>
          </a:p>
          <a:p>
            <a:endParaRPr lang="en-AU" dirty="0"/>
          </a:p>
          <a:p>
            <a:r>
              <a:rPr lang="en-AU" dirty="0" smtClean="0"/>
              <a:t>The difference between the smallest score ad the largest score</a:t>
            </a:r>
          </a:p>
          <a:p>
            <a:endParaRPr lang="en-AU" dirty="0"/>
          </a:p>
          <a:p>
            <a:endParaRPr lang="en-AU" dirty="0" smtClean="0"/>
          </a:p>
          <a:p>
            <a:endParaRPr lang="en-AU" dirty="0"/>
          </a:p>
          <a:p>
            <a:endParaRPr lang="en-AU" dirty="0" smtClean="0"/>
          </a:p>
          <a:p>
            <a:endParaRPr lang="en-AU" dirty="0"/>
          </a:p>
          <a:p>
            <a:endParaRPr lang="en-AU" dirty="0" smtClean="0"/>
          </a:p>
          <a:p>
            <a:endParaRPr lang="en-AU" dirty="0" smtClean="0"/>
          </a:p>
          <a:p>
            <a:endParaRPr lang="en-AU" dirty="0"/>
          </a:p>
          <a:p>
            <a:r>
              <a:rPr lang="en-AU" dirty="0" smtClean="0"/>
              <a:t>The score with the highest frequency</a:t>
            </a:r>
            <a:endParaRPr lang="en-AU" dirty="0"/>
          </a:p>
        </p:txBody>
      </p:sp>
      <p:graphicFrame>
        <p:nvGraphicFramePr>
          <p:cNvPr id="14" name="Table 13"/>
          <p:cNvGraphicFramePr>
            <a:graphicFrameLocks noGrp="1"/>
          </p:cNvGraphicFramePr>
          <p:nvPr>
            <p:extLst>
              <p:ext uri="{D42A27DB-BD31-4B8C-83A1-F6EECF244321}">
                <p14:modId xmlns:p14="http://schemas.microsoft.com/office/powerpoint/2010/main" val="1409589788"/>
              </p:ext>
            </p:extLst>
          </p:nvPr>
        </p:nvGraphicFramePr>
        <p:xfrm>
          <a:off x="7310437" y="2517296"/>
          <a:ext cx="2689474" cy="2617295"/>
        </p:xfrm>
        <a:graphic>
          <a:graphicData uri="http://schemas.openxmlformats.org/drawingml/2006/table">
            <a:tbl>
              <a:tblPr firstRow="1" bandRow="1">
                <a:tableStyleId>{3B4B98B0-60AC-42C2-AFA5-B58CD77FA1E5}</a:tableStyleId>
              </a:tblPr>
              <a:tblGrid>
                <a:gridCol w="1344737">
                  <a:extLst>
                    <a:ext uri="{9D8B030D-6E8A-4147-A177-3AD203B41FA5}">
                      <a16:colId xmlns:a16="http://schemas.microsoft.com/office/drawing/2014/main" val="3853349929"/>
                    </a:ext>
                  </a:extLst>
                </a:gridCol>
                <a:gridCol w="1344737">
                  <a:extLst>
                    <a:ext uri="{9D8B030D-6E8A-4147-A177-3AD203B41FA5}">
                      <a16:colId xmlns:a16="http://schemas.microsoft.com/office/drawing/2014/main" val="3359492329"/>
                    </a:ext>
                  </a:extLst>
                </a:gridCol>
              </a:tblGrid>
              <a:tr h="364023">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7359542"/>
                  </a:ext>
                </a:extLst>
              </a:tr>
              <a:tr h="395443">
                <a:tc>
                  <a:txBody>
                    <a:bodyPr/>
                    <a:lstStyle/>
                    <a:p>
                      <a:pPr algn="ctr"/>
                      <a:r>
                        <a:rPr lang="en-AU" dirty="0" smtClean="0">
                          <a:solidFill>
                            <a:srgbClr val="FFFF00"/>
                          </a:solidFill>
                        </a:rPr>
                        <a:t>1</a:t>
                      </a:r>
                      <a:endParaRPr lang="en-AU" dirty="0">
                        <a:solidFill>
                          <a:srgbClr val="FFFF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395443">
                <a:tc>
                  <a:txBody>
                    <a:bodyPr/>
                    <a:lstStyle/>
                    <a:p>
                      <a:pPr algn="ctr"/>
                      <a:r>
                        <a:rPr lang="en-AU" dirty="0" smtClean="0">
                          <a:solidFill>
                            <a:srgbClr val="FFFF00"/>
                          </a:solidFill>
                        </a:rPr>
                        <a:t>2</a:t>
                      </a:r>
                      <a:endParaRPr lang="en-AU" dirty="0">
                        <a:solidFill>
                          <a:srgbClr val="FFFF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395443">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395443">
                <a:tc>
                  <a:txBody>
                    <a:bodyPr/>
                    <a:lstStyle/>
                    <a:p>
                      <a:pPr algn="ctr"/>
                      <a:r>
                        <a:rPr lang="en-AU" dirty="0" smtClean="0">
                          <a:solidFill>
                            <a:schemeClr val="tx1"/>
                          </a:solidFill>
                        </a:rPr>
                        <a:t>4</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395443">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mc:AlternateContent xmlns:mc="http://schemas.openxmlformats.org/markup-compatibility/2006">
        <mc:Choice xmlns:a14="http://schemas.microsoft.com/office/drawing/2010/main" Requires="a14">
          <p:sp>
            <p:nvSpPr>
              <p:cNvPr id="20" name="TextBox 19"/>
              <p:cNvSpPr txBox="1"/>
              <p:nvPr/>
            </p:nvSpPr>
            <p:spPr>
              <a:xfrm>
                <a:off x="7253141" y="5191755"/>
                <a:ext cx="2619628" cy="646331"/>
              </a:xfrm>
              <a:prstGeom prst="rect">
                <a:avLst/>
              </a:prstGeom>
              <a:noFill/>
            </p:spPr>
            <p:txBody>
              <a:bodyPr wrap="none" rtlCol="0">
                <a:spAutoFit/>
              </a:bodyPr>
              <a:lstStyle/>
              <a:p>
                <a:r>
                  <a:rPr lang="en-AU" dirty="0" smtClean="0"/>
                  <a:t>Range = </a:t>
                </a:r>
                <a14:m>
                  <m:oMath xmlns:m="http://schemas.openxmlformats.org/officeDocument/2006/math">
                    <m:r>
                      <a:rPr lang="en-AU" b="0" i="1" smtClean="0">
                        <a:latin typeface="Cambria Math" panose="02040503050406030204" pitchFamily="18" charset="0"/>
                      </a:rPr>
                      <m:t>4−1=3</m:t>
                    </m:r>
                  </m:oMath>
                </a14:m>
                <a:endParaRPr lang="en-AU" dirty="0" smtClean="0"/>
              </a:p>
              <a:p>
                <a:r>
                  <a:rPr lang="en-AU" dirty="0" smtClean="0"/>
                  <a:t>Mode 1 and 2 (bimodal)</a:t>
                </a:r>
                <a:endParaRPr lang="en-AU" dirty="0"/>
              </a:p>
            </p:txBody>
          </p:sp>
        </mc:Choice>
        <mc:Fallback>
          <p:sp>
            <p:nvSpPr>
              <p:cNvPr id="20" name="TextBox 19"/>
              <p:cNvSpPr txBox="1">
                <a:spLocks noRot="1" noChangeAspect="1" noMove="1" noResize="1" noEditPoints="1" noAdjustHandles="1" noChangeArrowheads="1" noChangeShapeType="1" noTextEdit="1"/>
              </p:cNvSpPr>
              <p:nvPr/>
            </p:nvSpPr>
            <p:spPr>
              <a:xfrm>
                <a:off x="7253141" y="5191755"/>
                <a:ext cx="2619628" cy="646331"/>
              </a:xfrm>
              <a:prstGeom prst="rect">
                <a:avLst/>
              </a:prstGeom>
              <a:blipFill>
                <a:blip r:embed="rId2"/>
                <a:stretch>
                  <a:fillRect l="-2093" t="-6604" r="-1395" b="-13208"/>
                </a:stretch>
              </a:blipFill>
            </p:spPr>
            <p:txBody>
              <a:bodyPr/>
              <a:lstStyle/>
              <a:p>
                <a:r>
                  <a:rPr lang="en-AU">
                    <a:noFill/>
                  </a:rPr>
                  <a:t> </a:t>
                </a:r>
              </a:p>
            </p:txBody>
          </p:sp>
        </mc:Fallback>
      </mc:AlternateContent>
      <p:cxnSp>
        <p:nvCxnSpPr>
          <p:cNvPr id="21" name="Straight Arrow Connector 20"/>
          <p:cNvCxnSpPr/>
          <p:nvPr/>
        </p:nvCxnSpPr>
        <p:spPr>
          <a:xfrm flipH="1" flipV="1">
            <a:off x="9679021" y="3282665"/>
            <a:ext cx="884476" cy="1572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a:off x="9679021" y="3669660"/>
            <a:ext cx="884476" cy="750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9999911" y="3339830"/>
            <a:ext cx="2097049" cy="369332"/>
          </a:xfrm>
          <a:prstGeom prst="rect">
            <a:avLst/>
          </a:prstGeom>
          <a:noFill/>
        </p:spPr>
        <p:txBody>
          <a:bodyPr wrap="none" rtlCol="0">
            <a:spAutoFit/>
          </a:bodyPr>
          <a:lstStyle/>
          <a:p>
            <a:r>
              <a:rPr lang="en-AU" dirty="0" smtClean="0"/>
              <a:t>Highest Frequency</a:t>
            </a:r>
            <a:endParaRPr lang="en-AU" dirty="0"/>
          </a:p>
        </p:txBody>
      </p:sp>
    </p:spTree>
    <p:extLst>
      <p:ext uri="{BB962C8B-B14F-4D97-AF65-F5344CB8AC3E}">
        <p14:creationId xmlns:p14="http://schemas.microsoft.com/office/powerpoint/2010/main" val="3499654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0" y="1950720"/>
            <a:ext cx="2774089" cy="4807131"/>
          </a:xfrm>
        </p:spPr>
        <p:txBody>
          <a:bodyPr>
            <a:normAutofit/>
          </a:bodyPr>
          <a:lstStyle/>
          <a:p>
            <a:pPr marL="0" indent="0">
              <a:buNone/>
            </a:pPr>
            <a:r>
              <a:rPr lang="en-US" sz="1800" dirty="0" smtClean="0"/>
              <a:t>What is a frequency table? </a:t>
            </a:r>
          </a:p>
          <a:p>
            <a:pPr marL="0" indent="0">
              <a:buNone/>
            </a:pPr>
            <a:r>
              <a:rPr lang="en-US" sz="1800" dirty="0" smtClean="0"/>
              <a:t>How do I find the range? </a:t>
            </a:r>
          </a:p>
          <a:p>
            <a:pPr marL="0" indent="0">
              <a:buNone/>
            </a:pPr>
            <a:endParaRPr lang="en-US" sz="1800" dirty="0"/>
          </a:p>
          <a:p>
            <a:pPr marL="0" indent="0">
              <a:buNone/>
            </a:pPr>
            <a:endParaRPr lang="en-US" sz="1800" dirty="0" smtClean="0"/>
          </a:p>
          <a:p>
            <a:pPr marL="0" indent="0">
              <a:buNone/>
            </a:pPr>
            <a:endParaRPr lang="en-US" sz="1800" dirty="0"/>
          </a:p>
          <a:p>
            <a:pPr marL="0" indent="0">
              <a:buNone/>
            </a:pPr>
            <a:endParaRPr lang="en-US" sz="1800" dirty="0" smtClean="0"/>
          </a:p>
          <a:p>
            <a:pPr marL="0" indent="0">
              <a:buNone/>
            </a:pPr>
            <a:endParaRPr lang="en-US" sz="1800" dirty="0" smtClean="0"/>
          </a:p>
          <a:p>
            <a:pPr marL="0" indent="0">
              <a:buNone/>
            </a:pPr>
            <a:endParaRPr lang="en-US" sz="1800" dirty="0" smtClean="0"/>
          </a:p>
          <a:p>
            <a:pPr marL="0" indent="0">
              <a:buNone/>
            </a:pPr>
            <a:r>
              <a:rPr lang="en-US" sz="1800" dirty="0" smtClean="0"/>
              <a:t>How do I find the mode?</a:t>
            </a:r>
          </a:p>
          <a:p>
            <a:pPr marL="0" indent="0">
              <a:buNone/>
            </a:pPr>
            <a:endParaRPr lang="en-US" sz="1800" dirty="0"/>
          </a:p>
          <a:p>
            <a:pPr marL="0" indent="0">
              <a:buNone/>
            </a:pPr>
            <a:r>
              <a:rPr lang="en-US" sz="1800" dirty="0" smtClean="0"/>
              <a:t>How do </a:t>
            </a:r>
            <a:r>
              <a:rPr lang="en-US" sz="1800" dirty="0" smtClean="0"/>
              <a:t>I find the median?</a:t>
            </a:r>
            <a:endParaRPr lang="en-US" sz="1800" dirty="0" smtClean="0"/>
          </a:p>
          <a:p>
            <a:pPr marL="0" indent="0">
              <a:buNone/>
            </a:pPr>
            <a:endParaRPr lang="en-US" sz="1800" dirty="0"/>
          </a:p>
          <a:p>
            <a:pPr marL="0" indent="0">
              <a:buNone/>
            </a:pPr>
            <a:endParaRPr lang="en-US" sz="1800" dirty="0" smtClean="0"/>
          </a:p>
          <a:p>
            <a:pPr marL="0" indent="0">
              <a:buNone/>
            </a:pPr>
            <a:endParaRPr lang="en-US" sz="1800" dirty="0" smtClean="0"/>
          </a:p>
          <a:p>
            <a:pPr marL="0" indent="0">
              <a:buNone/>
            </a:pPr>
            <a:endParaRPr lang="en-US" sz="1800" dirty="0"/>
          </a:p>
          <a:p>
            <a:pPr marL="0" indent="0">
              <a:buNone/>
            </a:pPr>
            <a:endParaRPr lang="en-US" sz="1800" dirty="0" smtClean="0"/>
          </a:p>
        </p:txBody>
      </p:sp>
      <p:cxnSp>
        <p:nvCxnSpPr>
          <p:cNvPr id="12" name="Straight Connector 11"/>
          <p:cNvCxnSpPr/>
          <p:nvPr/>
        </p:nvCxnSpPr>
        <p:spPr>
          <a:xfrm>
            <a:off x="2638697" y="1982834"/>
            <a:ext cx="26126" cy="493340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2638698" y="2073199"/>
            <a:ext cx="9553302" cy="646331"/>
          </a:xfrm>
          <a:prstGeom prst="rect">
            <a:avLst/>
          </a:prstGeom>
          <a:noFill/>
        </p:spPr>
        <p:txBody>
          <a:bodyPr wrap="square" rtlCol="0">
            <a:spAutoFit/>
          </a:bodyPr>
          <a:lstStyle/>
          <a:p>
            <a:endParaRPr lang="en-AU" dirty="0"/>
          </a:p>
          <a:p>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cxnSp>
        <p:nvCxnSpPr>
          <p:cNvPr id="10" name="Straight Connector 9"/>
          <p:cNvCxnSpPr/>
          <p:nvPr/>
        </p:nvCxnSpPr>
        <p:spPr>
          <a:xfrm flipH="1">
            <a:off x="6853646" y="1982834"/>
            <a:ext cx="26125" cy="49072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50388" y="888721"/>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AU" sz="2800" dirty="0" smtClean="0"/>
              <a:t>Measures of Centre and Spread 2</a:t>
            </a:r>
            <a:br>
              <a:rPr lang="en-AU" sz="2800" dirty="0" smtClean="0"/>
            </a:br>
            <a:r>
              <a:rPr lang="en-US" sz="2800" dirty="0" smtClean="0"/>
              <a:t>EQ –  Describe how to calculate measures of </a:t>
            </a:r>
            <a:r>
              <a:rPr lang="en-US" sz="2800" dirty="0" err="1" smtClean="0"/>
              <a:t>centre</a:t>
            </a:r>
            <a:r>
              <a:rPr lang="en-US" sz="2800" dirty="0" smtClean="0"/>
              <a:t> and spread for data given in a frequency table?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a:t>
            </a:r>
            <a:r>
              <a:rPr lang="en-AU" dirty="0" smtClean="0"/>
              <a:t>I C </a:t>
            </a:r>
            <a:r>
              <a:rPr lang="en-AU" u="sng" dirty="0" smtClean="0">
                <a:solidFill>
                  <a:srgbClr val="FFFF00"/>
                </a:solidFill>
              </a:rPr>
              <a:t>O</a:t>
            </a:r>
            <a:r>
              <a:rPr lang="en-AU" dirty="0" smtClean="0"/>
              <a:t> </a:t>
            </a:r>
            <a:r>
              <a:rPr lang="en-AU" u="sng" dirty="0" smtClean="0"/>
              <a:t>R</a:t>
            </a:r>
            <a:endParaRPr lang="en-AU" u="sng" dirty="0"/>
          </a:p>
        </p:txBody>
      </p:sp>
      <p:sp>
        <p:nvSpPr>
          <p:cNvPr id="6" name="TextBox 5"/>
          <p:cNvSpPr txBox="1"/>
          <p:nvPr/>
        </p:nvSpPr>
        <p:spPr>
          <a:xfrm>
            <a:off x="7003542" y="2090800"/>
            <a:ext cx="4092787" cy="369332"/>
          </a:xfrm>
          <a:prstGeom prst="rect">
            <a:avLst/>
          </a:prstGeom>
          <a:noFill/>
        </p:spPr>
        <p:txBody>
          <a:bodyPr wrap="none" rtlCol="0">
            <a:spAutoFit/>
          </a:bodyPr>
          <a:lstStyle/>
          <a:p>
            <a:r>
              <a:rPr lang="en-AU" dirty="0" smtClean="0"/>
              <a:t>Example: 1, 1, 1, 1, 2, 2, 2, 2, 3, 3, 4</a:t>
            </a:r>
            <a:endParaRPr lang="en-AU" dirty="0"/>
          </a:p>
        </p:txBody>
      </p:sp>
      <mc:AlternateContent xmlns:mc="http://schemas.openxmlformats.org/markup-compatibility/2006">
        <mc:Choice xmlns:a14="http://schemas.microsoft.com/office/drawing/2010/main" Requires="a14">
          <p:sp>
            <p:nvSpPr>
              <p:cNvPr id="7" name="TextBox 6"/>
              <p:cNvSpPr txBox="1"/>
              <p:nvPr/>
            </p:nvSpPr>
            <p:spPr>
              <a:xfrm>
                <a:off x="2774089" y="2018569"/>
                <a:ext cx="4053431" cy="4663521"/>
              </a:xfrm>
              <a:prstGeom prst="rect">
                <a:avLst/>
              </a:prstGeom>
              <a:noFill/>
            </p:spPr>
            <p:txBody>
              <a:bodyPr wrap="square" rtlCol="0">
                <a:spAutoFit/>
              </a:bodyPr>
              <a:lstStyle/>
              <a:p>
                <a:r>
                  <a:rPr lang="en-AU" dirty="0" smtClean="0"/>
                  <a:t>Is used to summarise a data set</a:t>
                </a:r>
              </a:p>
              <a:p>
                <a:endParaRPr lang="en-AU" dirty="0"/>
              </a:p>
              <a:p>
                <a:r>
                  <a:rPr lang="en-AU" dirty="0" smtClean="0"/>
                  <a:t>The difference between the smallest score ad the largest score</a:t>
                </a:r>
              </a:p>
              <a:p>
                <a:endParaRPr lang="en-AU" dirty="0"/>
              </a:p>
              <a:p>
                <a:endParaRPr lang="en-AU" dirty="0" smtClean="0"/>
              </a:p>
              <a:p>
                <a:endParaRPr lang="en-AU" dirty="0"/>
              </a:p>
              <a:p>
                <a:endParaRPr lang="en-AU" dirty="0" smtClean="0"/>
              </a:p>
              <a:p>
                <a:endParaRPr lang="en-AU" dirty="0"/>
              </a:p>
              <a:p>
                <a:endParaRPr lang="en-AU" dirty="0" smtClean="0"/>
              </a:p>
              <a:p>
                <a:endParaRPr lang="en-AU" dirty="0" smtClean="0"/>
              </a:p>
              <a:p>
                <a:endParaRPr lang="en-AU" dirty="0"/>
              </a:p>
              <a:p>
                <a:r>
                  <a:rPr lang="en-AU" dirty="0" smtClean="0"/>
                  <a:t>The score with the highest frequency</a:t>
                </a:r>
              </a:p>
              <a:p>
                <a:endParaRPr lang="en-AU" dirty="0"/>
              </a:p>
              <a:p>
                <a:r>
                  <a:rPr lang="en-AU" dirty="0" smtClean="0"/>
                  <a:t>If there are </a:t>
                </a:r>
                <a14:m>
                  <m:oMath xmlns:m="http://schemas.openxmlformats.org/officeDocument/2006/math">
                    <m:r>
                      <a:rPr lang="en-AU" i="1" dirty="0" smtClean="0">
                        <a:solidFill>
                          <a:srgbClr val="C00000"/>
                        </a:solidFill>
                        <a:latin typeface="Cambria Math" panose="02040503050406030204" pitchFamily="18" charset="0"/>
                      </a:rPr>
                      <m:t>𝑛</m:t>
                    </m:r>
                  </m:oMath>
                </a14:m>
                <a:r>
                  <a:rPr lang="en-AU" dirty="0" smtClean="0"/>
                  <a:t> scores then the median is the </a:t>
                </a:r>
                <a14:m>
                  <m:oMath xmlns:m="http://schemas.openxmlformats.org/officeDocument/2006/math">
                    <m:f>
                      <m:fPr>
                        <m:ctrlPr>
                          <a:rPr lang="en-AU" i="1" smtClean="0">
                            <a:solidFill>
                              <a:srgbClr val="C00000"/>
                            </a:solidFill>
                            <a:latin typeface="Cambria Math" panose="02040503050406030204" pitchFamily="18" charset="0"/>
                          </a:rPr>
                        </m:ctrlPr>
                      </m:fPr>
                      <m:num>
                        <m:r>
                          <a:rPr lang="en-AU" b="0" i="1" smtClean="0">
                            <a:solidFill>
                              <a:srgbClr val="C00000"/>
                            </a:solidFill>
                            <a:latin typeface="Cambria Math" panose="02040503050406030204" pitchFamily="18" charset="0"/>
                          </a:rPr>
                          <m:t>𝑛</m:t>
                        </m:r>
                        <m:r>
                          <a:rPr lang="en-AU" b="0" i="1" smtClean="0">
                            <a:solidFill>
                              <a:srgbClr val="C00000"/>
                            </a:solidFill>
                            <a:latin typeface="Cambria Math" panose="02040503050406030204" pitchFamily="18" charset="0"/>
                          </a:rPr>
                          <m:t>+1</m:t>
                        </m:r>
                      </m:num>
                      <m:den>
                        <m:r>
                          <a:rPr lang="en-AU" b="0" i="1" smtClean="0">
                            <a:solidFill>
                              <a:srgbClr val="C00000"/>
                            </a:solidFill>
                            <a:latin typeface="Cambria Math" panose="02040503050406030204" pitchFamily="18" charset="0"/>
                          </a:rPr>
                          <m:t>2</m:t>
                        </m:r>
                      </m:den>
                    </m:f>
                  </m:oMath>
                </a14:m>
                <a:r>
                  <a:rPr lang="en-AU" baseline="30000" dirty="0" err="1" smtClean="0"/>
                  <a:t>th</a:t>
                </a:r>
                <a:r>
                  <a:rPr lang="en-AU" dirty="0" smtClean="0"/>
                  <a:t> score.</a:t>
                </a:r>
                <a:endParaRPr lang="en-AU" dirty="0"/>
              </a:p>
            </p:txBody>
          </p:sp>
        </mc:Choice>
        <mc:Fallback>
          <p:sp>
            <p:nvSpPr>
              <p:cNvPr id="7" name="TextBox 6"/>
              <p:cNvSpPr txBox="1">
                <a:spLocks noRot="1" noChangeAspect="1" noMove="1" noResize="1" noEditPoints="1" noAdjustHandles="1" noChangeArrowheads="1" noChangeShapeType="1" noTextEdit="1"/>
              </p:cNvSpPr>
              <p:nvPr/>
            </p:nvSpPr>
            <p:spPr>
              <a:xfrm>
                <a:off x="2774089" y="2018569"/>
                <a:ext cx="4053431" cy="4663521"/>
              </a:xfrm>
              <a:prstGeom prst="rect">
                <a:avLst/>
              </a:prstGeom>
              <a:blipFill>
                <a:blip r:embed="rId2"/>
                <a:stretch>
                  <a:fillRect l="-1203" t="-784" r="-2406"/>
                </a:stretch>
              </a:blipFill>
            </p:spPr>
            <p:txBody>
              <a:bodyPr/>
              <a:lstStyle/>
              <a:p>
                <a:r>
                  <a:rPr lang="en-AU">
                    <a:noFill/>
                  </a:rPr>
                  <a:t> </a:t>
                </a:r>
              </a:p>
            </p:txBody>
          </p:sp>
        </mc:Fallback>
      </mc:AlternateContent>
      <p:graphicFrame>
        <p:nvGraphicFramePr>
          <p:cNvPr id="14" name="Table 13"/>
          <p:cNvGraphicFramePr>
            <a:graphicFrameLocks noGrp="1"/>
          </p:cNvGraphicFramePr>
          <p:nvPr>
            <p:extLst>
              <p:ext uri="{D42A27DB-BD31-4B8C-83A1-F6EECF244321}">
                <p14:modId xmlns:p14="http://schemas.microsoft.com/office/powerpoint/2010/main" val="2264351528"/>
              </p:ext>
            </p:extLst>
          </p:nvPr>
        </p:nvGraphicFramePr>
        <p:xfrm>
          <a:off x="7310437" y="2517296"/>
          <a:ext cx="4254546" cy="2674460"/>
        </p:xfrm>
        <a:graphic>
          <a:graphicData uri="http://schemas.openxmlformats.org/drawingml/2006/table">
            <a:tbl>
              <a:tblPr firstRow="1" bandRow="1">
                <a:tableStyleId>{3B4B98B0-60AC-42C2-AFA5-B58CD77FA1E5}</a:tableStyleId>
              </a:tblPr>
              <a:tblGrid>
                <a:gridCol w="1418182">
                  <a:extLst>
                    <a:ext uri="{9D8B030D-6E8A-4147-A177-3AD203B41FA5}">
                      <a16:colId xmlns:a16="http://schemas.microsoft.com/office/drawing/2014/main" val="3853349929"/>
                    </a:ext>
                  </a:extLst>
                </a:gridCol>
                <a:gridCol w="1418182">
                  <a:extLst>
                    <a:ext uri="{9D8B030D-6E8A-4147-A177-3AD203B41FA5}">
                      <a16:colId xmlns:a16="http://schemas.microsoft.com/office/drawing/2014/main" val="3359492329"/>
                    </a:ext>
                  </a:extLst>
                </a:gridCol>
                <a:gridCol w="1418182">
                  <a:extLst>
                    <a:ext uri="{9D8B030D-6E8A-4147-A177-3AD203B41FA5}">
                      <a16:colId xmlns:a16="http://schemas.microsoft.com/office/drawing/2014/main" val="4148713929"/>
                    </a:ext>
                  </a:extLst>
                </a:gridCol>
              </a:tblGrid>
              <a:tr h="654060">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smtClean="0"/>
                        <a:t>Cumulative</a:t>
                      </a:r>
                      <a:r>
                        <a:rPr lang="en-AU" baseline="0" dirty="0" smtClean="0"/>
                        <a:t> Frequency</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7359542"/>
                  </a:ext>
                </a:extLst>
              </a:tr>
              <a:tr h="404080">
                <a:tc>
                  <a:txBody>
                    <a:bodyPr/>
                    <a:lstStyle/>
                    <a:p>
                      <a:pPr algn="ctr"/>
                      <a:r>
                        <a:rPr lang="en-AU" dirty="0" smtClean="0">
                          <a:solidFill>
                            <a:schemeClr val="tx1"/>
                          </a:solidFill>
                        </a:rPr>
                        <a:t>1</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404080">
                <a:tc>
                  <a:txBody>
                    <a:bodyPr/>
                    <a:lstStyle/>
                    <a:p>
                      <a:pPr algn="ctr"/>
                      <a:r>
                        <a:rPr lang="en-AU" dirty="0" smtClean="0">
                          <a:solidFill>
                            <a:schemeClr val="tx1"/>
                          </a:solidFill>
                        </a:rPr>
                        <a:t>2</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8</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404080">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10</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404080">
                <a:tc>
                  <a:txBody>
                    <a:bodyPr/>
                    <a:lstStyle/>
                    <a:p>
                      <a:pPr algn="ctr"/>
                      <a:r>
                        <a:rPr lang="en-AU" dirty="0" smtClean="0">
                          <a:solidFill>
                            <a:schemeClr val="tx1"/>
                          </a:solidFill>
                        </a:rPr>
                        <a:t>4</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404080">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mc:AlternateContent xmlns:mc="http://schemas.openxmlformats.org/markup-compatibility/2006">
        <mc:Choice xmlns:a14="http://schemas.microsoft.com/office/drawing/2010/main" Requires="a14">
          <p:sp>
            <p:nvSpPr>
              <p:cNvPr id="20" name="TextBox 19"/>
              <p:cNvSpPr txBox="1"/>
              <p:nvPr/>
            </p:nvSpPr>
            <p:spPr>
              <a:xfrm>
                <a:off x="6905897" y="5191756"/>
                <a:ext cx="3605349" cy="1591461"/>
              </a:xfrm>
              <a:prstGeom prst="rect">
                <a:avLst/>
              </a:prstGeom>
              <a:noFill/>
            </p:spPr>
            <p:txBody>
              <a:bodyPr wrap="square" rtlCol="0">
                <a:spAutoFit/>
              </a:bodyPr>
              <a:lstStyle/>
              <a:p>
                <a:r>
                  <a:rPr lang="en-AU" dirty="0" smtClean="0"/>
                  <a:t>Range = </a:t>
                </a:r>
                <a14:m>
                  <m:oMath xmlns:m="http://schemas.openxmlformats.org/officeDocument/2006/math">
                    <m:r>
                      <a:rPr lang="en-AU" b="0" i="1" smtClean="0">
                        <a:latin typeface="Cambria Math" panose="02040503050406030204" pitchFamily="18" charset="0"/>
                      </a:rPr>
                      <m:t>4−1=3</m:t>
                    </m:r>
                  </m:oMath>
                </a14:m>
                <a:endParaRPr lang="en-AU" dirty="0" smtClean="0"/>
              </a:p>
              <a:p>
                <a:r>
                  <a:rPr lang="en-AU" dirty="0" smtClean="0"/>
                  <a:t>Mode 1 and 2 (bimodal)</a:t>
                </a:r>
              </a:p>
              <a:p>
                <a:r>
                  <a:rPr lang="en-AU" dirty="0" smtClean="0"/>
                  <a:t>There are 11 scores </a:t>
                </a:r>
              </a:p>
              <a:p>
                <a:r>
                  <a:rPr lang="en-AU" dirty="0" smtClean="0"/>
                  <a:t>so the median is </a:t>
                </a:r>
                <a14:m>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11+1</m:t>
                        </m:r>
                      </m:num>
                      <m:den>
                        <m:r>
                          <a:rPr lang="en-AU" b="0" i="1" smtClean="0">
                            <a:latin typeface="Cambria Math" panose="02040503050406030204" pitchFamily="18" charset="0"/>
                          </a:rPr>
                          <m:t>2</m:t>
                        </m:r>
                      </m:den>
                    </m:f>
                    <m:r>
                      <a:rPr lang="en-AU" b="0" i="1" smtClean="0">
                        <a:latin typeface="Cambria Math" panose="02040503050406030204" pitchFamily="18" charset="0"/>
                      </a:rPr>
                      <m:t>=6</m:t>
                    </m:r>
                  </m:oMath>
                </a14:m>
                <a:r>
                  <a:rPr lang="en-AU" baseline="30000" dirty="0" smtClean="0"/>
                  <a:t>th</a:t>
                </a:r>
                <a:r>
                  <a:rPr lang="en-AU" dirty="0" smtClean="0"/>
                  <a:t> score which is 2.</a:t>
                </a:r>
                <a:endParaRPr lang="en-AU" dirty="0"/>
              </a:p>
            </p:txBody>
          </p:sp>
        </mc:Choice>
        <mc:Fallback>
          <p:sp>
            <p:nvSpPr>
              <p:cNvPr id="20" name="TextBox 19"/>
              <p:cNvSpPr txBox="1">
                <a:spLocks noRot="1" noChangeAspect="1" noMove="1" noResize="1" noEditPoints="1" noAdjustHandles="1" noChangeArrowheads="1" noChangeShapeType="1" noTextEdit="1"/>
              </p:cNvSpPr>
              <p:nvPr/>
            </p:nvSpPr>
            <p:spPr>
              <a:xfrm>
                <a:off x="6905897" y="5191756"/>
                <a:ext cx="3605349" cy="1591461"/>
              </a:xfrm>
              <a:prstGeom prst="rect">
                <a:avLst/>
              </a:prstGeom>
              <a:blipFill>
                <a:blip r:embed="rId3"/>
                <a:stretch>
                  <a:fillRect l="-1523" t="-2682" r="-677" b="-4981"/>
                </a:stretch>
              </a:blipFill>
            </p:spPr>
            <p:txBody>
              <a:bodyPr/>
              <a:lstStyle/>
              <a:p>
                <a:r>
                  <a:rPr lang="en-AU">
                    <a:noFill/>
                  </a:rPr>
                  <a:t> </a:t>
                </a:r>
              </a:p>
            </p:txBody>
          </p:sp>
        </mc:Fallback>
      </mc:AlternateContent>
    </p:spTree>
    <p:extLst>
      <p:ext uri="{BB962C8B-B14F-4D97-AF65-F5344CB8AC3E}">
        <p14:creationId xmlns:p14="http://schemas.microsoft.com/office/powerpoint/2010/main" val="960459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7"/>
          <p:cNvSpPr>
            <a:spLocks noGrp="1"/>
          </p:cNvSpPr>
          <p:nvPr>
            <p:ph sz="half" idx="1"/>
          </p:nvPr>
        </p:nvSpPr>
        <p:spPr>
          <a:xfrm>
            <a:off x="0" y="1950720"/>
            <a:ext cx="2774089" cy="4807131"/>
          </a:xfrm>
        </p:spPr>
        <p:txBody>
          <a:bodyPr>
            <a:normAutofit/>
          </a:bodyPr>
          <a:lstStyle/>
          <a:p>
            <a:pPr marL="0" indent="0">
              <a:buNone/>
            </a:pPr>
            <a:r>
              <a:rPr lang="en-US" sz="1800" dirty="0" smtClean="0"/>
              <a:t>What is a frequency table? </a:t>
            </a:r>
          </a:p>
          <a:p>
            <a:pPr marL="0" indent="0">
              <a:buNone/>
            </a:pPr>
            <a:r>
              <a:rPr lang="en-US" sz="1800" dirty="0" smtClean="0"/>
              <a:t>How do I find the range? </a:t>
            </a:r>
          </a:p>
          <a:p>
            <a:pPr marL="0" indent="0">
              <a:buNone/>
            </a:pPr>
            <a:endParaRPr lang="en-US" sz="1800" dirty="0"/>
          </a:p>
          <a:p>
            <a:pPr marL="0" indent="0">
              <a:buNone/>
            </a:pPr>
            <a:endParaRPr lang="en-US" sz="1800" dirty="0" smtClean="0"/>
          </a:p>
          <a:p>
            <a:pPr marL="0" indent="0">
              <a:buNone/>
            </a:pPr>
            <a:endParaRPr lang="en-US" sz="1800" dirty="0"/>
          </a:p>
          <a:p>
            <a:pPr marL="0" indent="0">
              <a:buNone/>
            </a:pPr>
            <a:r>
              <a:rPr lang="en-US" sz="1800" dirty="0" smtClean="0"/>
              <a:t>How do I find the mode?</a:t>
            </a:r>
          </a:p>
          <a:p>
            <a:pPr marL="0" indent="0">
              <a:buNone/>
            </a:pPr>
            <a:endParaRPr lang="en-US" sz="1800" dirty="0"/>
          </a:p>
          <a:p>
            <a:pPr marL="0" indent="0">
              <a:buNone/>
            </a:pPr>
            <a:r>
              <a:rPr lang="en-US" sz="1800" dirty="0" smtClean="0"/>
              <a:t>How do </a:t>
            </a:r>
            <a:r>
              <a:rPr lang="en-US" sz="1800" dirty="0" smtClean="0"/>
              <a:t>I find the median?</a:t>
            </a:r>
          </a:p>
          <a:p>
            <a:pPr marL="0" indent="0">
              <a:buNone/>
            </a:pPr>
            <a:endParaRPr lang="en-US" sz="1800" dirty="0"/>
          </a:p>
          <a:p>
            <a:pPr marL="0" indent="0">
              <a:buNone/>
            </a:pPr>
            <a:r>
              <a:rPr lang="en-US" sz="1800" dirty="0" smtClean="0"/>
              <a:t>How do I find the mean?</a:t>
            </a:r>
            <a:endParaRPr lang="en-US" sz="1800" dirty="0" smtClean="0"/>
          </a:p>
          <a:p>
            <a:pPr marL="0" indent="0">
              <a:buNone/>
            </a:pPr>
            <a:endParaRPr lang="en-US" sz="1800" dirty="0"/>
          </a:p>
          <a:p>
            <a:pPr marL="0" indent="0">
              <a:buNone/>
            </a:pPr>
            <a:endParaRPr lang="en-US" sz="1800" dirty="0" smtClean="0"/>
          </a:p>
          <a:p>
            <a:pPr marL="0" indent="0">
              <a:buNone/>
            </a:pPr>
            <a:endParaRPr lang="en-US" sz="1800" dirty="0" smtClean="0"/>
          </a:p>
          <a:p>
            <a:pPr marL="0" indent="0">
              <a:buNone/>
            </a:pPr>
            <a:endParaRPr lang="en-US" sz="1800" dirty="0"/>
          </a:p>
          <a:p>
            <a:pPr marL="0" indent="0">
              <a:buNone/>
            </a:pPr>
            <a:endParaRPr lang="en-US" sz="1800" dirty="0" smtClean="0"/>
          </a:p>
        </p:txBody>
      </p:sp>
      <p:cxnSp>
        <p:nvCxnSpPr>
          <p:cNvPr id="12" name="Straight Connector 11"/>
          <p:cNvCxnSpPr/>
          <p:nvPr/>
        </p:nvCxnSpPr>
        <p:spPr>
          <a:xfrm>
            <a:off x="2638697" y="1982834"/>
            <a:ext cx="26126" cy="4933406"/>
          </a:xfrm>
          <a:prstGeom prst="line">
            <a:avLst/>
          </a:prstGeom>
        </p:spPr>
        <p:style>
          <a:lnRef idx="1">
            <a:schemeClr val="accent1"/>
          </a:lnRef>
          <a:fillRef idx="0">
            <a:schemeClr val="accent1"/>
          </a:fillRef>
          <a:effectRef idx="0">
            <a:schemeClr val="accent1"/>
          </a:effectRef>
          <a:fontRef idx="minor">
            <a:schemeClr val="tx1"/>
          </a:fontRef>
        </p:style>
      </p:cxnSp>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2638698" y="2073199"/>
            <a:ext cx="9553302" cy="646331"/>
          </a:xfrm>
          <a:prstGeom prst="rect">
            <a:avLst/>
          </a:prstGeom>
          <a:noFill/>
        </p:spPr>
        <p:txBody>
          <a:bodyPr wrap="square" rtlCol="0">
            <a:spAutoFit/>
          </a:bodyPr>
          <a:lstStyle/>
          <a:p>
            <a:endParaRPr lang="en-AU" dirty="0"/>
          </a:p>
          <a:p>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cxnSp>
        <p:nvCxnSpPr>
          <p:cNvPr id="10" name="Straight Connector 9"/>
          <p:cNvCxnSpPr/>
          <p:nvPr/>
        </p:nvCxnSpPr>
        <p:spPr>
          <a:xfrm flipH="1">
            <a:off x="6853646" y="1982834"/>
            <a:ext cx="26125" cy="49072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itle 1"/>
          <p:cNvSpPr txBox="1">
            <a:spLocks/>
          </p:cNvSpPr>
          <p:nvPr/>
        </p:nvSpPr>
        <p:spPr>
          <a:xfrm>
            <a:off x="50388" y="888721"/>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AU" sz="2800" dirty="0" smtClean="0"/>
              <a:t>Measures of Centre and Spread 2</a:t>
            </a:r>
            <a:br>
              <a:rPr lang="en-AU" sz="2800" dirty="0" smtClean="0"/>
            </a:br>
            <a:r>
              <a:rPr lang="en-US" sz="2800" dirty="0" smtClean="0"/>
              <a:t>EQ –  Describe how to calculate measures of </a:t>
            </a:r>
            <a:r>
              <a:rPr lang="en-US" sz="2800" dirty="0" err="1" smtClean="0"/>
              <a:t>centre</a:t>
            </a:r>
            <a:r>
              <a:rPr lang="en-US" sz="2800" dirty="0" smtClean="0"/>
              <a:t> and spread for data given in a frequency table?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u="sng" dirty="0" smtClean="0">
                <a:solidFill>
                  <a:srgbClr val="FFFF00"/>
                </a:solidFill>
              </a:rPr>
              <a:t>W </a:t>
            </a:r>
            <a:r>
              <a:rPr lang="en-AU" dirty="0" smtClean="0"/>
              <a:t>I C </a:t>
            </a:r>
            <a:r>
              <a:rPr lang="en-AU" u="sng" dirty="0" smtClean="0">
                <a:solidFill>
                  <a:srgbClr val="FFFF00"/>
                </a:solidFill>
              </a:rPr>
              <a:t>O</a:t>
            </a:r>
            <a:r>
              <a:rPr lang="en-AU" dirty="0" smtClean="0"/>
              <a:t> </a:t>
            </a:r>
            <a:r>
              <a:rPr lang="en-AU" u="sng" dirty="0" smtClean="0"/>
              <a:t>R</a:t>
            </a:r>
            <a:endParaRPr lang="en-AU" u="sng" dirty="0"/>
          </a:p>
        </p:txBody>
      </p:sp>
      <p:sp>
        <p:nvSpPr>
          <p:cNvPr id="6" name="TextBox 5"/>
          <p:cNvSpPr txBox="1"/>
          <p:nvPr/>
        </p:nvSpPr>
        <p:spPr>
          <a:xfrm>
            <a:off x="6917839" y="1881502"/>
            <a:ext cx="4092787" cy="369332"/>
          </a:xfrm>
          <a:prstGeom prst="rect">
            <a:avLst/>
          </a:prstGeom>
          <a:noFill/>
        </p:spPr>
        <p:txBody>
          <a:bodyPr wrap="none" rtlCol="0">
            <a:spAutoFit/>
          </a:bodyPr>
          <a:lstStyle/>
          <a:p>
            <a:r>
              <a:rPr lang="en-AU" dirty="0" smtClean="0"/>
              <a:t>Example: 1, 1, 1, 1, 2, 2, 2, 2, 3, 3, 4</a:t>
            </a:r>
            <a:endParaRPr lang="en-AU" dirty="0"/>
          </a:p>
        </p:txBody>
      </p:sp>
      <mc:AlternateContent xmlns:mc="http://schemas.openxmlformats.org/markup-compatibility/2006">
        <mc:Choice xmlns:a14="http://schemas.microsoft.com/office/drawing/2010/main" Requires="a14">
          <p:sp>
            <p:nvSpPr>
              <p:cNvPr id="7" name="TextBox 6"/>
              <p:cNvSpPr txBox="1"/>
              <p:nvPr/>
            </p:nvSpPr>
            <p:spPr>
              <a:xfrm>
                <a:off x="2774089" y="2018569"/>
                <a:ext cx="4053431" cy="3530454"/>
              </a:xfrm>
              <a:prstGeom prst="rect">
                <a:avLst/>
              </a:prstGeom>
              <a:noFill/>
            </p:spPr>
            <p:txBody>
              <a:bodyPr wrap="square" rtlCol="0">
                <a:spAutoFit/>
              </a:bodyPr>
              <a:lstStyle/>
              <a:p>
                <a:r>
                  <a:rPr lang="en-AU" dirty="0" smtClean="0"/>
                  <a:t>Is used to summarise a data set</a:t>
                </a:r>
              </a:p>
              <a:p>
                <a:endParaRPr lang="en-AU" dirty="0"/>
              </a:p>
              <a:p>
                <a:r>
                  <a:rPr lang="en-AU" dirty="0" smtClean="0"/>
                  <a:t>The difference between the smallest score ad the largest score</a:t>
                </a:r>
              </a:p>
              <a:p>
                <a:endParaRPr lang="en-AU" dirty="0"/>
              </a:p>
              <a:p>
                <a:endParaRPr lang="en-AU" dirty="0" smtClean="0"/>
              </a:p>
              <a:p>
                <a:endParaRPr lang="en-AU" dirty="0"/>
              </a:p>
              <a:p>
                <a:endParaRPr lang="en-AU" dirty="0" smtClean="0"/>
              </a:p>
              <a:p>
                <a:r>
                  <a:rPr lang="en-AU" dirty="0" smtClean="0"/>
                  <a:t>The score with the highest frequency</a:t>
                </a:r>
              </a:p>
              <a:p>
                <a:endParaRPr lang="en-AU" dirty="0"/>
              </a:p>
              <a:p>
                <a:r>
                  <a:rPr lang="en-AU" dirty="0" smtClean="0"/>
                  <a:t>If there are </a:t>
                </a:r>
                <a14:m>
                  <m:oMath xmlns:m="http://schemas.openxmlformats.org/officeDocument/2006/math">
                    <m:r>
                      <a:rPr lang="en-AU" i="1" dirty="0" smtClean="0">
                        <a:solidFill>
                          <a:srgbClr val="C00000"/>
                        </a:solidFill>
                        <a:latin typeface="Cambria Math" panose="02040503050406030204" pitchFamily="18" charset="0"/>
                      </a:rPr>
                      <m:t>𝑛</m:t>
                    </m:r>
                  </m:oMath>
                </a14:m>
                <a:r>
                  <a:rPr lang="en-AU" dirty="0" smtClean="0"/>
                  <a:t> scores then the median is the </a:t>
                </a:r>
                <a14:m>
                  <m:oMath xmlns:m="http://schemas.openxmlformats.org/officeDocument/2006/math">
                    <m:f>
                      <m:fPr>
                        <m:ctrlPr>
                          <a:rPr lang="en-AU" i="1" smtClean="0">
                            <a:solidFill>
                              <a:srgbClr val="C00000"/>
                            </a:solidFill>
                            <a:latin typeface="Cambria Math" panose="02040503050406030204" pitchFamily="18" charset="0"/>
                          </a:rPr>
                        </m:ctrlPr>
                      </m:fPr>
                      <m:num>
                        <m:r>
                          <a:rPr lang="en-AU" b="0" i="1" smtClean="0">
                            <a:solidFill>
                              <a:srgbClr val="C00000"/>
                            </a:solidFill>
                            <a:latin typeface="Cambria Math" panose="02040503050406030204" pitchFamily="18" charset="0"/>
                          </a:rPr>
                          <m:t>𝑛</m:t>
                        </m:r>
                        <m:r>
                          <a:rPr lang="en-AU" b="0" i="1" smtClean="0">
                            <a:solidFill>
                              <a:srgbClr val="C00000"/>
                            </a:solidFill>
                            <a:latin typeface="Cambria Math" panose="02040503050406030204" pitchFamily="18" charset="0"/>
                          </a:rPr>
                          <m:t>+1</m:t>
                        </m:r>
                      </m:num>
                      <m:den>
                        <m:r>
                          <a:rPr lang="en-AU" b="0" i="1" smtClean="0">
                            <a:solidFill>
                              <a:srgbClr val="C00000"/>
                            </a:solidFill>
                            <a:latin typeface="Cambria Math" panose="02040503050406030204" pitchFamily="18" charset="0"/>
                          </a:rPr>
                          <m:t>2</m:t>
                        </m:r>
                      </m:den>
                    </m:f>
                  </m:oMath>
                </a14:m>
                <a:r>
                  <a:rPr lang="en-AU" baseline="30000" dirty="0" err="1" smtClean="0"/>
                  <a:t>th</a:t>
                </a:r>
                <a:r>
                  <a:rPr lang="en-AU" dirty="0" smtClean="0"/>
                  <a:t> score.</a:t>
                </a:r>
                <a:endParaRPr lang="en-AU" dirty="0"/>
              </a:p>
            </p:txBody>
          </p:sp>
        </mc:Choice>
        <mc:Fallback>
          <p:sp>
            <p:nvSpPr>
              <p:cNvPr id="7" name="TextBox 6"/>
              <p:cNvSpPr txBox="1">
                <a:spLocks noRot="1" noChangeAspect="1" noMove="1" noResize="1" noEditPoints="1" noAdjustHandles="1" noChangeArrowheads="1" noChangeShapeType="1" noTextEdit="1"/>
              </p:cNvSpPr>
              <p:nvPr/>
            </p:nvSpPr>
            <p:spPr>
              <a:xfrm>
                <a:off x="2774089" y="2018569"/>
                <a:ext cx="4053431" cy="3530454"/>
              </a:xfrm>
              <a:prstGeom prst="rect">
                <a:avLst/>
              </a:prstGeom>
              <a:blipFill>
                <a:blip r:embed="rId2"/>
                <a:stretch>
                  <a:fillRect l="-1203" t="-1036" r="-2406"/>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graphicFrame>
            <p:nvGraphicFramePr>
              <p:cNvPr id="14" name="Table 13"/>
              <p:cNvGraphicFramePr>
                <a:graphicFrameLocks noGrp="1"/>
              </p:cNvGraphicFramePr>
              <p:nvPr>
                <p:extLst>
                  <p:ext uri="{D42A27DB-BD31-4B8C-83A1-F6EECF244321}">
                    <p14:modId xmlns:p14="http://schemas.microsoft.com/office/powerpoint/2010/main" val="1366661981"/>
                  </p:ext>
                </p:extLst>
              </p:nvPr>
            </p:nvGraphicFramePr>
            <p:xfrm>
              <a:off x="7072909" y="2295145"/>
              <a:ext cx="4254548" cy="2674460"/>
            </p:xfrm>
            <a:graphic>
              <a:graphicData uri="http://schemas.openxmlformats.org/drawingml/2006/table">
                <a:tbl>
                  <a:tblPr firstRow="1" bandRow="1">
                    <a:tableStyleId>{3B4B98B0-60AC-42C2-AFA5-B58CD77FA1E5}</a:tableStyleId>
                  </a:tblPr>
                  <a:tblGrid>
                    <a:gridCol w="1063637">
                      <a:extLst>
                        <a:ext uri="{9D8B030D-6E8A-4147-A177-3AD203B41FA5}">
                          <a16:colId xmlns:a16="http://schemas.microsoft.com/office/drawing/2014/main" val="3853349929"/>
                        </a:ext>
                      </a:extLst>
                    </a:gridCol>
                    <a:gridCol w="1063637">
                      <a:extLst>
                        <a:ext uri="{9D8B030D-6E8A-4147-A177-3AD203B41FA5}">
                          <a16:colId xmlns:a16="http://schemas.microsoft.com/office/drawing/2014/main" val="3359492329"/>
                        </a:ext>
                      </a:extLst>
                    </a:gridCol>
                    <a:gridCol w="1063637">
                      <a:extLst>
                        <a:ext uri="{9D8B030D-6E8A-4147-A177-3AD203B41FA5}">
                          <a16:colId xmlns:a16="http://schemas.microsoft.com/office/drawing/2014/main" val="4148713929"/>
                        </a:ext>
                      </a:extLst>
                    </a:gridCol>
                    <a:gridCol w="1063637">
                      <a:extLst>
                        <a:ext uri="{9D8B030D-6E8A-4147-A177-3AD203B41FA5}">
                          <a16:colId xmlns:a16="http://schemas.microsoft.com/office/drawing/2014/main" val="1342440862"/>
                        </a:ext>
                      </a:extLst>
                    </a:gridCol>
                  </a:tblGrid>
                  <a:tr h="654060">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Cf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14:m>
                            <m:oMathPara xmlns:m="http://schemas.openxmlformats.org/officeDocument/2006/math">
                              <m:oMathParaPr>
                                <m:jc m:val="centerGroup"/>
                              </m:oMathParaPr>
                              <m:oMath xmlns:m="http://schemas.openxmlformats.org/officeDocument/2006/math">
                                <m:r>
                                  <a:rPr lang="en-AU" b="1" i="1" smtClean="0">
                                    <a:latin typeface="Cambria Math" panose="02040503050406030204" pitchFamily="18" charset="0"/>
                                  </a:rPr>
                                  <m:t>𝒙</m:t>
                                </m:r>
                                <m:r>
                                  <a:rPr lang="en-AU" b="1" i="1" smtClean="0">
                                    <a:latin typeface="Cambria Math" panose="02040503050406030204" pitchFamily="18" charset="0"/>
                                    <a:ea typeface="Cambria Math" panose="02040503050406030204" pitchFamily="18" charset="0"/>
                                  </a:rPr>
                                  <m:t>×</m:t>
                                </m:r>
                                <m:r>
                                  <a:rPr lang="en-AU" b="1" i="1" smtClean="0">
                                    <a:latin typeface="Cambria Math" panose="02040503050406030204" pitchFamily="18" charset="0"/>
                                    <a:ea typeface="Cambria Math" panose="02040503050406030204" pitchFamily="18" charset="0"/>
                                  </a:rPr>
                                  <m:t>𝒇</m:t>
                                </m:r>
                              </m:oMath>
                            </m:oMathPara>
                          </a14:m>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2107359542"/>
                      </a:ext>
                    </a:extLst>
                  </a:tr>
                  <a:tr h="404080">
                    <a:tc>
                      <a:txBody>
                        <a:bodyPr/>
                        <a:lstStyle/>
                        <a:p>
                          <a:pPr algn="ctr"/>
                          <a:r>
                            <a:rPr lang="en-AU" dirty="0" smtClean="0">
                              <a:solidFill>
                                <a:schemeClr val="tx1"/>
                              </a:solidFill>
                            </a:rPr>
                            <a:t>1</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404080">
                    <a:tc>
                      <a:txBody>
                        <a:bodyPr/>
                        <a:lstStyle/>
                        <a:p>
                          <a:pPr algn="ctr"/>
                          <a:r>
                            <a:rPr lang="en-AU" dirty="0" smtClean="0">
                              <a:solidFill>
                                <a:schemeClr val="tx1"/>
                              </a:solidFill>
                            </a:rPr>
                            <a:t>2</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8</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8</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404080">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10</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6</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404080">
                    <a:tc>
                      <a:txBody>
                        <a:bodyPr/>
                        <a:lstStyle/>
                        <a:p>
                          <a:pPr algn="ctr"/>
                          <a:r>
                            <a:rPr lang="en-AU" dirty="0" smtClean="0">
                              <a:solidFill>
                                <a:schemeClr val="tx1"/>
                              </a:solidFill>
                            </a:rPr>
                            <a:t>4</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404080">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mc:Choice>
        <mc:Fallback>
          <p:graphicFrame>
            <p:nvGraphicFramePr>
              <p:cNvPr id="14" name="Table 13"/>
              <p:cNvGraphicFramePr>
                <a:graphicFrameLocks noGrp="1"/>
              </p:cNvGraphicFramePr>
              <p:nvPr>
                <p:extLst>
                  <p:ext uri="{D42A27DB-BD31-4B8C-83A1-F6EECF244321}">
                    <p14:modId xmlns:p14="http://schemas.microsoft.com/office/powerpoint/2010/main" val="1366661981"/>
                  </p:ext>
                </p:extLst>
              </p:nvPr>
            </p:nvGraphicFramePr>
            <p:xfrm>
              <a:off x="7072909" y="2295145"/>
              <a:ext cx="4254548" cy="2674460"/>
            </p:xfrm>
            <a:graphic>
              <a:graphicData uri="http://schemas.openxmlformats.org/drawingml/2006/table">
                <a:tbl>
                  <a:tblPr firstRow="1" bandRow="1">
                    <a:tableStyleId>{3B4B98B0-60AC-42C2-AFA5-B58CD77FA1E5}</a:tableStyleId>
                  </a:tblPr>
                  <a:tblGrid>
                    <a:gridCol w="1063637">
                      <a:extLst>
                        <a:ext uri="{9D8B030D-6E8A-4147-A177-3AD203B41FA5}">
                          <a16:colId xmlns:a16="http://schemas.microsoft.com/office/drawing/2014/main" val="3853349929"/>
                        </a:ext>
                      </a:extLst>
                    </a:gridCol>
                    <a:gridCol w="1063637">
                      <a:extLst>
                        <a:ext uri="{9D8B030D-6E8A-4147-A177-3AD203B41FA5}">
                          <a16:colId xmlns:a16="http://schemas.microsoft.com/office/drawing/2014/main" val="3359492329"/>
                        </a:ext>
                      </a:extLst>
                    </a:gridCol>
                    <a:gridCol w="1063637">
                      <a:extLst>
                        <a:ext uri="{9D8B030D-6E8A-4147-A177-3AD203B41FA5}">
                          <a16:colId xmlns:a16="http://schemas.microsoft.com/office/drawing/2014/main" val="4148713929"/>
                        </a:ext>
                      </a:extLst>
                    </a:gridCol>
                    <a:gridCol w="1063637">
                      <a:extLst>
                        <a:ext uri="{9D8B030D-6E8A-4147-A177-3AD203B41FA5}">
                          <a16:colId xmlns:a16="http://schemas.microsoft.com/office/drawing/2014/main" val="1342440862"/>
                        </a:ext>
                      </a:extLst>
                    </a:gridCol>
                  </a:tblGrid>
                  <a:tr h="654060">
                    <a:tc>
                      <a:txBody>
                        <a:bodyPr/>
                        <a:lstStyle/>
                        <a:p>
                          <a:pPr algn="ctr"/>
                          <a:r>
                            <a:rPr lang="en-AU" dirty="0" smtClean="0"/>
                            <a:t>Score</a:t>
                          </a:r>
                        </a:p>
                        <a:p>
                          <a:pPr algn="ctr"/>
                          <a:r>
                            <a:rPr lang="en-AU" dirty="0" smtClean="0"/>
                            <a:t>(x)</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Frequecy</a:t>
                          </a:r>
                          <a:r>
                            <a:rPr lang="en-AU" dirty="0" smtClean="0"/>
                            <a:t> (f)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pPr algn="ctr"/>
                          <a:r>
                            <a:rPr lang="en-AU" dirty="0" err="1" smtClean="0"/>
                            <a:t>Cf</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0000" t="-5556" r="-1143" b="-314815"/>
                          </a:stretch>
                        </a:blipFill>
                      </a:tcPr>
                    </a:tc>
                    <a:extLst>
                      <a:ext uri="{0D108BD9-81ED-4DB2-BD59-A6C34878D82A}">
                        <a16:rowId xmlns:a16="http://schemas.microsoft.com/office/drawing/2014/main" val="2107359542"/>
                      </a:ext>
                    </a:extLst>
                  </a:tr>
                  <a:tr h="404080">
                    <a:tc>
                      <a:txBody>
                        <a:bodyPr/>
                        <a:lstStyle/>
                        <a:p>
                          <a:pPr algn="ctr"/>
                          <a:r>
                            <a:rPr lang="en-AU" dirty="0" smtClean="0">
                              <a:solidFill>
                                <a:schemeClr val="tx1"/>
                              </a:solidFill>
                            </a:rPr>
                            <a:t>1</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8107096"/>
                      </a:ext>
                    </a:extLst>
                  </a:tr>
                  <a:tr h="404080">
                    <a:tc>
                      <a:txBody>
                        <a:bodyPr/>
                        <a:lstStyle/>
                        <a:p>
                          <a:pPr algn="ctr"/>
                          <a:r>
                            <a:rPr lang="en-AU" dirty="0" smtClean="0">
                              <a:solidFill>
                                <a:schemeClr val="tx1"/>
                              </a:solidFill>
                            </a:rPr>
                            <a:t>2</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8</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AU" dirty="0" smtClean="0"/>
                            <a:t>8</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6191332"/>
                      </a:ext>
                    </a:extLst>
                  </a:tr>
                  <a:tr h="404080">
                    <a:tc>
                      <a:txBody>
                        <a:bodyPr/>
                        <a:lstStyle/>
                        <a:p>
                          <a:pPr algn="ctr"/>
                          <a:r>
                            <a:rPr lang="en-AU" dirty="0" smtClean="0"/>
                            <a:t>3</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10</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6</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1892026"/>
                      </a:ext>
                    </a:extLst>
                  </a:tr>
                  <a:tr h="404080">
                    <a:tc>
                      <a:txBody>
                        <a:bodyPr/>
                        <a:lstStyle/>
                        <a:p>
                          <a:pPr algn="ctr"/>
                          <a:r>
                            <a:rPr lang="en-AU" dirty="0" smtClean="0">
                              <a:solidFill>
                                <a:schemeClr val="tx1"/>
                              </a:solidFill>
                            </a:rPr>
                            <a:t>4</a:t>
                          </a:r>
                          <a:endParaRPr lang="en-AU"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4</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9103233"/>
                      </a:ext>
                    </a:extLst>
                  </a:tr>
                  <a:tr h="404080">
                    <a:tc>
                      <a:txBody>
                        <a:bodyPr/>
                        <a:lstStyle/>
                        <a:p>
                          <a:pPr algn="ctr"/>
                          <a:r>
                            <a:rPr lang="en-AU" dirty="0" smtClean="0"/>
                            <a:t>Total</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11</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AU" dirty="0" smtClean="0"/>
                            <a:t>22</a:t>
                          </a:r>
                          <a:endParaRPr lang="en-AU"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5983132"/>
                      </a:ext>
                    </a:extLst>
                  </a:tr>
                </a:tbl>
              </a:graphicData>
            </a:graphic>
          </p:graphicFrame>
        </mc:Fallback>
      </mc:AlternateContent>
      <mc:AlternateContent xmlns:mc="http://schemas.openxmlformats.org/markup-compatibility/2006">
        <mc:Choice xmlns:a14="http://schemas.microsoft.com/office/drawing/2010/main" Requires="a14">
          <p:sp>
            <p:nvSpPr>
              <p:cNvPr id="20" name="TextBox 19"/>
              <p:cNvSpPr txBox="1"/>
              <p:nvPr/>
            </p:nvSpPr>
            <p:spPr>
              <a:xfrm>
                <a:off x="6917839" y="4983484"/>
                <a:ext cx="5286103" cy="1730667"/>
              </a:xfrm>
              <a:prstGeom prst="rect">
                <a:avLst/>
              </a:prstGeom>
              <a:noFill/>
            </p:spPr>
            <p:txBody>
              <a:bodyPr wrap="square" rtlCol="0">
                <a:spAutoFit/>
              </a:bodyPr>
              <a:lstStyle/>
              <a:p>
                <a:r>
                  <a:rPr lang="en-AU" dirty="0" smtClean="0"/>
                  <a:t>Range = </a:t>
                </a:r>
                <a14:m>
                  <m:oMath xmlns:m="http://schemas.openxmlformats.org/officeDocument/2006/math">
                    <m:r>
                      <a:rPr lang="en-AU" b="0" i="1" smtClean="0">
                        <a:latin typeface="Cambria Math" panose="02040503050406030204" pitchFamily="18" charset="0"/>
                      </a:rPr>
                      <m:t>4−1=3</m:t>
                    </m:r>
                  </m:oMath>
                </a14:m>
                <a:endParaRPr lang="en-AU" dirty="0" smtClean="0"/>
              </a:p>
              <a:p>
                <a:r>
                  <a:rPr lang="en-AU" dirty="0" smtClean="0"/>
                  <a:t>Mode 1 and 2 (bimodal)</a:t>
                </a:r>
              </a:p>
              <a:p>
                <a:r>
                  <a:rPr lang="en-AU" dirty="0" smtClean="0"/>
                  <a:t>There are 11 scores, so the median is </a:t>
                </a:r>
                <a14:m>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11+1</m:t>
                        </m:r>
                      </m:num>
                      <m:den>
                        <m:r>
                          <a:rPr lang="en-AU" b="0" i="1" smtClean="0">
                            <a:latin typeface="Cambria Math" panose="02040503050406030204" pitchFamily="18" charset="0"/>
                          </a:rPr>
                          <m:t>2</m:t>
                        </m:r>
                      </m:den>
                    </m:f>
                    <m:r>
                      <a:rPr lang="en-AU" b="0" i="1" smtClean="0">
                        <a:latin typeface="Cambria Math" panose="02040503050406030204" pitchFamily="18" charset="0"/>
                      </a:rPr>
                      <m:t>=6</m:t>
                    </m:r>
                  </m:oMath>
                </a14:m>
                <a:r>
                  <a:rPr lang="en-AU" baseline="30000" dirty="0" smtClean="0"/>
                  <a:t>th</a:t>
                </a:r>
                <a:r>
                  <a:rPr lang="en-AU" dirty="0" smtClean="0"/>
                  <a:t> score which is 2.</a:t>
                </a:r>
              </a:p>
              <a:p>
                <a:r>
                  <a:rPr lang="en-AU" dirty="0" smtClean="0"/>
                  <a:t>Mean </a:t>
                </a:r>
                <a14:m>
                  <m:oMath xmlns:m="http://schemas.openxmlformats.org/officeDocument/2006/math">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22</m:t>
                        </m:r>
                      </m:num>
                      <m:den>
                        <m:r>
                          <a:rPr lang="en-AU" b="0" i="1" smtClean="0">
                            <a:latin typeface="Cambria Math" panose="02040503050406030204" pitchFamily="18" charset="0"/>
                          </a:rPr>
                          <m:t>2</m:t>
                        </m:r>
                      </m:den>
                    </m:f>
                    <m:r>
                      <a:rPr lang="en-AU" b="0" i="1" smtClean="0">
                        <a:latin typeface="Cambria Math" panose="02040503050406030204" pitchFamily="18" charset="0"/>
                      </a:rPr>
                      <m:t>=2</m:t>
                    </m:r>
                  </m:oMath>
                </a14:m>
                <a:endParaRPr lang="en-AU" dirty="0"/>
              </a:p>
            </p:txBody>
          </p:sp>
        </mc:Choice>
        <mc:Fallback>
          <p:sp>
            <p:nvSpPr>
              <p:cNvPr id="20" name="TextBox 19"/>
              <p:cNvSpPr txBox="1">
                <a:spLocks noRot="1" noChangeAspect="1" noMove="1" noResize="1" noEditPoints="1" noAdjustHandles="1" noChangeArrowheads="1" noChangeShapeType="1" noTextEdit="1"/>
              </p:cNvSpPr>
              <p:nvPr/>
            </p:nvSpPr>
            <p:spPr>
              <a:xfrm>
                <a:off x="6917839" y="4983484"/>
                <a:ext cx="5286103" cy="1730667"/>
              </a:xfrm>
              <a:prstGeom prst="rect">
                <a:avLst/>
              </a:prstGeom>
              <a:blipFill>
                <a:blip r:embed="rId4"/>
                <a:stretch>
                  <a:fillRect l="-1038" t="-2473"/>
                </a:stretch>
              </a:blipFill>
            </p:spPr>
            <p:txBody>
              <a:bodyPr/>
              <a:lstStyle/>
              <a:p>
                <a:r>
                  <a:rPr lang="en-AU">
                    <a:noFill/>
                  </a:rPr>
                  <a:t> </a:t>
                </a:r>
              </a:p>
            </p:txBody>
          </p:sp>
        </mc:Fallback>
      </mc:AlternateContent>
      <mc:AlternateContent xmlns:mc="http://schemas.openxmlformats.org/markup-compatibility/2006">
        <mc:Choice xmlns:a14="http://schemas.microsoft.com/office/drawing/2010/main" Requires="a14">
          <p:sp>
            <p:nvSpPr>
              <p:cNvPr id="3" name="TextBox 2"/>
              <p:cNvSpPr txBox="1"/>
              <p:nvPr/>
            </p:nvSpPr>
            <p:spPr>
              <a:xfrm>
                <a:off x="2800215" y="5737938"/>
                <a:ext cx="3914212" cy="576183"/>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r>
                        <a:rPr lang="en-AU" b="0" i="1" smtClean="0">
                          <a:latin typeface="Cambria Math" panose="02040503050406030204" pitchFamily="18" charset="0"/>
                        </a:rPr>
                        <m:t>𝑀𝑒𝑎𝑛</m:t>
                      </m:r>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𝑠𝑢𝑚</m:t>
                          </m:r>
                          <m:r>
                            <a:rPr lang="en-AU" b="0" i="1" smtClean="0">
                              <a:latin typeface="Cambria Math" panose="02040503050406030204" pitchFamily="18" charset="0"/>
                            </a:rPr>
                            <m:t> </m:t>
                          </m:r>
                          <m:r>
                            <a:rPr lang="en-AU" b="0" i="1" smtClean="0">
                              <a:latin typeface="Cambria Math" panose="02040503050406030204" pitchFamily="18" charset="0"/>
                            </a:rPr>
                            <m:t>𝑜𝑓</m:t>
                          </m:r>
                          <m:r>
                            <a:rPr lang="en-AU" b="0" i="1" smtClean="0">
                              <a:latin typeface="Cambria Math" panose="02040503050406030204" pitchFamily="18" charset="0"/>
                            </a:rPr>
                            <m:t> (</m:t>
                          </m:r>
                          <m:r>
                            <a:rPr lang="en-AU" b="0" i="1" smtClean="0">
                              <a:latin typeface="Cambria Math" panose="02040503050406030204" pitchFamily="18" charset="0"/>
                            </a:rPr>
                            <m:t>𝑠𝑐𝑜𝑟𝑒</m:t>
                          </m:r>
                          <m:r>
                            <a:rPr lang="en-AU" b="0" i="1" smtClean="0">
                              <a:latin typeface="Cambria Math" panose="02040503050406030204" pitchFamily="18" charset="0"/>
                            </a:rPr>
                            <m:t> ×</m:t>
                          </m:r>
                          <m:r>
                            <a:rPr lang="en-AU" b="0" i="1" smtClean="0">
                              <a:latin typeface="Cambria Math" panose="02040503050406030204" pitchFamily="18" charset="0"/>
                              <a:ea typeface="Cambria Math" panose="02040503050406030204" pitchFamily="18" charset="0"/>
                            </a:rPr>
                            <m:t>𝑓𝑟𝑒𝑞𝑢𝑒𝑛𝑐𝑦</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rPr>
                            <m:t>𝑇𝑜𝑡𝑎𝑙</m:t>
                          </m:r>
                          <m:r>
                            <a:rPr lang="en-AU" b="0" i="1" smtClean="0">
                              <a:latin typeface="Cambria Math" panose="02040503050406030204" pitchFamily="18" charset="0"/>
                            </a:rPr>
                            <m:t> </m:t>
                          </m:r>
                          <m:r>
                            <a:rPr lang="en-AU" b="0" i="1" smtClean="0">
                              <a:latin typeface="Cambria Math" panose="02040503050406030204" pitchFamily="18" charset="0"/>
                            </a:rPr>
                            <m:t>𝑓𝑟𝑒𝑞𝑢𝑒𝑛𝑐𝑦</m:t>
                          </m:r>
                        </m:den>
                      </m:f>
                    </m:oMath>
                  </m:oMathPara>
                </a14:m>
                <a:endParaRPr lang="en-AU" dirty="0"/>
              </a:p>
            </p:txBody>
          </p:sp>
        </mc:Choice>
        <mc:Fallback>
          <p:sp>
            <p:nvSpPr>
              <p:cNvPr id="3" name="TextBox 2"/>
              <p:cNvSpPr txBox="1">
                <a:spLocks noRot="1" noChangeAspect="1" noMove="1" noResize="1" noEditPoints="1" noAdjustHandles="1" noChangeArrowheads="1" noChangeShapeType="1" noTextEdit="1"/>
              </p:cNvSpPr>
              <p:nvPr/>
            </p:nvSpPr>
            <p:spPr>
              <a:xfrm>
                <a:off x="2800215" y="5737938"/>
                <a:ext cx="3914212" cy="576183"/>
              </a:xfrm>
              <a:prstGeom prst="rect">
                <a:avLst/>
              </a:prstGeom>
              <a:blipFill>
                <a:blip r:embed="rId5"/>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34343037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866503" y="1123069"/>
            <a:ext cx="9553302" cy="646331"/>
          </a:xfrm>
          <a:prstGeom prst="rect">
            <a:avLst/>
          </a:prstGeom>
          <a:noFill/>
        </p:spPr>
        <p:txBody>
          <a:bodyPr wrap="square" rtlCol="0">
            <a:spAutoFit/>
          </a:bodyPr>
          <a:lstStyle/>
          <a:p>
            <a:r>
              <a:rPr lang="en-AU" dirty="0" smtClean="0"/>
              <a:t>We do - </a:t>
            </a:r>
            <a:endParaRPr lang="en-AU" dirty="0"/>
          </a:p>
          <a:p>
            <a:r>
              <a:rPr lang="en-AU" dirty="0" smtClean="0"/>
              <a:t>Find the mean, median, mode and range for the data set below</a:t>
            </a:r>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dirty="0" smtClean="0"/>
              <a:t>W I </a:t>
            </a:r>
            <a:r>
              <a:rPr lang="en-AU" u="sng" dirty="0" smtClean="0">
                <a:solidFill>
                  <a:srgbClr val="FFFF00"/>
                </a:solidFill>
              </a:rPr>
              <a:t>C</a:t>
            </a:r>
            <a:r>
              <a:rPr lang="en-AU" dirty="0" smtClean="0">
                <a:solidFill>
                  <a:srgbClr val="FFFF00"/>
                </a:solidFill>
              </a:rPr>
              <a:t> </a:t>
            </a:r>
            <a:r>
              <a:rPr lang="en-AU" dirty="0" smtClean="0"/>
              <a:t>O </a:t>
            </a:r>
            <a:r>
              <a:rPr lang="en-AU" u="sng" dirty="0" smtClean="0">
                <a:solidFill>
                  <a:srgbClr val="FFFF00"/>
                </a:solidFill>
              </a:rPr>
              <a:t>R</a:t>
            </a:r>
            <a:endParaRPr lang="en-AU" u="sng" dirty="0">
              <a:solidFill>
                <a:srgbClr val="FFFF00"/>
              </a:solidFill>
            </a:endParaRPr>
          </a:p>
        </p:txBody>
      </p:sp>
      <p:pic>
        <p:nvPicPr>
          <p:cNvPr id="15" name="Content Placeholder 14"/>
          <p:cNvPicPr>
            <a:picLocks noGrp="1" noChangeAspect="1"/>
          </p:cNvPicPr>
          <p:nvPr>
            <p:ph sz="half" idx="1"/>
          </p:nvPr>
        </p:nvPicPr>
        <p:blipFill>
          <a:blip r:embed="rId2"/>
          <a:stretch>
            <a:fillRect/>
          </a:stretch>
        </p:blipFill>
        <p:spPr>
          <a:xfrm>
            <a:off x="542846" y="2367987"/>
            <a:ext cx="2534436" cy="2299069"/>
          </a:xfrm>
          <a:prstGeom prst="rect">
            <a:avLst/>
          </a:prstGeom>
        </p:spPr>
      </p:pic>
      <p:sp>
        <p:nvSpPr>
          <p:cNvPr id="17" name="TextBox 16"/>
          <p:cNvSpPr txBox="1"/>
          <p:nvPr/>
        </p:nvSpPr>
        <p:spPr>
          <a:xfrm>
            <a:off x="4409751" y="2573655"/>
            <a:ext cx="1140056" cy="2031325"/>
          </a:xfrm>
          <a:prstGeom prst="rect">
            <a:avLst/>
          </a:prstGeom>
          <a:noFill/>
        </p:spPr>
        <p:txBody>
          <a:bodyPr wrap="none" rtlCol="0">
            <a:spAutoFit/>
          </a:bodyPr>
          <a:lstStyle/>
          <a:p>
            <a:r>
              <a:rPr lang="en-AU" dirty="0" smtClean="0"/>
              <a:t>Mode – </a:t>
            </a:r>
          </a:p>
          <a:p>
            <a:endParaRPr lang="en-AU" dirty="0"/>
          </a:p>
          <a:p>
            <a:r>
              <a:rPr lang="en-AU" dirty="0" smtClean="0"/>
              <a:t>Range – </a:t>
            </a:r>
          </a:p>
          <a:p>
            <a:endParaRPr lang="en-AU" dirty="0"/>
          </a:p>
          <a:p>
            <a:r>
              <a:rPr lang="en-AU" dirty="0" smtClean="0"/>
              <a:t>Median – </a:t>
            </a:r>
          </a:p>
          <a:p>
            <a:endParaRPr lang="en-AU" dirty="0"/>
          </a:p>
          <a:p>
            <a:r>
              <a:rPr lang="en-AU" dirty="0" smtClean="0"/>
              <a:t>Mean - </a:t>
            </a:r>
            <a:endParaRPr lang="en-AU" dirty="0"/>
          </a:p>
        </p:txBody>
      </p:sp>
    </p:spTree>
    <p:extLst>
      <p:ext uri="{BB962C8B-B14F-4D97-AF65-F5344CB8AC3E}">
        <p14:creationId xmlns:p14="http://schemas.microsoft.com/office/powerpoint/2010/main" val="4248509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866503" y="1123069"/>
            <a:ext cx="9553302" cy="646331"/>
          </a:xfrm>
          <a:prstGeom prst="rect">
            <a:avLst/>
          </a:prstGeom>
          <a:noFill/>
        </p:spPr>
        <p:txBody>
          <a:bodyPr wrap="square" rtlCol="0">
            <a:spAutoFit/>
          </a:bodyPr>
          <a:lstStyle/>
          <a:p>
            <a:r>
              <a:rPr lang="en-AU" dirty="0" smtClean="0"/>
              <a:t>We do - </a:t>
            </a:r>
            <a:endParaRPr lang="en-AU" dirty="0"/>
          </a:p>
          <a:p>
            <a:r>
              <a:rPr lang="en-AU" dirty="0" smtClean="0"/>
              <a:t>Find the mean, median, mode and range for the data set below</a:t>
            </a:r>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dirty="0" smtClean="0"/>
              <a:t>W I </a:t>
            </a:r>
            <a:r>
              <a:rPr lang="en-AU" u="sng" dirty="0" smtClean="0">
                <a:solidFill>
                  <a:srgbClr val="FFFF00"/>
                </a:solidFill>
              </a:rPr>
              <a:t>C</a:t>
            </a:r>
            <a:r>
              <a:rPr lang="en-AU" dirty="0" smtClean="0">
                <a:solidFill>
                  <a:srgbClr val="FFFF00"/>
                </a:solidFill>
              </a:rPr>
              <a:t> </a:t>
            </a:r>
            <a:r>
              <a:rPr lang="en-AU" dirty="0" smtClean="0"/>
              <a:t>O </a:t>
            </a:r>
            <a:r>
              <a:rPr lang="en-AU" u="sng" dirty="0" smtClean="0">
                <a:solidFill>
                  <a:srgbClr val="FFFF00"/>
                </a:solidFill>
              </a:rPr>
              <a:t>R</a:t>
            </a:r>
            <a:endParaRPr lang="en-AU" u="sng" dirty="0">
              <a:solidFill>
                <a:srgbClr val="FFFF00"/>
              </a:solidFill>
            </a:endParaRPr>
          </a:p>
        </p:txBody>
      </p:sp>
      <p:pic>
        <p:nvPicPr>
          <p:cNvPr id="15" name="Content Placeholder 14"/>
          <p:cNvPicPr>
            <a:picLocks noGrp="1" noChangeAspect="1"/>
          </p:cNvPicPr>
          <p:nvPr>
            <p:ph sz="half" idx="1"/>
          </p:nvPr>
        </p:nvPicPr>
        <p:blipFill>
          <a:blip r:embed="rId2"/>
          <a:stretch>
            <a:fillRect/>
          </a:stretch>
        </p:blipFill>
        <p:spPr>
          <a:xfrm>
            <a:off x="542846" y="2367987"/>
            <a:ext cx="2534436" cy="2299069"/>
          </a:xfrm>
          <a:prstGeom prst="rect">
            <a:avLst/>
          </a:prstGeom>
        </p:spPr>
      </p:pic>
      <p:sp>
        <p:nvSpPr>
          <p:cNvPr id="17" name="TextBox 16"/>
          <p:cNvSpPr txBox="1"/>
          <p:nvPr/>
        </p:nvSpPr>
        <p:spPr>
          <a:xfrm>
            <a:off x="4409751" y="2573655"/>
            <a:ext cx="1396536" cy="2031325"/>
          </a:xfrm>
          <a:prstGeom prst="rect">
            <a:avLst/>
          </a:prstGeom>
          <a:noFill/>
        </p:spPr>
        <p:txBody>
          <a:bodyPr wrap="none" rtlCol="0">
            <a:spAutoFit/>
          </a:bodyPr>
          <a:lstStyle/>
          <a:p>
            <a:r>
              <a:rPr lang="en-AU" dirty="0" smtClean="0"/>
              <a:t>Mode – 2</a:t>
            </a:r>
          </a:p>
          <a:p>
            <a:endParaRPr lang="en-AU" dirty="0"/>
          </a:p>
          <a:p>
            <a:r>
              <a:rPr lang="en-AU" dirty="0" smtClean="0"/>
              <a:t>Range – 3</a:t>
            </a:r>
          </a:p>
          <a:p>
            <a:endParaRPr lang="en-AU" dirty="0"/>
          </a:p>
          <a:p>
            <a:r>
              <a:rPr lang="en-AU" dirty="0" smtClean="0"/>
              <a:t>Median – 2 </a:t>
            </a:r>
          </a:p>
          <a:p>
            <a:endParaRPr lang="en-AU" dirty="0"/>
          </a:p>
          <a:p>
            <a:r>
              <a:rPr lang="en-AU" dirty="0" smtClean="0"/>
              <a:t>Mean – 1.72</a:t>
            </a:r>
            <a:endParaRPr lang="en-AU" dirty="0"/>
          </a:p>
        </p:txBody>
      </p:sp>
    </p:spTree>
    <p:extLst>
      <p:ext uri="{BB962C8B-B14F-4D97-AF65-F5344CB8AC3E}">
        <p14:creationId xmlns:p14="http://schemas.microsoft.com/office/powerpoint/2010/main" val="4087124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866503" y="1123069"/>
            <a:ext cx="9553302" cy="646331"/>
          </a:xfrm>
          <a:prstGeom prst="rect">
            <a:avLst/>
          </a:prstGeom>
          <a:noFill/>
        </p:spPr>
        <p:txBody>
          <a:bodyPr wrap="square" rtlCol="0">
            <a:spAutoFit/>
          </a:bodyPr>
          <a:lstStyle/>
          <a:p>
            <a:r>
              <a:rPr lang="en-AU" dirty="0" smtClean="0"/>
              <a:t>You</a:t>
            </a:r>
            <a:r>
              <a:rPr lang="en-AU" dirty="0" smtClean="0"/>
              <a:t> do - </a:t>
            </a:r>
            <a:endParaRPr lang="en-AU" dirty="0"/>
          </a:p>
          <a:p>
            <a:r>
              <a:rPr lang="en-AU" dirty="0" smtClean="0"/>
              <a:t>Find the mean, median, mode and range for the data set below</a:t>
            </a:r>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dirty="0" smtClean="0"/>
              <a:t>W I </a:t>
            </a:r>
            <a:r>
              <a:rPr lang="en-AU" u="sng" dirty="0" smtClean="0">
                <a:solidFill>
                  <a:srgbClr val="FFFF00"/>
                </a:solidFill>
              </a:rPr>
              <a:t>C</a:t>
            </a:r>
            <a:r>
              <a:rPr lang="en-AU" dirty="0" smtClean="0">
                <a:solidFill>
                  <a:srgbClr val="FFFF00"/>
                </a:solidFill>
              </a:rPr>
              <a:t> </a:t>
            </a:r>
            <a:r>
              <a:rPr lang="en-AU" dirty="0" smtClean="0"/>
              <a:t>O </a:t>
            </a:r>
            <a:r>
              <a:rPr lang="en-AU" u="sng" dirty="0" smtClean="0">
                <a:solidFill>
                  <a:srgbClr val="FFFF00"/>
                </a:solidFill>
              </a:rPr>
              <a:t>R</a:t>
            </a:r>
            <a:endParaRPr lang="en-AU" u="sng" dirty="0">
              <a:solidFill>
                <a:srgbClr val="FFFF00"/>
              </a:solidFill>
            </a:endParaRPr>
          </a:p>
        </p:txBody>
      </p:sp>
      <p:sp>
        <p:nvSpPr>
          <p:cNvPr id="17" name="TextBox 16"/>
          <p:cNvSpPr txBox="1"/>
          <p:nvPr/>
        </p:nvSpPr>
        <p:spPr>
          <a:xfrm>
            <a:off x="7220826" y="2267002"/>
            <a:ext cx="1140056" cy="2031325"/>
          </a:xfrm>
          <a:prstGeom prst="rect">
            <a:avLst/>
          </a:prstGeom>
          <a:noFill/>
        </p:spPr>
        <p:txBody>
          <a:bodyPr wrap="none" rtlCol="0">
            <a:spAutoFit/>
          </a:bodyPr>
          <a:lstStyle/>
          <a:p>
            <a:r>
              <a:rPr lang="en-AU" dirty="0" smtClean="0"/>
              <a:t>Mode – </a:t>
            </a:r>
          </a:p>
          <a:p>
            <a:endParaRPr lang="en-AU" dirty="0"/>
          </a:p>
          <a:p>
            <a:r>
              <a:rPr lang="en-AU" dirty="0" smtClean="0"/>
              <a:t>Range – </a:t>
            </a:r>
          </a:p>
          <a:p>
            <a:endParaRPr lang="en-AU" dirty="0"/>
          </a:p>
          <a:p>
            <a:r>
              <a:rPr lang="en-AU" dirty="0" smtClean="0"/>
              <a:t>Median – </a:t>
            </a:r>
          </a:p>
          <a:p>
            <a:endParaRPr lang="en-AU" dirty="0"/>
          </a:p>
          <a:p>
            <a:r>
              <a:rPr lang="en-AU" dirty="0" smtClean="0"/>
              <a:t>Mean - </a:t>
            </a:r>
            <a:endParaRPr lang="en-AU" dirty="0"/>
          </a:p>
        </p:txBody>
      </p:sp>
      <p:pic>
        <p:nvPicPr>
          <p:cNvPr id="6" name="Picture 5"/>
          <p:cNvPicPr>
            <a:picLocks noChangeAspect="1"/>
          </p:cNvPicPr>
          <p:nvPr/>
        </p:nvPicPr>
        <p:blipFill>
          <a:blip r:embed="rId2"/>
          <a:stretch>
            <a:fillRect/>
          </a:stretch>
        </p:blipFill>
        <p:spPr>
          <a:xfrm>
            <a:off x="207255" y="2030535"/>
            <a:ext cx="6568014" cy="4769023"/>
          </a:xfrm>
          <a:prstGeom prst="rect">
            <a:avLst/>
          </a:prstGeom>
        </p:spPr>
      </p:pic>
    </p:spTree>
    <p:extLst>
      <p:ext uri="{BB962C8B-B14F-4D97-AF65-F5344CB8AC3E}">
        <p14:creationId xmlns:p14="http://schemas.microsoft.com/office/powerpoint/2010/main" val="731804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43154" y="3008811"/>
            <a:ext cx="65" cy="276999"/>
          </a:xfrm>
          <a:prstGeom prst="rect">
            <a:avLst/>
          </a:prstGeom>
          <a:noFill/>
        </p:spPr>
        <p:txBody>
          <a:bodyPr wrap="none" lIns="0" tIns="0" rIns="0" bIns="0" rtlCol="0">
            <a:spAutoFit/>
          </a:bodyPr>
          <a:lstStyle/>
          <a:p>
            <a:endParaRPr lang="en-AU" dirty="0"/>
          </a:p>
        </p:txBody>
      </p:sp>
      <p:sp>
        <p:nvSpPr>
          <p:cNvPr id="4" name="TextBox 3"/>
          <p:cNvSpPr txBox="1"/>
          <p:nvPr/>
        </p:nvSpPr>
        <p:spPr>
          <a:xfrm>
            <a:off x="866503" y="1123069"/>
            <a:ext cx="9553302" cy="646331"/>
          </a:xfrm>
          <a:prstGeom prst="rect">
            <a:avLst/>
          </a:prstGeom>
          <a:noFill/>
        </p:spPr>
        <p:txBody>
          <a:bodyPr wrap="square" rtlCol="0">
            <a:spAutoFit/>
          </a:bodyPr>
          <a:lstStyle/>
          <a:p>
            <a:r>
              <a:rPr lang="en-AU" dirty="0" smtClean="0"/>
              <a:t>You</a:t>
            </a:r>
            <a:r>
              <a:rPr lang="en-AU" dirty="0" smtClean="0"/>
              <a:t> do - </a:t>
            </a:r>
            <a:endParaRPr lang="en-AU" dirty="0"/>
          </a:p>
          <a:p>
            <a:r>
              <a:rPr lang="en-AU" dirty="0" smtClean="0"/>
              <a:t>Find the mean, median, mode and range for the data set below</a:t>
            </a:r>
            <a:endParaRPr lang="en-AU" dirty="0" smtClean="0"/>
          </a:p>
        </p:txBody>
      </p:sp>
      <p:sp>
        <p:nvSpPr>
          <p:cNvPr id="16" name="Title 1"/>
          <p:cNvSpPr>
            <a:spLocks noGrp="1"/>
          </p:cNvSpPr>
          <p:nvPr>
            <p:ph type="title"/>
          </p:nvPr>
        </p:nvSpPr>
        <p:spPr>
          <a:xfrm>
            <a:off x="165463" y="970669"/>
            <a:ext cx="9628632" cy="1362113"/>
          </a:xfrm>
        </p:spPr>
        <p:txBody>
          <a:bodyPr>
            <a:noAutofit/>
          </a:bodyPr>
          <a:lstStyle/>
          <a:p>
            <a:r>
              <a:rPr lang="en-US" sz="2800" dirty="0"/>
              <a:t/>
            </a:r>
            <a:br>
              <a:rPr lang="en-US" sz="2800" dirty="0"/>
            </a:br>
            <a:r>
              <a:rPr lang="en-US" sz="2800" dirty="0"/>
              <a:t/>
            </a:r>
            <a:br>
              <a:rPr lang="en-US" sz="2800" dirty="0"/>
            </a:br>
            <a:endParaRPr lang="en-AU" sz="2800" dirty="0"/>
          </a:p>
        </p:txBody>
      </p:sp>
      <p:sp>
        <p:nvSpPr>
          <p:cNvPr id="5" name="TextBox 4"/>
          <p:cNvSpPr txBox="1"/>
          <p:nvPr/>
        </p:nvSpPr>
        <p:spPr>
          <a:xfrm>
            <a:off x="5659966" y="3005666"/>
            <a:ext cx="65" cy="276999"/>
          </a:xfrm>
          <a:prstGeom prst="rect">
            <a:avLst/>
          </a:prstGeom>
          <a:noFill/>
        </p:spPr>
        <p:txBody>
          <a:bodyPr wrap="none" lIns="0" tIns="0" rIns="0" bIns="0" rtlCol="0">
            <a:spAutoFit/>
          </a:bodyPr>
          <a:lstStyle/>
          <a:p>
            <a:endParaRPr lang="en-AU" dirty="0"/>
          </a:p>
        </p:txBody>
      </p:sp>
      <p:sp>
        <p:nvSpPr>
          <p:cNvPr id="9" name="Title 1"/>
          <p:cNvSpPr txBox="1">
            <a:spLocks/>
          </p:cNvSpPr>
          <p:nvPr/>
        </p:nvSpPr>
        <p:spPr>
          <a:xfrm>
            <a:off x="317863" y="1123069"/>
            <a:ext cx="9628632" cy="1362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en-US" sz="2800" dirty="0" smtClean="0"/>
              <a:t/>
            </a:r>
            <a:br>
              <a:rPr lang="en-US" sz="2800" dirty="0" smtClean="0"/>
            </a:br>
            <a:r>
              <a:rPr lang="en-US" sz="2800" dirty="0" smtClean="0"/>
              <a:t/>
            </a:r>
            <a:br>
              <a:rPr lang="en-US" sz="2800" dirty="0" smtClean="0"/>
            </a:br>
            <a:endParaRPr lang="en-AU" sz="2800" dirty="0"/>
          </a:p>
        </p:txBody>
      </p:sp>
      <p:sp>
        <p:nvSpPr>
          <p:cNvPr id="13" name="TextBox 12"/>
          <p:cNvSpPr txBox="1"/>
          <p:nvPr/>
        </p:nvSpPr>
        <p:spPr>
          <a:xfrm>
            <a:off x="10971040" y="130629"/>
            <a:ext cx="1149674" cy="369332"/>
          </a:xfrm>
          <a:prstGeom prst="rect">
            <a:avLst/>
          </a:prstGeom>
          <a:noFill/>
        </p:spPr>
        <p:txBody>
          <a:bodyPr wrap="none" rtlCol="0">
            <a:spAutoFit/>
          </a:bodyPr>
          <a:lstStyle/>
          <a:p>
            <a:r>
              <a:rPr lang="en-AU" dirty="0" smtClean="0"/>
              <a:t>W I </a:t>
            </a:r>
            <a:r>
              <a:rPr lang="en-AU" u="sng" dirty="0" smtClean="0">
                <a:solidFill>
                  <a:srgbClr val="FFFF00"/>
                </a:solidFill>
              </a:rPr>
              <a:t>C</a:t>
            </a:r>
            <a:r>
              <a:rPr lang="en-AU" dirty="0" smtClean="0">
                <a:solidFill>
                  <a:srgbClr val="FFFF00"/>
                </a:solidFill>
              </a:rPr>
              <a:t> </a:t>
            </a:r>
            <a:r>
              <a:rPr lang="en-AU" dirty="0" smtClean="0"/>
              <a:t>O </a:t>
            </a:r>
            <a:r>
              <a:rPr lang="en-AU" u="sng" dirty="0" smtClean="0">
                <a:solidFill>
                  <a:srgbClr val="FFFF00"/>
                </a:solidFill>
              </a:rPr>
              <a:t>R</a:t>
            </a:r>
            <a:endParaRPr lang="en-AU" u="sng" dirty="0">
              <a:solidFill>
                <a:srgbClr val="FFFF00"/>
              </a:solidFill>
            </a:endParaRPr>
          </a:p>
        </p:txBody>
      </p:sp>
      <p:sp>
        <p:nvSpPr>
          <p:cNvPr id="17" name="TextBox 16"/>
          <p:cNvSpPr txBox="1"/>
          <p:nvPr/>
        </p:nvSpPr>
        <p:spPr>
          <a:xfrm>
            <a:off x="6792016" y="2072481"/>
            <a:ext cx="4442242" cy="2031325"/>
          </a:xfrm>
          <a:prstGeom prst="rect">
            <a:avLst/>
          </a:prstGeom>
          <a:noFill/>
        </p:spPr>
        <p:txBody>
          <a:bodyPr wrap="none" rtlCol="0">
            <a:spAutoFit/>
          </a:bodyPr>
          <a:lstStyle/>
          <a:p>
            <a:r>
              <a:rPr lang="en-AU" dirty="0" smtClean="0"/>
              <a:t>Mode – a) 2, b) 2, c) 20, d) 2, e) 14, f) 20</a:t>
            </a:r>
          </a:p>
          <a:p>
            <a:endParaRPr lang="en-AU" dirty="0"/>
          </a:p>
          <a:p>
            <a:r>
              <a:rPr lang="en-AU" dirty="0" smtClean="0"/>
              <a:t>Range – a) 3, b) 3, c) 30, d) 4, e)4, f) 40</a:t>
            </a:r>
          </a:p>
          <a:p>
            <a:endParaRPr lang="en-AU" dirty="0"/>
          </a:p>
          <a:p>
            <a:r>
              <a:rPr lang="en-AU" dirty="0" smtClean="0"/>
              <a:t>Median – </a:t>
            </a:r>
          </a:p>
          <a:p>
            <a:endParaRPr lang="en-AU" dirty="0"/>
          </a:p>
          <a:p>
            <a:r>
              <a:rPr lang="en-AU" dirty="0" smtClean="0"/>
              <a:t>Mean - </a:t>
            </a:r>
            <a:endParaRPr lang="en-AU" dirty="0"/>
          </a:p>
        </p:txBody>
      </p:sp>
      <p:pic>
        <p:nvPicPr>
          <p:cNvPr id="6" name="Picture 5"/>
          <p:cNvPicPr>
            <a:picLocks noChangeAspect="1"/>
          </p:cNvPicPr>
          <p:nvPr/>
        </p:nvPicPr>
        <p:blipFill>
          <a:blip r:embed="rId2"/>
          <a:stretch>
            <a:fillRect/>
          </a:stretch>
        </p:blipFill>
        <p:spPr>
          <a:xfrm>
            <a:off x="207255" y="2030535"/>
            <a:ext cx="6568014" cy="4769023"/>
          </a:xfrm>
          <a:prstGeom prst="rect">
            <a:avLst/>
          </a:prstGeom>
        </p:spPr>
      </p:pic>
      <p:pic>
        <p:nvPicPr>
          <p:cNvPr id="7" name="Picture 6"/>
          <p:cNvPicPr>
            <a:picLocks noChangeAspect="1"/>
          </p:cNvPicPr>
          <p:nvPr/>
        </p:nvPicPr>
        <p:blipFill rotWithShape="1">
          <a:blip r:embed="rId3"/>
          <a:srcRect l="3828" b="26954"/>
          <a:stretch/>
        </p:blipFill>
        <p:spPr>
          <a:xfrm>
            <a:off x="7627458" y="3817714"/>
            <a:ext cx="4638074" cy="572184"/>
          </a:xfrm>
          <a:prstGeom prst="rect">
            <a:avLst/>
          </a:prstGeom>
        </p:spPr>
      </p:pic>
      <p:pic>
        <p:nvPicPr>
          <p:cNvPr id="14" name="Picture 13"/>
          <p:cNvPicPr>
            <a:picLocks noChangeAspect="1"/>
          </p:cNvPicPr>
          <p:nvPr/>
        </p:nvPicPr>
        <p:blipFill rotWithShape="1">
          <a:blip r:embed="rId3"/>
          <a:srcRect l="3828" t="65877"/>
          <a:stretch/>
        </p:blipFill>
        <p:spPr>
          <a:xfrm>
            <a:off x="7779765" y="3264332"/>
            <a:ext cx="4638074" cy="267290"/>
          </a:xfrm>
          <a:prstGeom prst="rect">
            <a:avLst/>
          </a:prstGeom>
        </p:spPr>
      </p:pic>
    </p:spTree>
    <p:extLst>
      <p:ext uri="{BB962C8B-B14F-4D97-AF65-F5344CB8AC3E}">
        <p14:creationId xmlns:p14="http://schemas.microsoft.com/office/powerpoint/2010/main" val="1661299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Plenary </a:t>
            </a:r>
            <a:r>
              <a:rPr lang="en-AU" dirty="0" smtClean="0"/>
              <a:t> </a:t>
            </a:r>
            <a:endParaRPr lang="en-AU" dirty="0"/>
          </a:p>
        </p:txBody>
      </p:sp>
      <p:sp>
        <p:nvSpPr>
          <p:cNvPr id="6" name="Content Placeholder 5"/>
          <p:cNvSpPr>
            <a:spLocks noGrp="1"/>
          </p:cNvSpPr>
          <p:nvPr>
            <p:ph idx="1"/>
          </p:nvPr>
        </p:nvSpPr>
        <p:spPr>
          <a:xfrm>
            <a:off x="523566" y="2249787"/>
            <a:ext cx="9613861" cy="3599316"/>
          </a:xfrm>
        </p:spPr>
        <p:txBody>
          <a:bodyPr/>
          <a:lstStyle/>
          <a:p>
            <a:pPr marL="0" indent="0">
              <a:buNone/>
            </a:pPr>
            <a:r>
              <a:rPr lang="en-AU" dirty="0" smtClean="0"/>
              <a:t>In pairs – Decide who will be person A and who will be person B. </a:t>
            </a:r>
          </a:p>
          <a:p>
            <a:pPr marL="0" indent="0">
              <a:buNone/>
            </a:pPr>
            <a:r>
              <a:rPr lang="en-AU" dirty="0" smtClean="0"/>
              <a:t>Person A – describe to person B how to calculate the median from a frequency table</a:t>
            </a:r>
          </a:p>
          <a:p>
            <a:pPr marL="0" indent="0">
              <a:buNone/>
            </a:pPr>
            <a:r>
              <a:rPr lang="en-AU" dirty="0" smtClean="0"/>
              <a:t>Person B – describe to person A how to calculate the mean from a frequency table  </a:t>
            </a:r>
            <a:endParaRPr lang="en-AU" dirty="0" smtClean="0"/>
          </a:p>
          <a:p>
            <a:pPr marL="0" indent="0">
              <a:buNone/>
            </a:pPr>
            <a:endParaRPr lang="en-AU" dirty="0"/>
          </a:p>
        </p:txBody>
      </p:sp>
      <p:sp>
        <p:nvSpPr>
          <p:cNvPr id="7" name="TextBox 6"/>
          <p:cNvSpPr txBox="1"/>
          <p:nvPr/>
        </p:nvSpPr>
        <p:spPr>
          <a:xfrm>
            <a:off x="10294182" y="87087"/>
            <a:ext cx="1149674" cy="369332"/>
          </a:xfrm>
          <a:prstGeom prst="rect">
            <a:avLst/>
          </a:prstGeom>
          <a:noFill/>
        </p:spPr>
        <p:txBody>
          <a:bodyPr wrap="none" rtlCol="0">
            <a:spAutoFit/>
          </a:bodyPr>
          <a:lstStyle/>
          <a:p>
            <a:r>
              <a:rPr lang="en-AU" dirty="0" smtClean="0"/>
              <a:t>W I </a:t>
            </a:r>
            <a:r>
              <a:rPr lang="en-AU" u="sng" dirty="0" smtClean="0">
                <a:solidFill>
                  <a:srgbClr val="FFFF00"/>
                </a:solidFill>
              </a:rPr>
              <a:t>C</a:t>
            </a:r>
            <a:r>
              <a:rPr lang="en-AU" dirty="0" smtClean="0"/>
              <a:t> O R</a:t>
            </a:r>
            <a:endParaRPr lang="en-AU" dirty="0"/>
          </a:p>
        </p:txBody>
      </p:sp>
    </p:spTree>
    <p:extLst>
      <p:ext uri="{BB962C8B-B14F-4D97-AF65-F5344CB8AC3E}">
        <p14:creationId xmlns:p14="http://schemas.microsoft.com/office/powerpoint/2010/main" val="88117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Berlin">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1560</TotalTime>
  <Words>1124</Words>
  <Application>Microsoft Office PowerPoint</Application>
  <PresentationFormat>Widescreen</PresentationFormat>
  <Paragraphs>334</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 Math</vt:lpstr>
      <vt:lpstr>Trebuchet MS</vt:lpstr>
      <vt:lpstr>Berlin</vt:lpstr>
      <vt:lpstr>Measures of Centre and Spread 2</vt:lpstr>
      <vt:lpstr>Learning Objectives </vt:lpstr>
      <vt:lpstr>Measures of Centre and Spread 2 EQ –  Describe how to calculate measures of centre and spread for data given in a frequency table?   </vt:lpstr>
      <vt:lpstr>  </vt:lpstr>
      <vt:lpstr>  </vt:lpstr>
      <vt:lpstr>  </vt:lpstr>
      <vt:lpstr>  </vt:lpstr>
      <vt:lpstr>  </vt:lpstr>
      <vt:lpstr>  </vt:lpstr>
      <vt:lpstr>  </vt:lpstr>
      <vt:lpstr>  </vt:lpstr>
      <vt:lpstr>  </vt:lpstr>
      <vt:lpstr>  </vt:lpstr>
      <vt:lpstr>  </vt:lpstr>
      <vt:lpstr>Plenary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Revision of Area</dc:title>
  <dc:creator>RUST Joanne [Baldivis Secondary College]</dc:creator>
  <cp:lastModifiedBy>RUST Joanne [Baldivis Secondary College]</cp:lastModifiedBy>
  <cp:revision>68</cp:revision>
  <dcterms:created xsi:type="dcterms:W3CDTF">2019-03-18T23:45:29Z</dcterms:created>
  <dcterms:modified xsi:type="dcterms:W3CDTF">2019-07-28T12:10:09Z</dcterms:modified>
</cp:coreProperties>
</file>
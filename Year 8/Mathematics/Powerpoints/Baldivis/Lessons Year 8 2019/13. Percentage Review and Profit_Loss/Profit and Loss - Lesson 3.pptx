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333" r:id="rId2"/>
    <p:sldId id="336" r:id="rId3"/>
    <p:sldId id="261" r:id="rId4"/>
    <p:sldId id="268" r:id="rId5"/>
    <p:sldId id="359" r:id="rId6"/>
    <p:sldId id="354" r:id="rId7"/>
    <p:sldId id="269" r:id="rId8"/>
    <p:sldId id="361" r:id="rId9"/>
    <p:sldId id="270" r:id="rId10"/>
    <p:sldId id="356" r:id="rId11"/>
    <p:sldId id="357" r:id="rId12"/>
    <p:sldId id="35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 Farmer" initials="K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5" autoAdjust="0"/>
    <p:restoredTop sz="77305" autoAdjust="0"/>
  </p:normalViewPr>
  <p:slideViewPr>
    <p:cSldViewPr snapToGrid="0">
      <p:cViewPr varScale="1">
        <p:scale>
          <a:sx n="71" d="100"/>
          <a:sy n="71" d="100"/>
        </p:scale>
        <p:origin x="525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0-24T14:48:27.849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5ABD8-EC77-44F8-BEDA-660C73D9D12C}" type="datetimeFigureOut">
              <a:rPr lang="en-GB" smtClean="0"/>
              <a:t>01/12/2019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7641B-4354-4494-8FA7-2FB990474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05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0624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797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 price (CP): the total cost of making or buying the goods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Selling price (SP): cost price + mark up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 up: amount added to cost price in order to make a profit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Discount: decrease in the selling price to attract more buyers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Sale price = selling price – discount amount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GST: Goods and Services Tax of 10% added to selling price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Profit: difference between SP and CP, where SP &gt; CP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Loss: difference between SP and CP where SP &lt; CP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25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343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108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1332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E89FA-FDB5-4ABC-BD36-5672F92183D5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5604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89686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3036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  <p:sldLayoutId id="2147483663" r:id="rId13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-only-math.com/images/worksheet-on-profit-and-loss.jp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Topic: Financial </a:t>
            </a:r>
            <a:r>
              <a:rPr lang="en-US" sz="4400" dirty="0" err="1"/>
              <a:t>Maths</a:t>
            </a:r>
            <a:br>
              <a:rPr lang="en-US" sz="4400" dirty="0"/>
            </a:br>
            <a:r>
              <a:rPr lang="en-US" sz="4000" dirty="0"/>
              <a:t>EQ: </a:t>
            </a:r>
            <a:r>
              <a:rPr lang="en-AU" sz="4400" dirty="0"/>
              <a:t>How Do I Calculate Profit and Loss? 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Year 8 Mathematics</a:t>
            </a:r>
          </a:p>
          <a:p>
            <a:r>
              <a:rPr lang="en-US" dirty="0" err="1"/>
              <a:t>Mrs</a:t>
            </a:r>
            <a:r>
              <a:rPr lang="en-US" dirty="0"/>
              <a:t> </a:t>
            </a:r>
            <a:r>
              <a:rPr lang="en-US" dirty="0" err="1"/>
              <a:t>Parlevliet</a:t>
            </a:r>
            <a:endParaRPr lang="en-US" dirty="0"/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67A5E22C-4E60-4AFC-ABDA-07485F0C687F}"/>
              </a:ext>
            </a:extLst>
          </p:cNvPr>
          <p:cNvSpPr/>
          <p:nvPr/>
        </p:nvSpPr>
        <p:spPr>
          <a:xfrm>
            <a:off x="9228333" y="73975"/>
            <a:ext cx="2899954" cy="2184432"/>
          </a:xfrm>
          <a:prstGeom prst="cloud">
            <a:avLst/>
          </a:prstGeom>
          <a:solidFill>
            <a:schemeClr val="accent1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>
                <a:latin typeface="Harrington" panose="04040505050A02020702" pitchFamily="82" charset="0"/>
              </a:rPr>
              <a:t>Rule up 3 column notes!</a:t>
            </a:r>
          </a:p>
        </p:txBody>
      </p:sp>
    </p:spTree>
    <p:extLst>
      <p:ext uri="{BB962C8B-B14F-4D97-AF65-F5344CB8AC3E}">
        <p14:creationId xmlns:p14="http://schemas.microsoft.com/office/powerpoint/2010/main" val="183806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06928"/>
            <a:ext cx="9720072" cy="1499616"/>
          </a:xfrm>
        </p:spPr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6639" y="1906544"/>
                <a:ext cx="9720073" cy="4023360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/>
                  </a:rPr>
                  <a:t>Hayley earns $850 per week as an musician. She receives a pay increase of $45 per week. Find out by how much Hayley’s pay increased by as a percentage.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/>
                  </a:rPr>
                  <a:t>What is the weight of 57% of 2000 tonnes of lithium?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/>
                  </a:rPr>
                  <a:t>Solve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AU" sz="2400" dirty="0">
                    <a:latin typeface="Calibri" panose="020F0502020204030204"/>
                  </a:rPr>
                  <a:t>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+6=18</m:t>
                    </m:r>
                  </m:oMath>
                </a14:m>
                <a:r>
                  <a:rPr lang="en-US" sz="2400" dirty="0">
                    <a:latin typeface="Calibri" panose="020F0502020204030204"/>
                  </a:rPr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latin typeface="Calibri" panose="020F0502020204030204"/>
                  </a:rPr>
                  <a:t>What is a profit?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latin typeface="Calibri" panose="020F0502020204030204"/>
                  </a:rPr>
                  <a:t> What percentage of the eggs from all 3 turtles hatched?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6639" y="1906544"/>
                <a:ext cx="9720073" cy="4023360"/>
              </a:xfrm>
              <a:blipFill>
                <a:blip r:embed="rId2"/>
                <a:stretch>
                  <a:fillRect l="-1442" t="-2273" r="-9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460326" y="647204"/>
            <a:ext cx="3278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Topic: Financial </a:t>
            </a:r>
            <a:r>
              <a:rPr lang="en-US" sz="2800" dirty="0" err="1">
                <a:solidFill>
                  <a:schemeClr val="tx2"/>
                </a:solidFill>
              </a:rPr>
              <a:t>Maths</a:t>
            </a:r>
            <a:endParaRPr lang="en-AU" sz="28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8675" y="1064616"/>
            <a:ext cx="6684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EQ – </a:t>
            </a:r>
            <a:r>
              <a:rPr lang="en-US" sz="2400" dirty="0">
                <a:solidFill>
                  <a:schemeClr val="tx2"/>
                </a:solidFill>
              </a:rPr>
              <a:t>How do I calculate a profit and loss?</a:t>
            </a:r>
            <a:endParaRPr lang="en-AU" sz="24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A9926-E018-4164-9A1E-4354E18B3E2A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B9DC04-2373-4018-A681-C9825AC9E9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73" t="28640" r="20734" b="23590"/>
          <a:stretch/>
        </p:blipFill>
        <p:spPr>
          <a:xfrm>
            <a:off x="1237130" y="5004824"/>
            <a:ext cx="6692907" cy="18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81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Topic: Financial Maths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profit and loss?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8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5CFEA76-B228-495D-8CAE-93FAEE2D4C95}"/>
              </a:ext>
            </a:extLst>
          </p:cNvPr>
          <p:cNvSpPr txBox="1"/>
          <p:nvPr/>
        </p:nvSpPr>
        <p:spPr>
          <a:xfrm>
            <a:off x="4411404" y="2721114"/>
            <a:ext cx="33691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Financial Math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C6E090E0-6400-4B62-A231-48234700219A}"/>
              </a:ext>
            </a:extLst>
          </p:cNvPr>
          <p:cNvSpPr/>
          <p:nvPr/>
        </p:nvSpPr>
        <p:spPr>
          <a:xfrm>
            <a:off x="4061011" y="2306171"/>
            <a:ext cx="4069977" cy="1855694"/>
          </a:xfrm>
          <a:prstGeom prst="cloud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09DF66-2B21-40AD-921F-8C4B4F413210}"/>
              </a:ext>
            </a:extLst>
          </p:cNvPr>
          <p:cNvSpPr txBox="1"/>
          <p:nvPr/>
        </p:nvSpPr>
        <p:spPr>
          <a:xfrm>
            <a:off x="120894" y="166780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Cost Price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21FBD9-C120-4944-BBF4-12680DD4011C}"/>
              </a:ext>
            </a:extLst>
          </p:cNvPr>
          <p:cNvSpPr txBox="1"/>
          <p:nvPr/>
        </p:nvSpPr>
        <p:spPr>
          <a:xfrm>
            <a:off x="9513989" y="166780"/>
            <a:ext cx="2557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Selling Price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A9DE1-3674-4AE4-9CCE-2263F5BABF43}"/>
              </a:ext>
            </a:extLst>
          </p:cNvPr>
          <p:cNvSpPr txBox="1"/>
          <p:nvPr/>
        </p:nvSpPr>
        <p:spPr>
          <a:xfrm>
            <a:off x="10009507" y="6092733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Mark Up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09F5BC-D570-4F0C-B0D1-AA96A7AFAAA6}"/>
              </a:ext>
            </a:extLst>
          </p:cNvPr>
          <p:cNvSpPr txBox="1"/>
          <p:nvPr/>
        </p:nvSpPr>
        <p:spPr>
          <a:xfrm>
            <a:off x="5024907" y="6092733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Discount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8E08D1-1D8E-4819-AAE3-7912469B6881}"/>
              </a:ext>
            </a:extLst>
          </p:cNvPr>
          <p:cNvSpPr txBox="1"/>
          <p:nvPr/>
        </p:nvSpPr>
        <p:spPr>
          <a:xfrm>
            <a:off x="4817441" y="166780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Sale Price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559CE1-391F-48A6-AAE6-35DC8CD1EFFF}"/>
              </a:ext>
            </a:extLst>
          </p:cNvPr>
          <p:cNvSpPr txBox="1"/>
          <p:nvPr/>
        </p:nvSpPr>
        <p:spPr>
          <a:xfrm>
            <a:off x="120894" y="2728445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GST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1CCA85-1009-4D66-BD7A-DAECA0F5E6BF}"/>
              </a:ext>
            </a:extLst>
          </p:cNvPr>
          <p:cNvSpPr txBox="1"/>
          <p:nvPr/>
        </p:nvSpPr>
        <p:spPr>
          <a:xfrm>
            <a:off x="10054112" y="2710798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Profit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7E76A2-23AE-430F-BA2F-FD4CBA482893}"/>
              </a:ext>
            </a:extLst>
          </p:cNvPr>
          <p:cNvSpPr txBox="1"/>
          <p:nvPr/>
        </p:nvSpPr>
        <p:spPr>
          <a:xfrm>
            <a:off x="40307" y="6092733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Loss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38ED750-3BBE-45FD-BC38-8661644E801E}"/>
              </a:ext>
            </a:extLst>
          </p:cNvPr>
          <p:cNvCxnSpPr>
            <a:stCxn id="14" idx="3"/>
          </p:cNvCxnSpPr>
          <p:nvPr/>
        </p:nvCxnSpPr>
        <p:spPr>
          <a:xfrm>
            <a:off x="2137888" y="428390"/>
            <a:ext cx="2273516" cy="2113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FEA541-A9B7-4922-9433-95D9704491C7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4817441" y="428390"/>
            <a:ext cx="1" cy="20324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D05A04-A835-4A64-9482-855110510CB8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7780596" y="428390"/>
            <a:ext cx="1733393" cy="20324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3DE7DC2-4373-4BE4-8FDD-83D324F4EF4B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8184423" y="2972408"/>
            <a:ext cx="18696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D8B165-872A-42B4-925C-8CDEF83DFE57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7483288" y="3940596"/>
            <a:ext cx="2526219" cy="24137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FB9AF8-9C98-448A-A904-48935691F0A8}"/>
              </a:ext>
            </a:extLst>
          </p:cNvPr>
          <p:cNvCxnSpPr>
            <a:cxnSpLocks/>
          </p:cNvCxnSpPr>
          <p:nvPr/>
        </p:nvCxnSpPr>
        <p:spPr>
          <a:xfrm flipV="1">
            <a:off x="5032909" y="4161865"/>
            <a:ext cx="192552" cy="21924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EDA0B8E-08C4-42F1-8AF8-AA7FB966ABAE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137888" y="2990055"/>
            <a:ext cx="1750298" cy="1809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16606C5-D0D0-47C2-BA93-43A88179FED5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057301" y="4054288"/>
            <a:ext cx="2354103" cy="23000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81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Topic: Financial Maths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profit and loss?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7B9DD-16F8-4A5F-95B2-54FABF2114AF}"/>
              </a:ext>
            </a:extLst>
          </p:cNvPr>
          <p:cNvSpPr txBox="1"/>
          <p:nvPr/>
        </p:nvSpPr>
        <p:spPr>
          <a:xfrm>
            <a:off x="92281" y="1374798"/>
            <a:ext cx="2197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the profit and loss formulas?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AC42BC-43C5-4553-AFC2-66709EEEF11E}"/>
                  </a:ext>
                </a:extLst>
              </p:cNvPr>
              <p:cNvSpPr txBox="1"/>
              <p:nvPr/>
            </p:nvSpPr>
            <p:spPr>
              <a:xfrm>
                <a:off x="2613109" y="2429674"/>
                <a:ext cx="9163680" cy="794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𝑷𝒓𝒐𝒇𝒊𝒕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𝒂𝒔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𝒑𝒆𝒓𝒄𝒆𝒏𝒕𝒂𝒈𝒆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𝑷𝒓𝒐𝒇𝒊𝒕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𝒂𝒔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𝒅𝒐𝒍𝒍𝒂𝒓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𝒂𝒎𝒐𝒖𝒏𝒕</m:t>
                          </m:r>
                        </m:num>
                        <m:den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400" b="1" dirty="0">
                  <a:solidFill>
                    <a:schemeClr val="tx1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AC42BC-43C5-4553-AFC2-66709EEEF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109" y="2429674"/>
                <a:ext cx="9163680" cy="7945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3EF8ED-8180-4034-A54B-658F0397C07B}"/>
                  </a:ext>
                </a:extLst>
              </p:cNvPr>
              <p:cNvSpPr txBox="1"/>
              <p:nvPr/>
            </p:nvSpPr>
            <p:spPr>
              <a:xfrm>
                <a:off x="3674840" y="5316558"/>
                <a:ext cx="6804208" cy="910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𝑳𝒐𝒔𝒔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𝒅𝒐𝒍𝒍𝒂𝒓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𝒂𝒎𝒐𝒖𝒏𝒕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rgbClr val="FF000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3EF8ED-8180-4034-A54B-658F0397C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840" y="5316558"/>
                <a:ext cx="6804208" cy="910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8121EB-7B7A-4257-8A6C-2C7DB9E8F8AB}"/>
                  </a:ext>
                </a:extLst>
              </p:cNvPr>
              <p:cNvSpPr txBox="1"/>
              <p:nvPr/>
            </p:nvSpPr>
            <p:spPr>
              <a:xfrm>
                <a:off x="2708200" y="1541442"/>
                <a:ext cx="93201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𝑷𝒓𝒐𝒇𝒊𝒕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𝒂𝒔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𝒅𝒐𝒍𝒍𝒂𝒓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𝒂𝒎𝒐𝒖𝒏𝒕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𝑺𝒂𝒍𝒆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𝑷𝒓𝒊𝒄𝒆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𝑷𝒓𝒊𝒄𝒆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b="1" dirty="0">
                  <a:solidFill>
                    <a:schemeClr val="tx1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8121EB-7B7A-4257-8A6C-2C7DB9E8F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200" y="1541442"/>
                <a:ext cx="932019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7E78E4-0697-4922-86E9-DB6FC6B6B703}"/>
                  </a:ext>
                </a:extLst>
              </p:cNvPr>
              <p:cNvSpPr txBox="1"/>
              <p:nvPr/>
            </p:nvSpPr>
            <p:spPr>
              <a:xfrm>
                <a:off x="3484336" y="4307992"/>
                <a:ext cx="69947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𝑷𝒓𝒊𝒄𝒆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𝑺𝒂𝒍𝒆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𝑷𝒓𝒊𝒄𝒆</m:t>
                      </m:r>
                    </m:oMath>
                  </m:oMathPara>
                </a14:m>
                <a:endParaRPr lang="en-AU" sz="2800" b="1" dirty="0">
                  <a:solidFill>
                    <a:srgbClr val="FF000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7E78E4-0697-4922-86E9-DB6FC6B6B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336" y="4307992"/>
                <a:ext cx="699471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94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33" y="512066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/>
                </a:solidFill>
                <a:latin typeface="Fragment Core" panose="02000504040000020003" pitchFamily="50" charset="0"/>
              </a:rPr>
              <a:t>Loss Calculation</a:t>
            </a:r>
            <a:endParaRPr lang="en-US" sz="5400" b="1" dirty="0">
              <a:solidFill>
                <a:schemeClr val="accent2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FD4C91-A24D-44A9-8CAE-C020039D0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12" y="1827148"/>
            <a:ext cx="11385176" cy="15797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A23DC2-DA69-46EC-B0D9-CDD84728A3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6186"/>
          <a:stretch/>
        </p:blipFill>
        <p:spPr>
          <a:xfrm>
            <a:off x="6777984" y="2304771"/>
            <a:ext cx="4171950" cy="505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A4F38E-5BDC-43C3-B425-FF5309F39296}"/>
                  </a:ext>
                </a:extLst>
              </p:cNvPr>
              <p:cNvSpPr txBox="1"/>
              <p:nvPr/>
            </p:nvSpPr>
            <p:spPr>
              <a:xfrm>
                <a:off x="7348818" y="3429000"/>
                <a:ext cx="4757829" cy="924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𝑳𝒐𝒔𝒔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$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rgbClr val="00B05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A4F38E-5BDC-43C3-B425-FF5309F39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818" y="3429000"/>
                <a:ext cx="4757829" cy="9249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689" y="435741"/>
            <a:ext cx="11007381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/>
                </a:solidFill>
                <a:latin typeface="Fragment Core" panose="02000504040000020003" pitchFamily="50" charset="0"/>
              </a:rPr>
              <a:t>Profit calculation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3FBEF0-7CBB-4748-A879-01209862A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70" y="1728769"/>
            <a:ext cx="11371729" cy="1915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BA4B98-DBA5-4CF5-95C2-7A526ABA20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4903"/>
          <a:stretch/>
        </p:blipFill>
        <p:spPr>
          <a:xfrm>
            <a:off x="7257209" y="2205176"/>
            <a:ext cx="3648075" cy="5114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449473-D07C-4E48-8753-379F4E5CCFE6}"/>
                  </a:ext>
                </a:extLst>
              </p:cNvPr>
              <p:cNvSpPr txBox="1"/>
              <p:nvPr/>
            </p:nvSpPr>
            <p:spPr>
              <a:xfrm>
                <a:off x="6506134" y="3612326"/>
                <a:ext cx="5791200" cy="927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𝑷𝒓𝒐𝒇𝒊𝒕</m:t>
                      </m:r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𝒑𝒓𝒐𝒇𝒊𝒕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$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rgbClr val="7030A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449473-D07C-4E48-8753-379F4E5CC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134" y="3612326"/>
                <a:ext cx="5791200" cy="9277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34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24A910-9E7C-4B52-94E6-C24DA96D3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0" y="804333"/>
            <a:ext cx="9951337" cy="52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72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13A21-57AA-4317-8DFF-9CFEA31A7C4B}"/>
              </a:ext>
            </a:extLst>
          </p:cNvPr>
          <p:cNvSpPr txBox="1">
            <a:spLocks/>
          </p:cNvSpPr>
          <p:nvPr/>
        </p:nvSpPr>
        <p:spPr>
          <a:xfrm>
            <a:off x="3147574" y="416859"/>
            <a:ext cx="8608358" cy="79337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Worksheet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 descr="Worksheet on Profit and Loss">
            <a:hlinkClick r:id="rId3" tooltip="&quot;Worksheet on Profit and Loss&quot;"/>
            <a:extLst>
              <a:ext uri="{FF2B5EF4-FFF2-40B4-BE49-F238E27FC236}">
                <a16:creationId xmlns:a16="http://schemas.microsoft.com/office/drawing/2014/main" id="{288524DE-0600-41C9-8052-A31088110634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5419"/>
          <a:stretch/>
        </p:blipFill>
        <p:spPr bwMode="auto">
          <a:xfrm>
            <a:off x="309282" y="0"/>
            <a:ext cx="7664824" cy="6858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89037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37B03E-A60D-4A33-A6B7-9DB75E39F18D}"/>
              </a:ext>
            </a:extLst>
          </p:cNvPr>
          <p:cNvSpPr/>
          <p:nvPr/>
        </p:nvSpPr>
        <p:spPr>
          <a:xfrm>
            <a:off x="701488" y="368076"/>
            <a:ext cx="1092349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A TV was bought for $ 18,950 and sold at a loss of $ 4780. Find the selling price.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A second-hand car was sold for $ 190,000, at a loss of $ 85. Find the CP of the car.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/>
              <a:t>Monica sold her genset for $ 20000 at a profit of $ 1737. Find the CP of genset.</a:t>
            </a:r>
          </a:p>
          <a:p>
            <a:pPr lvl="0">
              <a:spcAft>
                <a:spcPts val="0"/>
              </a:spcAft>
            </a:pPr>
            <a:endParaRPr lang="en-AU" sz="2400" b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178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7832C6-36C9-436D-905C-1FA42B65213C}"/>
              </a:ext>
            </a:extLst>
          </p:cNvPr>
          <p:cNvSpPr/>
          <p:nvPr/>
        </p:nvSpPr>
        <p:spPr>
          <a:xfrm>
            <a:off x="540123" y="411139"/>
            <a:ext cx="1113864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Sam bought a music system for $ 6375.00 and spent $ 75.00 on its transportation He sold it for $ 6400.00. Find his profit or loss percent.</a:t>
            </a:r>
            <a:b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</a:br>
            <a:endParaRPr lang="en-AU" sz="2400" b="1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Nick bought pens at $ 120 a dozen. He sold it for $15 each. What is his profit percent?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Radhi bought a study table for $ 9000. She sold it at a profit of 20%. How much profit did she make? What is the selling price?</a:t>
            </a:r>
            <a:endParaRPr lang="en-AU" sz="2400" b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80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70687B-DD66-458B-AF84-89B480996E23}"/>
              </a:ext>
            </a:extLst>
          </p:cNvPr>
          <p:cNvSpPr/>
          <p:nvPr/>
        </p:nvSpPr>
        <p:spPr>
          <a:xfrm>
            <a:off x="513230" y="364148"/>
            <a:ext cx="11205882" cy="555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Find the selling price if the cost price is $ 1200 and loss percent is 25.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AU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>
                <a:solidFill>
                  <a:srgbClr val="000000"/>
                </a:solidFill>
                <a:ea typeface="Times New Roman" panose="02020603050405020304" pitchFamily="18" charset="0"/>
              </a:rPr>
              <a:t>Robert </a:t>
            </a: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bought 20 refills and sold them at $ 4 each. If it had cost $ 50 for the refills, what was his profit or loss percent?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2400" b="1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AU" sz="1600" b="1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A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Mr Summers buys pencils at $ 250 per hundred and sells each at $ 1.75. Find his loss or profit.</a:t>
            </a:r>
            <a:endParaRPr lang="en-AU" sz="2400" b="1" dirty="0"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A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096163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475</Words>
  <Application>Microsoft Office PowerPoint</Application>
  <PresentationFormat>Widescreen</PresentationFormat>
  <Paragraphs>96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Cambria Math</vt:lpstr>
      <vt:lpstr>Fragment Core</vt:lpstr>
      <vt:lpstr>Harrington</vt:lpstr>
      <vt:lpstr>Tw Cen MT</vt:lpstr>
      <vt:lpstr>Tw Cen MT Condensed</vt:lpstr>
      <vt:lpstr>Wingdings 3</vt:lpstr>
      <vt:lpstr>Integral</vt:lpstr>
      <vt:lpstr>Topic: Financial Maths EQ: How Do I Calculate Profit and Loss? </vt:lpstr>
      <vt:lpstr>Five Questions (LHS)</vt:lpstr>
      <vt:lpstr>PowerPoint Presentation</vt:lpstr>
      <vt:lpstr>PowerPoint Presentation</vt:lpstr>
      <vt:lpstr>PowerPoint Presentation</vt:lpstr>
      <vt:lpstr>Loss Calculation</vt:lpstr>
      <vt:lpstr>Profit calculation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Financial Maths EQ: How Do I Calculate Profit and Loss? </dc:title>
  <dc:creator>PARLEVLIET Magdeline [Baldivis Secondary College]</dc:creator>
  <cp:lastModifiedBy>PARLEVLIET Magdeline [Baldivis Secondary College]</cp:lastModifiedBy>
  <cp:revision>5</cp:revision>
  <dcterms:created xsi:type="dcterms:W3CDTF">2019-12-01T06:02:46Z</dcterms:created>
  <dcterms:modified xsi:type="dcterms:W3CDTF">2019-12-01T06:25:28Z</dcterms:modified>
</cp:coreProperties>
</file>
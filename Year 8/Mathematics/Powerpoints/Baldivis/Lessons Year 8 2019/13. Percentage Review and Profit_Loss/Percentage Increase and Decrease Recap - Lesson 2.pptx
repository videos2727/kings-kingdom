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5"/>
  </p:notesMasterIdLst>
  <p:sldIdLst>
    <p:sldId id="333" r:id="rId2"/>
    <p:sldId id="336" r:id="rId3"/>
    <p:sldId id="271" r:id="rId4"/>
    <p:sldId id="273" r:id="rId5"/>
    <p:sldId id="274" r:id="rId6"/>
    <p:sldId id="265" r:id="rId7"/>
    <p:sldId id="337" r:id="rId8"/>
    <p:sldId id="338" r:id="rId9"/>
    <p:sldId id="339" r:id="rId10"/>
    <p:sldId id="340" r:id="rId11"/>
    <p:sldId id="341" r:id="rId12"/>
    <p:sldId id="342" r:id="rId13"/>
    <p:sldId id="275" r:id="rId14"/>
    <p:sldId id="343" r:id="rId15"/>
    <p:sldId id="264" r:id="rId16"/>
    <p:sldId id="344" r:id="rId17"/>
    <p:sldId id="353" r:id="rId18"/>
    <p:sldId id="272" r:id="rId19"/>
    <p:sldId id="276" r:id="rId20"/>
    <p:sldId id="348" r:id="rId21"/>
    <p:sldId id="277" r:id="rId22"/>
    <p:sldId id="278" r:id="rId23"/>
    <p:sldId id="349" r:id="rId24"/>
    <p:sldId id="279" r:id="rId25"/>
    <p:sldId id="280" r:id="rId26"/>
    <p:sldId id="350" r:id="rId27"/>
    <p:sldId id="281" r:id="rId28"/>
    <p:sldId id="284" r:id="rId29"/>
    <p:sldId id="351" r:id="rId30"/>
    <p:sldId id="282" r:id="rId31"/>
    <p:sldId id="283" r:id="rId32"/>
    <p:sldId id="352" r:id="rId33"/>
    <p:sldId id="345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 Farmer" initials="K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0-24T14:48:27.849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5ABD8-EC77-44F8-BEDA-660C73D9D12C}" type="datetimeFigureOut">
              <a:rPr lang="en-GB" smtClean="0"/>
              <a:t>01/12/2019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67641B-4354-4494-8FA7-2FB990474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05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0624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34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55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31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6939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8968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izzleeducation.com/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Topic: Financial </a:t>
            </a:r>
            <a:r>
              <a:rPr lang="en-US" sz="4400" dirty="0" err="1"/>
              <a:t>Maths</a:t>
            </a:r>
            <a:br>
              <a:rPr lang="en-US" sz="4400" dirty="0"/>
            </a:br>
            <a:r>
              <a:rPr lang="en-US" sz="4000" dirty="0"/>
              <a:t>EQ: </a:t>
            </a:r>
            <a:r>
              <a:rPr lang="en-AU" sz="4400" dirty="0"/>
              <a:t>How Do I Calculate Percentage Increase or decrease? 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Year 8 Mathematics</a:t>
            </a:r>
          </a:p>
          <a:p>
            <a:r>
              <a:rPr lang="en-US" dirty="0" err="1"/>
              <a:t>Mrs</a:t>
            </a:r>
            <a:r>
              <a:rPr lang="en-US" dirty="0"/>
              <a:t> </a:t>
            </a:r>
            <a:r>
              <a:rPr lang="en-US" dirty="0" err="1"/>
              <a:t>Parlevliet</a:t>
            </a:r>
            <a:endParaRPr lang="en-US" dirty="0"/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67A5E22C-4E60-4AFC-ABDA-07485F0C687F}"/>
              </a:ext>
            </a:extLst>
          </p:cNvPr>
          <p:cNvSpPr/>
          <p:nvPr/>
        </p:nvSpPr>
        <p:spPr>
          <a:xfrm>
            <a:off x="9228333" y="73975"/>
            <a:ext cx="2899954" cy="2184432"/>
          </a:xfrm>
          <a:prstGeom prst="cloud">
            <a:avLst/>
          </a:prstGeom>
          <a:solidFill>
            <a:schemeClr val="accent1"/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>
                <a:latin typeface="Harrington" panose="04040505050A02020702" pitchFamily="82" charset="0"/>
              </a:rPr>
              <a:t>Rule up 3 column notes!</a:t>
            </a:r>
          </a:p>
        </p:txBody>
      </p:sp>
    </p:spTree>
    <p:extLst>
      <p:ext uri="{BB962C8B-B14F-4D97-AF65-F5344CB8AC3E}">
        <p14:creationId xmlns:p14="http://schemas.microsoft.com/office/powerpoint/2010/main" val="183806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746DF4E-51D7-4BA8-8343-4AF4D3C4C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190" y="2841451"/>
            <a:ext cx="2162806" cy="1777478"/>
          </a:xfrm>
          <a:prstGeom prst="rect">
            <a:avLst/>
          </a:prstGeom>
        </p:spPr>
      </p:pic>
      <p:pic>
        <p:nvPicPr>
          <p:cNvPr id="10" name="Content Placeholder 6" descr="A flock of birds flying in the sky&#10;&#10;Description automatically generated">
            <a:extLst>
              <a:ext uri="{FF2B5EF4-FFF2-40B4-BE49-F238E27FC236}">
                <a16:creationId xmlns:a16="http://schemas.microsoft.com/office/drawing/2014/main" id="{3DB156DD-E2BE-469D-850D-FC84DD803D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2691"/>
          <a:stretch/>
        </p:blipFill>
        <p:spPr>
          <a:xfrm>
            <a:off x="1198194" y="1931317"/>
            <a:ext cx="7445260" cy="13216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6A86B6-DDD6-4B8D-B8A6-04954664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06928"/>
            <a:ext cx="9720072" cy="1499616"/>
          </a:xfrm>
        </p:spPr>
        <p:txBody>
          <a:bodyPr/>
          <a:lstStyle/>
          <a:p>
            <a:r>
              <a:rPr lang="en-AU" dirty="0"/>
              <a:t>Five Questions (LHS)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8140" y="1530477"/>
                <a:ext cx="9720073" cy="4023360"/>
              </a:xfrm>
            </p:spPr>
            <p:txBody>
              <a:bodyPr>
                <a:normAutofit fontScale="92500" lnSpcReduction="10000"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type of angles are shown in the following?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is the size of the exterior angle of this triangle?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8=26</m:t>
                    </m:r>
                  </m:oMath>
                </a14:m>
                <a:r>
                  <a:rPr lang="en-AU" sz="1400" dirty="0">
                    <a:solidFill>
                      <a:prstClr val="black"/>
                    </a:solidFill>
                    <a:latin typeface="Calibri" panose="020F0502020204030204"/>
                  </a:rPr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Find 40% of $120.</a:t>
                </a:r>
              </a:p>
              <a:p>
                <a:pPr marL="342900" indent="-342900">
                  <a:buFont typeface="+mj-lt"/>
                  <a:buAutoNum type="arabicPeriod"/>
                </a:pP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8140" y="1530477"/>
                <a:ext cx="9720073" cy="4023360"/>
              </a:xfrm>
              <a:blipFill>
                <a:blip r:embed="rId4"/>
                <a:stretch>
                  <a:fillRect l="-1317" t="-2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507186" y="331516"/>
            <a:ext cx="3278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Topic: Financial </a:t>
            </a:r>
            <a:r>
              <a:rPr lang="en-US" sz="2800" dirty="0" err="1">
                <a:solidFill>
                  <a:schemeClr val="tx2"/>
                </a:solidFill>
              </a:rPr>
              <a:t>Maths</a:t>
            </a:r>
            <a:endParaRPr lang="en-AU" sz="2800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07186" y="697082"/>
            <a:ext cx="6684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EQ – </a:t>
            </a:r>
            <a:r>
              <a:rPr lang="en-US" sz="2400" dirty="0">
                <a:solidFill>
                  <a:schemeClr val="tx2"/>
                </a:solidFill>
              </a:rPr>
              <a:t>How do I calculate a percentage increase or decrease?</a:t>
            </a:r>
            <a:endParaRPr lang="en-AU" sz="24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9A9926-E018-4164-9A1E-4354E18B3E2A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XX/XX/2019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7B3A13-EB0B-433A-A742-5DC40D0B3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193" y="4681268"/>
            <a:ext cx="5204983" cy="218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5958" y="1315025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902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Topic: Financial Maths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323633"/>
            <a:ext cx="2054361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I calculate percentage increase and decrease?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5950" y="1875639"/>
            <a:ext cx="6290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3200" b="1" dirty="0">
                <a:solidFill>
                  <a:schemeClr val="accent6">
                    <a:lumMod val="75000"/>
                  </a:schemeClr>
                </a:solidFill>
                <a:latin typeface="Calibri" panose="020F0502020204030204"/>
              </a:rPr>
              <a:t>Increase $2,700 by 22%</a:t>
            </a:r>
            <a:endParaRPr lang="en-US" sz="3200" b="1" dirty="0">
              <a:solidFill>
                <a:schemeClr val="accent6">
                  <a:lumMod val="75000"/>
                </a:schemeClr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2055951" y="1315025"/>
            <a:ext cx="629001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8345965" y="1296351"/>
            <a:ext cx="3846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57D-F213-4D5F-A9C1-CFC1ECA9F276}"/>
              </a:ext>
            </a:extLst>
          </p:cNvPr>
          <p:cNvSpPr/>
          <p:nvPr/>
        </p:nvSpPr>
        <p:spPr>
          <a:xfrm>
            <a:off x="0" y="2185858"/>
            <a:ext cx="20559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Fragment Core" panose="02000504040000020003" pitchFamily="50" charset="0"/>
              </a:rPr>
              <a:t>What is a % Increase?</a:t>
            </a:r>
            <a:endParaRPr lang="en-AU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0521A5-06A8-40DC-8796-8E057C5A0C6A}"/>
              </a:ext>
            </a:extLst>
          </p:cNvPr>
          <p:cNvSpPr txBox="1"/>
          <p:nvPr/>
        </p:nvSpPr>
        <p:spPr>
          <a:xfrm>
            <a:off x="8345961" y="1785170"/>
            <a:ext cx="38444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dirty="0">
                <a:latin typeface="Calibri" panose="020F0502020204030204"/>
              </a:rPr>
              <a:t>1. Turn the % into a fraction</a:t>
            </a: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2. Multiply by the number</a:t>
            </a: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3. </a:t>
            </a:r>
            <a:r>
              <a:rPr lang="en-US" sz="2400" b="1" dirty="0">
                <a:latin typeface="Calibri" panose="020F0502020204030204"/>
              </a:rPr>
              <a:t>Add </a:t>
            </a:r>
            <a:r>
              <a:rPr lang="en-US" sz="2400" dirty="0">
                <a:latin typeface="Calibri" panose="020F0502020204030204"/>
              </a:rPr>
              <a:t>the new amount to the original number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42B1F7-24CA-4FDF-9DA9-8978BA342B78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XX/XX/2019</a:t>
            </a:r>
          </a:p>
        </p:txBody>
      </p:sp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5958" y="1315025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902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Topic: Financial Maths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323633"/>
            <a:ext cx="2054361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I calculate percentage increase and decrease?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5950" y="1875639"/>
            <a:ext cx="6290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32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</a:rPr>
              <a:t>Decrease 163kg by 45%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2055951" y="1315025"/>
            <a:ext cx="629001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8345965" y="1296351"/>
            <a:ext cx="3846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57D-F213-4D5F-A9C1-CFC1ECA9F276}"/>
              </a:ext>
            </a:extLst>
          </p:cNvPr>
          <p:cNvSpPr/>
          <p:nvPr/>
        </p:nvSpPr>
        <p:spPr>
          <a:xfrm>
            <a:off x="0" y="2185858"/>
            <a:ext cx="20559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Fragment Core" panose="02000504040000020003" pitchFamily="50" charset="0"/>
              </a:rPr>
              <a:t>What is a % Decrease?</a:t>
            </a:r>
            <a:endParaRPr lang="en-AU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0521A5-06A8-40DC-8796-8E057C5A0C6A}"/>
              </a:ext>
            </a:extLst>
          </p:cNvPr>
          <p:cNvSpPr txBox="1"/>
          <p:nvPr/>
        </p:nvSpPr>
        <p:spPr>
          <a:xfrm>
            <a:off x="8345961" y="1785170"/>
            <a:ext cx="38444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dirty="0">
                <a:latin typeface="Calibri" panose="020F0502020204030204"/>
              </a:rPr>
              <a:t>1. Turn the % into a fraction</a:t>
            </a: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2. Multiply by the number</a:t>
            </a: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3. </a:t>
            </a:r>
            <a:r>
              <a:rPr lang="en-US" sz="2400" b="1" dirty="0">
                <a:latin typeface="Calibri" panose="020F0502020204030204"/>
              </a:rPr>
              <a:t>Subtract </a:t>
            </a:r>
            <a:r>
              <a:rPr lang="en-US" sz="2400" dirty="0">
                <a:latin typeface="Calibri" panose="020F0502020204030204"/>
              </a:rPr>
              <a:t>the new amount to the original number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701557-B8FE-4CD0-B724-0DB855E6B302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XX/XX/2019</a:t>
            </a:r>
          </a:p>
        </p:txBody>
      </p:sp>
    </p:spTree>
    <p:extLst>
      <p:ext uri="{BB962C8B-B14F-4D97-AF65-F5344CB8AC3E}">
        <p14:creationId xmlns:p14="http://schemas.microsoft.com/office/powerpoint/2010/main" val="86136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5958" y="1315025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902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Topic: Financial Maths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323633"/>
            <a:ext cx="2054361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I calculate percentage increase and decrease?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2055951" y="1315025"/>
            <a:ext cx="629001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8345965" y="1296351"/>
            <a:ext cx="3846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57D-F213-4D5F-A9C1-CFC1ECA9F276}"/>
              </a:ext>
            </a:extLst>
          </p:cNvPr>
          <p:cNvSpPr/>
          <p:nvPr/>
        </p:nvSpPr>
        <p:spPr>
          <a:xfrm>
            <a:off x="0" y="2185858"/>
            <a:ext cx="20559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Fragment Core" panose="02000504040000020003" pitchFamily="50" charset="0"/>
              </a:rPr>
              <a:t>How to find the %?</a:t>
            </a:r>
            <a:endParaRPr lang="en-AU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0521A5-06A8-40DC-8796-8E057C5A0C6A}"/>
              </a:ext>
            </a:extLst>
          </p:cNvPr>
          <p:cNvSpPr txBox="1"/>
          <p:nvPr/>
        </p:nvSpPr>
        <p:spPr>
          <a:xfrm>
            <a:off x="8345961" y="1785170"/>
            <a:ext cx="38444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dirty="0">
                <a:latin typeface="Calibri" panose="020F0502020204030204"/>
              </a:rPr>
              <a:t>1. Write the amount of the increase as a fraction over the original amount.</a:t>
            </a: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2. Multiply by 100%</a:t>
            </a: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3. Write the answer as a percent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38A549-1585-4F55-8AFD-F14178FB9069}"/>
              </a:ext>
            </a:extLst>
          </p:cNvPr>
          <p:cNvSpPr txBox="1"/>
          <p:nvPr/>
        </p:nvSpPr>
        <p:spPr>
          <a:xfrm>
            <a:off x="2055943" y="1737270"/>
            <a:ext cx="62900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solidFill>
                  <a:srgbClr val="7030A0"/>
                </a:solidFill>
                <a:latin typeface="Calibri" panose="020F0502020204030204"/>
              </a:rPr>
              <a:t>Tori earns $950 per week as an electrician. She receives a pay increase of $32 per week. Find out by how much Tori’s pay increased by as a percentage.</a:t>
            </a:r>
            <a:endParaRPr lang="en-US" sz="2800" b="1" dirty="0">
              <a:solidFill>
                <a:srgbClr val="7030A0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3312DA-6F6B-4C77-8B45-A90E8112B552}"/>
              </a:ext>
            </a:extLst>
          </p:cNvPr>
          <p:cNvSpPr txBox="1"/>
          <p:nvPr/>
        </p:nvSpPr>
        <p:spPr>
          <a:xfrm>
            <a:off x="9418788" y="137930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XX/XX/2019</a:t>
            </a:r>
          </a:p>
        </p:txBody>
      </p:sp>
    </p:spTree>
    <p:extLst>
      <p:ext uri="{BB962C8B-B14F-4D97-AF65-F5344CB8AC3E}">
        <p14:creationId xmlns:p14="http://schemas.microsoft.com/office/powerpoint/2010/main" val="192672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2757-78BF-43FC-B4EE-0CAA8FAC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LHS – Percentage Increase Practice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9FCCAF-5D73-4166-BBDC-009B003DA1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2917"/>
          <a:stretch/>
        </p:blipFill>
        <p:spPr>
          <a:xfrm>
            <a:off x="386488" y="1976227"/>
            <a:ext cx="11419023" cy="50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43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2757-78BF-43FC-B4EE-0CAA8FAC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LHS – Percentage decrease Practice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2EEC9D-E1E7-44B3-9EED-9D1E45365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0000"/>
          <a:stretch/>
        </p:blipFill>
        <p:spPr>
          <a:xfrm>
            <a:off x="500601" y="1980077"/>
            <a:ext cx="11158067" cy="52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20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F44FF-96AD-4C3F-B010-F897C88E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LHS – </a:t>
            </a:r>
            <a:r>
              <a:rPr lang="en-AU" dirty="0" err="1"/>
              <a:t>WheRe</a:t>
            </a:r>
            <a:r>
              <a:rPr lang="en-AU" dirty="0"/>
              <a:t> is this Maths Used?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C028E6-FB19-4FEB-AB7A-12BAE86405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51" b="68269"/>
          <a:stretch/>
        </p:blipFill>
        <p:spPr>
          <a:xfrm>
            <a:off x="253041" y="1831791"/>
            <a:ext cx="11685917" cy="127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642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F44FF-96AD-4C3F-B010-F897C88E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LHS – Where is this maths used?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900421-9A28-44EF-806E-160F69178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15" t="65643" b="-1344"/>
          <a:stretch/>
        </p:blipFill>
        <p:spPr>
          <a:xfrm>
            <a:off x="238664" y="1872947"/>
            <a:ext cx="11714672" cy="143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76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F44FF-96AD-4C3F-B010-F897C88E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LHS – Where is this maths used?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D32B24-F6D9-4D0B-8627-A9AC0005B1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45" t="31856" b="33880"/>
          <a:stretch/>
        </p:blipFill>
        <p:spPr>
          <a:xfrm>
            <a:off x="258792" y="1742536"/>
            <a:ext cx="11674415" cy="137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9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11655-23F8-4BA7-B88A-E2496F4AC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Percentage share trading game</a:t>
            </a:r>
            <a:br>
              <a:rPr lang="en-AU" dirty="0"/>
            </a:br>
            <a:r>
              <a:rPr lang="en-AU" sz="2000" dirty="0"/>
              <a:t>Adapted from </a:t>
            </a:r>
            <a:r>
              <a:rPr lang="en-AU" sz="2000" dirty="0" err="1"/>
              <a:t>Dizzle</a:t>
            </a:r>
            <a:r>
              <a:rPr lang="en-AU" sz="2000" dirty="0"/>
              <a:t> Education </a:t>
            </a:r>
            <a:r>
              <a:rPr lang="en-AU" sz="2000" dirty="0">
                <a:hlinkClick r:id="rId2"/>
              </a:rPr>
              <a:t>www.dizzleeducation.com</a:t>
            </a:r>
            <a:r>
              <a:rPr lang="en-AU" sz="2000" dirty="0"/>
              <a:t> 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99B322-5B2A-416A-9ADA-E689F486B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arenR"/>
            </a:pPr>
            <a:r>
              <a:rPr lang="en-AU" dirty="0"/>
              <a:t>You will need a calculator.</a:t>
            </a:r>
          </a:p>
          <a:p>
            <a:pPr marL="342900" indent="-342900">
              <a:buAutoNum type="arabicParenR"/>
            </a:pPr>
            <a:r>
              <a:rPr lang="en-AU" dirty="0"/>
              <a:t>Form a group of 3.</a:t>
            </a:r>
          </a:p>
        </p:txBody>
      </p:sp>
    </p:spTree>
    <p:extLst>
      <p:ext uri="{BB962C8B-B14F-4D97-AF65-F5344CB8AC3E}">
        <p14:creationId xmlns:p14="http://schemas.microsoft.com/office/powerpoint/2010/main" val="2517293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2106F9BC-FBBB-407D-B5F7-CDC5DC7F1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14338" name="TextBox 4">
            <a:extLst>
              <a:ext uri="{FF2B5EF4-FFF2-40B4-BE49-F238E27FC236}">
                <a16:creationId xmlns:a16="http://schemas.microsoft.com/office/drawing/2014/main" id="{FED48678-7835-480A-A9D5-83C369EF3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1571E9-82D9-411E-850A-33C32B38F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317" y="212785"/>
            <a:ext cx="11680166" cy="469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300" b="1" dirty="0"/>
              <a:t>Instructions:</a:t>
            </a:r>
            <a:endParaRPr lang="en-US" altLang="en-US" sz="2300" dirty="0"/>
          </a:p>
          <a:p>
            <a:pPr eaLnBrk="1" hangingPunct="1"/>
            <a:r>
              <a:rPr lang="en-US" altLang="en-US" sz="2300" dirty="0"/>
              <a:t>At the start of each round there will be a ‘newsflash’. Your team will need to decide what commodities to invest your $2,000 in</a:t>
            </a:r>
          </a:p>
          <a:p>
            <a:pPr eaLnBrk="1" hangingPunct="1"/>
            <a:endParaRPr lang="en-US" altLang="en-US" sz="2300" dirty="0"/>
          </a:p>
          <a:p>
            <a:pPr eaLnBrk="1" hangingPunct="1"/>
            <a:r>
              <a:rPr lang="en-US" altLang="en-US" sz="2300" dirty="0"/>
              <a:t>At the end of the round, you will sell all your commodities at the new prices and record how much profit you made that round </a:t>
            </a:r>
          </a:p>
          <a:p>
            <a:pPr eaLnBrk="1" hangingPunct="1"/>
            <a:endParaRPr lang="en-US" altLang="en-US" sz="2300" dirty="0"/>
          </a:p>
          <a:p>
            <a:pPr eaLnBrk="1" hangingPunct="1"/>
            <a:r>
              <a:rPr lang="en-US" altLang="en-US" sz="2300" dirty="0"/>
              <a:t>At the end of the six rounds, you will work out your overall profit</a:t>
            </a:r>
          </a:p>
          <a:p>
            <a:pPr eaLnBrk="1" hangingPunct="1"/>
            <a:endParaRPr lang="en-US" altLang="en-US" sz="2300" dirty="0"/>
          </a:p>
          <a:p>
            <a:pPr eaLnBrk="1" hangingPunct="1"/>
            <a:r>
              <a:rPr lang="en-US" altLang="en-US" sz="2300" dirty="0"/>
              <a:t>The winning team is the one that makes the most profit</a:t>
            </a:r>
          </a:p>
          <a:p>
            <a:pPr eaLnBrk="1" hangingPunct="1"/>
            <a:endParaRPr lang="en-US" altLang="en-US" sz="2300" dirty="0"/>
          </a:p>
          <a:p>
            <a:pPr eaLnBrk="1" hangingPunct="1"/>
            <a:r>
              <a:rPr lang="en-US" altLang="en-US" sz="2300" dirty="0"/>
              <a:t>There will be a fine of $500 for each mathematical mistake a team makes, and any teams that fail to work together will also be fined.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73BB15F8-4D09-450D-BA49-F9B2A3397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91E84D20-4B35-42B3-93F5-29A7E451C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749" y="191969"/>
            <a:ext cx="47926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Current World Market Prices: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1B1018-0950-4220-9637-932C4EA5F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053425"/>
              </p:ext>
            </p:extLst>
          </p:nvPr>
        </p:nvGraphicFramePr>
        <p:xfrm>
          <a:off x="707366" y="1108075"/>
          <a:ext cx="10443715" cy="35660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88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743">
                  <a:extLst>
                    <a:ext uri="{9D8B030D-6E8A-4147-A177-3AD203B41FA5}">
                      <a16:colId xmlns:a16="http://schemas.microsoft.com/office/drawing/2014/main" val="3228551759"/>
                    </a:ext>
                  </a:extLst>
                </a:gridCol>
                <a:gridCol w="2088743">
                  <a:extLst>
                    <a:ext uri="{9D8B030D-6E8A-4147-A177-3AD203B41FA5}">
                      <a16:colId xmlns:a16="http://schemas.microsoft.com/office/drawing/2014/main" val="3541414959"/>
                    </a:ext>
                  </a:extLst>
                </a:gridCol>
                <a:gridCol w="2088743">
                  <a:extLst>
                    <a:ext uri="{9D8B030D-6E8A-4147-A177-3AD203B41FA5}">
                      <a16:colId xmlns:a16="http://schemas.microsoft.com/office/drawing/2014/main" val="618538334"/>
                    </a:ext>
                  </a:extLst>
                </a:gridCol>
              </a:tblGrid>
              <a:tr h="8132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Amount Invested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78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78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78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78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78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78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7E45430C-A91F-448D-92C0-69F7333B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9BBFDA6-385A-4F66-9AA4-90EA527E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4">
            <a:extLst>
              <a:ext uri="{FF2B5EF4-FFF2-40B4-BE49-F238E27FC236}">
                <a16:creationId xmlns:a16="http://schemas.microsoft.com/office/drawing/2014/main" id="{43FB687E-BF7D-4426-9CB0-A97407B37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3EFEF7-2331-4CE2-920F-22F9515B2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1654" y="611189"/>
            <a:ext cx="82232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000" dirty="0">
                <a:latin typeface="Franklin Gothic Heavy" panose="020B0903020102020204" pitchFamily="34" charset="0"/>
              </a:rPr>
              <a:t>Renewed violence in Sierra Leone scares off international investors </a:t>
            </a: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7D685F85-FA86-4E21-8D86-CC15AA412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2718" y="100268"/>
            <a:ext cx="15167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>
                <a:cs typeface="Arial" panose="020B0604020202020204" pitchFamily="34" charset="0"/>
              </a:rPr>
              <a:t>Round 1: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901F5E-0682-4ACA-8501-D4706A861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664" y="1852613"/>
            <a:ext cx="5411787" cy="325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ight Triangle 6">
            <a:extLst>
              <a:ext uri="{FF2B5EF4-FFF2-40B4-BE49-F238E27FC236}">
                <a16:creationId xmlns:a16="http://schemas.microsoft.com/office/drawing/2014/main" id="{D2375E0A-1E5A-44F1-8E6E-9D5D956B7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640A182-EAAD-42CC-95BB-6FCD4C98A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4">
            <a:extLst>
              <a:ext uri="{FF2B5EF4-FFF2-40B4-BE49-F238E27FC236}">
                <a16:creationId xmlns:a16="http://schemas.microsoft.com/office/drawing/2014/main" id="{42E8FAAF-BEFF-46BF-9B31-5FC3E66E2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7411" name="Rectangle 5">
            <a:extLst>
              <a:ext uri="{FF2B5EF4-FFF2-40B4-BE49-F238E27FC236}">
                <a16:creationId xmlns:a16="http://schemas.microsoft.com/office/drawing/2014/main" id="{E93530D7-A0C6-4249-89B5-EFBAF5733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3474" y="283985"/>
            <a:ext cx="86250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>
                <a:cs typeface="Arial" panose="020B0604020202020204" pitchFamily="34" charset="0"/>
              </a:rPr>
              <a:t>World Market Price Changes after Round 1: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8EF45C-CEC5-43D9-A8A3-92831BE0A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510880"/>
              </p:ext>
            </p:extLst>
          </p:nvPr>
        </p:nvGraphicFramePr>
        <p:xfrm>
          <a:off x="2401737" y="1476772"/>
          <a:ext cx="7388526" cy="32003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62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8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+10%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+40%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+20%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90A0B0B4-DFE7-4E3C-8452-F46FF0134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C2A9D091-141B-4444-9390-5A7D6ABF7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73BB15F8-4D09-450D-BA49-F9B2A3397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91E84D20-4B35-42B3-93F5-29A7E451C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749" y="191969"/>
            <a:ext cx="47926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Current World Market Prices: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1B1018-0950-4220-9637-932C4EA5F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308936"/>
              </p:ext>
            </p:extLst>
          </p:nvPr>
        </p:nvGraphicFramePr>
        <p:xfrm>
          <a:off x="1524001" y="1108076"/>
          <a:ext cx="8787440" cy="35660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5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2285517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5414149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618538334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Amount Invested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+10%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+40%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+20%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7E45430C-A91F-448D-92C0-69F7333B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9BBFDA6-385A-4F66-9AA4-90EA527E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  <p:extLst>
      <p:ext uri="{BB962C8B-B14F-4D97-AF65-F5344CB8AC3E}">
        <p14:creationId xmlns:p14="http://schemas.microsoft.com/office/powerpoint/2010/main" val="2723266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4">
            <a:extLst>
              <a:ext uri="{FF2B5EF4-FFF2-40B4-BE49-F238E27FC236}">
                <a16:creationId xmlns:a16="http://schemas.microsoft.com/office/drawing/2014/main" id="{33FA03FA-E3B3-42D9-AED0-F07A7BBDC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56DA39-A58E-40F2-B7C6-07F5190D4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5903" y="578733"/>
            <a:ext cx="82232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000" dirty="0">
                <a:latin typeface="Franklin Gothic Heavy" panose="020B0903020102020204" pitchFamily="34" charset="0"/>
              </a:rPr>
              <a:t>New worldwide obesity campaign launched </a:t>
            </a: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E022DAAB-CA40-4331-907B-F3BD54C0C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276" y="233556"/>
            <a:ext cx="15297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 b="1">
                <a:cs typeface="Arial" panose="020B0604020202020204" pitchFamily="34" charset="0"/>
              </a:rPr>
              <a:t>Round 2: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468B17-2A70-48E4-A0D3-B5CAFED90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0" y="1390650"/>
            <a:ext cx="5283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543EC46-51A6-4477-AA1C-088ACD5FB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187D9D79-5063-4E13-BD56-F775955A3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4">
            <a:extLst>
              <a:ext uri="{FF2B5EF4-FFF2-40B4-BE49-F238E27FC236}">
                <a16:creationId xmlns:a16="http://schemas.microsoft.com/office/drawing/2014/main" id="{762460DF-84D8-4018-9371-414A18C37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9459" name="Rectangle 5">
            <a:extLst>
              <a:ext uri="{FF2B5EF4-FFF2-40B4-BE49-F238E27FC236}">
                <a16:creationId xmlns:a16="http://schemas.microsoft.com/office/drawing/2014/main" id="{0F4E5C84-0C5B-4D26-817B-676606045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530" y="401641"/>
            <a:ext cx="86250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>
                <a:cs typeface="Arial" panose="020B0604020202020204" pitchFamily="34" charset="0"/>
              </a:rPr>
              <a:t>World Market Price Changes after Round 2: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A4529D-5C8D-4A0F-B157-77FFD8261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487196"/>
              </p:ext>
            </p:extLst>
          </p:nvPr>
        </p:nvGraphicFramePr>
        <p:xfrm>
          <a:off x="2932981" y="1490260"/>
          <a:ext cx="6711351" cy="32003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1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91019879"/>
                    </a:ext>
                  </a:extLst>
                </a:gridCol>
                <a:gridCol w="3342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- 10%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+ 1%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- 15%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-40%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D9768E84-56F0-4324-8BF6-04F659B51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D2CC9F4F-86E5-4F22-8D76-7A590315A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73BB15F8-4D09-450D-BA49-F9B2A3397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91E84D20-4B35-42B3-93F5-29A7E451C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749" y="191969"/>
            <a:ext cx="47926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Current World Market Prices: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1B1018-0950-4220-9637-932C4EA5F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353651"/>
              </p:ext>
            </p:extLst>
          </p:nvPr>
        </p:nvGraphicFramePr>
        <p:xfrm>
          <a:off x="1524001" y="1108076"/>
          <a:ext cx="8787440" cy="35660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5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2285517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5414149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618538334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Amount Invested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- 10%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+ 1%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- 15%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-40%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7E45430C-A91F-448D-92C0-69F7333B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9BBFDA6-385A-4F66-9AA4-90EA527E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  <p:extLst>
      <p:ext uri="{BB962C8B-B14F-4D97-AF65-F5344CB8AC3E}">
        <p14:creationId xmlns:p14="http://schemas.microsoft.com/office/powerpoint/2010/main" val="4005199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4">
            <a:extLst>
              <a:ext uri="{FF2B5EF4-FFF2-40B4-BE49-F238E27FC236}">
                <a16:creationId xmlns:a16="http://schemas.microsoft.com/office/drawing/2014/main" id="{E35A7A6B-F760-4C5F-BA23-FF470F612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4F4340-1E69-42EB-8CCC-04024F86C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113" y="681852"/>
            <a:ext cx="1132360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000" dirty="0">
                <a:latin typeface="Franklin Gothic Heavy" panose="020B0903020102020204" pitchFamily="34" charset="0"/>
              </a:rPr>
              <a:t>Storms devastate harvest across Russia and Eastern Europe</a:t>
            </a: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3D4C5342-DE64-4A3B-A71E-91AF17759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89" y="173258"/>
            <a:ext cx="15470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>
                <a:cs typeface="Arial" panose="020B0604020202020204" pitchFamily="34" charset="0"/>
              </a:rPr>
              <a:t>Round 3: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0E9211-613B-42CE-80D5-64599A50B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1235850"/>
            <a:ext cx="6259512" cy="4163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ight Triangle 6">
            <a:extLst>
              <a:ext uri="{FF2B5EF4-FFF2-40B4-BE49-F238E27FC236}">
                <a16:creationId xmlns:a16="http://schemas.microsoft.com/office/drawing/2014/main" id="{99A07497-AE4A-4ECD-B2F2-02FE5F509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77A0D509-89E3-46AC-B534-85614CD66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5">
            <a:extLst>
              <a:ext uri="{FF2B5EF4-FFF2-40B4-BE49-F238E27FC236}">
                <a16:creationId xmlns:a16="http://schemas.microsoft.com/office/drawing/2014/main" id="{4F039542-3B7C-4434-962A-79AEA6192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0162" y="441410"/>
            <a:ext cx="70516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World Market Price Changes after Round 3: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B0A29AE7-F3CA-4CBF-96D7-EE4E52FC2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7704D143-614C-4500-8E4A-5288023DF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C24E3E8-EB4D-48BB-93D4-30F5CED17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804484"/>
              </p:ext>
            </p:extLst>
          </p:nvPr>
        </p:nvGraphicFramePr>
        <p:xfrm>
          <a:off x="2647340" y="1237541"/>
          <a:ext cx="6711351" cy="32003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1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91019879"/>
                    </a:ext>
                  </a:extLst>
                </a:gridCol>
                <a:gridCol w="3342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+ 15%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+ 60%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+ 10%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73BB15F8-4D09-450D-BA49-F9B2A3397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91E84D20-4B35-42B3-93F5-29A7E451C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749" y="191969"/>
            <a:ext cx="47926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Current World Market Prices: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1B1018-0950-4220-9637-932C4EA5F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871655"/>
              </p:ext>
            </p:extLst>
          </p:nvPr>
        </p:nvGraphicFramePr>
        <p:xfrm>
          <a:off x="1524001" y="1108076"/>
          <a:ext cx="8787440" cy="35660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5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2285517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5414149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618538334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Amount Invested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+ 15%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+ 60%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+ 10%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7E45430C-A91F-448D-92C0-69F7333B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9BBFDA6-385A-4F66-9AA4-90EA527E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  <p:extLst>
      <p:ext uri="{BB962C8B-B14F-4D97-AF65-F5344CB8AC3E}">
        <p14:creationId xmlns:p14="http://schemas.microsoft.com/office/powerpoint/2010/main" val="2460990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ED9EF-2352-4A3D-BBB4-0B02DC243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73054"/>
            <a:ext cx="1235877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000" dirty="0">
                <a:latin typeface="Franklin Gothic Heavy" panose="020B0903020102020204" pitchFamily="34" charset="0"/>
              </a:rPr>
              <a:t>Long-running strikes in South Africa reduce the country’s exports</a:t>
            </a: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A1307D25-D0FE-4C9A-89BB-9FEA38BF4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94" y="284104"/>
            <a:ext cx="15167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>
                <a:cs typeface="Arial" panose="020B0604020202020204" pitchFamily="34" charset="0"/>
              </a:rPr>
              <a:t>Round 4: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0592A7-DFB0-4609-AAB4-E8C09E3EF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838" y="1531938"/>
            <a:ext cx="5332412" cy="353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A7A95868-40EA-4FD4-B5F9-4E08F1A28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EF7B5237-03D2-45D7-B737-282D04D84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5">
            <a:extLst>
              <a:ext uri="{FF2B5EF4-FFF2-40B4-BE49-F238E27FC236}">
                <a16:creationId xmlns:a16="http://schemas.microsoft.com/office/drawing/2014/main" id="{D2442273-FA6B-47F8-B9C8-97A0DD4FF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531" y="530227"/>
            <a:ext cx="70516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World Market Price Changes after Round 4: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A65A75-3CCD-46B3-832D-FFE4FE651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504835"/>
              </p:ext>
            </p:extLst>
          </p:nvPr>
        </p:nvGraphicFramePr>
        <p:xfrm>
          <a:off x="2326257" y="1495309"/>
          <a:ext cx="8088701" cy="32003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513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3162">
                  <a:extLst>
                    <a:ext uri="{9D8B030D-6E8A-4147-A177-3AD203B41FA5}">
                      <a16:colId xmlns:a16="http://schemas.microsoft.com/office/drawing/2014/main" val="2045335009"/>
                    </a:ext>
                  </a:extLst>
                </a:gridCol>
                <a:gridCol w="3062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+45%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+60%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+55%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3F81BED4-3657-4E50-B6FE-F3880B55E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F29424D2-20B5-4F35-A02B-0075AE0B1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73BB15F8-4D09-450D-BA49-F9B2A3397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91E84D20-4B35-42B3-93F5-29A7E451C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749" y="191969"/>
            <a:ext cx="47926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Current World Market Prices: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1B1018-0950-4220-9637-932C4EA5F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637162"/>
              </p:ext>
            </p:extLst>
          </p:nvPr>
        </p:nvGraphicFramePr>
        <p:xfrm>
          <a:off x="1524001" y="1108076"/>
          <a:ext cx="8787440" cy="35660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5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2285517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5414149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618538334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Amount Invested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+45%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+60%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+55%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7E45430C-A91F-448D-92C0-69F7333B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9BBFDA6-385A-4F66-9AA4-90EA527E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  <p:extLst>
      <p:ext uri="{BB962C8B-B14F-4D97-AF65-F5344CB8AC3E}">
        <p14:creationId xmlns:p14="http://schemas.microsoft.com/office/powerpoint/2010/main" val="38568875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A91DBA-4204-483C-9826-F31968B53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6710" y="609640"/>
            <a:ext cx="1017365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000" dirty="0">
                <a:latin typeface="Franklin Gothic Heavy" panose="020B0903020102020204" pitchFamily="34" charset="0"/>
                <a:cs typeface="Simplified Arabic" panose="020B0604020202020204" pitchFamily="18" charset="-78"/>
              </a:rPr>
              <a:t>Fairtrade fortnight boosts Cadbury's revenues</a:t>
            </a: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E94CD6F2-EF19-4920-84D5-495F8A417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722" y="163297"/>
            <a:ext cx="15167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>
                <a:cs typeface="Arial" panose="020B0604020202020204" pitchFamily="34" charset="0"/>
              </a:rPr>
              <a:t>Round 5: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21AD44-28A6-4288-8056-A2EFA714D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1390650"/>
            <a:ext cx="58420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ight Triangle 6">
            <a:extLst>
              <a:ext uri="{FF2B5EF4-FFF2-40B4-BE49-F238E27FC236}">
                <a16:creationId xmlns:a16="http://schemas.microsoft.com/office/drawing/2014/main" id="{9A0AFF09-DD7C-4415-B990-11689D1FE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03EA6F2-39B0-4F5C-8B1E-4E04B13D3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5">
            <a:extLst>
              <a:ext uri="{FF2B5EF4-FFF2-40B4-BE49-F238E27FC236}">
                <a16:creationId xmlns:a16="http://schemas.microsoft.com/office/drawing/2014/main" id="{C81E0E6B-3D6C-491F-A602-A4F383EC1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3720" y="354808"/>
            <a:ext cx="70516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>
                <a:cs typeface="Arial" panose="020B0604020202020204" pitchFamily="34" charset="0"/>
              </a:rPr>
              <a:t>World Market Price Changes after Round 5: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742631-3DC3-48BF-9F95-0700A3D57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256526"/>
              </p:ext>
            </p:extLst>
          </p:nvPr>
        </p:nvGraphicFramePr>
        <p:xfrm>
          <a:off x="1173192" y="1184216"/>
          <a:ext cx="9765102" cy="362703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255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034">
                  <a:extLst>
                    <a:ext uri="{9D8B030D-6E8A-4147-A177-3AD203B41FA5}">
                      <a16:colId xmlns:a16="http://schemas.microsoft.com/office/drawing/2014/main" val="2334783520"/>
                    </a:ext>
                  </a:extLst>
                </a:gridCol>
                <a:gridCol w="3255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+36%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858EA2A7-D6D4-4A22-877C-60E6F2764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04C75B3-1774-4E55-BAD4-48F1C8C59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73BB15F8-4D09-450D-BA49-F9B2A3397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91E84D20-4B35-42B3-93F5-29A7E451C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749" y="191969"/>
            <a:ext cx="47926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Current World Market Prices: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1B1018-0950-4220-9637-932C4EA5F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37737"/>
              </p:ext>
            </p:extLst>
          </p:nvPr>
        </p:nvGraphicFramePr>
        <p:xfrm>
          <a:off x="776377" y="1108076"/>
          <a:ext cx="10282685" cy="35660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56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6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6537">
                  <a:extLst>
                    <a:ext uri="{9D8B030D-6E8A-4147-A177-3AD203B41FA5}">
                      <a16:colId xmlns:a16="http://schemas.microsoft.com/office/drawing/2014/main" val="3228551759"/>
                    </a:ext>
                  </a:extLst>
                </a:gridCol>
                <a:gridCol w="2056537">
                  <a:extLst>
                    <a:ext uri="{9D8B030D-6E8A-4147-A177-3AD203B41FA5}">
                      <a16:colId xmlns:a16="http://schemas.microsoft.com/office/drawing/2014/main" val="3541414959"/>
                    </a:ext>
                  </a:extLst>
                </a:gridCol>
                <a:gridCol w="2056537">
                  <a:extLst>
                    <a:ext uri="{9D8B030D-6E8A-4147-A177-3AD203B41FA5}">
                      <a16:colId xmlns:a16="http://schemas.microsoft.com/office/drawing/2014/main" val="618538334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Amount Invested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+36%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7E45430C-A91F-448D-92C0-69F7333B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9BBFDA6-385A-4F66-9AA4-90EA527E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  <p:extLst>
      <p:ext uri="{BB962C8B-B14F-4D97-AF65-F5344CB8AC3E}">
        <p14:creationId xmlns:p14="http://schemas.microsoft.com/office/powerpoint/2010/main" val="2992231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F08F27-28F4-42B5-A7F8-D87DB08DF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155" y="744298"/>
            <a:ext cx="82232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000" dirty="0">
                <a:latin typeface="Franklin Gothic Heavy" panose="020B0903020102020204" pitchFamily="34" charset="0"/>
              </a:rPr>
              <a:t>Mongolia’s economy may grow by 25% if foreign investment takes off</a:t>
            </a: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438A2461-ECD1-4113-B916-280061F79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40237"/>
            <a:ext cx="12971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 b="1" dirty="0">
                <a:cs typeface="Arial" panose="020B0604020202020204" pitchFamily="34" charset="0"/>
              </a:rPr>
              <a:t>Round 6: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AF610A-6B1B-4B47-BFDC-54F18C563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885" y="1833473"/>
            <a:ext cx="5461000" cy="364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ight Triangle 6">
            <a:extLst>
              <a:ext uri="{FF2B5EF4-FFF2-40B4-BE49-F238E27FC236}">
                <a16:creationId xmlns:a16="http://schemas.microsoft.com/office/drawing/2014/main" id="{FBECF1B2-EE61-4AF8-A064-BDB41C629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62F1FFA-D3D6-4EED-9389-774E77C8D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5">
            <a:extLst>
              <a:ext uri="{FF2B5EF4-FFF2-40B4-BE49-F238E27FC236}">
                <a16:creationId xmlns:a16="http://schemas.microsoft.com/office/drawing/2014/main" id="{AFE333B2-E6D3-491E-AA76-3750C0551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9727" y="412655"/>
            <a:ext cx="70516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World Market Price Changes after Round 6: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6869013-5811-4E05-B140-A4B9BDC0E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45158"/>
              </p:ext>
            </p:extLst>
          </p:nvPr>
        </p:nvGraphicFramePr>
        <p:xfrm>
          <a:off x="1951367" y="1237541"/>
          <a:ext cx="8327367" cy="32003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775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5789">
                  <a:extLst>
                    <a:ext uri="{9D8B030D-6E8A-4147-A177-3AD203B41FA5}">
                      <a16:colId xmlns:a16="http://schemas.microsoft.com/office/drawing/2014/main" val="1997735587"/>
                    </a:ext>
                  </a:extLst>
                </a:gridCol>
                <a:gridCol w="2775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+40%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+57%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5491D93F-7F81-4769-A1B3-0BF0E9726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688FE754-BBBD-4315-829E-36630F34E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73BB15F8-4D09-450D-BA49-F9B2A3397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91E84D20-4B35-42B3-93F5-29A7E451C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749" y="191969"/>
            <a:ext cx="47926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Current World Market Prices: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1B1018-0950-4220-9637-932C4EA5F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288751"/>
              </p:ext>
            </p:extLst>
          </p:nvPr>
        </p:nvGraphicFramePr>
        <p:xfrm>
          <a:off x="1524001" y="1108076"/>
          <a:ext cx="8787440" cy="35660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5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2285517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5414149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618538334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Amount Invested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+40%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+57%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7E45430C-A91F-448D-92C0-69F7333B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9BBFDA6-385A-4F66-9AA4-90EA527E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  <p:extLst>
      <p:ext uri="{BB962C8B-B14F-4D97-AF65-F5344CB8AC3E}">
        <p14:creationId xmlns:p14="http://schemas.microsoft.com/office/powerpoint/2010/main" val="3498909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8FE6BD-8BE9-4759-885C-3FC7B01DAB5C}"/>
              </a:ext>
            </a:extLst>
          </p:cNvPr>
          <p:cNvSpPr/>
          <p:nvPr/>
        </p:nvSpPr>
        <p:spPr>
          <a:xfrm>
            <a:off x="2384426" y="290513"/>
            <a:ext cx="7394575" cy="3986212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300" b="1">
                <a:cs typeface="Arial" panose="020B0604020202020204" pitchFamily="34" charset="0"/>
              </a:rPr>
              <a:t>The End:</a:t>
            </a:r>
          </a:p>
          <a:p>
            <a:pPr eaLnBrk="1" hangingPunct="1"/>
            <a:endParaRPr lang="en-US" altLang="en-US" sz="23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300">
                <a:cs typeface="Arial" panose="020B0604020202020204" pitchFamily="34" charset="0"/>
              </a:rPr>
              <a:t>Calculate your ‘final profit’ by adding up the total profit you made in each round</a:t>
            </a:r>
          </a:p>
          <a:p>
            <a:pPr eaLnBrk="1" hangingPunct="1"/>
            <a:endParaRPr lang="en-US" altLang="en-US" sz="230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300" b="1">
                <a:cs typeface="Arial" panose="020B0604020202020204" pitchFamily="34" charset="0"/>
              </a:rPr>
              <a:t>Questions to consider:</a:t>
            </a:r>
          </a:p>
          <a:p>
            <a:pPr eaLnBrk="1" hangingPunct="1"/>
            <a:endParaRPr lang="en-US" altLang="en-US" sz="2300" b="1">
              <a:cs typeface="Arial" panose="020B0604020202020204" pitchFamily="34" charset="0"/>
            </a:endParaRPr>
          </a:p>
          <a:p>
            <a:pPr eaLnBrk="1" hangingPunct="1">
              <a:buFontTx/>
              <a:buChar char="-"/>
            </a:pPr>
            <a:r>
              <a:rPr lang="en-US" altLang="en-US" sz="2300">
                <a:cs typeface="Arial" panose="020B0604020202020204" pitchFamily="34" charset="0"/>
              </a:rPr>
              <a:t>When did you make the most profit?</a:t>
            </a:r>
          </a:p>
          <a:p>
            <a:pPr eaLnBrk="1" hangingPunct="1">
              <a:buFontTx/>
              <a:buChar char="-"/>
            </a:pPr>
            <a:r>
              <a:rPr lang="en-US" altLang="en-US" sz="2300">
                <a:cs typeface="Arial" panose="020B0604020202020204" pitchFamily="34" charset="0"/>
              </a:rPr>
              <a:t>Why was this?</a:t>
            </a:r>
          </a:p>
          <a:p>
            <a:pPr eaLnBrk="1" hangingPunct="1">
              <a:buFontTx/>
              <a:buChar char="-"/>
            </a:pPr>
            <a:r>
              <a:rPr lang="en-US" altLang="en-US" sz="2300">
                <a:cs typeface="Arial" panose="020B0604020202020204" pitchFamily="34" charset="0"/>
              </a:rPr>
              <a:t>Why is it important to be able to quickly complete percentage calculations?</a:t>
            </a: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D5674C66-6B94-4B56-8ABE-DA0F431AB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AEEF0C97-3912-4A6D-BF37-DE0830784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140</TotalTime>
  <Words>1208</Words>
  <Application>Microsoft Office PowerPoint</Application>
  <PresentationFormat>Widescreen</PresentationFormat>
  <Paragraphs>438</Paragraphs>
  <Slides>33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Arial</vt:lpstr>
      <vt:lpstr>Calibri</vt:lpstr>
      <vt:lpstr>Cambria Math</vt:lpstr>
      <vt:lpstr>Century Gothic</vt:lpstr>
      <vt:lpstr>Fragment Core</vt:lpstr>
      <vt:lpstr>Franklin Gothic Heavy</vt:lpstr>
      <vt:lpstr>Harrington</vt:lpstr>
      <vt:lpstr>Tw Cen MT</vt:lpstr>
      <vt:lpstr>Tw Cen MT Condensed</vt:lpstr>
      <vt:lpstr>Wingdings 3</vt:lpstr>
      <vt:lpstr>Integral</vt:lpstr>
      <vt:lpstr>Topic: Financial Maths EQ: How Do I Calculate Percentage Increase or decrease? </vt:lpstr>
      <vt:lpstr>Five Questions (LHS)</vt:lpstr>
      <vt:lpstr>PowerPoint Presentation</vt:lpstr>
      <vt:lpstr>PowerPoint Presentation</vt:lpstr>
      <vt:lpstr>PowerPoint Presentation</vt:lpstr>
      <vt:lpstr>PowerPoint Presentation</vt:lpstr>
      <vt:lpstr>LHS – Percentage Increase Practice</vt:lpstr>
      <vt:lpstr>LHS – Percentage decrease Practice</vt:lpstr>
      <vt:lpstr>LHS – WheRe is this Maths Used?</vt:lpstr>
      <vt:lpstr>LHS – Where is this maths used?</vt:lpstr>
      <vt:lpstr>LHS – Where is this maths used?</vt:lpstr>
      <vt:lpstr>Percentage share trading game Adapted from Dizzle Education www.dizzleeducation.com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Financial Maths EQ: How Do I Calculate Percentage Increase and decrease? </dc:title>
  <dc:creator>PARLEVLIET Magdeline [Baldivis Secondary College]</dc:creator>
  <cp:lastModifiedBy>PARLEVLIET Magdeline [Baldivis Secondary College]</cp:lastModifiedBy>
  <cp:revision>16</cp:revision>
  <dcterms:created xsi:type="dcterms:W3CDTF">2019-12-01T02:52:57Z</dcterms:created>
  <dcterms:modified xsi:type="dcterms:W3CDTF">2019-12-01T05:43:05Z</dcterms:modified>
</cp:coreProperties>
</file>
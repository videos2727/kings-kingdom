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77" r:id="rId2"/>
  </p:sldMasterIdLst>
  <p:notesMasterIdLst>
    <p:notesMasterId r:id="rId30"/>
  </p:notesMasterIdLst>
  <p:sldIdLst>
    <p:sldId id="333" r:id="rId3"/>
    <p:sldId id="334" r:id="rId4"/>
    <p:sldId id="335" r:id="rId5"/>
    <p:sldId id="336" r:id="rId6"/>
    <p:sldId id="271" r:id="rId7"/>
    <p:sldId id="272" r:id="rId8"/>
    <p:sldId id="265" r:id="rId9"/>
    <p:sldId id="263" r:id="rId10"/>
    <p:sldId id="264" r:id="rId11"/>
    <p:sldId id="337" r:id="rId12"/>
    <p:sldId id="273" r:id="rId13"/>
    <p:sldId id="258" r:id="rId14"/>
    <p:sldId id="262" r:id="rId15"/>
    <p:sldId id="274" r:id="rId16"/>
    <p:sldId id="275" r:id="rId17"/>
    <p:sldId id="276" r:id="rId18"/>
    <p:sldId id="277" r:id="rId19"/>
    <p:sldId id="268" r:id="rId20"/>
    <p:sldId id="278" r:id="rId21"/>
    <p:sldId id="266" r:id="rId22"/>
    <p:sldId id="259" r:id="rId23"/>
    <p:sldId id="279" r:id="rId24"/>
    <p:sldId id="280" r:id="rId25"/>
    <p:sldId id="269" r:id="rId26"/>
    <p:sldId id="267" r:id="rId27"/>
    <p:sldId id="27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3886-A336-469C-A4D4-5E349FEAB3C2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1CF30-1AB0-490D-BC00-75A66C2247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7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62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10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82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876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52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62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73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34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43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3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9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01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59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19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24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9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484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981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348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279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610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103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598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379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6561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810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6433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557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580818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25056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308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2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EBA83A-0FE1-4D7D-8547-E9BCA3B2C3F1}" type="datetimeFigureOut">
              <a:rPr lang="en-AU" smtClean="0"/>
              <a:t>28/11/2019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48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  <p:sldLayoutId id="2147483691" r:id="rId13"/>
    <p:sldLayoutId id="2147483692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Topic: Financial </a:t>
            </a:r>
            <a:r>
              <a:rPr lang="en-US" sz="4400" dirty="0" err="1"/>
              <a:t>Maths</a:t>
            </a:r>
            <a:br>
              <a:rPr lang="en-US" sz="4400" dirty="0"/>
            </a:br>
            <a:r>
              <a:rPr lang="en-US" sz="4000" dirty="0"/>
              <a:t>EQ: </a:t>
            </a:r>
            <a:r>
              <a:rPr lang="en-AU" sz="4400" dirty="0"/>
              <a:t>How Do I Calculate a Percentage of An Amount? 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8 Mathematics</a:t>
            </a:r>
          </a:p>
          <a:p>
            <a:r>
              <a:rPr lang="en-US" dirty="0" err="1"/>
              <a:t>Mrs</a:t>
            </a:r>
            <a:r>
              <a:rPr lang="en-US" dirty="0"/>
              <a:t> </a:t>
            </a:r>
            <a:r>
              <a:rPr lang="en-US" dirty="0" err="1"/>
              <a:t>Parlevliet</a:t>
            </a:r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67A5E22C-4E60-4AFC-ABDA-07485F0C687F}"/>
              </a:ext>
            </a:extLst>
          </p:cNvPr>
          <p:cNvSpPr/>
          <p:nvPr/>
        </p:nvSpPr>
        <p:spPr>
          <a:xfrm>
            <a:off x="9228333" y="73975"/>
            <a:ext cx="2899954" cy="2184432"/>
          </a:xfrm>
          <a:prstGeom prst="cloud">
            <a:avLst/>
          </a:prstGeom>
          <a:solidFill>
            <a:schemeClr val="accent1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1" y="306895"/>
            <a:ext cx="172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7944315" y="64260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703659" y="4923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1197AA-9D7A-4E8A-AEC7-12421559D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63" y="1747536"/>
            <a:ext cx="9720073" cy="402336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Draw a Venn Diagram 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to represent a class of 30 students there are 20 students who like Maths, 15 who like English and 12 who like both.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Name one advantage and disadvantage of a Census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Find the mean, mode, range	(45, 20, 41, 38, 42, 42, 48, 55)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Crystal knows 52% of the 25 students in her class, how many students can she name?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7186" y="767752"/>
            <a:ext cx="327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Financial </a:t>
            </a:r>
            <a:r>
              <a:rPr lang="en-US" sz="2800" dirty="0" err="1">
                <a:solidFill>
                  <a:schemeClr val="tx2"/>
                </a:solidFill>
              </a:rPr>
              <a:t>Maths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07186" y="1190789"/>
            <a:ext cx="6684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How do I calculate a percentage of an amount?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363EF3-DB14-4FAE-A51E-B8B16F958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0"/>
          <a:stretch/>
        </p:blipFill>
        <p:spPr>
          <a:xfrm>
            <a:off x="1294927" y="4191035"/>
            <a:ext cx="7265521" cy="266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latin typeface="Fragment Core" panose="02000504040000020003" pitchFamily="50" charset="0"/>
              </a:rPr>
              <a:t>How do I work out the percentage of an amount? </a:t>
            </a:r>
            <a:r>
              <a:rPr lang="en-AU" sz="2800" b="1" dirty="0"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7855156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3751485" y="134398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7F1A8026-4B2D-45E3-AD8E-5C65414C8622}"/>
              </a:ext>
            </a:extLst>
          </p:cNvPr>
          <p:cNvSpPr txBox="1">
            <a:spLocks/>
          </p:cNvSpPr>
          <p:nvPr/>
        </p:nvSpPr>
        <p:spPr>
          <a:xfrm>
            <a:off x="7940489" y="1931250"/>
            <a:ext cx="4251511" cy="41489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400" dirty="0"/>
              <a:t>1. Express the percentage as a fraction.</a:t>
            </a:r>
          </a:p>
          <a:p>
            <a:pPr marL="45720" indent="0" algn="ctr">
              <a:buNone/>
            </a:pP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(% is always out of 100)</a:t>
            </a:r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r>
              <a:rPr lang="en-US" sz="2400" dirty="0"/>
              <a:t>2. Change the ‘of’ to a multiplication sign.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C2675-6DC8-441C-888B-C3A3A9652BC7}"/>
              </a:ext>
            </a:extLst>
          </p:cNvPr>
          <p:cNvSpPr txBox="1"/>
          <p:nvPr/>
        </p:nvSpPr>
        <p:spPr>
          <a:xfrm>
            <a:off x="-19236" y="1776562"/>
            <a:ext cx="1845938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AU" sz="2400" b="1" dirty="0"/>
              <a:t>How do I calculate the percentage of a number?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71D1E-62DE-41C2-9B9C-7FA4636FB2B6}"/>
              </a:ext>
            </a:extLst>
          </p:cNvPr>
          <p:cNvSpPr txBox="1"/>
          <p:nvPr/>
        </p:nvSpPr>
        <p:spPr>
          <a:xfrm>
            <a:off x="2780024" y="1848527"/>
            <a:ext cx="378885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30% of 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BBB7F-C172-4DA4-996B-A68AF23F67A8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5446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Financial Maths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latin typeface="Fragment Core" panose="02000504040000020003" pitchFamily="50" charset="0"/>
              </a:rPr>
              <a:t>How do I work out the percentage of an amount? </a:t>
            </a:r>
            <a:r>
              <a:rPr lang="en-AU" sz="2800" b="1" dirty="0"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93526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3498475" y="137013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7F1A8026-4B2D-45E3-AD8E-5C65414C8622}"/>
              </a:ext>
            </a:extLst>
          </p:cNvPr>
          <p:cNvSpPr txBox="1">
            <a:spLocks/>
          </p:cNvSpPr>
          <p:nvPr/>
        </p:nvSpPr>
        <p:spPr>
          <a:xfrm>
            <a:off x="8693526" y="1931251"/>
            <a:ext cx="3498474" cy="3891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400" dirty="0"/>
              <a:t>1. Express the percentage as a fraction.</a:t>
            </a:r>
          </a:p>
          <a:p>
            <a:pPr marL="45720" indent="0" algn="ctr">
              <a:buNone/>
            </a:pP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(% is always out of 100)</a:t>
            </a:r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r>
              <a:rPr lang="en-US" sz="2400" dirty="0"/>
              <a:t>2. Change the ‘of’ to a multiplication sign.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ECA1F4-7895-4BA0-A2B8-C2F968DB4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54" b="988"/>
          <a:stretch/>
        </p:blipFill>
        <p:spPr>
          <a:xfrm>
            <a:off x="0" y="1845725"/>
            <a:ext cx="8585945" cy="769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B2F689-9326-43F3-839C-3BFE61D73AC8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</p:spTree>
    <p:extLst>
      <p:ext uri="{BB962C8B-B14F-4D97-AF65-F5344CB8AC3E}">
        <p14:creationId xmlns:p14="http://schemas.microsoft.com/office/powerpoint/2010/main" val="35043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956" y="95382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352A7-093A-4A66-BE69-B1EDC14FF3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817"/>
          <a:stretch/>
        </p:blipFill>
        <p:spPr>
          <a:xfrm>
            <a:off x="0" y="1388410"/>
            <a:ext cx="12192000" cy="228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785" y="-11359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Worded Questions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1C732A-A25E-4A9B-8537-C0487570F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3101"/>
            <a:ext cx="12192000" cy="48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08D8-438B-45D4-9188-EFAE643D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Percentage Bingo</a:t>
            </a:r>
            <a:endParaRPr lang="en-GB" dirty="0"/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C3F7202A-FC99-403F-84D5-F8C332FD9068}"/>
              </a:ext>
            </a:extLst>
          </p:cNvPr>
          <p:cNvGrpSpPr>
            <a:grpSpLocks/>
          </p:cNvGrpSpPr>
          <p:nvPr/>
        </p:nvGrpSpPr>
        <p:grpSpPr bwMode="auto">
          <a:xfrm>
            <a:off x="9397067" y="4683594"/>
            <a:ext cx="2016125" cy="2016125"/>
            <a:chOff x="3424" y="1752"/>
            <a:chExt cx="1270" cy="1270"/>
          </a:xfrm>
          <a:solidFill>
            <a:schemeClr val="accent3">
              <a:lumMod val="75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9CC2A-F59D-4C7F-B334-F13DAB111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52"/>
              <a:ext cx="1270" cy="127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DFB82785-DB80-4EDD-94A0-40A6A1E09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752"/>
              <a:ext cx="0" cy="127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4FEF28A-8F00-4FA3-9CE9-48B31435D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752"/>
              <a:ext cx="0" cy="127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9A8705C1-9C08-4152-8B2E-AE41BE097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05"/>
              <a:ext cx="127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4EE1577D-0206-4302-95D9-0B78DE235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14"/>
              <a:ext cx="127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EB5FE7D-BD3C-41C2-B191-4B4E8FF1A9DB}"/>
              </a:ext>
            </a:extLst>
          </p:cNvPr>
          <p:cNvSpPr txBox="1">
            <a:spLocks noChangeArrowheads="1"/>
          </p:cNvSpPr>
          <p:nvPr/>
        </p:nvSpPr>
        <p:spPr>
          <a:xfrm>
            <a:off x="274545" y="4815357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800"/>
              <a:t>Aim:  Full House</a:t>
            </a:r>
          </a:p>
          <a:p>
            <a:r>
              <a:rPr lang="en-GB" altLang="en-US" sz="2800"/>
              <a:t>Grid: 9 Grid</a:t>
            </a:r>
          </a:p>
          <a:p>
            <a:r>
              <a:rPr lang="en-GB" altLang="en-US" sz="2800"/>
              <a:t>Play: Calculate answer &amp; cross it off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4259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D3856B-8AC8-4CBC-921B-3B00DE128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Use any of these numbers in your grid </a:t>
            </a:r>
            <a:br>
              <a:rPr lang="en-GB" altLang="en-US" dirty="0"/>
            </a:br>
            <a:r>
              <a:rPr lang="en-GB" altLang="en-US" dirty="0">
                <a:solidFill>
                  <a:schemeClr val="accent5">
                    <a:lumMod val="75000"/>
                  </a:schemeClr>
                </a:solidFill>
              </a:rPr>
              <a:t>(NO REPEATS)</a:t>
            </a:r>
            <a:endParaRPr lang="en-US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4B79744-2174-4546-B702-C877B6DA67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49424"/>
            <a:ext cx="9720073" cy="4023360"/>
          </a:xfrm>
        </p:spPr>
        <p:txBody>
          <a:bodyPr/>
          <a:lstStyle/>
          <a:p>
            <a:r>
              <a:rPr lang="en-GB" altLang="en-US" sz="4000" dirty="0"/>
              <a:t>24 	       12		25		63</a:t>
            </a:r>
          </a:p>
          <a:p>
            <a:r>
              <a:rPr lang="en-GB" altLang="en-US" sz="4000" dirty="0"/>
              <a:t>49		48		15		36</a:t>
            </a:r>
          </a:p>
          <a:p>
            <a:r>
              <a:rPr lang="en-GB" altLang="en-US" sz="4000" dirty="0"/>
              <a:t>21		54		30		16</a:t>
            </a:r>
          </a:p>
          <a:p>
            <a:r>
              <a:rPr lang="en-GB" altLang="en-US" sz="4000" dirty="0"/>
              <a:t>9		10		55		33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2498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46CD77-6E74-449A-A62F-BD094858F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39609FCF-B955-4985-9A10-D51134E6000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5% of 1080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293207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209D7E0-911F-4577-A202-68A39DA1B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356E1433-AA93-48B1-ABF6-10C6EC3420B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40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86804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7BD005F-7447-40AC-A6DD-A93B9154F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A5201412-2928-4750-99D0-C475C029F14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5% of 180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2098706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F59FFCB-F5AD-4231-A5FA-BB84A0919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ADB0AD65-B997-4257-AACC-F71DEC74A518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90% of 40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950497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BCA8149-F3D6-42C0-8149-1E3B71055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FED1FB1E-180B-4055-A2A0-C7BB523854A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20% of 120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624669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9EC0AD0-4759-481E-8FA0-009672942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72AEC06D-CAD8-4AA0-91DB-520F13CA6CA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12.5% of 200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606688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BD8FA7F-61C1-4E26-A305-BC6B5DF78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A20860DF-7275-4CAB-BCE2-CCBFCFDD423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 baseline="30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50% of 60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981497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44F14AA-9E66-48BB-9837-7D2ECBB91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604ECA38-37C8-45CE-A19A-07801D8F3FA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110% of 50</a:t>
            </a:r>
          </a:p>
        </p:txBody>
      </p:sp>
    </p:spTree>
    <p:extLst>
      <p:ext uri="{BB962C8B-B14F-4D97-AF65-F5344CB8AC3E}">
        <p14:creationId xmlns:p14="http://schemas.microsoft.com/office/powerpoint/2010/main" val="576910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DD3512C-B3A1-4982-A2C3-5AFD7ECEB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6DC58706-F75F-46EF-A462-9FE61656FE1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210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491514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5AA236-FD3A-4DB9-85B9-B24C9C168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5CF2F51-C222-4919-AAAA-F3E6F1CB6E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150% of 10</a:t>
            </a:r>
            <a:endParaRPr lang="en-US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288772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2B707A7-DB4E-4FDA-B37C-45D037C13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037867D-D4CD-495B-BF2A-E866CB5A922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40% of 120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167304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751D4D0-4720-4DF1-8EED-8AD6A30C9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A32140CE-C1E2-4563-811B-304F3D522322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70% of 70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3957966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DB01632-D789-49F3-B0D7-1C7C485B8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32E80F9C-6742-4223-BA54-ABDC91B23860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125% of 8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235138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4BBCB7E-5C5E-4C96-BA8B-43116C5B6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687EFE41-5496-4D27-BC0F-EB7BD171F0C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 baseline="30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10% of 160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922218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C4E2D0C-8CD6-4529-8C63-C818B475C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C8E99623-FF9A-4FD6-8933-36A6B78D7A1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11% of 300</a:t>
            </a:r>
          </a:p>
        </p:txBody>
      </p:sp>
    </p:spTree>
    <p:extLst>
      <p:ext uri="{BB962C8B-B14F-4D97-AF65-F5344CB8AC3E}">
        <p14:creationId xmlns:p14="http://schemas.microsoft.com/office/powerpoint/2010/main" val="2368524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EBDE099-C7F5-4F9A-8D25-F291ABF6B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1EFEDA56-4886-484B-B7B6-4B45D355064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70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14355865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357</Words>
  <Application>Microsoft Office PowerPoint</Application>
  <PresentationFormat>Widescreen</PresentationFormat>
  <Paragraphs>125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Britannic Bold</vt:lpstr>
      <vt:lpstr>Calibri</vt:lpstr>
      <vt:lpstr>Fragment Core</vt:lpstr>
      <vt:lpstr>Harrington</vt:lpstr>
      <vt:lpstr>Tw Cen MT</vt:lpstr>
      <vt:lpstr>Tw Cen MT Condensed</vt:lpstr>
      <vt:lpstr>Wingdings 3</vt:lpstr>
      <vt:lpstr>Integral</vt:lpstr>
      <vt:lpstr>1_Integral</vt:lpstr>
      <vt:lpstr>Topic: Financial Maths EQ: How Do I Calculate a Percentage of An Amount? 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PowerPoint Presentation</vt:lpstr>
      <vt:lpstr>Practice</vt:lpstr>
      <vt:lpstr>Worded Questions</vt:lpstr>
      <vt:lpstr>Percentage Bingo</vt:lpstr>
      <vt:lpstr>Use any of these numbers in your grid  (NO REPEATS)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Maths</dc:title>
  <dc:creator>Nine Stretch</dc:creator>
  <cp:lastModifiedBy>PARLEVLIET Magdeline [Baldivis Secondary College]</cp:lastModifiedBy>
  <cp:revision>11</cp:revision>
  <dcterms:created xsi:type="dcterms:W3CDTF">2018-11-29T01:19:38Z</dcterms:created>
  <dcterms:modified xsi:type="dcterms:W3CDTF">2019-11-27T17:48:23Z</dcterms:modified>
</cp:coreProperties>
</file>
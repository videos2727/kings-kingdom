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95" r:id="rId10"/>
    <p:sldId id="296" r:id="rId11"/>
    <p:sldId id="290" r:id="rId12"/>
    <p:sldId id="297" r:id="rId13"/>
    <p:sldId id="293" r:id="rId14"/>
    <p:sldId id="29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59" d="100"/>
          <a:sy n="59" d="100"/>
        </p:scale>
        <p:origin x="330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629D30-524C-4DD0-862A-B280C4DC7D1B}" type="datetimeFigureOut">
              <a:rPr lang="en-AU" smtClean="0"/>
              <a:t>4/03/2019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B82050-2BAF-4D69-9AD3-4343689283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9371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AC2DFA9-CC8D-4011-AA2B-848F3FC946D3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5538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AC2DFA9-CC8D-4011-AA2B-848F3FC946D3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362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3013E-E2B4-4F5C-ABAB-8DA1739A79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35F35A-28C0-4106-A1D8-9EDB941FE0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69A12-8383-439E-B4BA-A58308A87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DEEC9-0398-472E-AB8F-8F84CD1ABEC8}" type="datetimeFigureOut">
              <a:rPr lang="en-AU" smtClean="0"/>
              <a:t>4/03/2019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F9E0C-0288-4783-A3D7-35250800B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FD3D5-0382-407F-8B7C-AFA3AA55C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48F5E-A84B-4594-9DE4-A1A863A34B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0025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BF312-60F9-4677-BB33-DC517335D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CD18C-F7F2-44C0-8FD7-7B470CCBD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901BD-A341-4A99-82ED-17B53C36D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DEEC9-0398-472E-AB8F-8F84CD1ABEC8}" type="datetimeFigureOut">
              <a:rPr lang="en-AU" smtClean="0"/>
              <a:t>4/03/2019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FE515-37E5-46FF-A1D9-0DD10178E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07F65-04FF-4414-BE7E-73094547C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48F5E-A84B-4594-9DE4-A1A863A34B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0516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17C84-8E93-4B61-8B8B-4B09FE7E7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E261A-ED0B-488B-8AB1-CA6846B74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FCA68-52A0-43C8-9732-A35FF667B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DEEC9-0398-472E-AB8F-8F84CD1ABEC8}" type="datetimeFigureOut">
              <a:rPr lang="en-AU" smtClean="0"/>
              <a:t>4/03/2019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9E0AC-BFE7-4A62-9C4F-CF724692D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98717-06D8-478F-A19E-1A1CFE4C7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48F5E-A84B-4594-9DE4-A1A863A34B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5276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0A462-BA3D-4C61-ACBA-886B5669D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D079D-8ACF-4C42-8B72-AB430908A8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00333F-255A-4D29-AFB1-1718390D40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2FCB58-B231-494C-AB05-256642812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DEEC9-0398-472E-AB8F-8F84CD1ABEC8}" type="datetimeFigureOut">
              <a:rPr lang="en-AU" smtClean="0"/>
              <a:t>4/03/2019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79F9CA-EBB2-42D3-BB06-274741913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B06BA2-42F8-4C03-BE83-415C6BDC7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48F5E-A84B-4594-9DE4-A1A863A34B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5533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FB56A-9C94-4328-A228-CC370C71F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45BA35-6833-457D-8157-ED825E76E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DEE579-F84E-4481-838F-A725492A76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D055F9-1F7C-41DC-B1C0-22127F265E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E08AFC-BE61-4C17-961B-DD9114F9DC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EFE7AD-3240-4815-A751-672849A5A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DEEC9-0398-472E-AB8F-8F84CD1ABEC8}" type="datetimeFigureOut">
              <a:rPr lang="en-AU" smtClean="0"/>
              <a:t>4/03/2019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4F5F9F-6D22-4BF8-B6F7-80729A857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B8DFAF-BA5C-4358-B92B-BD86F17C0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48F5E-A84B-4594-9DE4-A1A863A34B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1287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42904-D3B3-488A-AAAA-0EE91AFF5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E885FE-725C-4B8A-9706-3AA888CDD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DEEC9-0398-472E-AB8F-8F84CD1ABEC8}" type="datetimeFigureOut">
              <a:rPr lang="en-AU" smtClean="0"/>
              <a:t>4/03/2019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254C15-7297-47C9-A86C-13E13D041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7620D1-4B1E-4FF9-BA1B-BE8006702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48F5E-A84B-4594-9DE4-A1A863A34B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4495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A3E879-E793-4FD9-8F0D-ED25E0297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DEEC9-0398-472E-AB8F-8F84CD1ABEC8}" type="datetimeFigureOut">
              <a:rPr lang="en-AU" smtClean="0"/>
              <a:t>4/03/2019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78A129-5F50-43DE-80F3-D5C96EB8E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5A3FA2-41D2-4162-9783-CC4187A1A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48F5E-A84B-4594-9DE4-A1A863A34B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3175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1FE-2660-4DFD-B09F-479C6E150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B86EF-B855-43EB-9222-AF4356435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4242F2-C3B7-404C-80B3-5F144D7DF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9931E-FDDA-4BEE-B83A-BBCADE79F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DEEC9-0398-472E-AB8F-8F84CD1ABEC8}" type="datetimeFigureOut">
              <a:rPr lang="en-AU" smtClean="0"/>
              <a:t>4/03/2019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0E1CC7-2EA7-4583-B1C1-311C7FA8A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8A5BF0-8367-4DAA-974D-D59A051D3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48F5E-A84B-4594-9DE4-A1A863A34B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848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29693-CEBB-4411-93A5-6AAC68762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9FAAA3-5489-43EB-8446-683C877F64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F1245F-A3B7-48AF-8D0A-936D06EA13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EF05C6-A68F-47F5-9EE6-567011C46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DEEC9-0398-472E-AB8F-8F84CD1ABEC8}" type="datetimeFigureOut">
              <a:rPr lang="en-AU" smtClean="0"/>
              <a:t>4/03/2019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68AE29-E9FD-4E78-8A84-5C10BDB29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46D4C-C1FF-4382-AA4D-F1EF87952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48F5E-A84B-4594-9DE4-A1A863A34B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3043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15769-F857-4316-AA7E-509843631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E39A0F-D0A3-4F68-8401-F19FC4BA8E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F6B0C-F03B-4B12-9B95-493D6C114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DEEC9-0398-472E-AB8F-8F84CD1ABEC8}" type="datetimeFigureOut">
              <a:rPr lang="en-AU" smtClean="0"/>
              <a:t>4/03/2019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0D241-CB0D-4497-8FF3-CDF1427E5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04B98-5EB4-40F4-ACD5-17F213705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48F5E-A84B-4594-9DE4-A1A863A34B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2078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BF65B4-4CA2-463D-B91B-CB7FC95A13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A3C408-2829-4631-9611-FFB759ED59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3492E-B46E-458A-A0B3-49C63EF6E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DEEC9-0398-472E-AB8F-8F84CD1ABEC8}" type="datetimeFigureOut">
              <a:rPr lang="en-AU" smtClean="0"/>
              <a:t>4/03/2019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2F4B7-A23A-4FE0-A8EC-3D0D053DD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B1747-6BC3-4E8B-BCCD-52137ACA6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48F5E-A84B-4594-9DE4-A1A863A34B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7707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47C725-13BC-40AB-90C7-07477C98A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3CF6B2-C89C-4371-AA95-BCB6EA5CC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5F287-33B1-4333-83D4-CBB1DC99A7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DEEC9-0398-472E-AB8F-8F84CD1ABEC8}" type="datetimeFigureOut">
              <a:rPr lang="en-AU" smtClean="0"/>
              <a:t>4/03/2019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14AAC-3AD5-450C-A2E8-E204E4B9F2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09A7F-7158-4BDD-8B4B-CDCB73D47B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F48F5E-A84B-4594-9DE4-A1A863A34B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1264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:a16="http://schemas.microsoft.com/office/drawing/2014/main" id="{907648F7-49CB-444D-9C28-485096D78A22}"/>
              </a:ext>
            </a:extLst>
          </p:cNvPr>
          <p:cNvSpPr/>
          <p:nvPr/>
        </p:nvSpPr>
        <p:spPr>
          <a:xfrm>
            <a:off x="3790122" y="649356"/>
            <a:ext cx="1417983" cy="3299791"/>
          </a:xfrm>
          <a:prstGeom prst="rt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51541729-3E9A-4801-82F4-451A2C6838F9}"/>
              </a:ext>
            </a:extLst>
          </p:cNvPr>
          <p:cNvSpPr/>
          <p:nvPr/>
        </p:nvSpPr>
        <p:spPr>
          <a:xfrm flipH="1">
            <a:off x="2372140" y="649356"/>
            <a:ext cx="1417982" cy="3299791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CD8F879C-1F4E-46D6-8C2C-AA28FD9DB749}"/>
              </a:ext>
            </a:extLst>
          </p:cNvPr>
          <p:cNvSpPr/>
          <p:nvPr/>
        </p:nvSpPr>
        <p:spPr>
          <a:xfrm rot="10800000" flipH="1">
            <a:off x="3790122" y="3949146"/>
            <a:ext cx="1417982" cy="1099931"/>
          </a:xfrm>
          <a:prstGeom prst="rt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C48640E1-96E7-4A96-A0E0-2C434BD40462}"/>
              </a:ext>
            </a:extLst>
          </p:cNvPr>
          <p:cNvSpPr/>
          <p:nvPr/>
        </p:nvSpPr>
        <p:spPr>
          <a:xfrm rot="10800000">
            <a:off x="2372137" y="3949145"/>
            <a:ext cx="1417980" cy="1099931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C7A6C6-87BB-4505-9FB0-C7E9F000AFD5}"/>
              </a:ext>
            </a:extLst>
          </p:cNvPr>
          <p:cNvSpPr txBox="1"/>
          <p:nvPr/>
        </p:nvSpPr>
        <p:spPr>
          <a:xfrm>
            <a:off x="5731176" y="327706"/>
            <a:ext cx="606949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u="sng" dirty="0"/>
              <a:t>This shape is a kite.</a:t>
            </a:r>
          </a:p>
          <a:p>
            <a:r>
              <a:rPr lang="en-AU" sz="2800" dirty="0"/>
              <a:t>There are 2 ways we can look at the area of a kite. </a:t>
            </a:r>
          </a:p>
          <a:p>
            <a:endParaRPr lang="en-AU" sz="2800" dirty="0"/>
          </a:p>
          <a:p>
            <a:r>
              <a:rPr lang="en-AU" sz="2800" dirty="0"/>
              <a:t>1. We can rearrange the kite to make a rectangle.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06B751E-8B3D-410F-9041-88591BBD7F51}"/>
              </a:ext>
            </a:extLst>
          </p:cNvPr>
          <p:cNvCxnSpPr>
            <a:stCxn id="5" idx="0"/>
            <a:endCxn id="6" idx="0"/>
          </p:cNvCxnSpPr>
          <p:nvPr/>
        </p:nvCxnSpPr>
        <p:spPr>
          <a:xfrm>
            <a:off x="3790122" y="649356"/>
            <a:ext cx="0" cy="4399721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3CEED2E-96B9-4AAA-AE6F-539477883A68}"/>
              </a:ext>
            </a:extLst>
          </p:cNvPr>
          <p:cNvSpPr txBox="1"/>
          <p:nvPr/>
        </p:nvSpPr>
        <p:spPr>
          <a:xfrm rot="16200000">
            <a:off x="3228202" y="2820696"/>
            <a:ext cx="8472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Length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FDCA08-E1D9-43E8-89C5-5B5780A4986E}"/>
              </a:ext>
            </a:extLst>
          </p:cNvPr>
          <p:cNvSpPr txBox="1"/>
          <p:nvPr/>
        </p:nvSpPr>
        <p:spPr>
          <a:xfrm>
            <a:off x="3836506" y="3655221"/>
            <a:ext cx="8472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6">
                    <a:lumMod val="50000"/>
                  </a:schemeClr>
                </a:solidFill>
              </a:rPr>
              <a:t>Width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E132960-4B03-4258-B924-9542ED201E04}"/>
              </a:ext>
            </a:extLst>
          </p:cNvPr>
          <p:cNvCxnSpPr>
            <a:cxnSpLocks/>
            <a:stCxn id="6" idx="4"/>
            <a:endCxn id="7" idx="4"/>
          </p:cNvCxnSpPr>
          <p:nvPr/>
        </p:nvCxnSpPr>
        <p:spPr>
          <a:xfrm flipH="1" flipV="1">
            <a:off x="2372137" y="3949145"/>
            <a:ext cx="2835967" cy="1"/>
          </a:xfrm>
          <a:prstGeom prst="straightConnector1">
            <a:avLst/>
          </a:prstGeom>
          <a:ln w="38100" cap="flat" cmpd="sng" algn="ctr">
            <a:solidFill>
              <a:schemeClr val="accent6">
                <a:lumMod val="50000"/>
              </a:schemeClr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6806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C78F1B67-5CC1-487B-B5EB-1166AB71E69E}"/>
              </a:ext>
            </a:extLst>
          </p:cNvPr>
          <p:cNvSpPr/>
          <p:nvPr/>
        </p:nvSpPr>
        <p:spPr>
          <a:xfrm flipH="1">
            <a:off x="2372136" y="649353"/>
            <a:ext cx="1417977" cy="3299791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907648F7-49CB-444D-9C28-485096D78A22}"/>
              </a:ext>
            </a:extLst>
          </p:cNvPr>
          <p:cNvSpPr/>
          <p:nvPr/>
        </p:nvSpPr>
        <p:spPr>
          <a:xfrm>
            <a:off x="3790122" y="649356"/>
            <a:ext cx="1417983" cy="3299791"/>
          </a:xfrm>
          <a:prstGeom prst="rt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51541729-3E9A-4801-82F4-451A2C6838F9}"/>
              </a:ext>
            </a:extLst>
          </p:cNvPr>
          <p:cNvSpPr/>
          <p:nvPr/>
        </p:nvSpPr>
        <p:spPr>
          <a:xfrm rot="10800000">
            <a:off x="3790122" y="649355"/>
            <a:ext cx="1417980" cy="3299791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CD8F879C-1F4E-46D6-8C2C-AA28FD9DB749}"/>
              </a:ext>
            </a:extLst>
          </p:cNvPr>
          <p:cNvSpPr/>
          <p:nvPr/>
        </p:nvSpPr>
        <p:spPr>
          <a:xfrm rot="10800000" flipH="1">
            <a:off x="3790122" y="3949146"/>
            <a:ext cx="1417982" cy="1099931"/>
          </a:xfrm>
          <a:prstGeom prst="rt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C48640E1-96E7-4A96-A0E0-2C434BD40462}"/>
              </a:ext>
            </a:extLst>
          </p:cNvPr>
          <p:cNvSpPr/>
          <p:nvPr/>
        </p:nvSpPr>
        <p:spPr>
          <a:xfrm rot="10800000">
            <a:off x="2372137" y="3949145"/>
            <a:ext cx="1417980" cy="1099931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C7A6C6-87BB-4505-9FB0-C7E9F000AFD5}"/>
              </a:ext>
            </a:extLst>
          </p:cNvPr>
          <p:cNvSpPr txBox="1"/>
          <p:nvPr/>
        </p:nvSpPr>
        <p:spPr>
          <a:xfrm>
            <a:off x="5686357" y="327706"/>
            <a:ext cx="606949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u="sng" dirty="0"/>
              <a:t>This shape is a kite.</a:t>
            </a:r>
          </a:p>
          <a:p>
            <a:r>
              <a:rPr lang="en-AU" sz="2800" dirty="0"/>
              <a:t>There are 2 ways we can look at the area of a kite. </a:t>
            </a:r>
          </a:p>
          <a:p>
            <a:endParaRPr lang="en-AU" sz="2800" dirty="0"/>
          </a:p>
          <a:p>
            <a:r>
              <a:rPr lang="en-AU" sz="2800" dirty="0"/>
              <a:t>1. We can rearrange the kite to make a rectangle.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06B751E-8B3D-410F-9041-88591BBD7F51}"/>
              </a:ext>
            </a:extLst>
          </p:cNvPr>
          <p:cNvCxnSpPr>
            <a:cxnSpLocks/>
            <a:stCxn id="5" idx="4"/>
            <a:endCxn id="6" idx="0"/>
          </p:cNvCxnSpPr>
          <p:nvPr/>
        </p:nvCxnSpPr>
        <p:spPr>
          <a:xfrm>
            <a:off x="3790122" y="649355"/>
            <a:ext cx="0" cy="4399722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3CEED2E-96B9-4AAA-AE6F-539477883A68}"/>
              </a:ext>
            </a:extLst>
          </p:cNvPr>
          <p:cNvSpPr txBox="1"/>
          <p:nvPr/>
        </p:nvSpPr>
        <p:spPr>
          <a:xfrm rot="16200000">
            <a:off x="3228202" y="2820696"/>
            <a:ext cx="8472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Length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FDCA08-E1D9-43E8-89C5-5B5780A4986E}"/>
              </a:ext>
            </a:extLst>
          </p:cNvPr>
          <p:cNvSpPr txBox="1"/>
          <p:nvPr/>
        </p:nvSpPr>
        <p:spPr>
          <a:xfrm>
            <a:off x="3836506" y="3655221"/>
            <a:ext cx="8472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6">
                    <a:lumMod val="50000"/>
                  </a:schemeClr>
                </a:solidFill>
              </a:rPr>
              <a:t>Width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E132960-4B03-4258-B924-9542ED201E04}"/>
              </a:ext>
            </a:extLst>
          </p:cNvPr>
          <p:cNvCxnSpPr>
            <a:cxnSpLocks/>
            <a:stCxn id="6" idx="4"/>
            <a:endCxn id="7" idx="4"/>
          </p:cNvCxnSpPr>
          <p:nvPr/>
        </p:nvCxnSpPr>
        <p:spPr>
          <a:xfrm flipH="1" flipV="1">
            <a:off x="2372137" y="3949145"/>
            <a:ext cx="2835967" cy="1"/>
          </a:xfrm>
          <a:prstGeom prst="straightConnector1">
            <a:avLst/>
          </a:prstGeom>
          <a:ln w="38100" cap="flat" cmpd="sng" algn="ctr">
            <a:solidFill>
              <a:schemeClr val="accent6">
                <a:lumMod val="50000"/>
              </a:schemeClr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Arrow: U-Turn 13">
            <a:extLst>
              <a:ext uri="{FF2B5EF4-FFF2-40B4-BE49-F238E27FC236}">
                <a16:creationId xmlns:a16="http://schemas.microsoft.com/office/drawing/2014/main" id="{B0182EA9-ABDB-4A00-AB4B-FF76A5FD9D75}"/>
              </a:ext>
            </a:extLst>
          </p:cNvPr>
          <p:cNvSpPr/>
          <p:nvPr/>
        </p:nvSpPr>
        <p:spPr>
          <a:xfrm>
            <a:off x="3407234" y="1037795"/>
            <a:ext cx="1417983" cy="847268"/>
          </a:xfrm>
          <a:prstGeom prst="utur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7" name="Right Triangle 16">
            <a:extLst>
              <a:ext uri="{FF2B5EF4-FFF2-40B4-BE49-F238E27FC236}">
                <a16:creationId xmlns:a16="http://schemas.microsoft.com/office/drawing/2014/main" id="{DB951FEA-A5A0-40B0-8F70-DC6ED41D5525}"/>
              </a:ext>
            </a:extLst>
          </p:cNvPr>
          <p:cNvSpPr/>
          <p:nvPr/>
        </p:nvSpPr>
        <p:spPr>
          <a:xfrm rot="10800000" flipV="1">
            <a:off x="3790112" y="3949144"/>
            <a:ext cx="1417958" cy="1099925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Arrow: U-Turn 15">
            <a:extLst>
              <a:ext uri="{FF2B5EF4-FFF2-40B4-BE49-F238E27FC236}">
                <a16:creationId xmlns:a16="http://schemas.microsoft.com/office/drawing/2014/main" id="{DF9459E1-002F-4531-B4A2-64B5EF234AAD}"/>
              </a:ext>
            </a:extLst>
          </p:cNvPr>
          <p:cNvSpPr/>
          <p:nvPr/>
        </p:nvSpPr>
        <p:spPr>
          <a:xfrm flipV="1">
            <a:off x="3467173" y="4575314"/>
            <a:ext cx="1124147" cy="811741"/>
          </a:xfrm>
          <a:prstGeom prst="utur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983BF6-4E6B-4E05-A5FB-E1C71999241B}"/>
              </a:ext>
            </a:extLst>
          </p:cNvPr>
          <p:cNvSpPr txBox="1"/>
          <p:nvPr/>
        </p:nvSpPr>
        <p:spPr>
          <a:xfrm>
            <a:off x="5686357" y="3655221"/>
            <a:ext cx="606949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By doing this we can see that the area of a kite is the same as a rectangle that is half the width of the kite.</a:t>
            </a:r>
          </a:p>
        </p:txBody>
      </p:sp>
    </p:spTree>
    <p:extLst>
      <p:ext uri="{BB962C8B-B14F-4D97-AF65-F5344CB8AC3E}">
        <p14:creationId xmlns:p14="http://schemas.microsoft.com/office/powerpoint/2010/main" val="3364757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5" grpId="0" animBg="1"/>
      <p:bldP spid="7" grpId="0" animBg="1"/>
      <p:bldP spid="17" grpId="0" animBg="1"/>
      <p:bldP spid="16" grpId="0" animBg="1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604F39-6429-47EF-9598-21403D803637}"/>
              </a:ext>
            </a:extLst>
          </p:cNvPr>
          <p:cNvSpPr/>
          <p:nvPr/>
        </p:nvSpPr>
        <p:spPr>
          <a:xfrm>
            <a:off x="2372112" y="649356"/>
            <a:ext cx="2835967" cy="439970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907648F7-49CB-444D-9C28-485096D78A22}"/>
              </a:ext>
            </a:extLst>
          </p:cNvPr>
          <p:cNvSpPr/>
          <p:nvPr/>
        </p:nvSpPr>
        <p:spPr>
          <a:xfrm>
            <a:off x="3790122" y="649356"/>
            <a:ext cx="1417983" cy="3299791"/>
          </a:xfrm>
          <a:prstGeom prst="rt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51541729-3E9A-4801-82F4-451A2C6838F9}"/>
              </a:ext>
            </a:extLst>
          </p:cNvPr>
          <p:cNvSpPr/>
          <p:nvPr/>
        </p:nvSpPr>
        <p:spPr>
          <a:xfrm flipH="1">
            <a:off x="2372140" y="649356"/>
            <a:ext cx="1417982" cy="3299791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CD8F879C-1F4E-46D6-8C2C-AA28FD9DB749}"/>
              </a:ext>
            </a:extLst>
          </p:cNvPr>
          <p:cNvSpPr/>
          <p:nvPr/>
        </p:nvSpPr>
        <p:spPr>
          <a:xfrm rot="10800000" flipH="1">
            <a:off x="3790122" y="3949146"/>
            <a:ext cx="1417982" cy="1099931"/>
          </a:xfrm>
          <a:prstGeom prst="rt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C48640E1-96E7-4A96-A0E0-2C434BD40462}"/>
              </a:ext>
            </a:extLst>
          </p:cNvPr>
          <p:cNvSpPr/>
          <p:nvPr/>
        </p:nvSpPr>
        <p:spPr>
          <a:xfrm rot="10800000">
            <a:off x="2372137" y="3949145"/>
            <a:ext cx="1417980" cy="1099931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C7A6C6-87BB-4505-9FB0-C7E9F000AFD5}"/>
              </a:ext>
            </a:extLst>
          </p:cNvPr>
          <p:cNvSpPr txBox="1"/>
          <p:nvPr/>
        </p:nvSpPr>
        <p:spPr>
          <a:xfrm>
            <a:off x="5764135" y="314092"/>
            <a:ext cx="606949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u="sng" dirty="0"/>
              <a:t>This shape is a kite.</a:t>
            </a:r>
          </a:p>
          <a:p>
            <a:r>
              <a:rPr lang="en-AU" sz="2800" dirty="0"/>
              <a:t>There are 2 ways we can look at the area of a kite. </a:t>
            </a:r>
          </a:p>
          <a:p>
            <a:endParaRPr lang="en-AU" sz="2800" dirty="0"/>
          </a:p>
          <a:p>
            <a:pPr marL="514350" indent="-514350">
              <a:buAutoNum type="arabicPeriod"/>
            </a:pPr>
            <a:r>
              <a:rPr lang="en-AU" sz="2800" dirty="0"/>
              <a:t>We can rearrange the kite to make a rectangle.</a:t>
            </a:r>
          </a:p>
          <a:p>
            <a:pPr marL="514350" indent="-514350">
              <a:buAutoNum type="arabicPeriod"/>
            </a:pPr>
            <a:endParaRPr lang="en-AU" sz="2800" dirty="0"/>
          </a:p>
          <a:p>
            <a:pPr marL="514350" indent="-514350">
              <a:buAutoNum type="arabicPeriod"/>
            </a:pPr>
            <a:r>
              <a:rPr lang="en-AU" sz="2800" dirty="0"/>
              <a:t>We can make a rectangle that fits around our kite.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06B751E-8B3D-410F-9041-88591BBD7F51}"/>
              </a:ext>
            </a:extLst>
          </p:cNvPr>
          <p:cNvCxnSpPr>
            <a:stCxn id="5" idx="0"/>
            <a:endCxn id="6" idx="0"/>
          </p:cNvCxnSpPr>
          <p:nvPr/>
        </p:nvCxnSpPr>
        <p:spPr>
          <a:xfrm>
            <a:off x="3790122" y="649356"/>
            <a:ext cx="0" cy="4399721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3CEED2E-96B9-4AAA-AE6F-539477883A68}"/>
              </a:ext>
            </a:extLst>
          </p:cNvPr>
          <p:cNvSpPr txBox="1"/>
          <p:nvPr/>
        </p:nvSpPr>
        <p:spPr>
          <a:xfrm rot="16200000">
            <a:off x="3228202" y="2820696"/>
            <a:ext cx="8472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Length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FDCA08-E1D9-43E8-89C5-5B5780A4986E}"/>
              </a:ext>
            </a:extLst>
          </p:cNvPr>
          <p:cNvSpPr txBox="1"/>
          <p:nvPr/>
        </p:nvSpPr>
        <p:spPr>
          <a:xfrm>
            <a:off x="3836506" y="3655221"/>
            <a:ext cx="8472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6">
                    <a:lumMod val="50000"/>
                  </a:schemeClr>
                </a:solidFill>
              </a:rPr>
              <a:t>Width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E132960-4B03-4258-B924-9542ED201E04}"/>
              </a:ext>
            </a:extLst>
          </p:cNvPr>
          <p:cNvCxnSpPr>
            <a:cxnSpLocks/>
            <a:stCxn id="6" idx="4"/>
            <a:endCxn id="7" idx="4"/>
          </p:cNvCxnSpPr>
          <p:nvPr/>
        </p:nvCxnSpPr>
        <p:spPr>
          <a:xfrm flipH="1" flipV="1">
            <a:off x="2372137" y="3949145"/>
            <a:ext cx="2835967" cy="1"/>
          </a:xfrm>
          <a:prstGeom prst="straightConnector1">
            <a:avLst/>
          </a:prstGeom>
          <a:ln w="38100" cap="flat" cmpd="sng" algn="ctr">
            <a:solidFill>
              <a:schemeClr val="accent6">
                <a:lumMod val="50000"/>
              </a:schemeClr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3265FEE-3E69-4B00-912D-E1293FB98BAF}"/>
              </a:ext>
            </a:extLst>
          </p:cNvPr>
          <p:cNvSpPr txBox="1"/>
          <p:nvPr/>
        </p:nvSpPr>
        <p:spPr>
          <a:xfrm>
            <a:off x="5764135" y="4284410"/>
            <a:ext cx="606949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By doing this and looking at each section of the kite we can see that the area of a kite only takes up half the area of a rectangle of the same length and width.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C0E6F7-0049-41C0-AAB1-E99C918BD592}"/>
              </a:ext>
            </a:extLst>
          </p:cNvPr>
          <p:cNvSpPr/>
          <p:nvPr/>
        </p:nvSpPr>
        <p:spPr>
          <a:xfrm>
            <a:off x="2372112" y="649356"/>
            <a:ext cx="1417981" cy="3299774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60B06D2-72D8-4CB9-AFA9-4ABE22C6D147}"/>
              </a:ext>
            </a:extLst>
          </p:cNvPr>
          <p:cNvCxnSpPr>
            <a:endCxn id="5" idx="0"/>
          </p:cNvCxnSpPr>
          <p:nvPr/>
        </p:nvCxnSpPr>
        <p:spPr>
          <a:xfrm flipV="1">
            <a:off x="2372083" y="649356"/>
            <a:ext cx="1418039" cy="329977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59CA00D-786D-479E-8F5E-EBA517FA6AA5}"/>
              </a:ext>
            </a:extLst>
          </p:cNvPr>
          <p:cNvSpPr txBox="1"/>
          <p:nvPr/>
        </p:nvSpPr>
        <p:spPr>
          <a:xfrm>
            <a:off x="512629" y="1104396"/>
            <a:ext cx="1582971" cy="14773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Only ½ this section of the rectangle contains the kite</a:t>
            </a:r>
          </a:p>
        </p:txBody>
      </p:sp>
    </p:spTree>
    <p:extLst>
      <p:ext uri="{BB962C8B-B14F-4D97-AF65-F5344CB8AC3E}">
        <p14:creationId xmlns:p14="http://schemas.microsoft.com/office/powerpoint/2010/main" val="2203992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-3.7037E-6 L 1.04167E-6 0.2092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463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4.07407E-6 L 2.70833E-6 0.16041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0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7.40741E-7 L -0.11628 7.40741E-7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20" y="0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4.44444E-6 L -0.1276 -4.44444E-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3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/>
      <p:bldP spid="12" grpId="0"/>
      <p:bldP spid="14" grpId="0"/>
      <p:bldP spid="3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604F39-6429-47EF-9598-21403D803637}"/>
              </a:ext>
            </a:extLst>
          </p:cNvPr>
          <p:cNvSpPr/>
          <p:nvPr/>
        </p:nvSpPr>
        <p:spPr>
          <a:xfrm>
            <a:off x="2372112" y="649356"/>
            <a:ext cx="2835967" cy="439970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907648F7-49CB-444D-9C28-485096D78A22}"/>
              </a:ext>
            </a:extLst>
          </p:cNvPr>
          <p:cNvSpPr/>
          <p:nvPr/>
        </p:nvSpPr>
        <p:spPr>
          <a:xfrm>
            <a:off x="3790122" y="649356"/>
            <a:ext cx="1417983" cy="3299791"/>
          </a:xfrm>
          <a:prstGeom prst="rt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51541729-3E9A-4801-82F4-451A2C6838F9}"/>
              </a:ext>
            </a:extLst>
          </p:cNvPr>
          <p:cNvSpPr/>
          <p:nvPr/>
        </p:nvSpPr>
        <p:spPr>
          <a:xfrm flipH="1">
            <a:off x="2372140" y="649356"/>
            <a:ext cx="1417982" cy="3299791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CD8F879C-1F4E-46D6-8C2C-AA28FD9DB749}"/>
              </a:ext>
            </a:extLst>
          </p:cNvPr>
          <p:cNvSpPr/>
          <p:nvPr/>
        </p:nvSpPr>
        <p:spPr>
          <a:xfrm rot="10800000" flipH="1">
            <a:off x="3790122" y="3949146"/>
            <a:ext cx="1417982" cy="1099931"/>
          </a:xfrm>
          <a:prstGeom prst="rt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C48640E1-96E7-4A96-A0E0-2C434BD40462}"/>
              </a:ext>
            </a:extLst>
          </p:cNvPr>
          <p:cNvSpPr/>
          <p:nvPr/>
        </p:nvSpPr>
        <p:spPr>
          <a:xfrm rot="10800000">
            <a:off x="2372137" y="3949145"/>
            <a:ext cx="1417980" cy="1099931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C7A6C6-87BB-4505-9FB0-C7E9F000AFD5}"/>
              </a:ext>
            </a:extLst>
          </p:cNvPr>
          <p:cNvSpPr txBox="1"/>
          <p:nvPr/>
        </p:nvSpPr>
        <p:spPr>
          <a:xfrm>
            <a:off x="5764135" y="314092"/>
            <a:ext cx="606949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u="sng" dirty="0"/>
              <a:t>This shape is a kite.</a:t>
            </a:r>
          </a:p>
          <a:p>
            <a:r>
              <a:rPr lang="en-AU" sz="2800" dirty="0"/>
              <a:t>There are 2 ways we can look at the area of a kite. </a:t>
            </a:r>
          </a:p>
          <a:p>
            <a:endParaRPr lang="en-AU" sz="2800" dirty="0"/>
          </a:p>
          <a:p>
            <a:pPr marL="514350" indent="-514350">
              <a:buAutoNum type="arabicPeriod"/>
            </a:pPr>
            <a:r>
              <a:rPr lang="en-AU" sz="2800" dirty="0"/>
              <a:t>We can rearrange the kite to make a rectangle.</a:t>
            </a:r>
          </a:p>
          <a:p>
            <a:pPr marL="514350" indent="-514350">
              <a:buAutoNum type="arabicPeriod"/>
            </a:pPr>
            <a:endParaRPr lang="en-AU" sz="2800" dirty="0"/>
          </a:p>
          <a:p>
            <a:pPr marL="514350" indent="-514350">
              <a:buAutoNum type="arabicPeriod"/>
            </a:pPr>
            <a:r>
              <a:rPr lang="en-AU" sz="2800" dirty="0"/>
              <a:t>We can make a rectangle that fits around our kite.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06B751E-8B3D-410F-9041-88591BBD7F51}"/>
              </a:ext>
            </a:extLst>
          </p:cNvPr>
          <p:cNvCxnSpPr>
            <a:cxnSpLocks/>
          </p:cNvCxnSpPr>
          <p:nvPr/>
        </p:nvCxnSpPr>
        <p:spPr>
          <a:xfrm>
            <a:off x="2372107" y="649342"/>
            <a:ext cx="0" cy="4399721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3CEED2E-96B9-4AAA-AE6F-539477883A68}"/>
              </a:ext>
            </a:extLst>
          </p:cNvPr>
          <p:cNvSpPr txBox="1"/>
          <p:nvPr/>
        </p:nvSpPr>
        <p:spPr>
          <a:xfrm rot="16200000">
            <a:off x="1763822" y="2817305"/>
            <a:ext cx="8472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Length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FDCA08-E1D9-43E8-89C5-5B5780A4986E}"/>
              </a:ext>
            </a:extLst>
          </p:cNvPr>
          <p:cNvSpPr txBox="1"/>
          <p:nvPr/>
        </p:nvSpPr>
        <p:spPr>
          <a:xfrm>
            <a:off x="3836506" y="5086747"/>
            <a:ext cx="8472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6">
                    <a:lumMod val="50000"/>
                  </a:schemeClr>
                </a:solidFill>
              </a:rPr>
              <a:t>Width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E132960-4B03-4258-B924-9542ED201E04}"/>
              </a:ext>
            </a:extLst>
          </p:cNvPr>
          <p:cNvCxnSpPr>
            <a:cxnSpLocks/>
          </p:cNvCxnSpPr>
          <p:nvPr/>
        </p:nvCxnSpPr>
        <p:spPr>
          <a:xfrm flipH="1" flipV="1">
            <a:off x="2372107" y="5068835"/>
            <a:ext cx="2835967" cy="1"/>
          </a:xfrm>
          <a:prstGeom prst="straightConnector1">
            <a:avLst/>
          </a:prstGeom>
          <a:ln w="38100" cap="flat" cmpd="sng" algn="ctr">
            <a:solidFill>
              <a:schemeClr val="accent6">
                <a:lumMod val="50000"/>
              </a:schemeClr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3265FEE-3E69-4B00-912D-E1293FB98BAF}"/>
              </a:ext>
            </a:extLst>
          </p:cNvPr>
          <p:cNvSpPr txBox="1"/>
          <p:nvPr/>
        </p:nvSpPr>
        <p:spPr>
          <a:xfrm>
            <a:off x="5764135" y="4284410"/>
            <a:ext cx="606949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By doing this and looking at each section of the kite we can see that the area of a kite only takes up half the area of a rectangle of the same length and width.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C0E6F7-0049-41C0-AAB1-E99C918BD592}"/>
              </a:ext>
            </a:extLst>
          </p:cNvPr>
          <p:cNvSpPr/>
          <p:nvPr/>
        </p:nvSpPr>
        <p:spPr>
          <a:xfrm flipH="1">
            <a:off x="3790093" y="649356"/>
            <a:ext cx="1417981" cy="3299774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60B06D2-72D8-4CB9-AFA9-4ABE22C6D147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 flipH="1" flipV="1">
            <a:off x="3790122" y="649356"/>
            <a:ext cx="1417983" cy="329979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59CA00D-786D-479E-8F5E-EBA517FA6AA5}"/>
              </a:ext>
            </a:extLst>
          </p:cNvPr>
          <p:cNvSpPr txBox="1"/>
          <p:nvPr/>
        </p:nvSpPr>
        <p:spPr>
          <a:xfrm>
            <a:off x="5511626" y="1104396"/>
            <a:ext cx="1582971" cy="14773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Only ½ this section of the rectangle contains the kite</a:t>
            </a:r>
          </a:p>
        </p:txBody>
      </p:sp>
    </p:spTree>
    <p:extLst>
      <p:ext uri="{BB962C8B-B14F-4D97-AF65-F5344CB8AC3E}">
        <p14:creationId xmlns:p14="http://schemas.microsoft.com/office/powerpoint/2010/main" val="3223023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604F39-6429-47EF-9598-21403D803637}"/>
              </a:ext>
            </a:extLst>
          </p:cNvPr>
          <p:cNvSpPr/>
          <p:nvPr/>
        </p:nvSpPr>
        <p:spPr>
          <a:xfrm>
            <a:off x="2372112" y="649356"/>
            <a:ext cx="2835967" cy="439970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907648F7-49CB-444D-9C28-485096D78A22}"/>
              </a:ext>
            </a:extLst>
          </p:cNvPr>
          <p:cNvSpPr/>
          <p:nvPr/>
        </p:nvSpPr>
        <p:spPr>
          <a:xfrm>
            <a:off x="3790122" y="649356"/>
            <a:ext cx="1417983" cy="3299791"/>
          </a:xfrm>
          <a:prstGeom prst="rt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51541729-3E9A-4801-82F4-451A2C6838F9}"/>
              </a:ext>
            </a:extLst>
          </p:cNvPr>
          <p:cNvSpPr/>
          <p:nvPr/>
        </p:nvSpPr>
        <p:spPr>
          <a:xfrm flipH="1">
            <a:off x="2372140" y="649356"/>
            <a:ext cx="1417982" cy="3299791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CD8F879C-1F4E-46D6-8C2C-AA28FD9DB749}"/>
              </a:ext>
            </a:extLst>
          </p:cNvPr>
          <p:cNvSpPr/>
          <p:nvPr/>
        </p:nvSpPr>
        <p:spPr>
          <a:xfrm rot="10800000" flipH="1">
            <a:off x="3790122" y="3949146"/>
            <a:ext cx="1417982" cy="1099931"/>
          </a:xfrm>
          <a:prstGeom prst="rt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C48640E1-96E7-4A96-A0E0-2C434BD40462}"/>
              </a:ext>
            </a:extLst>
          </p:cNvPr>
          <p:cNvSpPr/>
          <p:nvPr/>
        </p:nvSpPr>
        <p:spPr>
          <a:xfrm rot="10800000">
            <a:off x="2372137" y="3949145"/>
            <a:ext cx="1417980" cy="1099931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C7A6C6-87BB-4505-9FB0-C7E9F000AFD5}"/>
              </a:ext>
            </a:extLst>
          </p:cNvPr>
          <p:cNvSpPr txBox="1"/>
          <p:nvPr/>
        </p:nvSpPr>
        <p:spPr>
          <a:xfrm>
            <a:off x="5764135" y="314092"/>
            <a:ext cx="606949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u="sng" dirty="0"/>
              <a:t>This shape is a kite.</a:t>
            </a:r>
          </a:p>
          <a:p>
            <a:r>
              <a:rPr lang="en-AU" sz="2800" dirty="0"/>
              <a:t>There are 2 ways we can look at the area of a kite. </a:t>
            </a:r>
          </a:p>
          <a:p>
            <a:endParaRPr lang="en-AU" sz="2800" dirty="0"/>
          </a:p>
          <a:p>
            <a:pPr marL="514350" indent="-514350">
              <a:buAutoNum type="arabicPeriod"/>
            </a:pPr>
            <a:r>
              <a:rPr lang="en-AU" sz="2800" dirty="0"/>
              <a:t>We can rearrange the kite to make a rectangle.</a:t>
            </a:r>
          </a:p>
          <a:p>
            <a:pPr marL="514350" indent="-514350">
              <a:buAutoNum type="arabicPeriod"/>
            </a:pPr>
            <a:endParaRPr lang="en-AU" sz="2800" dirty="0"/>
          </a:p>
          <a:p>
            <a:pPr marL="514350" indent="-514350">
              <a:buAutoNum type="arabicPeriod"/>
            </a:pPr>
            <a:r>
              <a:rPr lang="en-AU" sz="2800" dirty="0"/>
              <a:t>We can make a rectangle that fits around our kite.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06B751E-8B3D-410F-9041-88591BBD7F51}"/>
              </a:ext>
            </a:extLst>
          </p:cNvPr>
          <p:cNvCxnSpPr>
            <a:cxnSpLocks/>
          </p:cNvCxnSpPr>
          <p:nvPr/>
        </p:nvCxnSpPr>
        <p:spPr>
          <a:xfrm>
            <a:off x="2372082" y="645296"/>
            <a:ext cx="0" cy="4399721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3CEED2E-96B9-4AAA-AE6F-539477883A68}"/>
              </a:ext>
            </a:extLst>
          </p:cNvPr>
          <p:cNvSpPr txBox="1"/>
          <p:nvPr/>
        </p:nvSpPr>
        <p:spPr>
          <a:xfrm rot="16200000">
            <a:off x="1763778" y="2820696"/>
            <a:ext cx="8472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Length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FDCA08-E1D9-43E8-89C5-5B5780A4986E}"/>
              </a:ext>
            </a:extLst>
          </p:cNvPr>
          <p:cNvSpPr txBox="1"/>
          <p:nvPr/>
        </p:nvSpPr>
        <p:spPr>
          <a:xfrm>
            <a:off x="3779366" y="5045017"/>
            <a:ext cx="8472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6">
                    <a:lumMod val="50000"/>
                  </a:schemeClr>
                </a:solidFill>
              </a:rPr>
              <a:t>Width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E132960-4B03-4258-B924-9542ED201E04}"/>
              </a:ext>
            </a:extLst>
          </p:cNvPr>
          <p:cNvCxnSpPr>
            <a:cxnSpLocks/>
          </p:cNvCxnSpPr>
          <p:nvPr/>
        </p:nvCxnSpPr>
        <p:spPr>
          <a:xfrm flipH="1" flipV="1">
            <a:off x="2372082" y="5073494"/>
            <a:ext cx="2835967" cy="1"/>
          </a:xfrm>
          <a:prstGeom prst="straightConnector1">
            <a:avLst/>
          </a:prstGeom>
          <a:ln w="38100" cap="flat" cmpd="sng" algn="ctr">
            <a:solidFill>
              <a:schemeClr val="accent6">
                <a:lumMod val="50000"/>
              </a:schemeClr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3265FEE-3E69-4B00-912D-E1293FB98BAF}"/>
              </a:ext>
            </a:extLst>
          </p:cNvPr>
          <p:cNvSpPr txBox="1"/>
          <p:nvPr/>
        </p:nvSpPr>
        <p:spPr>
          <a:xfrm>
            <a:off x="5764135" y="4284410"/>
            <a:ext cx="606949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By doing this and looking at each section of the kite we can see that the area of a kite only takes up half the area of a rectangle of the same length and width.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C0E6F7-0049-41C0-AAB1-E99C918BD592}"/>
              </a:ext>
            </a:extLst>
          </p:cNvPr>
          <p:cNvSpPr/>
          <p:nvPr/>
        </p:nvSpPr>
        <p:spPr>
          <a:xfrm flipH="1" flipV="1">
            <a:off x="3790092" y="3949129"/>
            <a:ext cx="1417981" cy="1099923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60B06D2-72D8-4CB9-AFA9-4ABE22C6D147}"/>
              </a:ext>
            </a:extLst>
          </p:cNvPr>
          <p:cNvCxnSpPr>
            <a:cxnSpLocks/>
            <a:stCxn id="4" idx="4"/>
          </p:cNvCxnSpPr>
          <p:nvPr/>
        </p:nvCxnSpPr>
        <p:spPr>
          <a:xfrm flipH="1">
            <a:off x="3790092" y="3949147"/>
            <a:ext cx="1418013" cy="109990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59CA00D-786D-479E-8F5E-EBA517FA6AA5}"/>
              </a:ext>
            </a:extLst>
          </p:cNvPr>
          <p:cNvSpPr txBox="1"/>
          <p:nvPr/>
        </p:nvSpPr>
        <p:spPr>
          <a:xfrm>
            <a:off x="3985641" y="5288312"/>
            <a:ext cx="1582971" cy="14773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Only ½ this section of the rectangle contains the kite</a:t>
            </a:r>
          </a:p>
        </p:txBody>
      </p:sp>
    </p:spTree>
    <p:extLst>
      <p:ext uri="{BB962C8B-B14F-4D97-AF65-F5344CB8AC3E}">
        <p14:creationId xmlns:p14="http://schemas.microsoft.com/office/powerpoint/2010/main" val="3141835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604F39-6429-47EF-9598-21403D803637}"/>
              </a:ext>
            </a:extLst>
          </p:cNvPr>
          <p:cNvSpPr/>
          <p:nvPr/>
        </p:nvSpPr>
        <p:spPr>
          <a:xfrm>
            <a:off x="2372112" y="649356"/>
            <a:ext cx="2835967" cy="439970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907648F7-49CB-444D-9C28-485096D78A22}"/>
              </a:ext>
            </a:extLst>
          </p:cNvPr>
          <p:cNvSpPr/>
          <p:nvPr/>
        </p:nvSpPr>
        <p:spPr>
          <a:xfrm>
            <a:off x="3790122" y="649356"/>
            <a:ext cx="1417983" cy="3299791"/>
          </a:xfrm>
          <a:prstGeom prst="rt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51541729-3E9A-4801-82F4-451A2C6838F9}"/>
              </a:ext>
            </a:extLst>
          </p:cNvPr>
          <p:cNvSpPr/>
          <p:nvPr/>
        </p:nvSpPr>
        <p:spPr>
          <a:xfrm flipH="1">
            <a:off x="2372140" y="649356"/>
            <a:ext cx="1417982" cy="3299791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CD8F879C-1F4E-46D6-8C2C-AA28FD9DB749}"/>
              </a:ext>
            </a:extLst>
          </p:cNvPr>
          <p:cNvSpPr/>
          <p:nvPr/>
        </p:nvSpPr>
        <p:spPr>
          <a:xfrm rot="10800000" flipH="1">
            <a:off x="3790122" y="3949146"/>
            <a:ext cx="1417982" cy="1099931"/>
          </a:xfrm>
          <a:prstGeom prst="rt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C48640E1-96E7-4A96-A0E0-2C434BD40462}"/>
              </a:ext>
            </a:extLst>
          </p:cNvPr>
          <p:cNvSpPr/>
          <p:nvPr/>
        </p:nvSpPr>
        <p:spPr>
          <a:xfrm rot="10800000">
            <a:off x="2372137" y="3949145"/>
            <a:ext cx="1417980" cy="1099931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C7A6C6-87BB-4505-9FB0-C7E9F000AFD5}"/>
              </a:ext>
            </a:extLst>
          </p:cNvPr>
          <p:cNvSpPr txBox="1"/>
          <p:nvPr/>
        </p:nvSpPr>
        <p:spPr>
          <a:xfrm>
            <a:off x="5764135" y="314092"/>
            <a:ext cx="606949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u="sng" dirty="0"/>
              <a:t>This shape is a kite.</a:t>
            </a:r>
          </a:p>
          <a:p>
            <a:r>
              <a:rPr lang="en-AU" sz="2800" dirty="0"/>
              <a:t>There are 2 ways we can look at the area of a kite. </a:t>
            </a:r>
          </a:p>
          <a:p>
            <a:endParaRPr lang="en-AU" sz="2800" dirty="0"/>
          </a:p>
          <a:p>
            <a:pPr marL="514350" indent="-514350">
              <a:buAutoNum type="arabicPeriod"/>
            </a:pPr>
            <a:r>
              <a:rPr lang="en-AU" sz="2800" dirty="0"/>
              <a:t>We can rearrange the kite to make a rectangle.</a:t>
            </a:r>
          </a:p>
          <a:p>
            <a:pPr marL="514350" indent="-514350">
              <a:buAutoNum type="arabicPeriod"/>
            </a:pPr>
            <a:endParaRPr lang="en-AU" sz="2800" dirty="0"/>
          </a:p>
          <a:p>
            <a:pPr marL="514350" indent="-514350">
              <a:buAutoNum type="arabicPeriod"/>
            </a:pPr>
            <a:r>
              <a:rPr lang="en-AU" sz="2800" dirty="0"/>
              <a:t>We can make a rectangle that fits around our kite.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06B751E-8B3D-410F-9041-88591BBD7F51}"/>
              </a:ext>
            </a:extLst>
          </p:cNvPr>
          <p:cNvCxnSpPr>
            <a:cxnSpLocks/>
          </p:cNvCxnSpPr>
          <p:nvPr/>
        </p:nvCxnSpPr>
        <p:spPr>
          <a:xfrm>
            <a:off x="2372048" y="649356"/>
            <a:ext cx="0" cy="4399721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3CEED2E-96B9-4AAA-AE6F-539477883A68}"/>
              </a:ext>
            </a:extLst>
          </p:cNvPr>
          <p:cNvSpPr txBox="1"/>
          <p:nvPr/>
        </p:nvSpPr>
        <p:spPr>
          <a:xfrm rot="16200000">
            <a:off x="1763776" y="2721565"/>
            <a:ext cx="8472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Length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FDCA08-E1D9-43E8-89C5-5B5780A4986E}"/>
              </a:ext>
            </a:extLst>
          </p:cNvPr>
          <p:cNvSpPr txBox="1"/>
          <p:nvPr/>
        </p:nvSpPr>
        <p:spPr>
          <a:xfrm>
            <a:off x="3795455" y="4992036"/>
            <a:ext cx="8472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6">
                    <a:lumMod val="50000"/>
                  </a:schemeClr>
                </a:solidFill>
              </a:rPr>
              <a:t>Width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E132960-4B03-4258-B924-9542ED201E04}"/>
              </a:ext>
            </a:extLst>
          </p:cNvPr>
          <p:cNvCxnSpPr>
            <a:cxnSpLocks/>
          </p:cNvCxnSpPr>
          <p:nvPr/>
        </p:nvCxnSpPr>
        <p:spPr>
          <a:xfrm flipH="1" flipV="1">
            <a:off x="2372048" y="5049050"/>
            <a:ext cx="2835967" cy="1"/>
          </a:xfrm>
          <a:prstGeom prst="straightConnector1">
            <a:avLst/>
          </a:prstGeom>
          <a:ln w="38100" cap="flat" cmpd="sng" algn="ctr">
            <a:solidFill>
              <a:schemeClr val="accent6">
                <a:lumMod val="50000"/>
              </a:schemeClr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3265FEE-3E69-4B00-912D-E1293FB98BAF}"/>
              </a:ext>
            </a:extLst>
          </p:cNvPr>
          <p:cNvSpPr txBox="1"/>
          <p:nvPr/>
        </p:nvSpPr>
        <p:spPr>
          <a:xfrm>
            <a:off x="5764135" y="4284410"/>
            <a:ext cx="606949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By doing this and looking at each section of the kite we can see that the area of a kite only takes up half the area of a rectangle of the same length and width.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C0E6F7-0049-41C0-AAB1-E99C918BD592}"/>
              </a:ext>
            </a:extLst>
          </p:cNvPr>
          <p:cNvSpPr/>
          <p:nvPr/>
        </p:nvSpPr>
        <p:spPr>
          <a:xfrm flipV="1">
            <a:off x="2372078" y="3949128"/>
            <a:ext cx="1418014" cy="1099923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60B06D2-72D8-4CB9-AFA9-4ABE22C6D147}"/>
              </a:ext>
            </a:extLst>
          </p:cNvPr>
          <p:cNvCxnSpPr>
            <a:cxnSpLocks/>
          </p:cNvCxnSpPr>
          <p:nvPr/>
        </p:nvCxnSpPr>
        <p:spPr>
          <a:xfrm>
            <a:off x="2372048" y="3949121"/>
            <a:ext cx="1418045" cy="109993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59CA00D-786D-479E-8F5E-EBA517FA6AA5}"/>
              </a:ext>
            </a:extLst>
          </p:cNvPr>
          <p:cNvSpPr txBox="1"/>
          <p:nvPr/>
        </p:nvSpPr>
        <p:spPr>
          <a:xfrm>
            <a:off x="593541" y="4823018"/>
            <a:ext cx="1582971" cy="14773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Only ½ this section of the rectangle contains the kite</a:t>
            </a:r>
          </a:p>
        </p:txBody>
      </p:sp>
    </p:spTree>
    <p:extLst>
      <p:ext uri="{BB962C8B-B14F-4D97-AF65-F5344CB8AC3E}">
        <p14:creationId xmlns:p14="http://schemas.microsoft.com/office/powerpoint/2010/main" val="2061351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604F39-6429-47EF-9598-21403D803637}"/>
              </a:ext>
            </a:extLst>
          </p:cNvPr>
          <p:cNvSpPr/>
          <p:nvPr/>
        </p:nvSpPr>
        <p:spPr>
          <a:xfrm>
            <a:off x="2372112" y="649356"/>
            <a:ext cx="2835967" cy="439970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907648F7-49CB-444D-9C28-485096D78A22}"/>
              </a:ext>
            </a:extLst>
          </p:cNvPr>
          <p:cNvSpPr/>
          <p:nvPr/>
        </p:nvSpPr>
        <p:spPr>
          <a:xfrm>
            <a:off x="3790122" y="649356"/>
            <a:ext cx="1417983" cy="3299791"/>
          </a:xfrm>
          <a:prstGeom prst="rt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51541729-3E9A-4801-82F4-451A2C6838F9}"/>
              </a:ext>
            </a:extLst>
          </p:cNvPr>
          <p:cNvSpPr/>
          <p:nvPr/>
        </p:nvSpPr>
        <p:spPr>
          <a:xfrm flipH="1">
            <a:off x="2372140" y="649356"/>
            <a:ext cx="1417982" cy="3299791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CD8F879C-1F4E-46D6-8C2C-AA28FD9DB749}"/>
              </a:ext>
            </a:extLst>
          </p:cNvPr>
          <p:cNvSpPr/>
          <p:nvPr/>
        </p:nvSpPr>
        <p:spPr>
          <a:xfrm rot="10800000" flipH="1">
            <a:off x="3790122" y="3949146"/>
            <a:ext cx="1417982" cy="1099931"/>
          </a:xfrm>
          <a:prstGeom prst="rt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C48640E1-96E7-4A96-A0E0-2C434BD40462}"/>
              </a:ext>
            </a:extLst>
          </p:cNvPr>
          <p:cNvSpPr/>
          <p:nvPr/>
        </p:nvSpPr>
        <p:spPr>
          <a:xfrm rot="10800000">
            <a:off x="2372137" y="3949145"/>
            <a:ext cx="1417980" cy="1099931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C7A6C6-87BB-4505-9FB0-C7E9F000AFD5}"/>
              </a:ext>
            </a:extLst>
          </p:cNvPr>
          <p:cNvSpPr txBox="1"/>
          <p:nvPr/>
        </p:nvSpPr>
        <p:spPr>
          <a:xfrm>
            <a:off x="5764135" y="314092"/>
            <a:ext cx="606949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u="sng" dirty="0"/>
              <a:t>This shape is a kite.</a:t>
            </a:r>
          </a:p>
          <a:p>
            <a:r>
              <a:rPr lang="en-AU" sz="2800" dirty="0"/>
              <a:t>There are 2 ways we can look at the area of a kite. </a:t>
            </a:r>
          </a:p>
          <a:p>
            <a:endParaRPr lang="en-AU" sz="2800" dirty="0"/>
          </a:p>
          <a:p>
            <a:pPr marL="514350" indent="-514350">
              <a:buAutoNum type="arabicPeriod"/>
            </a:pPr>
            <a:r>
              <a:rPr lang="en-AU" sz="2800" dirty="0"/>
              <a:t>We can rearrange the kite to make a rectangle.</a:t>
            </a:r>
          </a:p>
          <a:p>
            <a:pPr marL="514350" indent="-514350">
              <a:buAutoNum type="arabicPeriod"/>
            </a:pPr>
            <a:endParaRPr lang="en-AU" sz="2800" dirty="0"/>
          </a:p>
          <a:p>
            <a:pPr marL="514350" indent="-514350">
              <a:buAutoNum type="arabicPeriod"/>
            </a:pPr>
            <a:r>
              <a:rPr lang="en-AU" sz="2800" dirty="0"/>
              <a:t>We can make a rectangle that fits around our kite.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06B751E-8B3D-410F-9041-88591BBD7F51}"/>
              </a:ext>
            </a:extLst>
          </p:cNvPr>
          <p:cNvCxnSpPr>
            <a:cxnSpLocks/>
          </p:cNvCxnSpPr>
          <p:nvPr/>
        </p:nvCxnSpPr>
        <p:spPr>
          <a:xfrm>
            <a:off x="2372048" y="649356"/>
            <a:ext cx="0" cy="4399721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3CEED2E-96B9-4AAA-AE6F-539477883A68}"/>
              </a:ext>
            </a:extLst>
          </p:cNvPr>
          <p:cNvSpPr txBox="1"/>
          <p:nvPr/>
        </p:nvSpPr>
        <p:spPr>
          <a:xfrm rot="16200000">
            <a:off x="1763776" y="2721565"/>
            <a:ext cx="8472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Length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FDCA08-E1D9-43E8-89C5-5B5780A4986E}"/>
              </a:ext>
            </a:extLst>
          </p:cNvPr>
          <p:cNvSpPr txBox="1"/>
          <p:nvPr/>
        </p:nvSpPr>
        <p:spPr>
          <a:xfrm>
            <a:off x="3795455" y="4992036"/>
            <a:ext cx="8472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6">
                    <a:lumMod val="50000"/>
                  </a:schemeClr>
                </a:solidFill>
              </a:rPr>
              <a:t>Width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E132960-4B03-4258-B924-9542ED201E04}"/>
              </a:ext>
            </a:extLst>
          </p:cNvPr>
          <p:cNvCxnSpPr>
            <a:cxnSpLocks/>
          </p:cNvCxnSpPr>
          <p:nvPr/>
        </p:nvCxnSpPr>
        <p:spPr>
          <a:xfrm flipH="1" flipV="1">
            <a:off x="2372048" y="5049050"/>
            <a:ext cx="2835967" cy="1"/>
          </a:xfrm>
          <a:prstGeom prst="straightConnector1">
            <a:avLst/>
          </a:prstGeom>
          <a:ln w="38100" cap="flat" cmpd="sng" algn="ctr">
            <a:solidFill>
              <a:schemeClr val="accent6">
                <a:lumMod val="50000"/>
              </a:schemeClr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3265FEE-3E69-4B00-912D-E1293FB98BAF}"/>
              </a:ext>
            </a:extLst>
          </p:cNvPr>
          <p:cNvSpPr txBox="1"/>
          <p:nvPr/>
        </p:nvSpPr>
        <p:spPr>
          <a:xfrm>
            <a:off x="5611735" y="4822759"/>
            <a:ext cx="60694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Whichever way you look at it….</a:t>
            </a:r>
          </a:p>
          <a:p>
            <a:endParaRPr lang="en-AU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1CF5EF8-36FE-476E-A5D4-28B1AA42300A}"/>
                  </a:ext>
                </a:extLst>
              </p:cNvPr>
              <p:cNvSpPr/>
              <p:nvPr/>
            </p:nvSpPr>
            <p:spPr>
              <a:xfrm>
                <a:off x="3081126" y="5458730"/>
                <a:ext cx="7720768" cy="9615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sz="4000" dirty="0"/>
                  <a:t>Area of a kite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4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4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4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4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4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𝑤𝑖𝑑𝑡h</m:t>
                    </m:r>
                    <m:r>
                      <a:rPr lang="en-AU" sz="4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AU" sz="4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sz="4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AU" sz="4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𝑙𝑒𝑛𝑔𝑡h</m:t>
                    </m:r>
                  </m:oMath>
                </a14:m>
                <a:endParaRPr lang="en-AU" sz="4000" dirty="0"/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1CF5EF8-36FE-476E-A5D4-28B1AA4230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126" y="5458730"/>
                <a:ext cx="7720768" cy="961545"/>
              </a:xfrm>
              <a:prstGeom prst="rect">
                <a:avLst/>
              </a:prstGeom>
              <a:blipFill>
                <a:blip r:embed="rId2"/>
                <a:stretch>
                  <a:fillRect l="-2762" b="-1329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3030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AA7566B-2A4B-402E-BDEA-DE400250547D}"/>
              </a:ext>
            </a:extLst>
          </p:cNvPr>
          <p:cNvSpPr/>
          <p:nvPr/>
        </p:nvSpPr>
        <p:spPr>
          <a:xfrm>
            <a:off x="1918448" y="1116118"/>
            <a:ext cx="1459600" cy="33529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51541729-3E9A-4801-82F4-451A2C6838F9}"/>
              </a:ext>
            </a:extLst>
          </p:cNvPr>
          <p:cNvSpPr/>
          <p:nvPr/>
        </p:nvSpPr>
        <p:spPr>
          <a:xfrm flipH="1">
            <a:off x="503156" y="1111164"/>
            <a:ext cx="1421187" cy="3361746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C7A6C6-87BB-4505-9FB0-C7E9F000AFD5}"/>
              </a:ext>
            </a:extLst>
          </p:cNvPr>
          <p:cNvSpPr txBox="1"/>
          <p:nvPr/>
        </p:nvSpPr>
        <p:spPr>
          <a:xfrm>
            <a:off x="4867983" y="327706"/>
            <a:ext cx="693268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u="sng" dirty="0"/>
              <a:t>This shape is a Rhombus.</a:t>
            </a:r>
          </a:p>
          <a:p>
            <a:r>
              <a:rPr lang="en-AU" sz="2800" dirty="0"/>
              <a:t>A rhombus (and a parallelogram) are measured in width and </a:t>
            </a:r>
            <a:r>
              <a:rPr lang="en-AU" sz="2800" b="1" dirty="0"/>
              <a:t>perpendicular</a:t>
            </a:r>
            <a:r>
              <a:rPr lang="en-AU" sz="2800" dirty="0"/>
              <a:t> height.</a:t>
            </a:r>
          </a:p>
          <a:p>
            <a:endParaRPr lang="en-AU" sz="2800" dirty="0"/>
          </a:p>
          <a:p>
            <a:r>
              <a:rPr lang="en-AU" sz="2800" dirty="0"/>
              <a:t>We can rearrange the rhombus to make a rectangle.</a:t>
            </a:r>
          </a:p>
          <a:p>
            <a:pPr marL="514350" indent="-514350">
              <a:buAutoNum type="arabicPeriod"/>
            </a:pPr>
            <a:endParaRPr lang="en-AU" sz="2800" dirty="0"/>
          </a:p>
          <a:p>
            <a:r>
              <a:rPr lang="en-AU" sz="2800" dirty="0"/>
              <a:t>We can therefore see that;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06B751E-8B3D-410F-9041-88591BBD7F51}"/>
              </a:ext>
            </a:extLst>
          </p:cNvPr>
          <p:cNvCxnSpPr>
            <a:cxnSpLocks/>
          </p:cNvCxnSpPr>
          <p:nvPr/>
        </p:nvCxnSpPr>
        <p:spPr>
          <a:xfrm flipH="1">
            <a:off x="1905328" y="1143000"/>
            <a:ext cx="13120" cy="3401505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3CEED2E-96B9-4AAA-AE6F-539477883A68}"/>
              </a:ext>
            </a:extLst>
          </p:cNvPr>
          <p:cNvSpPr txBox="1"/>
          <p:nvPr/>
        </p:nvSpPr>
        <p:spPr>
          <a:xfrm rot="16200000">
            <a:off x="1381473" y="3340649"/>
            <a:ext cx="8472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height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FDCA08-E1D9-43E8-89C5-5B5780A4986E}"/>
              </a:ext>
            </a:extLst>
          </p:cNvPr>
          <p:cNvSpPr txBox="1"/>
          <p:nvPr/>
        </p:nvSpPr>
        <p:spPr>
          <a:xfrm>
            <a:off x="2648248" y="688609"/>
            <a:ext cx="8472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6">
                    <a:lumMod val="50000"/>
                  </a:schemeClr>
                </a:solidFill>
              </a:rPr>
              <a:t>Width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E132960-4B03-4258-B924-9542ED201E04}"/>
              </a:ext>
            </a:extLst>
          </p:cNvPr>
          <p:cNvCxnSpPr>
            <a:cxnSpLocks/>
          </p:cNvCxnSpPr>
          <p:nvPr/>
        </p:nvCxnSpPr>
        <p:spPr>
          <a:xfrm flipH="1" flipV="1">
            <a:off x="1918448" y="1017293"/>
            <a:ext cx="2835967" cy="1"/>
          </a:xfrm>
          <a:prstGeom prst="straightConnector1">
            <a:avLst/>
          </a:prstGeom>
          <a:ln w="38100" cap="flat" cmpd="sng" algn="ctr">
            <a:solidFill>
              <a:schemeClr val="accent6">
                <a:lumMod val="50000"/>
              </a:schemeClr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FA1F8B93-958A-4B24-A624-BBC2493C3C97}"/>
              </a:ext>
            </a:extLst>
          </p:cNvPr>
          <p:cNvSpPr/>
          <p:nvPr/>
        </p:nvSpPr>
        <p:spPr>
          <a:xfrm rot="10800000" flipH="1">
            <a:off x="3377478" y="1116117"/>
            <a:ext cx="1415862" cy="3352981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F82EDB3-89DD-4E90-96FD-D34A495EEFDC}"/>
              </a:ext>
            </a:extLst>
          </p:cNvPr>
          <p:cNvSpPr/>
          <p:nvPr/>
        </p:nvSpPr>
        <p:spPr>
          <a:xfrm>
            <a:off x="1458238" y="5288180"/>
            <a:ext cx="957428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3600" dirty="0"/>
              <a:t>Area of a Rhombus = width x perpendicular height</a:t>
            </a:r>
          </a:p>
        </p:txBody>
      </p:sp>
    </p:spTree>
    <p:extLst>
      <p:ext uri="{BB962C8B-B14F-4D97-AF65-F5344CB8AC3E}">
        <p14:creationId xmlns:p14="http://schemas.microsoft.com/office/powerpoint/2010/main" val="3200973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4.07407E-6 L 0.23555 -0.00139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71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AA7566B-2A4B-402E-BDEA-DE400250547D}"/>
              </a:ext>
            </a:extLst>
          </p:cNvPr>
          <p:cNvSpPr/>
          <p:nvPr/>
        </p:nvSpPr>
        <p:spPr>
          <a:xfrm>
            <a:off x="1855885" y="2274217"/>
            <a:ext cx="1459600" cy="33529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51541729-3E9A-4801-82F4-451A2C6838F9}"/>
              </a:ext>
            </a:extLst>
          </p:cNvPr>
          <p:cNvSpPr/>
          <p:nvPr/>
        </p:nvSpPr>
        <p:spPr>
          <a:xfrm flipH="1">
            <a:off x="440593" y="2269263"/>
            <a:ext cx="1421187" cy="3361746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C7A6C6-87BB-4505-9FB0-C7E9F000AFD5}"/>
              </a:ext>
            </a:extLst>
          </p:cNvPr>
          <p:cNvSpPr txBox="1"/>
          <p:nvPr/>
        </p:nvSpPr>
        <p:spPr>
          <a:xfrm>
            <a:off x="4867983" y="327706"/>
            <a:ext cx="693268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u="sng" dirty="0"/>
              <a:t>This shape is a Trapezium.</a:t>
            </a:r>
          </a:p>
          <a:p>
            <a:pPr marL="514350" indent="-514350">
              <a:buAutoNum type="arabicPeriod"/>
            </a:pPr>
            <a:r>
              <a:rPr lang="en-AU" sz="2800" dirty="0"/>
              <a:t>We can double (and flip) the Trapezium to make a parallelogram</a:t>
            </a:r>
          </a:p>
          <a:p>
            <a:pPr marL="514350" indent="-514350">
              <a:buAutoNum type="arabicPeriod"/>
            </a:pPr>
            <a:endParaRPr lang="en-AU" sz="28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06B751E-8B3D-410F-9041-88591BBD7F51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1855885" y="2301099"/>
            <a:ext cx="5895" cy="3329910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3CEED2E-96B9-4AAA-AE6F-539477883A68}"/>
              </a:ext>
            </a:extLst>
          </p:cNvPr>
          <p:cNvSpPr txBox="1"/>
          <p:nvPr/>
        </p:nvSpPr>
        <p:spPr>
          <a:xfrm rot="16200000">
            <a:off x="1318910" y="4498748"/>
            <a:ext cx="8472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height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FDCA08-E1D9-43E8-89C5-5B5780A4986E}"/>
              </a:ext>
            </a:extLst>
          </p:cNvPr>
          <p:cNvSpPr txBox="1"/>
          <p:nvPr/>
        </p:nvSpPr>
        <p:spPr>
          <a:xfrm>
            <a:off x="2123164" y="1864946"/>
            <a:ext cx="98201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6">
                    <a:lumMod val="50000"/>
                  </a:schemeClr>
                </a:solidFill>
              </a:rPr>
              <a:t>Width 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E132960-4B03-4258-B924-9542ED201E04}"/>
              </a:ext>
            </a:extLst>
          </p:cNvPr>
          <p:cNvCxnSpPr>
            <a:cxnSpLocks/>
          </p:cNvCxnSpPr>
          <p:nvPr/>
        </p:nvCxnSpPr>
        <p:spPr>
          <a:xfrm flipH="1">
            <a:off x="1855886" y="2175392"/>
            <a:ext cx="1459599" cy="1"/>
          </a:xfrm>
          <a:prstGeom prst="straightConnector1">
            <a:avLst/>
          </a:prstGeom>
          <a:ln w="38100" cap="flat" cmpd="sng" algn="ctr">
            <a:solidFill>
              <a:schemeClr val="accent6">
                <a:lumMod val="50000"/>
              </a:schemeClr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FA1F8B93-958A-4B24-A624-BBC2493C3C97}"/>
              </a:ext>
            </a:extLst>
          </p:cNvPr>
          <p:cNvSpPr/>
          <p:nvPr/>
        </p:nvSpPr>
        <p:spPr>
          <a:xfrm>
            <a:off x="3299674" y="2265453"/>
            <a:ext cx="1787074" cy="3361746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647DE7-F969-4D4B-84D6-C87907AB0B15}"/>
              </a:ext>
            </a:extLst>
          </p:cNvPr>
          <p:cNvSpPr txBox="1"/>
          <p:nvPr/>
        </p:nvSpPr>
        <p:spPr>
          <a:xfrm>
            <a:off x="658607" y="5593345"/>
            <a:ext cx="98201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4">
                    <a:lumMod val="75000"/>
                  </a:schemeClr>
                </a:solidFill>
              </a:rPr>
              <a:t>Width B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072AA23-4196-41E3-819A-5BF0BA07D145}"/>
              </a:ext>
            </a:extLst>
          </p:cNvPr>
          <p:cNvCxnSpPr>
            <a:cxnSpLocks/>
          </p:cNvCxnSpPr>
          <p:nvPr/>
        </p:nvCxnSpPr>
        <p:spPr>
          <a:xfrm flipH="1" flipV="1">
            <a:off x="391330" y="5903792"/>
            <a:ext cx="4695418" cy="18530"/>
          </a:xfrm>
          <a:prstGeom prst="straightConnector1">
            <a:avLst/>
          </a:prstGeom>
          <a:ln w="38100" cap="flat" cmpd="sng" algn="ctr">
            <a:solidFill>
              <a:schemeClr val="accent4">
                <a:lumMod val="75000"/>
              </a:schemeClr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0419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7B45C68-63DF-404E-983E-8F31467F3823}"/>
              </a:ext>
            </a:extLst>
          </p:cNvPr>
          <p:cNvGrpSpPr/>
          <p:nvPr/>
        </p:nvGrpSpPr>
        <p:grpSpPr>
          <a:xfrm>
            <a:off x="440593" y="2265453"/>
            <a:ext cx="4646155" cy="3365556"/>
            <a:chOff x="440593" y="2265453"/>
            <a:chExt cx="4646155" cy="336555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AA7566B-2A4B-402E-BDEA-DE400250547D}"/>
                </a:ext>
              </a:extLst>
            </p:cNvPr>
            <p:cNvSpPr/>
            <p:nvPr/>
          </p:nvSpPr>
          <p:spPr>
            <a:xfrm>
              <a:off x="1855885" y="2274217"/>
              <a:ext cx="1459600" cy="335298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51541729-3E9A-4801-82F4-451A2C6838F9}"/>
                </a:ext>
              </a:extLst>
            </p:cNvPr>
            <p:cNvSpPr/>
            <p:nvPr/>
          </p:nvSpPr>
          <p:spPr>
            <a:xfrm flipH="1">
              <a:off x="440593" y="2269263"/>
              <a:ext cx="1421187" cy="3361746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" name="Right Triangle 13">
              <a:extLst>
                <a:ext uri="{FF2B5EF4-FFF2-40B4-BE49-F238E27FC236}">
                  <a16:creationId xmlns:a16="http://schemas.microsoft.com/office/drawing/2014/main" id="{FA1F8B93-958A-4B24-A624-BBC2493C3C97}"/>
                </a:ext>
              </a:extLst>
            </p:cNvPr>
            <p:cNvSpPr/>
            <p:nvPr/>
          </p:nvSpPr>
          <p:spPr>
            <a:xfrm>
              <a:off x="3299674" y="2265453"/>
              <a:ext cx="1787074" cy="3361746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7C7A6C6-87BB-4505-9FB0-C7E9F000AFD5}"/>
              </a:ext>
            </a:extLst>
          </p:cNvPr>
          <p:cNvSpPr txBox="1"/>
          <p:nvPr/>
        </p:nvSpPr>
        <p:spPr>
          <a:xfrm>
            <a:off x="4867983" y="327706"/>
            <a:ext cx="693268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u="sng" dirty="0"/>
              <a:t>This shape is a Trapezium.</a:t>
            </a:r>
          </a:p>
          <a:p>
            <a:pPr marL="514350" indent="-514350">
              <a:buAutoNum type="arabicPeriod"/>
            </a:pPr>
            <a:r>
              <a:rPr lang="en-AU" sz="2800" dirty="0"/>
              <a:t>We can double (and flip) the Trapezium to make a parallelogram</a:t>
            </a:r>
          </a:p>
          <a:p>
            <a:pPr marL="514350" indent="-514350">
              <a:buAutoNum type="arabicPeriod"/>
            </a:pPr>
            <a:endParaRPr lang="en-AU" sz="28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06B751E-8B3D-410F-9041-88591BBD7F51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1855885" y="2301099"/>
            <a:ext cx="5895" cy="3329910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3CEED2E-96B9-4AAA-AE6F-539477883A68}"/>
              </a:ext>
            </a:extLst>
          </p:cNvPr>
          <p:cNvSpPr txBox="1"/>
          <p:nvPr/>
        </p:nvSpPr>
        <p:spPr>
          <a:xfrm rot="16200000">
            <a:off x="1318910" y="4498748"/>
            <a:ext cx="8472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height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FDCA08-E1D9-43E8-89C5-5B5780A4986E}"/>
              </a:ext>
            </a:extLst>
          </p:cNvPr>
          <p:cNvSpPr txBox="1"/>
          <p:nvPr/>
        </p:nvSpPr>
        <p:spPr>
          <a:xfrm>
            <a:off x="2183819" y="1812957"/>
            <a:ext cx="98201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6">
                    <a:lumMod val="50000"/>
                  </a:schemeClr>
                </a:solidFill>
              </a:rPr>
              <a:t>Width 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E132960-4B03-4258-B924-9542ED201E04}"/>
              </a:ext>
            </a:extLst>
          </p:cNvPr>
          <p:cNvCxnSpPr>
            <a:cxnSpLocks/>
          </p:cNvCxnSpPr>
          <p:nvPr/>
        </p:nvCxnSpPr>
        <p:spPr>
          <a:xfrm flipH="1">
            <a:off x="1855886" y="2136327"/>
            <a:ext cx="1459599" cy="1"/>
          </a:xfrm>
          <a:prstGeom prst="straightConnector1">
            <a:avLst/>
          </a:prstGeom>
          <a:ln w="38100" cap="flat" cmpd="sng" algn="ctr">
            <a:solidFill>
              <a:schemeClr val="accent6">
                <a:lumMod val="50000"/>
              </a:schemeClr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6647DE7-F969-4D4B-84D6-C87907AB0B15}"/>
              </a:ext>
            </a:extLst>
          </p:cNvPr>
          <p:cNvSpPr txBox="1"/>
          <p:nvPr/>
        </p:nvSpPr>
        <p:spPr>
          <a:xfrm>
            <a:off x="658607" y="5593345"/>
            <a:ext cx="98201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4">
                    <a:lumMod val="75000"/>
                  </a:schemeClr>
                </a:solidFill>
              </a:rPr>
              <a:t>Width B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072AA23-4196-41E3-819A-5BF0BA07D145}"/>
              </a:ext>
            </a:extLst>
          </p:cNvPr>
          <p:cNvCxnSpPr>
            <a:cxnSpLocks/>
          </p:cNvCxnSpPr>
          <p:nvPr/>
        </p:nvCxnSpPr>
        <p:spPr>
          <a:xfrm flipH="1" flipV="1">
            <a:off x="375001" y="5887463"/>
            <a:ext cx="4695418" cy="18530"/>
          </a:xfrm>
          <a:prstGeom prst="straightConnector1">
            <a:avLst/>
          </a:prstGeom>
          <a:ln w="38100" cap="flat" cmpd="sng" algn="ctr">
            <a:solidFill>
              <a:schemeClr val="accent4">
                <a:lumMod val="75000"/>
              </a:schemeClr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8DC4DA4-CD47-4315-BDE9-F39183C82ABD}"/>
              </a:ext>
            </a:extLst>
          </p:cNvPr>
          <p:cNvGrpSpPr/>
          <p:nvPr/>
        </p:nvGrpSpPr>
        <p:grpSpPr>
          <a:xfrm rot="10800000">
            <a:off x="3283463" y="2270293"/>
            <a:ext cx="4646155" cy="3365556"/>
            <a:chOff x="440593" y="2265453"/>
            <a:chExt cx="4646155" cy="3365556"/>
          </a:xfrm>
          <a:solidFill>
            <a:srgbClr val="00B0F0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B0BA065-2DEA-44E3-A00C-0F04F03AF348}"/>
                </a:ext>
              </a:extLst>
            </p:cNvPr>
            <p:cNvSpPr/>
            <p:nvPr/>
          </p:nvSpPr>
          <p:spPr>
            <a:xfrm>
              <a:off x="1855885" y="2274217"/>
              <a:ext cx="1459600" cy="33529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0" name="Right Triangle 19">
              <a:extLst>
                <a:ext uri="{FF2B5EF4-FFF2-40B4-BE49-F238E27FC236}">
                  <a16:creationId xmlns:a16="http://schemas.microsoft.com/office/drawing/2014/main" id="{E640948E-60FB-4FEA-9D34-C846F91BACC7}"/>
                </a:ext>
              </a:extLst>
            </p:cNvPr>
            <p:cNvSpPr/>
            <p:nvPr/>
          </p:nvSpPr>
          <p:spPr>
            <a:xfrm flipH="1">
              <a:off x="440593" y="2269263"/>
              <a:ext cx="1421187" cy="3361746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1" name="Right Triangle 20">
              <a:extLst>
                <a:ext uri="{FF2B5EF4-FFF2-40B4-BE49-F238E27FC236}">
                  <a16:creationId xmlns:a16="http://schemas.microsoft.com/office/drawing/2014/main" id="{E4125692-B478-495A-A28A-5B74ED639E50}"/>
                </a:ext>
              </a:extLst>
            </p:cNvPr>
            <p:cNvSpPr/>
            <p:nvPr/>
          </p:nvSpPr>
          <p:spPr>
            <a:xfrm>
              <a:off x="3299674" y="2265453"/>
              <a:ext cx="1787074" cy="3361746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B4B0FE6C-2C98-40F3-B203-C55C4F958547}"/>
              </a:ext>
            </a:extLst>
          </p:cNvPr>
          <p:cNvSpPr txBox="1"/>
          <p:nvPr/>
        </p:nvSpPr>
        <p:spPr>
          <a:xfrm>
            <a:off x="3550739" y="1841791"/>
            <a:ext cx="98201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4">
                    <a:lumMod val="75000"/>
                  </a:schemeClr>
                </a:solidFill>
              </a:rPr>
              <a:t>Width B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6B7B13D-4B9B-449D-B84A-E47190EBE981}"/>
              </a:ext>
            </a:extLst>
          </p:cNvPr>
          <p:cNvCxnSpPr>
            <a:cxnSpLocks/>
          </p:cNvCxnSpPr>
          <p:nvPr/>
        </p:nvCxnSpPr>
        <p:spPr>
          <a:xfrm flipH="1">
            <a:off x="3283462" y="2143588"/>
            <a:ext cx="4646156" cy="8650"/>
          </a:xfrm>
          <a:prstGeom prst="straightConnector1">
            <a:avLst/>
          </a:prstGeom>
          <a:ln w="38100" cap="flat" cmpd="sng" algn="ctr">
            <a:solidFill>
              <a:schemeClr val="accent4">
                <a:lumMod val="75000"/>
              </a:schemeClr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7C75065-99CF-44F9-9FEB-11649D906C91}"/>
              </a:ext>
            </a:extLst>
          </p:cNvPr>
          <p:cNvSpPr txBox="1"/>
          <p:nvPr/>
        </p:nvSpPr>
        <p:spPr>
          <a:xfrm>
            <a:off x="5398991" y="5580773"/>
            <a:ext cx="98201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6">
                    <a:lumMod val="50000"/>
                  </a:schemeClr>
                </a:solidFill>
              </a:rPr>
              <a:t>Width A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E8126A1-F74B-4D99-817C-B33B3504E72F}"/>
              </a:ext>
            </a:extLst>
          </p:cNvPr>
          <p:cNvCxnSpPr>
            <a:cxnSpLocks/>
          </p:cNvCxnSpPr>
          <p:nvPr/>
        </p:nvCxnSpPr>
        <p:spPr>
          <a:xfrm flipH="1">
            <a:off x="5033739" y="5891219"/>
            <a:ext cx="1459599" cy="1"/>
          </a:xfrm>
          <a:prstGeom prst="straightConnector1">
            <a:avLst/>
          </a:prstGeom>
          <a:ln w="38100" cap="flat" cmpd="sng" algn="ctr">
            <a:solidFill>
              <a:schemeClr val="accent6">
                <a:lumMod val="50000"/>
              </a:schemeClr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865CB7E-6285-4931-8108-22A9A809A9D8}"/>
              </a:ext>
            </a:extLst>
          </p:cNvPr>
          <p:cNvSpPr txBox="1"/>
          <p:nvPr/>
        </p:nvSpPr>
        <p:spPr>
          <a:xfrm>
            <a:off x="6426785" y="3498474"/>
            <a:ext cx="5628865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Area of a parallelogram = height x width</a:t>
            </a:r>
          </a:p>
          <a:p>
            <a:r>
              <a:rPr lang="en-AU" sz="2000" dirty="0"/>
              <a:t>            	                          = height x (width A + width B)</a:t>
            </a:r>
          </a:p>
          <a:p>
            <a:endParaRPr lang="en-AU" sz="2000" dirty="0"/>
          </a:p>
          <a:p>
            <a:r>
              <a:rPr lang="en-AU" sz="2400" dirty="0"/>
              <a:t>But since we only want the trapezium that takes up half this area</a:t>
            </a:r>
          </a:p>
          <a:p>
            <a:endParaRPr lang="en-AU" sz="2000" dirty="0"/>
          </a:p>
          <a:p>
            <a:endParaRPr lang="en-AU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55108E2-57A6-4C8F-BF58-6948F612C5CE}"/>
                  </a:ext>
                </a:extLst>
              </p:cNvPr>
              <p:cNvSpPr/>
              <p:nvPr/>
            </p:nvSpPr>
            <p:spPr>
              <a:xfrm>
                <a:off x="3085988" y="6117781"/>
                <a:ext cx="7750712" cy="7007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sz="2800" dirty="0"/>
                  <a:t>Area of trapezium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AU" sz="2800" dirty="0"/>
                  <a:t>height x (width A + width B)</a:t>
                </a: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55108E2-57A6-4C8F-BF58-6948F612C5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5988" y="6117781"/>
                <a:ext cx="7750712" cy="700705"/>
              </a:xfrm>
              <a:prstGeom prst="rect">
                <a:avLst/>
              </a:prstGeom>
              <a:blipFill>
                <a:blip r:embed="rId2"/>
                <a:stretch>
                  <a:fillRect l="-1572" r="-708" b="-121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4431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4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09937" y="16802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Times New Roman" pitchFamily="18" charset="0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Times New Roman" pitchFamily="18" charset="0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Times New Roman" pitchFamily="18" charset="0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Times New Roman" pitchFamily="18" charset="0"/>
              </a:rPr>
              <a:t>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7091" y="1052737"/>
            <a:ext cx="876938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>
                <a:solidFill>
                  <a:prstClr val="black"/>
                </a:solidFill>
                <a:latin typeface="Times New Roman" pitchFamily="18" charset="0"/>
              </a:rPr>
              <a:t>EQ – How do I find the area of a kite?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1" y="298231"/>
            <a:ext cx="54697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Times New Roman" pitchFamily="18" charset="0"/>
              </a:rPr>
              <a:t>Topic: Area of Kites and Rhombuses</a:t>
            </a:r>
          </a:p>
        </p:txBody>
      </p:sp>
      <p:pic>
        <p:nvPicPr>
          <p:cNvPr id="12" name="Picture 21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2" t="67222" r="76693" b="9028"/>
          <a:stretch/>
        </p:blipFill>
        <p:spPr bwMode="auto">
          <a:xfrm>
            <a:off x="2560342" y="2143405"/>
            <a:ext cx="1865154" cy="1616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21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78" t="67222" r="33216" b="9028"/>
          <a:stretch/>
        </p:blipFill>
        <p:spPr bwMode="auto">
          <a:xfrm>
            <a:off x="6382265" y="2154074"/>
            <a:ext cx="1731987" cy="162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21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9" t="67222" r="19030" b="18561"/>
          <a:stretch/>
        </p:blipFill>
        <p:spPr bwMode="auto">
          <a:xfrm>
            <a:off x="7911514" y="1676401"/>
            <a:ext cx="2734130" cy="1476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Rectangle 14"/>
          <p:cNvSpPr/>
          <p:nvPr/>
        </p:nvSpPr>
        <p:spPr>
          <a:xfrm>
            <a:off x="3093994" y="1728268"/>
            <a:ext cx="76975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>
                <a:solidFill>
                  <a:prstClr val="black"/>
                </a:solidFill>
                <a:latin typeface="Times New Roman" pitchFamily="18" charset="0"/>
              </a:rPr>
              <a:t>Kite: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65665" y="1730112"/>
            <a:ext cx="175303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>
                <a:solidFill>
                  <a:prstClr val="black"/>
                </a:solidFill>
                <a:latin typeface="Times New Roman" pitchFamily="18" charset="0"/>
              </a:rPr>
              <a:t>Example:</a:t>
            </a:r>
          </a:p>
        </p:txBody>
      </p:sp>
      <p:pic>
        <p:nvPicPr>
          <p:cNvPr id="17" name="Picture 21">
            <a:extLst>
              <a:ext uri="{FF2B5EF4-FFF2-40B4-BE49-F238E27FC236}">
                <a16:creationId xmlns:a16="http://schemas.microsoft.com/office/drawing/2014/main" id="{A189C107-4D88-412E-99D2-9D26296C0F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98" t="76286" r="57734" b="16254"/>
          <a:stretch/>
        </p:blipFill>
        <p:spPr bwMode="auto">
          <a:xfrm>
            <a:off x="4562064" y="2313936"/>
            <a:ext cx="1683633" cy="694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21">
            <a:extLst>
              <a:ext uri="{FF2B5EF4-FFF2-40B4-BE49-F238E27FC236}">
                <a16:creationId xmlns:a16="http://schemas.microsoft.com/office/drawing/2014/main" id="{183E16A9-085A-4254-BDEA-AAB64790D3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25" t="72240" r="12257" b="21631"/>
          <a:stretch/>
        </p:blipFill>
        <p:spPr bwMode="auto">
          <a:xfrm>
            <a:off x="8819593" y="3008695"/>
            <a:ext cx="1258415" cy="63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22">
            <a:extLst>
              <a:ext uri="{FF2B5EF4-FFF2-40B4-BE49-F238E27FC236}">
                <a16:creationId xmlns:a16="http://schemas.microsoft.com/office/drawing/2014/main" id="{66C1AD68-8D3B-4066-9431-0A83A15554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78" t="22917" r="49784" b="58471"/>
          <a:stretch/>
        </p:blipFill>
        <p:spPr bwMode="auto">
          <a:xfrm>
            <a:off x="2743200" y="3962170"/>
            <a:ext cx="3064768" cy="127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22">
            <a:extLst>
              <a:ext uri="{FF2B5EF4-FFF2-40B4-BE49-F238E27FC236}">
                <a16:creationId xmlns:a16="http://schemas.microsoft.com/office/drawing/2014/main" id="{055616C6-2CBE-4F45-A352-C85D961504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29" t="23449" r="35014" b="57939"/>
          <a:stretch/>
        </p:blipFill>
        <p:spPr bwMode="auto">
          <a:xfrm>
            <a:off x="3206713" y="5167089"/>
            <a:ext cx="1786930" cy="127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9" name="Straight Connector 8"/>
          <p:cNvCxnSpPr/>
          <p:nvPr/>
        </p:nvCxnSpPr>
        <p:spPr>
          <a:xfrm>
            <a:off x="2743200" y="1676400"/>
            <a:ext cx="0" cy="51816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3" name="Picture 23">
            <a:extLst>
              <a:ext uri="{FF2B5EF4-FFF2-40B4-BE49-F238E27FC236}">
                <a16:creationId xmlns:a16="http://schemas.microsoft.com/office/drawing/2014/main" id="{63D43786-0618-43B1-94A5-F8E9D37B11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38" t="55139" r="55855" b="26336"/>
          <a:stretch/>
        </p:blipFill>
        <p:spPr bwMode="auto">
          <a:xfrm>
            <a:off x="6191433" y="4850879"/>
            <a:ext cx="1731987" cy="1270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4C3CDEE-F547-4FE4-B09A-9769297E4D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62" t="73015" r="57492" b="13752"/>
          <a:stretch/>
        </p:blipFill>
        <p:spPr bwMode="auto">
          <a:xfrm>
            <a:off x="7755767" y="4844985"/>
            <a:ext cx="2734130" cy="127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1459784" y="16764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1459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09937" y="16802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Times New Roman" pitchFamily="18" charset="0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Times New Roman" pitchFamily="18" charset="0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Times New Roman" pitchFamily="18" charset="0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Times New Roman" pitchFamily="18" charset="0"/>
              </a:rPr>
              <a:t>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7091" y="1052737"/>
            <a:ext cx="876938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>
                <a:solidFill>
                  <a:prstClr val="black"/>
                </a:solidFill>
                <a:latin typeface="Times New Roman" pitchFamily="18" charset="0"/>
              </a:rPr>
              <a:t>EQ – How do I find the area of a kite?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1" y="298231"/>
            <a:ext cx="54697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Times New Roman" pitchFamily="18" charset="0"/>
              </a:rPr>
              <a:t>Topic: Area of Kites and Rhombuses</a:t>
            </a:r>
          </a:p>
        </p:txBody>
      </p:sp>
      <p:pic>
        <p:nvPicPr>
          <p:cNvPr id="20" name="Picture 22">
            <a:extLst>
              <a:ext uri="{FF2B5EF4-FFF2-40B4-BE49-F238E27FC236}">
                <a16:creationId xmlns:a16="http://schemas.microsoft.com/office/drawing/2014/main" id="{66C1AD68-8D3B-4066-9431-0A83A15554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78" t="22917" r="49784" b="58471"/>
          <a:stretch/>
        </p:blipFill>
        <p:spPr bwMode="auto">
          <a:xfrm>
            <a:off x="2800654" y="1793428"/>
            <a:ext cx="3064768" cy="127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22">
            <a:extLst>
              <a:ext uri="{FF2B5EF4-FFF2-40B4-BE49-F238E27FC236}">
                <a16:creationId xmlns:a16="http://schemas.microsoft.com/office/drawing/2014/main" id="{055616C6-2CBE-4F45-A352-C85D961504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29" t="23449" r="35014" b="57939"/>
          <a:stretch/>
        </p:blipFill>
        <p:spPr bwMode="auto">
          <a:xfrm>
            <a:off x="3264167" y="2998347"/>
            <a:ext cx="1786930" cy="127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9" name="Straight Connector 8"/>
          <p:cNvCxnSpPr/>
          <p:nvPr/>
        </p:nvCxnSpPr>
        <p:spPr>
          <a:xfrm>
            <a:off x="2743200" y="1676400"/>
            <a:ext cx="0" cy="51816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3" name="Picture 23">
            <a:extLst>
              <a:ext uri="{FF2B5EF4-FFF2-40B4-BE49-F238E27FC236}">
                <a16:creationId xmlns:a16="http://schemas.microsoft.com/office/drawing/2014/main" id="{63D43786-0618-43B1-94A5-F8E9D37B11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38" t="55139" r="55855" b="26336"/>
          <a:stretch/>
        </p:blipFill>
        <p:spPr bwMode="auto">
          <a:xfrm>
            <a:off x="6248887" y="2682137"/>
            <a:ext cx="1731987" cy="1270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4C3CDEE-F547-4FE4-B09A-9769297E4D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62" t="73015" r="57492" b="13752"/>
          <a:stretch/>
        </p:blipFill>
        <p:spPr bwMode="auto">
          <a:xfrm>
            <a:off x="7813221" y="2676243"/>
            <a:ext cx="2734130" cy="127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1459784" y="16764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FE6C679D-06D3-4BBA-A458-4D47424D10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0653" y="4576762"/>
            <a:ext cx="4587587" cy="13004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17CD92D-90CB-4B1E-9376-7C2595DA0E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1791" y="5274492"/>
            <a:ext cx="2578381" cy="1300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C21C4B-6E44-4C53-9A0F-0D4FC3515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240" y="4696016"/>
            <a:ext cx="2667658" cy="14833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53402B-ED2B-4420-BE91-C14366105D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5898" y="4486353"/>
            <a:ext cx="2013043" cy="1956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030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9A3937-B282-4109-A8C2-0B23430A4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722" y="680389"/>
            <a:ext cx="2374538" cy="17817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626038-65A0-494A-BEAB-3E5E55570F3C}"/>
              </a:ext>
            </a:extLst>
          </p:cNvPr>
          <p:cNvSpPr txBox="1"/>
          <p:nvPr/>
        </p:nvSpPr>
        <p:spPr>
          <a:xfrm>
            <a:off x="2063552" y="260648"/>
            <a:ext cx="7344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Let’s try some together.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BDB98C-8103-4913-A01B-30C89739B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9004" y="529592"/>
            <a:ext cx="1683001" cy="193257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053753B-7790-4A22-8B84-F795FACFCE34}"/>
              </a:ext>
            </a:extLst>
          </p:cNvPr>
          <p:cNvSpPr/>
          <p:nvPr/>
        </p:nvSpPr>
        <p:spPr>
          <a:xfrm>
            <a:off x="1289480" y="2032468"/>
            <a:ext cx="462511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80B3FA-8F0C-4107-A80D-BB2646D5B6DB}"/>
              </a:ext>
            </a:extLst>
          </p:cNvPr>
          <p:cNvSpPr/>
          <p:nvPr/>
        </p:nvSpPr>
        <p:spPr>
          <a:xfrm>
            <a:off x="2328055" y="1179469"/>
            <a:ext cx="144016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3</a:t>
            </a:r>
          </a:p>
        </p:txBody>
      </p:sp>
      <p:sp>
        <p:nvSpPr>
          <p:cNvPr id="8" name="Trapezoid 7">
            <a:extLst>
              <a:ext uri="{FF2B5EF4-FFF2-40B4-BE49-F238E27FC236}">
                <a16:creationId xmlns:a16="http://schemas.microsoft.com/office/drawing/2014/main" id="{16421E3F-93F1-4D4F-9052-13EB50B7B384}"/>
              </a:ext>
            </a:extLst>
          </p:cNvPr>
          <p:cNvSpPr/>
          <p:nvPr/>
        </p:nvSpPr>
        <p:spPr>
          <a:xfrm>
            <a:off x="9077377" y="1059107"/>
            <a:ext cx="1440160" cy="1080120"/>
          </a:xfrm>
          <a:prstGeom prst="trapezoid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317A0D-6CB7-401A-820A-77AE0789FDC0}"/>
              </a:ext>
            </a:extLst>
          </p:cNvPr>
          <p:cNvSpPr/>
          <p:nvPr/>
        </p:nvSpPr>
        <p:spPr>
          <a:xfrm>
            <a:off x="9412576" y="629980"/>
            <a:ext cx="5052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B050"/>
                </a:solidFill>
                <a:latin typeface="Comic Sans MS" panose="030F0702030302020204" pitchFamily="66" charset="0"/>
              </a:rPr>
              <a:t>9m</a:t>
            </a:r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BE13C9-3053-43E3-AA95-2CE0546E27FC}"/>
              </a:ext>
            </a:extLst>
          </p:cNvPr>
          <p:cNvSpPr/>
          <p:nvPr/>
        </p:nvSpPr>
        <p:spPr>
          <a:xfrm>
            <a:off x="9412574" y="2106689"/>
            <a:ext cx="7280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B050"/>
                </a:solidFill>
                <a:latin typeface="Comic Sans MS" panose="030F0702030302020204" pitchFamily="66" charset="0"/>
              </a:rPr>
              <a:t>13cm</a:t>
            </a:r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43A92C-1B04-48AE-BB8C-E925D5EDD1D2}"/>
              </a:ext>
            </a:extLst>
          </p:cNvPr>
          <p:cNvSpPr/>
          <p:nvPr/>
        </p:nvSpPr>
        <p:spPr>
          <a:xfrm>
            <a:off x="9467757" y="1446729"/>
            <a:ext cx="6238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B050"/>
                </a:solidFill>
                <a:latin typeface="Comic Sans MS" panose="030F0702030302020204" pitchFamily="66" charset="0"/>
              </a:rPr>
              <a:t>7cm</a:t>
            </a:r>
            <a:endParaRPr lang="en-GB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3139681-6BA6-4222-A7CF-E53F3251983C}"/>
              </a:ext>
            </a:extLst>
          </p:cNvPr>
          <p:cNvCxnSpPr/>
          <p:nvPr/>
        </p:nvCxnSpPr>
        <p:spPr>
          <a:xfrm>
            <a:off x="9412574" y="1075376"/>
            <a:ext cx="0" cy="1047582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0353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626038-65A0-494A-BEAB-3E5E55570F3C}"/>
              </a:ext>
            </a:extLst>
          </p:cNvPr>
          <p:cNvSpPr txBox="1"/>
          <p:nvPr/>
        </p:nvSpPr>
        <p:spPr>
          <a:xfrm>
            <a:off x="2063552" y="260648"/>
            <a:ext cx="73448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Your turn.</a:t>
            </a:r>
          </a:p>
          <a:p>
            <a:endParaRPr lang="en-AU" dirty="0"/>
          </a:p>
          <a:p>
            <a:r>
              <a:rPr lang="en-AU" dirty="0"/>
              <a:t>Cambridge – Year 8 Essentials</a:t>
            </a:r>
          </a:p>
          <a:p>
            <a:endParaRPr lang="en-AU" dirty="0"/>
          </a:p>
          <a:p>
            <a:r>
              <a:rPr lang="en-AU" dirty="0"/>
              <a:t>Exercise 4d – page 201</a:t>
            </a:r>
          </a:p>
        </p:txBody>
      </p:sp>
    </p:spTree>
    <p:extLst>
      <p:ext uri="{BB962C8B-B14F-4D97-AF65-F5344CB8AC3E}">
        <p14:creationId xmlns:p14="http://schemas.microsoft.com/office/powerpoint/2010/main" val="1627581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712</Words>
  <Application>Microsoft Office PowerPoint</Application>
  <PresentationFormat>Widescreen</PresentationFormat>
  <Paragraphs>116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Comic Sans MS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WILSON James [Baldivis Secondary College]</cp:lastModifiedBy>
  <cp:revision>12</cp:revision>
  <dcterms:created xsi:type="dcterms:W3CDTF">2019-03-04T13:16:20Z</dcterms:created>
  <dcterms:modified xsi:type="dcterms:W3CDTF">2019-03-04T15:10:00Z</dcterms:modified>
</cp:coreProperties>
</file>
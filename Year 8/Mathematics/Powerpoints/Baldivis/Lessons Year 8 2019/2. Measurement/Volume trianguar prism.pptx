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7" r:id="rId2"/>
  </p:sldMasterIdLst>
  <p:notesMasterIdLst>
    <p:notesMasterId r:id="rId11"/>
  </p:notesMasterIdLst>
  <p:sldIdLst>
    <p:sldId id="283" r:id="rId3"/>
    <p:sldId id="292" r:id="rId4"/>
    <p:sldId id="288" r:id="rId5"/>
    <p:sldId id="303" r:id="rId6"/>
    <p:sldId id="304" r:id="rId7"/>
    <p:sldId id="299" r:id="rId8"/>
    <p:sldId id="300" r:id="rId9"/>
    <p:sldId id="30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9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14/03/2019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02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87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93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04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609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42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717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803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911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5547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1CDE6A18-5249-4E15-BDDA-973596E0607E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342900"/>
              <a:t>14/03/2019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207D5E1E-1E48-4B4E-A14C-E11FA7B351BC}" type="slidenum">
              <a:rPr lang="en-GB" smtClean="0">
                <a:solidFill>
                  <a:srgbClr val="5FCBEF"/>
                </a:solidFill>
              </a:rPr>
              <a:pPr defTabSz="342900"/>
              <a:t>‹#›</a:t>
            </a:fld>
            <a:endParaRPr lang="en-GB">
              <a:solidFill>
                <a:srgbClr val="5FCB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7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14/03/2019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2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Mental maths-</a:t>
            </a:r>
          </a:p>
          <a:p>
            <a:pPr algn="ctr">
              <a:buNone/>
            </a:pPr>
            <a:r>
              <a:rPr lang="en-GB" b="1" dirty="0" smtClean="0">
                <a:latin typeface="Comic Sans MS" pitchFamily="66" charset="0"/>
              </a:rPr>
              <a:t>72</a:t>
            </a:r>
          </a:p>
          <a:p>
            <a:pPr>
              <a:buNone/>
            </a:pPr>
            <a:r>
              <a:rPr lang="en-GB" dirty="0" smtClean="0"/>
              <a:t>Is the answer, so,</a:t>
            </a:r>
          </a:p>
          <a:p>
            <a:pPr>
              <a:buNone/>
            </a:pPr>
            <a:r>
              <a:rPr lang="en-GB" b="1" dirty="0" smtClean="0"/>
              <a:t>what is the question?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smtClean="0"/>
              <a:t>With your partner, think of as many and tricky questions as you can</a:t>
            </a:r>
            <a:r>
              <a:rPr lang="mr-IN" dirty="0" smtClean="0"/>
              <a:t>…</a:t>
            </a:r>
            <a:r>
              <a:rPr lang="en-GB" dirty="0" smtClean="0"/>
              <a:t>. Write then on your sticky notes and place on the board under Easy, Medium  or extra Hard!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Did you use indices, square roots, decimals, BIMDAS?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Conversion Caterpillar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What would it look lik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e for volume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?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2540000"/>
            <a:ext cx="72644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2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Calculating Volumes of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3-D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shapes 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If we know the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area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of the face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of a shape , we can just multiply that by the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length, depth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or height.</a:t>
            </a:r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Such as a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triangular prism</a:t>
            </a:r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or hexagonal prism.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854531"/>
              </p:ext>
            </p:extLst>
          </p:nvPr>
        </p:nvGraphicFramePr>
        <p:xfrm>
          <a:off x="107504" y="332655"/>
          <a:ext cx="8640960" cy="6264696"/>
        </p:xfrm>
        <a:graphic>
          <a:graphicData uri="http://schemas.openxmlformats.org/drawingml/2006/table">
            <a:tbl>
              <a:tblPr firstRow="1" firstCol="1" bandRow="1"/>
              <a:tblGrid>
                <a:gridCol w="2032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074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11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34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11665" y="556540"/>
            <a:ext cx="314220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AU" sz="1350" dirty="0">
                <a:solidFill>
                  <a:prstClr val="black"/>
                </a:solidFill>
                <a:latin typeface="Comic Sans MS" panose="030F0702030302020204" pitchFamily="66" charset="0"/>
              </a:rPr>
              <a:t>TOPIC: Measurement and Geometry </a:t>
            </a:r>
            <a:endParaRPr lang="en-GB" sz="135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3709" y="1158799"/>
            <a:ext cx="443422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AU" sz="1350" dirty="0">
                <a:solidFill>
                  <a:prstClr val="black"/>
                </a:solidFill>
                <a:latin typeface="Comic Sans MS" panose="030F0702030302020204" pitchFamily="66" charset="0"/>
              </a:rPr>
              <a:t>EQ: How do I find the volume of a triangular prism? </a:t>
            </a:r>
            <a:endParaRPr lang="en-GB" sz="1350" dirty="0">
              <a:solidFill>
                <a:prstClr val="black"/>
              </a:solidFill>
              <a:latin typeface="Trebuchet MS" panose="020B0603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21AE92-91A0-4568-91AE-6EC3FDCF1317}"/>
              </a:ext>
            </a:extLst>
          </p:cNvPr>
          <p:cNvSpPr/>
          <p:nvPr/>
        </p:nvSpPr>
        <p:spPr>
          <a:xfrm>
            <a:off x="2195736" y="1798521"/>
            <a:ext cx="3786809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900"/>
            <a:r>
              <a:rPr lang="en-AU" sz="1350" dirty="0">
                <a:solidFill>
                  <a:prstClr val="black"/>
                </a:solidFill>
                <a:latin typeface="Comic Sans MS" panose="030F0702030302020204" pitchFamily="66" charset="0"/>
              </a:rPr>
              <a:t>Volume = Area of triangular base x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22338-3B41-44FA-9B2B-02CFDB66C8D8}"/>
              </a:ext>
            </a:extLst>
          </p:cNvPr>
          <p:cNvSpPr/>
          <p:nvPr/>
        </p:nvSpPr>
        <p:spPr>
          <a:xfrm>
            <a:off x="163709" y="1798521"/>
            <a:ext cx="16378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900"/>
            <a:r>
              <a:rPr lang="en-AU" sz="1350" dirty="0">
                <a:solidFill>
                  <a:prstClr val="black"/>
                </a:solidFill>
                <a:latin typeface="Comic Sans MS" panose="030F0702030302020204" pitchFamily="66" charset="0"/>
              </a:rPr>
              <a:t>Volume of a triangular prism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C7E7A8-C588-42DA-A96E-B1E8C9E87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473" y="2946528"/>
            <a:ext cx="2901496" cy="2210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176B62-CB77-4185-A363-1B0F6A86BF9B}"/>
                  </a:ext>
                </a:extLst>
              </p:cNvPr>
              <p:cNvSpPr/>
              <p:nvPr/>
            </p:nvSpPr>
            <p:spPr>
              <a:xfrm>
                <a:off x="2220740" y="2253058"/>
                <a:ext cx="2783308" cy="3904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342900"/>
                <a:r>
                  <a:rPr lang="en-AU" sz="1350" dirty="0">
                    <a:solidFill>
                      <a:prstClr val="black"/>
                    </a:solidFill>
                    <a:latin typeface="Comic Sans MS" panose="030F0702030302020204" pitchFamily="66" charset="0"/>
                  </a:rPr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135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135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sz="135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135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AU" sz="135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1350" dirty="0">
                    <a:solidFill>
                      <a:prstClr val="black"/>
                    </a:solidFill>
                    <a:latin typeface="Comic Sans MS" panose="030F0702030302020204" pitchFamily="66" charset="0"/>
                  </a:rPr>
                  <a:t> x Length</a:t>
                </a:r>
                <a:endParaRPr lang="en-AU" sz="1350" dirty="0">
                  <a:solidFill>
                    <a:prstClr val="black"/>
                  </a:solidFill>
                  <a:latin typeface="Trebuchet MS" panose="020B0603020202020204"/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176B62-CB77-4185-A363-1B0F6A86BF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740" y="2253058"/>
                <a:ext cx="2783308" cy="390492"/>
              </a:xfrm>
              <a:prstGeom prst="rect">
                <a:avLst/>
              </a:prstGeom>
              <a:blipFill>
                <a:blip r:embed="rId3"/>
                <a:stretch>
                  <a:fillRect l="-438" b="-31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35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95DA56D-7F4C-4BF2-971F-C400C6ABF832}"/>
                  </a:ext>
                </a:extLst>
              </p:cNvPr>
              <p:cNvSpPr/>
              <p:nvPr/>
            </p:nvSpPr>
            <p:spPr>
              <a:xfrm>
                <a:off x="3492182" y="3937601"/>
                <a:ext cx="2163481" cy="701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342900"/>
                <a:r>
                  <a:rPr lang="en-AU" sz="2800" dirty="0">
                    <a:solidFill>
                      <a:prstClr val="black"/>
                    </a:solidFill>
                    <a:latin typeface="Comic Sans MS" panose="030F0702030302020204" pitchFamily="66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Trebuchet MS" panose="020B0603020202020204"/>
                  </a:rPr>
                  <a:t> x 8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95DA56D-7F4C-4BF2-971F-C400C6ABF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182" y="3937601"/>
                <a:ext cx="2163481" cy="701602"/>
              </a:xfrm>
              <a:prstGeom prst="rect">
                <a:avLst/>
              </a:prstGeom>
              <a:blipFill>
                <a:blip r:embed="rId2"/>
                <a:stretch>
                  <a:fillRect l="-5915" b="-113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A6470F7-041F-4A89-93E2-F612501A735A}"/>
              </a:ext>
            </a:extLst>
          </p:cNvPr>
          <p:cNvSpPr/>
          <p:nvPr/>
        </p:nvSpPr>
        <p:spPr>
          <a:xfrm>
            <a:off x="3492182" y="4839606"/>
            <a:ext cx="17379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AU" sz="2800" dirty="0">
                <a:solidFill>
                  <a:prstClr val="black"/>
                </a:solidFill>
                <a:latin typeface="Comic Sans MS" panose="030F0702030302020204" pitchFamily="66" charset="0"/>
              </a:rPr>
              <a:t>= 96 cm</a:t>
            </a:r>
            <a:r>
              <a:rPr lang="en-AU" sz="2800" baseline="30000" dirty="0">
                <a:solidFill>
                  <a:prstClr val="black"/>
                </a:solidFill>
                <a:latin typeface="Comic Sans MS" panose="030F0702030302020204" pitchFamily="66" charset="0"/>
              </a:rPr>
              <a:t>3</a:t>
            </a:r>
            <a:r>
              <a:rPr lang="en-AU" sz="2800" dirty="0">
                <a:solidFill>
                  <a:prstClr val="black"/>
                </a:solidFill>
                <a:latin typeface="Comic Sans MS" panose="030F0702030302020204" pitchFamily="66" charset="0"/>
              </a:rPr>
              <a:t> </a:t>
            </a:r>
            <a:endParaRPr lang="en-AU" sz="2800" dirty="0">
              <a:solidFill>
                <a:prstClr val="black"/>
              </a:solidFill>
              <a:latin typeface="Trebuchet MS" panose="020B0603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97D80E5-8F7E-4843-97EE-943168098A34}"/>
                  </a:ext>
                </a:extLst>
              </p:cNvPr>
              <p:cNvSpPr/>
              <p:nvPr/>
            </p:nvSpPr>
            <p:spPr>
              <a:xfrm>
                <a:off x="2133300" y="3227022"/>
                <a:ext cx="4310908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342900"/>
                <a:r>
                  <a:rPr lang="en-AU" sz="2800" dirty="0">
                    <a:solidFill>
                      <a:prstClr val="black"/>
                    </a:solidFill>
                    <a:latin typeface="Comic Sans MS" panose="030F0702030302020204" pitchFamily="66" charset="0"/>
                  </a:rPr>
                  <a:t>Volume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Comic Sans MS" panose="030F0702030302020204" pitchFamily="66" charset="0"/>
                  </a:rPr>
                  <a:t> x Length</a:t>
                </a:r>
                <a:endParaRPr lang="en-AU" sz="2800" dirty="0">
                  <a:solidFill>
                    <a:prstClr val="black"/>
                  </a:solidFill>
                  <a:latin typeface="Trebuchet MS" panose="020B0603020202020204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97D80E5-8F7E-4843-97EE-943168098A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00" y="3227022"/>
                <a:ext cx="4310908" cy="710579"/>
              </a:xfrm>
              <a:prstGeom prst="rect">
                <a:avLst/>
              </a:prstGeom>
              <a:blipFill>
                <a:blip r:embed="rId3"/>
                <a:stretch>
                  <a:fillRect l="-2970" b="-10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89AB999-D6DF-4CB5-83B3-A9B45B357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7" y="244178"/>
            <a:ext cx="2875542" cy="259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6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EXTENSION: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sz="2800" dirty="0" smtClean="0">
                <a:latin typeface="Comic Sans MS" charset="0"/>
                <a:ea typeface="Comic Sans MS" charset="0"/>
                <a:cs typeface="Comic Sans MS" charset="0"/>
              </a:rPr>
              <a:t>First 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find the </a:t>
            </a:r>
            <a:r>
              <a:rPr lang="en-US" sz="2800" b="1" dirty="0">
                <a:latin typeface="Comic Sans MS" charset="0"/>
                <a:ea typeface="Comic Sans MS" charset="0"/>
                <a:cs typeface="Comic Sans MS" charset="0"/>
              </a:rPr>
              <a:t>volume of the triangular roof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, then find the </a:t>
            </a:r>
            <a:r>
              <a:rPr lang="en-US" sz="2800" b="1" dirty="0">
                <a:latin typeface="Comic Sans MS" charset="0"/>
                <a:ea typeface="Comic Sans MS" charset="0"/>
                <a:cs typeface="Comic Sans MS" charset="0"/>
              </a:rPr>
              <a:t>volume of the rectangular prism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, then </a:t>
            </a:r>
            <a:r>
              <a:rPr lang="en-US" sz="2800" b="1" u="sng" dirty="0">
                <a:latin typeface="Comic Sans MS" charset="0"/>
                <a:ea typeface="Comic Sans MS" charset="0"/>
                <a:cs typeface="Comic Sans MS" charset="0"/>
              </a:rPr>
              <a:t>add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the </a:t>
            </a:r>
            <a:r>
              <a:rPr lang="en-US" sz="2800" b="1" u="sng" dirty="0">
                <a:latin typeface="Comic Sans MS" charset="0"/>
                <a:ea typeface="Comic Sans MS" charset="0"/>
                <a:cs typeface="Comic Sans MS" charset="0"/>
              </a:rPr>
              <a:t>two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together.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196752"/>
            <a:ext cx="3763426" cy="357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Naplan</a:t>
            </a:r>
            <a:r>
              <a:rPr lang="en-US" dirty="0" smtClean="0"/>
              <a:t> Style Question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21" y="1600200"/>
            <a:ext cx="7451758" cy="4525963"/>
          </a:xfrm>
        </p:spPr>
      </p:pic>
    </p:spTree>
    <p:extLst>
      <p:ext uri="{BB962C8B-B14F-4D97-AF65-F5344CB8AC3E}">
        <p14:creationId xmlns:p14="http://schemas.microsoft.com/office/powerpoint/2010/main" val="906291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Answer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First find the </a:t>
            </a:r>
            <a:r>
              <a:rPr lang="en-US" b="1" u="sng" dirty="0" smtClean="0">
                <a:latin typeface="Comic Sans MS" charset="0"/>
                <a:ea typeface="Comic Sans MS" charset="0"/>
                <a:cs typeface="Comic Sans MS" charset="0"/>
              </a:rPr>
              <a:t>base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,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12cm - 2(3) = 6 cm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10 - 2 (3) = 4 cm 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6 x 4 = 24cm</a:t>
            </a:r>
            <a:r>
              <a:rPr lang="en-US" baseline="30000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2</a:t>
            </a:r>
          </a:p>
          <a:p>
            <a:pPr marL="0" indent="0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Then, find the </a:t>
            </a:r>
            <a:r>
              <a:rPr lang="en-US" b="1" u="sng" dirty="0" smtClean="0">
                <a:latin typeface="Comic Sans MS" charset="0"/>
                <a:ea typeface="Comic Sans MS" charset="0"/>
                <a:cs typeface="Comic Sans MS" charset="0"/>
              </a:rPr>
              <a:t>height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  =</a:t>
            </a:r>
            <a:r>
              <a:rPr lang="en-US" b="1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3cm</a:t>
            </a: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So, 24cm</a:t>
            </a:r>
            <a:r>
              <a:rPr lang="en-US" baseline="30000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2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x 3cm</a:t>
            </a:r>
            <a:r>
              <a:rPr lang="en-US" baseline="30000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1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=</a:t>
            </a:r>
          </a:p>
          <a:p>
            <a:pPr marL="0" indent="0" algn="ctr">
              <a:buNone/>
            </a:pPr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****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72 </a:t>
            </a:r>
            <a:r>
              <a:rPr lang="en-US" b="1" smtClean="0">
                <a:latin typeface="Comic Sans MS" charset="0"/>
                <a:ea typeface="Comic Sans MS" charset="0"/>
                <a:cs typeface="Comic Sans MS" charset="0"/>
              </a:rPr>
              <a:t>cm</a:t>
            </a:r>
            <a:r>
              <a:rPr lang="en-US" b="1" baseline="3000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3</a:t>
            </a:r>
            <a:r>
              <a:rPr lang="en-US" b="1" baseline="3000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mtClean="0">
                <a:latin typeface="Comic Sans MS" charset="0"/>
                <a:ea typeface="Comic Sans MS" charset="0"/>
                <a:cs typeface="Comic Sans MS" charset="0"/>
              </a:rPr>
              <a:t>**** 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9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127</TotalTime>
  <Words>226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Comic Sans MS</vt:lpstr>
      <vt:lpstr>Mangal</vt:lpstr>
      <vt:lpstr>Martina</vt:lpstr>
      <vt:lpstr>Times New Roman</vt:lpstr>
      <vt:lpstr>Trebuchet MS</vt:lpstr>
      <vt:lpstr>Office Theme</vt:lpstr>
      <vt:lpstr>1_Office Theme</vt:lpstr>
      <vt:lpstr>Warm up</vt:lpstr>
      <vt:lpstr>Conversion Caterpillar</vt:lpstr>
      <vt:lpstr>Calculating Volumes of 3-D shapes </vt:lpstr>
      <vt:lpstr>PowerPoint Presentation</vt:lpstr>
      <vt:lpstr>PowerPoint Presentation</vt:lpstr>
      <vt:lpstr>EXTENSION:</vt:lpstr>
      <vt:lpstr>Naplan Style Question</vt:lpstr>
      <vt:lpstr>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KEEN Stephanie [Baldivis Secondary College]</cp:lastModifiedBy>
  <cp:revision>24</cp:revision>
  <dcterms:created xsi:type="dcterms:W3CDTF">2017-08-30T11:53:26Z</dcterms:created>
  <dcterms:modified xsi:type="dcterms:W3CDTF">2019-03-14T13:51:58Z</dcterms:modified>
</cp:coreProperties>
</file>
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3" r:id="rId1"/>
  </p:sldMasterIdLst>
  <p:notesMasterIdLst>
    <p:notesMasterId r:id="rId27"/>
  </p:notesMasterIdLst>
  <p:sldIdLst>
    <p:sldId id="332" r:id="rId2"/>
    <p:sldId id="333" r:id="rId3"/>
    <p:sldId id="334" r:id="rId4"/>
    <p:sldId id="346" r:id="rId5"/>
    <p:sldId id="338" r:id="rId6"/>
    <p:sldId id="354" r:id="rId7"/>
    <p:sldId id="355" r:id="rId8"/>
    <p:sldId id="263" r:id="rId9"/>
    <p:sldId id="269" r:id="rId10"/>
    <p:sldId id="270" r:id="rId11"/>
    <p:sldId id="271" r:id="rId12"/>
    <p:sldId id="272" r:id="rId13"/>
    <p:sldId id="273" r:id="rId14"/>
    <p:sldId id="274" r:id="rId15"/>
    <p:sldId id="264" r:id="rId16"/>
    <p:sldId id="350" r:id="rId17"/>
    <p:sldId id="259" r:id="rId18"/>
    <p:sldId id="260" r:id="rId19"/>
    <p:sldId id="261" r:id="rId20"/>
    <p:sldId id="358" r:id="rId21"/>
    <p:sldId id="359" r:id="rId22"/>
    <p:sldId id="357" r:id="rId23"/>
    <p:sldId id="265" r:id="rId24"/>
    <p:sldId id="360" r:id="rId25"/>
    <p:sldId id="353" r:id="rId2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E3DBD3"/>
    <a:srgbClr val="E6E3D0"/>
    <a:srgbClr val="E1DEC5"/>
    <a:srgbClr val="FF0000"/>
    <a:srgbClr val="339933"/>
    <a:srgbClr val="FFFF99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7" autoAdjust="0"/>
    <p:restoredTop sz="94624" autoAdjust="0"/>
  </p:normalViewPr>
  <p:slideViewPr>
    <p:cSldViewPr>
      <p:cViewPr>
        <p:scale>
          <a:sx n="84" d="100"/>
          <a:sy n="84" d="100"/>
        </p:scale>
        <p:origin x="990" y="3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4EAF413F-ED53-49F3-81C7-ABE475CDA29A}" type="datetimeFigureOut">
              <a:rPr lang="en-US"/>
              <a:pPr>
                <a:defRPr/>
              </a:pPr>
              <a:t>11/10/2019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CA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CA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539FAEE7-0E52-4969-8C1F-F79229FD5224}" type="slidenum">
              <a:rPr lang="en-CA"/>
              <a:pPr>
                <a:defRPr/>
              </a:pPr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0489276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The aim of this lesson is to revise and confirm the students’ understanding of 2D Shapes in preparation for learning about properties and congruence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39FAEE7-0E52-4969-8C1F-F79229FD5224}" type="slidenum">
              <a:rPr lang="en-CA" smtClean="0"/>
              <a:pPr>
                <a:defRPr/>
              </a:pPr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227133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39FAEE7-0E52-4969-8C1F-F79229FD5224}" type="slidenum">
              <a:rPr lang="en-CA" smtClean="0"/>
              <a:pPr>
                <a:defRPr/>
              </a:pPr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911294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39FAEE7-0E52-4969-8C1F-F79229FD5224}" type="slidenum">
              <a:rPr lang="en-CA" smtClean="0"/>
              <a:pPr>
                <a:defRPr/>
              </a:pPr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488285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39FAEE7-0E52-4969-8C1F-F79229FD5224}" type="slidenum">
              <a:rPr lang="en-CA" smtClean="0"/>
              <a:pPr>
                <a:defRPr/>
              </a:pPr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80135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39FAEE7-0E52-4969-8C1F-F79229FD5224}" type="slidenum">
              <a:rPr lang="en-CA" smtClean="0"/>
              <a:pPr>
                <a:defRPr/>
              </a:pPr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82722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You</a:t>
            </a:r>
            <a:r>
              <a:rPr lang="en-AU" baseline="0" dirty="0"/>
              <a:t> can either deliver this as expert groups or just present the notes on the board and have student fill them in</a:t>
            </a:r>
          </a:p>
          <a:p>
            <a:endParaRPr lang="en-AU" baseline="0" dirty="0"/>
          </a:p>
          <a:p>
            <a:r>
              <a:rPr lang="en-AU" baseline="0" dirty="0"/>
              <a:t>Hand out fish bone template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34133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Lesson</a:t>
            </a:r>
            <a:r>
              <a:rPr lang="en-AU" baseline="0" dirty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58631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for Understanding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6FEA3-4B06-46F7-BD2F-EBD4701E5C64}" type="slidenum">
              <a:rPr lang="en-AU" smtClean="0"/>
              <a:t>16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83994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0654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1200" b="1" dirty="0">
                <a:solidFill>
                  <a:schemeClr val="accent3">
                    <a:lumMod val="50000"/>
                  </a:schemeClr>
                </a:solidFill>
                <a:latin typeface="Century Gothic" panose="020B0502020202020204" pitchFamily="34" charset="0"/>
              </a:rPr>
              <a:t>Draw a table like the following in your book: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1857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3750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1583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Closure/ exit pass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23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06510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Closure/ exit pass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24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853345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58CD227D-F45F-412A-8D7B-D03DAAC35A59}" type="datetimeFigureOut">
              <a:rPr lang="en-AU"/>
              <a:pPr>
                <a:defRPr/>
              </a:pPr>
              <a:t>10/11/2019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023E6989-D397-4A16-A0D4-09B26C611026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345969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8F497677-DD77-4FB2-BCD4-2BD59DE13003}" type="datetimeFigureOut">
              <a:rPr lang="en-AU"/>
              <a:pPr>
                <a:defRPr/>
              </a:pPr>
              <a:t>10/11/2019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5E903F39-6BF8-4E8B-9932-4085FE0B6CA0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5681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A83DF8F2-924F-4530-8EF2-8FEE184B2975}" type="datetimeFigureOut">
              <a:rPr lang="en-AU"/>
              <a:pPr>
                <a:defRPr/>
              </a:pPr>
              <a:t>10/11/2019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33281837-3A2D-4DBB-9C47-592013C2EE8E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69209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8BF115BC-170B-4801-83D0-16522993966D}" type="datetimeFigureOut">
              <a:rPr lang="en-AU"/>
              <a:pPr>
                <a:defRPr/>
              </a:pPr>
              <a:t>10/11/2019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1DC59C29-6A7F-478F-8FA1-7D95C4A9E2FA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38172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04C69E61-AAB9-431A-AD3B-115736A94EB6}" type="datetimeFigureOut">
              <a:rPr lang="en-AU"/>
              <a:pPr>
                <a:defRPr/>
              </a:pPr>
              <a:t>10/11/2019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518184FF-1D7B-46FD-9FFF-735C33E5E438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993318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E72EC0D2-789C-472C-A80A-AE53B35E1666}" type="datetimeFigureOut">
              <a:rPr lang="en-AU"/>
              <a:pPr>
                <a:defRPr/>
              </a:pPr>
              <a:t>10/11/2019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9B18B35A-AA10-4F38-ADE0-BCB46AB22A17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536011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43C5F3B1-6421-4503-86B1-B35E783CCF9B}" type="datetimeFigureOut">
              <a:rPr lang="en-AU"/>
              <a:pPr>
                <a:defRPr/>
              </a:pPr>
              <a:t>10/11/2019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CCFFBDB7-D030-4B60-ABDF-77E21D5B3ABB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713267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8B81CE0C-208E-4178-8619-B82B3861AD52}" type="datetimeFigureOut">
              <a:rPr lang="en-AU"/>
              <a:pPr>
                <a:defRPr/>
              </a:pPr>
              <a:t>10/11/2019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752A4650-5CFF-4109-A108-7615637CD4D4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098244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AU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A28636D1-E59C-4AA0-8637-62A138E10DED}" type="datetimeFigureOut">
              <a:rPr lang="en-AU"/>
              <a:pPr>
                <a:defRPr/>
              </a:pPr>
              <a:t>10/11/2019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88587249-B79C-4BBE-8E24-27CC82DA5877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710510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10D28ADB-E613-45FB-96CB-2300BF9D21EA}" type="datetimeFigureOut">
              <a:rPr lang="en-AU"/>
              <a:pPr>
                <a:defRPr/>
              </a:pPr>
              <a:t>10/11/2019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1CA434F3-96B9-4123-B6AF-31009A222E53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51244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C1E9586F-E2E4-4D48-AFF2-63CBEB0DCB1D}" type="datetimeFigureOut">
              <a:rPr lang="en-AU"/>
              <a:pPr>
                <a:defRPr/>
              </a:pPr>
              <a:t>10/11/2019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79C9181B-E1BB-4279-863D-3128480F8956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443029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07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prstClr val="black">
                    <a:tint val="75000"/>
                  </a:prstClr>
                </a:solidFill>
                <a:latin typeface="Calibri"/>
              </a:defRPr>
            </a:lvl1pPr>
          </a:lstStyle>
          <a:p>
            <a:pPr>
              <a:defRPr/>
            </a:pPr>
            <a:fld id="{DC314EBB-1FAE-4AF9-8750-82836BE4C0A3}" type="datetimeFigureOut">
              <a:rPr lang="en-AU"/>
              <a:pPr>
                <a:defRPr/>
              </a:pPr>
              <a:t>10/11/2019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dirty="0">
                <a:solidFill>
                  <a:prstClr val="black">
                    <a:tint val="75000"/>
                  </a:prstClr>
                </a:solidFill>
                <a:latin typeface="Calibri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prstClr val="black">
                    <a:tint val="75000"/>
                  </a:prstClr>
                </a:solidFill>
                <a:latin typeface="Calibri"/>
              </a:defRPr>
            </a:lvl1pPr>
          </a:lstStyle>
          <a:p>
            <a:pPr>
              <a:defRPr/>
            </a:pPr>
            <a:fld id="{F30B5F73-3933-45EC-867D-19C2B719B4B8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772" r:id="rId2"/>
    <p:sldLayoutId id="2147483773" r:id="rId3"/>
    <p:sldLayoutId id="2147483774" r:id="rId4"/>
    <p:sldLayoutId id="2147483775" r:id="rId5"/>
    <p:sldLayoutId id="2147483776" r:id="rId6"/>
    <p:sldLayoutId id="2147483777" r:id="rId7"/>
    <p:sldLayoutId id="2147483778" r:id="rId8"/>
    <p:sldLayoutId id="2147483779" r:id="rId9"/>
    <p:sldLayoutId id="2147483780" r:id="rId10"/>
    <p:sldLayoutId id="2147483781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ctrTitle"/>
          </p:nvPr>
        </p:nvSpPr>
        <p:spPr>
          <a:xfrm>
            <a:off x="611188" y="333375"/>
            <a:ext cx="7772400" cy="1470025"/>
          </a:xfrm>
        </p:spPr>
        <p:txBody>
          <a:bodyPr/>
          <a:lstStyle/>
          <a:p>
            <a:r>
              <a:rPr lang="en-AU" dirty="0"/>
              <a:t>My Measurement</a:t>
            </a:r>
            <a:br>
              <a:rPr lang="en-AU" dirty="0"/>
            </a:br>
            <a:r>
              <a:rPr lang="en-AU" dirty="0"/>
              <a:t>Interactive Notebook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85000" lnSpcReduction="20000"/>
          </a:bodyPr>
          <a:lstStyle/>
          <a:p>
            <a:pPr algn="l"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AU" dirty="0"/>
              <a:t>Name </a:t>
            </a:r>
          </a:p>
          <a:p>
            <a:pPr algn="l"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AU" dirty="0"/>
              <a:t>Class: </a:t>
            </a:r>
          </a:p>
          <a:p>
            <a:pPr algn="l"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AU" dirty="0"/>
              <a:t>Teacher:</a:t>
            </a:r>
          </a:p>
          <a:p>
            <a:pPr algn="l"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AU" dirty="0"/>
              <a:t>Term 2 Semester 1</a:t>
            </a:r>
          </a:p>
        </p:txBody>
      </p:sp>
      <p:sp>
        <p:nvSpPr>
          <p:cNvPr id="4" name="TextBox 3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84796" y="548680"/>
            <a:ext cx="1368152" cy="1446550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</p:spPr>
        <p:txBody>
          <a:bodyPr/>
          <a:lstStyle/>
          <a:p>
            <a:r>
              <a:rPr lang="en-AU">
                <a:noFill/>
              </a:rPr>
              <a:t> </a:t>
            </a:r>
          </a:p>
        </p:txBody>
      </p:sp>
      <p:sp>
        <p:nvSpPr>
          <p:cNvPr id="6" name="TextBox 5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123728" y="1884135"/>
            <a:ext cx="1368152" cy="1446550"/>
          </a:xfrm>
          <a:prstGeom prst="rect">
            <a:avLst/>
          </a:prstGeom>
          <a:blipFill rotWithShape="1">
            <a:blip r:embed="rId4"/>
            <a:stretch>
              <a:fillRect/>
            </a:stretch>
          </a:blipFill>
        </p:spPr>
        <p:txBody>
          <a:bodyPr/>
          <a:lstStyle/>
          <a:p>
            <a:r>
              <a:rPr lang="en-AU">
                <a:noFill/>
              </a:rPr>
              <a:t> </a:t>
            </a:r>
          </a:p>
        </p:txBody>
      </p:sp>
      <p:sp>
        <p:nvSpPr>
          <p:cNvPr id="7" name="TextBox 6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307644" y="3572848"/>
            <a:ext cx="1368152" cy="1446550"/>
          </a:xfrm>
          <a:prstGeom prst="rect">
            <a:avLst/>
          </a:prstGeom>
          <a:blipFill rotWithShape="1">
            <a:blip r:embed="rId5"/>
            <a:stretch>
              <a:fillRect/>
            </a:stretch>
          </a:blipFill>
        </p:spPr>
        <p:txBody>
          <a:bodyPr/>
          <a:lstStyle/>
          <a:p>
            <a:r>
              <a:rPr lang="en-AU">
                <a:noFill/>
              </a:rPr>
              <a:t> </a:t>
            </a:r>
          </a:p>
        </p:txBody>
      </p:sp>
      <p:sp>
        <p:nvSpPr>
          <p:cNvPr id="8" name="TextBox 7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660232" y="2708920"/>
            <a:ext cx="1368152" cy="1446550"/>
          </a:xfrm>
          <a:prstGeom prst="rect">
            <a:avLst/>
          </a:prstGeom>
          <a:blipFill rotWithShape="1">
            <a:blip r:embed="rId6"/>
            <a:stretch>
              <a:fillRect/>
            </a:stretch>
          </a:blipFill>
        </p:spPr>
        <p:txBody>
          <a:bodyPr/>
          <a:lstStyle/>
          <a:p>
            <a:r>
              <a:rPr lang="en-AU">
                <a:noFill/>
              </a:rPr>
              <a:t> </a:t>
            </a:r>
          </a:p>
        </p:txBody>
      </p:sp>
      <p:sp>
        <p:nvSpPr>
          <p:cNvPr id="9" name="TextBox 8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307644" y="1902233"/>
            <a:ext cx="1368152" cy="1446550"/>
          </a:xfrm>
          <a:prstGeom prst="rect">
            <a:avLst/>
          </a:prstGeom>
          <a:blipFill rotWithShape="1">
            <a:blip r:embed="rId7"/>
            <a:stretch>
              <a:fillRect/>
            </a:stretch>
          </a:blipFill>
        </p:spPr>
        <p:txBody>
          <a:bodyPr/>
          <a:lstStyle/>
          <a:p>
            <a:r>
              <a:rPr lang="en-AU">
                <a:noFill/>
              </a:rPr>
              <a:t> </a:t>
            </a:r>
          </a:p>
        </p:txBody>
      </p:sp>
      <p:sp>
        <p:nvSpPr>
          <p:cNvPr id="10" name="TextBox 9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7236296" y="437585"/>
            <a:ext cx="1368152" cy="1993816"/>
          </a:xfrm>
          <a:prstGeom prst="rect">
            <a:avLst/>
          </a:prstGeom>
          <a:blipFill rotWithShape="1">
            <a:blip r:embed="rId8"/>
            <a:stretch>
              <a:fillRect/>
            </a:stretch>
          </a:blipFill>
        </p:spPr>
        <p:txBody>
          <a:bodyPr/>
          <a:lstStyle/>
          <a:p>
            <a:r>
              <a:rPr lang="en-AU">
                <a:noFill/>
              </a:rPr>
              <a:t> </a:t>
            </a:r>
          </a:p>
        </p:txBody>
      </p:sp>
      <p:sp>
        <p:nvSpPr>
          <p:cNvPr id="11" name="TextBox 10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07504" y="3068960"/>
            <a:ext cx="1368152" cy="1993816"/>
          </a:xfrm>
          <a:prstGeom prst="rect">
            <a:avLst/>
          </a:prstGeom>
          <a:blipFill rotWithShape="1">
            <a:blip r:embed="rId9"/>
            <a:stretch>
              <a:fillRect/>
            </a:stretch>
          </a:blipFill>
        </p:spPr>
        <p:txBody>
          <a:bodyPr/>
          <a:lstStyle/>
          <a:p>
            <a:r>
              <a:rPr lang="en-AU">
                <a:noFill/>
              </a:rPr>
              <a:t> </a:t>
            </a:r>
          </a:p>
        </p:txBody>
      </p:sp>
      <p:sp>
        <p:nvSpPr>
          <p:cNvPr id="12" name="TextBox 11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7344308" y="3909817"/>
            <a:ext cx="1368152" cy="1107996"/>
          </a:xfrm>
          <a:prstGeom prst="rect">
            <a:avLst/>
          </a:prstGeom>
          <a:blipFill rotWithShape="1">
            <a:blip r:embed="rId10"/>
            <a:stretch>
              <a:fillRect/>
            </a:stretch>
          </a:blipFill>
        </p:spPr>
        <p:txBody>
          <a:bodyPr/>
          <a:lstStyle/>
          <a:p>
            <a:r>
              <a:rPr lang="en-AU">
                <a:noFill/>
              </a:rPr>
              <a:t> </a:t>
            </a:r>
          </a:p>
        </p:txBody>
      </p:sp>
      <p:sp>
        <p:nvSpPr>
          <p:cNvPr id="14" name="TextBox 13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652120" y="4797152"/>
            <a:ext cx="1368152" cy="1227644"/>
          </a:xfrm>
          <a:prstGeom prst="rect">
            <a:avLst/>
          </a:prstGeom>
          <a:blipFill rotWithShape="1">
            <a:blip r:embed="rId11"/>
            <a:stretch>
              <a:fillRect/>
            </a:stretch>
          </a:blipFill>
        </p:spPr>
        <p:txBody>
          <a:bodyPr/>
          <a:lstStyle/>
          <a:p>
            <a:r>
              <a:rPr lang="en-AU">
                <a:noFill/>
              </a:rPr>
              <a:t>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563" y="0"/>
            <a:ext cx="71437" cy="69580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35" name="TextBox 5"/>
          <p:cNvSpPr txBox="1">
            <a:spLocks noChangeArrowheads="1"/>
          </p:cNvSpPr>
          <p:nvPr/>
        </p:nvSpPr>
        <p:spPr bwMode="auto">
          <a:xfrm>
            <a:off x="0" y="6475413"/>
            <a:ext cx="3016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800">
                <a:solidFill>
                  <a:srgbClr val="000000"/>
                </a:solidFill>
                <a:latin typeface="Calibri" pitchFamily="34" charset="0"/>
              </a:rPr>
              <a:t>2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-144463" y="620713"/>
            <a:ext cx="4645026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6013" y="404813"/>
            <a:ext cx="0" cy="58674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8438" name="TextBox 19"/>
          <p:cNvSpPr txBox="1">
            <a:spLocks noChangeArrowheads="1"/>
          </p:cNvSpPr>
          <p:nvPr/>
        </p:nvSpPr>
        <p:spPr bwMode="auto">
          <a:xfrm>
            <a:off x="577850" y="6350"/>
            <a:ext cx="93186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600">
                <a:solidFill>
                  <a:srgbClr val="000000"/>
                </a:solidFill>
                <a:latin typeface="Calibri" pitchFamily="34" charset="0"/>
              </a:rPr>
              <a:t>Contents</a:t>
            </a:r>
          </a:p>
        </p:txBody>
      </p:sp>
      <p:sp>
        <p:nvSpPr>
          <p:cNvPr id="18439" name="TextBox 22"/>
          <p:cNvSpPr txBox="1">
            <a:spLocks noChangeArrowheads="1"/>
          </p:cNvSpPr>
          <p:nvPr/>
        </p:nvSpPr>
        <p:spPr bwMode="auto">
          <a:xfrm>
            <a:off x="223838" y="374650"/>
            <a:ext cx="5810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600">
                <a:solidFill>
                  <a:srgbClr val="000000"/>
                </a:solidFill>
                <a:latin typeface="Calibri" pitchFamily="34" charset="0"/>
              </a:rPr>
              <a:t>Page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125" y="404813"/>
            <a:ext cx="0" cy="58674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8441" name="TextBox 16"/>
          <p:cNvSpPr txBox="1">
            <a:spLocks noChangeArrowheads="1"/>
          </p:cNvSpPr>
          <p:nvPr/>
        </p:nvSpPr>
        <p:spPr bwMode="auto">
          <a:xfrm>
            <a:off x="1403350" y="344488"/>
            <a:ext cx="576263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600">
                <a:solidFill>
                  <a:srgbClr val="000000"/>
                </a:solidFill>
                <a:latin typeface="Calibri" pitchFamily="34" charset="0"/>
              </a:rPr>
              <a:t>Date</a:t>
            </a:r>
          </a:p>
        </p:txBody>
      </p:sp>
      <p:sp>
        <p:nvSpPr>
          <p:cNvPr id="18442" name="TextBox 17"/>
          <p:cNvSpPr txBox="1">
            <a:spLocks noChangeArrowheads="1"/>
          </p:cNvSpPr>
          <p:nvPr/>
        </p:nvSpPr>
        <p:spPr bwMode="auto">
          <a:xfrm>
            <a:off x="2555875" y="344488"/>
            <a:ext cx="1398588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600">
                <a:solidFill>
                  <a:srgbClr val="000000"/>
                </a:solidFill>
                <a:latin typeface="Calibri" pitchFamily="34" charset="0"/>
              </a:rPr>
              <a:t>Description</a:t>
            </a:r>
          </a:p>
        </p:txBody>
      </p:sp>
      <p:sp>
        <p:nvSpPr>
          <p:cNvPr id="18443" name="TextBox 20"/>
          <p:cNvSpPr txBox="1">
            <a:spLocks noChangeArrowheads="1"/>
          </p:cNvSpPr>
          <p:nvPr/>
        </p:nvSpPr>
        <p:spPr bwMode="auto">
          <a:xfrm>
            <a:off x="5795963" y="66675"/>
            <a:ext cx="2592387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600">
                <a:solidFill>
                  <a:srgbClr val="000000"/>
                </a:solidFill>
                <a:latin typeface="Calibri" pitchFamily="34" charset="0"/>
              </a:rPr>
              <a:t>Glossary or Formula Page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563" y="0"/>
            <a:ext cx="71437" cy="69580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59" name="TextBox 5"/>
          <p:cNvSpPr txBox="1">
            <a:spLocks noChangeArrowheads="1"/>
          </p:cNvSpPr>
          <p:nvPr/>
        </p:nvSpPr>
        <p:spPr bwMode="auto">
          <a:xfrm>
            <a:off x="0" y="6475413"/>
            <a:ext cx="3016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800">
                <a:solidFill>
                  <a:srgbClr val="000000"/>
                </a:solidFill>
                <a:latin typeface="Calibri" pitchFamily="34" charset="0"/>
              </a:rPr>
              <a:t>6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563" y="620713"/>
            <a:ext cx="4643437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563" y="1196975"/>
            <a:ext cx="4643437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00" y="5373688"/>
            <a:ext cx="4725988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7400" y="1196975"/>
            <a:ext cx="0" cy="417671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464" name="TextBox 18"/>
          <p:cNvSpPr txBox="1">
            <a:spLocks noChangeArrowheads="1"/>
          </p:cNvSpPr>
          <p:nvPr/>
        </p:nvSpPr>
        <p:spPr bwMode="auto">
          <a:xfrm>
            <a:off x="4533900" y="66675"/>
            <a:ext cx="431800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000">
                <a:solidFill>
                  <a:srgbClr val="000000"/>
                </a:solidFill>
                <a:latin typeface="Calibri" pitchFamily="34" charset="0"/>
              </a:rPr>
              <a:t>24</a:t>
            </a:r>
          </a:p>
          <a:p>
            <a:pPr eaLnBrk="1" hangingPunct="1"/>
            <a:r>
              <a:rPr lang="en-AU" sz="1000">
                <a:solidFill>
                  <a:srgbClr val="000000"/>
                </a:solidFill>
                <a:latin typeface="Calibri" pitchFamily="34" charset="0"/>
              </a:rPr>
              <a:t>7</a:t>
            </a:r>
          </a:p>
          <a:p>
            <a:pPr eaLnBrk="1" hangingPunct="1"/>
            <a:r>
              <a:rPr lang="en-AU" sz="1000">
                <a:solidFill>
                  <a:srgbClr val="000000"/>
                </a:solidFill>
                <a:latin typeface="Calibri" pitchFamily="34" charset="0"/>
              </a:rPr>
              <a:t>30</a:t>
            </a:r>
          </a:p>
        </p:txBody>
      </p:sp>
      <p:sp>
        <p:nvSpPr>
          <p:cNvPr id="19465" name="TextBox 19"/>
          <p:cNvSpPr txBox="1">
            <a:spLocks noChangeArrowheads="1"/>
          </p:cNvSpPr>
          <p:nvPr/>
        </p:nvSpPr>
        <p:spPr bwMode="auto">
          <a:xfrm>
            <a:off x="4572000" y="601663"/>
            <a:ext cx="114300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000">
                <a:solidFill>
                  <a:srgbClr val="000000"/>
                </a:solidFill>
                <a:latin typeface="Calibri" pitchFamily="34" charset="0"/>
              </a:rPr>
              <a:t>Essential Question</a:t>
            </a:r>
          </a:p>
        </p:txBody>
      </p:sp>
      <p:sp>
        <p:nvSpPr>
          <p:cNvPr id="19466" name="TextBox 21"/>
          <p:cNvSpPr txBox="1">
            <a:spLocks noChangeArrowheads="1"/>
          </p:cNvSpPr>
          <p:nvPr/>
        </p:nvSpPr>
        <p:spPr bwMode="auto">
          <a:xfrm>
            <a:off x="5867400" y="1196975"/>
            <a:ext cx="492125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000">
                <a:solidFill>
                  <a:srgbClr val="000000"/>
                </a:solidFill>
                <a:latin typeface="Calibri" pitchFamily="34" charset="0"/>
              </a:rPr>
              <a:t>Notes</a:t>
            </a:r>
          </a:p>
        </p:txBody>
      </p:sp>
      <p:sp>
        <p:nvSpPr>
          <p:cNvPr id="19467" name="TextBox 22"/>
          <p:cNvSpPr txBox="1">
            <a:spLocks noChangeArrowheads="1"/>
          </p:cNvSpPr>
          <p:nvPr/>
        </p:nvSpPr>
        <p:spPr bwMode="auto">
          <a:xfrm>
            <a:off x="4521200" y="1196975"/>
            <a:ext cx="709613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000">
                <a:solidFill>
                  <a:srgbClr val="000000"/>
                </a:solidFill>
                <a:latin typeface="Calibri" pitchFamily="34" charset="0"/>
              </a:rPr>
              <a:t>Questions</a:t>
            </a:r>
          </a:p>
        </p:txBody>
      </p:sp>
      <p:sp>
        <p:nvSpPr>
          <p:cNvPr id="19468" name="TextBox 23"/>
          <p:cNvSpPr txBox="1">
            <a:spLocks noChangeArrowheads="1"/>
          </p:cNvSpPr>
          <p:nvPr/>
        </p:nvSpPr>
        <p:spPr bwMode="auto">
          <a:xfrm>
            <a:off x="4572000" y="5373688"/>
            <a:ext cx="6794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000">
                <a:solidFill>
                  <a:srgbClr val="000000"/>
                </a:solidFill>
                <a:latin typeface="Calibri" pitchFamily="34" charset="0"/>
              </a:rPr>
              <a:t>Summary</a:t>
            </a:r>
          </a:p>
        </p:txBody>
      </p:sp>
      <p:sp>
        <p:nvSpPr>
          <p:cNvPr id="19469" name="TextBox 24"/>
          <p:cNvSpPr txBox="1">
            <a:spLocks noChangeArrowheads="1"/>
          </p:cNvSpPr>
          <p:nvPr/>
        </p:nvSpPr>
        <p:spPr bwMode="auto">
          <a:xfrm>
            <a:off x="150813" y="142875"/>
            <a:ext cx="67151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800">
                <a:solidFill>
                  <a:srgbClr val="000000"/>
                </a:solidFill>
                <a:latin typeface="Calibri" pitchFamily="34" charset="0"/>
              </a:rPr>
              <a:t>Tasks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C64E16-AF5B-4C54-AE89-9170B4BFD4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sz="2400" dirty="0"/>
              <a:t>What is the Sample Space for a roll of a 6-sided die?</a:t>
            </a:r>
          </a:p>
          <a:p>
            <a:r>
              <a:rPr lang="en-AU" sz="2400" dirty="0"/>
              <a:t>If x=3 what is 2x – 3?</a:t>
            </a:r>
          </a:p>
          <a:p>
            <a:r>
              <a:rPr lang="en-AU" sz="2400" dirty="0"/>
              <a:t>If I draw one bead from a bag holding 3 red beads, 2 blue beads and 5 green beads, what is the probability that I will get a red bead?</a:t>
            </a:r>
          </a:p>
          <a:p>
            <a:r>
              <a:rPr lang="en-AU" sz="2400" dirty="0"/>
              <a:t>What is the perimeter and area of this triangle?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7C89501-A2D8-417B-A7C1-6C1A873EC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Daily 5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78E120F-51DC-4E35-A5C5-B17392A9A279}"/>
              </a:ext>
            </a:extLst>
          </p:cNvPr>
          <p:cNvGrpSpPr/>
          <p:nvPr/>
        </p:nvGrpSpPr>
        <p:grpSpPr>
          <a:xfrm>
            <a:off x="6248400" y="3826738"/>
            <a:ext cx="2103960" cy="1954273"/>
            <a:chOff x="5219759" y="4572000"/>
            <a:chExt cx="2103960" cy="1954273"/>
          </a:xfrm>
        </p:grpSpPr>
        <p:sp>
          <p:nvSpPr>
            <p:cNvPr id="6" name="Isosceles Triangle 5">
              <a:extLst>
                <a:ext uri="{FF2B5EF4-FFF2-40B4-BE49-F238E27FC236}">
                  <a16:creationId xmlns:a16="http://schemas.microsoft.com/office/drawing/2014/main" id="{0BCA04B9-9F7C-4F13-86EC-6F4D9BBEB40C}"/>
                </a:ext>
              </a:extLst>
            </p:cNvPr>
            <p:cNvSpPr/>
            <p:nvPr/>
          </p:nvSpPr>
          <p:spPr>
            <a:xfrm>
              <a:off x="5715000" y="4572000"/>
              <a:ext cx="1600200" cy="1554163"/>
            </a:xfrm>
            <a:prstGeom prst="triangle">
              <a:avLst>
                <a:gd name="adj" fmla="val 27950"/>
              </a:avLst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6649D3DA-B758-442C-98E5-85B5017690DC}"/>
                </a:ext>
              </a:extLst>
            </p:cNvPr>
            <p:cNvCxnSpPr>
              <a:stCxn id="6" idx="0"/>
              <a:endCxn id="6" idx="3"/>
            </p:cNvCxnSpPr>
            <p:nvPr/>
          </p:nvCxnSpPr>
          <p:spPr>
            <a:xfrm>
              <a:off x="6162256" y="4572000"/>
              <a:ext cx="0" cy="1554163"/>
            </a:xfrm>
            <a:prstGeom prst="line">
              <a:avLst/>
            </a:prstGeom>
            <a:ln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C1541DB-8679-45E9-A254-48787126EE4F}"/>
                </a:ext>
              </a:extLst>
            </p:cNvPr>
            <p:cNvSpPr txBox="1"/>
            <p:nvPr/>
          </p:nvSpPr>
          <p:spPr>
            <a:xfrm>
              <a:off x="6153737" y="6126163"/>
              <a:ext cx="62549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2000" dirty="0"/>
                <a:t>6cm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AEE7D41-EEBB-4DCF-97AE-F3E65CB1849C}"/>
                </a:ext>
              </a:extLst>
            </p:cNvPr>
            <p:cNvSpPr txBox="1"/>
            <p:nvPr/>
          </p:nvSpPr>
          <p:spPr>
            <a:xfrm>
              <a:off x="6698227" y="4948971"/>
              <a:ext cx="62549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2000" dirty="0"/>
                <a:t>7cm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785308D-2B10-46E0-BA72-4F29A5E3D47C}"/>
                </a:ext>
              </a:extLst>
            </p:cNvPr>
            <p:cNvSpPr txBox="1"/>
            <p:nvPr/>
          </p:nvSpPr>
          <p:spPr>
            <a:xfrm>
              <a:off x="5219759" y="5105400"/>
              <a:ext cx="62549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2000" dirty="0"/>
                <a:t>5cm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A66D059-91A1-4292-B368-0AE8F0776089}"/>
                </a:ext>
              </a:extLst>
            </p:cNvPr>
            <p:cNvSpPr txBox="1"/>
            <p:nvPr/>
          </p:nvSpPr>
          <p:spPr>
            <a:xfrm>
              <a:off x="6117496" y="5349081"/>
              <a:ext cx="62549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2000" dirty="0"/>
                <a:t>4cm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41133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-76200" y="1600200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+mn-lt"/>
              </a:rPr>
              <a:t>24</a:t>
            </a:r>
          </a:p>
          <a:p>
            <a:r>
              <a:rPr lang="en-AU" sz="1600" dirty="0">
                <a:latin typeface="+mn-lt"/>
              </a:rPr>
              <a:t>7</a:t>
            </a:r>
          </a:p>
          <a:p>
            <a:r>
              <a:rPr lang="en-AU" sz="1600" dirty="0">
                <a:latin typeface="+mn-lt"/>
              </a:rPr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905000" y="1600200"/>
            <a:ext cx="0" cy="51816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+mn-lt"/>
              </a:rPr>
              <a:t>Date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3090" y="1052736"/>
            <a:ext cx="876938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000" dirty="0">
                <a:latin typeface="+mn-lt"/>
              </a:rPr>
              <a:t>EQ – What are the different 2D shapes?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3006" y="285057"/>
            <a:ext cx="18149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+mn-lt"/>
              </a:rPr>
              <a:t>2-D Shapes</a:t>
            </a:r>
            <a:endParaRPr lang="en-AU" sz="2800" dirty="0">
              <a:latin typeface="+mn-lt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9D7DE33-651F-49BD-95E2-648FDC4A17F1}"/>
              </a:ext>
            </a:extLst>
          </p:cNvPr>
          <p:cNvSpPr/>
          <p:nvPr/>
        </p:nvSpPr>
        <p:spPr>
          <a:xfrm>
            <a:off x="1943104" y="1819562"/>
            <a:ext cx="7086592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000" dirty="0">
                <a:latin typeface="+mn-lt"/>
              </a:rPr>
              <a:t>Placemat Activity</a:t>
            </a:r>
          </a:p>
          <a:p>
            <a:endParaRPr lang="en-AU" sz="2000" dirty="0">
              <a:latin typeface="+mn-lt"/>
            </a:endParaRPr>
          </a:p>
          <a:p>
            <a:r>
              <a:rPr lang="en-AU" sz="2000" dirty="0">
                <a:latin typeface="+mn-lt"/>
              </a:rPr>
              <a:t>Agree on 6 different 2 dimensional shapes.</a:t>
            </a:r>
          </a:p>
          <a:p>
            <a:endParaRPr lang="en-AU" sz="2000" dirty="0">
              <a:latin typeface="+mn-lt"/>
            </a:endParaRPr>
          </a:p>
          <a:p>
            <a:r>
              <a:rPr lang="en-AU" sz="2000" dirty="0">
                <a:latin typeface="+mn-lt"/>
              </a:rPr>
              <a:t>How would you group them? Why?</a:t>
            </a:r>
          </a:p>
        </p:txBody>
      </p:sp>
    </p:spTree>
    <p:extLst>
      <p:ext uri="{BB962C8B-B14F-4D97-AF65-F5344CB8AC3E}">
        <p14:creationId xmlns:p14="http://schemas.microsoft.com/office/powerpoint/2010/main" val="10481006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-76200" y="1600200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+mn-lt"/>
              </a:rPr>
              <a:t>24</a:t>
            </a:r>
          </a:p>
          <a:p>
            <a:r>
              <a:rPr lang="en-AU" sz="1600" dirty="0">
                <a:latin typeface="+mn-lt"/>
              </a:rPr>
              <a:t>7</a:t>
            </a:r>
          </a:p>
          <a:p>
            <a:r>
              <a:rPr lang="en-AU" sz="1600" dirty="0">
                <a:latin typeface="+mn-lt"/>
              </a:rPr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905000" y="1600200"/>
            <a:ext cx="0" cy="51816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+mn-lt"/>
              </a:rPr>
              <a:t>Date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3090" y="1052736"/>
            <a:ext cx="876938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000" dirty="0">
                <a:latin typeface="+mn-lt"/>
              </a:rPr>
              <a:t>EQ – What are the different 2D shapes?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3006" y="285057"/>
            <a:ext cx="18149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+mn-lt"/>
              </a:rPr>
              <a:t>2-D Shapes</a:t>
            </a:r>
            <a:endParaRPr lang="en-AU" sz="2800" dirty="0">
              <a:latin typeface="+mn-lt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9D7DE33-651F-49BD-95E2-648FDC4A17F1}"/>
              </a:ext>
            </a:extLst>
          </p:cNvPr>
          <p:cNvSpPr/>
          <p:nvPr/>
        </p:nvSpPr>
        <p:spPr>
          <a:xfrm>
            <a:off x="1981199" y="1675717"/>
            <a:ext cx="6911267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000" dirty="0">
                <a:latin typeface="+mn-lt"/>
              </a:rPr>
              <a:t>The names of shapes are based on the number of sides.</a:t>
            </a:r>
          </a:p>
          <a:p>
            <a:endParaRPr lang="en-AU" sz="2000" dirty="0">
              <a:latin typeface="+mn-lt"/>
            </a:endParaRPr>
          </a:p>
          <a:p>
            <a:r>
              <a:rPr lang="en-AU" sz="2000" b="1" dirty="0">
                <a:latin typeface="+mn-lt"/>
              </a:rPr>
              <a:t>tri</a:t>
            </a:r>
            <a:r>
              <a:rPr lang="en-AU" sz="2000" dirty="0">
                <a:latin typeface="+mn-lt"/>
              </a:rPr>
              <a:t>angle has </a:t>
            </a:r>
            <a:r>
              <a:rPr lang="en-AU" sz="2000" b="1" dirty="0">
                <a:latin typeface="+mn-lt"/>
              </a:rPr>
              <a:t>3</a:t>
            </a:r>
            <a:r>
              <a:rPr lang="en-AU" sz="2000" dirty="0">
                <a:latin typeface="+mn-lt"/>
              </a:rPr>
              <a:t> sides</a:t>
            </a:r>
          </a:p>
          <a:p>
            <a:r>
              <a:rPr lang="en-AU" sz="2000" b="1" dirty="0">
                <a:latin typeface="+mn-lt"/>
              </a:rPr>
              <a:t>quad</a:t>
            </a:r>
            <a:r>
              <a:rPr lang="en-AU" sz="2000" dirty="0">
                <a:latin typeface="+mn-lt"/>
              </a:rPr>
              <a:t>rilateral has </a:t>
            </a:r>
            <a:r>
              <a:rPr lang="en-AU" sz="2000" b="1" dirty="0">
                <a:latin typeface="+mn-lt"/>
              </a:rPr>
              <a:t>4</a:t>
            </a:r>
            <a:r>
              <a:rPr lang="en-AU" sz="2000" dirty="0">
                <a:latin typeface="+mn-lt"/>
              </a:rPr>
              <a:t> sides</a:t>
            </a:r>
          </a:p>
          <a:p>
            <a:r>
              <a:rPr lang="en-AU" sz="2000" b="1" dirty="0">
                <a:latin typeface="+mn-lt"/>
              </a:rPr>
              <a:t>penta</a:t>
            </a:r>
            <a:r>
              <a:rPr lang="en-AU" sz="2000" dirty="0">
                <a:latin typeface="+mn-lt"/>
              </a:rPr>
              <a:t>gon has </a:t>
            </a:r>
            <a:r>
              <a:rPr lang="en-AU" sz="2000" b="1" dirty="0">
                <a:latin typeface="+mn-lt"/>
              </a:rPr>
              <a:t>5</a:t>
            </a:r>
            <a:r>
              <a:rPr lang="en-AU" sz="2000" dirty="0">
                <a:latin typeface="+mn-lt"/>
              </a:rPr>
              <a:t> sides</a:t>
            </a:r>
          </a:p>
          <a:p>
            <a:r>
              <a:rPr lang="en-AU" sz="2000" b="1" dirty="0">
                <a:latin typeface="+mn-lt"/>
              </a:rPr>
              <a:t>hex</a:t>
            </a:r>
            <a:r>
              <a:rPr lang="en-AU" sz="2000" dirty="0">
                <a:latin typeface="+mn-lt"/>
              </a:rPr>
              <a:t>agon has </a:t>
            </a:r>
            <a:r>
              <a:rPr lang="en-AU" sz="2000" b="1" dirty="0">
                <a:latin typeface="+mn-lt"/>
              </a:rPr>
              <a:t>6</a:t>
            </a:r>
            <a:r>
              <a:rPr lang="en-AU" sz="2000" dirty="0">
                <a:latin typeface="+mn-lt"/>
              </a:rPr>
              <a:t> sides</a:t>
            </a:r>
          </a:p>
          <a:p>
            <a:endParaRPr lang="en-AU" sz="2000" dirty="0">
              <a:latin typeface="+mn-lt"/>
            </a:endParaRPr>
          </a:p>
          <a:p>
            <a:r>
              <a:rPr lang="en-AU" sz="2000" dirty="0">
                <a:latin typeface="+mn-lt"/>
              </a:rPr>
              <a:t>Can you think of a common 12-sided shape that you see often?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7152F7-EA3E-40D9-B071-5133CC13EE7A}"/>
              </a:ext>
            </a:extLst>
          </p:cNvPr>
          <p:cNvSpPr/>
          <p:nvPr/>
        </p:nvSpPr>
        <p:spPr>
          <a:xfrm>
            <a:off x="28871" y="1639274"/>
            <a:ext cx="173457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000" dirty="0">
                <a:latin typeface="+mn-lt"/>
              </a:rPr>
              <a:t>How do name shapes?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226FF1-1ADE-4DA7-95A8-6ABBBB2C5B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0801" y="4419601"/>
            <a:ext cx="1676400" cy="16764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7BC64E12-C84C-4198-949A-743D679C970E}"/>
              </a:ext>
            </a:extLst>
          </p:cNvPr>
          <p:cNvSpPr/>
          <p:nvPr/>
        </p:nvSpPr>
        <p:spPr>
          <a:xfrm>
            <a:off x="4419600" y="4857690"/>
            <a:ext cx="38862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000" dirty="0">
                <a:latin typeface="+mn-lt"/>
              </a:rPr>
              <a:t>This is a dodecagon</a:t>
            </a:r>
          </a:p>
        </p:txBody>
      </p:sp>
    </p:spTree>
    <p:extLst>
      <p:ext uri="{BB962C8B-B14F-4D97-AF65-F5344CB8AC3E}">
        <p14:creationId xmlns:p14="http://schemas.microsoft.com/office/powerpoint/2010/main" val="4240464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uild="p"/>
      <p:bldP spid="1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-76200" y="1600200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+mn-lt"/>
              </a:rPr>
              <a:t>24</a:t>
            </a:r>
          </a:p>
          <a:p>
            <a:r>
              <a:rPr lang="en-AU" sz="1600" dirty="0">
                <a:latin typeface="+mn-lt"/>
              </a:rPr>
              <a:t>7</a:t>
            </a:r>
          </a:p>
          <a:p>
            <a:r>
              <a:rPr lang="en-AU" sz="1600" dirty="0">
                <a:latin typeface="+mn-lt"/>
              </a:rPr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905000" y="1600200"/>
            <a:ext cx="0" cy="51816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+mn-lt"/>
              </a:rPr>
              <a:t>Date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3090" y="1052736"/>
            <a:ext cx="876938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000" dirty="0">
                <a:latin typeface="+mn-lt"/>
              </a:rPr>
              <a:t>EQ – What are the different 2D shapes?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3006" y="285057"/>
            <a:ext cx="18149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+mn-lt"/>
              </a:rPr>
              <a:t>2-D Shapes</a:t>
            </a:r>
            <a:endParaRPr lang="en-AU" sz="2800" dirty="0">
              <a:latin typeface="+mn-lt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9D7DE33-651F-49BD-95E2-648FDC4A17F1}"/>
              </a:ext>
            </a:extLst>
          </p:cNvPr>
          <p:cNvSpPr/>
          <p:nvPr/>
        </p:nvSpPr>
        <p:spPr>
          <a:xfrm>
            <a:off x="1943104" y="1819562"/>
            <a:ext cx="7086592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000" dirty="0">
                <a:latin typeface="+mn-lt"/>
              </a:rPr>
              <a:t>Placemat Activity</a:t>
            </a:r>
          </a:p>
          <a:p>
            <a:endParaRPr lang="en-AU" sz="2000" dirty="0">
              <a:latin typeface="+mn-lt"/>
            </a:endParaRPr>
          </a:p>
          <a:p>
            <a:r>
              <a:rPr lang="en-AU" sz="2000" dirty="0">
                <a:latin typeface="+mn-lt"/>
              </a:rPr>
              <a:t>Agree on 6 different 2 dimensional shapes.</a:t>
            </a:r>
          </a:p>
          <a:p>
            <a:endParaRPr lang="en-AU" sz="2000" dirty="0">
              <a:latin typeface="+mn-lt"/>
            </a:endParaRPr>
          </a:p>
          <a:p>
            <a:r>
              <a:rPr lang="en-AU" sz="2000" dirty="0">
                <a:latin typeface="+mn-lt"/>
              </a:rPr>
              <a:t>How would you group them? Why?</a:t>
            </a:r>
          </a:p>
          <a:p>
            <a:endParaRPr lang="en-AU" sz="2000" dirty="0">
              <a:latin typeface="+mn-lt"/>
            </a:endParaRPr>
          </a:p>
          <a:p>
            <a:r>
              <a:rPr lang="en-AU" sz="2000" dirty="0">
                <a:latin typeface="+mn-lt"/>
              </a:rPr>
              <a:t>Be prepared to share.</a:t>
            </a:r>
          </a:p>
        </p:txBody>
      </p:sp>
    </p:spTree>
    <p:extLst>
      <p:ext uri="{BB962C8B-B14F-4D97-AF65-F5344CB8AC3E}">
        <p14:creationId xmlns:p14="http://schemas.microsoft.com/office/powerpoint/2010/main" val="5330280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Fish Bone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AU" dirty="0"/>
              <a:t>Complete the fish bone</a:t>
            </a:r>
          </a:p>
          <a:p>
            <a:pPr marL="0" indent="0" algn="ctr">
              <a:buNone/>
            </a:pPr>
            <a:r>
              <a:rPr lang="en-AU" dirty="0"/>
              <a:t>For types of Triangles</a:t>
            </a:r>
          </a:p>
        </p:txBody>
      </p:sp>
      <p:pic>
        <p:nvPicPr>
          <p:cNvPr id="1026" name="Picture 2" descr="Related imag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0312" y="188640"/>
            <a:ext cx="1433736" cy="1433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7596336" y="1988840"/>
            <a:ext cx="8610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/>
              <a:t>WIC</a:t>
            </a:r>
            <a:r>
              <a:rPr lang="en-AU" b="1" dirty="0">
                <a:solidFill>
                  <a:srgbClr val="00B050"/>
                </a:solidFill>
              </a:rPr>
              <a:t>O</a:t>
            </a:r>
            <a:r>
              <a:rPr lang="en-AU" b="1" dirty="0"/>
              <a:t>R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815" y="2996952"/>
            <a:ext cx="7326982" cy="34500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006712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Isosceles</a:t>
            </a:r>
            <a:r>
              <a:rPr lang="en-AU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b="1" dirty="0"/>
              <a:t>Two sides are equal 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b="1" dirty="0"/>
          </a:p>
          <a:p>
            <a:pPr marL="0" indent="0">
              <a:buNone/>
            </a:pPr>
            <a:r>
              <a:rPr lang="en-AU" b="1" dirty="0"/>
              <a:t>Two angles are equal</a:t>
            </a:r>
          </a:p>
        </p:txBody>
      </p:sp>
      <p:sp>
        <p:nvSpPr>
          <p:cNvPr id="4" name="Isosceles Triangle 3"/>
          <p:cNvSpPr/>
          <p:nvPr/>
        </p:nvSpPr>
        <p:spPr>
          <a:xfrm>
            <a:off x="4788024" y="2060848"/>
            <a:ext cx="2520280" cy="2664296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Rectangle 8"/>
          <p:cNvSpPr/>
          <p:nvPr/>
        </p:nvSpPr>
        <p:spPr>
          <a:xfrm rot="19591701">
            <a:off x="6422268" y="3356991"/>
            <a:ext cx="504056" cy="720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Rectangle 9"/>
          <p:cNvSpPr/>
          <p:nvPr/>
        </p:nvSpPr>
        <p:spPr>
          <a:xfrm rot="1464954">
            <a:off x="5162928" y="3356992"/>
            <a:ext cx="504056" cy="720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Oval 10"/>
          <p:cNvSpPr/>
          <p:nvPr/>
        </p:nvSpPr>
        <p:spPr>
          <a:xfrm>
            <a:off x="4912691" y="4437112"/>
            <a:ext cx="244372" cy="2880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Oval 11"/>
          <p:cNvSpPr/>
          <p:nvPr/>
        </p:nvSpPr>
        <p:spPr>
          <a:xfrm>
            <a:off x="6904385" y="4437112"/>
            <a:ext cx="244372" cy="2880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4" name="Straight Arrow Connector 13"/>
          <p:cNvCxnSpPr/>
          <p:nvPr/>
        </p:nvCxnSpPr>
        <p:spPr>
          <a:xfrm>
            <a:off x="3851920" y="1916832"/>
            <a:ext cx="2592287" cy="130713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3851920" y="1916832"/>
            <a:ext cx="1182957" cy="130713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4067944" y="4221088"/>
            <a:ext cx="2606352" cy="2160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4067944" y="4221088"/>
            <a:ext cx="720080" cy="3600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55610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Scalene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b="1" dirty="0"/>
              <a:t>No sides equal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b="1" dirty="0"/>
              <a:t>No angles equal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1880" y="1844824"/>
            <a:ext cx="5271280" cy="22974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24175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9740" y="4077072"/>
            <a:ext cx="1352550" cy="1181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Equilateral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All sides are equal</a:t>
            </a:r>
          </a:p>
          <a:p>
            <a:endParaRPr lang="en-AU" dirty="0"/>
          </a:p>
          <a:p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All Angles are equal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9992" y="1916832"/>
            <a:ext cx="3384376" cy="2530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Straight Arrow Connector 5"/>
          <p:cNvCxnSpPr/>
          <p:nvPr/>
        </p:nvCxnSpPr>
        <p:spPr>
          <a:xfrm>
            <a:off x="3635896" y="2060848"/>
            <a:ext cx="1656184" cy="7920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3635896" y="2060848"/>
            <a:ext cx="3240360" cy="86409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3635896" y="2060848"/>
            <a:ext cx="2376264" cy="18002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55201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Right angle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b="1" dirty="0"/>
              <a:t>One Right Angle (90°)</a:t>
            </a:r>
          </a:p>
        </p:txBody>
      </p:sp>
      <p:sp>
        <p:nvSpPr>
          <p:cNvPr id="4" name="Right Triangle 3"/>
          <p:cNvSpPr/>
          <p:nvPr/>
        </p:nvSpPr>
        <p:spPr>
          <a:xfrm>
            <a:off x="6012160" y="1931787"/>
            <a:ext cx="2160240" cy="3240360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/>
          <p:cNvSpPr/>
          <p:nvPr/>
        </p:nvSpPr>
        <p:spPr>
          <a:xfrm>
            <a:off x="6012160" y="4797152"/>
            <a:ext cx="360040" cy="374995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4211960" y="2708920"/>
            <a:ext cx="1656184" cy="2088232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00809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Acute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b="1" dirty="0"/>
              <a:t>Three Acute angles </a:t>
            </a:r>
          </a:p>
          <a:p>
            <a:pPr marL="0" indent="0">
              <a:buNone/>
            </a:pPr>
            <a:r>
              <a:rPr lang="en-AU" dirty="0"/>
              <a:t>(less than 90°)</a:t>
            </a:r>
          </a:p>
        </p:txBody>
      </p:sp>
      <p:sp>
        <p:nvSpPr>
          <p:cNvPr id="4" name="Isosceles Triangle 3"/>
          <p:cNvSpPr/>
          <p:nvPr/>
        </p:nvSpPr>
        <p:spPr>
          <a:xfrm>
            <a:off x="4499992" y="2780928"/>
            <a:ext cx="2448272" cy="2088232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983555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Obtuse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AU" b="1" dirty="0"/>
          </a:p>
          <a:p>
            <a:pPr marL="0" indent="0">
              <a:buNone/>
            </a:pPr>
            <a:r>
              <a:rPr lang="en-AU" b="1" dirty="0"/>
              <a:t>One angle greater than 90°</a:t>
            </a:r>
          </a:p>
        </p:txBody>
      </p:sp>
      <p:sp>
        <p:nvSpPr>
          <p:cNvPr id="4" name="Isosceles Triangle 3"/>
          <p:cNvSpPr/>
          <p:nvPr/>
        </p:nvSpPr>
        <p:spPr>
          <a:xfrm>
            <a:off x="3995936" y="3717032"/>
            <a:ext cx="3888432" cy="792088"/>
          </a:xfrm>
          <a:prstGeom prst="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4644008" y="2636912"/>
            <a:ext cx="1080120" cy="108012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78058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589289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23928" y="3501545"/>
            <a:ext cx="25760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/>
              <a:t>Glue your Fish Bone 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14045" y="2113859"/>
            <a:ext cx="3785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Angles inside a triangle add up to 180°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989D1CA-188A-4D15-8CDD-07E266D590FF}"/>
              </a:ext>
            </a:extLst>
          </p:cNvPr>
          <p:cNvSpPr/>
          <p:nvPr/>
        </p:nvSpPr>
        <p:spPr>
          <a:xfrm>
            <a:off x="123090" y="1052736"/>
            <a:ext cx="876938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000" dirty="0">
                <a:latin typeface="+mn-lt"/>
              </a:rPr>
              <a:t>EQ – What are the different 2D shapes?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C4617EE-AE95-46F0-AA98-C9C7F6175D81}"/>
              </a:ext>
            </a:extLst>
          </p:cNvPr>
          <p:cNvSpPr txBox="1"/>
          <p:nvPr/>
        </p:nvSpPr>
        <p:spPr>
          <a:xfrm>
            <a:off x="763006" y="285057"/>
            <a:ext cx="18149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+mn-lt"/>
              </a:rPr>
              <a:t>2-D Shapes</a:t>
            </a:r>
            <a:endParaRPr lang="en-AU" sz="2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14558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 you </a:t>
            </a:r>
            <a:r>
              <a:rPr lang="en-US"/>
              <a:t>understand? </a:t>
            </a:r>
            <a:r>
              <a:rPr lang="en-US" dirty="0"/>
              <a:t>Fists of Five</a:t>
            </a:r>
            <a:endParaRPr lang="en-AU" dirty="0"/>
          </a:p>
        </p:txBody>
      </p:sp>
      <p:pic>
        <p:nvPicPr>
          <p:cNvPr id="1028" name="Picture 4" descr="Image result for cartoon hand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824" y="1916832"/>
            <a:ext cx="3669362" cy="3768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71081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192" y="838200"/>
            <a:ext cx="914161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47579"/>
            <a:ext cx="4319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633818" y="1234710"/>
            <a:ext cx="36648" cy="539469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283325" y="177463"/>
            <a:ext cx="16201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2000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3313" y="1317118"/>
            <a:ext cx="16326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595"/>
            <a:r>
              <a:rPr lang="en-US" sz="2000" dirty="0">
                <a:solidFill>
                  <a:prstClr val="black"/>
                </a:solidFill>
                <a:latin typeface="Kiwi School Handwriting" panose="00000500000000000000" pitchFamily="2" charset="0"/>
              </a:rPr>
              <a:t>What is a quadrilateral?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7223" y="1344238"/>
            <a:ext cx="7158695" cy="922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800" dirty="0">
                <a:solidFill>
                  <a:prstClr val="black"/>
                </a:solidFill>
              </a:rPr>
              <a:t>A quadrilateral has four sides and four angles</a:t>
            </a:r>
          </a:p>
          <a:p>
            <a:pPr defTabSz="685595"/>
            <a:endParaRPr lang="en-AU" sz="1800" dirty="0">
              <a:solidFill>
                <a:prstClr val="black"/>
              </a:solidFill>
            </a:endParaRPr>
          </a:p>
          <a:p>
            <a:pPr defTabSz="685595"/>
            <a:r>
              <a:rPr lang="en-AU" sz="1800" b="1" dirty="0">
                <a:solidFill>
                  <a:prstClr val="black"/>
                </a:solidFill>
              </a:rPr>
              <a:t>All the angles add up to 360°</a:t>
            </a:r>
            <a:endParaRPr lang="en-US" sz="1800" b="1" dirty="0">
              <a:solidFill>
                <a:prstClr val="black"/>
              </a:solidFill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192" y="1218343"/>
            <a:ext cx="914161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026" name="Picture 2" descr="Image result for quadrilaterals">
            <a:extLst>
              <a:ext uri="{FF2B5EF4-FFF2-40B4-BE49-F238E27FC236}">
                <a16:creationId xmlns:a16="http://schemas.microsoft.com/office/drawing/2014/main" id="{F2E60B9F-1F83-4B5C-810A-39CB486065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2270" y="2416567"/>
            <a:ext cx="1889403" cy="1889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0A8604A-0BCB-4AA4-96E5-236F8F3CE0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3254" y="3270051"/>
            <a:ext cx="4702187" cy="2351093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8CD0A7FD-F5BD-47AA-9212-FF4D83FF4B33}"/>
              </a:ext>
            </a:extLst>
          </p:cNvPr>
          <p:cNvSpPr/>
          <p:nvPr/>
        </p:nvSpPr>
        <p:spPr>
          <a:xfrm>
            <a:off x="122284" y="838200"/>
            <a:ext cx="876938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000" dirty="0">
                <a:latin typeface="+mn-lt"/>
              </a:rPr>
              <a:t>EQ – What are the different 2D shapes?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F8D9E41-B32D-46B0-8517-05F85BD2F5C3}"/>
              </a:ext>
            </a:extLst>
          </p:cNvPr>
          <p:cNvSpPr txBox="1"/>
          <p:nvPr/>
        </p:nvSpPr>
        <p:spPr>
          <a:xfrm>
            <a:off x="763006" y="285057"/>
            <a:ext cx="18149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+mn-lt"/>
              </a:rPr>
              <a:t>2-D Shapes</a:t>
            </a:r>
            <a:endParaRPr lang="en-AU" sz="2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9074D7-7189-401B-B22C-96E7385E1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2753" y="857250"/>
            <a:ext cx="3974163" cy="5137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2578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F276A7D-DBF1-4132-B90E-171AA2F86F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752" y="853906"/>
            <a:ext cx="8331153" cy="5146844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246648CF-EAD0-46FE-8B73-921A9BE66173}"/>
              </a:ext>
            </a:extLst>
          </p:cNvPr>
          <p:cNvSpPr/>
          <p:nvPr/>
        </p:nvSpPr>
        <p:spPr>
          <a:xfrm>
            <a:off x="645460" y="1270747"/>
            <a:ext cx="2622176" cy="20876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204627F-E807-4BCA-993A-85D66C0E9789}"/>
              </a:ext>
            </a:extLst>
          </p:cNvPr>
          <p:cNvSpPr/>
          <p:nvPr/>
        </p:nvSpPr>
        <p:spPr>
          <a:xfrm>
            <a:off x="3375343" y="1270747"/>
            <a:ext cx="2622176" cy="20876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C8AEF27-335B-4765-BF7C-4E983228270F}"/>
              </a:ext>
            </a:extLst>
          </p:cNvPr>
          <p:cNvSpPr/>
          <p:nvPr/>
        </p:nvSpPr>
        <p:spPr>
          <a:xfrm>
            <a:off x="6105226" y="1270747"/>
            <a:ext cx="2622176" cy="20876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BEECBC8-FAEF-4573-BC20-E3C6CA0E0F43}"/>
              </a:ext>
            </a:extLst>
          </p:cNvPr>
          <p:cNvSpPr/>
          <p:nvPr/>
        </p:nvSpPr>
        <p:spPr>
          <a:xfrm>
            <a:off x="635374" y="3775243"/>
            <a:ext cx="2622176" cy="20876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F6C34D1-F1A8-4043-8B63-DE4E5928619E}"/>
              </a:ext>
            </a:extLst>
          </p:cNvPr>
          <p:cNvSpPr/>
          <p:nvPr/>
        </p:nvSpPr>
        <p:spPr>
          <a:xfrm>
            <a:off x="3355172" y="3775243"/>
            <a:ext cx="2622176" cy="20876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833682C-C600-48B9-9F96-298CD5CBEDEC}"/>
              </a:ext>
            </a:extLst>
          </p:cNvPr>
          <p:cNvSpPr/>
          <p:nvPr/>
        </p:nvSpPr>
        <p:spPr>
          <a:xfrm>
            <a:off x="6105225" y="3775243"/>
            <a:ext cx="2622176" cy="20876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 dirty="0"/>
          </a:p>
        </p:txBody>
      </p:sp>
    </p:spTree>
    <p:extLst>
      <p:ext uri="{BB962C8B-B14F-4D97-AF65-F5344CB8AC3E}">
        <p14:creationId xmlns:p14="http://schemas.microsoft.com/office/powerpoint/2010/main" val="4288304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1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21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6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6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822" tmFilter="0,0; 0.14,0.31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2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78">
                                          <p:stCondLst>
                                            <p:cond delay="182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64" tmFilter="0.0,0.0;0.25,0.07;0.50,0.2;0.75,0.467;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0.026"/>
                                          </p:val>
                                        </p:tav>
                                        <p:tav tm="10000">
                                          <p:val>
                                            <p:strVal val="ppt_y+0.052"/>
                                          </p:val>
                                        </p:tav>
                                        <p:tav tm="15000">
                                          <p:val>
                                            <p:strVal val="ppt_y+0.078"/>
                                          </p:val>
                                        </p:tav>
                                        <p:tav tm="20000">
                                          <p:val>
                                            <p:strVal val="ppt_y+0.103"/>
                                          </p:val>
                                        </p:tav>
                                        <p:tav tm="30000">
                                          <p:val>
                                            <p:strVal val="ppt_y+0.151"/>
                                          </p:val>
                                        </p:tav>
                                        <p:tav tm="40000">
                                          <p:val>
                                            <p:strVal val="ppt_y+0.196"/>
                                          </p:val>
                                        </p:tav>
                                        <p:tav tm="50000">
                                          <p:val>
                                            <p:strVal val="ppt_y+0.236"/>
                                          </p:val>
                                        </p:tav>
                                        <p:tav tm="60000">
                                          <p:val>
                                            <p:strVal val="ppt_y+0.270"/>
                                          </p:val>
                                        </p:tav>
                                        <p:tav tm="70000">
                                          <p:val>
                                            <p:strVal val="ppt_y+0.297"/>
                                          </p:val>
                                        </p:tav>
                                        <p:tav tm="80000">
                                          <p:val>
                                            <p:strVal val="ppt_y+0.317"/>
                                          </p:val>
                                        </p:tav>
                                        <p:tav tm="90000">
                                          <p:val>
                                            <p:strVal val="ppt_y+0.329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33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111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37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123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4" dur="26">
                                          <p:stCondLst>
                                            <p:cond delay="62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5" dur="166" decel="50000">
                                          <p:stCondLst>
                                            <p:cond delay="64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192" y="838200"/>
            <a:ext cx="914161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47579"/>
            <a:ext cx="4319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273567" y="1251000"/>
            <a:ext cx="36648" cy="539469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283325" y="177463"/>
            <a:ext cx="16201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2000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192" y="1218343"/>
            <a:ext cx="914161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8CD0A7FD-F5BD-47AA-9212-FF4D83FF4B33}"/>
              </a:ext>
            </a:extLst>
          </p:cNvPr>
          <p:cNvSpPr/>
          <p:nvPr/>
        </p:nvSpPr>
        <p:spPr>
          <a:xfrm>
            <a:off x="122284" y="838200"/>
            <a:ext cx="876938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000" dirty="0">
                <a:latin typeface="+mn-lt"/>
              </a:rPr>
              <a:t>EQ – What are the different 2D shapes?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F8D9E41-B32D-46B0-8517-05F85BD2F5C3}"/>
              </a:ext>
            </a:extLst>
          </p:cNvPr>
          <p:cNvSpPr txBox="1"/>
          <p:nvPr/>
        </p:nvSpPr>
        <p:spPr>
          <a:xfrm>
            <a:off x="763006" y="285057"/>
            <a:ext cx="18149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+mn-lt"/>
              </a:rPr>
              <a:t>2-D Shapes</a:t>
            </a:r>
            <a:endParaRPr lang="en-AU" sz="2800" dirty="0">
              <a:latin typeface="+mn-lt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B4FAC87-C824-459C-A3EC-19F365A45350}"/>
              </a:ext>
            </a:extLst>
          </p:cNvPr>
          <p:cNvSpPr txBox="1"/>
          <p:nvPr/>
        </p:nvSpPr>
        <p:spPr>
          <a:xfrm>
            <a:off x="90263" y="1275616"/>
            <a:ext cx="208288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defTabSz="685595">
              <a:defRPr sz="2000">
                <a:solidFill>
                  <a:prstClr val="black"/>
                </a:solidFill>
              </a:defRPr>
            </a:lvl1pPr>
          </a:lstStyle>
          <a:p>
            <a:r>
              <a:rPr lang="en-US" dirty="0"/>
              <a:t>What are the properties of a parallelogram?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74E9BA4-E1F0-4477-A972-A6CEC1812B58}"/>
              </a:ext>
            </a:extLst>
          </p:cNvPr>
          <p:cNvSpPr txBox="1"/>
          <p:nvPr/>
        </p:nvSpPr>
        <p:spPr>
          <a:xfrm>
            <a:off x="2539622" y="1281770"/>
            <a:ext cx="63246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2000" dirty="0">
                <a:solidFill>
                  <a:prstClr val="black"/>
                </a:solidFill>
              </a:rPr>
              <a:t>Opposite sides are equal and parallel.</a:t>
            </a:r>
          </a:p>
          <a:p>
            <a:pPr defTabSz="685595"/>
            <a:r>
              <a:rPr lang="en-AU" sz="2000" dirty="0">
                <a:solidFill>
                  <a:prstClr val="black"/>
                </a:solidFill>
              </a:rPr>
              <a:t>Opposite angles are equal.</a:t>
            </a:r>
          </a:p>
          <a:p>
            <a:pPr defTabSz="685595"/>
            <a:endParaRPr lang="en-AU" sz="2000" dirty="0">
              <a:solidFill>
                <a:prstClr val="black"/>
              </a:solidFill>
            </a:endParaRPr>
          </a:p>
          <a:p>
            <a:pPr defTabSz="685595"/>
            <a:r>
              <a:rPr lang="en-AU" sz="2000" dirty="0">
                <a:solidFill>
                  <a:prstClr val="black"/>
                </a:solidFill>
              </a:rPr>
              <a:t>a + b = 180°</a:t>
            </a:r>
          </a:p>
          <a:p>
            <a:pPr defTabSz="685595"/>
            <a:endParaRPr lang="en-AU" sz="2000" dirty="0">
              <a:solidFill>
                <a:prstClr val="black"/>
              </a:solidFill>
            </a:endParaRPr>
          </a:p>
          <a:p>
            <a:pPr defTabSz="685595"/>
            <a:r>
              <a:rPr lang="en-AU" sz="2000" dirty="0">
                <a:solidFill>
                  <a:prstClr val="black"/>
                </a:solidFill>
              </a:rPr>
              <a:t>Alternate angles formed by diagonal line are the same size</a:t>
            </a:r>
          </a:p>
          <a:p>
            <a:pPr marL="257175" indent="-257175" defTabSz="685595">
              <a:buFontTx/>
              <a:buChar char="-"/>
            </a:pPr>
            <a:endParaRPr lang="en-US" sz="2000" dirty="0">
              <a:solidFill>
                <a:prstClr val="black"/>
              </a:solidFill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5EED609-1E9A-460D-B5EA-64A2E4A48E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7198" y="3528539"/>
            <a:ext cx="2777024" cy="1778270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BCAB59F1-B6B2-4767-812C-AF7850BA0132}"/>
              </a:ext>
            </a:extLst>
          </p:cNvPr>
          <p:cNvGrpSpPr/>
          <p:nvPr/>
        </p:nvGrpSpPr>
        <p:grpSpPr>
          <a:xfrm>
            <a:off x="2539623" y="3959614"/>
            <a:ext cx="2718178" cy="1447800"/>
            <a:chOff x="2477771" y="4366932"/>
            <a:chExt cx="2867435" cy="1531211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81C09D02-53E8-4B66-926A-D6897D56A34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477771" y="4366932"/>
              <a:ext cx="2867435" cy="1531211"/>
            </a:xfrm>
            <a:prstGeom prst="rect">
              <a:avLst/>
            </a:prstGeom>
          </p:spPr>
        </p:pic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5877EA6-5ADA-460F-8059-3AB97D39B1D3}"/>
                </a:ext>
              </a:extLst>
            </p:cNvPr>
            <p:cNvCxnSpPr/>
            <p:nvPr/>
          </p:nvCxnSpPr>
          <p:spPr>
            <a:xfrm flipV="1">
              <a:off x="2696050" y="4619065"/>
              <a:ext cx="2417195" cy="978274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19CC379D-5199-45BC-B9C4-8F6992E0456F}"/>
                </a:ext>
              </a:extLst>
            </p:cNvPr>
            <p:cNvSpPr/>
            <p:nvPr/>
          </p:nvSpPr>
          <p:spPr>
            <a:xfrm>
              <a:off x="4491318" y="4682410"/>
              <a:ext cx="161365" cy="10368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800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3E430494-DC99-4535-B660-D68246231003}"/>
                </a:ext>
              </a:extLst>
            </p:cNvPr>
            <p:cNvSpPr/>
            <p:nvPr/>
          </p:nvSpPr>
          <p:spPr>
            <a:xfrm>
              <a:off x="3133166" y="5421999"/>
              <a:ext cx="161365" cy="10368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800"/>
            </a:p>
          </p:txBody>
        </p:sp>
      </p:grpSp>
    </p:spTree>
    <p:extLst>
      <p:ext uri="{BB962C8B-B14F-4D97-AF65-F5344CB8AC3E}">
        <p14:creationId xmlns:p14="http://schemas.microsoft.com/office/powerpoint/2010/main" val="1660201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192" y="838200"/>
            <a:ext cx="914161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47579"/>
            <a:ext cx="4319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685595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6742" y="1236317"/>
            <a:ext cx="36648" cy="539469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283325" y="177463"/>
            <a:ext cx="16201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2000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192" y="1218343"/>
            <a:ext cx="914161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8CD0A7FD-F5BD-47AA-9212-FF4D83FF4B33}"/>
              </a:ext>
            </a:extLst>
          </p:cNvPr>
          <p:cNvSpPr/>
          <p:nvPr/>
        </p:nvSpPr>
        <p:spPr>
          <a:xfrm>
            <a:off x="122284" y="838200"/>
            <a:ext cx="876938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000" dirty="0">
                <a:latin typeface="+mn-lt"/>
              </a:rPr>
              <a:t>EQ – What are the different 2D shapes?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F8D9E41-B32D-46B0-8517-05F85BD2F5C3}"/>
              </a:ext>
            </a:extLst>
          </p:cNvPr>
          <p:cNvSpPr txBox="1"/>
          <p:nvPr/>
        </p:nvSpPr>
        <p:spPr>
          <a:xfrm>
            <a:off x="763006" y="285057"/>
            <a:ext cx="18149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+mn-lt"/>
              </a:rPr>
              <a:t>2-D Shapes</a:t>
            </a:r>
            <a:endParaRPr lang="en-AU" sz="2800" dirty="0">
              <a:latin typeface="+mn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79A8386-3C1F-4598-AF9A-1B7592A641D0}"/>
              </a:ext>
            </a:extLst>
          </p:cNvPr>
          <p:cNvSpPr txBox="1"/>
          <p:nvPr/>
        </p:nvSpPr>
        <p:spPr>
          <a:xfrm>
            <a:off x="34653" y="1378237"/>
            <a:ext cx="193544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defTabSz="685595">
              <a:defRPr sz="1799">
                <a:solidFill>
                  <a:prstClr val="black"/>
                </a:solidFill>
              </a:defRPr>
            </a:lvl1pPr>
          </a:lstStyle>
          <a:p>
            <a:r>
              <a:rPr lang="en-US" sz="2000" dirty="0"/>
              <a:t>What are the properties of a rhombus?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09A25C3-AD87-4418-BFBB-C42512706357}"/>
              </a:ext>
            </a:extLst>
          </p:cNvPr>
          <p:cNvSpPr txBox="1"/>
          <p:nvPr/>
        </p:nvSpPr>
        <p:spPr>
          <a:xfrm>
            <a:off x="2397498" y="1483332"/>
            <a:ext cx="336064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sz="2000" dirty="0">
                <a:solidFill>
                  <a:prstClr val="black"/>
                </a:solidFill>
              </a:rPr>
              <a:t>Opposite angles are equal</a:t>
            </a:r>
          </a:p>
          <a:p>
            <a:pPr defTabSz="685595"/>
            <a:endParaRPr lang="en-AU" sz="2000" dirty="0">
              <a:solidFill>
                <a:prstClr val="black"/>
              </a:solidFill>
            </a:endParaRPr>
          </a:p>
          <a:p>
            <a:pPr defTabSz="685595"/>
            <a:r>
              <a:rPr lang="en-AU" sz="2000" dirty="0">
                <a:solidFill>
                  <a:prstClr val="black"/>
                </a:solidFill>
              </a:rPr>
              <a:t>a + b = 180°</a:t>
            </a:r>
          </a:p>
          <a:p>
            <a:pPr defTabSz="685595"/>
            <a:endParaRPr lang="en-AU" sz="2000" dirty="0">
              <a:solidFill>
                <a:prstClr val="black"/>
              </a:solidFill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AE7EF6C-D025-4BF9-941E-9482FFF151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800" y="2789218"/>
            <a:ext cx="2508507" cy="2130128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A5260302-C3AB-46E1-9DAB-923691D5959B}"/>
              </a:ext>
            </a:extLst>
          </p:cNvPr>
          <p:cNvGrpSpPr/>
          <p:nvPr/>
        </p:nvGrpSpPr>
        <p:grpSpPr>
          <a:xfrm>
            <a:off x="2455907" y="2995432"/>
            <a:ext cx="2573294" cy="1805168"/>
            <a:chOff x="2455906" y="2995432"/>
            <a:chExt cx="2943883" cy="1878452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1EC96727-DEDC-41C6-828A-F6DDFF9788A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8936" b="17254"/>
            <a:stretch/>
          </p:blipFill>
          <p:spPr>
            <a:xfrm>
              <a:off x="2455906" y="2995432"/>
              <a:ext cx="2943883" cy="1878452"/>
            </a:xfrm>
            <a:prstGeom prst="rect">
              <a:avLst/>
            </a:prstGeom>
          </p:spPr>
        </p:pic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7E4AB98-07AB-495B-BC8F-F5DCB88D14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32352" y="3061116"/>
              <a:ext cx="2867436" cy="1656066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E97CA811-59CA-40CB-A003-F86EF8BE265D}"/>
                </a:ext>
              </a:extLst>
            </p:cNvPr>
            <p:cNvSpPr/>
            <p:nvPr/>
          </p:nvSpPr>
          <p:spPr>
            <a:xfrm flipV="1">
              <a:off x="3588637" y="3159382"/>
              <a:ext cx="183215" cy="19162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800"/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69087CC-B048-4727-BF84-A8F92426CB3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416347" y="3061115"/>
              <a:ext cx="984998" cy="1689272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C1220DCA-57E5-4256-AB91-6DBA60579BAF}"/>
                </a:ext>
              </a:extLst>
            </p:cNvPr>
            <p:cNvSpPr/>
            <p:nvPr/>
          </p:nvSpPr>
          <p:spPr>
            <a:xfrm flipV="1">
              <a:off x="3324740" y="3330831"/>
              <a:ext cx="183215" cy="19162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800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BA698812-0D16-43E2-A3B3-9849EC9692AF}"/>
                </a:ext>
              </a:extLst>
            </p:cNvPr>
            <p:cNvSpPr/>
            <p:nvPr/>
          </p:nvSpPr>
          <p:spPr>
            <a:xfrm flipV="1">
              <a:off x="3966071" y="4491499"/>
              <a:ext cx="183215" cy="19162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800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0BDC2CB1-7F29-4122-862F-8DF5DBA17EB2}"/>
                </a:ext>
              </a:extLst>
            </p:cNvPr>
            <p:cNvSpPr/>
            <p:nvPr/>
          </p:nvSpPr>
          <p:spPr>
            <a:xfrm flipV="1">
              <a:off x="4273597" y="4306155"/>
              <a:ext cx="183215" cy="19162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800"/>
            </a:p>
          </p:txBody>
        </p:sp>
        <p:sp>
          <p:nvSpPr>
            <p:cNvPr id="24" name="Isosceles Triangle 23">
              <a:extLst>
                <a:ext uri="{FF2B5EF4-FFF2-40B4-BE49-F238E27FC236}">
                  <a16:creationId xmlns:a16="http://schemas.microsoft.com/office/drawing/2014/main" id="{33D13E9A-D40C-4FB4-97E5-A22140B09B3E}"/>
                </a:ext>
              </a:extLst>
            </p:cNvPr>
            <p:cNvSpPr/>
            <p:nvPr/>
          </p:nvSpPr>
          <p:spPr>
            <a:xfrm>
              <a:off x="3048232" y="4491499"/>
              <a:ext cx="243805" cy="173276"/>
            </a:xfrm>
            <a:prstGeom prst="triangl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800"/>
            </a:p>
          </p:txBody>
        </p:sp>
        <p:sp>
          <p:nvSpPr>
            <p:cNvPr id="25" name="Isosceles Triangle 24">
              <a:extLst>
                <a:ext uri="{FF2B5EF4-FFF2-40B4-BE49-F238E27FC236}">
                  <a16:creationId xmlns:a16="http://schemas.microsoft.com/office/drawing/2014/main" id="{12910A4D-BE03-47A6-BC68-D520467386AC}"/>
                </a:ext>
              </a:extLst>
            </p:cNvPr>
            <p:cNvSpPr/>
            <p:nvPr/>
          </p:nvSpPr>
          <p:spPr>
            <a:xfrm>
              <a:off x="2743918" y="4219517"/>
              <a:ext cx="243805" cy="173276"/>
            </a:xfrm>
            <a:prstGeom prst="triangl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800"/>
            </a:p>
          </p:txBody>
        </p:sp>
        <p:sp>
          <p:nvSpPr>
            <p:cNvPr id="26" name="Isosceles Triangle 25">
              <a:extLst>
                <a:ext uri="{FF2B5EF4-FFF2-40B4-BE49-F238E27FC236}">
                  <a16:creationId xmlns:a16="http://schemas.microsoft.com/office/drawing/2014/main" id="{DBEED58C-4412-4079-B622-53D273A5C1A2}"/>
                </a:ext>
              </a:extLst>
            </p:cNvPr>
            <p:cNvSpPr/>
            <p:nvPr/>
          </p:nvSpPr>
          <p:spPr>
            <a:xfrm>
              <a:off x="4568477" y="3150152"/>
              <a:ext cx="243805" cy="173276"/>
            </a:xfrm>
            <a:prstGeom prst="triangl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800"/>
            </a:p>
          </p:txBody>
        </p:sp>
        <p:sp>
          <p:nvSpPr>
            <p:cNvPr id="27" name="Isosceles Triangle 26">
              <a:extLst>
                <a:ext uri="{FF2B5EF4-FFF2-40B4-BE49-F238E27FC236}">
                  <a16:creationId xmlns:a16="http://schemas.microsoft.com/office/drawing/2014/main" id="{98E98400-D7FD-4D64-BD6C-D19BDF5A775C}"/>
                </a:ext>
              </a:extLst>
            </p:cNvPr>
            <p:cNvSpPr/>
            <p:nvPr/>
          </p:nvSpPr>
          <p:spPr>
            <a:xfrm>
              <a:off x="4784856" y="3435814"/>
              <a:ext cx="243805" cy="173276"/>
            </a:xfrm>
            <a:prstGeom prst="triangl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800"/>
            </a:p>
          </p:txBody>
        </p:sp>
      </p:grpSp>
    </p:spTree>
    <p:extLst>
      <p:ext uri="{BB962C8B-B14F-4D97-AF65-F5344CB8AC3E}">
        <p14:creationId xmlns:p14="http://schemas.microsoft.com/office/powerpoint/2010/main" val="2007339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2">
            <a:extLst>
              <a:ext uri="{FF2B5EF4-FFF2-40B4-BE49-F238E27FC236}">
                <a16:creationId xmlns:a16="http://schemas.microsoft.com/office/drawing/2014/main" id="{13F5A9A9-5A80-46FF-A9B3-3BEEF7B50ECB}"/>
              </a:ext>
            </a:extLst>
          </p:cNvPr>
          <p:cNvSpPr txBox="1">
            <a:spLocks/>
          </p:cNvSpPr>
          <p:nvPr/>
        </p:nvSpPr>
        <p:spPr>
          <a:xfrm>
            <a:off x="2181785" y="1248995"/>
            <a:ext cx="6457950" cy="828576"/>
          </a:xfrm>
          <a:prstGeom prst="rect">
            <a:avLst/>
          </a:prstGeom>
        </p:spPr>
        <p:txBody>
          <a:bodyPr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5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Practice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71AA4F-0C68-4C96-BB35-4DD3066CAD0F}"/>
              </a:ext>
            </a:extLst>
          </p:cNvPr>
          <p:cNvSpPr txBox="1"/>
          <p:nvPr/>
        </p:nvSpPr>
        <p:spPr>
          <a:xfrm>
            <a:off x="278855" y="2494016"/>
            <a:ext cx="73859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AU" dirty="0">
                <a:solidFill>
                  <a:prstClr val="black"/>
                </a:solidFill>
              </a:rPr>
              <a:t>1. Complete the worksheet</a:t>
            </a:r>
          </a:p>
          <a:p>
            <a:pPr defTabSz="685595"/>
            <a:endParaRPr lang="en-AU" dirty="0">
              <a:solidFill>
                <a:prstClr val="black"/>
              </a:solidFill>
            </a:endParaRPr>
          </a:p>
        </p:txBody>
      </p:sp>
      <p:pic>
        <p:nvPicPr>
          <p:cNvPr id="6" name="Picture 2" descr="Related image">
            <a:extLst>
              <a:ext uri="{FF2B5EF4-FFF2-40B4-BE49-F238E27FC236}">
                <a16:creationId xmlns:a16="http://schemas.microsoft.com/office/drawing/2014/main" id="{C9D79AC2-1A0F-4007-ABCD-DE7D16D91C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0293" y="3109102"/>
            <a:ext cx="1075302" cy="10753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23EFBBC-CCA4-48C7-B821-4BE7FF972699}"/>
              </a:ext>
            </a:extLst>
          </p:cNvPr>
          <p:cNvSpPr txBox="1"/>
          <p:nvPr/>
        </p:nvSpPr>
        <p:spPr>
          <a:xfrm>
            <a:off x="7968563" y="4333618"/>
            <a:ext cx="101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800" b="1" dirty="0"/>
              <a:t>WICO</a:t>
            </a:r>
            <a:r>
              <a:rPr lang="en-AU" sz="1800" b="1" dirty="0">
                <a:solidFill>
                  <a:schemeClr val="accent1"/>
                </a:solidFill>
              </a:rPr>
              <a:t>R</a:t>
            </a:r>
          </a:p>
        </p:txBody>
      </p:sp>
    </p:spTree>
    <p:extLst>
      <p:ext uri="{BB962C8B-B14F-4D97-AF65-F5344CB8AC3E}">
        <p14:creationId xmlns:p14="http://schemas.microsoft.com/office/powerpoint/2010/main" val="4026190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Exit Pass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8742" y="1622376"/>
            <a:ext cx="8229600" cy="452596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AU" dirty="0"/>
              <a:t>Name the shape</a:t>
            </a:r>
          </a:p>
          <a:p>
            <a:pPr marL="514350" indent="-514350">
              <a:buAutoNum type="arabicPeriod"/>
            </a:pPr>
            <a:r>
              <a:rPr lang="en-AU" dirty="0"/>
              <a:t>I have three sides, all sides and angles equal</a:t>
            </a:r>
            <a:br>
              <a:rPr lang="en-AU" dirty="0"/>
            </a:br>
            <a:endParaRPr lang="en-AU" dirty="0"/>
          </a:p>
          <a:p>
            <a:pPr marL="514350" indent="-514350">
              <a:buAutoNum type="arabicPeriod"/>
            </a:pPr>
            <a:r>
              <a:rPr lang="en-AU" dirty="0"/>
              <a:t>I have four sides, all sides of equal length</a:t>
            </a:r>
            <a:br>
              <a:rPr lang="en-AU" dirty="0"/>
            </a:br>
            <a:endParaRPr lang="en-AU" dirty="0"/>
          </a:p>
          <a:p>
            <a:pPr marL="514350" indent="-514350">
              <a:buAutoNum type="arabicPeriod"/>
            </a:pPr>
            <a:r>
              <a:rPr lang="en-AU" dirty="0"/>
              <a:t>I have three sides, all my angles are less than 90°</a:t>
            </a:r>
            <a:br>
              <a:rPr lang="en-AU" dirty="0"/>
            </a:br>
            <a:endParaRPr lang="en-AU" dirty="0"/>
          </a:p>
          <a:p>
            <a:pPr marL="514350" indent="-514350">
              <a:buAutoNum type="arabicPeriod"/>
            </a:pPr>
            <a:r>
              <a:rPr lang="en-AU" dirty="0"/>
              <a:t>I have 4 sides of unequal length, two sides are parallel</a:t>
            </a:r>
            <a:br>
              <a:rPr lang="en-AU" dirty="0"/>
            </a:br>
            <a:endParaRPr lang="en-AU" dirty="0"/>
          </a:p>
        </p:txBody>
      </p:sp>
      <p:pic>
        <p:nvPicPr>
          <p:cNvPr id="4" name="Picture 2" descr="Related imag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000" y="188640"/>
            <a:ext cx="813048" cy="813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7772400" y="1032214"/>
            <a:ext cx="8610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>
                <a:solidFill>
                  <a:srgbClr val="00B050"/>
                </a:solidFill>
              </a:rPr>
              <a:t>W</a:t>
            </a:r>
            <a:r>
              <a:rPr lang="en-AU" b="1" dirty="0"/>
              <a:t>ICOR</a:t>
            </a:r>
          </a:p>
        </p:txBody>
      </p:sp>
    </p:spTree>
    <p:extLst>
      <p:ext uri="{BB962C8B-B14F-4D97-AF65-F5344CB8AC3E}">
        <p14:creationId xmlns:p14="http://schemas.microsoft.com/office/powerpoint/2010/main" val="28112399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Exit Pass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8742" y="1622376"/>
            <a:ext cx="8229600" cy="452596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AU" dirty="0"/>
              <a:t>Name the shape</a:t>
            </a:r>
          </a:p>
          <a:p>
            <a:pPr marL="514350" indent="-514350">
              <a:buAutoNum type="arabicPeriod"/>
            </a:pPr>
            <a:r>
              <a:rPr lang="en-AU" dirty="0"/>
              <a:t>I have three sides, all sides and angles equal</a:t>
            </a:r>
            <a:br>
              <a:rPr lang="en-AU" dirty="0"/>
            </a:br>
            <a:r>
              <a:rPr lang="en-AU" dirty="0">
                <a:solidFill>
                  <a:srgbClr val="FF0000"/>
                </a:solidFill>
              </a:rPr>
              <a:t>Equilateral Triangle</a:t>
            </a:r>
            <a:endParaRPr lang="en-AU" dirty="0"/>
          </a:p>
          <a:p>
            <a:pPr marL="514350" indent="-514350">
              <a:buAutoNum type="arabicPeriod"/>
            </a:pPr>
            <a:r>
              <a:rPr lang="en-AU" dirty="0"/>
              <a:t>I have four sides, all sides of equal length</a:t>
            </a:r>
            <a:br>
              <a:rPr lang="en-AU" dirty="0"/>
            </a:br>
            <a:r>
              <a:rPr lang="en-AU" dirty="0">
                <a:solidFill>
                  <a:srgbClr val="FF0000"/>
                </a:solidFill>
              </a:rPr>
              <a:t>Rhombus (a square is a special case)</a:t>
            </a:r>
            <a:endParaRPr lang="en-AU" dirty="0"/>
          </a:p>
          <a:p>
            <a:pPr marL="514350" indent="-514350">
              <a:buAutoNum type="arabicPeriod"/>
            </a:pPr>
            <a:r>
              <a:rPr lang="en-AU" dirty="0"/>
              <a:t>I have three sides, all my angles are less than 90°</a:t>
            </a:r>
            <a:br>
              <a:rPr lang="en-AU" dirty="0"/>
            </a:br>
            <a:r>
              <a:rPr lang="en-AU" dirty="0">
                <a:solidFill>
                  <a:srgbClr val="FF0000"/>
                </a:solidFill>
              </a:rPr>
              <a:t>Acute Triangle</a:t>
            </a:r>
            <a:endParaRPr lang="en-AU" dirty="0"/>
          </a:p>
          <a:p>
            <a:pPr marL="514350" indent="-514350">
              <a:buAutoNum type="arabicPeriod"/>
            </a:pPr>
            <a:r>
              <a:rPr lang="en-AU" dirty="0"/>
              <a:t>I have 4 sides of unequal length, two sides are parallel</a:t>
            </a:r>
            <a:br>
              <a:rPr lang="en-AU" dirty="0"/>
            </a:br>
            <a:r>
              <a:rPr lang="en-AU" dirty="0">
                <a:solidFill>
                  <a:srgbClr val="FF0000"/>
                </a:solidFill>
              </a:rPr>
              <a:t>Trapezium</a:t>
            </a:r>
            <a:endParaRPr lang="en-AU" dirty="0"/>
          </a:p>
        </p:txBody>
      </p:sp>
      <p:pic>
        <p:nvPicPr>
          <p:cNvPr id="4" name="Picture 2" descr="Related imag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000" y="188640"/>
            <a:ext cx="813048" cy="813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7772400" y="1032214"/>
            <a:ext cx="8610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>
                <a:solidFill>
                  <a:srgbClr val="00B050"/>
                </a:solidFill>
              </a:rPr>
              <a:t>W</a:t>
            </a:r>
            <a:r>
              <a:rPr lang="en-AU" b="1" dirty="0"/>
              <a:t>ICOR</a:t>
            </a:r>
          </a:p>
        </p:txBody>
      </p:sp>
    </p:spTree>
    <p:extLst>
      <p:ext uri="{BB962C8B-B14F-4D97-AF65-F5344CB8AC3E}">
        <p14:creationId xmlns:p14="http://schemas.microsoft.com/office/powerpoint/2010/main" val="36622614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Notes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/>
              <a:t>24, 7 ,30</a:t>
            </a:r>
          </a:p>
          <a:p>
            <a:r>
              <a:rPr lang="en-AU" dirty="0"/>
              <a:t>Date</a:t>
            </a:r>
          </a:p>
          <a:p>
            <a:r>
              <a:rPr lang="en-AU" dirty="0"/>
              <a:t>Title</a:t>
            </a:r>
          </a:p>
          <a:p>
            <a:r>
              <a:rPr lang="en-AU" dirty="0"/>
              <a:t>Essential question</a:t>
            </a:r>
          </a:p>
          <a:p>
            <a:r>
              <a:rPr lang="en-AU" dirty="0"/>
              <a:t>Notes complete </a:t>
            </a:r>
          </a:p>
          <a:p>
            <a:r>
              <a:rPr lang="en-AU" dirty="0"/>
              <a:t>Notes complete with colour and diagrams</a:t>
            </a:r>
          </a:p>
          <a:p>
            <a:r>
              <a:rPr lang="en-AU" dirty="0"/>
              <a:t>Questions completed</a:t>
            </a:r>
          </a:p>
          <a:p>
            <a:r>
              <a:rPr lang="en-AU" dirty="0"/>
              <a:t>Contents page filled in</a:t>
            </a:r>
          </a:p>
          <a:p>
            <a:r>
              <a:rPr lang="en-AU" dirty="0"/>
              <a:t>Formula page filled in</a:t>
            </a:r>
          </a:p>
          <a:p>
            <a:pPr marL="0" indent="0">
              <a:buNone/>
            </a:pPr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160882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1031</TotalTime>
  <Words>724</Words>
  <Application>Microsoft Office PowerPoint</Application>
  <PresentationFormat>On-screen Show (4:3)</PresentationFormat>
  <Paragraphs>202</Paragraphs>
  <Slides>25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Arial</vt:lpstr>
      <vt:lpstr>Calibri</vt:lpstr>
      <vt:lpstr>Century Gothic</vt:lpstr>
      <vt:lpstr>Kiwi School Handwriting</vt:lpstr>
      <vt:lpstr>Times New Roman</vt:lpstr>
      <vt:lpstr>Office Theme</vt:lpstr>
      <vt:lpstr>My Measurement Interactive Notebook</vt:lpstr>
      <vt:lpstr>PowerPoint Presentation</vt:lpstr>
      <vt:lpstr>PowerPoint Presentation</vt:lpstr>
      <vt:lpstr>Daily 5</vt:lpstr>
      <vt:lpstr>PowerPoint Presentation</vt:lpstr>
      <vt:lpstr>PowerPoint Presentation</vt:lpstr>
      <vt:lpstr>PowerPoint Presentation</vt:lpstr>
      <vt:lpstr>Fish Bone</vt:lpstr>
      <vt:lpstr>Isosceles </vt:lpstr>
      <vt:lpstr>Scalene</vt:lpstr>
      <vt:lpstr>Equilateral</vt:lpstr>
      <vt:lpstr>Right angle</vt:lpstr>
      <vt:lpstr>Acute</vt:lpstr>
      <vt:lpstr>Obtuse</vt:lpstr>
      <vt:lpstr>PowerPoint Presentation</vt:lpstr>
      <vt:lpstr>Do you understand? Fists of Five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Exit Pass</vt:lpstr>
      <vt:lpstr>Exit Pass</vt:lpstr>
      <vt:lpstr>Notes Review</vt:lpstr>
    </vt:vector>
  </TitlesOfParts>
  <Company>The Visual Classroom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Parabolas</dc:title>
  <dc:creator>Peter Maher</dc:creator>
  <cp:lastModifiedBy>Barry Stanton</cp:lastModifiedBy>
  <cp:revision>84</cp:revision>
  <cp:lastPrinted>1601-01-01T00:00:00Z</cp:lastPrinted>
  <dcterms:created xsi:type="dcterms:W3CDTF">2000-11-01T00:14:34Z</dcterms:created>
  <dcterms:modified xsi:type="dcterms:W3CDTF">2019-11-09T20:48:51Z</dcterms:modified>
</cp:coreProperties>
</file>
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80" r:id="rId2"/>
    <p:sldId id="279" r:id="rId3"/>
    <p:sldId id="281" r:id="rId4"/>
    <p:sldId id="284" r:id="rId5"/>
    <p:sldId id="285" r:id="rId6"/>
    <p:sldId id="28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14/10/2019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sisfun.com/algebra/definitions.htm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52" y="137160"/>
            <a:ext cx="7680960" cy="1371600"/>
          </a:xfrm>
        </p:spPr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Starting Questions</a:t>
            </a:r>
            <a:endParaRPr lang="en-AU" dirty="0"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4B047E-FC89-40FF-9798-B66F75FD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294" y="1923146"/>
            <a:ext cx="4626715" cy="41831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2B6630-50E5-413A-A23F-3CF6394E61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457290"/>
                  </p:ext>
                </p:extLst>
              </p:nvPr>
            </p:nvGraphicFramePr>
            <p:xfrm>
              <a:off x="541499" y="1948828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2B6630-50E5-413A-A23F-3CF6394E61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457290"/>
                  </p:ext>
                </p:extLst>
              </p:nvPr>
            </p:nvGraphicFramePr>
            <p:xfrm>
              <a:off x="541499" y="1948828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" t="-23077" r="-405000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C591A67-706F-404E-A964-4BB70F603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024052"/>
                  </p:ext>
                </p:extLst>
              </p:nvPr>
            </p:nvGraphicFramePr>
            <p:xfrm>
              <a:off x="541498" y="3090741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C591A67-706F-404E-A964-4BB70F603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024052"/>
                  </p:ext>
                </p:extLst>
              </p:nvPr>
            </p:nvGraphicFramePr>
            <p:xfrm>
              <a:off x="541498" y="3090741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" t="-24675" r="-405000" b="-1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BEFAF3-1DC9-4E32-9754-1138274D2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6836"/>
                  </p:ext>
                </p:extLst>
              </p:nvPr>
            </p:nvGraphicFramePr>
            <p:xfrm>
              <a:off x="541498" y="424345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-7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BEFAF3-1DC9-4E32-9754-1138274D2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6836"/>
                  </p:ext>
                </p:extLst>
              </p:nvPr>
            </p:nvGraphicFramePr>
            <p:xfrm>
              <a:off x="541498" y="424345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" t="-24675" r="-405000" b="-1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-7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8F69A7-AA5F-484C-90BD-55B8D1C2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518578"/>
                  </p:ext>
                </p:extLst>
              </p:nvPr>
            </p:nvGraphicFramePr>
            <p:xfrm>
              <a:off x="541498" y="536129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8F69A7-AA5F-484C-90BD-55B8D1C2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518578"/>
                  </p:ext>
                </p:extLst>
              </p:nvPr>
            </p:nvGraphicFramePr>
            <p:xfrm>
              <a:off x="541498" y="536129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" t="-24675" r="-405000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" t="-124675" r="-405000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D6DB61-382D-465F-8948-67E500F3B60F}"/>
              </a:ext>
            </a:extLst>
          </p:cNvPr>
          <p:cNvSpPr txBox="1">
            <a:spLocks/>
          </p:cNvSpPr>
          <p:nvPr/>
        </p:nvSpPr>
        <p:spPr>
          <a:xfrm>
            <a:off x="1005722" y="1241436"/>
            <a:ext cx="7886700" cy="410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US" b="1"/>
              <a:t>Match</a:t>
            </a:r>
            <a:r>
              <a:rPr lang="en-US"/>
              <a:t> the line on the graph to the table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A7E0862-6686-407E-99B5-1FC9B2DD00C1}"/>
              </a:ext>
            </a:extLst>
          </p:cNvPr>
          <p:cNvSpPr txBox="1"/>
          <p:nvPr/>
        </p:nvSpPr>
        <p:spPr>
          <a:xfrm>
            <a:off x="134192" y="1456925"/>
            <a:ext cx="1798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a linear equation?</a:t>
            </a:r>
            <a:endParaRPr lang="en-AU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33AFF-95A7-4C9D-AEC7-F2BD34A144EC}"/>
              </a:ext>
            </a:extLst>
          </p:cNvPr>
          <p:cNvSpPr/>
          <p:nvPr/>
        </p:nvSpPr>
        <p:spPr>
          <a:xfrm>
            <a:off x="1912228" y="14261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A </a:t>
            </a:r>
            <a:r>
              <a:rPr lang="en-US" b="1" dirty="0">
                <a:solidFill>
                  <a:srgbClr val="000088"/>
                </a:solidFill>
                <a:latin typeface="Verdana" panose="020B0604030504040204" pitchFamily="34" charset="0"/>
              </a:rPr>
              <a:t>linear</a:t>
            </a:r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 equation is an </a:t>
            </a:r>
            <a:r>
              <a:rPr lang="en-US" dirty="0">
                <a:latin typeface="Verdana" panose="020B0604030504040204" pitchFamily="34" charset="0"/>
                <a:hlinkClick r:id="rId2"/>
              </a:rPr>
              <a:t>equation</a:t>
            </a:r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 for a straight </a:t>
            </a:r>
            <a:r>
              <a:rPr lang="en-US" b="1" dirty="0">
                <a:solidFill>
                  <a:srgbClr val="000088"/>
                </a:solidFill>
                <a:latin typeface="Verdana" panose="020B0604030504040204" pitchFamily="34" charset="0"/>
              </a:rPr>
              <a:t>line</a:t>
            </a:r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C22E3-626B-4D21-A80F-5928DBBD5C97}"/>
              </a:ext>
            </a:extLst>
          </p:cNvPr>
          <p:cNvSpPr/>
          <p:nvPr/>
        </p:nvSpPr>
        <p:spPr>
          <a:xfrm>
            <a:off x="1849921" y="251865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linear equation </a:t>
            </a:r>
            <a:r>
              <a:rPr lang="en-US" dirty="0"/>
              <a:t>links those two variables</a:t>
            </a:r>
          </a:p>
          <a:p>
            <a:endParaRPr lang="en-US" dirty="0"/>
          </a:p>
          <a:p>
            <a:r>
              <a:rPr lang="en-US" dirty="0"/>
              <a:t>It can be used to </a:t>
            </a:r>
            <a:r>
              <a:rPr lang="en-US" b="1" dirty="0"/>
              <a:t>graph the relationship </a:t>
            </a:r>
            <a:r>
              <a:rPr lang="en-US" dirty="0"/>
              <a:t>and to </a:t>
            </a:r>
            <a:r>
              <a:rPr lang="en-US" b="1" dirty="0"/>
              <a:t>find the unknown </a:t>
            </a:r>
            <a:r>
              <a:rPr lang="en-US" dirty="0"/>
              <a:t>variable.</a:t>
            </a:r>
          </a:p>
          <a:p>
            <a:endParaRPr lang="en-US" dirty="0"/>
          </a:p>
          <a:p>
            <a:r>
              <a:rPr lang="en-US" i="1" dirty="0"/>
              <a:t>For example y = 2x + 3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74F35-5014-445C-B5D1-F0515D4023BA}"/>
              </a:ext>
            </a:extLst>
          </p:cNvPr>
          <p:cNvSpPr/>
          <p:nvPr/>
        </p:nvSpPr>
        <p:spPr>
          <a:xfrm>
            <a:off x="1723342" y="4924021"/>
            <a:ext cx="4824563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So how do we turn our equation into a graph?</a:t>
            </a:r>
          </a:p>
        </p:txBody>
      </p:sp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582" t="-3289" b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615481"/>
                  </p:ext>
                </p:extLst>
              </p:nvPr>
            </p:nvGraphicFramePr>
            <p:xfrm>
              <a:off x="2245969" y="236193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615481"/>
                  </p:ext>
                </p:extLst>
              </p:nvPr>
            </p:nvGraphicFramePr>
            <p:xfrm>
              <a:off x="2245969" y="236193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316" r="-400885" b="-10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1316" r="-400885" b="-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7032392-6D6E-4DA5-8936-331DAF0C2D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621753"/>
                  </p:ext>
                </p:extLst>
              </p:nvPr>
            </p:nvGraphicFramePr>
            <p:xfrm>
              <a:off x="2247146" y="233095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7032392-6D6E-4DA5-8936-331DAF0C2D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621753"/>
                  </p:ext>
                </p:extLst>
              </p:nvPr>
            </p:nvGraphicFramePr>
            <p:xfrm>
              <a:off x="2247146" y="233095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6579" r="-400885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106579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C3024C3-FFAF-4CD6-901C-97DB506D6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22947"/>
                  </p:ext>
                </p:extLst>
              </p:nvPr>
            </p:nvGraphicFramePr>
            <p:xfrm>
              <a:off x="2245969" y="2317842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C3024C3-FFAF-4CD6-901C-97DB506D6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22947"/>
                  </p:ext>
                </p:extLst>
              </p:nvPr>
            </p:nvGraphicFramePr>
            <p:xfrm>
              <a:off x="2245969" y="2317842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85" t="-6579" r="-400885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85" t="-106579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69" y="3513976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7248419C-4E3E-4E6F-9B8A-2ED58FEE999A}"/>
              </a:ext>
            </a:extLst>
          </p:cNvPr>
          <p:cNvSpPr/>
          <p:nvPr/>
        </p:nvSpPr>
        <p:spPr>
          <a:xfrm>
            <a:off x="3625850" y="5130800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12550D-2EA8-428B-8C52-3882970C3D13}"/>
              </a:ext>
            </a:extLst>
          </p:cNvPr>
          <p:cNvSpPr/>
          <p:nvPr/>
        </p:nvSpPr>
        <p:spPr>
          <a:xfrm>
            <a:off x="3873500" y="4654550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7D11DA-CCA3-45B0-94D1-619C29B5BA61}"/>
              </a:ext>
            </a:extLst>
          </p:cNvPr>
          <p:cNvSpPr/>
          <p:nvPr/>
        </p:nvSpPr>
        <p:spPr>
          <a:xfrm>
            <a:off x="4099803" y="4192213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62705C-36AC-466B-B411-9EC7EB2CC9AA}"/>
              </a:ext>
            </a:extLst>
          </p:cNvPr>
          <p:cNvSpPr/>
          <p:nvPr/>
        </p:nvSpPr>
        <p:spPr>
          <a:xfrm>
            <a:off x="4344458" y="3684256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E31D62-61CA-4F46-B39A-5964417A0C5C}"/>
              </a:ext>
            </a:extLst>
          </p:cNvPr>
          <p:cNvCxnSpPr>
            <a:cxnSpLocks/>
          </p:cNvCxnSpPr>
          <p:nvPr/>
        </p:nvCxnSpPr>
        <p:spPr>
          <a:xfrm flipV="1">
            <a:off x="3128433" y="3544956"/>
            <a:ext cx="1377459" cy="2703445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8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0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582" t="-3289" b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851542"/>
                  </p:ext>
                </p:extLst>
              </p:nvPr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851542"/>
                  </p:ext>
                </p:extLst>
              </p:nvPr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299" r="-400885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2632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32" y="3448084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19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171836" y="1230121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836" y="1230121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406" t="-3974" b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299" r="-400885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2632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32" y="3448084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04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D5238-1BAF-465C-8E3F-05E8AC17A721}"/>
              </a:ext>
            </a:extLst>
          </p:cNvPr>
          <p:cNvSpPr/>
          <p:nvPr/>
        </p:nvSpPr>
        <p:spPr>
          <a:xfrm>
            <a:off x="175044" y="1982449"/>
            <a:ext cx="303961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Worksheet</a:t>
            </a:r>
          </a:p>
          <a:p>
            <a:pPr algn="ctr"/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3EE36-ADBF-4F72-B1F1-0CDDD29900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73" t="28059" r="35474" b="11310"/>
          <a:stretch/>
        </p:blipFill>
        <p:spPr>
          <a:xfrm>
            <a:off x="3409832" y="166036"/>
            <a:ext cx="5540675" cy="65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47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2948</TotalTime>
  <Words>346</Words>
  <Application>Microsoft Office PowerPoint</Application>
  <PresentationFormat>On-screen Show (4:3)</PresentationFormat>
  <Paragraphs>164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Algerian</vt:lpstr>
      <vt:lpstr>Calibri</vt:lpstr>
      <vt:lpstr>Cambria Math</vt:lpstr>
      <vt:lpstr>Century Gothic</vt:lpstr>
      <vt:lpstr>Garamond</vt:lpstr>
      <vt:lpstr>Times New Roman</vt:lpstr>
      <vt:lpstr>Verdana</vt:lpstr>
      <vt:lpstr>Wingdings</vt:lpstr>
      <vt:lpstr>Savon</vt:lpstr>
      <vt:lpstr>Starting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MORGAN Adam [Baldivis Secondary College]</cp:lastModifiedBy>
  <cp:revision>94</cp:revision>
  <dcterms:created xsi:type="dcterms:W3CDTF">2016-04-30T07:20:25Z</dcterms:created>
  <dcterms:modified xsi:type="dcterms:W3CDTF">2019-10-14T06:08:03Z</dcterms:modified>
</cp:coreProperties>
</file>
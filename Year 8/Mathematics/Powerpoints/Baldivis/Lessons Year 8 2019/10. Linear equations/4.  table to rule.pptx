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9" r:id="rId2"/>
    <p:sldId id="318" r:id="rId3"/>
    <p:sldId id="284" r:id="rId4"/>
    <p:sldId id="283" r:id="rId5"/>
    <p:sldId id="311" r:id="rId6"/>
    <p:sldId id="312" r:id="rId7"/>
    <p:sldId id="313" r:id="rId8"/>
    <p:sldId id="310" r:id="rId9"/>
    <p:sldId id="315" r:id="rId10"/>
    <p:sldId id="316" r:id="rId11"/>
    <p:sldId id="314" r:id="rId12"/>
  </p:sldIdLst>
  <p:sldSz cx="9144000" cy="5715000" type="screen16x1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3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2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29/10/2018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78213" y="920895"/>
            <a:ext cx="0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7158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762000" y="584127"/>
            <a:ext cx="7620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754093" y="931451"/>
            <a:ext cx="7620000" cy="135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3827" y="45518"/>
            <a:ext cx="3025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44811" y="944968"/>
            <a:ext cx="31663" cy="47700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62441" y="64576"/>
            <a:ext cx="990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034" y="534431"/>
            <a:ext cx="6594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plot a linear equation on a graph?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8182" y="112947"/>
            <a:ext cx="3003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Topic: Linear Relationships</a:t>
            </a:r>
            <a:endParaRPr lang="en-AU" sz="20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915079" y="931451"/>
            <a:ext cx="31663" cy="477003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686CF1E-DA2D-42A4-8D5E-AD6AA7D1832F}"/>
              </a:ext>
            </a:extLst>
          </p:cNvPr>
          <p:cNvSpPr txBox="1"/>
          <p:nvPr/>
        </p:nvSpPr>
        <p:spPr>
          <a:xfrm>
            <a:off x="873827" y="1044804"/>
            <a:ext cx="137098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How do I turn an equation into a graph?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/>
              <p:nvPr/>
            </p:nvSpPr>
            <p:spPr>
              <a:xfrm>
                <a:off x="2571864" y="1025101"/>
                <a:ext cx="2890646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500" dirty="0" smtClean="0"/>
                  <a:t>Example:</a:t>
                </a:r>
              </a:p>
              <a:p>
                <a:endParaRPr lang="en-AU" sz="15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5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AU" sz="15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15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864" y="1025101"/>
                <a:ext cx="2890646" cy="784830"/>
              </a:xfrm>
              <a:prstGeom prst="rect">
                <a:avLst/>
              </a:prstGeom>
              <a:blipFill>
                <a:blip r:embed="rId2"/>
                <a:stretch>
                  <a:fillRect l="-844" t="-1550" b="-7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/>
              <p:nvPr/>
            </p:nvSpPr>
            <p:spPr>
              <a:xfrm>
                <a:off x="6144800" y="1004286"/>
                <a:ext cx="2081512" cy="4478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500" dirty="0"/>
                  <a:t>Step 1:</a:t>
                </a:r>
              </a:p>
              <a:p>
                <a:r>
                  <a:rPr lang="en-AU" sz="1500" dirty="0"/>
                  <a:t>Create a table</a:t>
                </a:r>
              </a:p>
              <a:p>
                <a:endParaRPr lang="en-AU" sz="1500" dirty="0"/>
              </a:p>
              <a:p>
                <a:endParaRPr lang="en-AU" sz="1500" dirty="0"/>
              </a:p>
              <a:p>
                <a:r>
                  <a:rPr lang="en-AU" sz="1500" dirty="0"/>
                  <a:t>Step 2:</a:t>
                </a:r>
              </a:p>
              <a:p>
                <a:r>
                  <a:rPr lang="en-AU" sz="1500" dirty="0"/>
                  <a:t>Fill in the 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15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AU" sz="1500" dirty="0"/>
                  <a:t> row</a:t>
                </a:r>
              </a:p>
              <a:p>
                <a:endParaRPr lang="en-AU" sz="1500" dirty="0"/>
              </a:p>
              <a:p>
                <a:endParaRPr lang="en-AU" sz="1500" dirty="0"/>
              </a:p>
              <a:p>
                <a:r>
                  <a:rPr lang="en-AU" sz="1500" dirty="0"/>
                  <a:t>Step 3:</a:t>
                </a:r>
              </a:p>
              <a:p>
                <a:r>
                  <a:rPr lang="en-AU" sz="1500" dirty="0"/>
                  <a:t>Use your rule to fill in the ‘</a:t>
                </a:r>
                <a14:m>
                  <m:oMath xmlns:m="http://schemas.openxmlformats.org/officeDocument/2006/math">
                    <m:r>
                      <a:rPr lang="en-AU" sz="15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15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AU" sz="1500" dirty="0"/>
                  <a:t>  row</a:t>
                </a:r>
              </a:p>
              <a:p>
                <a:endParaRPr lang="en-AU" sz="1500" dirty="0"/>
              </a:p>
              <a:p>
                <a:endParaRPr lang="en-AU" sz="1500" dirty="0"/>
              </a:p>
              <a:p>
                <a:r>
                  <a:rPr lang="en-AU" sz="1500" dirty="0"/>
                  <a:t>Step 4:</a:t>
                </a:r>
              </a:p>
              <a:p>
                <a:r>
                  <a:rPr lang="en-AU" sz="1500" dirty="0"/>
                  <a:t>Use your table to graph</a:t>
                </a:r>
              </a:p>
              <a:p>
                <a:endParaRPr lang="en-AU" sz="1500" dirty="0"/>
              </a:p>
              <a:p>
                <a:r>
                  <a:rPr lang="en-AU" sz="1500" dirty="0"/>
                  <a:t>Step 5:</a:t>
                </a:r>
              </a:p>
              <a:p>
                <a:r>
                  <a:rPr lang="en-AU" sz="1500" dirty="0"/>
                  <a:t>Draw a line (with arrows)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800" y="1004286"/>
                <a:ext cx="2081512" cy="4478149"/>
              </a:xfrm>
              <a:prstGeom prst="rect">
                <a:avLst/>
              </a:prstGeom>
              <a:blipFill>
                <a:blip r:embed="rId3"/>
                <a:stretch>
                  <a:fillRect l="-1173" t="-409" b="-5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4622" y="1889607"/>
              <a:ext cx="2858985" cy="7694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1797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3847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3847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34622" y="1889607"/>
              <a:ext cx="2858985" cy="7694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1797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571797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3847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4" t="-1563" r="-402128" b="-1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3847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4" t="-101563" r="-402128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15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6200" marR="76200" marT="38100" marB="381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2" descr="Image result for cartesian plane">
            <a:extLst>
              <a:ext uri="{FF2B5EF4-FFF2-40B4-BE49-F238E27FC236}">
                <a16:creationId xmlns:a16="http://schemas.microsoft.com/office/drawing/2014/main" id="{596768C2-6755-48AA-8915-0181B540A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45000" y="2730500"/>
            <a:ext cx="254000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en-AU" sz="15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016AC7-4B51-427F-A593-20F6DDBC1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27" y="2873404"/>
            <a:ext cx="2984500" cy="25796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7949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0757" y="633046"/>
            <a:ext cx="67595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need to higher an electrician to install new cables ring around to get some quotes.</a:t>
            </a:r>
          </a:p>
          <a:p>
            <a:endParaRPr lang="en-AU" dirty="0"/>
          </a:p>
          <a:p>
            <a:r>
              <a:rPr lang="en-AU" dirty="0"/>
              <a:t>	quote 1 = $100 call out fee + $40 per hour</a:t>
            </a:r>
          </a:p>
          <a:p>
            <a:endParaRPr lang="en-AU" dirty="0"/>
          </a:p>
          <a:p>
            <a:r>
              <a:rPr lang="en-AU" dirty="0"/>
              <a:t>	quote 2 = $150 call out fee and $35 per hour</a:t>
            </a:r>
          </a:p>
          <a:p>
            <a:endParaRPr lang="en-AU" dirty="0"/>
          </a:p>
          <a:p>
            <a:r>
              <a:rPr lang="en-AU" dirty="0"/>
              <a:t>	quote 3 = $50 call out fee and $50 per hour</a:t>
            </a:r>
          </a:p>
          <a:p>
            <a:endParaRPr lang="en-AU" sz="2400" b="1" dirty="0">
              <a:solidFill>
                <a:srgbClr val="FF0000"/>
              </a:solidFill>
            </a:endParaRPr>
          </a:p>
          <a:p>
            <a:r>
              <a:rPr lang="en-AU" sz="2400" b="1" dirty="0">
                <a:solidFill>
                  <a:srgbClr val="FF0000"/>
                </a:solidFill>
              </a:rPr>
              <a:t>So which is cheapest? 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	Well that depends on how long it takes.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342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788" y="433754"/>
            <a:ext cx="67595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need to hire an electrician to install new cables .  The quote comes back as;</a:t>
            </a:r>
          </a:p>
          <a:p>
            <a:endParaRPr lang="en-AU" dirty="0"/>
          </a:p>
          <a:p>
            <a:r>
              <a:rPr lang="en-AU" dirty="0"/>
              <a:t>	Cost = $40 per hour + $100 call out fee</a:t>
            </a:r>
          </a:p>
          <a:p>
            <a:endParaRPr lang="en-AU" dirty="0"/>
          </a:p>
          <a:p>
            <a:r>
              <a:rPr lang="en-AU" dirty="0"/>
              <a:t>So how much will it cost?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704928-254E-460E-8D72-B119D299676A}"/>
              </a:ext>
            </a:extLst>
          </p:cNvPr>
          <p:cNvSpPr/>
          <p:nvPr/>
        </p:nvSpPr>
        <p:spPr>
          <a:xfrm>
            <a:off x="1242644" y="2857500"/>
            <a:ext cx="5732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We can use our quote to create a table.</a:t>
            </a:r>
          </a:p>
          <a:p>
            <a:r>
              <a:rPr lang="en-AU" dirty="0"/>
              <a:t>	</a:t>
            </a:r>
            <a:r>
              <a:rPr lang="en-AU" dirty="0" err="1"/>
              <a:t>eg.</a:t>
            </a:r>
            <a:r>
              <a:rPr lang="en-AU" dirty="0"/>
              <a:t>  Cost = $40 per hour + $100 call out fee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ED0EF7-7D17-48EA-88E7-64E65B53C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842792"/>
              </p:ext>
            </p:extLst>
          </p:nvPr>
        </p:nvGraphicFramePr>
        <p:xfrm>
          <a:off x="1524000" y="3802411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x (hours)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  (cost)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D32944-D2B4-4586-9A7A-DA86AE7FF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75465"/>
              </p:ext>
            </p:extLst>
          </p:nvPr>
        </p:nvGraphicFramePr>
        <p:xfrm>
          <a:off x="2733179" y="4168429"/>
          <a:ext cx="488682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2283">
                  <a:extLst>
                    <a:ext uri="{9D8B030D-6E8A-4147-A177-3AD203B41FA5}">
                      <a16:colId xmlns:a16="http://schemas.microsoft.com/office/drawing/2014/main" val="135837576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07135201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4181630751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717364913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1752599082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3546075338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3775002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61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03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842988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842988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AE54B8F-6594-4FBD-8B7D-A55B29DFF272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$40 per hour + $100 call out fee</a:t>
            </a:r>
          </a:p>
        </p:txBody>
      </p:sp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778370" y="36271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 hour our cost increases by $40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548052" y="245992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C74E5D-8A39-408C-8FD1-51B3C10DBE29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C74E5D-8A39-408C-8FD1-51B3C10DB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14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551173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551173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945423" y="420181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At time = 0 we are charged $100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269631" y="257908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FFB39-CE83-4A30-93E6-A2FC1895DD55}"/>
              </a:ext>
            </a:extLst>
          </p:cNvPr>
          <p:cNvSpPr txBox="1"/>
          <p:nvPr/>
        </p:nvSpPr>
        <p:spPr>
          <a:xfrm>
            <a:off x="2930770" y="37795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 hour our cost increases by </a:t>
            </a:r>
            <a:r>
              <a:rPr lang="en-AU" dirty="0">
                <a:highlight>
                  <a:srgbClr val="FFFF00"/>
                </a:highlight>
              </a:rPr>
              <a:t>$40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DFD0E2-87C9-401C-B26F-B63B3FFC5A9B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</a:t>
            </a:r>
            <a:r>
              <a:rPr lang="en-AU" dirty="0">
                <a:highlight>
                  <a:srgbClr val="FFFF00"/>
                </a:highlight>
              </a:rPr>
              <a:t>$40 </a:t>
            </a:r>
            <a:r>
              <a:rPr lang="en-AU" dirty="0"/>
              <a:t>per hour + $100 call out fee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52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771982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771982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186350" y="4203905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At time = 0 we are charged </a:t>
            </a:r>
            <a:r>
              <a:rPr lang="en-AU" dirty="0">
                <a:highlight>
                  <a:srgbClr val="00FF00"/>
                </a:highlight>
              </a:rPr>
              <a:t>$100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269631" y="257908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FFB39-CE83-4A30-93E6-A2FC1895DD55}"/>
              </a:ext>
            </a:extLst>
          </p:cNvPr>
          <p:cNvSpPr txBox="1"/>
          <p:nvPr/>
        </p:nvSpPr>
        <p:spPr>
          <a:xfrm>
            <a:off x="2157046" y="36271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 hour our cost increases by </a:t>
            </a:r>
            <a:r>
              <a:rPr lang="en-AU" dirty="0">
                <a:highlight>
                  <a:srgbClr val="FFFF00"/>
                </a:highlight>
              </a:rPr>
              <a:t>$40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DFD0E2-87C9-401C-B26F-B63B3FFC5A9B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</a:t>
            </a:r>
            <a:r>
              <a:rPr lang="en-AU" dirty="0">
                <a:highlight>
                  <a:srgbClr val="FFFF00"/>
                </a:highlight>
              </a:rPr>
              <a:t>$40 </a:t>
            </a:r>
            <a:r>
              <a:rPr lang="en-AU" dirty="0"/>
              <a:t>per hour + $100 call out fee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>
                  <a:highlight>
                    <a:srgbClr val="00FF00"/>
                  </a:highlight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A4BCB22-CEC6-4E59-B488-7B226291D3AC}"/>
              </a:ext>
            </a:extLst>
          </p:cNvPr>
          <p:cNvSpPr txBox="1"/>
          <p:nvPr/>
        </p:nvSpPr>
        <p:spPr>
          <a:xfrm>
            <a:off x="269631" y="4937350"/>
            <a:ext cx="8616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can use the same method to find a rule for any linear equation</a:t>
            </a: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562DB45B-031C-4774-A56E-C5DB626C8F9C}"/>
              </a:ext>
            </a:extLst>
          </p:cNvPr>
          <p:cNvSpPr/>
          <p:nvPr/>
        </p:nvSpPr>
        <p:spPr>
          <a:xfrm>
            <a:off x="6740765" y="3264298"/>
            <a:ext cx="1969482" cy="797314"/>
          </a:xfrm>
          <a:prstGeom prst="wedgeRectCallout">
            <a:avLst>
              <a:gd name="adj1" fmla="val -65335"/>
              <a:gd name="adj2" fmla="val 1524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This increase is called the </a:t>
            </a:r>
            <a:r>
              <a:rPr lang="en-AU" b="1" u="sng" dirty="0"/>
              <a:t>gradient</a:t>
            </a: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37A5AEBE-AF58-4D5A-A446-BF3645E7F93A}"/>
              </a:ext>
            </a:extLst>
          </p:cNvPr>
          <p:cNvSpPr/>
          <p:nvPr/>
        </p:nvSpPr>
        <p:spPr>
          <a:xfrm>
            <a:off x="6295287" y="4151207"/>
            <a:ext cx="1969482" cy="797314"/>
          </a:xfrm>
          <a:prstGeom prst="wedgeRectCallout">
            <a:avLst>
              <a:gd name="adj1" fmla="val -77835"/>
              <a:gd name="adj2" fmla="val -21512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The start position is the </a:t>
            </a:r>
            <a:r>
              <a:rPr lang="en-AU" b="1" u="sng" dirty="0"/>
              <a:t>y-intercept</a:t>
            </a:r>
          </a:p>
        </p:txBody>
      </p:sp>
    </p:spTree>
    <p:extLst>
      <p:ext uri="{BB962C8B-B14F-4D97-AF65-F5344CB8AC3E}">
        <p14:creationId xmlns:p14="http://schemas.microsoft.com/office/powerpoint/2010/main" val="355690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78213" y="920895"/>
            <a:ext cx="0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All Linear equations can be written in the form;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/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1D6F6BB-BB71-4892-97DA-ABAD60F25B39}"/>
              </a:ext>
            </a:extLst>
          </p:cNvPr>
          <p:cNvSpPr txBox="1"/>
          <p:nvPr/>
        </p:nvSpPr>
        <p:spPr>
          <a:xfrm>
            <a:off x="2776027" y="1821673"/>
            <a:ext cx="404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=is the gradient</a:t>
            </a:r>
          </a:p>
          <a:p>
            <a:r>
              <a:rPr lang="en-AU" dirty="0"/>
              <a:t>C = the y-intercept (x value at time 0)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8DC1C2C-D23A-4AFF-AAB7-95B3FD82D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077626"/>
              </p:ext>
            </p:extLst>
          </p:nvPr>
        </p:nvGraphicFramePr>
        <p:xfrm>
          <a:off x="2407598" y="2530936"/>
          <a:ext cx="6096000" cy="7978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32067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39839">
                <a:tc>
                  <a:txBody>
                    <a:bodyPr/>
                    <a:lstStyle/>
                    <a:p>
                      <a:r>
                        <a:rPr lang="en-AU" dirty="0"/>
                        <a:t>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7173DB-F00A-402A-9DE1-79D283B515E7}"/>
              </a:ext>
            </a:extLst>
          </p:cNvPr>
          <p:cNvSpPr txBox="1"/>
          <p:nvPr/>
        </p:nvSpPr>
        <p:spPr>
          <a:xfrm>
            <a:off x="3181707" y="3798501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2    as the y values increase by 2 each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55E52-7C56-4B9A-B09C-972EFA3DAC5B}"/>
              </a:ext>
            </a:extLst>
          </p:cNvPr>
          <p:cNvSpPr txBox="1"/>
          <p:nvPr/>
        </p:nvSpPr>
        <p:spPr>
          <a:xfrm>
            <a:off x="3193053" y="4136352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 = -5   as the y value when x is 0 is -5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/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𝑏𝑒𝑐𝑜𝑚𝑒𝑠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−5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ADDB1CFC-FD63-4583-A3E9-A6CCAA05863E}"/>
              </a:ext>
            </a:extLst>
          </p:cNvPr>
          <p:cNvSpPr/>
          <p:nvPr/>
        </p:nvSpPr>
        <p:spPr>
          <a:xfrm>
            <a:off x="3616469" y="3763332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BABD022A-E51C-4762-B1C0-9E8DF6BE43EB}"/>
              </a:ext>
            </a:extLst>
          </p:cNvPr>
          <p:cNvSpPr/>
          <p:nvPr/>
        </p:nvSpPr>
        <p:spPr>
          <a:xfrm>
            <a:off x="4097102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Arrow: Curved Up 22">
            <a:extLst>
              <a:ext uri="{FF2B5EF4-FFF2-40B4-BE49-F238E27FC236}">
                <a16:creationId xmlns:a16="http://schemas.microsoft.com/office/drawing/2014/main" id="{1F8D2763-8CDF-46EC-B75F-F040B7DDD910}"/>
              </a:ext>
            </a:extLst>
          </p:cNvPr>
          <p:cNvSpPr/>
          <p:nvPr/>
        </p:nvSpPr>
        <p:spPr>
          <a:xfrm>
            <a:off x="4806348" y="3319642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309F645D-9E18-4C15-984C-8B2A24BDC968}"/>
              </a:ext>
            </a:extLst>
          </p:cNvPr>
          <p:cNvSpPr/>
          <p:nvPr/>
        </p:nvSpPr>
        <p:spPr>
          <a:xfrm>
            <a:off x="5515594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6F7DBE08-F849-47D1-837C-E98F99C2DBFA}"/>
              </a:ext>
            </a:extLst>
          </p:cNvPr>
          <p:cNvSpPr/>
          <p:nvPr/>
        </p:nvSpPr>
        <p:spPr>
          <a:xfrm>
            <a:off x="6224839" y="3302506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Arrow: Curved Up 25">
            <a:extLst>
              <a:ext uri="{FF2B5EF4-FFF2-40B4-BE49-F238E27FC236}">
                <a16:creationId xmlns:a16="http://schemas.microsoft.com/office/drawing/2014/main" id="{B2BF5D72-C2E8-4252-8A94-E12DB435B8B2}"/>
              </a:ext>
            </a:extLst>
          </p:cNvPr>
          <p:cNvSpPr/>
          <p:nvPr/>
        </p:nvSpPr>
        <p:spPr>
          <a:xfrm>
            <a:off x="6928221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7" name="Arrow: Curved Up 26">
            <a:extLst>
              <a:ext uri="{FF2B5EF4-FFF2-40B4-BE49-F238E27FC236}">
                <a16:creationId xmlns:a16="http://schemas.microsoft.com/office/drawing/2014/main" id="{1B4D7E02-11EC-4E3A-8DE3-AF6E28CDB1D0}"/>
              </a:ext>
            </a:extLst>
          </p:cNvPr>
          <p:cNvSpPr/>
          <p:nvPr/>
        </p:nvSpPr>
        <p:spPr>
          <a:xfrm>
            <a:off x="7643330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420939-A1A6-45E9-9844-8A1CB11FD579}"/>
              </a:ext>
            </a:extLst>
          </p:cNvPr>
          <p:cNvSpPr txBox="1"/>
          <p:nvPr/>
        </p:nvSpPr>
        <p:spPr>
          <a:xfrm>
            <a:off x="4234849" y="347734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A59270-5467-4021-9CF3-5F4B0062C6FE}"/>
              </a:ext>
            </a:extLst>
          </p:cNvPr>
          <p:cNvSpPr txBox="1"/>
          <p:nvPr/>
        </p:nvSpPr>
        <p:spPr>
          <a:xfrm>
            <a:off x="5002709" y="346854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D4AD5A-996B-41C8-AD05-702ABBCCA664}"/>
              </a:ext>
            </a:extLst>
          </p:cNvPr>
          <p:cNvSpPr txBox="1"/>
          <p:nvPr/>
        </p:nvSpPr>
        <p:spPr>
          <a:xfrm>
            <a:off x="5755918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689C1A-47C3-4059-954B-BACDAADCA4E7}"/>
              </a:ext>
            </a:extLst>
          </p:cNvPr>
          <p:cNvSpPr txBox="1"/>
          <p:nvPr/>
        </p:nvSpPr>
        <p:spPr>
          <a:xfrm>
            <a:off x="6388960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9E007-2947-47CD-BAD3-7C109CFD2DD4}"/>
              </a:ext>
            </a:extLst>
          </p:cNvPr>
          <p:cNvSpPr txBox="1"/>
          <p:nvPr/>
        </p:nvSpPr>
        <p:spPr>
          <a:xfrm>
            <a:off x="7098206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54D1FE-74EB-46A8-BE86-D9C6034DE26F}"/>
              </a:ext>
            </a:extLst>
          </p:cNvPr>
          <p:cNvSpPr txBox="1"/>
          <p:nvPr/>
        </p:nvSpPr>
        <p:spPr>
          <a:xfrm>
            <a:off x="7757624" y="351228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BCBB612-6B86-46F2-8F4F-9C880CD66605}"/>
              </a:ext>
            </a:extLst>
          </p:cNvPr>
          <p:cNvSpPr/>
          <p:nvPr/>
        </p:nvSpPr>
        <p:spPr>
          <a:xfrm>
            <a:off x="4192259" y="3470120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264F903-628B-48EF-997D-B5737CAF23F3}"/>
              </a:ext>
            </a:extLst>
          </p:cNvPr>
          <p:cNvSpPr/>
          <p:nvPr/>
        </p:nvSpPr>
        <p:spPr>
          <a:xfrm>
            <a:off x="6865008" y="4701993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20B6F55-5E4C-4C65-9329-7401AF871D1F}"/>
              </a:ext>
            </a:extLst>
          </p:cNvPr>
          <p:cNvSpPr/>
          <p:nvPr/>
        </p:nvSpPr>
        <p:spPr>
          <a:xfrm>
            <a:off x="3593602" y="4178868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84C9DBD-F19E-4F09-95DC-4377BED529AB}"/>
              </a:ext>
            </a:extLst>
          </p:cNvPr>
          <p:cNvSpPr/>
          <p:nvPr/>
        </p:nvSpPr>
        <p:spPr>
          <a:xfrm>
            <a:off x="7540134" y="4701993"/>
            <a:ext cx="709243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8F9419-A573-4BFD-952C-34CA2116BF28}"/>
              </a:ext>
            </a:extLst>
          </p:cNvPr>
          <p:cNvSpPr/>
          <p:nvPr/>
        </p:nvSpPr>
        <p:spPr>
          <a:xfrm>
            <a:off x="3647210" y="2944793"/>
            <a:ext cx="449887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287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2210F5-9F53-4F44-9FCE-F9B0C1173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127488"/>
              </p:ext>
            </p:extLst>
          </p:nvPr>
        </p:nvGraphicFramePr>
        <p:xfrm>
          <a:off x="363415" y="626208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71BE484-D667-4DDF-B13F-835A9A44BF8A}"/>
              </a:ext>
            </a:extLst>
          </p:cNvPr>
          <p:cNvSpPr txBox="1"/>
          <p:nvPr/>
        </p:nvSpPr>
        <p:spPr>
          <a:xfrm>
            <a:off x="595363" y="1369939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1AB64-FEF6-4547-9793-F732F75F224D}"/>
              </a:ext>
            </a:extLst>
          </p:cNvPr>
          <p:cNvSpPr txBox="1"/>
          <p:nvPr/>
        </p:nvSpPr>
        <p:spPr>
          <a:xfrm>
            <a:off x="363415" y="186538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CE45C-71F6-49C5-A6F9-0F51561F7977}"/>
              </a:ext>
            </a:extLst>
          </p:cNvPr>
          <p:cNvSpPr txBox="1"/>
          <p:nvPr/>
        </p:nvSpPr>
        <p:spPr>
          <a:xfrm>
            <a:off x="6353908" y="186538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 to try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A004B3-4687-4BB1-88E1-70432171E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617557"/>
              </p:ext>
            </p:extLst>
          </p:nvPr>
        </p:nvGraphicFramePr>
        <p:xfrm>
          <a:off x="363415" y="233445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13EC8D-AED8-4DB0-9D05-F99144051F6F}"/>
              </a:ext>
            </a:extLst>
          </p:cNvPr>
          <p:cNvSpPr txBox="1"/>
          <p:nvPr/>
        </p:nvSpPr>
        <p:spPr>
          <a:xfrm>
            <a:off x="595363" y="3076523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0C5A50-A572-44B7-B37C-33B6AFED4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040914"/>
              </p:ext>
            </p:extLst>
          </p:nvPr>
        </p:nvGraphicFramePr>
        <p:xfrm>
          <a:off x="363413" y="402023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1F61BDC-770B-43DD-ADF6-4EBAA81778AA}"/>
              </a:ext>
            </a:extLst>
          </p:cNvPr>
          <p:cNvSpPr txBox="1"/>
          <p:nvPr/>
        </p:nvSpPr>
        <p:spPr>
          <a:xfrm>
            <a:off x="595364" y="4765626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y intercept =</a:t>
            </a:r>
          </a:p>
          <a:p>
            <a:r>
              <a:rPr lang="en-AU" dirty="0"/>
              <a:t>t  =  ___p + ____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BF2BD1-5DD3-41D6-9C08-79A3F8BF7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098385"/>
              </p:ext>
            </p:extLst>
          </p:nvPr>
        </p:nvGraphicFramePr>
        <p:xfrm>
          <a:off x="5479701" y="626208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0775076-FB97-4534-8442-2D1DF5F3399B}"/>
              </a:ext>
            </a:extLst>
          </p:cNvPr>
          <p:cNvSpPr txBox="1"/>
          <p:nvPr/>
        </p:nvSpPr>
        <p:spPr>
          <a:xfrm>
            <a:off x="5711649" y="1369939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182102-D72A-47AD-80FE-19690CE34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268666"/>
              </p:ext>
            </p:extLst>
          </p:nvPr>
        </p:nvGraphicFramePr>
        <p:xfrm>
          <a:off x="4982308" y="2334454"/>
          <a:ext cx="3974118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061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6270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662353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662353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77AD11D-7A77-4CDD-A3AA-ED807C3029C2}"/>
              </a:ext>
            </a:extLst>
          </p:cNvPr>
          <p:cNvSpPr txBox="1"/>
          <p:nvPr/>
        </p:nvSpPr>
        <p:spPr>
          <a:xfrm>
            <a:off x="5711649" y="3076523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Cost  =  ___items + ____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0F9E66A-9268-4429-92A9-7D77E197A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06471"/>
              </p:ext>
            </p:extLst>
          </p:nvPr>
        </p:nvGraphicFramePr>
        <p:xfrm>
          <a:off x="5479699" y="402023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36D8DFE-94B4-4449-8452-F840A073876F}"/>
              </a:ext>
            </a:extLst>
          </p:cNvPr>
          <p:cNvSpPr txBox="1"/>
          <p:nvPr/>
        </p:nvSpPr>
        <p:spPr>
          <a:xfrm>
            <a:off x="5711650" y="4765626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y intercept =</a:t>
            </a:r>
          </a:p>
          <a:p>
            <a:r>
              <a:rPr lang="en-AU" dirty="0"/>
              <a:t>g  =  ___k + ____ </a:t>
            </a:r>
          </a:p>
        </p:txBody>
      </p:sp>
    </p:spTree>
    <p:extLst>
      <p:ext uri="{BB962C8B-B14F-4D97-AF65-F5344CB8AC3E}">
        <p14:creationId xmlns:p14="http://schemas.microsoft.com/office/powerpoint/2010/main" val="282283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E54D13-462B-45A2-B66F-DF31C7BD9C8A}"/>
              </a:ext>
            </a:extLst>
          </p:cNvPr>
          <p:cNvSpPr txBox="1"/>
          <p:nvPr/>
        </p:nvSpPr>
        <p:spPr>
          <a:xfrm>
            <a:off x="1957754" y="1148861"/>
            <a:ext cx="52284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Exercise 16.3 or Dwyer text book (page 216)</a:t>
            </a:r>
          </a:p>
          <a:p>
            <a:r>
              <a:rPr lang="en-AU" dirty="0"/>
              <a:t>	For each table.</a:t>
            </a:r>
          </a:p>
          <a:p>
            <a:r>
              <a:rPr lang="en-AU" dirty="0"/>
              <a:t>		1.Find the Gradient (M) value 		2. Find the y-intercept (C) value</a:t>
            </a:r>
          </a:p>
          <a:p>
            <a:r>
              <a:rPr lang="en-AU" dirty="0"/>
              <a:t>		3. Write the rule</a:t>
            </a:r>
          </a:p>
        </p:txBody>
      </p:sp>
    </p:spTree>
    <p:extLst>
      <p:ext uri="{BB962C8B-B14F-4D97-AF65-F5344CB8AC3E}">
        <p14:creationId xmlns:p14="http://schemas.microsoft.com/office/powerpoint/2010/main" val="229706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78213" y="920895"/>
            <a:ext cx="0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All Linear equations can be written in the form;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/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1D6F6BB-BB71-4892-97DA-ABAD60F25B39}"/>
              </a:ext>
            </a:extLst>
          </p:cNvPr>
          <p:cNvSpPr txBox="1"/>
          <p:nvPr/>
        </p:nvSpPr>
        <p:spPr>
          <a:xfrm>
            <a:off x="2776027" y="1821673"/>
            <a:ext cx="404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=is the gradient</a:t>
            </a:r>
          </a:p>
          <a:p>
            <a:r>
              <a:rPr lang="en-AU" dirty="0"/>
              <a:t>C = the y-intercept (x value at time 0)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8DC1C2C-D23A-4AFF-AAB7-95B3FD82D59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407598" y="2530936"/>
          <a:ext cx="6096000" cy="7978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32067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39839">
                <a:tc>
                  <a:txBody>
                    <a:bodyPr/>
                    <a:lstStyle/>
                    <a:p>
                      <a:r>
                        <a:rPr lang="en-AU" dirty="0"/>
                        <a:t>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7173DB-F00A-402A-9DE1-79D283B515E7}"/>
              </a:ext>
            </a:extLst>
          </p:cNvPr>
          <p:cNvSpPr txBox="1"/>
          <p:nvPr/>
        </p:nvSpPr>
        <p:spPr>
          <a:xfrm>
            <a:off x="3181707" y="3798501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2    as the y values increase by 2 each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55E52-7C56-4B9A-B09C-972EFA3DAC5B}"/>
              </a:ext>
            </a:extLst>
          </p:cNvPr>
          <p:cNvSpPr txBox="1"/>
          <p:nvPr/>
        </p:nvSpPr>
        <p:spPr>
          <a:xfrm>
            <a:off x="3193053" y="4136352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 = -5   as the y value when x is 0 is -5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/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𝑏𝑒𝑐𝑜𝑚𝑒𝑠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−5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ADDB1CFC-FD63-4583-A3E9-A6CCAA05863E}"/>
              </a:ext>
            </a:extLst>
          </p:cNvPr>
          <p:cNvSpPr/>
          <p:nvPr/>
        </p:nvSpPr>
        <p:spPr>
          <a:xfrm>
            <a:off x="3616469" y="3763332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BABD022A-E51C-4762-B1C0-9E8DF6BE43EB}"/>
              </a:ext>
            </a:extLst>
          </p:cNvPr>
          <p:cNvSpPr/>
          <p:nvPr/>
        </p:nvSpPr>
        <p:spPr>
          <a:xfrm>
            <a:off x="4097102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Curved Up 22">
            <a:extLst>
              <a:ext uri="{FF2B5EF4-FFF2-40B4-BE49-F238E27FC236}">
                <a16:creationId xmlns:a16="http://schemas.microsoft.com/office/drawing/2014/main" id="{1F8D2763-8CDF-46EC-B75F-F040B7DDD910}"/>
              </a:ext>
            </a:extLst>
          </p:cNvPr>
          <p:cNvSpPr/>
          <p:nvPr/>
        </p:nvSpPr>
        <p:spPr>
          <a:xfrm>
            <a:off x="4806348" y="3319642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309F645D-9E18-4C15-984C-8B2A24BDC968}"/>
              </a:ext>
            </a:extLst>
          </p:cNvPr>
          <p:cNvSpPr/>
          <p:nvPr/>
        </p:nvSpPr>
        <p:spPr>
          <a:xfrm>
            <a:off x="5515594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6F7DBE08-F849-47D1-837C-E98F99C2DBFA}"/>
              </a:ext>
            </a:extLst>
          </p:cNvPr>
          <p:cNvSpPr/>
          <p:nvPr/>
        </p:nvSpPr>
        <p:spPr>
          <a:xfrm>
            <a:off x="6224839" y="3302506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6" name="Arrow: Curved Up 25">
            <a:extLst>
              <a:ext uri="{FF2B5EF4-FFF2-40B4-BE49-F238E27FC236}">
                <a16:creationId xmlns:a16="http://schemas.microsoft.com/office/drawing/2014/main" id="{B2BF5D72-C2E8-4252-8A94-E12DB435B8B2}"/>
              </a:ext>
            </a:extLst>
          </p:cNvPr>
          <p:cNvSpPr/>
          <p:nvPr/>
        </p:nvSpPr>
        <p:spPr>
          <a:xfrm>
            <a:off x="6928221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Arrow: Curved Up 26">
            <a:extLst>
              <a:ext uri="{FF2B5EF4-FFF2-40B4-BE49-F238E27FC236}">
                <a16:creationId xmlns:a16="http://schemas.microsoft.com/office/drawing/2014/main" id="{1B4D7E02-11EC-4E3A-8DE3-AF6E28CDB1D0}"/>
              </a:ext>
            </a:extLst>
          </p:cNvPr>
          <p:cNvSpPr/>
          <p:nvPr/>
        </p:nvSpPr>
        <p:spPr>
          <a:xfrm>
            <a:off x="7643330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420939-A1A6-45E9-9844-8A1CB11FD579}"/>
              </a:ext>
            </a:extLst>
          </p:cNvPr>
          <p:cNvSpPr txBox="1"/>
          <p:nvPr/>
        </p:nvSpPr>
        <p:spPr>
          <a:xfrm>
            <a:off x="4234849" y="347734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A59270-5467-4021-9CF3-5F4B0062C6FE}"/>
              </a:ext>
            </a:extLst>
          </p:cNvPr>
          <p:cNvSpPr txBox="1"/>
          <p:nvPr/>
        </p:nvSpPr>
        <p:spPr>
          <a:xfrm>
            <a:off x="5002709" y="346854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D4AD5A-996B-41C8-AD05-702ABBCCA664}"/>
              </a:ext>
            </a:extLst>
          </p:cNvPr>
          <p:cNvSpPr txBox="1"/>
          <p:nvPr/>
        </p:nvSpPr>
        <p:spPr>
          <a:xfrm>
            <a:off x="5755918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689C1A-47C3-4059-954B-BACDAADCA4E7}"/>
              </a:ext>
            </a:extLst>
          </p:cNvPr>
          <p:cNvSpPr txBox="1"/>
          <p:nvPr/>
        </p:nvSpPr>
        <p:spPr>
          <a:xfrm>
            <a:off x="6388960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9E007-2947-47CD-BAD3-7C109CFD2DD4}"/>
              </a:ext>
            </a:extLst>
          </p:cNvPr>
          <p:cNvSpPr txBox="1"/>
          <p:nvPr/>
        </p:nvSpPr>
        <p:spPr>
          <a:xfrm>
            <a:off x="7098206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54D1FE-74EB-46A8-BE86-D9C6034DE26F}"/>
              </a:ext>
            </a:extLst>
          </p:cNvPr>
          <p:cNvSpPr txBox="1"/>
          <p:nvPr/>
        </p:nvSpPr>
        <p:spPr>
          <a:xfrm>
            <a:off x="7757624" y="351228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BCBB612-6B86-46F2-8F4F-9C880CD66605}"/>
              </a:ext>
            </a:extLst>
          </p:cNvPr>
          <p:cNvSpPr/>
          <p:nvPr/>
        </p:nvSpPr>
        <p:spPr>
          <a:xfrm>
            <a:off x="4192259" y="3470120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264F903-628B-48EF-997D-B5737CAF23F3}"/>
              </a:ext>
            </a:extLst>
          </p:cNvPr>
          <p:cNvSpPr/>
          <p:nvPr/>
        </p:nvSpPr>
        <p:spPr>
          <a:xfrm>
            <a:off x="6865008" y="4701993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20B6F55-5E4C-4C65-9329-7401AF871D1F}"/>
              </a:ext>
            </a:extLst>
          </p:cNvPr>
          <p:cNvSpPr/>
          <p:nvPr/>
        </p:nvSpPr>
        <p:spPr>
          <a:xfrm>
            <a:off x="3593602" y="4178868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84C9DBD-F19E-4F09-95DC-4377BED529AB}"/>
              </a:ext>
            </a:extLst>
          </p:cNvPr>
          <p:cNvSpPr/>
          <p:nvPr/>
        </p:nvSpPr>
        <p:spPr>
          <a:xfrm>
            <a:off x="7540134" y="4701993"/>
            <a:ext cx="709243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8F9419-A573-4BFD-952C-34CA2116BF28}"/>
              </a:ext>
            </a:extLst>
          </p:cNvPr>
          <p:cNvSpPr/>
          <p:nvPr/>
        </p:nvSpPr>
        <p:spPr>
          <a:xfrm>
            <a:off x="3647210" y="2944793"/>
            <a:ext cx="449887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54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r11 Volume" id="{31B8F3D4-F877-43C4-9C4A-9FCD3D51D15A}" vid="{034B1D92-D033-4B76-9991-AC52F768339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Yr11 Volume</Template>
  <TotalTime>270</TotalTime>
  <Words>857</Words>
  <Application>Microsoft Office PowerPoint</Application>
  <PresentationFormat>On-screen Show (16:10)</PresentationFormat>
  <Paragraphs>314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D'SOUZA Jillian [Baldivis Secondary College]</cp:lastModifiedBy>
  <cp:revision>14</cp:revision>
  <cp:lastPrinted>2018-10-29T00:08:48Z</cp:lastPrinted>
  <dcterms:created xsi:type="dcterms:W3CDTF">2017-03-28T15:14:10Z</dcterms:created>
  <dcterms:modified xsi:type="dcterms:W3CDTF">2018-10-29T02:30:44Z</dcterms:modified>
</cp:coreProperties>
</file>